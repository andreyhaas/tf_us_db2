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363" r:id="rId5"/>
    <p:sldId id="370" r:id="rId6"/>
    <p:sldId id="371" r:id="rId7"/>
    <p:sldId id="372" r:id="rId8"/>
    <p:sldId id="259" r:id="rId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40" autoAdjust="0"/>
    <p:restoredTop sz="94660"/>
  </p:normalViewPr>
  <p:slideViewPr>
    <p:cSldViewPr snapToGrid="0">
      <p:cViewPr varScale="1">
        <p:scale>
          <a:sx n="149" d="100"/>
          <a:sy n="149" d="100"/>
        </p:scale>
        <p:origin x="108"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08.06.2026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extLst>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08.06.2026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a:solidFill>
                  <a:schemeClr val="tx1"/>
                </a:solidFill>
                <a:latin typeface="+mn-lt"/>
              </a:rPr>
              <a:t>Untertitel</a:t>
            </a: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a:t>Bild durch klick auf das Symbol hinzufügen und in den Hintergrund verschieben.</a:t>
            </a:r>
          </a:p>
        </p:txBody>
      </p:sp>
    </p:spTree>
    <p:extLst>
      <p:ext uri="{BB962C8B-B14F-4D97-AF65-F5344CB8AC3E}">
        <p14:creationId xmlns:p14="http://schemas.microsoft.com/office/powerpoint/2010/main" val="40227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08.06.2026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spTree>
    <p:extLst>
      <p:ext uri="{BB962C8B-B14F-4D97-AF65-F5344CB8AC3E}">
        <p14:creationId xmlns:p14="http://schemas.microsoft.com/office/powerpoint/2010/main" val="145677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08.06.2026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a:t>Lernziele</a:t>
            </a:r>
          </a:p>
        </p:txBody>
      </p:sp>
    </p:spTree>
    <p:extLst>
      <p:ext uri="{BB962C8B-B14F-4D97-AF65-F5344CB8AC3E}">
        <p14:creationId xmlns:p14="http://schemas.microsoft.com/office/powerpoint/2010/main" val="262840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08.06.2026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a:t>Lernziele</a:t>
            </a:r>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Tree>
    <p:extLst>
      <p:ext uri="{BB962C8B-B14F-4D97-AF65-F5344CB8AC3E}">
        <p14:creationId xmlns:p14="http://schemas.microsoft.com/office/powerpoint/2010/main" val="79210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08.06.2026</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40871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a:t>Bild durch klick auf das Symbol hinzufügen und in den Hintergrund verschieben.</a:t>
            </a:r>
          </a:p>
          <a:p>
            <a:endParaRPr lang="de-DE" dirty="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08.06.2026</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a:t>Thementitel</a:t>
            </a:r>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278670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EE6B0DF4-9D6B-4CDB-97A0-C9570C62FA77}" type="datetime1">
              <a:rPr lang="de-DE" smtClean="0"/>
              <a:t>08.06.2026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49B7AE18-FA3D-4C6C-87A7-F7D224EBB6B4}" type="datetime1">
              <a:rPr lang="de-DE" smtClean="0"/>
              <a:t>08.06.2026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a:t>Optional kann hier eine zweite Überschrift eingefügt werden.</a:t>
            </a:r>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a:t>Optional kann hier eine zweite Überschrift eingefügt werden.</a:t>
            </a:r>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03DF2EA-616A-4F49-A635-283653D9B8E0}" type="datetime1">
              <a:rPr lang="de-DE" smtClean="0"/>
              <a:t>08.06.2026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371A257-B4BD-49B9-8C71-F79D07B630C8}" type="datetime1">
              <a:rPr lang="de-DE" smtClean="0"/>
              <a:t>08.06.2026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08.06.2026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08.06.2026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08.06.2026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08.06.2026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a:t>Formatvorlagen des Textmasters</a:t>
            </a:r>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a:t>Formatvorlagen des Textmasters</a:t>
            </a:r>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08.06.2026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a:t>– Hier wird die zitierte Person aufgeführt.</a:t>
            </a:r>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08.06.2026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08.06.2026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08.06.2026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08.06.2026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a:t>Diagramm</a:t>
            </a:r>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a:t>Hier können zusätzliche Informationen aufgelistet werden</a:t>
            </a:r>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08.06.2026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08.06.2026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08.06.2026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08.06.2026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08.06.2026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08.06.2026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08.06.2026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08.06.2026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08.06.2026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08.06.2026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08.06.2026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08.06.2026</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Präsentationsthema</a:t>
            </a:r>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a:latin typeface="Source Sans Pro" panose="020B0503030403020204" pitchFamily="34" charset="0"/>
              </a:rPr>
              <a:t>Datenbanken und SQL</a:t>
            </a:r>
          </a:p>
        </p:txBody>
      </p:sp>
      <p:sp>
        <p:nvSpPr>
          <p:cNvPr id="6" name="Untertitel 5"/>
          <p:cNvSpPr>
            <a:spLocks noGrp="1"/>
          </p:cNvSpPr>
          <p:nvPr>
            <p:ph type="subTitle" idx="1"/>
          </p:nvPr>
        </p:nvSpPr>
        <p:spPr/>
        <p:txBody>
          <a:bodyPr/>
          <a:lstStyle/>
          <a:p>
            <a:pPr algn="ctr"/>
            <a:r>
              <a:rPr lang="de-DE" dirty="0">
                <a:latin typeface="Source Sans Pro" panose="020B0503030403020204" pitchFamily="34" charset="0"/>
              </a:rPr>
              <a:t>(Woche 4 - Tag 3)</a:t>
            </a: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167504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Agenda</a:t>
            </a: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899608"/>
            <a:ext cx="10713719" cy="2246769"/>
          </a:xfrm>
          <a:prstGeom prst="rect">
            <a:avLst/>
          </a:prstGeom>
          <a:noFill/>
        </p:spPr>
        <p:txBody>
          <a:bodyPr wrap="square" rtlCol="0">
            <a:spAutoFit/>
          </a:bodyPr>
          <a:lstStyle/>
          <a:p>
            <a:endParaRPr lang="de-DE" b="1" dirty="0">
              <a:latin typeface="Source Sans Pro" panose="020B0503030403020204" pitchFamily="34" charset="0"/>
            </a:endParaRPr>
          </a:p>
          <a:p>
            <a:endParaRPr lang="de-DE" sz="800" b="1" dirty="0">
              <a:latin typeface="Source Sans Pro" panose="020B0503030403020204" pitchFamily="34" charset="0"/>
            </a:endParaRPr>
          </a:p>
          <a:p>
            <a:pPr lvl="1"/>
            <a:r>
              <a:rPr lang="de-DE" sz="2400" b="1" dirty="0">
                <a:latin typeface="Source Sans Pro" panose="020B0503030403020204" pitchFamily="34" charset="0"/>
              </a:rPr>
              <a:t>VIEW</a:t>
            </a:r>
          </a:p>
          <a:p>
            <a:pPr lvl="1"/>
            <a:endParaRPr lang="de-DE" sz="200" b="1" dirty="0">
              <a:latin typeface="Source Sans Pro" panose="020B0503030403020204" pitchFamily="34" charset="0"/>
            </a:endParaRPr>
          </a:p>
          <a:p>
            <a:pPr marL="1257300" lvl="2" indent="-342900">
              <a:buFont typeface="Courier New" panose="02070309020205020404" pitchFamily="49" charset="0"/>
              <a:buChar char="o"/>
            </a:pPr>
            <a:r>
              <a:rPr lang="de-DE" dirty="0">
                <a:solidFill>
                  <a:srgbClr val="0071B2"/>
                </a:solidFill>
                <a:latin typeface="Source Sans Pro" panose="020B0503030403020204" pitchFamily="34" charset="0"/>
              </a:rPr>
              <a:t>Definition + Motivation</a:t>
            </a:r>
          </a:p>
          <a:p>
            <a:pPr marL="1257300" lvl="2" indent="-342900">
              <a:buFont typeface="Courier New" panose="02070309020205020404" pitchFamily="49" charset="0"/>
              <a:buChar char="o"/>
            </a:pPr>
            <a:r>
              <a:rPr lang="de-DE" dirty="0">
                <a:solidFill>
                  <a:srgbClr val="0071B2"/>
                </a:solidFill>
                <a:latin typeface="Source Sans Pro" panose="020B0503030403020204" pitchFamily="34" charset="0"/>
              </a:rPr>
              <a:t>1. Beispielaufgabe </a:t>
            </a:r>
            <a:r>
              <a:rPr lang="de-DE" sz="1200" dirty="0">
                <a:solidFill>
                  <a:srgbClr val="0071B2"/>
                </a:solidFill>
                <a:latin typeface="Source Sans Pro" panose="020B0503030403020204" pitchFamily="34" charset="0"/>
              </a:rPr>
              <a:t>(um die </a:t>
            </a:r>
            <a:r>
              <a:rPr lang="de-DE" sz="1200" b="1" dirty="0">
                <a:solidFill>
                  <a:srgbClr val="0071B2"/>
                </a:solidFill>
                <a:latin typeface="Source Sans Pro" panose="020B0503030403020204" pitchFamily="34" charset="0"/>
              </a:rPr>
              <a:t>Syntax</a:t>
            </a:r>
            <a:r>
              <a:rPr lang="de-DE" sz="1200" dirty="0">
                <a:solidFill>
                  <a:srgbClr val="0071B2"/>
                </a:solidFill>
                <a:latin typeface="Source Sans Pro" panose="020B0503030403020204" pitchFamily="34" charset="0"/>
              </a:rPr>
              <a:t> vorzustellen)</a:t>
            </a:r>
          </a:p>
          <a:p>
            <a:pPr marL="1257300" lvl="2" indent="-342900">
              <a:buFont typeface="Courier New" panose="02070309020205020404" pitchFamily="49" charset="0"/>
              <a:buChar char="o"/>
            </a:pPr>
            <a:r>
              <a:rPr lang="de-DE" dirty="0">
                <a:solidFill>
                  <a:srgbClr val="0071B2"/>
                </a:solidFill>
                <a:latin typeface="Source Sans Pro" panose="020B0503030403020204" pitchFamily="34" charset="0"/>
              </a:rPr>
              <a:t>2. Beispielaufgabe </a:t>
            </a:r>
            <a:r>
              <a:rPr lang="de-DE" sz="1200" dirty="0">
                <a:solidFill>
                  <a:srgbClr val="0071B2"/>
                </a:solidFill>
                <a:latin typeface="Source Sans Pro" panose="020B0503030403020204" pitchFamily="34" charset="0"/>
              </a:rPr>
              <a:t>(um den </a:t>
            </a:r>
            <a:r>
              <a:rPr lang="de-DE" sz="1200" b="1" dirty="0">
                <a:solidFill>
                  <a:srgbClr val="0071B2"/>
                </a:solidFill>
                <a:latin typeface="Source Sans Pro" panose="020B0503030403020204" pitchFamily="34" charset="0"/>
              </a:rPr>
              <a:t>komfortablen Umgang </a:t>
            </a:r>
            <a:r>
              <a:rPr lang="de-DE" sz="1200" dirty="0">
                <a:solidFill>
                  <a:srgbClr val="0071B2"/>
                </a:solidFill>
                <a:latin typeface="Source Sans Pro" panose="020B0503030403020204" pitchFamily="34" charset="0"/>
              </a:rPr>
              <a:t>mit VIEWS nachzuweisen)</a:t>
            </a:r>
          </a:p>
          <a:p>
            <a:pPr lvl="3"/>
            <a:endParaRPr lang="de-DE" sz="800" dirty="0">
              <a:latin typeface="Source Sans Pro" panose="020B0503030403020204" pitchFamily="34" charset="0"/>
            </a:endParaRPr>
          </a:p>
          <a:p>
            <a:pPr lvl="2"/>
            <a:endParaRPr lang="de-DE" dirty="0">
              <a:latin typeface="Source Sans Pro" panose="020B0503030403020204" pitchFamily="34" charset="0"/>
            </a:endParaRPr>
          </a:p>
          <a:p>
            <a:pPr lvl="3"/>
            <a:endParaRPr lang="de-DE" sz="800" dirty="0">
              <a:latin typeface="Source Sans Pro" panose="020B0503030403020204" pitchFamily="34" charset="0"/>
            </a:endParaRPr>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VIEW</a:t>
            </a:r>
          </a:p>
        </p:txBody>
      </p:sp>
    </p:spTree>
    <p:extLst>
      <p:ext uri="{BB962C8B-B14F-4D97-AF65-F5344CB8AC3E}">
        <p14:creationId xmlns:p14="http://schemas.microsoft.com/office/powerpoint/2010/main" val="93759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03071" y="1304584"/>
            <a:ext cx="10386107" cy="40934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000" dirty="0">
                <a:solidFill>
                  <a:srgbClr val="0071B2"/>
                </a:solidFill>
                <a:latin typeface="Source Sans Pro" panose="020B0503030403020204" pitchFamily="34" charset="0"/>
              </a:rPr>
              <a:t>E</a:t>
            </a:r>
            <a:r>
              <a:rPr kumimoji="0" lang="de-DE" sz="2000" b="0" u="none" strike="noStrike" kern="1200" cap="none" spc="0" normalizeH="0" baseline="0" noProof="0" dirty="0">
                <a:ln>
                  <a:noFill/>
                </a:ln>
                <a:solidFill>
                  <a:srgbClr val="0071B2"/>
                </a:solidFill>
                <a:effectLst/>
                <a:uLnTx/>
                <a:uFillTx/>
                <a:latin typeface="Source Sans Pro" panose="020B0503030403020204" pitchFamily="34" charset="0"/>
              </a:rPr>
              <a:t>in VIEW ist – technisch betrachtet – die</a:t>
            </a:r>
            <a:r>
              <a:rPr kumimoji="0" lang="de-DE" sz="2000" b="0" u="none" strike="noStrike" kern="1200" cap="none" spc="0" normalizeH="0" noProof="0" dirty="0">
                <a:ln>
                  <a:noFill/>
                </a:ln>
                <a:solidFill>
                  <a:srgbClr val="0071B2"/>
                </a:solidFill>
                <a:effectLst/>
                <a:uLnTx/>
                <a:uFillTx/>
                <a:latin typeface="Source Sans Pro" panose="020B0503030403020204" pitchFamily="34" charset="0"/>
              </a:rPr>
              <a:t> </a:t>
            </a:r>
            <a:r>
              <a:rPr kumimoji="0" lang="de-DE" sz="2000" b="1" u="none" strike="noStrike" kern="1200" cap="none" spc="0" normalizeH="0" noProof="0" dirty="0">
                <a:ln>
                  <a:noFill/>
                </a:ln>
                <a:solidFill>
                  <a:srgbClr val="0071B2"/>
                </a:solidFill>
                <a:effectLst/>
                <a:uLnTx/>
                <a:uFillTx/>
                <a:latin typeface="Source Sans Pro" panose="020B0503030403020204" pitchFamily="34" charset="0"/>
              </a:rPr>
              <a:t>Deklaration </a:t>
            </a:r>
            <a:r>
              <a:rPr kumimoji="0" lang="de-DE" sz="2000" u="none" strike="noStrike" kern="1200" cap="none" spc="0" normalizeH="0" noProof="0" dirty="0">
                <a:ln>
                  <a:noFill/>
                </a:ln>
                <a:solidFill>
                  <a:srgbClr val="0071B2"/>
                </a:solidFill>
                <a:effectLst/>
                <a:uLnTx/>
                <a:uFillTx/>
                <a:latin typeface="Source Sans Pro" panose="020B0503030403020204" pitchFamily="34" charset="0"/>
              </a:rPr>
              <a:t>und</a:t>
            </a:r>
            <a:r>
              <a:rPr kumimoji="0" lang="de-DE" sz="2000" b="1" u="none" strike="noStrike" kern="1200" cap="none" spc="0" normalizeH="0" noProof="0" dirty="0">
                <a:ln>
                  <a:noFill/>
                </a:ln>
                <a:solidFill>
                  <a:srgbClr val="0071B2"/>
                </a:solidFill>
                <a:effectLst/>
                <a:uLnTx/>
                <a:uFillTx/>
                <a:latin typeface="Source Sans Pro" panose="020B0503030403020204" pitchFamily="34" charset="0"/>
              </a:rPr>
              <a:t> Definition </a:t>
            </a:r>
            <a:r>
              <a:rPr kumimoji="0" lang="de-DE" sz="2000" u="none" strike="noStrike" kern="1200" cap="none" spc="0" normalizeH="0" noProof="0" dirty="0">
                <a:ln>
                  <a:noFill/>
                </a:ln>
                <a:solidFill>
                  <a:srgbClr val="0071B2"/>
                </a:solidFill>
                <a:effectLst/>
                <a:uLnTx/>
                <a:uFillTx/>
                <a:latin typeface="Source Sans Pro" panose="020B0503030403020204" pitchFamily="34" charset="0"/>
              </a:rPr>
              <a:t>einer</a:t>
            </a:r>
            <a:r>
              <a:rPr kumimoji="0" lang="de-DE" sz="2000" b="1" u="none" strike="noStrike" kern="1200" cap="none" spc="0" normalizeH="0" baseline="0" noProof="0" dirty="0">
                <a:ln>
                  <a:noFill/>
                </a:ln>
                <a:solidFill>
                  <a:srgbClr val="0071B2"/>
                </a:solidFill>
                <a:effectLst/>
                <a:uLnTx/>
                <a:uFillTx/>
                <a:latin typeface="Source Sans Pro" panose="020B0503030403020204" pitchFamily="34" charset="0"/>
              </a:rPr>
              <a:t> SELECT-Abfrage</a:t>
            </a:r>
            <a:r>
              <a:rPr kumimoji="0" lang="de-DE" sz="2000" b="0" u="none" strike="noStrike" kern="1200" cap="none" spc="0" normalizeH="0" baseline="0" noProof="0" dirty="0">
                <a:ln>
                  <a:noFill/>
                </a:ln>
                <a:solidFill>
                  <a:srgbClr val="0071B2"/>
                </a:solidFill>
                <a:effectLst/>
                <a:uLnTx/>
                <a:uFillTx/>
                <a:latin typeface="Source Sans Pro" panose="020B0503030403020204" pitchFamily="34" charset="0"/>
              </a:rPr>
              <a:t>.</a:t>
            </a:r>
            <a:endParaRPr kumimoji="0" lang="de-DE" sz="2000" b="0" u="none" strike="noStrike" kern="1200" cap="none" spc="0" normalizeH="0" noProof="0" dirty="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0" u="none" strike="noStrike" kern="1200" cap="none" spc="0" normalizeH="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000" dirty="0">
                <a:solidFill>
                  <a:srgbClr val="0071B2"/>
                </a:solidFill>
                <a:latin typeface="Source Sans Pro" panose="020B0503030403020204" pitchFamily="34" charset="0"/>
              </a:rPr>
              <a:t>Aus Sicht der Einsetzbarkeit eines VIEWs können wir diesen allerdings auch als eine (virtuelle) </a:t>
            </a:r>
            <a:r>
              <a:rPr lang="de-DE" sz="2000" b="1" dirty="0">
                <a:solidFill>
                  <a:srgbClr val="0071B2"/>
                </a:solidFill>
                <a:latin typeface="Source Sans Pro" panose="020B0503030403020204" pitchFamily="34" charset="0"/>
              </a:rPr>
              <a:t>Tabelle</a:t>
            </a:r>
            <a:r>
              <a:rPr lang="de-DE" sz="2000" dirty="0">
                <a:solidFill>
                  <a:srgbClr val="0071B2"/>
                </a:solidFill>
                <a:latin typeface="Source Sans Pro" panose="020B0503030403020204" pitchFamily="34" charset="0"/>
              </a:rPr>
              <a:t> betrachten, die sich als Ausgabe-Tabelle des SELECT-Statements ergibt.</a:t>
            </a:r>
            <a:endParaRPr kumimoji="0" lang="de-DE" sz="2000" b="0" u="none" strike="noStrike" kern="1200" cap="none" spc="0" normalizeH="0" noProof="0" dirty="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0" u="none" strike="noStrike" kern="1200" cap="none" spc="0" normalizeH="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000" baseline="0" dirty="0">
                <a:solidFill>
                  <a:srgbClr val="0071B2"/>
                </a:solidFill>
                <a:latin typeface="Source Sans Pro" panose="020B0503030403020204" pitchFamily="34" charset="0"/>
              </a:rPr>
              <a:t>VIEWs können zum einen eine Arbeitserleichterung darstellen</a:t>
            </a:r>
            <a:r>
              <a:rPr lang="de-DE" sz="2000" dirty="0">
                <a:solidFill>
                  <a:srgbClr val="0071B2"/>
                </a:solidFill>
                <a:latin typeface="Source Sans Pro" panose="020B0503030403020204" pitchFamily="34" charset="0"/>
              </a:rPr>
              <a:t> </a:t>
            </a:r>
            <a:r>
              <a:rPr lang="de-DE" sz="1600" dirty="0">
                <a:solidFill>
                  <a:srgbClr val="0071B2"/>
                </a:solidFill>
                <a:latin typeface="Source Sans Pro" panose="020B0503030403020204" pitchFamily="34" charset="0"/>
              </a:rPr>
              <a:t>(</a:t>
            </a:r>
            <a:r>
              <a:rPr lang="de-DE" sz="1600" baseline="0" dirty="0">
                <a:solidFill>
                  <a:srgbClr val="0071B2"/>
                </a:solidFill>
                <a:latin typeface="Source Sans Pro" panose="020B0503030403020204" pitchFamily="34" charset="0"/>
              </a:rPr>
              <a:t>insbesondere</a:t>
            </a:r>
            <a:r>
              <a:rPr lang="de-DE" sz="1600" dirty="0">
                <a:solidFill>
                  <a:srgbClr val="0071B2"/>
                </a:solidFill>
                <a:latin typeface="Source Sans Pro" panose="020B0503030403020204" pitchFamily="34" charset="0"/>
              </a:rPr>
              <a:t> dann, wenn der Code des VIEWs relativ aufwändig ist), </a:t>
            </a:r>
            <a:r>
              <a:rPr lang="de-DE" sz="2000" dirty="0">
                <a:solidFill>
                  <a:srgbClr val="0071B2"/>
                </a:solidFill>
                <a:latin typeface="Source Sans Pro" panose="020B0503030403020204" pitchFamily="34" charset="0"/>
              </a:rPr>
              <a:t>weil man sich das erneute Codieren dieses Statements ersparen kann. Aus dieser Sicht erinnert ein VIEW dann an eine </a:t>
            </a:r>
            <a:r>
              <a:rPr lang="de-DE" sz="2000" b="1" dirty="0">
                <a:solidFill>
                  <a:srgbClr val="0071B2"/>
                </a:solidFill>
                <a:latin typeface="Source Sans Pro" panose="020B0503030403020204" pitchFamily="34" charset="0"/>
              </a:rPr>
              <a:t>Funktion</a:t>
            </a:r>
            <a:r>
              <a:rPr lang="de-DE" sz="2000" dirty="0">
                <a:solidFill>
                  <a:srgbClr val="0071B2"/>
                </a:solidFill>
                <a:latin typeface="Source Sans Pro" panose="020B0503030403020204" pitchFamily="34" charset="0"/>
              </a:rPr>
              <a:t>, die einmalig codiert, aber beliebig oft wiederverwendet werden kann.</a:t>
            </a:r>
            <a:endParaRPr kumimoji="0" lang="de-DE" sz="2000" b="0" u="none" strike="noStrike" kern="1200" cap="none" spc="0" normalizeH="0" baseline="0" noProof="0" dirty="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defRPr/>
            </a:pPr>
            <a:r>
              <a:rPr lang="de-DE" sz="2000" dirty="0">
                <a:solidFill>
                  <a:srgbClr val="0071B2"/>
                </a:solidFill>
                <a:latin typeface="Source Sans Pro" panose="020B0503030403020204" pitchFamily="34" charset="0"/>
              </a:rPr>
              <a:t>Zum anderen können VIEWs aber auch im Dienste der </a:t>
            </a:r>
            <a:r>
              <a:rPr lang="de-DE" sz="2000" b="1" dirty="0">
                <a:solidFill>
                  <a:srgbClr val="0071B2"/>
                </a:solidFill>
                <a:latin typeface="Source Sans Pro" panose="020B0503030403020204" pitchFamily="34" charset="0"/>
              </a:rPr>
              <a:t>Datensicherheit</a:t>
            </a:r>
            <a:r>
              <a:rPr lang="de-DE" sz="2000" dirty="0">
                <a:solidFill>
                  <a:srgbClr val="0071B2"/>
                </a:solidFill>
                <a:latin typeface="Source Sans Pro" panose="020B0503030403020204" pitchFamily="34" charset="0"/>
              </a:rPr>
              <a:t> genutzt werden. So kann zum Beispiel einem bestimmten User der Datenbank das Recht zugewiesen werden, mit bestimmten VIEWs zu arbeiten, während ihm die Nutzung anderer Tabellen untersagt bleibt.</a:t>
            </a:r>
          </a:p>
          <a:p>
            <a:pPr lvl="0">
              <a:defRPr/>
            </a:pPr>
            <a:endParaRPr lang="de-DE" sz="800" dirty="0">
              <a:solidFill>
                <a:srgbClr val="0071B2"/>
              </a:solidFill>
              <a:latin typeface="Source Sans Pro" panose="020B0503030403020204" pitchFamily="34" charset="0"/>
            </a:endParaRPr>
          </a:p>
          <a:p>
            <a:pPr marL="342900" lvl="0" indent="-342900">
              <a:buFont typeface="Arial" panose="020B0604020202020204" pitchFamily="34" charset="0"/>
              <a:buChar char="•"/>
              <a:defRPr/>
            </a:pPr>
            <a:r>
              <a:rPr lang="de-DE" sz="2000" dirty="0">
                <a:solidFill>
                  <a:srgbClr val="0071B2"/>
                </a:solidFill>
                <a:latin typeface="Source Sans Pro" panose="020B0503030403020204" pitchFamily="34" charset="0"/>
              </a:rPr>
              <a:t>Aus dieser Sicht, verweisen dann VIEWs auch auf das </a:t>
            </a:r>
            <a:r>
              <a:rPr lang="de-DE" sz="2000" b="1" dirty="0">
                <a:solidFill>
                  <a:srgbClr val="0071B2"/>
                </a:solidFill>
                <a:latin typeface="Source Sans Pro" panose="020B0503030403020204" pitchFamily="34" charset="0"/>
              </a:rPr>
              <a:t>zweite Thema </a:t>
            </a:r>
            <a:r>
              <a:rPr lang="de-DE" sz="2000" dirty="0">
                <a:solidFill>
                  <a:srgbClr val="0071B2"/>
                </a:solidFill>
                <a:latin typeface="Source Sans Pro" panose="020B0503030403020204" pitchFamily="34" charset="0"/>
              </a:rPr>
              <a:t>des heutigen Tages.</a:t>
            </a: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Definition </a:t>
            </a:r>
            <a:r>
              <a:rPr lang="de-DE" sz="4000" dirty="0">
                <a:solidFill>
                  <a:srgbClr val="0071B2"/>
                </a:solidFill>
                <a:latin typeface="Source Sans Pro" panose="020B0503030403020204" pitchFamily="34" charset="0"/>
              </a:rPr>
              <a:t>+</a:t>
            </a: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 Motivation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3212439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1. Beispielaufgabe (</a:t>
            </a:r>
            <a:r>
              <a:rPr kumimoji="0" lang="de-DE" sz="4000" b="1" i="0"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rPr>
              <a:t>Syntax</a:t>
            </a: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2" name="Textfeld 1"/>
          <p:cNvSpPr txBox="1"/>
          <p:nvPr/>
        </p:nvSpPr>
        <p:spPr>
          <a:xfrm>
            <a:off x="790025" y="1107463"/>
            <a:ext cx="10465494" cy="5139869"/>
          </a:xfrm>
          <a:prstGeom prst="rect">
            <a:avLst/>
          </a:prstGeom>
          <a:noFill/>
        </p:spPr>
        <p:txBody>
          <a:bodyPr wrap="none" rtlCol="0">
            <a:spAutoFit/>
          </a:bodyPr>
          <a:lstStyle/>
          <a:p>
            <a:r>
              <a:rPr lang="de-DE" sz="2000" b="1" dirty="0"/>
              <a:t>Aufgabenstellung:</a:t>
            </a:r>
          </a:p>
          <a:p>
            <a:r>
              <a:rPr lang="de-DE" dirty="0"/>
              <a:t>Für jede Abrechnung soll die </a:t>
            </a:r>
            <a:r>
              <a:rPr lang="de-DE" b="1" dirty="0"/>
              <a:t>Abrechnungs-ID</a:t>
            </a:r>
            <a:r>
              <a:rPr lang="de-DE" dirty="0"/>
              <a:t>, das </a:t>
            </a:r>
            <a:r>
              <a:rPr lang="de-DE" b="1" dirty="0"/>
              <a:t>Datum</a:t>
            </a:r>
            <a:r>
              <a:rPr lang="de-DE" dirty="0"/>
              <a:t> sowie</a:t>
            </a:r>
          </a:p>
          <a:p>
            <a:r>
              <a:rPr lang="de-DE" b="1" dirty="0"/>
              <a:t>Vor- </a:t>
            </a:r>
            <a:r>
              <a:rPr lang="de-DE" dirty="0"/>
              <a:t>und</a:t>
            </a:r>
            <a:r>
              <a:rPr lang="de-DE" b="1" dirty="0"/>
              <a:t> Nachname </a:t>
            </a:r>
            <a:r>
              <a:rPr lang="de-DE" dirty="0"/>
              <a:t>des jeweiligen Kunden ausgegeben werden.</a:t>
            </a:r>
          </a:p>
          <a:p>
            <a:endParaRPr lang="de-DE" dirty="0"/>
          </a:p>
          <a:p>
            <a:r>
              <a:rPr lang="de-DE" dirty="0"/>
              <a:t>Diese Abfrage wird häufig benötigt, daher soll ein entsprechender </a:t>
            </a:r>
            <a:r>
              <a:rPr lang="de-DE" b="1" dirty="0">
                <a:solidFill>
                  <a:schemeClr val="accent2"/>
                </a:solidFill>
              </a:rPr>
              <a:t>VIEW</a:t>
            </a:r>
            <a:r>
              <a:rPr lang="de-DE" dirty="0"/>
              <a:t> eingeführt werden.</a:t>
            </a:r>
          </a:p>
          <a:p>
            <a:r>
              <a:rPr lang="de-DE" dirty="0"/>
              <a:t>Der Auftraggeber wünscht, dass dieser VIEW die Bezeichnung </a:t>
            </a:r>
            <a:r>
              <a:rPr lang="de-DE" b="1" dirty="0"/>
              <a:t>"</a:t>
            </a:r>
            <a:r>
              <a:rPr lang="de-DE" b="1" dirty="0">
                <a:solidFill>
                  <a:schemeClr val="accent2">
                    <a:lumMod val="50000"/>
                  </a:schemeClr>
                </a:solidFill>
              </a:rPr>
              <a:t>Abrechnung_INFO</a:t>
            </a:r>
            <a:r>
              <a:rPr lang="de-DE" b="1" dirty="0"/>
              <a:t>"</a:t>
            </a:r>
            <a:r>
              <a:rPr lang="de-DE" dirty="0"/>
              <a:t> tragen soll:</a:t>
            </a:r>
          </a:p>
          <a:p>
            <a:endParaRPr lang="de-DE" dirty="0"/>
          </a:p>
          <a:p>
            <a:r>
              <a:rPr lang="de-DE" sz="2600" b="1" dirty="0"/>
              <a:t>CREATE </a:t>
            </a:r>
            <a:r>
              <a:rPr lang="de-DE" sz="2600" b="1" dirty="0">
                <a:solidFill>
                  <a:schemeClr val="accent2"/>
                </a:solidFill>
              </a:rPr>
              <a:t>VIEW</a:t>
            </a:r>
            <a:r>
              <a:rPr lang="de-DE" sz="2600" b="1" dirty="0"/>
              <a:t> </a:t>
            </a:r>
            <a:r>
              <a:rPr lang="de-DE" sz="2600" dirty="0">
                <a:solidFill>
                  <a:schemeClr val="accent2">
                    <a:lumMod val="50000"/>
                  </a:schemeClr>
                </a:solidFill>
              </a:rPr>
              <a:t>Abrechnung_INFO</a:t>
            </a:r>
            <a:r>
              <a:rPr lang="de-DE" sz="2600" dirty="0"/>
              <a:t> </a:t>
            </a:r>
            <a:r>
              <a:rPr lang="de-DE" sz="2600" b="1" dirty="0"/>
              <a:t>AS</a:t>
            </a:r>
          </a:p>
          <a:p>
            <a:r>
              <a:rPr lang="de-DE" sz="2600" b="1" dirty="0"/>
              <a:t>SELECT</a:t>
            </a:r>
            <a:r>
              <a:rPr lang="de-DE" sz="2600" dirty="0"/>
              <a:t> Abrechnung_ID</a:t>
            </a:r>
            <a:r>
              <a:rPr lang="de-DE" sz="2600" b="1" dirty="0"/>
              <a:t>,</a:t>
            </a:r>
            <a:r>
              <a:rPr lang="de-DE" sz="2600" dirty="0"/>
              <a:t> Datum</a:t>
            </a:r>
            <a:r>
              <a:rPr lang="de-DE" sz="2600" b="1" dirty="0"/>
              <a:t>,</a:t>
            </a:r>
            <a:r>
              <a:rPr lang="de-DE" sz="2600" dirty="0"/>
              <a:t> Vorname</a:t>
            </a:r>
            <a:r>
              <a:rPr lang="de-DE" sz="2600" b="1" dirty="0"/>
              <a:t>,</a:t>
            </a:r>
            <a:r>
              <a:rPr lang="de-DE" sz="2600" dirty="0"/>
              <a:t> Nachname</a:t>
            </a:r>
          </a:p>
          <a:p>
            <a:r>
              <a:rPr lang="de-DE" sz="2600" b="1" dirty="0"/>
              <a:t>FROM</a:t>
            </a:r>
            <a:r>
              <a:rPr lang="de-DE" sz="2600" dirty="0"/>
              <a:t> Kunde</a:t>
            </a:r>
            <a:r>
              <a:rPr lang="de-DE" sz="2600" b="1" dirty="0"/>
              <a:t>,</a:t>
            </a:r>
            <a:r>
              <a:rPr lang="de-DE" sz="2600" dirty="0"/>
              <a:t> Abrechnung </a:t>
            </a:r>
            <a:r>
              <a:rPr lang="de-DE" sz="2600" b="1" dirty="0"/>
              <a:t>WHERE</a:t>
            </a:r>
            <a:r>
              <a:rPr lang="de-DE" sz="2600" dirty="0"/>
              <a:t> </a:t>
            </a:r>
            <a:r>
              <a:rPr lang="de-DE" sz="2600" dirty="0" err="1"/>
              <a:t>Kunde.Kunde_ID</a:t>
            </a:r>
            <a:r>
              <a:rPr lang="de-DE" sz="2600" b="1" dirty="0"/>
              <a:t>=</a:t>
            </a:r>
            <a:r>
              <a:rPr lang="de-DE" sz="2600" dirty="0" err="1"/>
              <a:t>Abrechnung.Kunde_ID</a:t>
            </a:r>
            <a:r>
              <a:rPr lang="de-DE" sz="2600" b="1" dirty="0"/>
              <a:t>;</a:t>
            </a:r>
          </a:p>
          <a:p>
            <a:endParaRPr lang="de-DE" sz="2600" b="1" dirty="0"/>
          </a:p>
          <a:p>
            <a:r>
              <a:rPr lang="de-DE" dirty="0"/>
              <a:t>Dieser VIEW kann nun als </a:t>
            </a:r>
            <a:r>
              <a:rPr lang="de-DE" b="1" dirty="0"/>
              <a:t>(virtuelle) Tabelle </a:t>
            </a:r>
            <a:r>
              <a:rPr lang="de-DE" dirty="0"/>
              <a:t>genutzt werden:</a:t>
            </a:r>
          </a:p>
          <a:p>
            <a:r>
              <a:rPr lang="de-DE" sz="2600" b="1" dirty="0"/>
              <a:t>SELECT</a:t>
            </a:r>
            <a:r>
              <a:rPr lang="de-DE" sz="2600" dirty="0"/>
              <a:t> * FROM </a:t>
            </a:r>
            <a:r>
              <a:rPr lang="de-DE" sz="2600" dirty="0">
                <a:solidFill>
                  <a:schemeClr val="accent2">
                    <a:lumMod val="50000"/>
                  </a:schemeClr>
                </a:solidFill>
              </a:rPr>
              <a:t>Abrechnung_INFO</a:t>
            </a:r>
            <a:r>
              <a:rPr lang="de-DE" sz="2600" dirty="0"/>
              <a:t>;</a:t>
            </a:r>
          </a:p>
          <a:p>
            <a:endParaRPr lang="de-DE" sz="2600" b="1" dirty="0"/>
          </a:p>
          <a:p>
            <a:endParaRPr lang="de-DE" sz="2600" b="1" dirty="0"/>
          </a:p>
        </p:txBody>
      </p:sp>
      <p:pic>
        <p:nvPicPr>
          <p:cNvPr id="3" name="Grafik 2"/>
          <p:cNvPicPr>
            <a:picLocks noChangeAspect="1"/>
          </p:cNvPicPr>
          <p:nvPr/>
        </p:nvPicPr>
        <p:blipFill>
          <a:blip r:embed="rId2"/>
          <a:stretch>
            <a:fillRect/>
          </a:stretch>
        </p:blipFill>
        <p:spPr>
          <a:xfrm>
            <a:off x="6773620" y="4444902"/>
            <a:ext cx="2605483" cy="2276573"/>
          </a:xfrm>
          <a:prstGeom prst="rect">
            <a:avLst/>
          </a:prstGeom>
          <a:effectLst>
            <a:innerShdw blurRad="114300">
              <a:prstClr val="black"/>
            </a:innerShdw>
          </a:effectLst>
        </p:spPr>
      </p:pic>
    </p:spTree>
    <p:extLst>
      <p:ext uri="{BB962C8B-B14F-4D97-AF65-F5344CB8AC3E}">
        <p14:creationId xmlns:p14="http://schemas.microsoft.com/office/powerpoint/2010/main" val="2160534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solidFill>
                  <a:srgbClr val="0071B2"/>
                </a:solidFill>
                <a:latin typeface="Source Sans Pro" panose="020B0503030403020204" pitchFamily="34" charset="0"/>
              </a:rPr>
              <a:t>2</a:t>
            </a: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 Beispielaufgabe –</a:t>
            </a:r>
            <a:r>
              <a:rPr kumimoji="0" lang="de-DE" sz="4000" b="1" i="0" u="none" strike="noStrike" kern="1200" cap="none" spc="0" normalizeH="0" noProof="0" dirty="0">
                <a:ln>
                  <a:noFill/>
                </a:ln>
                <a:solidFill>
                  <a:srgbClr val="0071B2"/>
                </a:solidFill>
                <a:effectLst/>
                <a:uLnTx/>
                <a:uFillTx/>
                <a:latin typeface="Source Sans Pro" panose="020B0503030403020204" pitchFamily="34" charset="0"/>
                <a:ea typeface="+mj-ea"/>
                <a:cs typeface="+mj-cs"/>
              </a:rPr>
              <a:t> </a:t>
            </a:r>
            <a:r>
              <a:rPr kumimoji="0" lang="de-DE" sz="4000" b="1" i="0" u="none" strike="noStrike" kern="1200" cap="none" spc="0" normalizeH="0" noProof="0" dirty="0">
                <a:ln>
                  <a:noFill/>
                </a:ln>
                <a:solidFill>
                  <a:schemeClr val="accent2"/>
                </a:solidFill>
                <a:effectLst/>
                <a:uLnTx/>
                <a:uFillTx/>
                <a:latin typeface="Source Sans Pro" panose="020B0503030403020204" pitchFamily="34" charset="0"/>
                <a:ea typeface="+mj-ea"/>
                <a:cs typeface="+mj-cs"/>
              </a:rPr>
              <a:t>Definition </a:t>
            </a:r>
            <a:r>
              <a:rPr kumimoji="0" lang="de-DE" sz="4000" b="1" i="0" u="none" strike="noStrike" kern="1200" cap="none" spc="0" normalizeH="0" noProof="0" dirty="0">
                <a:ln>
                  <a:noFill/>
                </a:ln>
                <a:effectLst/>
                <a:uLnTx/>
                <a:uFillTx/>
                <a:latin typeface="Source Sans Pro" panose="020B0503030403020204" pitchFamily="34" charset="0"/>
                <a:ea typeface="+mj-ea"/>
                <a:cs typeface="+mj-cs"/>
              </a:rPr>
              <a:t>des VIEWs</a:t>
            </a:r>
            <a:endParaRPr kumimoji="0" lang="de-DE" sz="4000" b="0" i="1" u="none" strike="noStrike" kern="1200" cap="none" spc="0" normalizeH="0" baseline="0" noProof="0" dirty="0">
              <a:ln>
                <a:noFill/>
              </a:ln>
              <a:effectLst/>
              <a:uLnTx/>
              <a:uFillTx/>
              <a:latin typeface="Source Sans Pro" panose="020B0503030403020204" pitchFamily="34" charset="0"/>
              <a:ea typeface="+mj-ea"/>
              <a:cs typeface="+mj-cs"/>
            </a:endParaRPr>
          </a:p>
        </p:txBody>
      </p:sp>
      <p:sp>
        <p:nvSpPr>
          <p:cNvPr id="2" name="Textfeld 1"/>
          <p:cNvSpPr txBox="1"/>
          <p:nvPr/>
        </p:nvSpPr>
        <p:spPr>
          <a:xfrm>
            <a:off x="799452" y="1256066"/>
            <a:ext cx="11279434" cy="5447645"/>
          </a:xfrm>
          <a:prstGeom prst="rect">
            <a:avLst/>
          </a:prstGeom>
          <a:noFill/>
        </p:spPr>
        <p:txBody>
          <a:bodyPr wrap="none" rtlCol="0">
            <a:spAutoFit/>
          </a:bodyPr>
          <a:lstStyle/>
          <a:p>
            <a:r>
              <a:rPr lang="de-DE" sz="2000" b="1" dirty="0"/>
              <a:t>Zielsetzung des VIEWs:</a:t>
            </a:r>
          </a:p>
          <a:p>
            <a:r>
              <a:rPr lang="de-DE" dirty="0"/>
              <a:t>Für jeden Einkauf sollen die gesamten Informationen ausgegeben werden.</a:t>
            </a:r>
          </a:p>
          <a:p>
            <a:r>
              <a:rPr lang="de-DE" sz="1600" b="1" dirty="0"/>
              <a:t>Insbesondere also: </a:t>
            </a:r>
            <a:r>
              <a:rPr lang="de-DE" sz="1600" dirty="0"/>
              <a:t>Welcher Kunde, auf welcher Abrechnung, welches Produkt bestellte, wer dieses herstellte und wer es auslieferte. </a:t>
            </a:r>
          </a:p>
          <a:p>
            <a:endParaRPr lang="de-DE" dirty="0"/>
          </a:p>
          <a:p>
            <a:r>
              <a:rPr lang="de-DE" dirty="0"/>
              <a:t>Der entsprechende VIEW soll "Total_Abfrage" genannt werden. </a:t>
            </a:r>
          </a:p>
          <a:p>
            <a:r>
              <a:rPr lang="de-DE" sz="1600" dirty="0"/>
              <a:t>(Allein seine Größe macht bereits deutlich, wie viel Code eingespart werden kann, wenn man diesen zukünftig wiederverwendet.)</a:t>
            </a:r>
          </a:p>
          <a:p>
            <a:endParaRPr lang="de-DE" dirty="0"/>
          </a:p>
          <a:p>
            <a:r>
              <a:rPr lang="de-DE" sz="1400" b="1" dirty="0">
                <a:solidFill>
                  <a:schemeClr val="accent2"/>
                </a:solidFill>
              </a:rPr>
              <a:t>Definition des VIEWS:</a:t>
            </a:r>
          </a:p>
          <a:p>
            <a:r>
              <a:rPr lang="de-DE" sz="1400" b="1" dirty="0"/>
              <a:t>CREATE VIEW </a:t>
            </a:r>
            <a:r>
              <a:rPr lang="de-DE" sz="1400" dirty="0"/>
              <a:t>Total_Abfrage</a:t>
            </a:r>
            <a:r>
              <a:rPr lang="de-DE" sz="1400" b="1" dirty="0"/>
              <a:t> AS</a:t>
            </a:r>
          </a:p>
          <a:p>
            <a:r>
              <a:rPr lang="de-DE" sz="1400" b="1" dirty="0"/>
              <a:t>SELECT </a:t>
            </a:r>
            <a:r>
              <a:rPr lang="de-DE" sz="1400" dirty="0"/>
              <a:t>Kunde.Kunde_ID</a:t>
            </a:r>
            <a:r>
              <a:rPr lang="de-DE" sz="1400" b="1" dirty="0"/>
              <a:t>,</a:t>
            </a:r>
            <a:r>
              <a:rPr lang="de-DE" sz="1400" dirty="0"/>
              <a:t>Vorname</a:t>
            </a:r>
            <a:r>
              <a:rPr lang="de-DE" sz="1400" b="1" dirty="0"/>
              <a:t>,</a:t>
            </a:r>
            <a:r>
              <a:rPr lang="de-DE" sz="1400" dirty="0"/>
              <a:t>Nachname</a:t>
            </a:r>
            <a:r>
              <a:rPr lang="de-DE" sz="1400" b="1" dirty="0"/>
              <a:t>,</a:t>
            </a:r>
            <a:r>
              <a:rPr lang="de-DE" sz="1400" dirty="0"/>
              <a:t>Email</a:t>
            </a:r>
            <a:r>
              <a:rPr lang="de-DE" sz="1400" b="1" dirty="0"/>
              <a:t>,</a:t>
            </a:r>
          </a:p>
          <a:p>
            <a:r>
              <a:rPr lang="de-DE" sz="1400" b="1" dirty="0"/>
              <a:t>              </a:t>
            </a:r>
            <a:r>
              <a:rPr lang="de-DE" sz="1400" dirty="0"/>
              <a:t>Abrechnung.Abrechnung_ID</a:t>
            </a:r>
            <a:r>
              <a:rPr lang="de-DE" sz="1400" b="1" dirty="0"/>
              <a:t>,</a:t>
            </a:r>
            <a:r>
              <a:rPr lang="de-DE" sz="1400" dirty="0"/>
              <a:t>Datum</a:t>
            </a:r>
            <a:r>
              <a:rPr lang="de-DE" sz="1400" b="1" dirty="0"/>
              <a:t>,</a:t>
            </a:r>
          </a:p>
          <a:p>
            <a:r>
              <a:rPr lang="de-DE" sz="1400" b="1" dirty="0"/>
              <a:t>              </a:t>
            </a:r>
            <a:r>
              <a:rPr lang="de-DE" sz="1400" dirty="0"/>
              <a:t>Produkt.Produkt_id</a:t>
            </a:r>
            <a:r>
              <a:rPr lang="de-DE" sz="1400" b="1" dirty="0"/>
              <a:t>,</a:t>
            </a:r>
            <a:r>
              <a:rPr lang="de-DE" sz="1400" dirty="0"/>
              <a:t>Produkt_Name</a:t>
            </a:r>
            <a:r>
              <a:rPr lang="de-DE" sz="1400" b="1" dirty="0"/>
              <a:t>,</a:t>
            </a:r>
            <a:r>
              <a:rPr lang="de-DE" sz="1400" dirty="0"/>
              <a:t>Euro_Preis</a:t>
            </a:r>
            <a:r>
              <a:rPr lang="de-DE" sz="1400" b="1" dirty="0"/>
              <a:t>,</a:t>
            </a:r>
          </a:p>
          <a:p>
            <a:r>
              <a:rPr lang="de-DE" sz="1400" b="1" dirty="0"/>
              <a:t>              </a:t>
            </a:r>
            <a:r>
              <a:rPr lang="de-DE" sz="1400" dirty="0"/>
              <a:t>Hersteller.Hersteller_ID</a:t>
            </a:r>
            <a:r>
              <a:rPr lang="de-DE" sz="1400" b="1" dirty="0"/>
              <a:t>,</a:t>
            </a:r>
            <a:r>
              <a:rPr lang="de-DE" sz="1400" dirty="0"/>
              <a:t>Hersteller_Name</a:t>
            </a:r>
            <a:r>
              <a:rPr lang="de-DE" sz="1400" b="1" dirty="0"/>
              <a:t>,</a:t>
            </a:r>
          </a:p>
          <a:p>
            <a:r>
              <a:rPr lang="de-DE" sz="1400" b="1" dirty="0"/>
              <a:t>              </a:t>
            </a:r>
            <a:r>
              <a:rPr lang="de-DE" sz="1400" dirty="0"/>
              <a:t>Spedition.Spedition_ID</a:t>
            </a:r>
            <a:r>
              <a:rPr lang="de-DE" sz="1400" b="1" dirty="0"/>
              <a:t>,</a:t>
            </a:r>
            <a:r>
              <a:rPr lang="de-DE" sz="1400" dirty="0"/>
              <a:t>Spedition_Name</a:t>
            </a:r>
          </a:p>
          <a:p>
            <a:r>
              <a:rPr lang="de-DE" sz="1400" b="1" dirty="0"/>
              <a:t>FROM </a:t>
            </a:r>
            <a:r>
              <a:rPr lang="de-DE" sz="1400" dirty="0"/>
              <a:t>Kunde</a:t>
            </a:r>
            <a:r>
              <a:rPr lang="de-DE" sz="1400" b="1" dirty="0"/>
              <a:t> INNER JOIN </a:t>
            </a:r>
            <a:r>
              <a:rPr lang="de-DE" sz="1400" dirty="0"/>
              <a:t>Abrechnung</a:t>
            </a:r>
            <a:r>
              <a:rPr lang="de-DE" sz="1400" b="1" dirty="0"/>
              <a:t> ON </a:t>
            </a:r>
            <a:r>
              <a:rPr lang="de-DE" sz="1400" dirty="0"/>
              <a:t>Kunde.Kunde_ID</a:t>
            </a:r>
            <a:r>
              <a:rPr lang="de-DE" sz="1400" b="1" dirty="0"/>
              <a:t>=</a:t>
            </a:r>
            <a:r>
              <a:rPr lang="de-DE" sz="1400" dirty="0" err="1"/>
              <a:t>Abrechnung.Kunde_ID</a:t>
            </a:r>
            <a:endParaRPr lang="de-DE" sz="1400" dirty="0"/>
          </a:p>
          <a:p>
            <a:r>
              <a:rPr lang="de-DE" sz="1400" b="1" dirty="0"/>
              <a:t>             INNER JOIN </a:t>
            </a:r>
            <a:r>
              <a:rPr lang="de-DE" sz="1400" dirty="0"/>
              <a:t>Abrechnung_Produkt</a:t>
            </a:r>
            <a:r>
              <a:rPr lang="de-DE" sz="1400" b="1" dirty="0"/>
              <a:t> ON </a:t>
            </a:r>
            <a:r>
              <a:rPr lang="de-DE" sz="1400" dirty="0"/>
              <a:t>Abrechnung.Abrechnung_ID</a:t>
            </a:r>
            <a:r>
              <a:rPr lang="de-DE" sz="1400" b="1" dirty="0"/>
              <a:t>=</a:t>
            </a:r>
            <a:r>
              <a:rPr lang="de-DE" sz="1400" dirty="0"/>
              <a:t>Abrechnung_Produkt.Abrechnung_ID</a:t>
            </a:r>
          </a:p>
          <a:p>
            <a:r>
              <a:rPr lang="de-DE" sz="1400" b="1" dirty="0"/>
              <a:t>             INNER JOIN </a:t>
            </a:r>
            <a:r>
              <a:rPr lang="de-DE" sz="1400" dirty="0"/>
              <a:t>Produkt</a:t>
            </a:r>
            <a:r>
              <a:rPr lang="de-DE" sz="1400" b="1" dirty="0"/>
              <a:t> ON </a:t>
            </a:r>
            <a:r>
              <a:rPr lang="de-DE" sz="1400" dirty="0"/>
              <a:t>Abrechnung_Produkt.Produkt_ID</a:t>
            </a:r>
            <a:r>
              <a:rPr lang="de-DE" sz="1400" b="1" dirty="0"/>
              <a:t>=</a:t>
            </a:r>
            <a:r>
              <a:rPr lang="de-DE" sz="1400" dirty="0" err="1"/>
              <a:t>Produkt.Produkt_ID</a:t>
            </a:r>
            <a:r>
              <a:rPr lang="de-DE" sz="1400" b="1" dirty="0"/>
              <a:t> </a:t>
            </a:r>
          </a:p>
          <a:p>
            <a:r>
              <a:rPr lang="de-DE" sz="1400" b="1" dirty="0"/>
              <a:t>             INNER JOIN </a:t>
            </a:r>
            <a:r>
              <a:rPr lang="de-DE" sz="1400" dirty="0"/>
              <a:t>Hersteller</a:t>
            </a:r>
            <a:r>
              <a:rPr lang="de-DE" sz="1400" b="1" dirty="0"/>
              <a:t> ON </a:t>
            </a:r>
            <a:r>
              <a:rPr lang="de-DE" sz="1400" dirty="0"/>
              <a:t>Produkt.Hersteller_ID</a:t>
            </a:r>
            <a:r>
              <a:rPr lang="de-DE" sz="1400" b="1" dirty="0"/>
              <a:t>=</a:t>
            </a:r>
            <a:r>
              <a:rPr lang="de-DE" sz="1400" dirty="0"/>
              <a:t>Hersteller.Hersteller_ID</a:t>
            </a:r>
          </a:p>
          <a:p>
            <a:r>
              <a:rPr lang="de-DE" sz="1400" b="1" dirty="0"/>
              <a:t>             INNER JOIN </a:t>
            </a:r>
            <a:r>
              <a:rPr lang="de-DE" sz="1400" dirty="0"/>
              <a:t>Spedition</a:t>
            </a:r>
            <a:r>
              <a:rPr lang="de-DE" sz="1400" b="1" dirty="0"/>
              <a:t> ON </a:t>
            </a:r>
            <a:r>
              <a:rPr lang="de-DE" sz="1400" dirty="0"/>
              <a:t>Hersteller.Spedition_ID</a:t>
            </a:r>
            <a:r>
              <a:rPr lang="de-DE" sz="1400" b="1" dirty="0"/>
              <a:t>=</a:t>
            </a:r>
            <a:r>
              <a:rPr lang="de-DE" sz="1400" dirty="0"/>
              <a:t>Spedition.Spedition_ID</a:t>
            </a:r>
            <a:r>
              <a:rPr lang="de-DE" sz="1400" b="1" dirty="0"/>
              <a:t>;</a:t>
            </a:r>
          </a:p>
          <a:p>
            <a:endParaRPr lang="de-DE" sz="2600" b="1" dirty="0"/>
          </a:p>
          <a:p>
            <a:endParaRPr lang="de-DE" sz="2600" b="1" dirty="0"/>
          </a:p>
        </p:txBody>
      </p:sp>
    </p:spTree>
    <p:extLst>
      <p:ext uri="{BB962C8B-B14F-4D97-AF65-F5344CB8AC3E}">
        <p14:creationId xmlns:p14="http://schemas.microsoft.com/office/powerpoint/2010/main" val="22586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13" end="1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4" end="1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15" end="1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xEl>
                                              <p:pRg st="16" end="1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
                                            <p:txEl>
                                              <p:pRg st="17" end="17"/>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solidFill>
                  <a:srgbClr val="0071B2"/>
                </a:solidFill>
                <a:latin typeface="Source Sans Pro" panose="020B0503030403020204" pitchFamily="34" charset="0"/>
              </a:rPr>
              <a:t>2</a:t>
            </a: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 Beispielaufgabe –</a:t>
            </a:r>
            <a:r>
              <a:rPr kumimoji="0" lang="de-DE" sz="4000" b="1" i="0" u="none" strike="noStrike" kern="1200" cap="none" spc="0" normalizeH="0" noProof="0" dirty="0">
                <a:ln>
                  <a:noFill/>
                </a:ln>
                <a:solidFill>
                  <a:srgbClr val="0071B2"/>
                </a:solidFill>
                <a:effectLst/>
                <a:uLnTx/>
                <a:uFillTx/>
                <a:latin typeface="Source Sans Pro" panose="020B0503030403020204" pitchFamily="34" charset="0"/>
                <a:ea typeface="+mj-ea"/>
                <a:cs typeface="+mj-cs"/>
              </a:rPr>
              <a:t> </a:t>
            </a:r>
            <a:r>
              <a:rPr kumimoji="0" lang="de-DE" sz="4000" b="1" i="0" u="none" strike="noStrike" kern="1200" cap="none" spc="0" normalizeH="0" noProof="0" dirty="0">
                <a:ln>
                  <a:noFill/>
                </a:ln>
                <a:solidFill>
                  <a:schemeClr val="accent2"/>
                </a:solidFill>
                <a:effectLst/>
                <a:uLnTx/>
                <a:uFillTx/>
                <a:latin typeface="Source Sans Pro" panose="020B0503030403020204" pitchFamily="34" charset="0"/>
                <a:ea typeface="+mj-ea"/>
                <a:cs typeface="+mj-cs"/>
              </a:rPr>
              <a:t>Verwendung </a:t>
            </a:r>
            <a:r>
              <a:rPr kumimoji="0" lang="de-DE" sz="4000" b="1" i="0" u="none" strike="noStrike" kern="1200" cap="none" spc="0" normalizeH="0" noProof="0" dirty="0">
                <a:ln>
                  <a:noFill/>
                </a:ln>
                <a:effectLst/>
                <a:uLnTx/>
                <a:uFillTx/>
                <a:latin typeface="Source Sans Pro" panose="020B0503030403020204" pitchFamily="34" charset="0"/>
                <a:ea typeface="+mj-ea"/>
                <a:cs typeface="+mj-cs"/>
              </a:rPr>
              <a:t>des VIEWs</a:t>
            </a:r>
            <a:endParaRPr kumimoji="0" lang="de-DE" sz="4000" b="0" i="1" u="none" strike="noStrike" kern="1200" cap="none" spc="0" normalizeH="0" baseline="0" noProof="0" dirty="0">
              <a:ln>
                <a:noFill/>
              </a:ln>
              <a:effectLst/>
              <a:uLnTx/>
              <a:uFillTx/>
              <a:latin typeface="Source Sans Pro" panose="020B0503030403020204" pitchFamily="34" charset="0"/>
              <a:ea typeface="+mj-ea"/>
              <a:cs typeface="+mj-cs"/>
            </a:endParaRPr>
          </a:p>
        </p:txBody>
      </p:sp>
      <p:sp>
        <p:nvSpPr>
          <p:cNvPr id="2" name="Textfeld 1"/>
          <p:cNvSpPr txBox="1"/>
          <p:nvPr/>
        </p:nvSpPr>
        <p:spPr>
          <a:xfrm>
            <a:off x="799452" y="1256066"/>
            <a:ext cx="10170028" cy="3693319"/>
          </a:xfrm>
          <a:prstGeom prst="rect">
            <a:avLst/>
          </a:prstGeom>
          <a:noFill/>
        </p:spPr>
        <p:txBody>
          <a:bodyPr wrap="none" rtlCol="0">
            <a:spAutoFit/>
          </a:bodyPr>
          <a:lstStyle/>
          <a:p>
            <a:r>
              <a:rPr lang="de-DE" sz="2000" b="1" dirty="0"/>
              <a:t>Aufgabenstellung:</a:t>
            </a:r>
          </a:p>
          <a:p>
            <a:r>
              <a:rPr lang="de-DE" dirty="0"/>
              <a:t>Es sollen Vor- und Nachname all jener Kunden ausgegeben werden, die mindestens ein Produkt bestellten,</a:t>
            </a:r>
          </a:p>
          <a:p>
            <a:r>
              <a:rPr lang="de-DE" dirty="0"/>
              <a:t>das ihnen anschließend von der Spedition "Speedvan GmbH" ausgeliefert worden war.</a:t>
            </a:r>
          </a:p>
          <a:p>
            <a:endParaRPr lang="de-DE" sz="800" dirty="0"/>
          </a:p>
          <a:p>
            <a:r>
              <a:rPr lang="de-DE" dirty="0"/>
              <a:t>Der Code einer entsprechenden Abfrage wäre ähnlich umfangreich, wie der des VIEWs </a:t>
            </a:r>
            <a:r>
              <a:rPr lang="de-DE" b="1" dirty="0"/>
              <a:t>Total_Abfrage</a:t>
            </a:r>
            <a:r>
              <a:rPr lang="de-DE" dirty="0"/>
              <a:t>.</a:t>
            </a:r>
          </a:p>
          <a:p>
            <a:endParaRPr lang="de-DE" dirty="0"/>
          </a:p>
          <a:p>
            <a:endParaRPr lang="de-DE" dirty="0"/>
          </a:p>
          <a:p>
            <a:r>
              <a:rPr lang="de-DE" b="1" dirty="0">
                <a:solidFill>
                  <a:schemeClr val="accent2"/>
                </a:solidFill>
              </a:rPr>
              <a:t>Komfortable Alternative:</a:t>
            </a:r>
          </a:p>
          <a:p>
            <a:endParaRPr lang="de-DE" sz="800" b="1" dirty="0">
              <a:solidFill>
                <a:schemeClr val="accent2"/>
              </a:solidFill>
            </a:endParaRPr>
          </a:p>
          <a:p>
            <a:r>
              <a:rPr lang="en-US" sz="3200" b="1" dirty="0"/>
              <a:t>SELECT DISTINCT </a:t>
            </a:r>
            <a:r>
              <a:rPr lang="en-US" sz="3200" dirty="0"/>
              <a:t>Vorname</a:t>
            </a:r>
            <a:r>
              <a:rPr lang="en-US" sz="3200" b="1" dirty="0"/>
              <a:t>,</a:t>
            </a:r>
            <a:r>
              <a:rPr lang="en-US" sz="3200" dirty="0"/>
              <a:t>Nachname</a:t>
            </a:r>
            <a:r>
              <a:rPr lang="en-US" sz="3200" b="1" dirty="0"/>
              <a:t> FROM </a:t>
            </a:r>
            <a:r>
              <a:rPr lang="en-US" sz="3200" dirty="0"/>
              <a:t>Total_Abfrage</a:t>
            </a:r>
          </a:p>
          <a:p>
            <a:r>
              <a:rPr lang="en-US" sz="3200" b="1" dirty="0"/>
              <a:t>WHERE </a:t>
            </a:r>
            <a:r>
              <a:rPr lang="en-US" sz="3200" dirty="0"/>
              <a:t>Spedition_Name</a:t>
            </a:r>
            <a:r>
              <a:rPr lang="en-US" sz="3200" b="1" dirty="0"/>
              <a:t>="</a:t>
            </a:r>
            <a:r>
              <a:rPr lang="en-US" sz="3200" dirty="0"/>
              <a:t>Speedvan</a:t>
            </a:r>
            <a:r>
              <a:rPr lang="en-US" sz="3200" b="1" dirty="0"/>
              <a:t> </a:t>
            </a:r>
            <a:r>
              <a:rPr lang="en-US" sz="3200" dirty="0"/>
              <a:t>GmbH</a:t>
            </a:r>
            <a:r>
              <a:rPr lang="en-US" sz="3200" b="1" dirty="0"/>
              <a:t>";</a:t>
            </a:r>
            <a:endParaRPr lang="de-DE" sz="3200" b="1" dirty="0"/>
          </a:p>
          <a:p>
            <a:endParaRPr lang="de-DE" sz="2600" b="1" dirty="0"/>
          </a:p>
        </p:txBody>
      </p:sp>
      <p:pic>
        <p:nvPicPr>
          <p:cNvPr id="3" name="Grafik 2"/>
          <p:cNvPicPr>
            <a:picLocks noChangeAspect="1"/>
          </p:cNvPicPr>
          <p:nvPr/>
        </p:nvPicPr>
        <p:blipFill>
          <a:blip r:embed="rId2"/>
          <a:stretch>
            <a:fillRect/>
          </a:stretch>
        </p:blipFill>
        <p:spPr>
          <a:xfrm>
            <a:off x="9155832" y="4173317"/>
            <a:ext cx="1666875" cy="1457325"/>
          </a:xfrm>
          <a:prstGeom prst="rect">
            <a:avLst/>
          </a:prstGeom>
          <a:effectLst>
            <a:innerShdw blurRad="114300">
              <a:prstClr val="black"/>
            </a:innerShdw>
          </a:effectLst>
        </p:spPr>
      </p:pic>
      <p:sp>
        <p:nvSpPr>
          <p:cNvPr id="9" name="Rechteck 8"/>
          <p:cNvSpPr/>
          <p:nvPr/>
        </p:nvSpPr>
        <p:spPr>
          <a:xfrm>
            <a:off x="739789" y="4714380"/>
            <a:ext cx="8013512" cy="11512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a:solidFill>
                <a:schemeClr val="accent2"/>
              </a:solidFill>
              <a:latin typeface="Source Sans Pro" panose="020B0503030403020204" pitchFamily="34" charset="0"/>
            </a:endParaRPr>
          </a:p>
          <a:p>
            <a:pPr lvl="0" algn="ctr"/>
            <a:endParaRPr lang="de-DE" b="1" dirty="0">
              <a:solidFill>
                <a:srgbClr val="0071B2"/>
              </a:solidFill>
            </a:endParaRPr>
          </a:p>
          <a:p>
            <a:pPr lvl="0" algn="ctr"/>
            <a:r>
              <a:rPr lang="de-DE" b="1" dirty="0">
                <a:solidFill>
                  <a:srgbClr val="0071B2"/>
                </a:solidFill>
              </a:rPr>
              <a:t>Hinweis:</a:t>
            </a:r>
          </a:p>
          <a:p>
            <a:pPr lvl="0" algn="ctr"/>
            <a:r>
              <a:rPr lang="de-DE" sz="1400" dirty="0">
                <a:solidFill>
                  <a:srgbClr val="0071B2"/>
                </a:solidFill>
              </a:rPr>
              <a:t>Diese Form von „Total-Abfragen“ sind enorm komfortabel, allerdings in der Praxis oft nicht praktikabel,</a:t>
            </a:r>
          </a:p>
          <a:p>
            <a:pPr lvl="0" algn="ctr"/>
            <a:r>
              <a:rPr lang="de-DE" sz="1400" dirty="0">
                <a:solidFill>
                  <a:srgbClr val="0071B2"/>
                </a:solidFill>
              </a:rPr>
              <a:t>da sie bei großen Datenbanken eine viel zu </a:t>
            </a:r>
            <a:r>
              <a:rPr lang="de-DE" sz="1400" b="1" dirty="0">
                <a:solidFill>
                  <a:srgbClr val="0071B2"/>
                </a:solidFill>
              </a:rPr>
              <a:t>geringe Abarbeitungs-Performance </a:t>
            </a:r>
            <a:r>
              <a:rPr lang="de-DE" sz="1400" dirty="0">
                <a:solidFill>
                  <a:srgbClr val="0071B2"/>
                </a:solidFill>
              </a:rPr>
              <a:t>hätten.</a:t>
            </a:r>
          </a:p>
          <a:p>
            <a:pPr algn="ctr"/>
            <a:endParaRPr lang="de-DE" sz="800" b="1" dirty="0">
              <a:solidFill>
                <a:schemeClr val="tx1"/>
              </a:solidFill>
              <a:latin typeface="Source Sans Pro" panose="020B0503030403020204" pitchFamily="34" charset="0"/>
            </a:endParaRPr>
          </a:p>
          <a:p>
            <a:pPr algn="ctr"/>
            <a:endParaRPr lang="de-DE" sz="800" dirty="0">
              <a:solidFill>
                <a:schemeClr val="bg2"/>
              </a:solidFill>
              <a:latin typeface="Source Sans Pro" panose="020B0503030403020204" pitchFamily="34" charset="0"/>
            </a:endParaRPr>
          </a:p>
          <a:p>
            <a:pPr algn="ctr"/>
            <a:r>
              <a:rPr lang="de-DE" sz="1200" dirty="0">
                <a:solidFill>
                  <a:schemeClr val="bg2"/>
                </a:solidFill>
              </a:rPr>
              <a:t>.</a:t>
            </a:r>
          </a:p>
        </p:txBody>
      </p:sp>
    </p:spTree>
    <p:extLst>
      <p:ext uri="{BB962C8B-B14F-4D97-AF65-F5344CB8AC3E}">
        <p14:creationId xmlns:p14="http://schemas.microsoft.com/office/powerpoint/2010/main" val="2959979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a:latin typeface="Source Sans Pro" panose="020B0503030403020204" pitchFamily="34" charset="0"/>
              </a:rPr>
              <a:t>Vielen Dank für Ihre Aufmerksamkeit!</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673</Words>
  <Application>Microsoft Office PowerPoint</Application>
  <PresentationFormat>Breitbild</PresentationFormat>
  <Paragraphs>91</Paragraphs>
  <Slides>8</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8</vt:i4>
      </vt:variant>
    </vt:vector>
  </HeadingPairs>
  <TitlesOfParts>
    <vt:vector size="13" baseType="lpstr">
      <vt:lpstr>Arial</vt:lpstr>
      <vt:lpstr>Calibri</vt:lpstr>
      <vt:lpstr>Courier New</vt:lpstr>
      <vt:lpstr>Source Sans Pro</vt:lpstr>
      <vt:lpstr>1_Office</vt:lpstr>
      <vt:lpstr>Datenbanken und SQL</vt:lpstr>
      <vt:lpstr>Agenda</vt:lpstr>
      <vt:lpstr>PowerPoint-Präsentation</vt:lpstr>
      <vt:lpstr>PowerPoint-Präsentation</vt:lpstr>
      <vt:lpstr>PowerPoint-Präsentation</vt:lpstr>
      <vt:lpstr>PowerPoint-Präsentation</vt:lpstr>
      <vt:lpstr>PowerPoint-Präsentation</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Peter Schwertner</cp:lastModifiedBy>
  <cp:revision>789</cp:revision>
  <dcterms:created xsi:type="dcterms:W3CDTF">2022-02-01T13:48:14Z</dcterms:created>
  <dcterms:modified xsi:type="dcterms:W3CDTF">2026-06-08T06:10:10Z</dcterms:modified>
</cp:coreProperties>
</file>