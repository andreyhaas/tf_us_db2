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60" r:id="rId4"/>
    <p:sldId id="363" r:id="rId5"/>
    <p:sldId id="371" r:id="rId6"/>
    <p:sldId id="402" r:id="rId7"/>
    <p:sldId id="403" r:id="rId8"/>
    <p:sldId id="372" r:id="rId9"/>
    <p:sldId id="373" r:id="rId10"/>
    <p:sldId id="374" r:id="rId11"/>
    <p:sldId id="375" r:id="rId12"/>
    <p:sldId id="377" r:id="rId13"/>
    <p:sldId id="378" r:id="rId14"/>
    <p:sldId id="379" r:id="rId15"/>
    <p:sldId id="376" r:id="rId16"/>
    <p:sldId id="380" r:id="rId17"/>
    <p:sldId id="381" r:id="rId18"/>
    <p:sldId id="382" r:id="rId19"/>
    <p:sldId id="383" r:id="rId20"/>
    <p:sldId id="384" r:id="rId21"/>
    <p:sldId id="385" r:id="rId22"/>
    <p:sldId id="386" r:id="rId23"/>
    <p:sldId id="387" r:id="rId24"/>
    <p:sldId id="388" r:id="rId25"/>
    <p:sldId id="389" r:id="rId26"/>
    <p:sldId id="390" r:id="rId27"/>
    <p:sldId id="391" r:id="rId28"/>
    <p:sldId id="392" r:id="rId29"/>
    <p:sldId id="393" r:id="rId30"/>
    <p:sldId id="394" r:id="rId31"/>
    <p:sldId id="395" r:id="rId32"/>
    <p:sldId id="396" r:id="rId33"/>
    <p:sldId id="397" r:id="rId34"/>
    <p:sldId id="398" r:id="rId35"/>
    <p:sldId id="400" r:id="rId36"/>
    <p:sldId id="399" r:id="rId37"/>
    <p:sldId id="401" r:id="rId38"/>
    <p:sldId id="277" r:id="rId39"/>
    <p:sldId id="259" r:id="rId40"/>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7" d="100"/>
          <a:sy n="107" d="100"/>
        </p:scale>
        <p:origin x="138" y="25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hyperlink" Target="https://pixabay.com/DE/users" TargetMode="Externa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_ohne Bild">
    <p:spTree>
      <p:nvGrpSpPr>
        <p:cNvPr id="1" name=""/>
        <p:cNvGrpSpPr/>
        <p:nvPr/>
      </p:nvGrpSpPr>
      <p:grpSpPr>
        <a:xfrm>
          <a:off x="0" y="0"/>
          <a:ext cx="0" cy="0"/>
          <a:chOff x="0" y="0"/>
          <a:chExt cx="0" cy="0"/>
        </a:xfrm>
      </p:grpSpPr>
      <p:grpSp>
        <p:nvGrpSpPr>
          <p:cNvPr id="16" name="Gruppieren 15"/>
          <p:cNvGrpSpPr/>
          <p:nvPr userDrawn="1"/>
        </p:nvGrpSpPr>
        <p:grpSpPr>
          <a:xfrm>
            <a:off x="0" y="6083955"/>
            <a:ext cx="12192000" cy="792064"/>
            <a:chOff x="0" y="6083955"/>
            <a:chExt cx="12192000" cy="792064"/>
          </a:xfrm>
        </p:grpSpPr>
        <p:sp>
          <p:nvSpPr>
            <p:cNvPr id="14" name="Freihandform 13"/>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5" name="Grafik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4" name="Datumsplatzhalter 3"/>
          <p:cNvSpPr>
            <a:spLocks noGrp="1"/>
          </p:cNvSpPr>
          <p:nvPr>
            <p:ph type="dt" sz="half" idx="10"/>
          </p:nvPr>
        </p:nvSpPr>
        <p:spPr/>
        <p:txBody>
          <a:bodyPr/>
          <a:lstStyle/>
          <a:p>
            <a:fld id="{2683B5D4-1447-4674-AF43-D7F554FE08B3}" type="datetime1">
              <a:rPr lang="de-DE" smtClean="0"/>
              <a:t>27.11.2023</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itle 1"/>
          <p:cNvSpPr>
            <a:spLocks noGrp="1"/>
          </p:cNvSpPr>
          <p:nvPr>
            <p:ph type="ctrTitle" hasCustomPrompt="1"/>
          </p:nvPr>
        </p:nvSpPr>
        <p:spPr>
          <a:xfrm>
            <a:off x="1782038" y="556181"/>
            <a:ext cx="8625153" cy="3590305"/>
          </a:xfrm>
        </p:spPr>
        <p:txBody>
          <a:bodyPr wrap="square" anchor="b" anchorCtr="1">
            <a:normAutofit/>
          </a:bodyPr>
          <a:lstStyle>
            <a:lvl1pPr algn="ctr">
              <a:defRPr sz="6000" baseline="0"/>
            </a:lvl1pPr>
          </a:lstStyle>
          <a:p>
            <a:r>
              <a:rPr lang="de-DE" dirty="0"/>
              <a:t>Lernmodul oder Titel der</a:t>
            </a:r>
            <a:br>
              <a:rPr lang="de-DE" dirty="0"/>
            </a:br>
            <a:r>
              <a:rPr lang="de-DE" dirty="0"/>
              <a:t>Präsentation</a:t>
            </a:r>
            <a:endParaRPr lang="en-US" dirty="0"/>
          </a:p>
        </p:txBody>
      </p:sp>
      <p:sp>
        <p:nvSpPr>
          <p:cNvPr id="13" name="Subtitle 2"/>
          <p:cNvSpPr>
            <a:spLocks noGrp="1"/>
          </p:cNvSpPr>
          <p:nvPr>
            <p:ph type="subTitle" idx="1" hasCustomPrompt="1"/>
          </p:nvPr>
        </p:nvSpPr>
        <p:spPr>
          <a:xfrm>
            <a:off x="1783013" y="4146486"/>
            <a:ext cx="8624170" cy="7005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Untertitel</a:t>
            </a:r>
            <a:endParaRPr lang="en-US" dirty="0"/>
          </a:p>
        </p:txBody>
      </p:sp>
      <p:pic>
        <p:nvPicPr>
          <p:cNvPr id="17" name="Grafik 1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2899352684"/>
      </p:ext>
    </p:extLst>
  </p:cSld>
  <p:clrMapOvr>
    <a:masterClrMapping/>
  </p:clrMapOvr>
  <p:extLst>
    <p:ext uri="{DCECCB84-F9BA-43D5-87BE-67443E8EF086}">
      <p15:sldGuideLst xmlns:p15="http://schemas.microsoft.com/office/powerpoint/2012/main">
        <p15:guide id="1" orient="horz" pos="232">
          <p15:clr>
            <a:srgbClr val="000000"/>
          </p15:clr>
        </p15:guide>
        <p15:guide id="2" orient="horz" pos="3861">
          <p15:clr>
            <a:srgbClr val="000000"/>
          </p15:clr>
        </p15:guide>
        <p15:guide id="3" pos="7469">
          <p15:clr>
            <a:srgbClr val="000000"/>
          </p15:clr>
        </p15:guide>
        <p15:guide id="4" pos="211">
          <p15:clr>
            <a:srgbClr val="00000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_mit Bild">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2B21F94E-F092-4943-BFCD-C473A8B2BCE8}" type="datetime1">
              <a:rPr lang="de-DE" smtClean="0"/>
              <a:t>27.11.2023</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itel"/>
          <p:cNvSpPr>
            <a:spLocks noGrp="1"/>
          </p:cNvSpPr>
          <p:nvPr>
            <p:ph type="ctrTitle"/>
          </p:nvPr>
        </p:nvSpPr>
        <p:spPr>
          <a:xfrm>
            <a:off x="1819747" y="3424238"/>
            <a:ext cx="8555524" cy="2158673"/>
          </a:xfrm>
        </p:spPr>
        <p:txBody>
          <a:bodyPr>
            <a:normAutofit/>
          </a:bodyPr>
          <a:lstStyle>
            <a:lvl1pPr algn="ctr">
              <a:defRPr/>
            </a:lvl1pPr>
          </a:lstStyle>
          <a:p>
            <a:pPr algn="ctr"/>
            <a:r>
              <a:rPr lang="de-DE" sz="5000" dirty="0">
                <a:solidFill>
                  <a:schemeClr val="tx1"/>
                </a:solidFill>
                <a:latin typeface="+mj-lt"/>
              </a:rPr>
              <a:t>Titel des Videos oder Lernmoduls</a:t>
            </a:r>
          </a:p>
        </p:txBody>
      </p:sp>
      <p:sp>
        <p:nvSpPr>
          <p:cNvPr id="11" name="Untertitel"/>
          <p:cNvSpPr>
            <a:spLocks noGrp="1"/>
          </p:cNvSpPr>
          <p:nvPr>
            <p:ph type="subTitle" idx="1" hasCustomPrompt="1"/>
          </p:nvPr>
        </p:nvSpPr>
        <p:spPr>
          <a:xfrm>
            <a:off x="1819747" y="5584494"/>
            <a:ext cx="8555524" cy="725823"/>
          </a:xfrm>
        </p:spPr>
        <p:txBody>
          <a:bodyPr/>
          <a:lstStyle>
            <a:lvl1pPr marL="0" indent="0" algn="ctr">
              <a:buNone/>
              <a:defRPr/>
            </a:lvl1pPr>
          </a:lstStyle>
          <a:p>
            <a:pPr algn="ctr"/>
            <a:r>
              <a:rPr lang="de-DE" dirty="0">
                <a:solidFill>
                  <a:schemeClr val="tx1"/>
                </a:solidFill>
                <a:latin typeface="+mn-lt"/>
              </a:rPr>
              <a:t>Untertitel</a:t>
            </a:r>
          </a:p>
        </p:txBody>
      </p:sp>
      <p:sp>
        <p:nvSpPr>
          <p:cNvPr id="13" name="Bildplatzhalter 12"/>
          <p:cNvSpPr>
            <a:spLocks noGrp="1"/>
          </p:cNvSpPr>
          <p:nvPr>
            <p:ph type="pic" sz="quarter" idx="13" hasCustomPrompt="1"/>
          </p:nvPr>
        </p:nvSpPr>
        <p:spPr>
          <a:xfrm>
            <a:off x="0" y="0"/>
            <a:ext cx="12192000" cy="4186238"/>
          </a:xfrm>
        </p:spPr>
        <p:txBody>
          <a:bodyPr/>
          <a:lstStyle>
            <a:lvl1pPr>
              <a:defRPr/>
            </a:lvl1pPr>
          </a:lstStyle>
          <a:p>
            <a:r>
              <a:rPr lang="de-DE" dirty="0"/>
              <a:t>Bild durch klick auf das Symbol hinzufügen und in den Hintergrund verschieben.</a:t>
            </a:r>
          </a:p>
        </p:txBody>
      </p:sp>
    </p:spTree>
    <p:extLst>
      <p:ext uri="{BB962C8B-B14F-4D97-AF65-F5344CB8AC3E}">
        <p14:creationId xmlns:p14="http://schemas.microsoft.com/office/powerpoint/2010/main" val="4022750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emenübersicht">
    <p:spTree>
      <p:nvGrpSpPr>
        <p:cNvPr id="1" name=""/>
        <p:cNvGrpSpPr/>
        <p:nvPr/>
      </p:nvGrpSpPr>
      <p:grpSpPr>
        <a:xfrm>
          <a:off x="0" y="0"/>
          <a:ext cx="0" cy="0"/>
          <a:chOff x="0" y="0"/>
          <a:chExt cx="0" cy="0"/>
        </a:xfrm>
      </p:grpSpPr>
      <p:grpSp>
        <p:nvGrpSpPr>
          <p:cNvPr id="7" name="Gruppieren 6"/>
          <p:cNvGrpSpPr/>
          <p:nvPr userDrawn="1"/>
        </p:nvGrpSpPr>
        <p:grpSpPr>
          <a:xfrm>
            <a:off x="-908" y="1229964"/>
            <a:ext cx="12193814" cy="5668603"/>
            <a:chOff x="-908" y="6783671"/>
            <a:chExt cx="12193814" cy="5668603"/>
          </a:xfrm>
        </p:grpSpPr>
        <p:sp>
          <p:nvSpPr>
            <p:cNvPr id="8" name="Freihandform 7"/>
            <p:cNvSpPr/>
            <p:nvPr userDrawn="1"/>
          </p:nvSpPr>
          <p:spPr>
            <a:xfrm>
              <a:off x="-908" y="6783671"/>
              <a:ext cx="12193814" cy="5668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3814" h="5668603">
                  <a:moveTo>
                    <a:pt x="908" y="0"/>
                  </a:moveTo>
                  <a:lnTo>
                    <a:pt x="3455177" y="0"/>
                  </a:lnTo>
                  <a:lnTo>
                    <a:pt x="3825998" y="351771"/>
                  </a:lnTo>
                  <a:lnTo>
                    <a:pt x="4196818" y="0"/>
                  </a:lnTo>
                  <a:lnTo>
                    <a:pt x="12192908" y="0"/>
                  </a:lnTo>
                  <a:cubicBezTo>
                    <a:pt x="12189766" y="1886392"/>
                    <a:pt x="12196049" y="3782211"/>
                    <a:pt x="12192907" y="5668603"/>
                  </a:cubicBezTo>
                  <a:lnTo>
                    <a:pt x="908" y="5630895"/>
                  </a:lnTo>
                  <a:cubicBezTo>
                    <a:pt x="4050" y="3515117"/>
                    <a:pt x="-2234" y="2115778"/>
                    <a:pt x="90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783671"/>
              <a:ext cx="12192000" cy="409956"/>
            </a:xfrm>
            <a:prstGeom prst="rect">
              <a:avLst/>
            </a:prstGeom>
          </p:spPr>
        </p:pic>
      </p:grpSp>
      <p:sp>
        <p:nvSpPr>
          <p:cNvPr id="4" name="Datumsplatzhalter 3"/>
          <p:cNvSpPr>
            <a:spLocks noGrp="1"/>
          </p:cNvSpPr>
          <p:nvPr>
            <p:ph type="dt" sz="half" idx="10"/>
          </p:nvPr>
        </p:nvSpPr>
        <p:spPr/>
        <p:txBody>
          <a:bodyPr/>
          <a:lstStyle/>
          <a:p>
            <a:fld id="{CA52A6E7-51B3-4CF0-8F47-DAACA7061ACA}" type="datetime1">
              <a:rPr lang="de-DE" smtClean="0"/>
              <a:t>27.11.2023</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33" name="Textplatzhalter 32"/>
          <p:cNvSpPr>
            <a:spLocks noGrp="1"/>
          </p:cNvSpPr>
          <p:nvPr>
            <p:ph type="body" sz="quarter" idx="13" hasCustomPrompt="1"/>
          </p:nvPr>
        </p:nvSpPr>
        <p:spPr>
          <a:xfrm>
            <a:off x="352995" y="2002314"/>
            <a:ext cx="2149475" cy="706356"/>
          </a:xfrm>
        </p:spPr>
        <p:txBody>
          <a:bodyPr>
            <a:normAutofit/>
          </a:bodyPr>
          <a:lstStyle>
            <a:lvl1pPr marL="0" indent="0" algn="ctr">
              <a:buNone/>
              <a:defRPr sz="4800" b="1">
                <a:solidFill>
                  <a:schemeClr val="accent2"/>
                </a:solidFill>
              </a:defRPr>
            </a:lvl1pPr>
          </a:lstStyle>
          <a:p>
            <a:pPr lvl="0"/>
            <a:r>
              <a:rPr lang="de-DE" dirty="0"/>
              <a:t>01</a:t>
            </a:r>
          </a:p>
        </p:txBody>
      </p:sp>
      <p:sp>
        <p:nvSpPr>
          <p:cNvPr id="34" name="Textplatzhalter 32"/>
          <p:cNvSpPr>
            <a:spLocks noGrp="1"/>
          </p:cNvSpPr>
          <p:nvPr>
            <p:ph type="body" sz="quarter" idx="14" hasCustomPrompt="1"/>
          </p:nvPr>
        </p:nvSpPr>
        <p:spPr>
          <a:xfrm>
            <a:off x="352995" y="2721925"/>
            <a:ext cx="2149475" cy="706356"/>
          </a:xfrm>
        </p:spPr>
        <p:txBody>
          <a:bodyPr>
            <a:normAutofit/>
          </a:bodyPr>
          <a:lstStyle>
            <a:lvl1pPr marL="0" indent="0" algn="ctr">
              <a:buNone/>
              <a:defRPr sz="2400" b="1">
                <a:solidFill>
                  <a:schemeClr val="tx1"/>
                </a:solidFill>
              </a:defRPr>
            </a:lvl1pPr>
          </a:lstStyle>
          <a:p>
            <a:pPr lvl="0"/>
            <a:r>
              <a:rPr lang="de-DE" dirty="0"/>
              <a:t>Das erste Thema/Tag</a:t>
            </a:r>
          </a:p>
        </p:txBody>
      </p:sp>
      <p:sp>
        <p:nvSpPr>
          <p:cNvPr id="35" name="Textplatzhalter 32"/>
          <p:cNvSpPr>
            <a:spLocks noGrp="1"/>
          </p:cNvSpPr>
          <p:nvPr>
            <p:ph type="body" sz="quarter" idx="15" hasCustomPrompt="1"/>
          </p:nvPr>
        </p:nvSpPr>
        <p:spPr>
          <a:xfrm>
            <a:off x="352995"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1.1 </a:t>
            </a:r>
            <a:br>
              <a:rPr lang="de-DE" dirty="0"/>
            </a:br>
            <a:r>
              <a:rPr lang="de-DE" dirty="0"/>
              <a:t>Oder das Thema untergliedert werden</a:t>
            </a:r>
          </a:p>
        </p:txBody>
      </p:sp>
      <p:sp>
        <p:nvSpPr>
          <p:cNvPr id="45" name="Textplatzhalter 32"/>
          <p:cNvSpPr>
            <a:spLocks noGrp="1"/>
          </p:cNvSpPr>
          <p:nvPr>
            <p:ph type="body" sz="quarter" idx="16" hasCustomPrompt="1"/>
          </p:nvPr>
        </p:nvSpPr>
        <p:spPr>
          <a:xfrm>
            <a:off x="2502470" y="2002314"/>
            <a:ext cx="2149475" cy="706356"/>
          </a:xfrm>
        </p:spPr>
        <p:txBody>
          <a:bodyPr>
            <a:normAutofit/>
          </a:bodyPr>
          <a:lstStyle>
            <a:lvl1pPr marL="0" indent="0" algn="ctr">
              <a:buNone/>
              <a:defRPr sz="4800" b="1">
                <a:solidFill>
                  <a:schemeClr val="accent2"/>
                </a:solidFill>
              </a:defRPr>
            </a:lvl1pPr>
          </a:lstStyle>
          <a:p>
            <a:pPr lvl="0"/>
            <a:r>
              <a:rPr lang="de-DE" dirty="0"/>
              <a:t>02</a:t>
            </a:r>
          </a:p>
        </p:txBody>
      </p:sp>
      <p:sp>
        <p:nvSpPr>
          <p:cNvPr id="46" name="Textplatzhalter 32"/>
          <p:cNvSpPr>
            <a:spLocks noGrp="1"/>
          </p:cNvSpPr>
          <p:nvPr>
            <p:ph type="body" sz="quarter" idx="17" hasCustomPrompt="1"/>
          </p:nvPr>
        </p:nvSpPr>
        <p:spPr>
          <a:xfrm>
            <a:off x="2502470" y="2721925"/>
            <a:ext cx="2149475" cy="706356"/>
          </a:xfrm>
        </p:spPr>
        <p:txBody>
          <a:bodyPr>
            <a:normAutofit/>
          </a:bodyPr>
          <a:lstStyle>
            <a:lvl1pPr marL="0" indent="0" algn="ctr">
              <a:buNone/>
              <a:defRPr sz="2400" b="1">
                <a:solidFill>
                  <a:schemeClr val="tx1"/>
                </a:solidFill>
              </a:defRPr>
            </a:lvl1pPr>
          </a:lstStyle>
          <a:p>
            <a:pPr lvl="0"/>
            <a:r>
              <a:rPr lang="de-DE" dirty="0"/>
              <a:t>Das zweite Thema/Tag</a:t>
            </a:r>
          </a:p>
        </p:txBody>
      </p:sp>
      <p:sp>
        <p:nvSpPr>
          <p:cNvPr id="47" name="Textplatzhalter 32"/>
          <p:cNvSpPr>
            <a:spLocks noGrp="1"/>
          </p:cNvSpPr>
          <p:nvPr>
            <p:ph type="body" sz="quarter" idx="18" hasCustomPrompt="1"/>
          </p:nvPr>
        </p:nvSpPr>
        <p:spPr>
          <a:xfrm>
            <a:off x="2502470"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2.1 </a:t>
            </a:r>
            <a:br>
              <a:rPr lang="de-DE" dirty="0"/>
            </a:br>
            <a:r>
              <a:rPr lang="de-DE" dirty="0"/>
              <a:t>Oder das Thema untergliedert werden</a:t>
            </a:r>
          </a:p>
        </p:txBody>
      </p:sp>
      <p:sp>
        <p:nvSpPr>
          <p:cNvPr id="48" name="Textplatzhalter 32"/>
          <p:cNvSpPr>
            <a:spLocks noGrp="1"/>
          </p:cNvSpPr>
          <p:nvPr>
            <p:ph type="body" sz="quarter" idx="19" hasCustomPrompt="1"/>
          </p:nvPr>
        </p:nvSpPr>
        <p:spPr>
          <a:xfrm>
            <a:off x="4651945" y="2002314"/>
            <a:ext cx="2149475" cy="706356"/>
          </a:xfrm>
        </p:spPr>
        <p:txBody>
          <a:bodyPr>
            <a:normAutofit/>
          </a:bodyPr>
          <a:lstStyle>
            <a:lvl1pPr marL="0" indent="0" algn="ctr">
              <a:buNone/>
              <a:defRPr sz="4800" b="1">
                <a:solidFill>
                  <a:schemeClr val="accent2"/>
                </a:solidFill>
              </a:defRPr>
            </a:lvl1pPr>
          </a:lstStyle>
          <a:p>
            <a:pPr lvl="0"/>
            <a:r>
              <a:rPr lang="de-DE" dirty="0"/>
              <a:t>03</a:t>
            </a:r>
          </a:p>
        </p:txBody>
      </p:sp>
      <p:sp>
        <p:nvSpPr>
          <p:cNvPr id="49" name="Textplatzhalter 32"/>
          <p:cNvSpPr>
            <a:spLocks noGrp="1"/>
          </p:cNvSpPr>
          <p:nvPr>
            <p:ph type="body" sz="quarter" idx="20" hasCustomPrompt="1"/>
          </p:nvPr>
        </p:nvSpPr>
        <p:spPr>
          <a:xfrm>
            <a:off x="4651945" y="2721925"/>
            <a:ext cx="2149475" cy="706356"/>
          </a:xfrm>
        </p:spPr>
        <p:txBody>
          <a:bodyPr>
            <a:normAutofit/>
          </a:bodyPr>
          <a:lstStyle>
            <a:lvl1pPr marL="0" indent="0" algn="ctr">
              <a:buNone/>
              <a:defRPr sz="2400" b="1">
                <a:solidFill>
                  <a:schemeClr val="tx1"/>
                </a:solidFill>
              </a:defRPr>
            </a:lvl1pPr>
          </a:lstStyle>
          <a:p>
            <a:pPr lvl="0"/>
            <a:r>
              <a:rPr lang="de-DE" dirty="0"/>
              <a:t>Das dritte Thema/Tag</a:t>
            </a:r>
          </a:p>
        </p:txBody>
      </p:sp>
      <p:sp>
        <p:nvSpPr>
          <p:cNvPr id="50" name="Textplatzhalter 32"/>
          <p:cNvSpPr>
            <a:spLocks noGrp="1"/>
          </p:cNvSpPr>
          <p:nvPr>
            <p:ph type="body" sz="quarter" idx="21" hasCustomPrompt="1"/>
          </p:nvPr>
        </p:nvSpPr>
        <p:spPr>
          <a:xfrm>
            <a:off x="4651945"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3.1 </a:t>
            </a:r>
            <a:br>
              <a:rPr lang="de-DE" dirty="0"/>
            </a:br>
            <a:r>
              <a:rPr lang="de-DE" dirty="0"/>
              <a:t>Oder das Thema untergliedert werden</a:t>
            </a:r>
          </a:p>
        </p:txBody>
      </p:sp>
      <p:sp>
        <p:nvSpPr>
          <p:cNvPr id="51" name="Textplatzhalter 32"/>
          <p:cNvSpPr>
            <a:spLocks noGrp="1"/>
          </p:cNvSpPr>
          <p:nvPr>
            <p:ph type="body" sz="quarter" idx="22" hasCustomPrompt="1"/>
          </p:nvPr>
        </p:nvSpPr>
        <p:spPr>
          <a:xfrm>
            <a:off x="6801420" y="2002314"/>
            <a:ext cx="2149475" cy="706356"/>
          </a:xfrm>
        </p:spPr>
        <p:txBody>
          <a:bodyPr>
            <a:normAutofit/>
          </a:bodyPr>
          <a:lstStyle>
            <a:lvl1pPr marL="0" indent="0" algn="ctr">
              <a:buNone/>
              <a:defRPr sz="4800" b="1">
                <a:solidFill>
                  <a:schemeClr val="accent2"/>
                </a:solidFill>
              </a:defRPr>
            </a:lvl1pPr>
          </a:lstStyle>
          <a:p>
            <a:pPr lvl="0"/>
            <a:r>
              <a:rPr lang="de-DE" dirty="0"/>
              <a:t>04</a:t>
            </a:r>
          </a:p>
        </p:txBody>
      </p:sp>
      <p:sp>
        <p:nvSpPr>
          <p:cNvPr id="52" name="Textplatzhalter 32"/>
          <p:cNvSpPr>
            <a:spLocks noGrp="1"/>
          </p:cNvSpPr>
          <p:nvPr>
            <p:ph type="body" sz="quarter" idx="23" hasCustomPrompt="1"/>
          </p:nvPr>
        </p:nvSpPr>
        <p:spPr>
          <a:xfrm>
            <a:off x="6801420" y="2721925"/>
            <a:ext cx="2149475" cy="706356"/>
          </a:xfrm>
        </p:spPr>
        <p:txBody>
          <a:bodyPr>
            <a:normAutofit/>
          </a:bodyPr>
          <a:lstStyle>
            <a:lvl1pPr marL="0" indent="0" algn="ctr">
              <a:buNone/>
              <a:defRPr sz="2400" b="1">
                <a:solidFill>
                  <a:schemeClr val="tx1"/>
                </a:solidFill>
              </a:defRPr>
            </a:lvl1pPr>
          </a:lstStyle>
          <a:p>
            <a:pPr lvl="0"/>
            <a:r>
              <a:rPr lang="de-DE" dirty="0"/>
              <a:t>Das vierte Thema/Tag</a:t>
            </a:r>
          </a:p>
        </p:txBody>
      </p:sp>
      <p:sp>
        <p:nvSpPr>
          <p:cNvPr id="53" name="Textplatzhalter 32"/>
          <p:cNvSpPr>
            <a:spLocks noGrp="1"/>
          </p:cNvSpPr>
          <p:nvPr>
            <p:ph type="body" sz="quarter" idx="24" hasCustomPrompt="1"/>
          </p:nvPr>
        </p:nvSpPr>
        <p:spPr>
          <a:xfrm>
            <a:off x="6801420"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4.1 </a:t>
            </a:r>
            <a:br>
              <a:rPr lang="de-DE" dirty="0"/>
            </a:br>
            <a:r>
              <a:rPr lang="de-DE" dirty="0"/>
              <a:t>Oder das Thema untergliedert werden</a:t>
            </a:r>
          </a:p>
        </p:txBody>
      </p:sp>
      <p:sp>
        <p:nvSpPr>
          <p:cNvPr id="60" name="Textplatzhalter 32"/>
          <p:cNvSpPr>
            <a:spLocks noGrp="1"/>
          </p:cNvSpPr>
          <p:nvPr>
            <p:ph type="body" sz="quarter" idx="25" hasCustomPrompt="1"/>
          </p:nvPr>
        </p:nvSpPr>
        <p:spPr>
          <a:xfrm>
            <a:off x="8969749" y="2002314"/>
            <a:ext cx="2149475" cy="706356"/>
          </a:xfrm>
        </p:spPr>
        <p:txBody>
          <a:bodyPr>
            <a:normAutofit/>
          </a:bodyPr>
          <a:lstStyle>
            <a:lvl1pPr marL="0" indent="0" algn="ctr">
              <a:buNone/>
              <a:defRPr sz="4800" b="1">
                <a:solidFill>
                  <a:schemeClr val="accent2"/>
                </a:solidFill>
              </a:defRPr>
            </a:lvl1pPr>
          </a:lstStyle>
          <a:p>
            <a:pPr lvl="0"/>
            <a:r>
              <a:rPr lang="de-DE" dirty="0"/>
              <a:t>05</a:t>
            </a:r>
          </a:p>
        </p:txBody>
      </p:sp>
      <p:sp>
        <p:nvSpPr>
          <p:cNvPr id="61" name="Textplatzhalter 32"/>
          <p:cNvSpPr>
            <a:spLocks noGrp="1"/>
          </p:cNvSpPr>
          <p:nvPr>
            <p:ph type="body" sz="quarter" idx="26" hasCustomPrompt="1"/>
          </p:nvPr>
        </p:nvSpPr>
        <p:spPr>
          <a:xfrm>
            <a:off x="8969749" y="2721925"/>
            <a:ext cx="2149475" cy="706356"/>
          </a:xfrm>
        </p:spPr>
        <p:txBody>
          <a:bodyPr>
            <a:normAutofit/>
          </a:bodyPr>
          <a:lstStyle>
            <a:lvl1pPr marL="0" indent="0" algn="ctr">
              <a:buNone/>
              <a:defRPr sz="2400" b="1">
                <a:solidFill>
                  <a:schemeClr val="tx1"/>
                </a:solidFill>
              </a:defRPr>
            </a:lvl1pPr>
          </a:lstStyle>
          <a:p>
            <a:pPr lvl="0"/>
            <a:r>
              <a:rPr lang="de-DE" dirty="0"/>
              <a:t>Das fünfte Thema/Tag</a:t>
            </a:r>
          </a:p>
        </p:txBody>
      </p:sp>
      <p:sp>
        <p:nvSpPr>
          <p:cNvPr id="62" name="Textplatzhalter 32"/>
          <p:cNvSpPr>
            <a:spLocks noGrp="1"/>
          </p:cNvSpPr>
          <p:nvPr>
            <p:ph type="body" sz="quarter" idx="27" hasCustomPrompt="1"/>
          </p:nvPr>
        </p:nvSpPr>
        <p:spPr>
          <a:xfrm>
            <a:off x="8969749"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5.1 </a:t>
            </a:r>
            <a:br>
              <a:rPr lang="de-DE" dirty="0"/>
            </a:br>
            <a:r>
              <a:rPr lang="de-DE" dirty="0"/>
              <a:t>Oder das Thema untergliedert werden</a:t>
            </a:r>
          </a:p>
        </p:txBody>
      </p:sp>
      <p:sp>
        <p:nvSpPr>
          <p:cNvPr id="63" name="Titel 62"/>
          <p:cNvSpPr>
            <a:spLocks noGrp="1"/>
          </p:cNvSpPr>
          <p:nvPr>
            <p:ph type="title" hasCustomPrompt="1"/>
          </p:nvPr>
        </p:nvSpPr>
        <p:spPr>
          <a:xfrm>
            <a:off x="352995" y="556221"/>
            <a:ext cx="5010857" cy="673743"/>
          </a:xfrm>
        </p:spPr>
        <p:txBody>
          <a:bodyPr anchor="t" anchorCtr="0"/>
          <a:lstStyle>
            <a:lvl1pPr>
              <a:defRPr/>
            </a:lvl1pPr>
          </a:lstStyle>
          <a:p>
            <a:r>
              <a:rPr lang="de-DE" dirty="0"/>
              <a:t>Themenübersicht</a:t>
            </a:r>
          </a:p>
        </p:txBody>
      </p:sp>
    </p:spTree>
    <p:extLst>
      <p:ext uri="{BB962C8B-B14F-4D97-AF65-F5344CB8AC3E}">
        <p14:creationId xmlns:p14="http://schemas.microsoft.com/office/powerpoint/2010/main" val="1456772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rnziel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D68AE64B-F625-4BED-967E-AC8D2D6E44A7}" type="datetime1">
              <a:rPr lang="de-DE" smtClean="0"/>
              <a:t>27.11.2023</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5" name="Textplatzhalter 13"/>
          <p:cNvSpPr>
            <a:spLocks noGrp="1"/>
          </p:cNvSpPr>
          <p:nvPr>
            <p:ph type="body" sz="quarter" idx="14" hasCustomPrompt="1"/>
          </p:nvPr>
        </p:nvSpPr>
        <p:spPr>
          <a:xfrm>
            <a:off x="3949046" y="4147541"/>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6" name="Textplatzhalter 13"/>
          <p:cNvSpPr>
            <a:spLocks noGrp="1"/>
          </p:cNvSpPr>
          <p:nvPr>
            <p:ph type="body" sz="quarter" idx="15" hasCustomPrompt="1"/>
          </p:nvPr>
        </p:nvSpPr>
        <p:spPr>
          <a:xfrm>
            <a:off x="6107898" y="558360"/>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7" name="Textplatzhalter 13"/>
          <p:cNvSpPr>
            <a:spLocks noGrp="1"/>
          </p:cNvSpPr>
          <p:nvPr>
            <p:ph type="body" sz="quarter" idx="16" hasCustomPrompt="1"/>
          </p:nvPr>
        </p:nvSpPr>
        <p:spPr>
          <a:xfrm>
            <a:off x="8266750" y="2696566"/>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8" name="Titel 17"/>
          <p:cNvSpPr>
            <a:spLocks noGrp="1"/>
          </p:cNvSpPr>
          <p:nvPr>
            <p:ph type="title" hasCustomPrompt="1"/>
          </p:nvPr>
        </p:nvSpPr>
        <p:spPr>
          <a:xfrm>
            <a:off x="347893" y="558360"/>
            <a:ext cx="3601153" cy="691320"/>
          </a:xfrm>
        </p:spPr>
        <p:txBody>
          <a:bodyPr anchor="t" anchorCtr="0"/>
          <a:lstStyle>
            <a:lvl1pPr>
              <a:defRPr/>
            </a:lvl1pPr>
          </a:lstStyle>
          <a:p>
            <a:r>
              <a:rPr lang="de-DE" dirty="0"/>
              <a:t>Lernziele</a:t>
            </a:r>
          </a:p>
        </p:txBody>
      </p:sp>
    </p:spTree>
    <p:extLst>
      <p:ext uri="{BB962C8B-B14F-4D97-AF65-F5344CB8AC3E}">
        <p14:creationId xmlns:p14="http://schemas.microsoft.com/office/powerpoint/2010/main" val="26284083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rnziele_mit_Bild">
    <p:spTree>
      <p:nvGrpSpPr>
        <p:cNvPr id="1" name=""/>
        <p:cNvGrpSpPr/>
        <p:nvPr/>
      </p:nvGrpSpPr>
      <p:grpSpPr>
        <a:xfrm>
          <a:off x="0" y="0"/>
          <a:ext cx="0" cy="0"/>
          <a:chOff x="0" y="0"/>
          <a:chExt cx="0" cy="0"/>
        </a:xfrm>
      </p:grpSpPr>
      <p:sp>
        <p:nvSpPr>
          <p:cNvPr id="3" name="Bildplatzhalter 2"/>
          <p:cNvSpPr>
            <a:spLocks noGrp="1"/>
          </p:cNvSpPr>
          <p:nvPr>
            <p:ph type="pic" sz="quarter" idx="17" hasCustomPrompt="1"/>
          </p:nvPr>
        </p:nvSpPr>
        <p:spPr>
          <a:xfrm>
            <a:off x="0" y="1263650"/>
            <a:ext cx="12192000" cy="5378450"/>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487523B2-4D63-4A9B-9A7C-462B7722D6B8}" type="datetime1">
              <a:rPr lang="de-DE" smtClean="0"/>
              <a:t>27.11.2023</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8" name="Titel 17"/>
          <p:cNvSpPr>
            <a:spLocks noGrp="1"/>
          </p:cNvSpPr>
          <p:nvPr>
            <p:ph type="title" hasCustomPrompt="1"/>
          </p:nvPr>
        </p:nvSpPr>
        <p:spPr>
          <a:xfrm>
            <a:off x="347893" y="558360"/>
            <a:ext cx="3601153" cy="1132328"/>
          </a:xfrm>
        </p:spPr>
        <p:txBody>
          <a:bodyPr anchor="t" anchorCtr="0"/>
          <a:lstStyle>
            <a:lvl1pPr>
              <a:defRPr/>
            </a:lvl1pPr>
          </a:lstStyle>
          <a:p>
            <a:r>
              <a:rPr lang="de-DE" dirty="0"/>
              <a:t>Lernziele</a:t>
            </a:r>
          </a:p>
        </p:txBody>
      </p:sp>
      <p:sp>
        <p:nvSpPr>
          <p:cNvPr id="19" name="Textplatzhalter 13"/>
          <p:cNvSpPr>
            <a:spLocks noGrp="1"/>
          </p:cNvSpPr>
          <p:nvPr>
            <p:ph type="body" sz="quarter" idx="18" hasCustomPrompt="1"/>
          </p:nvPr>
        </p:nvSpPr>
        <p:spPr>
          <a:xfrm>
            <a:off x="3949046" y="3430588"/>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20" name="Textplatzhalter 13"/>
          <p:cNvSpPr>
            <a:spLocks noGrp="1"/>
          </p:cNvSpPr>
          <p:nvPr>
            <p:ph type="body" sz="quarter" idx="19" hasCustomPrompt="1"/>
          </p:nvPr>
        </p:nvSpPr>
        <p:spPr>
          <a:xfrm>
            <a:off x="6842404" y="1979612"/>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21" name="Textplatzhalter 13"/>
          <p:cNvSpPr>
            <a:spLocks noGrp="1"/>
          </p:cNvSpPr>
          <p:nvPr>
            <p:ph type="body" sz="quarter" idx="20" hasCustomPrompt="1"/>
          </p:nvPr>
        </p:nvSpPr>
        <p:spPr>
          <a:xfrm>
            <a:off x="8249124" y="4135877"/>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Tree>
    <p:extLst>
      <p:ext uri="{BB962C8B-B14F-4D97-AF65-F5344CB8AC3E}">
        <p14:creationId xmlns:p14="http://schemas.microsoft.com/office/powerpoint/2010/main" val="79210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emenabschnitt">
    <p:spTree>
      <p:nvGrpSpPr>
        <p:cNvPr id="1" name=""/>
        <p:cNvGrpSpPr/>
        <p:nvPr/>
      </p:nvGrpSpPr>
      <p:grpSpPr>
        <a:xfrm>
          <a:off x="0" y="0"/>
          <a:ext cx="0" cy="0"/>
          <a:chOff x="0" y="0"/>
          <a:chExt cx="0" cy="0"/>
        </a:xfrm>
      </p:grpSpPr>
      <p:grpSp>
        <p:nvGrpSpPr>
          <p:cNvPr id="18" name="Gruppieren 17"/>
          <p:cNvGrpSpPr/>
          <p:nvPr userDrawn="1"/>
        </p:nvGrpSpPr>
        <p:grpSpPr>
          <a:xfrm>
            <a:off x="-13606" y="532132"/>
            <a:ext cx="12205606" cy="6351728"/>
            <a:chOff x="-13606" y="532132"/>
            <a:chExt cx="12205606" cy="6351728"/>
          </a:xfrm>
        </p:grpSpPr>
        <p:sp>
          <p:nvSpPr>
            <p:cNvPr id="10" name="Freihandform 9"/>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1" name="Grafik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7" name="Datumsplatzhalter 6"/>
          <p:cNvSpPr>
            <a:spLocks noGrp="1"/>
          </p:cNvSpPr>
          <p:nvPr>
            <p:ph type="dt" sz="half" idx="10"/>
          </p:nvPr>
        </p:nvSpPr>
        <p:spPr/>
        <p:txBody>
          <a:bodyPr/>
          <a:lstStyle/>
          <a:p>
            <a:fld id="{DD314261-164A-4255-B9B6-AF93A144F92A}" type="datetime1">
              <a:rPr lang="de-DE" smtClean="0"/>
              <a:t>27.11.2023</a:t>
            </a:fld>
            <a:endParaRPr lang="de-DE" dirty="0"/>
          </a:p>
        </p:txBody>
      </p:sp>
      <p:sp>
        <p:nvSpPr>
          <p:cNvPr id="8" name="Fußzeilenplatzhalter 7"/>
          <p:cNvSpPr>
            <a:spLocks noGrp="1"/>
          </p:cNvSpPr>
          <p:nvPr>
            <p:ph type="ftr" sz="quarter" idx="11"/>
          </p:nvPr>
        </p:nvSpPr>
        <p:spPr/>
        <p:txBody>
          <a:bodyPr/>
          <a:lstStyle/>
          <a:p>
            <a:r>
              <a:rPr lang="de-DE" dirty="0"/>
              <a:t>Präsentationsthema</a:t>
            </a:r>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1809"/>
            <a:ext cx="5751512" cy="707704"/>
          </a:xfrm>
        </p:spPr>
        <p:txBody>
          <a:bodyPr/>
          <a:lstStyle>
            <a:lvl1pPr marL="0" indent="0">
              <a:buNone/>
              <a:defRPr sz="4800" b="1"/>
            </a:lvl1pPr>
          </a:lstStyle>
          <a:p>
            <a:pPr lvl="0"/>
            <a:r>
              <a:rPr lang="de-DE" dirty="0"/>
              <a:t>Thementitel</a:t>
            </a:r>
          </a:p>
        </p:txBody>
      </p:sp>
      <p:sp>
        <p:nvSpPr>
          <p:cNvPr id="15" name="Textplatzhalter 13"/>
          <p:cNvSpPr>
            <a:spLocks noGrp="1"/>
          </p:cNvSpPr>
          <p:nvPr>
            <p:ph type="body" sz="quarter" idx="14" hasCustomPrompt="1"/>
          </p:nvPr>
        </p:nvSpPr>
        <p:spPr>
          <a:xfrm>
            <a:off x="5389392" y="2709513"/>
            <a:ext cx="5751512" cy="711867"/>
          </a:xfrm>
        </p:spPr>
        <p:txBody>
          <a:bodyPr/>
          <a:lstStyle>
            <a:lvl1pPr marL="0" indent="0">
              <a:buNone/>
              <a:defRPr sz="2000" i="1"/>
            </a:lvl1pPr>
          </a:lstStyle>
          <a:p>
            <a:pPr lvl="0"/>
            <a:r>
              <a:rPr lang="de-DE" dirty="0"/>
              <a:t>Themenbeschreibung</a:t>
            </a:r>
          </a:p>
        </p:txBody>
      </p:sp>
      <p:sp>
        <p:nvSpPr>
          <p:cNvPr id="17" name="Textplatzhalter 16"/>
          <p:cNvSpPr>
            <a:spLocks noGrp="1"/>
          </p:cNvSpPr>
          <p:nvPr>
            <p:ph type="body" sz="quarter" idx="15" hasCustomPrompt="1"/>
          </p:nvPr>
        </p:nvSpPr>
        <p:spPr>
          <a:xfrm>
            <a:off x="3949046" y="2000250"/>
            <a:ext cx="1219200" cy="1123950"/>
          </a:xfrm>
        </p:spPr>
        <p:txBody>
          <a:bodyPr/>
          <a:lstStyle>
            <a:lvl1pPr marL="0" indent="0">
              <a:buNone/>
              <a:defRPr sz="7200" b="1"/>
            </a:lvl1pPr>
          </a:lstStyle>
          <a:p>
            <a:pPr lvl="0"/>
            <a:r>
              <a:rPr lang="de-DE" dirty="0"/>
              <a:t>01</a:t>
            </a:r>
          </a:p>
        </p:txBody>
      </p:sp>
    </p:spTree>
    <p:extLst>
      <p:ext uri="{BB962C8B-B14F-4D97-AF65-F5344CB8AC3E}">
        <p14:creationId xmlns:p14="http://schemas.microsoft.com/office/powerpoint/2010/main" val="408718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emenabschnitt_mit Bild">
    <p:spTree>
      <p:nvGrpSpPr>
        <p:cNvPr id="1" name=""/>
        <p:cNvGrpSpPr/>
        <p:nvPr/>
      </p:nvGrpSpPr>
      <p:grpSpPr>
        <a:xfrm>
          <a:off x="0" y="0"/>
          <a:ext cx="0" cy="0"/>
          <a:chOff x="0" y="0"/>
          <a:chExt cx="0" cy="0"/>
        </a:xfrm>
      </p:grpSpPr>
      <p:sp>
        <p:nvSpPr>
          <p:cNvPr id="6" name="Rechteck 5"/>
          <p:cNvSpPr/>
          <p:nvPr userDrawn="1"/>
        </p:nvSpPr>
        <p:spPr>
          <a:xfrm>
            <a:off x="8983980" y="0"/>
            <a:ext cx="3208020" cy="6311900"/>
          </a:xfrm>
          <a:prstGeom prst="rect">
            <a:avLst/>
          </a:prstGeom>
          <a:solidFill>
            <a:schemeClr val="bg2">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Bildplatzhalter 3"/>
          <p:cNvSpPr>
            <a:spLocks noGrp="1"/>
          </p:cNvSpPr>
          <p:nvPr>
            <p:ph type="pic" sz="quarter" idx="16" hasCustomPrompt="1"/>
          </p:nvPr>
        </p:nvSpPr>
        <p:spPr>
          <a:xfrm>
            <a:off x="0" y="561951"/>
            <a:ext cx="11140904" cy="6069471"/>
          </a:xfrm>
        </p:spPr>
        <p:txBody>
          <a:bodyPr/>
          <a:lstStyle/>
          <a:p>
            <a:r>
              <a:rPr lang="de-DE" dirty="0"/>
              <a:t>Bild durch klick auf das Symbol hinzufügen und in den Hintergrund verschieben.</a:t>
            </a:r>
          </a:p>
          <a:p>
            <a:endParaRPr lang="de-DE" dirty="0"/>
          </a:p>
          <a:p>
            <a:endParaRPr lang="de-DE" dirty="0"/>
          </a:p>
        </p:txBody>
      </p:sp>
      <p:grpSp>
        <p:nvGrpSpPr>
          <p:cNvPr id="18" name="Gruppieren 17"/>
          <p:cNvGrpSpPr/>
          <p:nvPr userDrawn="1"/>
        </p:nvGrpSpPr>
        <p:grpSpPr>
          <a:xfrm>
            <a:off x="0" y="6083955"/>
            <a:ext cx="12192000" cy="792064"/>
            <a:chOff x="0" y="6083955"/>
            <a:chExt cx="12192000" cy="792064"/>
          </a:xfrm>
        </p:grpSpPr>
        <p:sp>
          <p:nvSpPr>
            <p:cNvPr id="19" name="Freihandform 1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0" name="Grafik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7" name="Datumsplatzhalter 6"/>
          <p:cNvSpPr>
            <a:spLocks noGrp="1"/>
          </p:cNvSpPr>
          <p:nvPr>
            <p:ph type="dt" sz="half" idx="10"/>
          </p:nvPr>
        </p:nvSpPr>
        <p:spPr/>
        <p:txBody>
          <a:bodyPr/>
          <a:lstStyle/>
          <a:p>
            <a:fld id="{C9BAFDB5-3D8D-466A-9849-BDB04F0B17F7}" type="datetime1">
              <a:rPr lang="de-DE" smtClean="0"/>
              <a:t>27.11.2023</a:t>
            </a:fld>
            <a:endParaRPr lang="de-DE" dirty="0"/>
          </a:p>
        </p:txBody>
      </p:sp>
      <p:sp>
        <p:nvSpPr>
          <p:cNvPr id="8" name="Fußzeilenplatzhalter 7"/>
          <p:cNvSpPr>
            <a:spLocks noGrp="1"/>
          </p:cNvSpPr>
          <p:nvPr>
            <p:ph type="ftr" sz="quarter" idx="11"/>
          </p:nvPr>
        </p:nvSpPr>
        <p:spPr/>
        <p:txBody>
          <a:bodyPr/>
          <a:lstStyle/>
          <a:p>
            <a:r>
              <a:rPr lang="de-DE" dirty="0"/>
              <a:t>Präsentationsthema</a:t>
            </a:r>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6889"/>
            <a:ext cx="5751512" cy="707704"/>
          </a:xfrm>
          <a:solidFill>
            <a:srgbClr val="FFFFFF"/>
          </a:solidFill>
          <a:ln w="63500">
            <a:noFill/>
          </a:ln>
        </p:spPr>
        <p:txBody>
          <a:bodyPr/>
          <a:lstStyle>
            <a:lvl1pPr marL="0" indent="0">
              <a:buNone/>
              <a:defRPr sz="4800"/>
            </a:lvl1pPr>
          </a:lstStyle>
          <a:p>
            <a:pPr lvl="0"/>
            <a:r>
              <a:rPr lang="de-DE" dirty="0"/>
              <a:t>Thementitel</a:t>
            </a:r>
          </a:p>
        </p:txBody>
      </p:sp>
      <p:sp>
        <p:nvSpPr>
          <p:cNvPr id="15" name="Textplatzhalter 13"/>
          <p:cNvSpPr>
            <a:spLocks noGrp="1"/>
          </p:cNvSpPr>
          <p:nvPr>
            <p:ph type="body" sz="quarter" idx="14" hasCustomPrompt="1"/>
          </p:nvPr>
        </p:nvSpPr>
        <p:spPr>
          <a:xfrm>
            <a:off x="5389392" y="2714593"/>
            <a:ext cx="5751512" cy="711867"/>
          </a:xfrm>
          <a:solidFill>
            <a:srgbClr val="FFFFFF"/>
          </a:solidFill>
        </p:spPr>
        <p:txBody>
          <a:bodyPr/>
          <a:lstStyle>
            <a:lvl1pPr marL="0" indent="0">
              <a:buNone/>
              <a:defRPr sz="2000" i="1"/>
            </a:lvl1pPr>
          </a:lstStyle>
          <a:p>
            <a:pPr lvl="0"/>
            <a:r>
              <a:rPr lang="de-DE" dirty="0"/>
              <a:t>Themenbeschreibung</a:t>
            </a:r>
          </a:p>
        </p:txBody>
      </p:sp>
      <p:sp>
        <p:nvSpPr>
          <p:cNvPr id="17" name="Textplatzhalter 16"/>
          <p:cNvSpPr>
            <a:spLocks noGrp="1"/>
          </p:cNvSpPr>
          <p:nvPr>
            <p:ph type="body" sz="quarter" idx="15" hasCustomPrompt="1"/>
          </p:nvPr>
        </p:nvSpPr>
        <p:spPr>
          <a:xfrm>
            <a:off x="3949046" y="1997710"/>
            <a:ext cx="1219200" cy="1123950"/>
          </a:xfrm>
          <a:solidFill>
            <a:srgbClr val="FFFFFF"/>
          </a:solidFill>
          <a:ln w="63500">
            <a:solidFill>
              <a:schemeClr val="tx1"/>
            </a:solidFill>
          </a:ln>
        </p:spPr>
        <p:txBody>
          <a:bodyPr/>
          <a:lstStyle>
            <a:lvl1pPr marL="0" indent="0">
              <a:buNone/>
              <a:defRPr sz="7200" b="1"/>
            </a:lvl1pPr>
          </a:lstStyle>
          <a:p>
            <a:pPr lvl="0"/>
            <a:r>
              <a:rPr lang="de-DE" dirty="0"/>
              <a:t>01</a:t>
            </a:r>
          </a:p>
        </p:txBody>
      </p:sp>
    </p:spTree>
    <p:extLst>
      <p:ext uri="{BB962C8B-B14F-4D97-AF65-F5344CB8AC3E}">
        <p14:creationId xmlns:p14="http://schemas.microsoft.com/office/powerpoint/2010/main" val="2786703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foli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EE6B0DF4-9D6B-4CDB-97A0-C9570C62FA77}" type="datetime1">
              <a:rPr lang="de-DE" smtClean="0"/>
              <a:t>27.11.2023</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1985963"/>
            <a:ext cx="11495753" cy="3602037"/>
          </a:xfrm>
        </p:spPr>
        <p:txBody>
          <a:bodyPr>
            <a:normAutofit/>
          </a:bodyPr>
          <a:lstStyle>
            <a:lvl1pPr>
              <a:defRPr sz="2400"/>
            </a:lvl1pPr>
          </a:lstStyle>
          <a:p>
            <a:pPr lvl="0"/>
            <a:r>
              <a:rPr lang="de-DE" dirty="0"/>
              <a:t>Formatvorlagen des Textmasters bearbeiten</a:t>
            </a:r>
          </a:p>
        </p:txBody>
      </p:sp>
    </p:spTree>
    <p:extLst>
      <p:ext uri="{BB962C8B-B14F-4D97-AF65-F5344CB8AC3E}">
        <p14:creationId xmlns:p14="http://schemas.microsoft.com/office/powerpoint/2010/main" val="1208939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folie_Zwei_Spalt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49B7AE18-FA3D-4C6C-87A7-F7D224EBB6B4}" type="datetime1">
              <a:rPr lang="de-DE" smtClean="0"/>
              <a:t>27.11.2023</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51" y="2706688"/>
            <a:ext cx="5001902" cy="2881312"/>
          </a:xfrm>
        </p:spPr>
        <p:txBody>
          <a:bodyPr>
            <a:normAutofit/>
          </a:bodyPr>
          <a:lstStyle>
            <a:lvl1pPr>
              <a:defRPr sz="2400"/>
            </a:lvl1pPr>
          </a:lstStyle>
          <a:p>
            <a:pPr lvl="0"/>
            <a:r>
              <a:rPr lang="de-DE" dirty="0"/>
              <a:t>Formatvorlagen des Textmasters bearbeiten</a:t>
            </a:r>
          </a:p>
        </p:txBody>
      </p:sp>
      <p:sp>
        <p:nvSpPr>
          <p:cNvPr id="12" name="Textplatzhalter 12"/>
          <p:cNvSpPr>
            <a:spLocks noGrp="1"/>
          </p:cNvSpPr>
          <p:nvPr>
            <p:ph type="body" sz="quarter" idx="15"/>
          </p:nvPr>
        </p:nvSpPr>
        <p:spPr>
          <a:xfrm>
            <a:off x="6810375" y="2706688"/>
            <a:ext cx="5047328" cy="2916138"/>
          </a:xfrm>
        </p:spPr>
        <p:txBody>
          <a:bodyPr>
            <a:normAutofit/>
          </a:bodyPr>
          <a:lstStyle>
            <a:lvl1pPr>
              <a:defRPr sz="2400"/>
            </a:lvl1pPr>
            <a:lvl2pPr>
              <a:defRPr sz="2200"/>
            </a:lvl2pPr>
            <a:lvl3pPr>
              <a:defRPr sz="2200"/>
            </a:lvl3pPr>
            <a:lvl4pPr>
              <a:defRPr sz="2200"/>
            </a:lvl4pPr>
            <a:lvl5pPr>
              <a:defRPr sz="2200"/>
            </a:lvl5pPr>
          </a:lstStyle>
          <a:p>
            <a:pPr lvl="0"/>
            <a:r>
              <a:rPr lang="de-DE" dirty="0"/>
              <a:t>Formatvorlagen des Textmasters bearbeiten</a:t>
            </a:r>
          </a:p>
        </p:txBody>
      </p:sp>
      <p:sp>
        <p:nvSpPr>
          <p:cNvPr id="14" name="Textplatzhalter 13"/>
          <p:cNvSpPr>
            <a:spLocks noGrp="1"/>
          </p:cNvSpPr>
          <p:nvPr>
            <p:ph type="body" sz="quarter" idx="16" hasCustomPrompt="1"/>
          </p:nvPr>
        </p:nvSpPr>
        <p:spPr>
          <a:xfrm>
            <a:off x="6810374" y="1981200"/>
            <a:ext cx="5046664" cy="725488"/>
          </a:xfrm>
        </p:spPr>
        <p:txBody>
          <a:bodyPr/>
          <a:lstStyle>
            <a:lvl1pPr marL="0" indent="0">
              <a:buNone/>
              <a:defRPr sz="2200" b="1" baseline="0"/>
            </a:lvl1pPr>
          </a:lstStyle>
          <a:p>
            <a:pPr lvl="0"/>
            <a:r>
              <a:rPr lang="de-DE" dirty="0"/>
              <a:t>Optional kann hier eine zweite Überschrift eingefügt werden.</a:t>
            </a:r>
          </a:p>
        </p:txBody>
      </p:sp>
      <p:sp>
        <p:nvSpPr>
          <p:cNvPr id="15" name="Textplatzhalter 13"/>
          <p:cNvSpPr>
            <a:spLocks noGrp="1"/>
          </p:cNvSpPr>
          <p:nvPr>
            <p:ph type="body" sz="quarter" idx="17" hasCustomPrompt="1"/>
          </p:nvPr>
        </p:nvSpPr>
        <p:spPr>
          <a:xfrm>
            <a:off x="336445" y="1992314"/>
            <a:ext cx="5027407" cy="714373"/>
          </a:xfrm>
        </p:spPr>
        <p:txBody>
          <a:bodyPr/>
          <a:lstStyle>
            <a:lvl1pPr marL="0" indent="0">
              <a:buNone/>
              <a:defRPr sz="2200" b="1" baseline="0"/>
            </a:lvl1pPr>
          </a:lstStyle>
          <a:p>
            <a:pPr lvl="0"/>
            <a:r>
              <a:rPr lang="de-DE" dirty="0"/>
              <a:t>Optional kann hier eine zweite Überschrift eingefügt werden.</a:t>
            </a:r>
          </a:p>
        </p:txBody>
      </p:sp>
    </p:spTree>
    <p:extLst>
      <p:ext uri="{BB962C8B-B14F-4D97-AF65-F5344CB8AC3E}">
        <p14:creationId xmlns:p14="http://schemas.microsoft.com/office/powerpoint/2010/main" val="3510658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folie_mit_Bild">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703DF2EA-616A-4F49-A635-283653D9B8E0}" type="datetime1">
              <a:rPr lang="de-DE" smtClean="0"/>
              <a:t>27.11.2023</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7181851"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1985963"/>
            <a:ext cx="7181851" cy="3602037"/>
          </a:xfrm>
        </p:spPr>
        <p:txBody>
          <a:bodyPr/>
          <a:lstStyle>
            <a:lvl1pPr>
              <a:defRPr sz="2400"/>
            </a:lvl1pPr>
          </a:lstStyle>
          <a:p>
            <a:pPr lvl="0"/>
            <a:r>
              <a:rPr lang="de-DE" dirty="0"/>
              <a:t>Formatvorlagen des Textmasters bearbeiten</a:t>
            </a:r>
          </a:p>
        </p:txBody>
      </p:sp>
      <p:sp>
        <p:nvSpPr>
          <p:cNvPr id="12" name="Bildplatzhalter 11"/>
          <p:cNvSpPr>
            <a:spLocks noGrp="1"/>
          </p:cNvSpPr>
          <p:nvPr>
            <p:ph type="pic" sz="quarter" idx="15"/>
          </p:nvPr>
        </p:nvSpPr>
        <p:spPr>
          <a:xfrm>
            <a:off x="7552150" y="549275"/>
            <a:ext cx="4628738" cy="2606040"/>
          </a:xfrm>
        </p:spPr>
        <p:txBody>
          <a:bodyPr/>
          <a:lstStyle/>
          <a:p>
            <a:endParaRPr lang="de-DE" dirty="0"/>
          </a:p>
        </p:txBody>
      </p:sp>
      <p:sp>
        <p:nvSpPr>
          <p:cNvPr id="14" name="Bildplatzhalter 11"/>
          <p:cNvSpPr>
            <a:spLocks noGrp="1"/>
          </p:cNvSpPr>
          <p:nvPr>
            <p:ph type="pic" sz="quarter" idx="16"/>
          </p:nvPr>
        </p:nvSpPr>
        <p:spPr>
          <a:xfrm>
            <a:off x="7552150" y="3439042"/>
            <a:ext cx="4628738" cy="2606040"/>
          </a:xfrm>
        </p:spPr>
        <p:txBody>
          <a:bodyPr/>
          <a:lstStyle/>
          <a:p>
            <a:endParaRPr lang="de-DE" dirty="0"/>
          </a:p>
        </p:txBody>
      </p:sp>
    </p:spTree>
    <p:extLst>
      <p:ext uri="{BB962C8B-B14F-4D97-AF65-F5344CB8AC3E}">
        <p14:creationId xmlns:p14="http://schemas.microsoft.com/office/powerpoint/2010/main" val="568811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mit_Bild_quer">
    <p:spTree>
      <p:nvGrpSpPr>
        <p:cNvPr id="1" name=""/>
        <p:cNvGrpSpPr/>
        <p:nvPr/>
      </p:nvGrpSpPr>
      <p:grpSpPr>
        <a:xfrm>
          <a:off x="0" y="0"/>
          <a:ext cx="0" cy="0"/>
          <a:chOff x="0" y="0"/>
          <a:chExt cx="0" cy="0"/>
        </a:xfrm>
      </p:grpSpPr>
      <p:sp>
        <p:nvSpPr>
          <p:cNvPr id="12" name="Bildplatzhalter 11"/>
          <p:cNvSpPr>
            <a:spLocks noGrp="1"/>
          </p:cNvSpPr>
          <p:nvPr>
            <p:ph type="pic" sz="quarter" idx="15" hasCustomPrompt="1"/>
          </p:nvPr>
        </p:nvSpPr>
        <p:spPr>
          <a:xfrm>
            <a:off x="0" y="1"/>
            <a:ext cx="12192000" cy="2709884"/>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2729922"/>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7371A257-B4BD-49B9-8C71-F79D07B630C8}" type="datetime1">
              <a:rPr lang="de-DE" smtClean="0"/>
              <a:t>27.11.2023</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3440846"/>
            <a:ext cx="7181851" cy="712054"/>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4152899"/>
            <a:ext cx="11495089" cy="2159021"/>
          </a:xfrm>
        </p:spPr>
        <p:txBody>
          <a:bodyPr numCol="2" spcCol="0">
            <a:normAutofit/>
          </a:bodyPr>
          <a:lstStyle>
            <a:lvl1pPr>
              <a:defRPr sz="2400"/>
            </a:lvl1pPr>
            <a:lvl2pPr>
              <a:defRPr/>
            </a:lvl2pPr>
            <a:lvl4pPr>
              <a:defRPr/>
            </a:lvl4pPr>
          </a:lstStyle>
          <a:p>
            <a:pPr lvl="0"/>
            <a:r>
              <a:rPr lang="de-DE" dirty="0"/>
              <a:t>Formatvorlagen des Textmasters bearbeiten</a:t>
            </a:r>
          </a:p>
        </p:txBody>
      </p:sp>
    </p:spTree>
    <p:extLst>
      <p:ext uri="{BB962C8B-B14F-4D97-AF65-F5344CB8AC3E}">
        <p14:creationId xmlns:p14="http://schemas.microsoft.com/office/powerpoint/2010/main" val="36103252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bbildungsseite_Vollbild">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25890B50-E583-4F9A-9F5C-F8632A40B7F9}" type="datetime1">
              <a:rPr lang="de-DE" smtClean="0"/>
              <a:t>27.11.2023</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35486292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bbildungsseite_mit_Erklärung">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E865C805-59C9-447E-AC16-D3DD7FBB636D}" type="datetime1">
              <a:rPr lang="de-DE" smtClean="0"/>
              <a:t>27.11.2023</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
        <p:nvSpPr>
          <p:cNvPr id="10" name="Textplatzhalter 9"/>
          <p:cNvSpPr>
            <a:spLocks noGrp="1"/>
          </p:cNvSpPr>
          <p:nvPr>
            <p:ph type="body" sz="quarter" idx="14"/>
          </p:nvPr>
        </p:nvSpPr>
        <p:spPr>
          <a:xfrm>
            <a:off x="334963" y="4895850"/>
            <a:ext cx="11522075" cy="692150"/>
          </a:xfrm>
        </p:spPr>
        <p:txBody>
          <a:bodyPr>
            <a:normAutofit/>
          </a:bodyPr>
          <a:lstStyle>
            <a:lvl1pPr marL="0" indent="0">
              <a:buNone/>
              <a:defRPr sz="2200" i="1"/>
            </a:lvl1pPr>
          </a:lstStyle>
          <a:p>
            <a:pPr lvl="0"/>
            <a:r>
              <a:rPr lang="de-DE" dirty="0"/>
              <a:t>Formatvorlagen des Textmasters bearbeiten</a:t>
            </a:r>
          </a:p>
        </p:txBody>
      </p:sp>
    </p:spTree>
    <p:extLst>
      <p:ext uri="{BB962C8B-B14F-4D97-AF65-F5344CB8AC3E}">
        <p14:creationId xmlns:p14="http://schemas.microsoft.com/office/powerpoint/2010/main" val="5450291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43143C5F-7DED-4B57-9F55-B801BE6EA299}" type="datetime1">
              <a:rPr lang="de-DE" smtClean="0"/>
              <a:t>27.11.2023</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
        <p:nvSpPr>
          <p:cNvPr id="10" name="Bildplatzhalter 10"/>
          <p:cNvSpPr>
            <a:spLocks noGrp="1"/>
          </p:cNvSpPr>
          <p:nvPr>
            <p:ph type="pic" sz="quarter" idx="14" hasCustomPrompt="1"/>
          </p:nvPr>
        </p:nvSpPr>
        <p:spPr>
          <a:xfrm>
            <a:off x="6096000"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4328882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5D1B84DE-ED62-4170-B17A-A12B89CD8221}" type="datetime1">
              <a:rPr lang="de-DE" smtClean="0"/>
              <a:t>27.11.2023</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a:t>
            </a:r>
          </a:p>
        </p:txBody>
      </p:sp>
      <p:sp>
        <p:nvSpPr>
          <p:cNvPr id="10" name="Bildplatzhalter 10"/>
          <p:cNvSpPr>
            <a:spLocks noGrp="1"/>
          </p:cNvSpPr>
          <p:nvPr>
            <p:ph type="pic" sz="quarter" idx="14" hasCustomPrompt="1"/>
          </p:nvPr>
        </p:nvSpPr>
        <p:spPr>
          <a:xfrm>
            <a:off x="6096000"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a:t>
            </a:r>
          </a:p>
        </p:txBody>
      </p:sp>
      <p:sp>
        <p:nvSpPr>
          <p:cNvPr id="12" name="Textplatzhalter 11"/>
          <p:cNvSpPr>
            <a:spLocks noGrp="1"/>
          </p:cNvSpPr>
          <p:nvPr>
            <p:ph type="body" sz="quarter" idx="15"/>
          </p:nvPr>
        </p:nvSpPr>
        <p:spPr>
          <a:xfrm>
            <a:off x="334963" y="4867275"/>
            <a:ext cx="5761037" cy="733425"/>
          </a:xfrm>
        </p:spPr>
        <p:txBody>
          <a:bodyPr>
            <a:normAutofit/>
          </a:bodyPr>
          <a:lstStyle>
            <a:lvl1pPr marL="0" indent="0">
              <a:buNone/>
              <a:defRPr sz="2200" i="1"/>
            </a:lvl1pPr>
          </a:lstStyle>
          <a:p>
            <a:pPr lvl="0"/>
            <a:r>
              <a:rPr lang="de-DE" dirty="0"/>
              <a:t>Formatvorlagen des Textmasters</a:t>
            </a:r>
          </a:p>
        </p:txBody>
      </p:sp>
      <p:sp>
        <p:nvSpPr>
          <p:cNvPr id="13" name="Textplatzhalter 11"/>
          <p:cNvSpPr>
            <a:spLocks noGrp="1"/>
          </p:cNvSpPr>
          <p:nvPr>
            <p:ph type="body" sz="quarter" idx="16"/>
          </p:nvPr>
        </p:nvSpPr>
        <p:spPr>
          <a:xfrm>
            <a:off x="6095999" y="4867275"/>
            <a:ext cx="5761037" cy="733425"/>
          </a:xfrm>
        </p:spPr>
        <p:txBody>
          <a:bodyPr>
            <a:normAutofit/>
          </a:bodyPr>
          <a:lstStyle>
            <a:lvl1pPr marL="0" indent="0">
              <a:buNone/>
              <a:defRPr sz="2200" i="1"/>
            </a:lvl1pPr>
          </a:lstStyle>
          <a:p>
            <a:pPr lvl="0"/>
            <a:r>
              <a:rPr lang="de-DE" dirty="0"/>
              <a:t>Formatvorlagen des Textmasters</a:t>
            </a:r>
          </a:p>
        </p:txBody>
      </p:sp>
    </p:spTree>
    <p:extLst>
      <p:ext uri="{BB962C8B-B14F-4D97-AF65-F5344CB8AC3E}">
        <p14:creationId xmlns:p14="http://schemas.microsoft.com/office/powerpoint/2010/main" val="1268667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itat_Weiß">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8ADFA7FF-7089-4E48-98BE-85BF99ED458D}" type="datetime1">
              <a:rPr lang="de-DE" smtClean="0"/>
              <a:t>27.11.2023</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1249363"/>
            <a:ext cx="8686800" cy="2865437"/>
          </a:xfrm>
        </p:spPr>
        <p:txBody>
          <a:bodyPr>
            <a:noAutofit/>
          </a:bodyPr>
          <a:lstStyle>
            <a:lvl1pPr marL="0" indent="0">
              <a:buNone/>
              <a:defRPr sz="7200" baseline="0">
                <a:solidFill>
                  <a:schemeClr val="accent2"/>
                </a:solidFill>
              </a:defRPr>
            </a:lvl1pPr>
          </a:lstStyle>
          <a:p>
            <a:pPr lvl="0"/>
            <a:r>
              <a:rPr lang="de-DE" dirty="0"/>
              <a:t>„Hier kann ein Zitat eingefügt werden.“</a:t>
            </a:r>
          </a:p>
        </p:txBody>
      </p:sp>
      <p:sp>
        <p:nvSpPr>
          <p:cNvPr id="15" name="Textplatzhalter 14"/>
          <p:cNvSpPr>
            <a:spLocks noGrp="1"/>
          </p:cNvSpPr>
          <p:nvPr>
            <p:ph type="body" sz="quarter" idx="14" hasCustomPrompt="1"/>
          </p:nvPr>
        </p:nvSpPr>
        <p:spPr>
          <a:xfrm>
            <a:off x="1768475" y="4876800"/>
            <a:ext cx="8686800" cy="701675"/>
          </a:xfrm>
        </p:spPr>
        <p:txBody>
          <a:bodyPr>
            <a:normAutofit/>
          </a:bodyPr>
          <a:lstStyle>
            <a:lvl1pPr marL="0" indent="0">
              <a:buNone/>
              <a:defRPr sz="2000" i="1" baseline="0"/>
            </a:lvl1pPr>
          </a:lstStyle>
          <a:p>
            <a:pPr lvl="0"/>
            <a:r>
              <a:rPr lang="de-DE" dirty="0"/>
              <a:t>– Hier wird die zitierte Person aufgeführt.</a:t>
            </a:r>
          </a:p>
        </p:txBody>
      </p:sp>
    </p:spTree>
    <p:extLst>
      <p:ext uri="{BB962C8B-B14F-4D97-AF65-F5344CB8AC3E}">
        <p14:creationId xmlns:p14="http://schemas.microsoft.com/office/powerpoint/2010/main" val="7742395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Zitat_Blau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sp>
        <p:nvSpPr>
          <p:cNvPr id="5" name="Datumsplatzhalter 4"/>
          <p:cNvSpPr>
            <a:spLocks noGrp="1"/>
          </p:cNvSpPr>
          <p:nvPr>
            <p:ph type="dt" sz="half" idx="10"/>
          </p:nvPr>
        </p:nvSpPr>
        <p:spPr/>
        <p:txBody>
          <a:bodyPr/>
          <a:lstStyle/>
          <a:p>
            <a:fld id="{E59FF18C-A25A-4E85-BD71-DA8789E0546F}" type="datetime1">
              <a:rPr lang="de-DE" smtClean="0"/>
              <a:t>27.11.2023</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38438"/>
            <a:ext cx="8686800" cy="2865437"/>
          </a:xfrm>
        </p:spPr>
        <p:txBody>
          <a:bodyPr>
            <a:noAutofit/>
          </a:bodyPr>
          <a:lstStyle>
            <a:lvl1pPr marL="0" indent="0">
              <a:buNone/>
              <a:defRPr sz="7200" baseline="0">
                <a:solidFill>
                  <a:schemeClr val="accent2"/>
                </a:solidFill>
              </a:defRPr>
            </a:lvl1pPr>
          </a:lstStyle>
          <a:p>
            <a:pPr lvl="0"/>
            <a:r>
              <a:rPr lang="de-DE" dirty="0"/>
              <a:t>„Hier kann ein Zitat eingefügt werden.“</a:t>
            </a:r>
          </a:p>
        </p:txBody>
      </p:sp>
      <p:sp>
        <p:nvSpPr>
          <p:cNvPr id="15" name="Textplatzhalter 14"/>
          <p:cNvSpPr>
            <a:spLocks noGrp="1"/>
          </p:cNvSpPr>
          <p:nvPr>
            <p:ph type="body" sz="quarter" idx="14" hasCustomPrompt="1"/>
          </p:nvPr>
        </p:nvSpPr>
        <p:spPr>
          <a:xfrm>
            <a:off x="1768475" y="5607050"/>
            <a:ext cx="8686800" cy="701675"/>
          </a:xfrm>
        </p:spPr>
        <p:txBody>
          <a:bodyPr>
            <a:normAutofit/>
          </a:bodyPr>
          <a:lstStyle>
            <a:lvl1pPr marL="0" indent="0">
              <a:buNone/>
              <a:defRPr sz="2000" i="1" baseline="0"/>
            </a:lvl1pPr>
          </a:lstStyle>
          <a:p>
            <a:pPr lvl="0"/>
            <a:r>
              <a:rPr lang="de-DE" dirty="0"/>
              <a:t>– Hier wird die zitierte Person aufgeführt.</a:t>
            </a:r>
          </a:p>
        </p:txBody>
      </p:sp>
      <p:sp>
        <p:nvSpPr>
          <p:cNvPr id="3" name="Bildplatzhalter 2"/>
          <p:cNvSpPr>
            <a:spLocks noGrp="1"/>
          </p:cNvSpPr>
          <p:nvPr>
            <p:ph type="pic" sz="quarter" idx="15" hasCustomPrompt="1"/>
          </p:nvPr>
        </p:nvSpPr>
        <p:spPr>
          <a:xfrm>
            <a:off x="0" y="0"/>
            <a:ext cx="12180888" cy="350996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1018380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Zahl_mit_Erklärung">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0B5D481-2576-4099-B2C9-258619686BD9}" type="datetime1">
              <a:rPr lang="de-DE" smtClean="0"/>
              <a:t>27.11.2023</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13703"/>
            <a:ext cx="8686800" cy="1401097"/>
          </a:xfrm>
        </p:spPr>
        <p:txBody>
          <a:bodyPr>
            <a:noAutofit/>
          </a:bodyPr>
          <a:lstStyle>
            <a:lvl1pPr marL="0" indent="0" algn="ctr">
              <a:buNone/>
              <a:defRPr sz="7200" b="1" baseline="0">
                <a:solidFill>
                  <a:schemeClr val="accent2"/>
                </a:solidFill>
              </a:defRPr>
            </a:lvl1pPr>
          </a:lstStyle>
          <a:p>
            <a:pPr lvl="0"/>
            <a:r>
              <a:rPr lang="de-DE" dirty="0"/>
              <a:t>83.200.000,24</a:t>
            </a:r>
          </a:p>
        </p:txBody>
      </p:sp>
      <p:sp>
        <p:nvSpPr>
          <p:cNvPr id="15" name="Textplatzhalter 14"/>
          <p:cNvSpPr>
            <a:spLocks noGrp="1"/>
          </p:cNvSpPr>
          <p:nvPr>
            <p:ph type="body" sz="quarter" idx="14" hasCustomPrompt="1"/>
          </p:nvPr>
        </p:nvSpPr>
        <p:spPr>
          <a:xfrm>
            <a:off x="1768475" y="4149626"/>
            <a:ext cx="8686800" cy="1428849"/>
          </a:xfrm>
        </p:spPr>
        <p:txBody>
          <a:bodyPr>
            <a:normAutofit/>
          </a:bodyPr>
          <a:lstStyle>
            <a:lvl1pPr marL="0" indent="0" algn="ctr">
              <a:buNone/>
              <a:defRPr sz="2000" i="1" baseline="0"/>
            </a:lvl1pPr>
          </a:lstStyle>
          <a:p>
            <a:pPr lvl="0"/>
            <a:r>
              <a:rPr lang="de-DE" dirty="0"/>
              <a:t>Hier kann sich eine Erklärung zu der Zahl befinden.</a:t>
            </a:r>
          </a:p>
        </p:txBody>
      </p:sp>
    </p:spTree>
    <p:extLst>
      <p:ext uri="{BB962C8B-B14F-4D97-AF65-F5344CB8AC3E}">
        <p14:creationId xmlns:p14="http://schemas.microsoft.com/office/powerpoint/2010/main" val="33521732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Zahl_Erklärung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B675D297-4DC4-46BE-A465-23DDBFC4C257}" type="datetime1">
              <a:rPr lang="de-DE" smtClean="0"/>
              <a:t>27.11.2023</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3447128"/>
            <a:ext cx="8686800" cy="1401097"/>
          </a:xfrm>
        </p:spPr>
        <p:txBody>
          <a:bodyPr>
            <a:noAutofit/>
          </a:bodyPr>
          <a:lstStyle>
            <a:lvl1pPr marL="0" indent="0" algn="ctr">
              <a:buNone/>
              <a:defRPr sz="7200" b="1" baseline="0">
                <a:solidFill>
                  <a:schemeClr val="accent2"/>
                </a:solidFill>
              </a:defRPr>
            </a:lvl1pPr>
          </a:lstStyle>
          <a:p>
            <a:pPr lvl="0"/>
            <a:r>
              <a:rPr lang="de-DE" dirty="0"/>
              <a:t>83.200.000,24</a:t>
            </a:r>
          </a:p>
        </p:txBody>
      </p:sp>
      <p:sp>
        <p:nvSpPr>
          <p:cNvPr id="15" name="Textplatzhalter 14"/>
          <p:cNvSpPr>
            <a:spLocks noGrp="1"/>
          </p:cNvSpPr>
          <p:nvPr>
            <p:ph type="body" sz="quarter" idx="14" hasCustomPrompt="1"/>
          </p:nvPr>
        </p:nvSpPr>
        <p:spPr>
          <a:xfrm>
            <a:off x="1768475" y="4883051"/>
            <a:ext cx="8686800" cy="1428849"/>
          </a:xfrm>
        </p:spPr>
        <p:txBody>
          <a:bodyPr>
            <a:normAutofit/>
          </a:bodyPr>
          <a:lstStyle>
            <a:lvl1pPr marL="0" indent="0" algn="ctr">
              <a:buNone/>
              <a:defRPr sz="2000" i="1" baseline="0"/>
            </a:lvl1pPr>
          </a:lstStyle>
          <a:p>
            <a:pPr lvl="0"/>
            <a:r>
              <a:rPr lang="de-DE" dirty="0"/>
              <a:t>Hier kann sich eine Erklärung zu der Zahl befinden.</a:t>
            </a:r>
          </a:p>
        </p:txBody>
      </p:sp>
      <p:sp>
        <p:nvSpPr>
          <p:cNvPr id="3" name="Bildplatzhalter 2"/>
          <p:cNvSpPr>
            <a:spLocks noGrp="1"/>
          </p:cNvSpPr>
          <p:nvPr>
            <p:ph type="pic" sz="quarter" idx="15" hasCustomPrompt="1"/>
          </p:nvPr>
        </p:nvSpPr>
        <p:spPr>
          <a:xfrm>
            <a:off x="0" y="0"/>
            <a:ext cx="12192000" cy="3932238"/>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26549207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gramm">
    <p:spTree>
      <p:nvGrpSpPr>
        <p:cNvPr id="1" name=""/>
        <p:cNvGrpSpPr/>
        <p:nvPr/>
      </p:nvGrpSpPr>
      <p:grpSpPr>
        <a:xfrm>
          <a:off x="0" y="0"/>
          <a:ext cx="0" cy="0"/>
          <a:chOff x="0" y="0"/>
          <a:chExt cx="0" cy="0"/>
        </a:xfrm>
      </p:grpSpPr>
      <p:pic>
        <p:nvPicPr>
          <p:cNvPr id="23" name="Grafik 22"/>
          <p:cNvPicPr>
            <a:picLocks noChangeAspect="1"/>
          </p:cNvPicPr>
          <p:nvPr userDrawn="1"/>
        </p:nvPicPr>
        <p:blipFill>
          <a:blip r:embed="rId2"/>
          <a:stretch>
            <a:fillRect/>
          </a:stretch>
        </p:blipFill>
        <p:spPr>
          <a:xfrm>
            <a:off x="-529" y="6070354"/>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7EBD2F8-3758-4848-936D-B687B1995CF5}" type="datetime1">
              <a:rPr lang="de-DE" smtClean="0"/>
              <a:t>27.11.2023</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 Erläuterung"/>
          <p:cNvSpPr>
            <a:spLocks noGrp="1"/>
          </p:cNvSpPr>
          <p:nvPr>
            <p:ph type="body" sz="quarter" idx="13" hasCustomPrompt="1"/>
          </p:nvPr>
        </p:nvSpPr>
        <p:spPr>
          <a:xfrm>
            <a:off x="362422" y="1295857"/>
            <a:ext cx="11494616" cy="685344"/>
          </a:xfrm>
        </p:spPr>
        <p:txBody>
          <a:bodyPr>
            <a:noAutofit/>
          </a:bodyPr>
          <a:lstStyle>
            <a:lvl1pPr marL="0" indent="0">
              <a:buNone/>
              <a:defRPr sz="2400" i="1"/>
            </a:lvl1pPr>
          </a:lstStyle>
          <a:p>
            <a:r>
              <a:rPr lang="de-DE" dirty="0"/>
              <a:t>Hier ist Platz für einen erklärenden Text. Um ein anderes Diagramm anzulegen, klicken Sie mit </a:t>
            </a:r>
            <a:r>
              <a:rPr lang="de-DE" b="1" dirty="0"/>
              <a:t>Rechtsklick</a:t>
            </a:r>
            <a:r>
              <a:rPr lang="de-DE" dirty="0"/>
              <a:t> auf das Diagramm und wählen </a:t>
            </a:r>
            <a:r>
              <a:rPr lang="de-DE" b="1" dirty="0"/>
              <a:t>Diagrammtyp</a:t>
            </a:r>
            <a:r>
              <a:rPr lang="de-DE" dirty="0"/>
              <a:t> ändern.</a:t>
            </a:r>
          </a:p>
        </p:txBody>
      </p:sp>
      <p:sp>
        <p:nvSpPr>
          <p:cNvPr id="12" name="Titel 17"/>
          <p:cNvSpPr>
            <a:spLocks noGrp="1"/>
          </p:cNvSpPr>
          <p:nvPr>
            <p:ph type="title" hasCustomPrompt="1"/>
          </p:nvPr>
        </p:nvSpPr>
        <p:spPr>
          <a:xfrm>
            <a:off x="347893" y="549275"/>
            <a:ext cx="7173784" cy="700405"/>
          </a:xfrm>
        </p:spPr>
        <p:txBody>
          <a:bodyPr anchor="t" anchorCtr="0"/>
          <a:lstStyle>
            <a:lvl1pPr>
              <a:defRPr/>
            </a:lvl1pPr>
          </a:lstStyle>
          <a:p>
            <a:r>
              <a:rPr lang="de-DE" dirty="0"/>
              <a:t>Diagramm</a:t>
            </a:r>
          </a:p>
        </p:txBody>
      </p:sp>
      <p:sp>
        <p:nvSpPr>
          <p:cNvPr id="8" name="Textplatzhalter 7"/>
          <p:cNvSpPr>
            <a:spLocks noGrp="1"/>
          </p:cNvSpPr>
          <p:nvPr>
            <p:ph type="body" sz="quarter" idx="14" hasCustomPrompt="1"/>
          </p:nvPr>
        </p:nvSpPr>
        <p:spPr>
          <a:xfrm>
            <a:off x="8259762" y="2743199"/>
            <a:ext cx="3597275" cy="3527981"/>
          </a:xfrm>
        </p:spPr>
        <p:txBody>
          <a:bodyPr>
            <a:normAutofit/>
          </a:bodyPr>
          <a:lstStyle>
            <a:lvl1pPr>
              <a:defRPr sz="2200" baseline="0"/>
            </a:lvl1pPr>
          </a:lstStyle>
          <a:p>
            <a:pPr lvl="0"/>
            <a:r>
              <a:rPr lang="de-DE" dirty="0"/>
              <a:t>Hier können zusätzliche Informationen aufgelistet werden</a:t>
            </a:r>
          </a:p>
        </p:txBody>
      </p:sp>
    </p:spTree>
    <p:extLst>
      <p:ext uri="{BB962C8B-B14F-4D97-AF65-F5344CB8AC3E}">
        <p14:creationId xmlns:p14="http://schemas.microsoft.com/office/powerpoint/2010/main" val="18486401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abellenfoli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a:t>Tabelle</a:t>
            </a:r>
          </a:p>
        </p:txBody>
      </p:sp>
      <p:sp>
        <p:nvSpPr>
          <p:cNvPr id="3" name="Datumsplatzhalter 2"/>
          <p:cNvSpPr>
            <a:spLocks noGrp="1"/>
          </p:cNvSpPr>
          <p:nvPr>
            <p:ph type="dt" sz="half" idx="10"/>
          </p:nvPr>
        </p:nvSpPr>
        <p:spPr/>
        <p:txBody>
          <a:bodyPr/>
          <a:lstStyle/>
          <a:p>
            <a:fld id="{1A0B7B53-5BEF-46CB-AA4D-6ABE8D6DBF1A}" type="datetime1">
              <a:rPr lang="de-DE" smtClean="0"/>
              <a:t>27.11.2023</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39440406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ellenfolie_klassisch">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a:t>Tabelle</a:t>
            </a:r>
          </a:p>
        </p:txBody>
      </p:sp>
      <p:sp>
        <p:nvSpPr>
          <p:cNvPr id="3" name="Datumsplatzhalter 2"/>
          <p:cNvSpPr>
            <a:spLocks noGrp="1"/>
          </p:cNvSpPr>
          <p:nvPr>
            <p:ph type="dt" sz="half" idx="10"/>
          </p:nvPr>
        </p:nvSpPr>
        <p:spPr/>
        <p:txBody>
          <a:bodyPr/>
          <a:lstStyle/>
          <a:p>
            <a:fld id="{1A0B7B53-5BEF-46CB-AA4D-6ABE8D6DBF1A}" type="datetime1">
              <a:rPr lang="de-DE" smtClean="0"/>
              <a:t>27.11.2023</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1339116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blauf Zeitstrahl">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09A41F59-D1B4-47FC-9829-347B78D65809}" type="datetime1">
              <a:rPr lang="de-DE" smtClean="0"/>
              <a:t>27.11.2023</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9110456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Wochen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75A80F1E-E73D-4A41-9363-48042CF4C8E0}" type="datetime1">
              <a:rPr lang="de-DE" smtClean="0"/>
              <a:t>27.11.2023</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6432735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Monats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27.11.2023</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7193933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o">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27.11.2023</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4842103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ufgabenblatt">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6B1CE842-6F89-4182-A9D8-84E9C2148958}" type="datetime1">
              <a:rPr lang="de-DE" smtClean="0"/>
              <a:t>27.11.2023</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a:t>Lernziele</a:t>
            </a:r>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2732088"/>
            <a:ext cx="7934325" cy="3576637"/>
          </a:xfrm>
        </p:spPr>
        <p:txBody>
          <a:bodyPr>
            <a:normAutofit/>
          </a:bodyPr>
          <a:lstStyle>
            <a:lvl1pPr marL="0" indent="0">
              <a:buNone/>
              <a:defRPr sz="2400" baseline="0"/>
            </a:lvl1pPr>
          </a:lstStyle>
          <a:p>
            <a:pPr lvl="0"/>
            <a:r>
              <a:rPr lang="de-DE" dirty="0"/>
              <a:t>Aufgabenstellung</a:t>
            </a:r>
          </a:p>
          <a:p>
            <a:pPr lvl="0"/>
            <a:r>
              <a:rPr lang="de-DE" dirty="0"/>
              <a:t>Hier kann die Aufgabenstellung eingefügt werden.</a:t>
            </a:r>
          </a:p>
        </p:txBody>
      </p:sp>
      <p:sp>
        <p:nvSpPr>
          <p:cNvPr id="46" name="Textplatzhalter 44"/>
          <p:cNvSpPr>
            <a:spLocks noGrp="1"/>
          </p:cNvSpPr>
          <p:nvPr>
            <p:ph type="body" sz="quarter" idx="16" hasCustomPrompt="1"/>
          </p:nvPr>
        </p:nvSpPr>
        <p:spPr>
          <a:xfrm>
            <a:off x="334963" y="1270000"/>
            <a:ext cx="5757862" cy="741363"/>
          </a:xfrm>
        </p:spPr>
        <p:txBody>
          <a:bodyPr>
            <a:noAutofit/>
          </a:bodyPr>
          <a:lstStyle>
            <a:lvl1pPr marL="0" indent="0">
              <a:buNone/>
              <a:defRPr sz="4800" b="1" baseline="0"/>
            </a:lvl1pPr>
          </a:lstStyle>
          <a:p>
            <a:pPr lvl="0"/>
            <a:r>
              <a:rPr lang="de-DE" dirty="0"/>
              <a:t>Titel der Aufgabe</a:t>
            </a:r>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a:t>Zeitumfang: 45min</a:t>
            </a:r>
          </a:p>
        </p:txBody>
      </p:sp>
    </p:spTree>
    <p:extLst>
      <p:ext uri="{BB962C8B-B14F-4D97-AF65-F5344CB8AC3E}">
        <p14:creationId xmlns:p14="http://schemas.microsoft.com/office/powerpoint/2010/main" val="31296598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ufgabenblatt_Fortsetzung">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C1E2B63B-BC06-4DE2-AB38-48B65140DEE2}" type="datetime1">
              <a:rPr lang="de-DE" smtClean="0"/>
              <a:t>27.11.2023</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a:t>Lernziele</a:t>
            </a:r>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1277304"/>
            <a:ext cx="7197407" cy="5031421"/>
          </a:xfrm>
        </p:spPr>
        <p:txBody>
          <a:bodyPr>
            <a:normAutofit/>
          </a:bodyPr>
          <a:lstStyle>
            <a:lvl1pPr marL="0" indent="0">
              <a:buNone/>
              <a:defRPr sz="2400" baseline="0"/>
            </a:lvl1pPr>
          </a:lstStyle>
          <a:p>
            <a:pPr lvl="0"/>
            <a:r>
              <a:rPr lang="de-DE" dirty="0"/>
              <a:t>Aufgabenstellung</a:t>
            </a:r>
          </a:p>
          <a:p>
            <a:pPr lvl="0"/>
            <a:r>
              <a:rPr lang="de-DE" dirty="0"/>
              <a:t>Hier kann die Aufgabenstellung eingefügt werden.</a:t>
            </a:r>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a:t>Zeitumfang: 45min</a:t>
            </a:r>
          </a:p>
        </p:txBody>
      </p:sp>
    </p:spTree>
    <p:extLst>
      <p:ext uri="{BB962C8B-B14F-4D97-AF65-F5344CB8AC3E}">
        <p14:creationId xmlns:p14="http://schemas.microsoft.com/office/powerpoint/2010/main" val="23667131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Ressourc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AD7474C8-E081-47A0-8148-238CC5CD1BDE}" type="datetime1">
              <a:rPr lang="de-DE" smtClean="0"/>
              <a:t>27.11.2023</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1 Beschreibung"/>
          <p:cNvSpPr>
            <a:spLocks noGrp="1"/>
          </p:cNvSpPr>
          <p:nvPr>
            <p:ph type="body" sz="quarter" idx="14"/>
          </p:nvPr>
        </p:nvSpPr>
        <p:spPr>
          <a:xfrm>
            <a:off x="1115702" y="2718606"/>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3" name="T:1"/>
          <p:cNvSpPr>
            <a:spLocks noGrp="1"/>
          </p:cNvSpPr>
          <p:nvPr>
            <p:ph type="body" sz="quarter" idx="15"/>
          </p:nvPr>
        </p:nvSpPr>
        <p:spPr>
          <a:xfrm>
            <a:off x="1115701" y="2011014"/>
            <a:ext cx="4248150" cy="707592"/>
          </a:xfrm>
          <a:noFill/>
        </p:spPr>
        <p:txBody>
          <a:bodyPr>
            <a:normAutofit fontScale="92500" lnSpcReduction="10000"/>
          </a:bodyPr>
          <a:lstStyle>
            <a:lvl1pPr marL="0" indent="0">
              <a:buNone/>
              <a:defRPr b="1"/>
            </a:lvl1pPr>
          </a:lstStyle>
          <a:p>
            <a:r>
              <a:rPr lang="de-DE" dirty="0"/>
              <a:t>Ressource 1</a:t>
            </a:r>
          </a:p>
          <a:p>
            <a:endParaRPr lang="de-DE" dirty="0"/>
          </a:p>
        </p:txBody>
      </p:sp>
      <p:sp>
        <p:nvSpPr>
          <p:cNvPr id="14" name="T:1 Beschreibung"/>
          <p:cNvSpPr>
            <a:spLocks noGrp="1"/>
          </p:cNvSpPr>
          <p:nvPr>
            <p:ph type="body" sz="quarter" idx="16"/>
          </p:nvPr>
        </p:nvSpPr>
        <p:spPr>
          <a:xfrm>
            <a:off x="1115702"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5" name="T:1"/>
          <p:cNvSpPr>
            <a:spLocks noGrp="1"/>
          </p:cNvSpPr>
          <p:nvPr>
            <p:ph type="body" sz="quarter" idx="17" hasCustomPrompt="1"/>
          </p:nvPr>
        </p:nvSpPr>
        <p:spPr>
          <a:xfrm>
            <a:off x="1115701" y="4171370"/>
            <a:ext cx="4248150" cy="707592"/>
          </a:xfrm>
          <a:noFill/>
        </p:spPr>
        <p:txBody>
          <a:bodyPr>
            <a:normAutofit fontScale="92500" lnSpcReduction="10000"/>
          </a:bodyPr>
          <a:lstStyle>
            <a:lvl1pPr marL="0" indent="0">
              <a:buNone/>
              <a:defRPr b="1"/>
            </a:lvl1pPr>
          </a:lstStyle>
          <a:p>
            <a:r>
              <a:rPr lang="de-DE" dirty="0"/>
              <a:t>Ressource 3</a:t>
            </a:r>
          </a:p>
          <a:p>
            <a:endParaRPr lang="de-DE" dirty="0"/>
          </a:p>
        </p:txBody>
      </p:sp>
      <p:sp>
        <p:nvSpPr>
          <p:cNvPr id="16" name="T:1 Beschreibung"/>
          <p:cNvSpPr>
            <a:spLocks noGrp="1"/>
          </p:cNvSpPr>
          <p:nvPr>
            <p:ph type="body" sz="quarter" idx="18"/>
          </p:nvPr>
        </p:nvSpPr>
        <p:spPr>
          <a:xfrm>
            <a:off x="6144591"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7" name="T:1"/>
          <p:cNvSpPr>
            <a:spLocks noGrp="1"/>
          </p:cNvSpPr>
          <p:nvPr>
            <p:ph type="body" sz="quarter" idx="19" hasCustomPrompt="1"/>
          </p:nvPr>
        </p:nvSpPr>
        <p:spPr>
          <a:xfrm>
            <a:off x="6144590" y="4171370"/>
            <a:ext cx="4248150" cy="707592"/>
          </a:xfrm>
          <a:noFill/>
        </p:spPr>
        <p:txBody>
          <a:bodyPr>
            <a:normAutofit fontScale="92500" lnSpcReduction="10000"/>
          </a:bodyPr>
          <a:lstStyle>
            <a:lvl1pPr marL="0" indent="0">
              <a:buNone/>
              <a:defRPr b="1"/>
            </a:lvl1pPr>
          </a:lstStyle>
          <a:p>
            <a:r>
              <a:rPr lang="de-DE" dirty="0"/>
              <a:t>Ressource 4</a:t>
            </a:r>
          </a:p>
          <a:p>
            <a:endParaRPr lang="de-DE" dirty="0"/>
          </a:p>
        </p:txBody>
      </p:sp>
      <p:sp>
        <p:nvSpPr>
          <p:cNvPr id="18" name="T:1 Beschreibung"/>
          <p:cNvSpPr>
            <a:spLocks noGrp="1"/>
          </p:cNvSpPr>
          <p:nvPr>
            <p:ph type="body" sz="quarter" idx="20"/>
          </p:nvPr>
        </p:nvSpPr>
        <p:spPr>
          <a:xfrm>
            <a:off x="6144591" y="2718808"/>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9" name="T:1"/>
          <p:cNvSpPr>
            <a:spLocks noGrp="1"/>
          </p:cNvSpPr>
          <p:nvPr>
            <p:ph type="body" sz="quarter" idx="21" hasCustomPrompt="1"/>
          </p:nvPr>
        </p:nvSpPr>
        <p:spPr>
          <a:xfrm>
            <a:off x="6144590" y="2011216"/>
            <a:ext cx="4248150" cy="707592"/>
          </a:xfrm>
          <a:noFill/>
        </p:spPr>
        <p:txBody>
          <a:bodyPr>
            <a:normAutofit fontScale="92500" lnSpcReduction="10000"/>
          </a:bodyPr>
          <a:lstStyle>
            <a:lvl1pPr marL="0" indent="0">
              <a:buNone/>
              <a:defRPr b="1"/>
            </a:lvl1pPr>
          </a:lstStyle>
          <a:p>
            <a:r>
              <a:rPr lang="de-DE" dirty="0"/>
              <a:t>Ressource 2</a:t>
            </a:r>
          </a:p>
          <a:p>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a:t>Ressourcen</a:t>
            </a:r>
          </a:p>
        </p:txBody>
      </p:sp>
    </p:spTree>
    <p:extLst>
      <p:ext uri="{BB962C8B-B14F-4D97-AF65-F5344CB8AC3E}">
        <p14:creationId xmlns:p14="http://schemas.microsoft.com/office/powerpoint/2010/main" val="38377350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ell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1F0E6A95-0BE1-48C9-B3C7-390BA69C50FE}" type="datetime1">
              <a:rPr lang="de-DE" smtClean="0"/>
              <a:t>27.11.2023</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a:t>Quellen</a:t>
            </a:r>
          </a:p>
        </p:txBody>
      </p:sp>
      <p:sp>
        <p:nvSpPr>
          <p:cNvPr id="21" name="T: Quellentext"/>
          <p:cNvSpPr>
            <a:spLocks noGrp="1"/>
          </p:cNvSpPr>
          <p:nvPr>
            <p:ph type="body" sz="quarter" idx="13" hasCustomPrompt="1"/>
          </p:nvPr>
        </p:nvSpPr>
        <p:spPr>
          <a:xfrm>
            <a:off x="345452" y="1992398"/>
            <a:ext cx="5018400" cy="4316326"/>
          </a:xfrm>
        </p:spPr>
        <p:txBody>
          <a:bodyPr>
            <a:normAutofit/>
          </a:bodyPr>
          <a:lstStyle>
            <a:lvl1pPr marL="71438" indent="-71438">
              <a:buNone/>
              <a:defRPr sz="1600"/>
            </a:lvl1pPr>
          </a:lstStyle>
          <a:p>
            <a:pPr marL="72000" indent="-468000">
              <a:spcAft>
                <a:spcPts val="600"/>
              </a:spcAft>
            </a:pPr>
            <a:r>
              <a:rPr lang="de-DE" baseline="30000" dirty="0"/>
              <a:t>1</a:t>
            </a:r>
            <a:r>
              <a:rPr lang="de-DE" dirty="0"/>
              <a:t> Name, Vorname (Erscheinungsjahr): Titel. Untertitel, Erscheinungsort.</a:t>
            </a:r>
          </a:p>
          <a:p>
            <a:pPr marL="72000" indent="-468000">
              <a:spcAft>
                <a:spcPts val="600"/>
              </a:spcAft>
            </a:pPr>
            <a:r>
              <a:rPr lang="de-DE" baseline="30000" dirty="0"/>
              <a:t>2</a:t>
            </a:r>
            <a:r>
              <a:rPr lang="de-DE" dirty="0"/>
              <a:t> Name, Vorname (Erscheinungsjahr): Titel. Untertitel, Erscheinungsort.</a:t>
            </a:r>
            <a:endParaRPr lang="de-DE" u="sng" dirty="0">
              <a:solidFill>
                <a:schemeClr val="tx2"/>
              </a:solidFill>
            </a:endParaRPr>
          </a:p>
        </p:txBody>
      </p:sp>
      <p:sp>
        <p:nvSpPr>
          <p:cNvPr id="4" name="Textplatzhalter 3"/>
          <p:cNvSpPr>
            <a:spLocks noGrp="1"/>
          </p:cNvSpPr>
          <p:nvPr>
            <p:ph type="body" sz="quarter" idx="14" hasCustomPrompt="1"/>
          </p:nvPr>
        </p:nvSpPr>
        <p:spPr>
          <a:xfrm>
            <a:off x="334963" y="1268498"/>
            <a:ext cx="5029200" cy="723900"/>
          </a:xfrm>
        </p:spPr>
        <p:txBody>
          <a:bodyPr/>
          <a:lstStyle>
            <a:lvl1pPr marL="0" indent="0">
              <a:buNone/>
              <a:defRPr/>
            </a:lvl1pPr>
          </a:lstStyle>
          <a:p>
            <a:pPr lvl="0"/>
            <a:r>
              <a:rPr lang="de-DE" dirty="0"/>
              <a:t>Buchquelle</a:t>
            </a:r>
          </a:p>
        </p:txBody>
      </p:sp>
      <p:sp>
        <p:nvSpPr>
          <p:cNvPr id="10" name="T: Quellentext"/>
          <p:cNvSpPr>
            <a:spLocks noGrp="1"/>
          </p:cNvSpPr>
          <p:nvPr>
            <p:ph type="body" sz="quarter" idx="15" hasCustomPrompt="1"/>
          </p:nvPr>
        </p:nvSpPr>
        <p:spPr>
          <a:xfrm>
            <a:off x="6115424" y="1992398"/>
            <a:ext cx="5018400" cy="4077214"/>
          </a:xfrm>
        </p:spPr>
        <p:txBody>
          <a:bodyPr>
            <a:normAutofit/>
          </a:bodyPr>
          <a:lstStyle>
            <a:lvl1pPr marL="177800" marR="0" indent="-1778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lvl1pPr>
          </a:lstStyle>
          <a:p>
            <a:r>
              <a:rPr lang="de-DE" baseline="30000" dirty="0"/>
              <a:t>1 </a:t>
            </a:r>
            <a:r>
              <a:rPr lang="de-DE" dirty="0"/>
              <a:t>„Titel des Materials“ von Urheber A und Urheber B : </a:t>
            </a:r>
            <a:r>
              <a:rPr lang="de-DE" dirty="0">
                <a:hlinkClick r:id="rId3"/>
              </a:rPr>
              <a:t>https://pixabay.com/DE/users</a:t>
            </a:r>
            <a:r>
              <a:rPr lang="de-DE" dirty="0"/>
              <a:t> (link) ist lizensiert unter (CC-Lizenz) CC BY 4.0 International, in schwarz-weiß Bild umgewandelt (Angabe Veränderungen)</a:t>
            </a:r>
          </a:p>
          <a:p>
            <a:r>
              <a:rPr lang="de-DE" baseline="30000" dirty="0"/>
              <a:t>2 </a:t>
            </a:r>
            <a:r>
              <a:rPr lang="de-DE" dirty="0"/>
              <a:t>„Titel des Materials“ von Urheber A und Urheber B : </a:t>
            </a:r>
            <a:r>
              <a:rPr lang="de-DE" dirty="0">
                <a:hlinkClick r:id="rId3"/>
              </a:rPr>
              <a:t>https://pixabay.com/DE/users</a:t>
            </a:r>
            <a:r>
              <a:rPr lang="de-DE" dirty="0"/>
              <a:t> (link) ist lizensiert unter (CC-Lizenz) CC BY 4.0 International, in schwarz-weiß Bild umgewandelt (Angabe Veränderungen)</a:t>
            </a:r>
          </a:p>
          <a:p>
            <a:endParaRPr lang="de-DE" dirty="0"/>
          </a:p>
        </p:txBody>
      </p:sp>
      <p:sp>
        <p:nvSpPr>
          <p:cNvPr id="11" name="Textplatzhalter 3"/>
          <p:cNvSpPr>
            <a:spLocks noGrp="1"/>
          </p:cNvSpPr>
          <p:nvPr>
            <p:ph type="body" sz="quarter" idx="16" hasCustomPrompt="1"/>
          </p:nvPr>
        </p:nvSpPr>
        <p:spPr>
          <a:xfrm>
            <a:off x="6104935" y="1268498"/>
            <a:ext cx="5029200" cy="723900"/>
          </a:xfrm>
        </p:spPr>
        <p:txBody>
          <a:bodyPr/>
          <a:lstStyle>
            <a:lvl1pPr marL="0" indent="0">
              <a:buNone/>
              <a:defRPr/>
            </a:lvl1pPr>
          </a:lstStyle>
          <a:p>
            <a:pPr lvl="0"/>
            <a:r>
              <a:rPr lang="de-DE" dirty="0"/>
              <a:t>Abbildungen</a:t>
            </a:r>
          </a:p>
        </p:txBody>
      </p:sp>
    </p:spTree>
    <p:extLst>
      <p:ext uri="{BB962C8B-B14F-4D97-AF65-F5344CB8AC3E}">
        <p14:creationId xmlns:p14="http://schemas.microsoft.com/office/powerpoint/2010/main" val="37413612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grpSp>
        <p:nvGrpSpPr>
          <p:cNvPr id="6" name="Gruppieren 5"/>
          <p:cNvGrpSpPr/>
          <p:nvPr userDrawn="1"/>
        </p:nvGrpSpPr>
        <p:grpSpPr>
          <a:xfrm>
            <a:off x="-13606" y="532132"/>
            <a:ext cx="12205606" cy="6351728"/>
            <a:chOff x="-13606" y="532132"/>
            <a:chExt cx="12205606" cy="6351728"/>
          </a:xfrm>
        </p:grpSpPr>
        <p:sp>
          <p:nvSpPr>
            <p:cNvPr id="7" name="Freihandform 6"/>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3" name="Datumsplatzhalter 2"/>
          <p:cNvSpPr>
            <a:spLocks noGrp="1"/>
          </p:cNvSpPr>
          <p:nvPr>
            <p:ph type="dt" sz="half" idx="10"/>
          </p:nvPr>
        </p:nvSpPr>
        <p:spPr/>
        <p:txBody>
          <a:bodyPr/>
          <a:lstStyle/>
          <a:p>
            <a:fld id="{EA1F796F-474B-49D8-80F8-F810CDE790FA}" type="datetime1">
              <a:rPr lang="de-DE" smtClean="0"/>
              <a:t>27.11.2023</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0" name="Textplatzhalter 12"/>
          <p:cNvSpPr>
            <a:spLocks noGrp="1"/>
          </p:cNvSpPr>
          <p:nvPr>
            <p:ph type="body" sz="quarter" idx="13" hasCustomPrompt="1"/>
          </p:nvPr>
        </p:nvSpPr>
        <p:spPr>
          <a:xfrm>
            <a:off x="1736725" y="2709863"/>
            <a:ext cx="8686800" cy="1455737"/>
          </a:xfrm>
        </p:spPr>
        <p:txBody>
          <a:bodyPr>
            <a:noAutofit/>
          </a:bodyPr>
          <a:lstStyle>
            <a:lvl1pPr marL="0" indent="0" algn="ctr">
              <a:buNone/>
              <a:defRPr sz="7200" b="1" baseline="0">
                <a:solidFill>
                  <a:schemeClr val="accent2"/>
                </a:solidFill>
              </a:defRPr>
            </a:lvl1pPr>
          </a:lstStyle>
          <a:p>
            <a:pPr lvl="0"/>
            <a:r>
              <a:rPr lang="de-DE" dirty="0"/>
              <a:t>VIELEN DANK!</a:t>
            </a:r>
          </a:p>
        </p:txBody>
      </p:sp>
    </p:spTree>
    <p:extLst>
      <p:ext uri="{BB962C8B-B14F-4D97-AF65-F5344CB8AC3E}">
        <p14:creationId xmlns:p14="http://schemas.microsoft.com/office/powerpoint/2010/main" val="350681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conpool">
    <p:spTree>
      <p:nvGrpSpPr>
        <p:cNvPr id="1" name=""/>
        <p:cNvGrpSpPr/>
        <p:nvPr/>
      </p:nvGrpSpPr>
      <p:grpSpPr>
        <a:xfrm>
          <a:off x="0" y="0"/>
          <a:ext cx="0" cy="0"/>
          <a:chOff x="0" y="0"/>
          <a:chExt cx="0" cy="0"/>
        </a:xfrm>
      </p:grpSpPr>
      <p:sp>
        <p:nvSpPr>
          <p:cNvPr id="11" name="Rechteck 10"/>
          <p:cNvSpPr/>
          <p:nvPr userDrawn="1"/>
        </p:nvSpPr>
        <p:spPr>
          <a:xfrm>
            <a:off x="0" y="0"/>
            <a:ext cx="12192000" cy="68580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dirty="0"/>
          </a:p>
        </p:txBody>
      </p:sp>
      <p:grpSp>
        <p:nvGrpSpPr>
          <p:cNvPr id="7" name="Gruppieren 6"/>
          <p:cNvGrpSpPr/>
          <p:nvPr userDrawn="1"/>
        </p:nvGrpSpPr>
        <p:grpSpPr>
          <a:xfrm>
            <a:off x="0" y="6083955"/>
            <a:ext cx="12192000" cy="792064"/>
            <a:chOff x="0" y="6083955"/>
            <a:chExt cx="12192000" cy="792064"/>
          </a:xfrm>
        </p:grpSpPr>
        <p:sp>
          <p:nvSpPr>
            <p:cNvPr id="8" name="Freihandform 7"/>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464586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Grafik 8"/>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Titelmasterformat durch Klicken bearbeiten</a:t>
            </a:r>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2"/>
          </p:nvPr>
        </p:nvSpPr>
        <p:spPr>
          <a:xfrm>
            <a:off x="3949046" y="6311900"/>
            <a:ext cx="1414806" cy="409575"/>
          </a:xfrm>
          <a:prstGeom prst="rect">
            <a:avLst/>
          </a:prstGeom>
        </p:spPr>
        <p:txBody>
          <a:bodyPr vert="horz" lIns="91440" tIns="45720" rIns="91440" bIns="45720" rtlCol="0" anchor="ctr"/>
          <a:lstStyle>
            <a:lvl1pPr algn="l">
              <a:defRPr sz="1200">
                <a:solidFill>
                  <a:schemeClr val="tx1">
                    <a:tint val="75000"/>
                  </a:schemeClr>
                </a:solidFill>
              </a:defRPr>
            </a:lvl1pPr>
          </a:lstStyle>
          <a:p>
            <a:fld id="{531AF126-75A8-4461-AC2D-D5AEDEB06E31}" type="datetime1">
              <a:rPr lang="de-DE" smtClean="0"/>
              <a:t>27.11.2023</a:t>
            </a:fld>
            <a:endParaRPr lang="de-DE" dirty="0"/>
          </a:p>
        </p:txBody>
      </p:sp>
      <p:sp>
        <p:nvSpPr>
          <p:cNvPr id="5" name="Fußzeilenplatzhalter 4"/>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dirty="0"/>
              <a:t>Präsentationsthema</a:t>
            </a:r>
          </a:p>
        </p:txBody>
      </p:sp>
      <p:sp>
        <p:nvSpPr>
          <p:cNvPr id="6" name="Foliennummernplatzhalter 5"/>
          <p:cNvSpPr>
            <a:spLocks noGrp="1"/>
          </p:cNvSpPr>
          <p:nvPr>
            <p:ph type="sldNum" sz="quarter" idx="4"/>
          </p:nvPr>
        </p:nvSpPr>
        <p:spPr>
          <a:xfrm>
            <a:off x="9690754" y="6311900"/>
            <a:ext cx="1663045" cy="409575"/>
          </a:xfrm>
          <a:prstGeom prst="rect">
            <a:avLst/>
          </a:prstGeom>
        </p:spPr>
        <p:txBody>
          <a:bodyPr vert="horz" lIns="91440" tIns="45720" rIns="91440" bIns="45720" rtlCol="0" anchor="ctr"/>
          <a:lstStyle>
            <a:lvl1pPr algn="r">
              <a:defRPr sz="1200">
                <a:solidFill>
                  <a:schemeClr val="tx1">
                    <a:tint val="75000"/>
                  </a:schemeClr>
                </a:solidFill>
              </a:defRPr>
            </a:lvl1pPr>
          </a:lstStyle>
          <a:p>
            <a:fld id="{220551C3-A462-45EE-8D4B-53AADAADD6D4}" type="slidenum">
              <a:rPr lang="de-DE" smtClean="0"/>
              <a:t>‹Nr.›</a:t>
            </a:fld>
            <a:endParaRPr lang="de-DE" dirty="0"/>
          </a:p>
        </p:txBody>
      </p:sp>
    </p:spTree>
    <p:extLst>
      <p:ext uri="{BB962C8B-B14F-4D97-AF65-F5344CB8AC3E}">
        <p14:creationId xmlns:p14="http://schemas.microsoft.com/office/powerpoint/2010/main" val="37217071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000000"/>
          </p15:clr>
        </p15:guide>
        <p15:guide id="2" pos="211">
          <p15:clr>
            <a:srgbClr val="000000"/>
          </p15:clr>
        </p15:guide>
        <p15:guide id="3" orient="horz" pos="4320">
          <p15:clr>
            <a:srgbClr val="000000"/>
          </p15:clr>
        </p15:guide>
        <p15:guide id="4" orient="horz" pos="3974">
          <p15:clr>
            <a:srgbClr val="000000"/>
          </p15:clr>
        </p15:guide>
        <p15:guide id="5" pos="7673">
          <p15:clr>
            <a:srgbClr val="000000"/>
          </p15:clr>
        </p15:guide>
        <p15:guide id="6" pos="7469">
          <p15:clr>
            <a:srgbClr val="000000"/>
          </p15:clr>
        </p15:guide>
        <p15:guide id="7" orient="horz">
          <p15:clr>
            <a:srgbClr val="000000"/>
          </p15:clr>
        </p15:guide>
        <p15:guide id="8" orient="horz" pos="346">
          <p15:clr>
            <a:srgbClr val="00000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8.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pieren 6"/>
          <p:cNvGrpSpPr/>
          <p:nvPr/>
        </p:nvGrpSpPr>
        <p:grpSpPr>
          <a:xfrm>
            <a:off x="0" y="2716918"/>
            <a:ext cx="12201054" cy="4142572"/>
            <a:chOff x="0" y="2716065"/>
            <a:chExt cx="12201054" cy="4142572"/>
          </a:xfrm>
        </p:grpSpPr>
        <p:sp>
          <p:nvSpPr>
            <p:cNvPr id="8" name="Freihandform 7"/>
            <p:cNvSpPr/>
            <p:nvPr/>
          </p:nvSpPr>
          <p:spPr>
            <a:xfrm>
              <a:off x="0" y="2760670"/>
              <a:ext cx="12201054" cy="4097967"/>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757238 h 4125127"/>
                <a:gd name="connsiteX7" fmla="*/ 0 w 12201054"/>
                <a:gd name="connsiteY7" fmla="*/ 0 h 4125127"/>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4097967 h 4125127"/>
                <a:gd name="connsiteX7" fmla="*/ 0 w 12201054"/>
                <a:gd name="connsiteY7" fmla="*/ 0 h 4125127"/>
                <a:gd name="connsiteX0" fmla="*/ 0 w 12201054"/>
                <a:gd name="connsiteY0" fmla="*/ 0 h 4097967"/>
                <a:gd name="connsiteX1" fmla="*/ 3454269 w 12201054"/>
                <a:gd name="connsiteY1" fmla="*/ 0 h 4097967"/>
                <a:gd name="connsiteX2" fmla="*/ 3825090 w 12201054"/>
                <a:gd name="connsiteY2" fmla="*/ 351771 h 4097967"/>
                <a:gd name="connsiteX3" fmla="*/ 4195910 w 12201054"/>
                <a:gd name="connsiteY3" fmla="*/ 0 h 4097967"/>
                <a:gd name="connsiteX4" fmla="*/ 12192000 w 12201054"/>
                <a:gd name="connsiteY4" fmla="*/ 0 h 4097967"/>
                <a:gd name="connsiteX5" fmla="*/ 12201054 w 12201054"/>
                <a:gd name="connsiteY5" fmla="*/ 4097966 h 4097967"/>
                <a:gd name="connsiteX6" fmla="*/ 0 w 12201054"/>
                <a:gd name="connsiteY6" fmla="*/ 4097967 h 4097967"/>
                <a:gd name="connsiteX7" fmla="*/ 0 w 12201054"/>
                <a:gd name="connsiteY7" fmla="*/ 0 h 4097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1054" h="4097967">
                  <a:moveTo>
                    <a:pt x="0" y="0"/>
                  </a:moveTo>
                  <a:lnTo>
                    <a:pt x="3454269" y="0"/>
                  </a:lnTo>
                  <a:lnTo>
                    <a:pt x="3825090" y="351771"/>
                  </a:lnTo>
                  <a:lnTo>
                    <a:pt x="4195910" y="0"/>
                  </a:lnTo>
                  <a:lnTo>
                    <a:pt x="12192000" y="0"/>
                  </a:lnTo>
                  <a:lnTo>
                    <a:pt x="12201054" y="4097966"/>
                  </a:lnTo>
                  <a:lnTo>
                    <a:pt x="0" y="4097967"/>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D2E8F4"/>
                </a:solidFill>
                <a:effectLst/>
                <a:uLnTx/>
                <a:uFillTx/>
                <a:latin typeface="Calibri" panose="020F0502020204030204"/>
                <a:ea typeface="+mn-ea"/>
                <a:cs typeface="+mn-cs"/>
              </a:endParaRPr>
            </a:p>
          </p:txBody>
        </p:sp>
        <p:pic>
          <p:nvPicPr>
            <p:cNvPr id="9" name="Grafik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716065"/>
              <a:ext cx="12192000" cy="409956"/>
            </a:xfrm>
            <a:prstGeom prst="rect">
              <a:avLst/>
            </a:prstGeom>
          </p:spPr>
        </p:pic>
      </p:grpSp>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Titel 4"/>
          <p:cNvSpPr>
            <a:spLocks noGrp="1"/>
          </p:cNvSpPr>
          <p:nvPr>
            <p:ph type="ctrTitle"/>
          </p:nvPr>
        </p:nvSpPr>
        <p:spPr>
          <a:xfrm>
            <a:off x="0" y="3424238"/>
            <a:ext cx="12192000" cy="2158673"/>
          </a:xfrm>
        </p:spPr>
        <p:txBody>
          <a:bodyPr>
            <a:normAutofit/>
          </a:bodyPr>
          <a:lstStyle/>
          <a:p>
            <a:r>
              <a:rPr lang="de-DE" sz="7200" b="1" dirty="0">
                <a:latin typeface="Source Sans Pro" panose="020B0503030403020204" pitchFamily="34" charset="0"/>
              </a:rPr>
              <a:t>Datenbanken und SQL</a:t>
            </a:r>
          </a:p>
        </p:txBody>
      </p:sp>
      <p:sp>
        <p:nvSpPr>
          <p:cNvPr id="6" name="Untertitel 5"/>
          <p:cNvSpPr>
            <a:spLocks noGrp="1"/>
          </p:cNvSpPr>
          <p:nvPr>
            <p:ph type="subTitle" idx="1"/>
          </p:nvPr>
        </p:nvSpPr>
        <p:spPr/>
        <p:txBody>
          <a:bodyPr/>
          <a:lstStyle/>
          <a:p>
            <a:pPr algn="ctr"/>
            <a:r>
              <a:rPr lang="de-DE" dirty="0">
                <a:latin typeface="Source Sans Pro" panose="020B0503030403020204" pitchFamily="34" charset="0"/>
              </a:rPr>
              <a:t>(Woche 4 - Tag 1)</a:t>
            </a:r>
          </a:p>
        </p:txBody>
      </p:sp>
      <p:pic>
        <p:nvPicPr>
          <p:cNvPr id="10" name="Grafik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Grafik 20" descr="Bücher">
            <a:extLst>
              <a:ext uri="{FF2B5EF4-FFF2-40B4-BE49-F238E27FC236}">
                <a16:creationId xmlns:a16="http://schemas.microsoft.com/office/drawing/2014/main" id="{43D00B49-42D5-4163-8350-6A7AE38C9954}"/>
              </a:ext>
            </a:extLst>
          </p:cNvPr>
          <p:cNvSpPr/>
          <p:nvPr/>
        </p:nvSpPr>
        <p:spPr>
          <a:xfrm>
            <a:off x="352641" y="4810506"/>
            <a:ext cx="821809" cy="766829"/>
          </a:xfrm>
          <a:custGeom>
            <a:avLst/>
            <a:gdLst>
              <a:gd name="connsiteX0" fmla="*/ 578750 w 578750"/>
              <a:gd name="connsiteY0" fmla="*/ 190200 h 540031"/>
              <a:gd name="connsiteX1" fmla="*/ 543428 w 578750"/>
              <a:gd name="connsiteY1" fmla="*/ 177293 h 540031"/>
              <a:gd name="connsiteX2" fmla="*/ 543428 w 578750"/>
              <a:gd name="connsiteY2" fmla="*/ 103251 h 540031"/>
              <a:gd name="connsiteX3" fmla="*/ 578750 w 578750"/>
              <a:gd name="connsiteY3" fmla="*/ 88307 h 540031"/>
              <a:gd name="connsiteX4" fmla="*/ 339642 w 578750"/>
              <a:gd name="connsiteY4" fmla="*/ 0 h 540031"/>
              <a:gd name="connsiteX5" fmla="*/ 48908 w 578750"/>
              <a:gd name="connsiteY5" fmla="*/ 101893 h 540031"/>
              <a:gd name="connsiteX6" fmla="*/ 20379 w 578750"/>
              <a:gd name="connsiteY6" fmla="*/ 183407 h 540031"/>
              <a:gd name="connsiteX7" fmla="*/ 23775 w 578750"/>
              <a:gd name="connsiteY7" fmla="*/ 213295 h 540031"/>
              <a:gd name="connsiteX8" fmla="*/ 0 w 578750"/>
              <a:gd name="connsiteY8" fmla="*/ 292092 h 540031"/>
              <a:gd name="connsiteX9" fmla="*/ 20379 w 578750"/>
              <a:gd name="connsiteY9" fmla="*/ 351190 h 540031"/>
              <a:gd name="connsiteX10" fmla="*/ 19020 w 578750"/>
              <a:gd name="connsiteY10" fmla="*/ 393985 h 540031"/>
              <a:gd name="connsiteX11" fmla="*/ 54343 w 578750"/>
              <a:gd name="connsiteY11" fmla="*/ 461913 h 540031"/>
              <a:gd name="connsiteX12" fmla="*/ 243184 w 578750"/>
              <a:gd name="connsiteY12" fmla="*/ 540031 h 540031"/>
              <a:gd name="connsiteX13" fmla="*/ 577392 w 578750"/>
              <a:gd name="connsiteY13" fmla="*/ 401457 h 540031"/>
              <a:gd name="connsiteX14" fmla="*/ 542069 w 578750"/>
              <a:gd name="connsiteY14" fmla="*/ 388551 h 540031"/>
              <a:gd name="connsiteX15" fmla="*/ 542069 w 578750"/>
              <a:gd name="connsiteY15" fmla="*/ 313829 h 540031"/>
              <a:gd name="connsiteX16" fmla="*/ 577392 w 578750"/>
              <a:gd name="connsiteY16" fmla="*/ 298885 h 540031"/>
              <a:gd name="connsiteX17" fmla="*/ 523049 w 578750"/>
              <a:gd name="connsiteY17" fmla="*/ 278507 h 540031"/>
              <a:gd name="connsiteX18" fmla="*/ 523049 w 578750"/>
              <a:gd name="connsiteY18" fmla="*/ 213295 h 540031"/>
              <a:gd name="connsiteX19" fmla="*/ 578750 w 578750"/>
              <a:gd name="connsiteY19" fmla="*/ 190200 h 540031"/>
              <a:gd name="connsiteX20" fmla="*/ 57060 w 578750"/>
              <a:gd name="connsiteY20" fmla="*/ 149443 h 540031"/>
              <a:gd name="connsiteX21" fmla="*/ 245901 w 578750"/>
              <a:gd name="connsiteY21" fmla="*/ 223485 h 540031"/>
              <a:gd name="connsiteX22" fmla="*/ 516935 w 578750"/>
              <a:gd name="connsiteY22" fmla="*/ 114120 h 540031"/>
              <a:gd name="connsiteX23" fmla="*/ 516935 w 578750"/>
              <a:gd name="connsiteY23" fmla="*/ 172538 h 540031"/>
              <a:gd name="connsiteX24" fmla="*/ 245901 w 578750"/>
              <a:gd name="connsiteY24" fmla="*/ 285299 h 540031"/>
              <a:gd name="connsiteX25" fmla="*/ 57060 w 578750"/>
              <a:gd name="connsiteY25" fmla="*/ 210578 h 540031"/>
              <a:gd name="connsiteX26" fmla="*/ 57060 w 578750"/>
              <a:gd name="connsiteY26" fmla="*/ 149443 h 540031"/>
              <a:gd name="connsiteX27" fmla="*/ 515577 w 578750"/>
              <a:gd name="connsiteY27" fmla="*/ 383796 h 540031"/>
              <a:gd name="connsiteX28" fmla="*/ 244542 w 578750"/>
              <a:gd name="connsiteY28" fmla="*/ 495878 h 540031"/>
              <a:gd name="connsiteX29" fmla="*/ 55022 w 578750"/>
              <a:gd name="connsiteY29" fmla="*/ 421156 h 540031"/>
              <a:gd name="connsiteX30" fmla="*/ 55022 w 578750"/>
              <a:gd name="connsiteY30" fmla="*/ 368172 h 540031"/>
              <a:gd name="connsiteX31" fmla="*/ 224164 w 578750"/>
              <a:gd name="connsiteY31" fmla="*/ 437459 h 540031"/>
              <a:gd name="connsiteX32" fmla="*/ 516256 w 578750"/>
              <a:gd name="connsiteY32" fmla="*/ 321981 h 540031"/>
              <a:gd name="connsiteX33" fmla="*/ 515577 w 578750"/>
              <a:gd name="connsiteY33" fmla="*/ 383796 h 540031"/>
              <a:gd name="connsiteX34" fmla="*/ 496557 w 578750"/>
              <a:gd name="connsiteY34" fmla="*/ 281903 h 540031"/>
              <a:gd name="connsiteX35" fmla="*/ 225522 w 578750"/>
              <a:gd name="connsiteY35" fmla="*/ 393985 h 540031"/>
              <a:gd name="connsiteX36" fmla="*/ 36681 w 578750"/>
              <a:gd name="connsiteY36" fmla="*/ 319264 h 540031"/>
              <a:gd name="connsiteX37" fmla="*/ 36681 w 578750"/>
              <a:gd name="connsiteY37" fmla="*/ 258128 h 540031"/>
              <a:gd name="connsiteX38" fmla="*/ 230957 w 578750"/>
              <a:gd name="connsiteY38" fmla="*/ 335567 h 540031"/>
              <a:gd name="connsiteX39" fmla="*/ 497236 w 578750"/>
              <a:gd name="connsiteY39" fmla="*/ 224164 h 540031"/>
              <a:gd name="connsiteX40" fmla="*/ 497236 w 578750"/>
              <a:gd name="connsiteY40" fmla="*/ 281903 h 54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8750" h="540031">
                <a:moveTo>
                  <a:pt x="578750" y="190200"/>
                </a:moveTo>
                <a:lnTo>
                  <a:pt x="543428" y="177293"/>
                </a:lnTo>
                <a:lnTo>
                  <a:pt x="543428" y="103251"/>
                </a:lnTo>
                <a:lnTo>
                  <a:pt x="578750" y="88307"/>
                </a:lnTo>
                <a:lnTo>
                  <a:pt x="339642" y="0"/>
                </a:lnTo>
                <a:lnTo>
                  <a:pt x="48908" y="101893"/>
                </a:lnTo>
                <a:cubicBezTo>
                  <a:pt x="21058" y="115478"/>
                  <a:pt x="20379" y="152839"/>
                  <a:pt x="20379" y="183407"/>
                </a:cubicBezTo>
                <a:cubicBezTo>
                  <a:pt x="20379" y="193596"/>
                  <a:pt x="21737" y="203785"/>
                  <a:pt x="23775" y="213295"/>
                </a:cubicBezTo>
                <a:cubicBezTo>
                  <a:pt x="679" y="228240"/>
                  <a:pt x="0" y="262883"/>
                  <a:pt x="0" y="292092"/>
                </a:cubicBezTo>
                <a:cubicBezTo>
                  <a:pt x="0" y="315867"/>
                  <a:pt x="5434" y="337604"/>
                  <a:pt x="20379" y="351190"/>
                </a:cubicBezTo>
                <a:cubicBezTo>
                  <a:pt x="16982" y="362738"/>
                  <a:pt x="19020" y="377003"/>
                  <a:pt x="19020" y="393985"/>
                </a:cubicBezTo>
                <a:cubicBezTo>
                  <a:pt x="19020" y="424553"/>
                  <a:pt x="27171" y="452403"/>
                  <a:pt x="54343" y="461913"/>
                </a:cubicBezTo>
                <a:lnTo>
                  <a:pt x="243184" y="540031"/>
                </a:lnTo>
                <a:lnTo>
                  <a:pt x="577392" y="401457"/>
                </a:lnTo>
                <a:lnTo>
                  <a:pt x="542069" y="388551"/>
                </a:lnTo>
                <a:lnTo>
                  <a:pt x="542069" y="313829"/>
                </a:lnTo>
                <a:lnTo>
                  <a:pt x="577392" y="298885"/>
                </a:lnTo>
                <a:lnTo>
                  <a:pt x="523049" y="278507"/>
                </a:lnTo>
                <a:lnTo>
                  <a:pt x="523049" y="213295"/>
                </a:lnTo>
                <a:lnTo>
                  <a:pt x="578750" y="190200"/>
                </a:lnTo>
                <a:close/>
                <a:moveTo>
                  <a:pt x="57060" y="149443"/>
                </a:moveTo>
                <a:lnTo>
                  <a:pt x="245901" y="223485"/>
                </a:lnTo>
                <a:lnTo>
                  <a:pt x="516935" y="114120"/>
                </a:lnTo>
                <a:lnTo>
                  <a:pt x="516935" y="172538"/>
                </a:lnTo>
                <a:lnTo>
                  <a:pt x="245901" y="285299"/>
                </a:lnTo>
                <a:lnTo>
                  <a:pt x="57060" y="210578"/>
                </a:lnTo>
                <a:lnTo>
                  <a:pt x="57060" y="149443"/>
                </a:lnTo>
                <a:close/>
                <a:moveTo>
                  <a:pt x="515577" y="383796"/>
                </a:moveTo>
                <a:lnTo>
                  <a:pt x="244542" y="495878"/>
                </a:lnTo>
                <a:lnTo>
                  <a:pt x="55022" y="421156"/>
                </a:lnTo>
                <a:lnTo>
                  <a:pt x="55022" y="368172"/>
                </a:lnTo>
                <a:lnTo>
                  <a:pt x="224164" y="437459"/>
                </a:lnTo>
                <a:lnTo>
                  <a:pt x="516256" y="321981"/>
                </a:lnTo>
                <a:lnTo>
                  <a:pt x="515577" y="383796"/>
                </a:lnTo>
                <a:close/>
                <a:moveTo>
                  <a:pt x="496557" y="281903"/>
                </a:moveTo>
                <a:lnTo>
                  <a:pt x="225522" y="393985"/>
                </a:lnTo>
                <a:lnTo>
                  <a:pt x="36681" y="319264"/>
                </a:lnTo>
                <a:lnTo>
                  <a:pt x="36681" y="258128"/>
                </a:lnTo>
                <a:lnTo>
                  <a:pt x="230957" y="335567"/>
                </a:lnTo>
                <a:lnTo>
                  <a:pt x="497236" y="224164"/>
                </a:lnTo>
                <a:lnTo>
                  <a:pt x="497236" y="281903"/>
                </a:lnTo>
                <a:close/>
              </a:path>
            </a:pathLst>
          </a:custGeom>
          <a:solidFill>
            <a:srgbClr val="0071B2"/>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Bildplatzhalter 12"/>
          <p:cNvSpPr>
            <a:spLocks noGrp="1"/>
          </p:cNvSpPr>
          <p:nvPr>
            <p:ph type="pic" sz="quarter" idx="13"/>
          </p:nvPr>
        </p:nvSpPr>
        <p:spPr/>
        <p:txBody>
          <a:bodyPr/>
          <a:lstStyle/>
          <a:p>
            <a:endParaRPr lang="de-DE"/>
          </a:p>
        </p:txBody>
      </p:sp>
    </p:spTree>
    <p:extLst>
      <p:ext uri="{BB962C8B-B14F-4D97-AF65-F5344CB8AC3E}">
        <p14:creationId xmlns:p14="http://schemas.microsoft.com/office/powerpoint/2010/main" val="1675049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Agenda</a:t>
            </a: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40080" y="878667"/>
            <a:ext cx="10713719" cy="5447645"/>
          </a:xfrm>
          <a:prstGeom prst="rect">
            <a:avLst/>
          </a:prstGeom>
          <a:noFill/>
        </p:spPr>
        <p:txBody>
          <a:bodyPr wrap="square" rtlCol="0">
            <a:spAutoFit/>
          </a:bodyPr>
          <a:lstStyle/>
          <a:p>
            <a:endParaRPr lang="de-DE" sz="800" b="1" dirty="0">
              <a:latin typeface="Source Sans Pro" panose="020B0503030403020204" pitchFamily="34" charset="0"/>
            </a:endParaRPr>
          </a:p>
          <a:p>
            <a:pPr lvl="1"/>
            <a:endParaRPr lang="de-DE" sz="800" b="1" dirty="0">
              <a:latin typeface="Source Sans Pro" panose="020B0503030403020204" pitchFamily="34" charset="0"/>
            </a:endParaRPr>
          </a:p>
          <a:p>
            <a:pPr marL="1257300" lvl="2" indent="-342900">
              <a:buFont typeface="Arial" panose="020B0604020202020204" pitchFamily="34" charset="0"/>
              <a:buChar char="•"/>
            </a:pPr>
            <a:r>
              <a:rPr lang="de-DE" sz="2400" b="1" dirty="0">
                <a:solidFill>
                  <a:srgbClr val="0071B2"/>
                </a:solidFill>
                <a:latin typeface="Source Sans Pro" panose="020B0503030403020204" pitchFamily="34" charset="0"/>
              </a:rPr>
              <a:t>Referenz-Optionen</a:t>
            </a:r>
          </a:p>
          <a:p>
            <a:pPr lvl="2"/>
            <a:endParaRPr lang="de-DE" sz="800" b="1" dirty="0">
              <a:solidFill>
                <a:srgbClr val="0071B2"/>
              </a:solidFill>
              <a:latin typeface="Source Sans Pro" panose="020B0503030403020204" pitchFamily="34" charset="0"/>
            </a:endParaRPr>
          </a:p>
          <a:p>
            <a:pPr marL="1714500" lvl="3" indent="-342900">
              <a:buFont typeface="Courier New" panose="02070309020205020404" pitchFamily="49" charset="0"/>
              <a:buChar char="o"/>
            </a:pPr>
            <a:r>
              <a:rPr lang="de-DE" dirty="0">
                <a:solidFill>
                  <a:srgbClr val="0071B2"/>
                </a:solidFill>
                <a:latin typeface="Source Sans Pro" panose="020B0503030403020204" pitchFamily="34" charset="0"/>
              </a:rPr>
              <a:t>ON [</a:t>
            </a:r>
            <a:r>
              <a:rPr lang="de-DE" dirty="0">
                <a:solidFill>
                  <a:schemeClr val="accent2"/>
                </a:solidFill>
                <a:latin typeface="Source Sans Pro" panose="020B0503030403020204" pitchFamily="34" charset="0"/>
              </a:rPr>
              <a:t>UPDATE</a:t>
            </a:r>
            <a:r>
              <a:rPr lang="de-DE" dirty="0">
                <a:latin typeface="Source Sans Pro" panose="020B0503030403020204" pitchFamily="34" charset="0"/>
              </a:rPr>
              <a:t>,</a:t>
            </a:r>
            <a:r>
              <a:rPr lang="de-DE" dirty="0">
                <a:solidFill>
                  <a:schemeClr val="accent2"/>
                </a:solidFill>
                <a:latin typeface="Source Sans Pro" panose="020B0503030403020204" pitchFamily="34" charset="0"/>
              </a:rPr>
              <a:t>DELETE</a:t>
            </a:r>
            <a:r>
              <a:rPr lang="de-DE" dirty="0">
                <a:solidFill>
                  <a:srgbClr val="0071B2"/>
                </a:solidFill>
                <a:latin typeface="Source Sans Pro" panose="020B0503030403020204" pitchFamily="34" charset="0"/>
              </a:rPr>
              <a:t>] RESTRICT</a:t>
            </a:r>
          </a:p>
          <a:p>
            <a:pPr marL="2171700" lvl="4" indent="-342900">
              <a:buFont typeface="Wingdings" panose="05000000000000000000" pitchFamily="2" charset="2"/>
              <a:buChar char="Ø"/>
            </a:pPr>
            <a:r>
              <a:rPr lang="de-DE" sz="1400" dirty="0">
                <a:solidFill>
                  <a:srgbClr val="0071B2"/>
                </a:solidFill>
                <a:latin typeface="Source Sans Pro" panose="020B0503030403020204" pitchFamily="34" charset="0"/>
              </a:rPr>
              <a:t>Definition + Motivation</a:t>
            </a:r>
          </a:p>
          <a:p>
            <a:pPr marL="2171700" lvl="4" indent="-342900">
              <a:buFont typeface="Wingdings" panose="05000000000000000000" pitchFamily="2" charset="2"/>
              <a:buChar char="Ø"/>
            </a:pPr>
            <a:r>
              <a:rPr lang="de-DE" sz="1400" dirty="0">
                <a:solidFill>
                  <a:srgbClr val="0071B2"/>
                </a:solidFill>
                <a:latin typeface="Source Sans Pro" panose="020B0503030403020204" pitchFamily="34" charset="0"/>
              </a:rPr>
              <a:t>Beispiel </a:t>
            </a:r>
          </a:p>
          <a:p>
            <a:pPr marL="2171700" lvl="4" indent="-342900">
              <a:buFont typeface="Wingdings" panose="05000000000000000000" pitchFamily="2" charset="2"/>
              <a:buChar char="Ø"/>
            </a:pPr>
            <a:r>
              <a:rPr lang="de-DE" sz="1400" dirty="0">
                <a:solidFill>
                  <a:srgbClr val="0071B2"/>
                </a:solidFill>
                <a:latin typeface="Source Sans Pro" panose="020B0503030403020204" pitchFamily="34" charset="0"/>
              </a:rPr>
              <a:t>Syntax</a:t>
            </a:r>
          </a:p>
          <a:p>
            <a:pPr lvl="4"/>
            <a:endParaRPr lang="de-DE" sz="800" dirty="0">
              <a:solidFill>
                <a:srgbClr val="0071B2"/>
              </a:solidFill>
              <a:latin typeface="Source Sans Pro" panose="020B0503030403020204" pitchFamily="34" charset="0"/>
            </a:endParaRPr>
          </a:p>
          <a:p>
            <a:pPr marL="1714500" lvl="3" indent="-342900">
              <a:buFont typeface="Courier New" panose="02070309020205020404" pitchFamily="49" charset="0"/>
              <a:buChar char="o"/>
            </a:pPr>
            <a:r>
              <a:rPr lang="de-DE" dirty="0">
                <a:solidFill>
                  <a:srgbClr val="0071B2"/>
                </a:solidFill>
                <a:latin typeface="Source Sans Pro" panose="020B0503030403020204" pitchFamily="34" charset="0"/>
              </a:rPr>
              <a:t>ON </a:t>
            </a:r>
            <a:r>
              <a:rPr lang="de-DE" dirty="0">
                <a:solidFill>
                  <a:schemeClr val="accent2"/>
                </a:solidFill>
                <a:latin typeface="Source Sans Pro" panose="020B0503030403020204" pitchFamily="34" charset="0"/>
              </a:rPr>
              <a:t>DELETE</a:t>
            </a:r>
            <a:r>
              <a:rPr lang="de-DE" dirty="0">
                <a:solidFill>
                  <a:srgbClr val="0071B2"/>
                </a:solidFill>
                <a:latin typeface="Source Sans Pro" panose="020B0503030403020204" pitchFamily="34" charset="0"/>
              </a:rPr>
              <a:t> CASCADE</a:t>
            </a:r>
          </a:p>
          <a:p>
            <a:pPr marL="2171700" lvl="4" indent="-342900">
              <a:buFont typeface="Wingdings" panose="05000000000000000000" pitchFamily="2" charset="2"/>
              <a:buChar char="Ø"/>
            </a:pPr>
            <a:r>
              <a:rPr lang="de-DE" sz="1400" dirty="0">
                <a:solidFill>
                  <a:srgbClr val="0071B2"/>
                </a:solidFill>
                <a:latin typeface="Source Sans Pro" panose="020B0503030403020204" pitchFamily="34" charset="0"/>
              </a:rPr>
              <a:t>Definition + Motivation</a:t>
            </a:r>
          </a:p>
          <a:p>
            <a:pPr marL="2171700" lvl="4" indent="-342900">
              <a:buFont typeface="Wingdings" panose="05000000000000000000" pitchFamily="2" charset="2"/>
              <a:buChar char="Ø"/>
            </a:pPr>
            <a:r>
              <a:rPr lang="de-DE" sz="1400" dirty="0">
                <a:solidFill>
                  <a:srgbClr val="0071B2"/>
                </a:solidFill>
                <a:latin typeface="Source Sans Pro" panose="020B0503030403020204" pitchFamily="34" charset="0"/>
              </a:rPr>
              <a:t>Beispiel </a:t>
            </a:r>
          </a:p>
          <a:p>
            <a:pPr marL="2171700" lvl="4" indent="-342900">
              <a:buFont typeface="Wingdings" panose="05000000000000000000" pitchFamily="2" charset="2"/>
              <a:buChar char="Ø"/>
            </a:pPr>
            <a:r>
              <a:rPr lang="de-DE" sz="1400" dirty="0">
                <a:solidFill>
                  <a:srgbClr val="0071B2"/>
                </a:solidFill>
                <a:latin typeface="Source Sans Pro" panose="020B0503030403020204" pitchFamily="34" charset="0"/>
              </a:rPr>
              <a:t>Syntax</a:t>
            </a:r>
          </a:p>
          <a:p>
            <a:pPr lvl="4"/>
            <a:endParaRPr lang="de-DE" sz="800" dirty="0">
              <a:solidFill>
                <a:srgbClr val="0071B2"/>
              </a:solidFill>
              <a:latin typeface="Source Sans Pro" panose="020B0503030403020204" pitchFamily="34" charset="0"/>
            </a:endParaRPr>
          </a:p>
          <a:p>
            <a:pPr marL="1714500" lvl="3" indent="-342900">
              <a:buFont typeface="Courier New" panose="02070309020205020404" pitchFamily="49" charset="0"/>
              <a:buChar char="o"/>
            </a:pPr>
            <a:r>
              <a:rPr lang="de-DE" dirty="0">
                <a:solidFill>
                  <a:srgbClr val="0071B2"/>
                </a:solidFill>
                <a:latin typeface="Source Sans Pro" panose="020B0503030403020204" pitchFamily="34" charset="0"/>
              </a:rPr>
              <a:t>ON </a:t>
            </a:r>
            <a:r>
              <a:rPr lang="de-DE" dirty="0">
                <a:solidFill>
                  <a:schemeClr val="accent2"/>
                </a:solidFill>
                <a:latin typeface="Source Sans Pro" panose="020B0503030403020204" pitchFamily="34" charset="0"/>
              </a:rPr>
              <a:t>UPDATE</a:t>
            </a:r>
            <a:r>
              <a:rPr lang="de-DE" dirty="0">
                <a:solidFill>
                  <a:srgbClr val="0071B2"/>
                </a:solidFill>
                <a:latin typeface="Source Sans Pro" panose="020B0503030403020204" pitchFamily="34" charset="0"/>
              </a:rPr>
              <a:t> CASCADE</a:t>
            </a:r>
          </a:p>
          <a:p>
            <a:pPr marL="2171700" lvl="4" indent="-342900">
              <a:buFont typeface="Wingdings" panose="05000000000000000000" pitchFamily="2" charset="2"/>
              <a:buChar char="Ø"/>
            </a:pPr>
            <a:r>
              <a:rPr lang="de-DE" sz="1400" dirty="0">
                <a:solidFill>
                  <a:srgbClr val="0071B2"/>
                </a:solidFill>
                <a:latin typeface="Source Sans Pro" panose="020B0503030403020204" pitchFamily="34" charset="0"/>
              </a:rPr>
              <a:t>Definition + Motivation</a:t>
            </a:r>
          </a:p>
          <a:p>
            <a:pPr marL="2171700" lvl="4" indent="-342900">
              <a:buFont typeface="Wingdings" panose="05000000000000000000" pitchFamily="2" charset="2"/>
              <a:buChar char="Ø"/>
            </a:pPr>
            <a:r>
              <a:rPr lang="de-DE" sz="1400" dirty="0">
                <a:solidFill>
                  <a:srgbClr val="0071B2"/>
                </a:solidFill>
                <a:latin typeface="Source Sans Pro" panose="020B0503030403020204" pitchFamily="34" charset="0"/>
              </a:rPr>
              <a:t>Beispiel + Syntax</a:t>
            </a:r>
          </a:p>
          <a:p>
            <a:pPr lvl="3"/>
            <a:endParaRPr lang="de-DE" sz="1400" dirty="0">
              <a:solidFill>
                <a:srgbClr val="0071B2"/>
              </a:solidFill>
              <a:latin typeface="Source Sans Pro" panose="020B0503030403020204" pitchFamily="34" charset="0"/>
            </a:endParaRPr>
          </a:p>
          <a:p>
            <a:pPr marL="1257300" lvl="2" indent="-342900">
              <a:buFont typeface="Arial" panose="020B0604020202020204" pitchFamily="34" charset="0"/>
              <a:buChar char="•"/>
            </a:pPr>
            <a:r>
              <a:rPr lang="de-DE" sz="2400" b="1" dirty="0">
                <a:solidFill>
                  <a:srgbClr val="0071B2"/>
                </a:solidFill>
                <a:latin typeface="Source Sans Pro" panose="020B0503030403020204" pitchFamily="34" charset="0"/>
              </a:rPr>
              <a:t>UNION</a:t>
            </a:r>
          </a:p>
          <a:p>
            <a:pPr lvl="2"/>
            <a:endParaRPr lang="de-DE" sz="800" b="1" dirty="0">
              <a:solidFill>
                <a:srgbClr val="0071B2"/>
              </a:solidFill>
              <a:latin typeface="Source Sans Pro" panose="020B0503030403020204" pitchFamily="34" charset="0"/>
            </a:endParaRPr>
          </a:p>
          <a:p>
            <a:pPr marL="1714500" lvl="3" indent="-342900">
              <a:buFont typeface="Courier New" panose="02070309020205020404" pitchFamily="49" charset="0"/>
              <a:buChar char="o"/>
            </a:pPr>
            <a:r>
              <a:rPr lang="de-DE" sz="1400" dirty="0">
                <a:solidFill>
                  <a:srgbClr val="0071B2"/>
                </a:solidFill>
                <a:latin typeface="Source Sans Pro" panose="020B0503030403020204" pitchFamily="34" charset="0"/>
              </a:rPr>
              <a:t>Definition + Motivation</a:t>
            </a:r>
          </a:p>
          <a:p>
            <a:pPr marL="1714500" lvl="3" indent="-342900">
              <a:buFont typeface="Courier New" panose="02070309020205020404" pitchFamily="49" charset="0"/>
              <a:buChar char="o"/>
            </a:pPr>
            <a:r>
              <a:rPr lang="de-DE" sz="1400" dirty="0">
                <a:solidFill>
                  <a:srgbClr val="0071B2"/>
                </a:solidFill>
                <a:latin typeface="Source Sans Pro" panose="020B0503030403020204" pitchFamily="34" charset="0"/>
              </a:rPr>
              <a:t>Beispiele + Syntax</a:t>
            </a:r>
          </a:p>
          <a:p>
            <a:pPr marL="1714500" lvl="3" indent="-342900">
              <a:buFont typeface="Courier New" panose="02070309020205020404" pitchFamily="49" charset="0"/>
              <a:buChar char="o"/>
            </a:pPr>
            <a:r>
              <a:rPr lang="de-DE" sz="1400" dirty="0">
                <a:solidFill>
                  <a:srgbClr val="0071B2"/>
                </a:solidFill>
                <a:latin typeface="Source Sans Pro" panose="020B0503030403020204" pitchFamily="34" charset="0"/>
              </a:rPr>
              <a:t>Differenzierung zu UNION ALL</a:t>
            </a:r>
          </a:p>
          <a:p>
            <a:pPr marL="1714500" lvl="3" indent="-342900">
              <a:buFont typeface="Courier New" panose="02070309020205020404" pitchFamily="49" charset="0"/>
              <a:buChar char="o"/>
            </a:pPr>
            <a:r>
              <a:rPr lang="de-DE" sz="1400" dirty="0">
                <a:solidFill>
                  <a:srgbClr val="0071B2"/>
                </a:solidFill>
                <a:latin typeface="Source Sans Pro" panose="020B0503030403020204" pitchFamily="34" charset="0"/>
              </a:rPr>
              <a:t>Anwendung bzgl. FULL JOIN</a:t>
            </a:r>
          </a:p>
          <a:p>
            <a:pPr lvl="3"/>
            <a:endParaRPr lang="de-DE" sz="800" dirty="0">
              <a:solidFill>
                <a:srgbClr val="0071B2"/>
              </a:solidFill>
              <a:latin typeface="Source Sans Pro" panose="020B0503030403020204" pitchFamily="34" charset="0"/>
            </a:endParaRPr>
          </a:p>
          <a:p>
            <a:pPr lvl="3"/>
            <a:endParaRPr lang="de-DE" sz="800" dirty="0">
              <a:latin typeface="Source Sans Pro" panose="020B0503030403020204" pitchFamily="34" charset="0"/>
            </a:endParaRPr>
          </a:p>
        </p:txBody>
      </p:sp>
    </p:spTree>
    <p:extLst>
      <p:ext uri="{BB962C8B-B14F-4D97-AF65-F5344CB8AC3E}">
        <p14:creationId xmlns:p14="http://schemas.microsoft.com/office/powerpoint/2010/main" val="4092280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15" end="15"/>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16" end="16"/>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
                                            <p:txEl>
                                              <p:pRg st="18" end="18"/>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
                                            <p:txEl>
                                              <p:pRg st="20" end="2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6">
                                            <p:txEl>
                                              <p:pRg st="21" end="21"/>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
                                            <p:txEl>
                                              <p:pRg st="22" end="22"/>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6">
                                            <p:txEl>
                                              <p:pRg st="23" end="2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6600" dirty="0">
                <a:latin typeface="Source Sans Pro" panose="020B0503030403020204" pitchFamily="34" charset="0"/>
              </a:rPr>
              <a:t>ON</a:t>
            </a:r>
            <a:r>
              <a:rPr lang="de-DE" sz="3600" dirty="0">
                <a:latin typeface="Source Sans Pro" panose="020B0503030403020204" pitchFamily="34" charset="0"/>
              </a:rPr>
              <a:t> </a:t>
            </a:r>
            <a:r>
              <a:rPr lang="de-DE" sz="1400" dirty="0">
                <a:latin typeface="Source Sans Pro" panose="020B0503030403020204" pitchFamily="34" charset="0"/>
              </a:rPr>
              <a:t>[</a:t>
            </a:r>
            <a:r>
              <a:rPr lang="de-DE" sz="1400" dirty="0">
                <a:solidFill>
                  <a:schemeClr val="accent2"/>
                </a:solidFill>
                <a:latin typeface="Source Sans Pro" panose="020B0503030403020204" pitchFamily="34" charset="0"/>
              </a:rPr>
              <a:t>UPDATE</a:t>
            </a:r>
            <a:r>
              <a:rPr lang="de-DE" sz="1400" dirty="0">
                <a:latin typeface="Source Sans Pro" panose="020B0503030403020204" pitchFamily="34" charset="0"/>
              </a:rPr>
              <a:t>, </a:t>
            </a:r>
            <a:r>
              <a:rPr lang="de-DE" sz="1400" dirty="0">
                <a:solidFill>
                  <a:schemeClr val="accent2"/>
                </a:solidFill>
                <a:latin typeface="Source Sans Pro" panose="020B0503030403020204" pitchFamily="34" charset="0"/>
              </a:rPr>
              <a:t>DELETE</a:t>
            </a:r>
            <a:r>
              <a:rPr lang="de-DE" sz="1400" dirty="0">
                <a:latin typeface="Source Sans Pro" panose="020B0503030403020204" pitchFamily="34" charset="0"/>
              </a:rPr>
              <a:t>] </a:t>
            </a:r>
            <a:r>
              <a:rPr lang="de-DE" sz="6600" dirty="0">
                <a:latin typeface="Source Sans Pro" panose="020B0503030403020204" pitchFamily="34" charset="0"/>
              </a:rPr>
              <a:t>RESTRICT</a:t>
            </a:r>
          </a:p>
          <a:p>
            <a:endParaRPr lang="de-DE" sz="5400" dirty="0">
              <a:latin typeface="Source Sans Pro" panose="020B0503030403020204" pitchFamily="34" charset="0"/>
            </a:endParaRPr>
          </a:p>
        </p:txBody>
      </p:sp>
    </p:spTree>
    <p:extLst>
      <p:ext uri="{BB962C8B-B14F-4D97-AF65-F5344CB8AC3E}">
        <p14:creationId xmlns:p14="http://schemas.microsoft.com/office/powerpoint/2010/main" val="9375962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576626" y="1829016"/>
            <a:ext cx="11615374" cy="36009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noProof="0" dirty="0">
                <a:solidFill>
                  <a:srgbClr val="0071B2"/>
                </a:solidFill>
                <a:latin typeface="Source Sans Pro" panose="020B0503030403020204" pitchFamily="34" charset="0"/>
              </a:rPr>
              <a:t>Referenzoptionen sind </a:t>
            </a:r>
            <a:r>
              <a:rPr lang="de-DE" sz="2400" b="1" noProof="0" dirty="0">
                <a:solidFill>
                  <a:srgbClr val="0071B2"/>
                </a:solidFill>
                <a:latin typeface="Source Sans Pro" panose="020B0503030403020204" pitchFamily="34" charset="0"/>
              </a:rPr>
              <a:t>Constraints</a:t>
            </a:r>
            <a:r>
              <a:rPr lang="de-DE" sz="2400" noProof="0" dirty="0">
                <a:solidFill>
                  <a:srgbClr val="0071B2"/>
                </a:solidFill>
                <a:latin typeface="Source Sans Pro" panose="020B0503030403020204" pitchFamily="34" charset="0"/>
              </a:rPr>
              <a:t> der Fremdschlüsselbeziehung. </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a:solidFill>
                  <a:srgbClr val="0071B2"/>
                </a:solidFill>
                <a:latin typeface="Source Sans Pro" panose="020B0503030403020204" pitchFamily="34" charset="0"/>
              </a:rPr>
              <a:t>Sie dienen der bereits angesprochenen </a:t>
            </a:r>
            <a:r>
              <a:rPr lang="de-DE" sz="2400" b="1" dirty="0">
                <a:solidFill>
                  <a:srgbClr val="0071B2"/>
                </a:solidFill>
                <a:latin typeface="Source Sans Pro" panose="020B0503030403020204" pitchFamily="34" charset="0"/>
              </a:rPr>
              <a:t>„Referentiellen Integrität“</a:t>
            </a:r>
            <a:r>
              <a:rPr lang="de-DE" sz="2400" dirty="0">
                <a:solidFill>
                  <a:srgbClr val="0071B2"/>
                </a:solidFill>
                <a:latin typeface="Source Sans Pro" panose="020B0503030403020204" pitchFamily="34" charset="0"/>
              </a:rPr>
              <a:t>.</a:t>
            </a:r>
            <a:endParaRPr lang="de-DE" sz="1400" dirty="0">
              <a:solidFill>
                <a:srgbClr val="0071B2"/>
              </a:solidFill>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marL="342900" lvl="0" indent="-342900">
              <a:buFont typeface="Arial" panose="020B0604020202020204" pitchFamily="34" charset="0"/>
              <a:buChar char="•"/>
              <a:defRPr/>
            </a:pPr>
            <a:r>
              <a:rPr lang="de-DE" sz="2400" noProof="0" dirty="0">
                <a:solidFill>
                  <a:srgbClr val="0071B2"/>
                </a:solidFill>
                <a:latin typeface="Source Sans Pro" panose="020B0503030403020204" pitchFamily="34" charset="0"/>
              </a:rPr>
              <a:t>Entsprechend haben wir auch bereits die Default-Einstellung dieser </a:t>
            </a:r>
          </a:p>
          <a:p>
            <a:pPr lvl="0">
              <a:defRPr/>
            </a:pPr>
            <a:r>
              <a:rPr lang="de-DE" sz="2400" dirty="0">
                <a:solidFill>
                  <a:srgbClr val="0071B2"/>
                </a:solidFill>
                <a:latin typeface="Source Sans Pro" panose="020B0503030403020204" pitchFamily="34" charset="0"/>
              </a:rPr>
              <a:t>      </a:t>
            </a:r>
            <a:r>
              <a:rPr lang="de-DE" sz="2400" noProof="0" dirty="0">
                <a:solidFill>
                  <a:srgbClr val="0071B2"/>
                </a:solidFill>
                <a:latin typeface="Source Sans Pro" panose="020B0503030403020204" pitchFamily="34" charset="0"/>
              </a:rPr>
              <a:t>Constraints kennen gelernt:     </a:t>
            </a:r>
            <a:r>
              <a:rPr lang="de-DE" sz="2400" b="1" dirty="0">
                <a:solidFill>
                  <a:srgbClr val="0071B2"/>
                </a:solidFill>
                <a:latin typeface="Source Sans Pro" panose="020B0503030403020204" pitchFamily="34" charset="0"/>
              </a:rPr>
              <a:t>ON [</a:t>
            </a:r>
            <a:r>
              <a:rPr lang="de-DE" sz="2400" dirty="0">
                <a:solidFill>
                  <a:srgbClr val="0071B2"/>
                </a:solidFill>
                <a:latin typeface="Source Sans Pro" panose="020B0503030403020204" pitchFamily="34" charset="0"/>
              </a:rPr>
              <a:t>UPDATE,DELETE</a:t>
            </a:r>
            <a:r>
              <a:rPr lang="de-DE" sz="2400" b="1" dirty="0">
                <a:solidFill>
                  <a:srgbClr val="0071B2"/>
                </a:solidFill>
                <a:latin typeface="Source Sans Pro" panose="020B0503030403020204" pitchFamily="34" charset="0"/>
              </a:rPr>
              <a:t>] RESTRICT </a:t>
            </a:r>
            <a:endPar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a:solidFill>
                  <a:srgbClr val="0071B2"/>
                </a:solidFill>
                <a:latin typeface="Source Sans Pro" panose="020B0503030403020204" pitchFamily="34" charset="0"/>
              </a:rPr>
              <a:t>Sie führen dazu, dass (bei aktivierter Fremdschlüsselbeziehung) kein</a:t>
            </a:r>
          </a:p>
          <a:p>
            <a:pPr marR="0" lvl="0" algn="l" defTabSz="914400" rtl="0" eaLnBrk="1" fontAlgn="auto" latinLnBrk="0" hangingPunct="1">
              <a:lnSpc>
                <a:spcPct val="100000"/>
              </a:lnSpc>
              <a:spcBef>
                <a:spcPts val="0"/>
              </a:spcBef>
              <a:spcAft>
                <a:spcPts val="0"/>
              </a:spcAft>
              <a:buClrTx/>
              <a:buSzTx/>
              <a:tabLst/>
              <a:defRPr/>
            </a:pPr>
            <a:r>
              <a:rPr lang="de-DE" sz="2400" noProof="0" dirty="0">
                <a:solidFill>
                  <a:srgbClr val="0071B2"/>
                </a:solidFill>
                <a:latin typeface="Source Sans Pro" panose="020B0503030403020204" pitchFamily="34" charset="0"/>
              </a:rPr>
              <a:t>      Primärschlüsselwert eines Datensatzes verändert oder gelöscht werden</a:t>
            </a:r>
          </a:p>
          <a:p>
            <a:pPr marR="0" lvl="0" algn="l" defTabSz="914400" rtl="0" eaLnBrk="1" fontAlgn="auto" latinLnBrk="0" hangingPunct="1">
              <a:lnSpc>
                <a:spcPct val="100000"/>
              </a:lnSpc>
              <a:spcBef>
                <a:spcPts val="0"/>
              </a:spcBef>
              <a:spcAft>
                <a:spcPts val="0"/>
              </a:spcAft>
              <a:buClrTx/>
              <a:buSzTx/>
              <a:tabLst/>
              <a:defRPr/>
            </a:pPr>
            <a:r>
              <a:rPr lang="de-DE" sz="2400" dirty="0">
                <a:solidFill>
                  <a:srgbClr val="0071B2"/>
                </a:solidFill>
                <a:latin typeface="Source Sans Pro" panose="020B0503030403020204" pitchFamily="34" charset="0"/>
              </a:rPr>
              <a:t>      </a:t>
            </a:r>
            <a:r>
              <a:rPr lang="de-DE" sz="2400" noProof="0" dirty="0">
                <a:solidFill>
                  <a:srgbClr val="0071B2"/>
                </a:solidFill>
                <a:latin typeface="Source Sans Pro" panose="020B0503030403020204" pitchFamily="34" charset="0"/>
              </a:rPr>
              <a:t>kann, auf den sich der </a:t>
            </a:r>
            <a:r>
              <a:rPr lang="de-DE" sz="2400" dirty="0">
                <a:solidFill>
                  <a:srgbClr val="0071B2"/>
                </a:solidFill>
                <a:latin typeface="Source Sans Pro" panose="020B0503030403020204" pitchFamily="34" charset="0"/>
              </a:rPr>
              <a:t>F</a:t>
            </a:r>
            <a:r>
              <a:rPr lang="de-DE" sz="2400" noProof="0" dirty="0">
                <a:solidFill>
                  <a:srgbClr val="0071B2"/>
                </a:solidFill>
                <a:latin typeface="Source Sans Pro" panose="020B0503030403020204" pitchFamily="34" charset="0"/>
              </a:rPr>
              <a:t>remdschlüssel eines anderen Datensatzes bezieht.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Definition + Motivation</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Tree>
    <p:extLst>
      <p:ext uri="{BB962C8B-B14F-4D97-AF65-F5344CB8AC3E}">
        <p14:creationId xmlns:p14="http://schemas.microsoft.com/office/powerpoint/2010/main" val="3212439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36321" y="946123"/>
            <a:ext cx="11225694" cy="557075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b="1" dirty="0">
                <a:solidFill>
                  <a:srgbClr val="0071B2"/>
                </a:solidFill>
                <a:latin typeface="Source Sans Pro" panose="020B0503030403020204" pitchFamily="34" charset="0"/>
              </a:rPr>
              <a:t>Aufgabenstellung:</a:t>
            </a:r>
            <a:endParaRPr lang="de-DE" sz="1200" dirty="0">
              <a:solidFill>
                <a:srgbClr val="0070C0"/>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lang="de-DE" dirty="0">
                <a:solidFill>
                  <a:srgbClr val="0070C0"/>
                </a:solidFill>
                <a:latin typeface="Source Sans Pro" panose="020B0503030403020204" pitchFamily="34" charset="0"/>
              </a:rPr>
              <a:t>Aktualisieren Sie bitte die ID von Kunden </a:t>
            </a:r>
            <a:r>
              <a:rPr lang="de-DE" b="1" dirty="0">
                <a:solidFill>
                  <a:srgbClr val="0070C0"/>
                </a:solidFill>
                <a:latin typeface="Source Sans Pro" panose="020B0503030403020204" pitchFamily="34" charset="0"/>
              </a:rPr>
              <a:t>1</a:t>
            </a:r>
            <a:r>
              <a:rPr lang="de-DE" dirty="0">
                <a:solidFill>
                  <a:srgbClr val="0070C0"/>
                </a:solidFill>
                <a:latin typeface="Source Sans Pro" panose="020B0503030403020204" pitchFamily="34" charset="0"/>
              </a:rPr>
              <a:t> auf den neuen Wert 10. </a:t>
            </a:r>
          </a:p>
          <a:p>
            <a:pPr marR="0" lvl="0" algn="l" defTabSz="914400" rtl="0" eaLnBrk="1" fontAlgn="auto" latinLnBrk="0" hangingPunct="1">
              <a:lnSpc>
                <a:spcPct val="100000"/>
              </a:lnSpc>
              <a:spcBef>
                <a:spcPts val="0"/>
              </a:spcBef>
              <a:spcAft>
                <a:spcPts val="0"/>
              </a:spcAft>
              <a:buClrTx/>
              <a:buSzTx/>
              <a:tabLst/>
              <a:defRPr/>
            </a:pPr>
            <a:endParaRPr lang="de-DE" dirty="0">
              <a:solidFill>
                <a:srgbClr val="0070C0"/>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lang="de-DE" dirty="0">
                <a:solidFill>
                  <a:srgbClr val="0070C0"/>
                </a:solidFill>
                <a:latin typeface="Source Sans Pro" panose="020B0503030403020204" pitchFamily="34" charset="0"/>
              </a:rPr>
              <a:t>Da es aktuell noch keinen Kunden mit der ID 10 gibt, ist dieser Wert also noch nicht vergeben, bzw. als neuer Wert einer Kunden-ID zulässig. Dennoch erscheint nach dem folgenden Befehl eine Fehlermeldung:</a:t>
            </a:r>
          </a:p>
          <a:p>
            <a:pPr marR="0" lvl="0" algn="l" defTabSz="914400" rtl="0" eaLnBrk="1" fontAlgn="auto" latinLnBrk="0" hangingPunct="1">
              <a:lnSpc>
                <a:spcPct val="100000"/>
              </a:lnSpc>
              <a:spcBef>
                <a:spcPts val="0"/>
              </a:spcBef>
              <a:spcAft>
                <a:spcPts val="0"/>
              </a:spcAft>
              <a:buClrTx/>
              <a:buSzTx/>
              <a:tabLst/>
              <a:defRPr/>
            </a:pPr>
            <a:endParaRPr lang="de-DE" sz="800" dirty="0">
              <a:solidFill>
                <a:srgbClr val="0070C0"/>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lang="de-DE" dirty="0">
                <a:solidFill>
                  <a:srgbClr val="0070C0"/>
                </a:solidFill>
                <a:latin typeface="Source Sans Pro" panose="020B0503030403020204" pitchFamily="34" charset="0"/>
              </a:rPr>
              <a:t>  	</a:t>
            </a:r>
            <a:r>
              <a:rPr lang="de-DE" sz="2400" b="1" dirty="0">
                <a:solidFill>
                  <a:srgbClr val="0070C0"/>
                </a:solidFill>
                <a:latin typeface="Source Sans Pro" panose="020B0503030403020204" pitchFamily="34" charset="0"/>
              </a:rPr>
              <a:t>UPDATE</a:t>
            </a:r>
            <a:r>
              <a:rPr lang="de-DE" sz="2400" dirty="0">
                <a:solidFill>
                  <a:srgbClr val="0070C0"/>
                </a:solidFill>
                <a:latin typeface="Source Sans Pro" panose="020B0503030403020204" pitchFamily="34" charset="0"/>
              </a:rPr>
              <a:t> Kunde </a:t>
            </a:r>
            <a:r>
              <a:rPr lang="de-DE" sz="2400" b="1" dirty="0">
                <a:solidFill>
                  <a:srgbClr val="0070C0"/>
                </a:solidFill>
                <a:latin typeface="Source Sans Pro" panose="020B0503030403020204" pitchFamily="34" charset="0"/>
              </a:rPr>
              <a:t>SET</a:t>
            </a:r>
            <a:r>
              <a:rPr lang="de-DE" sz="2400" dirty="0">
                <a:solidFill>
                  <a:srgbClr val="0070C0"/>
                </a:solidFill>
                <a:latin typeface="Source Sans Pro" panose="020B0503030403020204" pitchFamily="34" charset="0"/>
              </a:rPr>
              <a:t> Kunde_ID </a:t>
            </a:r>
            <a:r>
              <a:rPr lang="de-DE" sz="2400" b="1" dirty="0">
                <a:solidFill>
                  <a:srgbClr val="0070C0"/>
                </a:solidFill>
                <a:latin typeface="Source Sans Pro" panose="020B0503030403020204" pitchFamily="34" charset="0"/>
              </a:rPr>
              <a:t>= </a:t>
            </a:r>
            <a:r>
              <a:rPr lang="de-DE" sz="2400" dirty="0">
                <a:solidFill>
                  <a:srgbClr val="0070C0"/>
                </a:solidFill>
                <a:latin typeface="Source Sans Pro" panose="020B0503030403020204" pitchFamily="34" charset="0"/>
              </a:rPr>
              <a:t>10 </a:t>
            </a:r>
            <a:r>
              <a:rPr lang="de-DE" sz="2400" b="1" dirty="0">
                <a:solidFill>
                  <a:srgbClr val="0070C0"/>
                </a:solidFill>
                <a:latin typeface="Source Sans Pro" panose="020B0503030403020204" pitchFamily="34" charset="0"/>
              </a:rPr>
              <a:t>WHERE</a:t>
            </a:r>
            <a:r>
              <a:rPr lang="de-DE" sz="2400" dirty="0">
                <a:solidFill>
                  <a:srgbClr val="0070C0"/>
                </a:solidFill>
                <a:latin typeface="Source Sans Pro" panose="020B0503030403020204" pitchFamily="34" charset="0"/>
              </a:rPr>
              <a:t> Kunde_ID </a:t>
            </a:r>
            <a:r>
              <a:rPr lang="de-DE" sz="2400" b="1" dirty="0">
                <a:solidFill>
                  <a:srgbClr val="0070C0"/>
                </a:solidFill>
                <a:latin typeface="Source Sans Pro" panose="020B0503030403020204" pitchFamily="34" charset="0"/>
              </a:rPr>
              <a:t>= 1;</a:t>
            </a:r>
          </a:p>
          <a:p>
            <a:pPr marR="0" lvl="0" algn="l" defTabSz="914400" rtl="0" eaLnBrk="1" fontAlgn="auto" latinLnBrk="0" hangingPunct="1">
              <a:lnSpc>
                <a:spcPct val="100000"/>
              </a:lnSpc>
              <a:spcBef>
                <a:spcPts val="0"/>
              </a:spcBef>
              <a:spcAft>
                <a:spcPts val="0"/>
              </a:spcAft>
              <a:buClrTx/>
              <a:buSzTx/>
              <a:tabLst/>
              <a:defRPr/>
            </a:pPr>
            <a:endParaRPr lang="de-DE" dirty="0">
              <a:solidFill>
                <a:srgbClr val="0070C0"/>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lang="de-DE" dirty="0">
              <a:solidFill>
                <a:srgbClr val="0070C0"/>
              </a:solidFill>
              <a:latin typeface="Source Sans Pro" panose="020B0503030403020204" pitchFamily="34" charset="0"/>
            </a:endParaRPr>
          </a:p>
          <a:p>
            <a:pPr lvl="0">
              <a:defRPr/>
            </a:pPr>
            <a:endParaRPr lang="de-DE" dirty="0">
              <a:solidFill>
                <a:srgbClr val="0070C0"/>
              </a:solidFill>
              <a:latin typeface="Source Sans Pro" panose="020B0503030403020204" pitchFamily="34" charset="0"/>
            </a:endParaRPr>
          </a:p>
          <a:p>
            <a:pPr lvl="0">
              <a:defRPr/>
            </a:pPr>
            <a:endParaRPr kumimoji="0" lang="de-DE" b="0" i="0" u="none" strike="noStrike" kern="1200" cap="none" spc="0" normalizeH="0" noProof="0" dirty="0">
              <a:ln>
                <a:noFill/>
              </a:ln>
              <a:solidFill>
                <a:srgbClr val="0070C0"/>
              </a:solidFill>
              <a:effectLst/>
              <a:uLnTx/>
              <a:uFillTx/>
              <a:latin typeface="Source Sans Pro" panose="020B0503030403020204" pitchFamily="34" charset="0"/>
            </a:endParaRPr>
          </a:p>
          <a:p>
            <a:pPr lvl="0">
              <a:defRPr/>
            </a:pPr>
            <a:r>
              <a:rPr lang="de-DE" dirty="0">
                <a:solidFill>
                  <a:srgbClr val="0070C0"/>
                </a:solidFill>
                <a:latin typeface="Source Sans Pro" panose="020B0503030403020204" pitchFamily="34" charset="0"/>
              </a:rPr>
              <a:t>Die selbe Fehlermeldung erscheint im folgenden Fall:</a:t>
            </a:r>
          </a:p>
          <a:p>
            <a:pPr lvl="0">
              <a:defRPr/>
            </a:pPr>
            <a:endParaRPr lang="de-DE" sz="800" dirty="0">
              <a:solidFill>
                <a:srgbClr val="0070C0"/>
              </a:solidFill>
              <a:latin typeface="Source Sans Pro" panose="020B0503030403020204" pitchFamily="34" charset="0"/>
            </a:endParaRPr>
          </a:p>
          <a:p>
            <a:pPr lvl="0">
              <a:defRPr/>
            </a:pPr>
            <a:r>
              <a:rPr lang="de-DE" dirty="0">
                <a:solidFill>
                  <a:srgbClr val="0070C0"/>
                </a:solidFill>
                <a:latin typeface="Source Sans Pro" panose="020B0503030403020204" pitchFamily="34" charset="0"/>
              </a:rPr>
              <a:t>  	</a:t>
            </a:r>
            <a:r>
              <a:rPr lang="de-DE" sz="2400" b="1" dirty="0">
                <a:solidFill>
                  <a:srgbClr val="0070C0"/>
                </a:solidFill>
                <a:latin typeface="Source Sans Pro" panose="020B0503030403020204" pitchFamily="34" charset="0"/>
              </a:rPr>
              <a:t>DELETE FROM</a:t>
            </a:r>
            <a:r>
              <a:rPr lang="de-DE" sz="2400" dirty="0">
                <a:solidFill>
                  <a:srgbClr val="0070C0"/>
                </a:solidFill>
                <a:latin typeface="Source Sans Pro" panose="020B0503030403020204" pitchFamily="34" charset="0"/>
              </a:rPr>
              <a:t> Kunde </a:t>
            </a:r>
            <a:r>
              <a:rPr lang="de-DE" sz="2400" b="1" dirty="0">
                <a:solidFill>
                  <a:srgbClr val="0070C0"/>
                </a:solidFill>
                <a:latin typeface="Source Sans Pro" panose="020B0503030403020204" pitchFamily="34" charset="0"/>
              </a:rPr>
              <a:t>WHERE</a:t>
            </a:r>
            <a:r>
              <a:rPr lang="de-DE" sz="2400" dirty="0">
                <a:solidFill>
                  <a:srgbClr val="0070C0"/>
                </a:solidFill>
                <a:latin typeface="Source Sans Pro" panose="020B0503030403020204" pitchFamily="34" charset="0"/>
              </a:rPr>
              <a:t> Kunde_ID </a:t>
            </a:r>
            <a:r>
              <a:rPr lang="de-DE" sz="2400" b="1" dirty="0">
                <a:solidFill>
                  <a:srgbClr val="0070C0"/>
                </a:solidFill>
                <a:latin typeface="Source Sans Pro" panose="020B0503030403020204" pitchFamily="34" charset="0"/>
              </a:rPr>
              <a:t>= 1;</a:t>
            </a:r>
          </a:p>
          <a:p>
            <a:pPr lvl="0">
              <a:defRPr/>
            </a:pPr>
            <a:endParaRPr lang="de-DE" dirty="0">
              <a:solidFill>
                <a:srgbClr val="0070C0"/>
              </a:solidFill>
              <a:latin typeface="Source Sans Pro" panose="020B0503030403020204" pitchFamily="34" charset="0"/>
            </a:endParaRPr>
          </a:p>
          <a:p>
            <a:pPr>
              <a:defRPr/>
            </a:pPr>
            <a:r>
              <a:rPr lang="de-DE" b="1" dirty="0">
                <a:solidFill>
                  <a:srgbClr val="0070C0"/>
                </a:solidFill>
                <a:latin typeface="Source Sans Pro" panose="020B0503030403020204" pitchFamily="34" charset="0"/>
              </a:rPr>
              <a:t>Die Erklärung für diese Fehlermeldung wird bereits durch deren Kommentar angedeutet: </a:t>
            </a:r>
          </a:p>
          <a:p>
            <a:pPr>
              <a:defRPr/>
            </a:pPr>
            <a:r>
              <a:rPr lang="de-DE" sz="1600" dirty="0">
                <a:solidFill>
                  <a:srgbClr val="0070C0"/>
                </a:solidFill>
                <a:latin typeface="Source Sans Pro" panose="020B0503030403020204" pitchFamily="34" charset="0"/>
              </a:rPr>
              <a:t>In der Tabelle Abrechnung gibt es Datensätze, die sich auf den Kunden </a:t>
            </a:r>
            <a:r>
              <a:rPr lang="de-DE" sz="1600" b="1" dirty="0">
                <a:solidFill>
                  <a:srgbClr val="0070C0"/>
                </a:solidFill>
                <a:latin typeface="Source Sans Pro" panose="020B0503030403020204" pitchFamily="34" charset="0"/>
              </a:rPr>
              <a:t>1</a:t>
            </a:r>
            <a:r>
              <a:rPr lang="de-DE" sz="1600" dirty="0">
                <a:solidFill>
                  <a:srgbClr val="0070C0"/>
                </a:solidFill>
                <a:latin typeface="Source Sans Pro" panose="020B0503030403020204" pitchFamily="34" charset="0"/>
              </a:rPr>
              <a:t> beziehen. Diese Referenz ginge bei einer Änderung der ID (oder dem Löschen des Datensatzes von Kunde </a:t>
            </a:r>
            <a:r>
              <a:rPr lang="de-DE" sz="1600" b="1" dirty="0">
                <a:solidFill>
                  <a:srgbClr val="0070C0"/>
                </a:solidFill>
                <a:latin typeface="Source Sans Pro" panose="020B0503030403020204" pitchFamily="34" charset="0"/>
              </a:rPr>
              <a:t>1</a:t>
            </a:r>
            <a:r>
              <a:rPr lang="de-DE" sz="1600" dirty="0">
                <a:solidFill>
                  <a:srgbClr val="0070C0"/>
                </a:solidFill>
                <a:latin typeface="Source Sans Pro" panose="020B0503030403020204" pitchFamily="34" charset="0"/>
              </a:rPr>
              <a:t>) verloren =&gt; Die </a:t>
            </a:r>
            <a:r>
              <a:rPr lang="de-DE" sz="1600" b="1" dirty="0">
                <a:solidFill>
                  <a:srgbClr val="0070C0"/>
                </a:solidFill>
                <a:latin typeface="Source Sans Pro" panose="020B0503030403020204" pitchFamily="34" charset="0"/>
              </a:rPr>
              <a:t>Referentielle Integrität </a:t>
            </a:r>
            <a:r>
              <a:rPr lang="de-DE" sz="1600" dirty="0">
                <a:solidFill>
                  <a:srgbClr val="0070C0"/>
                </a:solidFill>
                <a:latin typeface="Source Sans Pro" panose="020B0503030403020204" pitchFamily="34" charset="0"/>
              </a:rPr>
              <a:t>der Datenbank wäre verletzt.</a:t>
            </a:r>
          </a:p>
          <a:p>
            <a:pPr>
              <a:defRPr/>
            </a:pPr>
            <a:endParaRPr lang="de-DE" dirty="0">
              <a:solidFill>
                <a:srgbClr val="0071B2"/>
              </a:solidFill>
              <a:latin typeface="Source Sans Pro" panose="020B0503030403020204" pitchFamily="34" charset="0"/>
            </a:endParaRPr>
          </a:p>
          <a:p>
            <a:pPr lvl="0">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lvl="0">
              <a:defRPr/>
            </a:pPr>
            <a:r>
              <a:rPr lang="de-DE" sz="4000" dirty="0">
                <a:solidFill>
                  <a:srgbClr val="0071B2"/>
                </a:solidFill>
                <a:latin typeface="Source Sans Pro" panose="020B0503030403020204" pitchFamily="34" charset="0"/>
              </a:rPr>
              <a:t>Beispiele </a:t>
            </a:r>
            <a:r>
              <a:rPr lang="de-DE" sz="4000" u="sng" dirty="0">
                <a:solidFill>
                  <a:srgbClr val="0071B2"/>
                </a:solidFill>
                <a:latin typeface="Source Sans Pro" panose="020B0503030403020204" pitchFamily="34" charset="0"/>
              </a:rPr>
              <a:t>mit</a:t>
            </a:r>
            <a:r>
              <a:rPr lang="de-DE" sz="4000" dirty="0">
                <a:solidFill>
                  <a:srgbClr val="0071B2"/>
                </a:solidFill>
                <a:latin typeface="Source Sans Pro" panose="020B0503030403020204" pitchFamily="34" charset="0"/>
              </a:rPr>
              <a:t> Fehlermeldungen</a:t>
            </a:r>
            <a:endParaRPr lang="de-DE" sz="4000" b="0" i="1" dirty="0">
              <a:solidFill>
                <a:schemeClr val="accent2"/>
              </a:solidFill>
              <a:latin typeface="Source Sans Pro" panose="020B0503030403020204" pitchFamily="34" charset="0"/>
            </a:endParaRPr>
          </a:p>
        </p:txBody>
      </p:sp>
      <p:pic>
        <p:nvPicPr>
          <p:cNvPr id="2" name="Grafik 1"/>
          <p:cNvPicPr>
            <a:picLocks noChangeAspect="1"/>
          </p:cNvPicPr>
          <p:nvPr/>
        </p:nvPicPr>
        <p:blipFill>
          <a:blip r:embed="rId2"/>
          <a:stretch>
            <a:fillRect/>
          </a:stretch>
        </p:blipFill>
        <p:spPr>
          <a:xfrm>
            <a:off x="736321" y="3248169"/>
            <a:ext cx="10782916" cy="667125"/>
          </a:xfrm>
          <a:prstGeom prst="rect">
            <a:avLst/>
          </a:prstGeom>
          <a:effectLst>
            <a:innerShdw blurRad="114300">
              <a:prstClr val="black"/>
            </a:innerShdw>
          </a:effectLst>
        </p:spPr>
      </p:pic>
    </p:spTree>
    <p:extLst>
      <p:ext uri="{BB962C8B-B14F-4D97-AF65-F5344CB8AC3E}">
        <p14:creationId xmlns:p14="http://schemas.microsoft.com/office/powerpoint/2010/main" val="529657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15" end="1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36321" y="946123"/>
            <a:ext cx="11225694" cy="517064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b="1" dirty="0">
                <a:solidFill>
                  <a:srgbClr val="0071B2"/>
                </a:solidFill>
                <a:latin typeface="Source Sans Pro" panose="020B0503030403020204" pitchFamily="34" charset="0"/>
              </a:rPr>
              <a:t>Aufgabenstellung: </a:t>
            </a:r>
            <a:endParaRPr lang="de-DE" sz="1200"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lang="de-DE" dirty="0">
                <a:solidFill>
                  <a:srgbClr val="0071B2"/>
                </a:solidFill>
                <a:latin typeface="Source Sans Pro" panose="020B0503030403020204" pitchFamily="34" charset="0"/>
              </a:rPr>
              <a:t>Aktualisieren Sie bitte die ID von </a:t>
            </a:r>
            <a:r>
              <a:rPr lang="de-DE" dirty="0">
                <a:solidFill>
                  <a:srgbClr val="0070C0"/>
                </a:solidFill>
                <a:latin typeface="Source Sans Pro" panose="020B0503030403020204" pitchFamily="34" charset="0"/>
              </a:rPr>
              <a:t>Kunden </a:t>
            </a:r>
            <a:r>
              <a:rPr lang="de-DE" b="1" dirty="0">
                <a:solidFill>
                  <a:srgbClr val="0070C0"/>
                </a:solidFill>
                <a:latin typeface="Source Sans Pro" panose="020B0503030403020204" pitchFamily="34" charset="0"/>
              </a:rPr>
              <a:t>6</a:t>
            </a:r>
            <a:r>
              <a:rPr lang="de-DE" dirty="0">
                <a:solidFill>
                  <a:srgbClr val="0070C0"/>
                </a:solidFill>
                <a:latin typeface="Source Sans Pro" panose="020B0503030403020204" pitchFamily="34" charset="0"/>
              </a:rPr>
              <a:t> auf den neuen Wert 10. </a:t>
            </a:r>
          </a:p>
          <a:p>
            <a:pPr marR="0" lvl="0" algn="l" defTabSz="914400" rtl="0" eaLnBrk="1" fontAlgn="auto" latinLnBrk="0" hangingPunct="1">
              <a:lnSpc>
                <a:spcPct val="100000"/>
              </a:lnSpc>
              <a:spcBef>
                <a:spcPts val="0"/>
              </a:spcBef>
              <a:spcAft>
                <a:spcPts val="0"/>
              </a:spcAft>
              <a:buClrTx/>
              <a:buSzTx/>
              <a:tabLst/>
              <a:defRPr/>
            </a:pPr>
            <a:endParaRPr lang="de-DE" dirty="0">
              <a:solidFill>
                <a:srgbClr val="0070C0"/>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lang="de-DE" dirty="0">
                <a:solidFill>
                  <a:srgbClr val="0070C0"/>
                </a:solidFill>
                <a:latin typeface="Source Sans Pro" panose="020B0503030403020204" pitchFamily="34" charset="0"/>
              </a:rPr>
              <a:t>Weiterhin gilt: Da es aktuell noch keinen Kunden mit der ID </a:t>
            </a:r>
            <a:r>
              <a:rPr lang="de-DE" b="1" dirty="0">
                <a:solidFill>
                  <a:srgbClr val="0070C0"/>
                </a:solidFill>
                <a:latin typeface="Source Sans Pro" panose="020B0503030403020204" pitchFamily="34" charset="0"/>
              </a:rPr>
              <a:t>10</a:t>
            </a:r>
            <a:r>
              <a:rPr lang="de-DE" dirty="0">
                <a:solidFill>
                  <a:srgbClr val="0070C0"/>
                </a:solidFill>
                <a:latin typeface="Source Sans Pro" panose="020B0503030403020204" pitchFamily="34" charset="0"/>
              </a:rPr>
              <a:t> gibt, ist dieser Wert also noch nicht vergeben, bzw. als neuer Wert einer Kunden-ID zulässig. Diesmal erscheint jedoch keine Fehlermeldung:</a:t>
            </a:r>
          </a:p>
          <a:p>
            <a:pPr marR="0" lvl="0" algn="l" defTabSz="914400" rtl="0" eaLnBrk="1" fontAlgn="auto" latinLnBrk="0" hangingPunct="1">
              <a:lnSpc>
                <a:spcPct val="100000"/>
              </a:lnSpc>
              <a:spcBef>
                <a:spcPts val="0"/>
              </a:spcBef>
              <a:spcAft>
                <a:spcPts val="0"/>
              </a:spcAft>
              <a:buClrTx/>
              <a:buSzTx/>
              <a:tabLst/>
              <a:defRPr/>
            </a:pPr>
            <a:endParaRPr lang="de-DE" sz="800"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lang="de-DE" dirty="0">
                <a:solidFill>
                  <a:srgbClr val="0071B2"/>
                </a:solidFill>
                <a:latin typeface="Source Sans Pro" panose="020B0503030403020204" pitchFamily="34" charset="0"/>
              </a:rPr>
              <a:t>  </a:t>
            </a:r>
            <a:r>
              <a:rPr lang="de-DE" sz="2400" b="1" dirty="0">
                <a:solidFill>
                  <a:srgbClr val="0071B2"/>
                </a:solidFill>
                <a:latin typeface="Source Sans Pro" panose="020B0503030403020204" pitchFamily="34" charset="0"/>
              </a:rPr>
              <a:t>UPDATE</a:t>
            </a:r>
            <a:r>
              <a:rPr lang="de-DE" sz="2400" dirty="0">
                <a:solidFill>
                  <a:srgbClr val="0071B2"/>
                </a:solidFill>
                <a:latin typeface="Source Sans Pro" panose="020B0503030403020204" pitchFamily="34" charset="0"/>
              </a:rPr>
              <a:t> Kunde </a:t>
            </a:r>
            <a:r>
              <a:rPr lang="de-DE" sz="2400" b="1" dirty="0">
                <a:solidFill>
                  <a:srgbClr val="0071B2"/>
                </a:solidFill>
                <a:latin typeface="Source Sans Pro" panose="020B0503030403020204" pitchFamily="34" charset="0"/>
              </a:rPr>
              <a:t>SET</a:t>
            </a:r>
            <a:r>
              <a:rPr lang="de-DE" sz="2400" dirty="0">
                <a:solidFill>
                  <a:srgbClr val="0071B2"/>
                </a:solidFill>
                <a:latin typeface="Source Sans Pro" panose="020B0503030403020204" pitchFamily="34" charset="0"/>
              </a:rPr>
              <a:t> </a:t>
            </a:r>
            <a:r>
              <a:rPr lang="de-DE" sz="2400" dirty="0">
                <a:solidFill>
                  <a:srgbClr val="0070C0"/>
                </a:solidFill>
                <a:latin typeface="Source Sans Pro" panose="020B0503030403020204" pitchFamily="34" charset="0"/>
              </a:rPr>
              <a:t>Kunde_ID </a:t>
            </a:r>
            <a:r>
              <a:rPr lang="de-DE" sz="2400" b="1" dirty="0">
                <a:solidFill>
                  <a:srgbClr val="0070C0"/>
                </a:solidFill>
                <a:latin typeface="Source Sans Pro" panose="020B0503030403020204" pitchFamily="34" charset="0"/>
              </a:rPr>
              <a:t>= 10</a:t>
            </a:r>
            <a:r>
              <a:rPr lang="de-DE" sz="2400" dirty="0">
                <a:solidFill>
                  <a:srgbClr val="0070C0"/>
                </a:solidFill>
                <a:latin typeface="Source Sans Pro" panose="020B0503030403020204" pitchFamily="34" charset="0"/>
              </a:rPr>
              <a:t> </a:t>
            </a:r>
            <a:r>
              <a:rPr lang="de-DE" sz="2400" b="1" dirty="0">
                <a:solidFill>
                  <a:srgbClr val="0070C0"/>
                </a:solidFill>
                <a:latin typeface="Source Sans Pro" panose="020B0503030403020204" pitchFamily="34" charset="0"/>
              </a:rPr>
              <a:t>WHERE</a:t>
            </a:r>
            <a:r>
              <a:rPr lang="de-DE" sz="2400" dirty="0">
                <a:solidFill>
                  <a:srgbClr val="0070C0"/>
                </a:solidFill>
                <a:latin typeface="Source Sans Pro" panose="020B0503030403020204" pitchFamily="34" charset="0"/>
              </a:rPr>
              <a:t> Kunde_ID </a:t>
            </a:r>
            <a:r>
              <a:rPr lang="de-DE" sz="2400" b="1" dirty="0">
                <a:solidFill>
                  <a:srgbClr val="0070C0"/>
                </a:solidFill>
                <a:latin typeface="Source Sans Pro" panose="020B0503030403020204" pitchFamily="34" charset="0"/>
              </a:rPr>
              <a:t>= 6;</a:t>
            </a:r>
          </a:p>
          <a:p>
            <a:pPr marR="0" lvl="0" algn="l" defTabSz="914400" rtl="0" eaLnBrk="1" fontAlgn="auto" latinLnBrk="0" hangingPunct="1">
              <a:lnSpc>
                <a:spcPct val="100000"/>
              </a:lnSpc>
              <a:spcBef>
                <a:spcPts val="0"/>
              </a:spcBef>
              <a:spcAft>
                <a:spcPts val="0"/>
              </a:spcAft>
              <a:buClrTx/>
              <a:buSzTx/>
              <a:tabLst/>
              <a:defRPr/>
            </a:pPr>
            <a:endParaRPr lang="de-DE"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lang="de-DE" dirty="0">
              <a:solidFill>
                <a:srgbClr val="0071B2"/>
              </a:solidFill>
              <a:latin typeface="Source Sans Pro" panose="020B0503030403020204" pitchFamily="34" charset="0"/>
            </a:endParaRPr>
          </a:p>
          <a:p>
            <a:pPr lvl="0">
              <a:defRPr/>
            </a:pPr>
            <a:endParaRPr lang="de-DE" dirty="0">
              <a:solidFill>
                <a:srgbClr val="0071B2"/>
              </a:solidFill>
              <a:latin typeface="Source Sans Pro" panose="020B0503030403020204" pitchFamily="34" charset="0"/>
            </a:endParaRPr>
          </a:p>
          <a:p>
            <a:pPr lvl="0">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r>
              <a:rPr lang="de-DE" dirty="0">
                <a:solidFill>
                  <a:srgbClr val="0071B2"/>
                </a:solidFill>
                <a:latin typeface="Source Sans Pro" panose="020B0503030403020204" pitchFamily="34" charset="0"/>
              </a:rPr>
              <a:t>Auch der folgende Code wird ohne Fehlermeldung ausgeführt:</a:t>
            </a:r>
          </a:p>
          <a:p>
            <a:pPr lvl="0">
              <a:defRPr/>
            </a:pPr>
            <a:endParaRPr lang="de-DE" sz="800" dirty="0">
              <a:solidFill>
                <a:srgbClr val="0071B2"/>
              </a:solidFill>
              <a:latin typeface="Source Sans Pro" panose="020B0503030403020204" pitchFamily="34" charset="0"/>
            </a:endParaRPr>
          </a:p>
          <a:p>
            <a:pPr lvl="0">
              <a:defRPr/>
            </a:pPr>
            <a:r>
              <a:rPr lang="de-DE" dirty="0">
                <a:solidFill>
                  <a:srgbClr val="0071B2"/>
                </a:solidFill>
                <a:latin typeface="Source Sans Pro" panose="020B0503030403020204" pitchFamily="34" charset="0"/>
              </a:rPr>
              <a:t>  </a:t>
            </a:r>
            <a:r>
              <a:rPr lang="de-DE" sz="2400" b="1" dirty="0">
                <a:solidFill>
                  <a:srgbClr val="0071B2"/>
                </a:solidFill>
                <a:latin typeface="Source Sans Pro" panose="020B0503030403020204" pitchFamily="34" charset="0"/>
              </a:rPr>
              <a:t>DELETE FROM</a:t>
            </a:r>
            <a:r>
              <a:rPr lang="de-DE" sz="2400" dirty="0">
                <a:solidFill>
                  <a:srgbClr val="0071B2"/>
                </a:solidFill>
                <a:latin typeface="Source Sans Pro" panose="020B0503030403020204" pitchFamily="34" charset="0"/>
              </a:rPr>
              <a:t> Kunde </a:t>
            </a:r>
            <a:r>
              <a:rPr lang="de-DE" sz="2400" b="1" dirty="0">
                <a:solidFill>
                  <a:srgbClr val="0071B2"/>
                </a:solidFill>
                <a:latin typeface="Source Sans Pro" panose="020B0503030403020204" pitchFamily="34" charset="0"/>
              </a:rPr>
              <a:t>WHERE</a:t>
            </a:r>
            <a:r>
              <a:rPr lang="de-DE" sz="2400" dirty="0">
                <a:solidFill>
                  <a:srgbClr val="0071B2"/>
                </a:solidFill>
                <a:latin typeface="Source Sans Pro" panose="020B0503030403020204" pitchFamily="34" charset="0"/>
              </a:rPr>
              <a:t> Kunde_ID </a:t>
            </a:r>
            <a:r>
              <a:rPr lang="de-DE" sz="2400" b="1" dirty="0">
                <a:solidFill>
                  <a:srgbClr val="0071B2"/>
                </a:solidFill>
                <a:latin typeface="Source Sans Pro" panose="020B0503030403020204" pitchFamily="34" charset="0"/>
              </a:rPr>
              <a:t>= </a:t>
            </a:r>
            <a:r>
              <a:rPr lang="de-DE" sz="2400" b="1" dirty="0">
                <a:solidFill>
                  <a:srgbClr val="0070C0"/>
                </a:solidFill>
                <a:latin typeface="Source Sans Pro" panose="020B0503030403020204" pitchFamily="34" charset="0"/>
              </a:rPr>
              <a:t>10;</a:t>
            </a:r>
          </a:p>
          <a:p>
            <a:pPr lvl="0">
              <a:defRPr/>
            </a:pPr>
            <a:endParaRPr lang="de-DE" sz="2400" b="1" dirty="0">
              <a:solidFill>
                <a:srgbClr val="0071B2"/>
              </a:solidFill>
              <a:latin typeface="Source Sans Pro" panose="020B0503030403020204" pitchFamily="34" charset="0"/>
            </a:endParaRPr>
          </a:p>
          <a:p>
            <a:pPr lvl="0">
              <a:defRPr/>
            </a:pPr>
            <a:endParaRPr lang="de-DE" dirty="0">
              <a:solidFill>
                <a:srgbClr val="0071B2"/>
              </a:solidFill>
              <a:latin typeface="Source Sans Pro" panose="020B0503030403020204" pitchFamily="34" charset="0"/>
            </a:endParaRPr>
          </a:p>
          <a:p>
            <a:pPr>
              <a:defRPr/>
            </a:pPr>
            <a:endParaRPr lang="de-DE" dirty="0">
              <a:solidFill>
                <a:srgbClr val="0071B2"/>
              </a:solidFill>
              <a:latin typeface="Source Sans Pro" panose="020B0503030403020204" pitchFamily="34" charset="0"/>
            </a:endParaRPr>
          </a:p>
          <a:p>
            <a:pPr lvl="0">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lvl="0">
              <a:defRPr/>
            </a:pPr>
            <a:r>
              <a:rPr lang="de-DE" sz="4000" dirty="0">
                <a:solidFill>
                  <a:srgbClr val="0071B2"/>
                </a:solidFill>
                <a:latin typeface="Source Sans Pro" panose="020B0503030403020204" pitchFamily="34" charset="0"/>
              </a:rPr>
              <a:t>Beispiele </a:t>
            </a:r>
            <a:r>
              <a:rPr lang="de-DE" sz="4000" u="sng" dirty="0">
                <a:solidFill>
                  <a:srgbClr val="0071B2"/>
                </a:solidFill>
                <a:latin typeface="Source Sans Pro" panose="020B0503030403020204" pitchFamily="34" charset="0"/>
              </a:rPr>
              <a:t>ohne</a:t>
            </a:r>
            <a:r>
              <a:rPr lang="de-DE" sz="4000" dirty="0">
                <a:solidFill>
                  <a:srgbClr val="0071B2"/>
                </a:solidFill>
                <a:latin typeface="Source Sans Pro" panose="020B0503030403020204" pitchFamily="34" charset="0"/>
              </a:rPr>
              <a:t> Fehlermeldung</a:t>
            </a:r>
            <a:endParaRPr lang="de-DE" sz="4000" b="0" i="1" dirty="0">
              <a:solidFill>
                <a:schemeClr val="accent2"/>
              </a:solidFill>
              <a:latin typeface="Source Sans Pro" panose="020B0503030403020204" pitchFamily="34" charset="0"/>
            </a:endParaRPr>
          </a:p>
        </p:txBody>
      </p:sp>
      <p:sp>
        <p:nvSpPr>
          <p:cNvPr id="9" name="Textfeld 8"/>
          <p:cNvSpPr txBox="1"/>
          <p:nvPr/>
        </p:nvSpPr>
        <p:spPr>
          <a:xfrm>
            <a:off x="4482353" y="3565435"/>
            <a:ext cx="4118307" cy="276999"/>
          </a:xfrm>
          <a:prstGeom prst="rect">
            <a:avLst/>
          </a:prstGeom>
          <a:noFill/>
        </p:spPr>
        <p:txBody>
          <a:bodyPr wrap="none" rtlCol="0">
            <a:spAutoFit/>
          </a:bodyPr>
          <a:lstStyle/>
          <a:p>
            <a:r>
              <a:rPr lang="de-DE" sz="1200" b="1" dirty="0">
                <a:solidFill>
                  <a:srgbClr val="FF0000"/>
                </a:solidFill>
              </a:rPr>
              <a:t>Gala Nieda hatte bisher die Kunde-ID 6. Nun lautet ihre ID 10:</a:t>
            </a:r>
          </a:p>
        </p:txBody>
      </p:sp>
      <p:sp>
        <p:nvSpPr>
          <p:cNvPr id="13" name="Rechteck 12"/>
          <p:cNvSpPr/>
          <p:nvPr/>
        </p:nvSpPr>
        <p:spPr>
          <a:xfrm>
            <a:off x="174538" y="5429475"/>
            <a:ext cx="11870575" cy="127494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00" b="1" dirty="0">
              <a:solidFill>
                <a:schemeClr val="accent2"/>
              </a:solidFill>
              <a:latin typeface="Source Sans Pro" panose="020B0503030403020204" pitchFamily="34" charset="0"/>
            </a:endParaRPr>
          </a:p>
          <a:p>
            <a:pPr algn="ctr"/>
            <a:r>
              <a:rPr lang="de-DE" sz="2000" b="1" dirty="0">
                <a:solidFill>
                  <a:schemeClr val="tx1"/>
                </a:solidFill>
              </a:rPr>
              <a:t>Erklärung:</a:t>
            </a:r>
          </a:p>
          <a:p>
            <a:pPr algn="ctr"/>
            <a:endParaRPr lang="de-DE" sz="800" b="1" dirty="0">
              <a:solidFill>
                <a:schemeClr val="tx1"/>
              </a:solidFill>
            </a:endParaRPr>
          </a:p>
          <a:p>
            <a:pPr algn="ctr"/>
            <a:r>
              <a:rPr lang="de-DE" sz="1200" dirty="0">
                <a:solidFill>
                  <a:schemeClr val="tx1"/>
                </a:solidFill>
              </a:rPr>
              <a:t>Gala Nieda hat nie die Seite von „Geld_her“ besucht.</a:t>
            </a:r>
          </a:p>
          <a:p>
            <a:pPr algn="ctr"/>
            <a:r>
              <a:rPr lang="de-DE" sz="1200" dirty="0">
                <a:solidFill>
                  <a:schemeClr val="tx1"/>
                </a:solidFill>
              </a:rPr>
              <a:t>Es gibt also </a:t>
            </a:r>
            <a:r>
              <a:rPr lang="de-DE" sz="1200" u="sng" dirty="0">
                <a:solidFill>
                  <a:schemeClr val="tx1"/>
                </a:solidFill>
              </a:rPr>
              <a:t>keine</a:t>
            </a:r>
            <a:r>
              <a:rPr lang="de-DE" sz="1200" dirty="0">
                <a:solidFill>
                  <a:schemeClr val="tx1"/>
                </a:solidFill>
              </a:rPr>
              <a:t> Abrechnung, deren Fremdschlüsselwert auf Gala Nieda verweist.</a:t>
            </a:r>
          </a:p>
          <a:p>
            <a:pPr algn="ctr"/>
            <a:r>
              <a:rPr lang="de-DE" sz="1200" dirty="0">
                <a:solidFill>
                  <a:schemeClr val="tx1"/>
                </a:solidFill>
              </a:rPr>
              <a:t>Daher kann Gala Niedas ID verändert werden, oder sogar ihr gesamter Datensatz gelöscht werden, ohne dass dadurch die Referentielle Integrität verletzt wird.</a:t>
            </a:r>
          </a:p>
          <a:p>
            <a:pPr algn="ctr"/>
            <a:endParaRPr lang="de-DE" sz="1200" dirty="0">
              <a:solidFill>
                <a:schemeClr val="tx1"/>
              </a:solidFill>
            </a:endParaRPr>
          </a:p>
        </p:txBody>
      </p:sp>
      <p:sp>
        <p:nvSpPr>
          <p:cNvPr id="15" name="Textfeld 14"/>
          <p:cNvSpPr txBox="1"/>
          <p:nvPr/>
        </p:nvSpPr>
        <p:spPr>
          <a:xfrm>
            <a:off x="8600660" y="4970706"/>
            <a:ext cx="1806713" cy="276999"/>
          </a:xfrm>
          <a:prstGeom prst="rect">
            <a:avLst/>
          </a:prstGeom>
          <a:noFill/>
        </p:spPr>
        <p:txBody>
          <a:bodyPr wrap="none" rtlCol="0">
            <a:spAutoFit/>
          </a:bodyPr>
          <a:lstStyle/>
          <a:p>
            <a:r>
              <a:rPr lang="de-DE" sz="1200" b="1" dirty="0">
                <a:solidFill>
                  <a:srgbClr val="FF0000"/>
                </a:solidFill>
              </a:rPr>
              <a:t>Kunde10 wurde gelöscht</a:t>
            </a:r>
          </a:p>
        </p:txBody>
      </p:sp>
      <p:pic>
        <p:nvPicPr>
          <p:cNvPr id="2" name="Grafik 1"/>
          <p:cNvPicPr>
            <a:picLocks noChangeAspect="1"/>
          </p:cNvPicPr>
          <p:nvPr/>
        </p:nvPicPr>
        <p:blipFill>
          <a:blip r:embed="rId2"/>
          <a:stretch>
            <a:fillRect/>
          </a:stretch>
        </p:blipFill>
        <p:spPr>
          <a:xfrm>
            <a:off x="8546853" y="2575026"/>
            <a:ext cx="1866354" cy="1202139"/>
          </a:xfrm>
          <a:prstGeom prst="rect">
            <a:avLst/>
          </a:prstGeom>
          <a:effectLst>
            <a:innerShdw blurRad="114300">
              <a:prstClr val="black"/>
            </a:innerShdw>
          </a:effectLst>
        </p:spPr>
      </p:pic>
      <p:sp>
        <p:nvSpPr>
          <p:cNvPr id="7" name="Rechteck 6"/>
          <p:cNvSpPr/>
          <p:nvPr/>
        </p:nvSpPr>
        <p:spPr>
          <a:xfrm>
            <a:off x="8546853" y="3630706"/>
            <a:ext cx="1866354" cy="14645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1" name="Grafik 10"/>
          <p:cNvPicPr>
            <a:picLocks noChangeAspect="1"/>
          </p:cNvPicPr>
          <p:nvPr/>
        </p:nvPicPr>
        <p:blipFill>
          <a:blip r:embed="rId3"/>
          <a:stretch>
            <a:fillRect/>
          </a:stretch>
        </p:blipFill>
        <p:spPr>
          <a:xfrm>
            <a:off x="8546853" y="3942579"/>
            <a:ext cx="1866354" cy="1035316"/>
          </a:xfrm>
          <a:prstGeom prst="rect">
            <a:avLst/>
          </a:prstGeom>
          <a:effectLst>
            <a:innerShdw blurRad="114300">
              <a:prstClr val="black"/>
            </a:innerShdw>
          </a:effectLst>
        </p:spPr>
      </p:pic>
    </p:spTree>
    <p:extLst>
      <p:ext uri="{BB962C8B-B14F-4D97-AF65-F5344CB8AC3E}">
        <p14:creationId xmlns:p14="http://schemas.microsoft.com/office/powerpoint/2010/main" val="1376714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xEl>
                                              <p:pRg st="13" end="1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6" name="Textfeld 5"/>
          <p:cNvSpPr txBox="1"/>
          <p:nvPr/>
        </p:nvSpPr>
        <p:spPr>
          <a:xfrm>
            <a:off x="576626" y="1104065"/>
            <a:ext cx="11615374" cy="280076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Wir wurden soeben daran gehindert, den Primärschlüsselwert</a:t>
            </a:r>
            <a:r>
              <a:rPr kumimoji="0" lang="de-DE" sz="24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eines Datensatzes</a:t>
            </a: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zu verändern, auf den sich der Fremdschlüssel eines anderer Datensatzes bezieht.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Ebenso konnten wir keine Datensätze (zusammen mit ihrem Primärschlüsselwert) löschen, auf die sich Fremdschlüssel anderer Datensätze beziehen.</a:t>
            </a:r>
            <a:endParaRPr kumimoji="0" lang="de-DE" sz="1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Dies lag an der</a:t>
            </a:r>
            <a:r>
              <a:rPr kumimoji="0" lang="de-DE" sz="24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Default-Einstellung der Referenzoption, die wir uns durch das DBMS anzeigen lassen können:</a:t>
            </a:r>
            <a:endPar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10194744" cy="720725"/>
          </a:xfrm>
          <a:prstGeom prst="rect">
            <a:avLst/>
          </a:prstGeom>
        </p:spPr>
        <p:txBody>
          <a:bodyPr vert="horz" lIns="91440" tIns="45720" rIns="91440" bIns="45720" rtlCol="0" anchor="t" anchorCtr="0">
            <a:normAutofit fontScale="67500" lnSpcReduction="200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Nachweis,</a:t>
            </a:r>
            <a:r>
              <a:rPr kumimoji="0" lang="de-DE" sz="4000" b="1" i="0" u="none" strike="noStrike" kern="1200" cap="none" spc="0" normalizeH="0" noProof="0" dirty="0">
                <a:ln>
                  <a:noFill/>
                </a:ln>
                <a:solidFill>
                  <a:srgbClr val="0071B2"/>
                </a:solidFill>
                <a:effectLst/>
                <a:uLnTx/>
                <a:uFillTx/>
                <a:latin typeface="Source Sans Pro" panose="020B0503030403020204" pitchFamily="34" charset="0"/>
                <a:ea typeface="+mj-ea"/>
                <a:cs typeface="+mj-cs"/>
              </a:rPr>
              <a:t> dass ON [UPDATE,DELETE] </a:t>
            </a:r>
            <a:r>
              <a:rPr kumimoji="0" lang="de-DE" sz="4000" b="1" i="0" u="none" strike="noStrike" kern="1200" cap="none" spc="0" normalizeH="0" noProof="0" dirty="0">
                <a:ln>
                  <a:noFill/>
                </a:ln>
                <a:solidFill>
                  <a:schemeClr val="accent2"/>
                </a:solidFill>
                <a:effectLst/>
                <a:uLnTx/>
                <a:uFillTx/>
                <a:latin typeface="Source Sans Pro" panose="020B0503030403020204" pitchFamily="34" charset="0"/>
                <a:ea typeface="+mj-ea"/>
                <a:cs typeface="+mj-cs"/>
              </a:rPr>
              <a:t>Default-Einstellungen</a:t>
            </a:r>
            <a:r>
              <a:rPr kumimoji="0" lang="de-DE" sz="4000" b="1" i="0" u="none" strike="noStrike" kern="1200" cap="none" spc="0" normalizeH="0" noProof="0" dirty="0">
                <a:ln>
                  <a:noFill/>
                </a:ln>
                <a:solidFill>
                  <a:srgbClr val="0071B2"/>
                </a:solidFill>
                <a:effectLst/>
                <a:uLnTx/>
                <a:uFillTx/>
                <a:latin typeface="Source Sans Pro" panose="020B0503030403020204" pitchFamily="34" charset="0"/>
                <a:ea typeface="+mj-ea"/>
                <a:cs typeface="+mj-cs"/>
              </a:rPr>
              <a:t> sind</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pic>
        <p:nvPicPr>
          <p:cNvPr id="3" name="Grafik 2"/>
          <p:cNvPicPr>
            <a:picLocks noChangeAspect="1"/>
          </p:cNvPicPr>
          <p:nvPr/>
        </p:nvPicPr>
        <p:blipFill>
          <a:blip r:embed="rId2"/>
          <a:stretch>
            <a:fillRect/>
          </a:stretch>
        </p:blipFill>
        <p:spPr>
          <a:xfrm>
            <a:off x="1033239" y="3904833"/>
            <a:ext cx="1718274" cy="1643204"/>
          </a:xfrm>
          <a:prstGeom prst="rect">
            <a:avLst/>
          </a:prstGeom>
          <a:effectLst>
            <a:innerShdw blurRad="114300">
              <a:prstClr val="black"/>
            </a:innerShdw>
          </a:effectLst>
        </p:spPr>
      </p:pic>
      <p:sp>
        <p:nvSpPr>
          <p:cNvPr id="7" name="Textfeld 6"/>
          <p:cNvSpPr txBox="1"/>
          <p:nvPr/>
        </p:nvSpPr>
        <p:spPr>
          <a:xfrm>
            <a:off x="491432" y="5606952"/>
            <a:ext cx="2746778" cy="461665"/>
          </a:xfrm>
          <a:prstGeom prst="rect">
            <a:avLst/>
          </a:prstGeom>
          <a:noFill/>
        </p:spPr>
        <p:txBody>
          <a:bodyPr wrap="none" rtlCol="0">
            <a:spAutoFit/>
          </a:bodyPr>
          <a:lstStyle/>
          <a:p>
            <a:pPr algn="ctr"/>
            <a:r>
              <a:rPr lang="de-DE" sz="1200" dirty="0">
                <a:solidFill>
                  <a:srgbClr val="FF0000"/>
                </a:solidFill>
              </a:rPr>
              <a:t>Öffnen Sie einfach eine beliebige Tabelle,</a:t>
            </a:r>
          </a:p>
          <a:p>
            <a:pPr algn="ctr"/>
            <a:r>
              <a:rPr lang="de-DE" sz="1200" dirty="0">
                <a:solidFill>
                  <a:srgbClr val="FF0000"/>
                </a:solidFill>
              </a:rPr>
              <a:t>die einen Fremdschlüssel besitzt. </a:t>
            </a:r>
          </a:p>
        </p:txBody>
      </p:sp>
      <p:pic>
        <p:nvPicPr>
          <p:cNvPr id="10" name="Grafik 9"/>
          <p:cNvPicPr>
            <a:picLocks noChangeAspect="1"/>
          </p:cNvPicPr>
          <p:nvPr/>
        </p:nvPicPr>
        <p:blipFill>
          <a:blip r:embed="rId3"/>
          <a:stretch>
            <a:fillRect/>
          </a:stretch>
        </p:blipFill>
        <p:spPr>
          <a:xfrm>
            <a:off x="3122109" y="3904832"/>
            <a:ext cx="4791744" cy="638264"/>
          </a:xfrm>
          <a:prstGeom prst="rect">
            <a:avLst/>
          </a:prstGeom>
          <a:effectLst>
            <a:innerShdw blurRad="114300">
              <a:prstClr val="black"/>
            </a:innerShdw>
          </a:effectLst>
        </p:spPr>
      </p:pic>
      <p:sp>
        <p:nvSpPr>
          <p:cNvPr id="13" name="Rechteck 12"/>
          <p:cNvSpPr/>
          <p:nvPr/>
        </p:nvSpPr>
        <p:spPr>
          <a:xfrm>
            <a:off x="4256605" y="4119772"/>
            <a:ext cx="1040391" cy="42332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Textfeld 13"/>
          <p:cNvSpPr txBox="1"/>
          <p:nvPr/>
        </p:nvSpPr>
        <p:spPr>
          <a:xfrm>
            <a:off x="3181604" y="4602579"/>
            <a:ext cx="4672754" cy="276999"/>
          </a:xfrm>
          <a:prstGeom prst="rect">
            <a:avLst/>
          </a:prstGeom>
          <a:noFill/>
        </p:spPr>
        <p:txBody>
          <a:bodyPr wrap="none" rtlCol="0">
            <a:spAutoFit/>
          </a:bodyPr>
          <a:lstStyle/>
          <a:p>
            <a:pPr algn="ctr"/>
            <a:r>
              <a:rPr lang="de-DE" sz="1200" dirty="0">
                <a:solidFill>
                  <a:srgbClr val="FF0000"/>
                </a:solidFill>
              </a:rPr>
              <a:t>Betrachten Sie anschließend bitte die Struktur der ausgewählten Tabelle</a:t>
            </a:r>
          </a:p>
        </p:txBody>
      </p:sp>
      <p:pic>
        <p:nvPicPr>
          <p:cNvPr id="11" name="Grafik 10"/>
          <p:cNvPicPr>
            <a:picLocks noChangeAspect="1"/>
          </p:cNvPicPr>
          <p:nvPr/>
        </p:nvPicPr>
        <p:blipFill>
          <a:blip r:embed="rId4"/>
          <a:stretch>
            <a:fillRect/>
          </a:stretch>
        </p:blipFill>
        <p:spPr>
          <a:xfrm>
            <a:off x="4178439" y="4937760"/>
            <a:ext cx="2679083" cy="768420"/>
          </a:xfrm>
          <a:prstGeom prst="rect">
            <a:avLst/>
          </a:prstGeom>
          <a:effectLst>
            <a:innerShdw blurRad="114300">
              <a:prstClr val="black"/>
            </a:innerShdw>
          </a:effectLst>
        </p:spPr>
      </p:pic>
      <p:sp>
        <p:nvSpPr>
          <p:cNvPr id="15" name="Flussdiagramm: Grenzstelle 14"/>
          <p:cNvSpPr/>
          <p:nvPr/>
        </p:nvSpPr>
        <p:spPr>
          <a:xfrm>
            <a:off x="5517980" y="5450541"/>
            <a:ext cx="1339542" cy="255639"/>
          </a:xfrm>
          <a:prstGeom prst="flowChartTerminator">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6" name="Textfeld 15"/>
          <p:cNvSpPr txBox="1"/>
          <p:nvPr/>
        </p:nvSpPr>
        <p:spPr>
          <a:xfrm>
            <a:off x="4012343" y="5764362"/>
            <a:ext cx="3011274" cy="276999"/>
          </a:xfrm>
          <a:prstGeom prst="rect">
            <a:avLst/>
          </a:prstGeom>
          <a:noFill/>
        </p:spPr>
        <p:txBody>
          <a:bodyPr wrap="none" rtlCol="0">
            <a:spAutoFit/>
          </a:bodyPr>
          <a:lstStyle/>
          <a:p>
            <a:pPr algn="ctr"/>
            <a:r>
              <a:rPr lang="de-DE" sz="1200" dirty="0">
                <a:solidFill>
                  <a:srgbClr val="FF0000"/>
                </a:solidFill>
              </a:rPr>
              <a:t>Öffnen Sie nun bitte die „Beziehungsansicht“</a:t>
            </a:r>
          </a:p>
        </p:txBody>
      </p:sp>
      <p:pic>
        <p:nvPicPr>
          <p:cNvPr id="17" name="Grafik 16"/>
          <p:cNvPicPr>
            <a:picLocks noChangeAspect="1"/>
          </p:cNvPicPr>
          <p:nvPr/>
        </p:nvPicPr>
        <p:blipFill>
          <a:blip r:embed="rId5"/>
          <a:stretch>
            <a:fillRect/>
          </a:stretch>
        </p:blipFill>
        <p:spPr>
          <a:xfrm>
            <a:off x="7144037" y="4983032"/>
            <a:ext cx="4737908" cy="750560"/>
          </a:xfrm>
          <a:prstGeom prst="rect">
            <a:avLst/>
          </a:prstGeom>
          <a:effectLst>
            <a:innerShdw blurRad="114300">
              <a:prstClr val="black"/>
            </a:innerShdw>
          </a:effectLst>
        </p:spPr>
      </p:pic>
      <p:sp>
        <p:nvSpPr>
          <p:cNvPr id="19" name="Rechteck 18"/>
          <p:cNvSpPr/>
          <p:nvPr/>
        </p:nvSpPr>
        <p:spPr>
          <a:xfrm>
            <a:off x="8504052" y="5395627"/>
            <a:ext cx="3167995" cy="21132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p:cNvSpPr/>
          <p:nvPr/>
        </p:nvSpPr>
        <p:spPr>
          <a:xfrm>
            <a:off x="1219200" y="4755891"/>
            <a:ext cx="1532313" cy="17834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Textfeld 19"/>
          <p:cNvSpPr txBox="1"/>
          <p:nvPr/>
        </p:nvSpPr>
        <p:spPr>
          <a:xfrm>
            <a:off x="7270136" y="5764362"/>
            <a:ext cx="4401911" cy="276999"/>
          </a:xfrm>
          <a:prstGeom prst="rect">
            <a:avLst/>
          </a:prstGeom>
          <a:noFill/>
        </p:spPr>
        <p:txBody>
          <a:bodyPr wrap="none" rtlCol="0">
            <a:spAutoFit/>
          </a:bodyPr>
          <a:lstStyle/>
          <a:p>
            <a:pPr algn="ctr"/>
            <a:r>
              <a:rPr lang="de-DE" sz="1200" dirty="0">
                <a:solidFill>
                  <a:srgbClr val="FF0000"/>
                </a:solidFill>
              </a:rPr>
              <a:t>Hier werden die aktuellen Constraints der Fremdschlüssel angezeigt</a:t>
            </a:r>
          </a:p>
        </p:txBody>
      </p:sp>
    </p:spTree>
    <p:extLst>
      <p:ext uri="{BB962C8B-B14F-4D97-AF65-F5344CB8AC3E}">
        <p14:creationId xmlns:p14="http://schemas.microsoft.com/office/powerpoint/2010/main" val="734927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3" grpId="0" animBg="1"/>
      <p:bldP spid="14" grpId="0"/>
      <p:bldP spid="15" grpId="0" animBg="1"/>
      <p:bldP spid="16" grpId="0"/>
      <p:bldP spid="19" grpId="0" animBg="1"/>
      <p:bldP spid="9" grpId="0" animBg="1"/>
      <p:bldP spid="2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36321" y="946123"/>
            <a:ext cx="11225694" cy="46012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dirty="0">
                <a:solidFill>
                  <a:srgbClr val="0071B2"/>
                </a:solidFill>
                <a:latin typeface="Source Sans Pro" panose="020B0503030403020204" pitchFamily="34" charset="0"/>
              </a:rPr>
              <a:t>Um die Fremdschlüsselbeziehung zu verändern, müssen wir diese zunächst löschen. </a:t>
            </a:r>
          </a:p>
          <a:p>
            <a:pPr marR="0" lvl="0" algn="l" defTabSz="914400" rtl="0" eaLnBrk="1" fontAlgn="auto" latinLnBrk="0" hangingPunct="1">
              <a:lnSpc>
                <a:spcPct val="100000"/>
              </a:lnSpc>
              <a:spcBef>
                <a:spcPts val="0"/>
              </a:spcBef>
              <a:spcAft>
                <a:spcPts val="0"/>
              </a:spcAft>
              <a:buClrTx/>
              <a:buSzTx/>
              <a:tabLst/>
              <a:defRPr/>
            </a:pPr>
            <a:endParaRPr lang="de-DE" sz="800"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lang="de-DE" sz="1400" b="1" dirty="0">
                <a:solidFill>
                  <a:srgbClr val="0071B2"/>
                </a:solidFill>
                <a:latin typeface="Source Sans Pro" panose="020B0503030403020204" pitchFamily="34" charset="0"/>
              </a:rPr>
              <a:t>	Zur Erinnerung: </a:t>
            </a:r>
          </a:p>
          <a:p>
            <a:pPr marR="0" lvl="0" algn="l" defTabSz="914400" rtl="0" eaLnBrk="1" fontAlgn="auto" latinLnBrk="0" hangingPunct="1">
              <a:lnSpc>
                <a:spcPct val="100000"/>
              </a:lnSpc>
              <a:spcBef>
                <a:spcPts val="0"/>
              </a:spcBef>
              <a:spcAft>
                <a:spcPts val="0"/>
              </a:spcAft>
              <a:buClrTx/>
              <a:buSzTx/>
              <a:tabLst/>
              <a:defRPr/>
            </a:pPr>
            <a:r>
              <a:rPr lang="de-DE" sz="1100" dirty="0">
                <a:solidFill>
                  <a:srgbClr val="0071B2"/>
                </a:solidFill>
                <a:latin typeface="Source Sans Pro" panose="020B0503030403020204" pitchFamily="34" charset="0"/>
              </a:rPr>
              <a:t>	Die interne Namensvergabe eines Fremdschlüssels folgt der Form </a:t>
            </a:r>
            <a:r>
              <a:rPr lang="de-DE" sz="1100" b="1" dirty="0">
                <a:solidFill>
                  <a:schemeClr val="accent2"/>
                </a:solidFill>
                <a:latin typeface="Source Sans Pro" panose="020B0503030403020204" pitchFamily="34" charset="0"/>
              </a:rPr>
              <a:t>Tabellenname_ibfk_x</a:t>
            </a:r>
            <a:r>
              <a:rPr lang="de-DE" sz="1100" dirty="0">
                <a:solidFill>
                  <a:schemeClr val="accent2"/>
                </a:solidFill>
                <a:latin typeface="Source Sans Pro" panose="020B0503030403020204" pitchFamily="34" charset="0"/>
              </a:rPr>
              <a:t> </a:t>
            </a:r>
          </a:p>
          <a:p>
            <a:pPr marR="0" lvl="0" algn="l" defTabSz="914400" rtl="0" eaLnBrk="1" fontAlgn="auto" latinLnBrk="0" hangingPunct="1">
              <a:lnSpc>
                <a:spcPct val="100000"/>
              </a:lnSpc>
              <a:spcBef>
                <a:spcPts val="0"/>
              </a:spcBef>
              <a:spcAft>
                <a:spcPts val="0"/>
              </a:spcAft>
              <a:buClrTx/>
              <a:buSzTx/>
              <a:tabLst/>
              <a:defRPr/>
            </a:pPr>
            <a:r>
              <a:rPr lang="de-DE" sz="1100" dirty="0">
                <a:solidFill>
                  <a:srgbClr val="0071B2"/>
                </a:solidFill>
                <a:latin typeface="Source Sans Pro" panose="020B0503030403020204" pitchFamily="34" charset="0"/>
              </a:rPr>
              <a:t>	(x entspricht der Reihenfolge, mit der in der Tabelle die Fremdschlüssel eingeführt wurden.) </a:t>
            </a:r>
          </a:p>
          <a:p>
            <a:pPr marR="0" lvl="0" algn="l" defTabSz="914400" rtl="0" eaLnBrk="1" fontAlgn="auto" latinLnBrk="0" hangingPunct="1">
              <a:lnSpc>
                <a:spcPct val="100000"/>
              </a:lnSpc>
              <a:spcBef>
                <a:spcPts val="0"/>
              </a:spcBef>
              <a:spcAft>
                <a:spcPts val="0"/>
              </a:spcAft>
              <a:buClrTx/>
              <a:buSzTx/>
              <a:tabLst/>
              <a:defRPr/>
            </a:pPr>
            <a:r>
              <a:rPr lang="de-DE" sz="1100" dirty="0">
                <a:solidFill>
                  <a:srgbClr val="0071B2"/>
                </a:solidFill>
                <a:latin typeface="Source Sans Pro" panose="020B0503030403020204" pitchFamily="34" charset="0"/>
              </a:rPr>
              <a:t>	Im Zweifel kann der Name mittels „</a:t>
            </a:r>
            <a:r>
              <a:rPr lang="de-DE" sz="1100" b="1" dirty="0">
                <a:solidFill>
                  <a:srgbClr val="0071B2"/>
                </a:solidFill>
                <a:latin typeface="Source Sans Pro" panose="020B0503030403020204" pitchFamily="34" charset="0"/>
              </a:rPr>
              <a:t>SHOW CREATE TABLE </a:t>
            </a:r>
            <a:r>
              <a:rPr lang="de-DE" sz="1100" dirty="0">
                <a:solidFill>
                  <a:srgbClr val="0071B2"/>
                </a:solidFill>
                <a:latin typeface="Source Sans Pro" panose="020B0503030403020204" pitchFamily="34" charset="0"/>
              </a:rPr>
              <a:t>Tabellenname“</a:t>
            </a:r>
            <a:r>
              <a:rPr lang="de-DE" sz="1100" b="1" dirty="0">
                <a:solidFill>
                  <a:srgbClr val="0071B2"/>
                </a:solidFill>
                <a:latin typeface="Source Sans Pro" panose="020B0503030403020204" pitchFamily="34" charset="0"/>
              </a:rPr>
              <a:t> </a:t>
            </a:r>
            <a:r>
              <a:rPr lang="de-DE" sz="1100" dirty="0">
                <a:solidFill>
                  <a:srgbClr val="0071B2"/>
                </a:solidFill>
                <a:latin typeface="Source Sans Pro" panose="020B0503030403020204" pitchFamily="34" charset="0"/>
              </a:rPr>
              <a:t>nachgeschaut werden.</a:t>
            </a:r>
          </a:p>
          <a:p>
            <a:pPr marR="0" lvl="0" algn="l" defTabSz="914400" rtl="0" eaLnBrk="1" fontAlgn="auto" latinLnBrk="0" hangingPunct="1">
              <a:lnSpc>
                <a:spcPct val="100000"/>
              </a:lnSpc>
              <a:spcBef>
                <a:spcPts val="0"/>
              </a:spcBef>
              <a:spcAft>
                <a:spcPts val="0"/>
              </a:spcAft>
              <a:buClrTx/>
              <a:buSzTx/>
              <a:tabLst/>
              <a:defRPr/>
            </a:pPr>
            <a:endParaRPr lang="de-DE"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lang="de-DE" dirty="0">
                <a:solidFill>
                  <a:srgbClr val="0071B2"/>
                </a:solidFill>
                <a:latin typeface="Source Sans Pro" panose="020B0503030403020204" pitchFamily="34" charset="0"/>
              </a:rPr>
              <a:t>Da es in der Tabelle Abrechnung nur einen Fremdschlüssel gibt, ist dessen Name klar: </a:t>
            </a:r>
            <a:r>
              <a:rPr lang="de-DE" b="1" dirty="0">
                <a:latin typeface="Source Sans Pro" panose="020B0503030403020204" pitchFamily="34" charset="0"/>
              </a:rPr>
              <a:t>Abrechnung_ibfk_1</a:t>
            </a:r>
          </a:p>
          <a:p>
            <a:pPr marR="0" lvl="0" algn="l" defTabSz="914400" rtl="0" eaLnBrk="1" fontAlgn="auto" latinLnBrk="0" hangingPunct="1">
              <a:lnSpc>
                <a:spcPct val="100000"/>
              </a:lnSpc>
              <a:spcBef>
                <a:spcPts val="0"/>
              </a:spcBef>
              <a:spcAft>
                <a:spcPts val="0"/>
              </a:spcAft>
              <a:buClrTx/>
              <a:buSzTx/>
              <a:tabLst/>
              <a:defRPr/>
            </a:pPr>
            <a:endParaRPr lang="de-DE" sz="800" dirty="0">
              <a:solidFill>
                <a:srgbClr val="0071B2"/>
              </a:solidFill>
              <a:latin typeface="Source Sans Pro" panose="020B0503030403020204" pitchFamily="34" charset="0"/>
            </a:endParaRPr>
          </a:p>
          <a:p>
            <a:pPr lvl="0">
              <a:defRPr/>
            </a:pPr>
            <a:r>
              <a:rPr lang="de-DE" dirty="0">
                <a:solidFill>
                  <a:srgbClr val="0071B2"/>
                </a:solidFill>
                <a:latin typeface="Source Sans Pro" panose="020B0503030403020204" pitchFamily="34" charset="0"/>
              </a:rPr>
              <a:t>  	</a:t>
            </a:r>
            <a:r>
              <a:rPr lang="de-DE" sz="2400" b="1" dirty="0">
                <a:solidFill>
                  <a:srgbClr val="0071B2"/>
                </a:solidFill>
                <a:latin typeface="Source Sans Pro" panose="020B0503030403020204" pitchFamily="34" charset="0"/>
              </a:rPr>
              <a:t>ALTER TABLE </a:t>
            </a:r>
            <a:r>
              <a:rPr lang="de-DE" sz="2400" dirty="0">
                <a:solidFill>
                  <a:srgbClr val="0071B2"/>
                </a:solidFill>
                <a:latin typeface="Source Sans Pro" panose="020B0503030403020204" pitchFamily="34" charset="0"/>
              </a:rPr>
              <a:t>Abrechnung</a:t>
            </a:r>
            <a:r>
              <a:rPr lang="de-DE" sz="2400" b="1" dirty="0">
                <a:solidFill>
                  <a:srgbClr val="0071B2"/>
                </a:solidFill>
                <a:latin typeface="Source Sans Pro" panose="020B0503030403020204" pitchFamily="34" charset="0"/>
              </a:rPr>
              <a:t> DROP FOREIGN KEY </a:t>
            </a:r>
            <a:r>
              <a:rPr lang="de-DE" sz="2400" dirty="0">
                <a:solidFill>
                  <a:schemeClr val="accent2"/>
                </a:solidFill>
                <a:latin typeface="Source Sans Pro" panose="020B0503030403020204" pitchFamily="34" charset="0"/>
              </a:rPr>
              <a:t>Abrechnung_ibfk_1</a:t>
            </a:r>
            <a:r>
              <a:rPr lang="de-DE" sz="2400" b="1" dirty="0">
                <a:solidFill>
                  <a:srgbClr val="0071B2"/>
                </a:solidFill>
                <a:latin typeface="Source Sans Pro" panose="020B0503030403020204" pitchFamily="34" charset="0"/>
              </a:rPr>
              <a:t>;</a:t>
            </a:r>
            <a:endParaRPr lang="de-DE" dirty="0">
              <a:solidFill>
                <a:srgbClr val="0071B2"/>
              </a:solidFill>
              <a:latin typeface="Source Sans Pro" panose="020B0503030403020204" pitchFamily="34" charset="0"/>
            </a:endParaRPr>
          </a:p>
          <a:p>
            <a:pPr lvl="0">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r>
              <a:rPr lang="de-DE" dirty="0">
                <a:solidFill>
                  <a:srgbClr val="0071B2"/>
                </a:solidFill>
                <a:latin typeface="Source Sans Pro" panose="020B0503030403020204" pitchFamily="34" charset="0"/>
              </a:rPr>
              <a:t>Anschließend kann die Fremdschlüsselbeziehung neu gesetzt werden </a:t>
            </a:r>
            <a:r>
              <a:rPr lang="de-DE" sz="1200" dirty="0">
                <a:solidFill>
                  <a:srgbClr val="0071B2"/>
                </a:solidFill>
                <a:latin typeface="Source Sans Pro" panose="020B0503030403020204" pitchFamily="34" charset="0"/>
              </a:rPr>
              <a:t>(und also z.B. mit </a:t>
            </a:r>
            <a:r>
              <a:rPr lang="de-DE" sz="1200" b="1" dirty="0">
                <a:solidFill>
                  <a:schemeClr val="accent2">
                    <a:lumMod val="50000"/>
                  </a:schemeClr>
                </a:solidFill>
                <a:latin typeface="Source Sans Pro" panose="020B0503030403020204" pitchFamily="34" charset="0"/>
              </a:rPr>
              <a:t>ON UPDATE RESTRICT</a:t>
            </a:r>
            <a:r>
              <a:rPr lang="de-DE" sz="1200" dirty="0">
                <a:solidFill>
                  <a:srgbClr val="0071B2"/>
                </a:solidFill>
                <a:latin typeface="Source Sans Pro" panose="020B0503030403020204" pitchFamily="34" charset="0"/>
              </a:rPr>
              <a:t>) </a:t>
            </a:r>
            <a:r>
              <a:rPr lang="de-DE" dirty="0">
                <a:solidFill>
                  <a:srgbClr val="0071B2"/>
                </a:solidFill>
                <a:latin typeface="Source Sans Pro" panose="020B0503030403020204" pitchFamily="34" charset="0"/>
              </a:rPr>
              <a:t>versehen werden:</a:t>
            </a:r>
          </a:p>
          <a:p>
            <a:pPr lvl="0">
              <a:defRPr/>
            </a:pPr>
            <a:endParaRPr lang="de-DE" sz="800" dirty="0">
              <a:solidFill>
                <a:srgbClr val="0071B2"/>
              </a:solidFill>
              <a:latin typeface="Source Sans Pro" panose="020B0503030403020204" pitchFamily="34" charset="0"/>
            </a:endParaRPr>
          </a:p>
          <a:p>
            <a:pPr lvl="0">
              <a:defRPr/>
            </a:pPr>
            <a:r>
              <a:rPr lang="de-DE" dirty="0">
                <a:solidFill>
                  <a:srgbClr val="0071B2"/>
                </a:solidFill>
                <a:latin typeface="Source Sans Pro" panose="020B0503030403020204" pitchFamily="34" charset="0"/>
              </a:rPr>
              <a:t>  	</a:t>
            </a:r>
            <a:r>
              <a:rPr lang="de-DE" sz="2400" b="1" dirty="0">
                <a:solidFill>
                  <a:srgbClr val="0071B2"/>
                </a:solidFill>
                <a:latin typeface="Source Sans Pro" panose="020B0503030403020204" pitchFamily="34" charset="0"/>
              </a:rPr>
              <a:t>ALTER TABLE </a:t>
            </a:r>
            <a:r>
              <a:rPr lang="de-DE" sz="2400" dirty="0">
                <a:solidFill>
                  <a:srgbClr val="0071B2"/>
                </a:solidFill>
                <a:latin typeface="Source Sans Pro" panose="020B0503030403020204" pitchFamily="34" charset="0"/>
              </a:rPr>
              <a:t>Abrechnung</a:t>
            </a:r>
            <a:r>
              <a:rPr lang="de-DE" sz="2400" b="1" dirty="0">
                <a:solidFill>
                  <a:srgbClr val="0071B2"/>
                </a:solidFill>
                <a:latin typeface="Source Sans Pro" panose="020B0503030403020204" pitchFamily="34" charset="0"/>
              </a:rPr>
              <a:t> ADD FOREIGN KEY(</a:t>
            </a:r>
            <a:r>
              <a:rPr lang="de-DE" sz="2400" dirty="0">
                <a:solidFill>
                  <a:srgbClr val="0071B2"/>
                </a:solidFill>
                <a:latin typeface="Source Sans Pro" panose="020B0503030403020204" pitchFamily="34" charset="0"/>
              </a:rPr>
              <a:t>Kunde_ID</a:t>
            </a:r>
            <a:r>
              <a:rPr lang="de-DE" sz="2400" b="1" dirty="0">
                <a:solidFill>
                  <a:srgbClr val="0071B2"/>
                </a:solidFill>
                <a:latin typeface="Source Sans Pro" panose="020B0503030403020204" pitchFamily="34" charset="0"/>
              </a:rPr>
              <a:t>) </a:t>
            </a:r>
          </a:p>
          <a:p>
            <a:pPr lvl="0">
              <a:defRPr/>
            </a:pPr>
            <a:r>
              <a:rPr lang="de-DE" sz="2400" b="1" dirty="0">
                <a:solidFill>
                  <a:srgbClr val="0071B2"/>
                </a:solidFill>
                <a:latin typeface="Source Sans Pro" panose="020B0503030403020204" pitchFamily="34" charset="0"/>
              </a:rPr>
              <a:t>	REFERENCES </a:t>
            </a:r>
            <a:r>
              <a:rPr lang="de-DE" sz="2400" dirty="0">
                <a:solidFill>
                  <a:srgbClr val="0071B2"/>
                </a:solidFill>
                <a:latin typeface="Source Sans Pro" panose="020B0503030403020204" pitchFamily="34" charset="0"/>
              </a:rPr>
              <a:t>Kunde</a:t>
            </a:r>
            <a:r>
              <a:rPr lang="de-DE" sz="2400" b="1" dirty="0">
                <a:solidFill>
                  <a:srgbClr val="0071B2"/>
                </a:solidFill>
                <a:latin typeface="Source Sans Pro" panose="020B0503030403020204" pitchFamily="34" charset="0"/>
              </a:rPr>
              <a:t>(</a:t>
            </a:r>
            <a:r>
              <a:rPr lang="de-DE" sz="2400" dirty="0">
                <a:solidFill>
                  <a:srgbClr val="0071B2"/>
                </a:solidFill>
                <a:latin typeface="Source Sans Pro" panose="020B0503030403020204" pitchFamily="34" charset="0"/>
              </a:rPr>
              <a:t>Kunde_ID</a:t>
            </a:r>
            <a:r>
              <a:rPr lang="de-DE" sz="2400" b="1" dirty="0">
                <a:solidFill>
                  <a:srgbClr val="0071B2"/>
                </a:solidFill>
                <a:latin typeface="Source Sans Pro" panose="020B0503030403020204" pitchFamily="34" charset="0"/>
              </a:rPr>
              <a:t>) </a:t>
            </a:r>
            <a:r>
              <a:rPr lang="de-DE" sz="2400" b="1" dirty="0">
                <a:solidFill>
                  <a:schemeClr val="accent2">
                    <a:lumMod val="50000"/>
                  </a:schemeClr>
                </a:solidFill>
                <a:latin typeface="Source Sans Pro" panose="020B0503030403020204" pitchFamily="34" charset="0"/>
              </a:rPr>
              <a:t>ON UPDATE RESTRICT</a:t>
            </a:r>
            <a:r>
              <a:rPr lang="de-DE" sz="2400" b="1" dirty="0">
                <a:solidFill>
                  <a:srgbClr val="0071B2"/>
                </a:solidFill>
                <a:latin typeface="Source Sans Pro" panose="020B0503030403020204" pitchFamily="34" charset="0"/>
              </a:rPr>
              <a:t>;</a:t>
            </a:r>
          </a:p>
          <a:p>
            <a:pPr lvl="0">
              <a:defRPr/>
            </a:pPr>
            <a:endParaRPr lang="de-DE" sz="1600" dirty="0">
              <a:solidFill>
                <a:srgbClr val="0071B2"/>
              </a:solidFill>
              <a:latin typeface="Source Sans Pro" panose="020B0503030403020204" pitchFamily="34" charset="0"/>
            </a:endParaRPr>
          </a:p>
          <a:p>
            <a:pPr>
              <a:defRPr/>
            </a:pPr>
            <a:endParaRPr lang="de-DE" dirty="0">
              <a:solidFill>
                <a:srgbClr val="0071B2"/>
              </a:solidFill>
              <a:latin typeface="Source Sans Pro" panose="020B0503030403020204" pitchFamily="34" charset="0"/>
            </a:endParaRPr>
          </a:p>
          <a:p>
            <a:pPr lvl="0">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11541406"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lvl="0">
              <a:defRPr/>
            </a:pPr>
            <a:r>
              <a:rPr lang="de-DE" sz="4000" dirty="0">
                <a:solidFill>
                  <a:srgbClr val="0071B2"/>
                </a:solidFill>
                <a:latin typeface="Source Sans Pro" panose="020B0503030403020204" pitchFamily="34" charset="0"/>
              </a:rPr>
              <a:t>Syntax </a:t>
            </a:r>
            <a:r>
              <a:rPr lang="de-DE" sz="1800" dirty="0">
                <a:solidFill>
                  <a:srgbClr val="0071B2"/>
                </a:solidFill>
                <a:latin typeface="Source Sans Pro" panose="020B0503030403020204" pitchFamily="34" charset="0"/>
              </a:rPr>
              <a:t>(falls man die Default-Einstellung </a:t>
            </a:r>
            <a:r>
              <a:rPr lang="de-DE" sz="1800" dirty="0">
                <a:solidFill>
                  <a:schemeClr val="accent2"/>
                </a:solidFill>
                <a:latin typeface="Source Sans Pro" panose="020B0503030403020204" pitchFamily="34" charset="0"/>
              </a:rPr>
              <a:t>explizit</a:t>
            </a:r>
            <a:r>
              <a:rPr lang="de-DE" sz="1800" dirty="0">
                <a:solidFill>
                  <a:srgbClr val="0071B2"/>
                </a:solidFill>
                <a:latin typeface="Source Sans Pro" panose="020B0503030403020204" pitchFamily="34" charset="0"/>
              </a:rPr>
              <a:t> selbst eintragen möchte)</a:t>
            </a:r>
            <a:endParaRPr lang="de-DE" sz="1800" b="0" i="1" dirty="0">
              <a:solidFill>
                <a:schemeClr val="accent2"/>
              </a:solidFill>
              <a:latin typeface="Source Sans Pro" panose="020B0503030403020204" pitchFamily="34" charset="0"/>
            </a:endParaRPr>
          </a:p>
        </p:txBody>
      </p:sp>
      <p:sp>
        <p:nvSpPr>
          <p:cNvPr id="9" name="Rechteck 8"/>
          <p:cNvSpPr/>
          <p:nvPr/>
        </p:nvSpPr>
        <p:spPr>
          <a:xfrm>
            <a:off x="174538" y="4798536"/>
            <a:ext cx="11870575" cy="192293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00" b="1" dirty="0">
              <a:solidFill>
                <a:schemeClr val="accent2"/>
              </a:solidFill>
              <a:latin typeface="Source Sans Pro" panose="020B0503030403020204" pitchFamily="34" charset="0"/>
            </a:endParaRPr>
          </a:p>
          <a:p>
            <a:pPr algn="ctr"/>
            <a:r>
              <a:rPr lang="de-DE" b="1" dirty="0">
                <a:solidFill>
                  <a:schemeClr val="tx1"/>
                </a:solidFill>
                <a:latin typeface="Source Sans Pro" panose="020B0503030403020204" pitchFamily="34" charset="0"/>
              </a:rPr>
              <a:t>Bemerkungen:</a:t>
            </a:r>
          </a:p>
          <a:p>
            <a:pPr algn="ctr"/>
            <a:endParaRPr lang="de-DE" sz="800" b="1" dirty="0">
              <a:solidFill>
                <a:schemeClr val="tx1"/>
              </a:solidFill>
              <a:latin typeface="Source Sans Pro" panose="020B0503030403020204" pitchFamily="34" charset="0"/>
            </a:endParaRPr>
          </a:p>
          <a:p>
            <a:pPr algn="ctr"/>
            <a:r>
              <a:rPr lang="de-DE" sz="1400" dirty="0">
                <a:solidFill>
                  <a:schemeClr val="tx1"/>
                </a:solidFill>
                <a:latin typeface="Source Sans Pro" panose="020B0503030403020204" pitchFamily="34" charset="0"/>
              </a:rPr>
              <a:t>Die selbe Vorgehensweise könnte auch alternativ für</a:t>
            </a:r>
          </a:p>
          <a:p>
            <a:pPr algn="ctr"/>
            <a:r>
              <a:rPr lang="de-DE" b="1" dirty="0">
                <a:solidFill>
                  <a:schemeClr val="tx1"/>
                </a:solidFill>
                <a:latin typeface="Source Sans Pro" panose="020B0503030403020204" pitchFamily="34" charset="0"/>
              </a:rPr>
              <a:t>ON </a:t>
            </a:r>
            <a:r>
              <a:rPr lang="de-DE" b="1" dirty="0">
                <a:solidFill>
                  <a:schemeClr val="accent2"/>
                </a:solidFill>
                <a:latin typeface="Source Sans Pro" panose="020B0503030403020204" pitchFamily="34" charset="0"/>
              </a:rPr>
              <a:t>DELETE</a:t>
            </a:r>
            <a:r>
              <a:rPr lang="de-DE" b="1" dirty="0">
                <a:solidFill>
                  <a:schemeClr val="tx1"/>
                </a:solidFill>
                <a:latin typeface="Source Sans Pro" panose="020B0503030403020204" pitchFamily="34" charset="0"/>
              </a:rPr>
              <a:t> RESTRICT </a:t>
            </a:r>
            <a:r>
              <a:rPr lang="de-DE" sz="1400" dirty="0">
                <a:solidFill>
                  <a:schemeClr val="tx1"/>
                </a:solidFill>
                <a:latin typeface="Source Sans Pro" panose="020B0503030403020204" pitchFamily="34" charset="0"/>
              </a:rPr>
              <a:t>vorgenommen werden.</a:t>
            </a:r>
          </a:p>
          <a:p>
            <a:pPr algn="ctr"/>
            <a:endParaRPr lang="de-DE" sz="1400" dirty="0">
              <a:solidFill>
                <a:schemeClr val="tx1"/>
              </a:solidFill>
              <a:latin typeface="Source Sans Pro" panose="020B0503030403020204" pitchFamily="34" charset="0"/>
            </a:endParaRPr>
          </a:p>
          <a:p>
            <a:pPr algn="ctr"/>
            <a:r>
              <a:rPr lang="de-DE" sz="1400" dirty="0">
                <a:solidFill>
                  <a:schemeClr val="tx1"/>
                </a:solidFill>
              </a:rPr>
              <a:t>Auch beide Referenz-Optionen können gemeinsam gesetzt werden:</a:t>
            </a:r>
          </a:p>
          <a:p>
            <a:pPr lvl="0" algn="ctr">
              <a:defRPr/>
            </a:pPr>
            <a:r>
              <a:rPr lang="de-DE" b="1">
                <a:solidFill>
                  <a:srgbClr val="0071B2"/>
                </a:solidFill>
                <a:latin typeface="Source Sans Pro" panose="020B0503030403020204" pitchFamily="34" charset="0"/>
              </a:rPr>
              <a:t>ALTER </a:t>
            </a:r>
            <a:r>
              <a:rPr lang="de-DE" b="1" dirty="0">
                <a:solidFill>
                  <a:srgbClr val="0071B2"/>
                </a:solidFill>
                <a:latin typeface="Source Sans Pro" panose="020B0503030403020204" pitchFamily="34" charset="0"/>
              </a:rPr>
              <a:t>TABLE </a:t>
            </a:r>
            <a:r>
              <a:rPr lang="de-DE" dirty="0">
                <a:solidFill>
                  <a:srgbClr val="0071B2"/>
                </a:solidFill>
                <a:latin typeface="Source Sans Pro" panose="020B0503030403020204" pitchFamily="34" charset="0"/>
              </a:rPr>
              <a:t>Abrechnung</a:t>
            </a:r>
            <a:r>
              <a:rPr lang="de-DE" b="1" dirty="0">
                <a:solidFill>
                  <a:srgbClr val="0071B2"/>
                </a:solidFill>
                <a:latin typeface="Source Sans Pro" panose="020B0503030403020204" pitchFamily="34" charset="0"/>
              </a:rPr>
              <a:t> ADD FOREIGN KEY(</a:t>
            </a:r>
            <a:r>
              <a:rPr lang="de-DE" dirty="0">
                <a:solidFill>
                  <a:srgbClr val="0071B2"/>
                </a:solidFill>
                <a:latin typeface="Source Sans Pro" panose="020B0503030403020204" pitchFamily="34" charset="0"/>
              </a:rPr>
              <a:t>Kunde_ID</a:t>
            </a:r>
            <a:r>
              <a:rPr lang="de-DE" b="1" dirty="0">
                <a:solidFill>
                  <a:srgbClr val="0071B2"/>
                </a:solidFill>
                <a:latin typeface="Source Sans Pro" panose="020B0503030403020204" pitchFamily="34" charset="0"/>
              </a:rPr>
              <a:t>) </a:t>
            </a:r>
          </a:p>
          <a:p>
            <a:pPr lvl="0" algn="ctr">
              <a:defRPr/>
            </a:pPr>
            <a:r>
              <a:rPr lang="de-DE" b="1" dirty="0">
                <a:solidFill>
                  <a:srgbClr val="0071B2"/>
                </a:solidFill>
                <a:latin typeface="Source Sans Pro" panose="020B0503030403020204" pitchFamily="34" charset="0"/>
              </a:rPr>
              <a:t>REFERENCES </a:t>
            </a:r>
            <a:r>
              <a:rPr lang="de-DE" dirty="0">
                <a:solidFill>
                  <a:srgbClr val="0071B2"/>
                </a:solidFill>
                <a:latin typeface="Source Sans Pro" panose="020B0503030403020204" pitchFamily="34" charset="0"/>
              </a:rPr>
              <a:t>Kunde</a:t>
            </a:r>
            <a:r>
              <a:rPr lang="de-DE" b="1" dirty="0">
                <a:solidFill>
                  <a:srgbClr val="0071B2"/>
                </a:solidFill>
                <a:latin typeface="Source Sans Pro" panose="020B0503030403020204" pitchFamily="34" charset="0"/>
              </a:rPr>
              <a:t>(</a:t>
            </a:r>
            <a:r>
              <a:rPr lang="de-DE" dirty="0">
                <a:solidFill>
                  <a:srgbClr val="0071B2"/>
                </a:solidFill>
                <a:latin typeface="Source Sans Pro" panose="020B0503030403020204" pitchFamily="34" charset="0"/>
              </a:rPr>
              <a:t>Kunde_ID</a:t>
            </a:r>
            <a:r>
              <a:rPr lang="de-DE" b="1" dirty="0">
                <a:solidFill>
                  <a:srgbClr val="0071B2"/>
                </a:solidFill>
                <a:latin typeface="Source Sans Pro" panose="020B0503030403020204" pitchFamily="34" charset="0"/>
              </a:rPr>
              <a:t>) </a:t>
            </a:r>
            <a:r>
              <a:rPr lang="de-DE" b="1" dirty="0">
                <a:solidFill>
                  <a:schemeClr val="accent2">
                    <a:lumMod val="50000"/>
                  </a:schemeClr>
                </a:solidFill>
                <a:latin typeface="Source Sans Pro" panose="020B0503030403020204" pitchFamily="34" charset="0"/>
              </a:rPr>
              <a:t>ON </a:t>
            </a:r>
            <a:r>
              <a:rPr lang="de-DE" b="1" dirty="0">
                <a:solidFill>
                  <a:schemeClr val="accent2"/>
                </a:solidFill>
                <a:latin typeface="Source Sans Pro" panose="020B0503030403020204" pitchFamily="34" charset="0"/>
              </a:rPr>
              <a:t>UPDATE</a:t>
            </a:r>
            <a:r>
              <a:rPr lang="de-DE" b="1" dirty="0">
                <a:solidFill>
                  <a:schemeClr val="accent2">
                    <a:lumMod val="50000"/>
                  </a:schemeClr>
                </a:solidFill>
                <a:latin typeface="Source Sans Pro" panose="020B0503030403020204" pitchFamily="34" charset="0"/>
              </a:rPr>
              <a:t> RESTRICT  ON </a:t>
            </a:r>
            <a:r>
              <a:rPr lang="de-DE" b="1" dirty="0">
                <a:solidFill>
                  <a:schemeClr val="accent2"/>
                </a:solidFill>
                <a:latin typeface="Source Sans Pro" panose="020B0503030403020204" pitchFamily="34" charset="0"/>
              </a:rPr>
              <a:t>DELETE</a:t>
            </a:r>
            <a:r>
              <a:rPr lang="de-DE" b="1" dirty="0">
                <a:solidFill>
                  <a:schemeClr val="accent2">
                    <a:lumMod val="50000"/>
                  </a:schemeClr>
                </a:solidFill>
                <a:latin typeface="Source Sans Pro" panose="020B0503030403020204" pitchFamily="34" charset="0"/>
              </a:rPr>
              <a:t> RESTRICT</a:t>
            </a:r>
            <a:r>
              <a:rPr lang="de-DE" b="1" dirty="0">
                <a:solidFill>
                  <a:srgbClr val="0071B2"/>
                </a:solidFill>
                <a:latin typeface="Source Sans Pro" panose="020B0503030403020204" pitchFamily="34" charset="0"/>
              </a:rPr>
              <a:t>;</a:t>
            </a:r>
          </a:p>
          <a:p>
            <a:pPr algn="ctr"/>
            <a:endParaRPr lang="de-DE" sz="1400" dirty="0">
              <a:solidFill>
                <a:schemeClr val="tx1"/>
              </a:solidFill>
            </a:endParaRPr>
          </a:p>
        </p:txBody>
      </p:sp>
    </p:spTree>
    <p:extLst>
      <p:ext uri="{BB962C8B-B14F-4D97-AF65-F5344CB8AC3E}">
        <p14:creationId xmlns:p14="http://schemas.microsoft.com/office/powerpoint/2010/main" val="270038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15" end="1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9">
                                            <p:txEl>
                                              <p:pRg st="3" end="3"/>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9">
                                            <p:txEl>
                                              <p:pRg st="6" end="6"/>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9">
                                            <p:txEl>
                                              <p:pRg st="7" end="7"/>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5400" dirty="0">
                <a:latin typeface="Source Sans Pro" panose="020B0503030403020204" pitchFamily="34" charset="0"/>
              </a:rPr>
              <a:t>ON </a:t>
            </a:r>
            <a:r>
              <a:rPr lang="de-DE" sz="5400" dirty="0">
                <a:solidFill>
                  <a:schemeClr val="accent2"/>
                </a:solidFill>
                <a:latin typeface="Source Sans Pro" panose="020B0503030403020204" pitchFamily="34" charset="0"/>
              </a:rPr>
              <a:t>DELETE</a:t>
            </a:r>
            <a:r>
              <a:rPr lang="de-DE" sz="5400" dirty="0">
                <a:latin typeface="Source Sans Pro" panose="020B0503030403020204" pitchFamily="34" charset="0"/>
              </a:rPr>
              <a:t> CASCADE</a:t>
            </a:r>
          </a:p>
          <a:p>
            <a:endParaRPr lang="de-DE" sz="5400" dirty="0">
              <a:latin typeface="Source Sans Pro" panose="020B0503030403020204" pitchFamily="34" charset="0"/>
            </a:endParaRPr>
          </a:p>
        </p:txBody>
      </p:sp>
    </p:spTree>
    <p:extLst>
      <p:ext uri="{BB962C8B-B14F-4D97-AF65-F5344CB8AC3E}">
        <p14:creationId xmlns:p14="http://schemas.microsoft.com/office/powerpoint/2010/main" val="26858510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576626" y="2143649"/>
            <a:ext cx="11615374" cy="224676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noProof="0" dirty="0">
                <a:solidFill>
                  <a:srgbClr val="0071B2"/>
                </a:solidFill>
                <a:latin typeface="Source Sans Pro" panose="020B0503030403020204" pitchFamily="34" charset="0"/>
              </a:rPr>
              <a:t>Wenn wir dennoch einen Datensatz „X“ löschen wollen (oder z.B. aus Datenschutzgründen sogar müssen), </a:t>
            </a:r>
            <a:r>
              <a:rPr lang="de-DE" dirty="0">
                <a:solidFill>
                  <a:srgbClr val="0071B2"/>
                </a:solidFill>
                <a:latin typeface="Source Sans Pro" panose="020B0503030403020204" pitchFamily="34" charset="0"/>
              </a:rPr>
              <a:t>auf den sich Datensätze </a:t>
            </a:r>
            <a:r>
              <a:rPr lang="de-DE" b="1" dirty="0">
                <a:solidFill>
                  <a:srgbClr val="0071B2"/>
                </a:solidFill>
                <a:latin typeface="Source Sans Pro" panose="020B0503030403020204" pitchFamily="34" charset="0"/>
              </a:rPr>
              <a:t>„Y1, Y2, Y3, …“ </a:t>
            </a:r>
            <a:r>
              <a:rPr lang="de-DE" dirty="0">
                <a:solidFill>
                  <a:srgbClr val="0071B2"/>
                </a:solidFill>
                <a:latin typeface="Source Sans Pro" panose="020B0503030403020204" pitchFamily="34" charset="0"/>
              </a:rPr>
              <a:t>(per Fremdschlüssel) beziehen, so gelingt dies erst, </a:t>
            </a:r>
            <a:r>
              <a:rPr lang="de-DE" b="1" dirty="0">
                <a:solidFill>
                  <a:srgbClr val="0071B2"/>
                </a:solidFill>
                <a:latin typeface="Source Sans Pro" panose="020B0503030403020204" pitchFamily="34" charset="0"/>
              </a:rPr>
              <a:t>nach deren Löschung</a:t>
            </a:r>
            <a:r>
              <a:rPr lang="de-DE" dirty="0">
                <a:solidFill>
                  <a:srgbClr val="0071B2"/>
                </a:solidFill>
                <a:latin typeface="Source Sans Pro" panose="020B0503030403020204" pitchFamily="34" charset="0"/>
              </a:rPr>
              <a:t>.</a:t>
            </a:r>
            <a:endParaRPr lang="de-DE" noProof="0"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dirty="0">
                <a:solidFill>
                  <a:srgbClr val="0071B2"/>
                </a:solidFill>
                <a:latin typeface="Source Sans Pro" panose="020B0503030403020204" pitchFamily="34" charset="0"/>
              </a:rPr>
              <a:t>Falls nun aber Y1, Y2, und/oder Y3 … selbst Datensätze sind, auf die sich ihrerseits wiederum Datensätze </a:t>
            </a:r>
            <a:r>
              <a:rPr lang="de-DE" b="1" dirty="0">
                <a:solidFill>
                  <a:srgbClr val="0071B2"/>
                </a:solidFill>
                <a:latin typeface="Source Sans Pro" panose="020B0503030403020204" pitchFamily="34" charset="0"/>
              </a:rPr>
              <a:t>„Z1, Z2 …“ </a:t>
            </a:r>
            <a:r>
              <a:rPr lang="de-DE" dirty="0">
                <a:solidFill>
                  <a:srgbClr val="0071B2"/>
                </a:solidFill>
                <a:latin typeface="Source Sans Pro" panose="020B0503030403020204" pitchFamily="34" charset="0"/>
              </a:rPr>
              <a:t>beziehen, so müssten </a:t>
            </a:r>
            <a:r>
              <a:rPr lang="de-DE" b="1" dirty="0">
                <a:solidFill>
                  <a:srgbClr val="0071B2"/>
                </a:solidFill>
                <a:latin typeface="Source Sans Pro" panose="020B0503030403020204" pitchFamily="34" charset="0"/>
              </a:rPr>
              <a:t>zuallererst diese </a:t>
            </a:r>
            <a:r>
              <a:rPr lang="de-DE" dirty="0">
                <a:solidFill>
                  <a:srgbClr val="0071B2"/>
                </a:solidFill>
                <a:latin typeface="Source Sans Pro" panose="020B0503030403020204" pitchFamily="34" charset="0"/>
              </a:rPr>
              <a:t>gelöscht werden.</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marL="342900" lvl="0" indent="-342900">
              <a:buFont typeface="Arial" panose="020B0604020202020204" pitchFamily="34" charset="0"/>
              <a:buChar char="•"/>
              <a:defRPr/>
            </a:pPr>
            <a:r>
              <a:rPr lang="de-DE" noProof="0" dirty="0">
                <a:solidFill>
                  <a:srgbClr val="0071B2"/>
                </a:solidFill>
                <a:latin typeface="Source Sans Pro" panose="020B0503030403020204" pitchFamily="34" charset="0"/>
              </a:rPr>
              <a:t>Solche Löschvorgänge können also offensichtlich </a:t>
            </a:r>
            <a:r>
              <a:rPr lang="de-DE" b="1" noProof="0" dirty="0">
                <a:solidFill>
                  <a:srgbClr val="0071B2"/>
                </a:solidFill>
                <a:latin typeface="Source Sans Pro" panose="020B0503030403020204" pitchFamily="34" charset="0"/>
              </a:rPr>
              <a:t>beliebig kompliziert </a:t>
            </a:r>
            <a:r>
              <a:rPr lang="de-DE" noProof="0" dirty="0">
                <a:solidFill>
                  <a:srgbClr val="0071B2"/>
                </a:solidFill>
                <a:latin typeface="Source Sans Pro" panose="020B0503030403020204" pitchFamily="34" charset="0"/>
              </a:rPr>
              <a:t>werden.</a:t>
            </a:r>
            <a:endParaRPr kumimoji="0" lang="de-DE" b="0" i="0" u="none" strike="noStrike" kern="1200" cap="none" spc="0" normalizeH="0" baseline="0" noProof="0" dirty="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dirty="0">
                <a:solidFill>
                  <a:srgbClr val="0071B2"/>
                </a:solidFill>
                <a:latin typeface="Source Sans Pro" panose="020B0503030403020204" pitchFamily="34" charset="0"/>
              </a:rPr>
              <a:t>Um diese Kaskaden-artigen Löschvorgänge zu erleichtern, verwenden wir den Befehl </a:t>
            </a:r>
            <a:r>
              <a:rPr lang="de-DE" b="1" dirty="0">
                <a:solidFill>
                  <a:srgbClr val="0071B2"/>
                </a:solidFill>
                <a:latin typeface="Source Sans Pro" panose="020B0503030403020204" pitchFamily="34" charset="0"/>
              </a:rPr>
              <a:t>ON DELETE CASCADE</a:t>
            </a:r>
            <a:r>
              <a:rPr lang="de-DE" dirty="0">
                <a:solidFill>
                  <a:srgbClr val="0071B2"/>
                </a:solidFill>
                <a:latin typeface="Source Sans Pro" panose="020B0503030403020204" pitchFamily="34" charset="0"/>
              </a:rPr>
              <a:t>.</a:t>
            </a: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Definition + Motivation</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Tree>
    <p:extLst>
      <p:ext uri="{BB962C8B-B14F-4D97-AF65-F5344CB8AC3E}">
        <p14:creationId xmlns:p14="http://schemas.microsoft.com/office/powerpoint/2010/main" val="2433789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36321" y="946123"/>
            <a:ext cx="11225694" cy="38472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b="1" dirty="0">
                <a:solidFill>
                  <a:srgbClr val="0071B2"/>
                </a:solidFill>
                <a:latin typeface="Source Sans Pro" panose="020B0503030403020204" pitchFamily="34" charset="0"/>
              </a:rPr>
              <a:t>Aufgabenstellung: </a:t>
            </a:r>
          </a:p>
          <a:p>
            <a:pPr marR="0" lvl="0" algn="l" defTabSz="914400" rtl="0" eaLnBrk="1" fontAlgn="auto" latinLnBrk="0" hangingPunct="1">
              <a:lnSpc>
                <a:spcPct val="100000"/>
              </a:lnSpc>
              <a:spcBef>
                <a:spcPts val="0"/>
              </a:spcBef>
              <a:spcAft>
                <a:spcPts val="0"/>
              </a:spcAft>
              <a:buClrTx/>
              <a:buSzTx/>
              <a:tabLst/>
              <a:defRPr/>
            </a:pPr>
            <a:endParaRPr lang="de-DE" sz="200" b="1"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lang="de-DE" dirty="0">
                <a:solidFill>
                  <a:srgbClr val="0071B2"/>
                </a:solidFill>
                <a:latin typeface="Source Sans Pro" panose="020B0503030403020204" pitchFamily="34" charset="0"/>
              </a:rPr>
              <a:t>Bei „Geld_her“ ist es regelmäßig notwendig, den </a:t>
            </a:r>
            <a:r>
              <a:rPr lang="de-DE" b="1" dirty="0">
                <a:solidFill>
                  <a:srgbClr val="0071B2"/>
                </a:solidFill>
                <a:latin typeface="Source Sans Pro" panose="020B0503030403020204" pitchFamily="34" charset="0"/>
              </a:rPr>
              <a:t>Datensatz eines Kunden zu löschen</a:t>
            </a:r>
            <a:r>
              <a:rPr lang="de-DE" dirty="0">
                <a:solidFill>
                  <a:srgbClr val="0071B2"/>
                </a:solidFill>
                <a:latin typeface="Source Sans Pro" panose="020B0503030403020204" pitchFamily="34" charset="0"/>
              </a:rPr>
              <a:t>. </a:t>
            </a:r>
          </a:p>
          <a:p>
            <a:pPr marR="0" lvl="0" algn="l" defTabSz="914400" rtl="0" eaLnBrk="1" fontAlgn="auto" latinLnBrk="0" hangingPunct="1">
              <a:lnSpc>
                <a:spcPct val="100000"/>
              </a:lnSpc>
              <a:spcBef>
                <a:spcPts val="0"/>
              </a:spcBef>
              <a:spcAft>
                <a:spcPts val="0"/>
              </a:spcAft>
              <a:buClrTx/>
              <a:buSzTx/>
              <a:tabLst/>
              <a:defRPr/>
            </a:pPr>
            <a:r>
              <a:rPr lang="de-DE" dirty="0">
                <a:solidFill>
                  <a:srgbClr val="0071B2"/>
                </a:solidFill>
                <a:latin typeface="Source Sans Pro" panose="020B0503030403020204" pitchFamily="34" charset="0"/>
              </a:rPr>
              <a:t>Dies kann aber nur gelingen, wenn zuvor alle </a:t>
            </a:r>
            <a:r>
              <a:rPr lang="de-DE" b="1" dirty="0">
                <a:solidFill>
                  <a:srgbClr val="0071B2"/>
                </a:solidFill>
                <a:latin typeface="Source Sans Pro" panose="020B0503030403020204" pitchFamily="34" charset="0"/>
              </a:rPr>
              <a:t>Abrechnungen dieses Kunden gelöscht </a:t>
            </a:r>
            <a:r>
              <a:rPr lang="de-DE" dirty="0">
                <a:solidFill>
                  <a:srgbClr val="0071B2"/>
                </a:solidFill>
                <a:latin typeface="Source Sans Pro" panose="020B0503030403020204" pitchFamily="34" charset="0"/>
              </a:rPr>
              <a:t>wurden. </a:t>
            </a:r>
          </a:p>
          <a:p>
            <a:pPr marR="0" lvl="0" algn="l" defTabSz="914400" rtl="0" eaLnBrk="1" fontAlgn="auto" latinLnBrk="0" hangingPunct="1">
              <a:lnSpc>
                <a:spcPct val="100000"/>
              </a:lnSpc>
              <a:spcBef>
                <a:spcPts val="0"/>
              </a:spcBef>
              <a:spcAft>
                <a:spcPts val="0"/>
              </a:spcAft>
              <a:buClrTx/>
              <a:buSzTx/>
              <a:tabLst/>
              <a:defRPr/>
            </a:pPr>
            <a:r>
              <a:rPr lang="de-DE" dirty="0">
                <a:solidFill>
                  <a:srgbClr val="0071B2"/>
                </a:solidFill>
                <a:latin typeface="Source Sans Pro" panose="020B0503030403020204" pitchFamily="34" charset="0"/>
              </a:rPr>
              <a:t>Dies wiederum verlangt jedoch, alle Einträge der Hilfstabelle zu identifizieren, die sich auf Abrechnungen des zu löschenden Kunden beziehen, da </a:t>
            </a:r>
            <a:r>
              <a:rPr lang="de-DE" b="1" dirty="0">
                <a:solidFill>
                  <a:srgbClr val="0071B2"/>
                </a:solidFill>
                <a:latin typeface="Source Sans Pro" panose="020B0503030403020204" pitchFamily="34" charset="0"/>
              </a:rPr>
              <a:t>zuallererst diese Verkaufsposten gelöscht </a:t>
            </a:r>
            <a:r>
              <a:rPr lang="de-DE" dirty="0">
                <a:solidFill>
                  <a:srgbClr val="0071B2"/>
                </a:solidFill>
                <a:latin typeface="Source Sans Pro" panose="020B0503030403020204" pitchFamily="34" charset="0"/>
              </a:rPr>
              <a:t>werden müssen. </a:t>
            </a:r>
          </a:p>
          <a:p>
            <a:pPr marR="0" lvl="0" algn="l" defTabSz="914400" rtl="0" eaLnBrk="1" fontAlgn="auto" latinLnBrk="0" hangingPunct="1">
              <a:lnSpc>
                <a:spcPct val="100000"/>
              </a:lnSpc>
              <a:spcBef>
                <a:spcPts val="0"/>
              </a:spcBef>
              <a:spcAft>
                <a:spcPts val="0"/>
              </a:spcAft>
              <a:buClrTx/>
              <a:buSzTx/>
              <a:tabLst/>
              <a:defRPr/>
            </a:pPr>
            <a:endParaRPr lang="de-DE"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lang="de-DE" dirty="0">
                <a:solidFill>
                  <a:srgbClr val="0071B2"/>
                </a:solidFill>
                <a:latin typeface="Source Sans Pro" panose="020B0503030403020204" pitchFamily="34" charset="0"/>
              </a:rPr>
              <a:t>Um den Gesamt-Löschvorgang zu erleichtern, sollen die Referenzen zu einer </a:t>
            </a:r>
            <a:r>
              <a:rPr lang="de-DE" b="1" dirty="0">
                <a:solidFill>
                  <a:srgbClr val="0071B2"/>
                </a:solidFill>
                <a:latin typeface="Source Sans Pro" panose="020B0503030403020204" pitchFamily="34" charset="0"/>
              </a:rPr>
              <a:t>Kaskade</a:t>
            </a:r>
            <a:r>
              <a:rPr lang="de-DE" dirty="0">
                <a:solidFill>
                  <a:srgbClr val="0071B2"/>
                </a:solidFill>
                <a:latin typeface="Source Sans Pro" panose="020B0503030403020204" pitchFamily="34" charset="0"/>
              </a:rPr>
              <a:t> zusammengefasst werden. Wir betrachten diese Aufgabe am konkreten Beispiel des Löschvorgangs von Kunde 1:</a:t>
            </a:r>
          </a:p>
          <a:p>
            <a:pPr marR="0" lvl="0" algn="l" defTabSz="914400" rtl="0" eaLnBrk="1" fontAlgn="auto" latinLnBrk="0" hangingPunct="1">
              <a:lnSpc>
                <a:spcPct val="100000"/>
              </a:lnSpc>
              <a:spcBef>
                <a:spcPts val="0"/>
              </a:spcBef>
              <a:spcAft>
                <a:spcPts val="0"/>
              </a:spcAft>
              <a:buClrTx/>
              <a:buSzTx/>
              <a:tabLst/>
              <a:defRPr/>
            </a:pPr>
            <a:endParaRPr lang="de-DE"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lang="de-DE"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lang="de-DE" dirty="0">
              <a:solidFill>
                <a:srgbClr val="0071B2"/>
              </a:solidFill>
              <a:latin typeface="Source Sans Pro" panose="020B0503030403020204" pitchFamily="34" charset="0"/>
            </a:endParaRPr>
          </a:p>
          <a:p>
            <a:pPr>
              <a:defRPr/>
            </a:pPr>
            <a:endParaRPr lang="de-DE" dirty="0">
              <a:solidFill>
                <a:srgbClr val="0071B2"/>
              </a:solidFill>
              <a:latin typeface="Source Sans Pro" panose="020B0503030403020204" pitchFamily="34" charset="0"/>
            </a:endParaRPr>
          </a:p>
          <a:p>
            <a:pPr lvl="0">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lvl="0">
              <a:defRPr/>
            </a:pPr>
            <a:r>
              <a:rPr lang="de-DE" sz="4000" dirty="0">
                <a:solidFill>
                  <a:srgbClr val="0071B2"/>
                </a:solidFill>
                <a:latin typeface="Source Sans Pro" panose="020B0503030403020204" pitchFamily="34" charset="0"/>
              </a:rPr>
              <a:t>Beispiel</a:t>
            </a:r>
            <a:endParaRPr lang="de-DE" sz="4000" b="0" i="1" dirty="0">
              <a:solidFill>
                <a:schemeClr val="accent2"/>
              </a:solidFill>
              <a:latin typeface="Source Sans Pro" panose="020B0503030403020204" pitchFamily="34" charset="0"/>
            </a:endParaRPr>
          </a:p>
        </p:txBody>
      </p:sp>
      <p:pic>
        <p:nvPicPr>
          <p:cNvPr id="3" name="Grafik 2"/>
          <p:cNvPicPr>
            <a:picLocks noChangeAspect="1"/>
          </p:cNvPicPr>
          <p:nvPr/>
        </p:nvPicPr>
        <p:blipFill>
          <a:blip r:embed="rId2"/>
          <a:stretch>
            <a:fillRect/>
          </a:stretch>
        </p:blipFill>
        <p:spPr>
          <a:xfrm>
            <a:off x="2036964" y="3504532"/>
            <a:ext cx="3695700" cy="2409825"/>
          </a:xfrm>
          <a:prstGeom prst="rect">
            <a:avLst/>
          </a:prstGeom>
          <a:effectLst>
            <a:innerShdw blurRad="114300">
              <a:prstClr val="black"/>
            </a:innerShdw>
          </a:effectLst>
        </p:spPr>
      </p:pic>
      <p:pic>
        <p:nvPicPr>
          <p:cNvPr id="7" name="Grafik 6"/>
          <p:cNvPicPr>
            <a:picLocks noChangeAspect="1"/>
          </p:cNvPicPr>
          <p:nvPr/>
        </p:nvPicPr>
        <p:blipFill>
          <a:blip r:embed="rId3"/>
          <a:stretch>
            <a:fillRect/>
          </a:stretch>
        </p:blipFill>
        <p:spPr>
          <a:xfrm>
            <a:off x="5911089" y="3504533"/>
            <a:ext cx="2049674" cy="2425448"/>
          </a:xfrm>
          <a:prstGeom prst="rect">
            <a:avLst/>
          </a:prstGeom>
          <a:effectLst>
            <a:innerShdw blurRad="114300">
              <a:prstClr val="black"/>
            </a:innerShdw>
          </a:effectLst>
        </p:spPr>
      </p:pic>
      <p:pic>
        <p:nvPicPr>
          <p:cNvPr id="9" name="Grafik 8"/>
          <p:cNvPicPr>
            <a:picLocks noChangeAspect="1"/>
          </p:cNvPicPr>
          <p:nvPr/>
        </p:nvPicPr>
        <p:blipFill>
          <a:blip r:embed="rId4"/>
          <a:stretch>
            <a:fillRect/>
          </a:stretch>
        </p:blipFill>
        <p:spPr>
          <a:xfrm>
            <a:off x="8139188" y="3504532"/>
            <a:ext cx="949983" cy="2429679"/>
          </a:xfrm>
          <a:prstGeom prst="rect">
            <a:avLst/>
          </a:prstGeom>
          <a:effectLst>
            <a:innerShdw blurRad="114300">
              <a:prstClr val="black"/>
            </a:innerShdw>
          </a:effectLst>
        </p:spPr>
      </p:pic>
      <p:sp>
        <p:nvSpPr>
          <p:cNvPr id="10" name="Rechteck 9"/>
          <p:cNvSpPr/>
          <p:nvPr/>
        </p:nvSpPr>
        <p:spPr>
          <a:xfrm>
            <a:off x="2036964" y="3724102"/>
            <a:ext cx="3695700" cy="31588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3" name="Rechteck 12"/>
          <p:cNvSpPr/>
          <p:nvPr/>
        </p:nvSpPr>
        <p:spPr>
          <a:xfrm>
            <a:off x="5911089" y="3652059"/>
            <a:ext cx="2049674" cy="22998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4" name="Rechteck 13"/>
          <p:cNvSpPr/>
          <p:nvPr/>
        </p:nvSpPr>
        <p:spPr>
          <a:xfrm>
            <a:off x="5911089" y="5509283"/>
            <a:ext cx="2049674" cy="2015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5" name="Rechteck 14"/>
          <p:cNvSpPr/>
          <p:nvPr/>
        </p:nvSpPr>
        <p:spPr>
          <a:xfrm>
            <a:off x="8139188" y="3591098"/>
            <a:ext cx="949983" cy="47133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6" name="Rechteck 15"/>
          <p:cNvSpPr/>
          <p:nvPr/>
        </p:nvSpPr>
        <p:spPr>
          <a:xfrm>
            <a:off x="8139188" y="5828252"/>
            <a:ext cx="949983" cy="10172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3339258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animBg="1"/>
      <p:bldP spid="14" grpId="0" animBg="1"/>
      <p:bldP spid="15" grpId="0" animBg="1"/>
      <p:bldP spid="1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36321" y="946123"/>
            <a:ext cx="11225694" cy="38472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b="1" dirty="0">
                <a:solidFill>
                  <a:srgbClr val="0071B2"/>
                </a:solidFill>
                <a:latin typeface="Source Sans Pro" panose="020B0503030403020204" pitchFamily="34" charset="0"/>
              </a:rPr>
              <a:t>Aufgabenstellung: </a:t>
            </a:r>
          </a:p>
          <a:p>
            <a:pPr marR="0" lvl="0" algn="l" defTabSz="914400" rtl="0" eaLnBrk="1" fontAlgn="auto" latinLnBrk="0" hangingPunct="1">
              <a:lnSpc>
                <a:spcPct val="100000"/>
              </a:lnSpc>
              <a:spcBef>
                <a:spcPts val="0"/>
              </a:spcBef>
              <a:spcAft>
                <a:spcPts val="0"/>
              </a:spcAft>
              <a:buClrTx/>
              <a:buSzTx/>
              <a:tabLst/>
              <a:defRPr/>
            </a:pPr>
            <a:endParaRPr lang="de-DE" sz="200" b="1"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lang="de-DE" dirty="0">
                <a:solidFill>
                  <a:srgbClr val="0071B2"/>
                </a:solidFill>
                <a:latin typeface="Source Sans Pro" panose="020B0503030403020204" pitchFamily="34" charset="0"/>
              </a:rPr>
              <a:t>Bei „Geld_her“ ist es regelmäßig notwendig, den </a:t>
            </a:r>
            <a:r>
              <a:rPr lang="de-DE" b="1" dirty="0">
                <a:solidFill>
                  <a:srgbClr val="0071B2"/>
                </a:solidFill>
                <a:latin typeface="Source Sans Pro" panose="020B0503030403020204" pitchFamily="34" charset="0"/>
              </a:rPr>
              <a:t>Datensatz eines Kunden zu löschen</a:t>
            </a:r>
            <a:r>
              <a:rPr lang="de-DE" dirty="0">
                <a:solidFill>
                  <a:srgbClr val="0071B2"/>
                </a:solidFill>
                <a:latin typeface="Source Sans Pro" panose="020B0503030403020204" pitchFamily="34" charset="0"/>
              </a:rPr>
              <a:t>. </a:t>
            </a:r>
          </a:p>
          <a:p>
            <a:pPr marR="0" lvl="0" algn="l" defTabSz="914400" rtl="0" eaLnBrk="1" fontAlgn="auto" latinLnBrk="0" hangingPunct="1">
              <a:lnSpc>
                <a:spcPct val="100000"/>
              </a:lnSpc>
              <a:spcBef>
                <a:spcPts val="0"/>
              </a:spcBef>
              <a:spcAft>
                <a:spcPts val="0"/>
              </a:spcAft>
              <a:buClrTx/>
              <a:buSzTx/>
              <a:tabLst/>
              <a:defRPr/>
            </a:pPr>
            <a:r>
              <a:rPr lang="de-DE" dirty="0">
                <a:solidFill>
                  <a:srgbClr val="0071B2"/>
                </a:solidFill>
                <a:latin typeface="Source Sans Pro" panose="020B0503030403020204" pitchFamily="34" charset="0"/>
              </a:rPr>
              <a:t>Dies kann aber nur gelingen, wenn zuvor alle </a:t>
            </a:r>
            <a:r>
              <a:rPr lang="de-DE" b="1" dirty="0">
                <a:solidFill>
                  <a:srgbClr val="0071B2"/>
                </a:solidFill>
                <a:latin typeface="Source Sans Pro" panose="020B0503030403020204" pitchFamily="34" charset="0"/>
              </a:rPr>
              <a:t>Abrechnungen dieses Kunden gelöscht </a:t>
            </a:r>
            <a:r>
              <a:rPr lang="de-DE" dirty="0">
                <a:solidFill>
                  <a:srgbClr val="0071B2"/>
                </a:solidFill>
                <a:latin typeface="Source Sans Pro" panose="020B0503030403020204" pitchFamily="34" charset="0"/>
              </a:rPr>
              <a:t>wurden. </a:t>
            </a:r>
          </a:p>
          <a:p>
            <a:pPr marR="0" lvl="0" algn="l" defTabSz="914400" rtl="0" eaLnBrk="1" fontAlgn="auto" latinLnBrk="0" hangingPunct="1">
              <a:lnSpc>
                <a:spcPct val="100000"/>
              </a:lnSpc>
              <a:spcBef>
                <a:spcPts val="0"/>
              </a:spcBef>
              <a:spcAft>
                <a:spcPts val="0"/>
              </a:spcAft>
              <a:buClrTx/>
              <a:buSzTx/>
              <a:tabLst/>
              <a:defRPr/>
            </a:pPr>
            <a:r>
              <a:rPr lang="de-DE" dirty="0">
                <a:solidFill>
                  <a:srgbClr val="0071B2"/>
                </a:solidFill>
                <a:latin typeface="Source Sans Pro" panose="020B0503030403020204" pitchFamily="34" charset="0"/>
              </a:rPr>
              <a:t>Dies wiederum verlangt jedoch, alle Einträge der Hilfstabelle zu identifizieren, die sich auf Abrechnungen des zu löschenden Kunden beziehen, da </a:t>
            </a:r>
            <a:r>
              <a:rPr lang="de-DE" b="1" dirty="0">
                <a:solidFill>
                  <a:srgbClr val="0071B2"/>
                </a:solidFill>
                <a:latin typeface="Source Sans Pro" panose="020B0503030403020204" pitchFamily="34" charset="0"/>
              </a:rPr>
              <a:t>zuallererst diese Verkaufsposten gelöscht </a:t>
            </a:r>
            <a:r>
              <a:rPr lang="de-DE" dirty="0">
                <a:solidFill>
                  <a:srgbClr val="0071B2"/>
                </a:solidFill>
                <a:latin typeface="Source Sans Pro" panose="020B0503030403020204" pitchFamily="34" charset="0"/>
              </a:rPr>
              <a:t>werden müssen. </a:t>
            </a:r>
          </a:p>
          <a:p>
            <a:pPr marR="0" lvl="0" algn="l" defTabSz="914400" rtl="0" eaLnBrk="1" fontAlgn="auto" latinLnBrk="0" hangingPunct="1">
              <a:lnSpc>
                <a:spcPct val="100000"/>
              </a:lnSpc>
              <a:spcBef>
                <a:spcPts val="0"/>
              </a:spcBef>
              <a:spcAft>
                <a:spcPts val="0"/>
              </a:spcAft>
              <a:buClrTx/>
              <a:buSzTx/>
              <a:tabLst/>
              <a:defRPr/>
            </a:pPr>
            <a:endParaRPr lang="de-DE" dirty="0">
              <a:solidFill>
                <a:srgbClr val="0071B2"/>
              </a:solidFill>
              <a:latin typeface="Source Sans Pro" panose="020B0503030403020204" pitchFamily="34" charset="0"/>
            </a:endParaRPr>
          </a:p>
          <a:p>
            <a:pPr lvl="0">
              <a:defRPr/>
            </a:pPr>
            <a:r>
              <a:rPr lang="de-DE" dirty="0">
                <a:solidFill>
                  <a:srgbClr val="0071B2"/>
                </a:solidFill>
                <a:latin typeface="Source Sans Pro" panose="020B0503030403020204" pitchFamily="34" charset="0"/>
              </a:rPr>
              <a:t>Um den Gesamt-Löschvorgang zu erleichtern, sollen die Referenzen zu einer </a:t>
            </a:r>
            <a:r>
              <a:rPr lang="de-DE" b="1" dirty="0">
                <a:solidFill>
                  <a:srgbClr val="0071B2"/>
                </a:solidFill>
                <a:latin typeface="Source Sans Pro" panose="020B0503030403020204" pitchFamily="34" charset="0"/>
              </a:rPr>
              <a:t>Kaskade</a:t>
            </a:r>
            <a:r>
              <a:rPr lang="de-DE" dirty="0">
                <a:solidFill>
                  <a:srgbClr val="0071B2"/>
                </a:solidFill>
                <a:latin typeface="Source Sans Pro" panose="020B0503030403020204" pitchFamily="34" charset="0"/>
              </a:rPr>
              <a:t> zusammengefasst werden. Wir betrachten diese Aufgabe am konkreten Beispiel des Löschvorgangs von Kunde 1:</a:t>
            </a:r>
          </a:p>
          <a:p>
            <a:pPr marR="0" lvl="0" algn="l" defTabSz="914400" rtl="0" eaLnBrk="1" fontAlgn="auto" latinLnBrk="0" hangingPunct="1">
              <a:lnSpc>
                <a:spcPct val="100000"/>
              </a:lnSpc>
              <a:spcBef>
                <a:spcPts val="0"/>
              </a:spcBef>
              <a:spcAft>
                <a:spcPts val="0"/>
              </a:spcAft>
              <a:buClrTx/>
              <a:buSzTx/>
              <a:tabLst/>
              <a:defRPr/>
            </a:pPr>
            <a:endParaRPr lang="de-DE"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lang="de-DE"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lang="de-DE" dirty="0">
              <a:solidFill>
                <a:srgbClr val="0071B2"/>
              </a:solidFill>
              <a:latin typeface="Source Sans Pro" panose="020B0503030403020204" pitchFamily="34" charset="0"/>
            </a:endParaRPr>
          </a:p>
          <a:p>
            <a:pPr>
              <a:defRPr/>
            </a:pPr>
            <a:endParaRPr lang="de-DE" dirty="0">
              <a:solidFill>
                <a:srgbClr val="0071B2"/>
              </a:solidFill>
              <a:latin typeface="Source Sans Pro" panose="020B0503030403020204" pitchFamily="34" charset="0"/>
            </a:endParaRPr>
          </a:p>
          <a:p>
            <a:pPr lvl="0">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lvl="0">
              <a:defRPr/>
            </a:pPr>
            <a:r>
              <a:rPr lang="de-DE" sz="4000" dirty="0">
                <a:solidFill>
                  <a:srgbClr val="0071B2"/>
                </a:solidFill>
                <a:latin typeface="Source Sans Pro" panose="020B0503030403020204" pitchFamily="34" charset="0"/>
              </a:rPr>
              <a:t>Beispiel</a:t>
            </a:r>
            <a:endParaRPr lang="de-DE" sz="4000" b="0" i="1" dirty="0">
              <a:solidFill>
                <a:schemeClr val="accent2"/>
              </a:solidFill>
              <a:latin typeface="Source Sans Pro" panose="020B0503030403020204" pitchFamily="34" charset="0"/>
            </a:endParaRPr>
          </a:p>
        </p:txBody>
      </p:sp>
      <p:pic>
        <p:nvPicPr>
          <p:cNvPr id="3" name="Grafik 2"/>
          <p:cNvPicPr>
            <a:picLocks noChangeAspect="1"/>
          </p:cNvPicPr>
          <p:nvPr/>
        </p:nvPicPr>
        <p:blipFill>
          <a:blip r:embed="rId2"/>
          <a:stretch>
            <a:fillRect/>
          </a:stretch>
        </p:blipFill>
        <p:spPr>
          <a:xfrm>
            <a:off x="2036964" y="3504532"/>
            <a:ext cx="3695700" cy="2409825"/>
          </a:xfrm>
          <a:prstGeom prst="rect">
            <a:avLst/>
          </a:prstGeom>
          <a:effectLst>
            <a:innerShdw blurRad="114300">
              <a:prstClr val="black"/>
            </a:innerShdw>
          </a:effectLst>
        </p:spPr>
      </p:pic>
      <p:pic>
        <p:nvPicPr>
          <p:cNvPr id="7" name="Grafik 6"/>
          <p:cNvPicPr>
            <a:picLocks noChangeAspect="1"/>
          </p:cNvPicPr>
          <p:nvPr/>
        </p:nvPicPr>
        <p:blipFill>
          <a:blip r:embed="rId3"/>
          <a:stretch>
            <a:fillRect/>
          </a:stretch>
        </p:blipFill>
        <p:spPr>
          <a:xfrm>
            <a:off x="5911089" y="3504533"/>
            <a:ext cx="2049674" cy="2425448"/>
          </a:xfrm>
          <a:prstGeom prst="rect">
            <a:avLst/>
          </a:prstGeom>
          <a:effectLst>
            <a:innerShdw blurRad="114300">
              <a:prstClr val="black"/>
            </a:innerShdw>
          </a:effectLst>
        </p:spPr>
      </p:pic>
      <p:pic>
        <p:nvPicPr>
          <p:cNvPr id="9" name="Grafik 8"/>
          <p:cNvPicPr>
            <a:picLocks noChangeAspect="1"/>
          </p:cNvPicPr>
          <p:nvPr/>
        </p:nvPicPr>
        <p:blipFill>
          <a:blip r:embed="rId4"/>
          <a:stretch>
            <a:fillRect/>
          </a:stretch>
        </p:blipFill>
        <p:spPr>
          <a:xfrm>
            <a:off x="8139188" y="3504532"/>
            <a:ext cx="949983" cy="2429679"/>
          </a:xfrm>
          <a:prstGeom prst="rect">
            <a:avLst/>
          </a:prstGeom>
          <a:effectLst>
            <a:innerShdw blurRad="114300">
              <a:prstClr val="black"/>
            </a:innerShdw>
          </a:effectLst>
        </p:spPr>
      </p:pic>
      <p:sp>
        <p:nvSpPr>
          <p:cNvPr id="10" name="Rechteck 9"/>
          <p:cNvSpPr/>
          <p:nvPr/>
        </p:nvSpPr>
        <p:spPr>
          <a:xfrm>
            <a:off x="2036964" y="3724102"/>
            <a:ext cx="3695700" cy="31588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3" name="Rechteck 12"/>
          <p:cNvSpPr/>
          <p:nvPr/>
        </p:nvSpPr>
        <p:spPr>
          <a:xfrm>
            <a:off x="5911089" y="3652059"/>
            <a:ext cx="2049674" cy="22998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4" name="Rechteck 13"/>
          <p:cNvSpPr/>
          <p:nvPr/>
        </p:nvSpPr>
        <p:spPr>
          <a:xfrm>
            <a:off x="5911089" y="5509283"/>
            <a:ext cx="2049674" cy="2015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5" name="Rechteck 14"/>
          <p:cNvSpPr/>
          <p:nvPr/>
        </p:nvSpPr>
        <p:spPr>
          <a:xfrm>
            <a:off x="8139188" y="3591098"/>
            <a:ext cx="949983" cy="47133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6" name="Rechteck 15"/>
          <p:cNvSpPr/>
          <p:nvPr/>
        </p:nvSpPr>
        <p:spPr>
          <a:xfrm>
            <a:off x="8139188" y="5828252"/>
            <a:ext cx="949983" cy="10172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18597681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36321" y="946123"/>
            <a:ext cx="11225694" cy="38472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b="1" dirty="0">
                <a:solidFill>
                  <a:srgbClr val="0071B2"/>
                </a:solidFill>
                <a:latin typeface="Source Sans Pro" panose="020B0503030403020204" pitchFamily="34" charset="0"/>
              </a:rPr>
              <a:t>Aufgabenstellung: </a:t>
            </a:r>
          </a:p>
          <a:p>
            <a:pPr marR="0" lvl="0" algn="l" defTabSz="914400" rtl="0" eaLnBrk="1" fontAlgn="auto" latinLnBrk="0" hangingPunct="1">
              <a:lnSpc>
                <a:spcPct val="100000"/>
              </a:lnSpc>
              <a:spcBef>
                <a:spcPts val="0"/>
              </a:spcBef>
              <a:spcAft>
                <a:spcPts val="0"/>
              </a:spcAft>
              <a:buClrTx/>
              <a:buSzTx/>
              <a:tabLst/>
              <a:defRPr/>
            </a:pPr>
            <a:endParaRPr lang="de-DE" sz="200" b="1"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lang="de-DE" dirty="0">
                <a:solidFill>
                  <a:srgbClr val="0071B2"/>
                </a:solidFill>
                <a:latin typeface="Source Sans Pro" panose="020B0503030403020204" pitchFamily="34" charset="0"/>
              </a:rPr>
              <a:t>Bei „Geld_her“ ist es regelmäßig notwendig, den </a:t>
            </a:r>
            <a:r>
              <a:rPr lang="de-DE" b="1" dirty="0">
                <a:solidFill>
                  <a:srgbClr val="0071B2"/>
                </a:solidFill>
                <a:latin typeface="Source Sans Pro" panose="020B0503030403020204" pitchFamily="34" charset="0"/>
              </a:rPr>
              <a:t>Datensatz eines Kunden zu löschen</a:t>
            </a:r>
            <a:r>
              <a:rPr lang="de-DE" dirty="0">
                <a:solidFill>
                  <a:srgbClr val="0071B2"/>
                </a:solidFill>
                <a:latin typeface="Source Sans Pro" panose="020B0503030403020204" pitchFamily="34" charset="0"/>
              </a:rPr>
              <a:t>. </a:t>
            </a:r>
          </a:p>
          <a:p>
            <a:pPr marR="0" lvl="0" algn="l" defTabSz="914400" rtl="0" eaLnBrk="1" fontAlgn="auto" latinLnBrk="0" hangingPunct="1">
              <a:lnSpc>
                <a:spcPct val="100000"/>
              </a:lnSpc>
              <a:spcBef>
                <a:spcPts val="0"/>
              </a:spcBef>
              <a:spcAft>
                <a:spcPts val="0"/>
              </a:spcAft>
              <a:buClrTx/>
              <a:buSzTx/>
              <a:tabLst/>
              <a:defRPr/>
            </a:pPr>
            <a:r>
              <a:rPr lang="de-DE" dirty="0">
                <a:solidFill>
                  <a:srgbClr val="0071B2"/>
                </a:solidFill>
                <a:latin typeface="Source Sans Pro" panose="020B0503030403020204" pitchFamily="34" charset="0"/>
              </a:rPr>
              <a:t>Dies kann aber nur gelingen, wenn zuvor alle </a:t>
            </a:r>
            <a:r>
              <a:rPr lang="de-DE" b="1" dirty="0">
                <a:solidFill>
                  <a:srgbClr val="0071B2"/>
                </a:solidFill>
                <a:latin typeface="Source Sans Pro" panose="020B0503030403020204" pitchFamily="34" charset="0"/>
              </a:rPr>
              <a:t>Abrechnungen dieses Kunden gelöscht </a:t>
            </a:r>
            <a:r>
              <a:rPr lang="de-DE" dirty="0">
                <a:solidFill>
                  <a:srgbClr val="0071B2"/>
                </a:solidFill>
                <a:latin typeface="Source Sans Pro" panose="020B0503030403020204" pitchFamily="34" charset="0"/>
              </a:rPr>
              <a:t>wurden. </a:t>
            </a:r>
          </a:p>
          <a:p>
            <a:pPr marR="0" lvl="0" algn="l" defTabSz="914400" rtl="0" eaLnBrk="1" fontAlgn="auto" latinLnBrk="0" hangingPunct="1">
              <a:lnSpc>
                <a:spcPct val="100000"/>
              </a:lnSpc>
              <a:spcBef>
                <a:spcPts val="0"/>
              </a:spcBef>
              <a:spcAft>
                <a:spcPts val="0"/>
              </a:spcAft>
              <a:buClrTx/>
              <a:buSzTx/>
              <a:tabLst/>
              <a:defRPr/>
            </a:pPr>
            <a:r>
              <a:rPr lang="de-DE" dirty="0">
                <a:solidFill>
                  <a:srgbClr val="0071B2"/>
                </a:solidFill>
                <a:latin typeface="Source Sans Pro" panose="020B0503030403020204" pitchFamily="34" charset="0"/>
              </a:rPr>
              <a:t>Dies wiederum verlangt jedoch, alle Einträge der Hilfstabelle zu identifizieren, die sich auf Abrechnungen des zu löschenden Kunden beziehen, da </a:t>
            </a:r>
            <a:r>
              <a:rPr lang="de-DE" b="1" dirty="0">
                <a:solidFill>
                  <a:srgbClr val="0071B2"/>
                </a:solidFill>
                <a:latin typeface="Source Sans Pro" panose="020B0503030403020204" pitchFamily="34" charset="0"/>
              </a:rPr>
              <a:t>zuallererst diese Verkaufsposten gelöscht </a:t>
            </a:r>
            <a:r>
              <a:rPr lang="de-DE" dirty="0">
                <a:solidFill>
                  <a:srgbClr val="0071B2"/>
                </a:solidFill>
                <a:latin typeface="Source Sans Pro" panose="020B0503030403020204" pitchFamily="34" charset="0"/>
              </a:rPr>
              <a:t>werden müssen. </a:t>
            </a:r>
          </a:p>
          <a:p>
            <a:pPr marR="0" lvl="0" algn="l" defTabSz="914400" rtl="0" eaLnBrk="1" fontAlgn="auto" latinLnBrk="0" hangingPunct="1">
              <a:lnSpc>
                <a:spcPct val="100000"/>
              </a:lnSpc>
              <a:spcBef>
                <a:spcPts val="0"/>
              </a:spcBef>
              <a:spcAft>
                <a:spcPts val="0"/>
              </a:spcAft>
              <a:buClrTx/>
              <a:buSzTx/>
              <a:tabLst/>
              <a:defRPr/>
            </a:pPr>
            <a:endParaRPr lang="de-DE" dirty="0">
              <a:solidFill>
                <a:srgbClr val="0071B2"/>
              </a:solidFill>
              <a:latin typeface="Source Sans Pro" panose="020B0503030403020204" pitchFamily="34" charset="0"/>
            </a:endParaRPr>
          </a:p>
          <a:p>
            <a:pPr lvl="0">
              <a:defRPr/>
            </a:pPr>
            <a:r>
              <a:rPr lang="de-DE" dirty="0">
                <a:solidFill>
                  <a:srgbClr val="0071B2"/>
                </a:solidFill>
                <a:latin typeface="Source Sans Pro" panose="020B0503030403020204" pitchFamily="34" charset="0"/>
              </a:rPr>
              <a:t>Um den Gesamt-Löschvorgang zu erleichtern, sollen die Referenzen zu einer </a:t>
            </a:r>
            <a:r>
              <a:rPr lang="de-DE" b="1" dirty="0">
                <a:solidFill>
                  <a:srgbClr val="0071B2"/>
                </a:solidFill>
                <a:latin typeface="Source Sans Pro" panose="020B0503030403020204" pitchFamily="34" charset="0"/>
              </a:rPr>
              <a:t>Kaskade</a:t>
            </a:r>
            <a:r>
              <a:rPr lang="de-DE" dirty="0">
                <a:solidFill>
                  <a:srgbClr val="0071B2"/>
                </a:solidFill>
                <a:latin typeface="Source Sans Pro" panose="020B0503030403020204" pitchFamily="34" charset="0"/>
              </a:rPr>
              <a:t> zusammengefasst werden. Wir betrachten diese Aufgabe am konkreten Beispiel des Löschvorgangs von Kunde 1:</a:t>
            </a:r>
          </a:p>
          <a:p>
            <a:pPr marR="0" lvl="0" algn="l" defTabSz="914400" rtl="0" eaLnBrk="1" fontAlgn="auto" latinLnBrk="0" hangingPunct="1">
              <a:lnSpc>
                <a:spcPct val="100000"/>
              </a:lnSpc>
              <a:spcBef>
                <a:spcPts val="0"/>
              </a:spcBef>
              <a:spcAft>
                <a:spcPts val="0"/>
              </a:spcAft>
              <a:buClrTx/>
              <a:buSzTx/>
              <a:tabLst/>
              <a:defRPr/>
            </a:pPr>
            <a:endParaRPr lang="de-DE"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lang="de-DE"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lang="de-DE" dirty="0">
              <a:solidFill>
                <a:srgbClr val="0071B2"/>
              </a:solidFill>
              <a:latin typeface="Source Sans Pro" panose="020B0503030403020204" pitchFamily="34" charset="0"/>
            </a:endParaRPr>
          </a:p>
          <a:p>
            <a:pPr>
              <a:defRPr/>
            </a:pPr>
            <a:endParaRPr lang="de-DE" dirty="0">
              <a:solidFill>
                <a:srgbClr val="0071B2"/>
              </a:solidFill>
              <a:latin typeface="Source Sans Pro" panose="020B0503030403020204" pitchFamily="34" charset="0"/>
            </a:endParaRPr>
          </a:p>
          <a:p>
            <a:pPr lvl="0">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lvl="0">
              <a:defRPr/>
            </a:pPr>
            <a:r>
              <a:rPr lang="de-DE" sz="4000" dirty="0">
                <a:solidFill>
                  <a:srgbClr val="0071B2"/>
                </a:solidFill>
                <a:latin typeface="Source Sans Pro" panose="020B0503030403020204" pitchFamily="34" charset="0"/>
              </a:rPr>
              <a:t>Beispiel</a:t>
            </a:r>
            <a:endParaRPr lang="de-DE" sz="4000" b="0" i="1" dirty="0">
              <a:solidFill>
                <a:schemeClr val="accent2"/>
              </a:solidFill>
              <a:latin typeface="Source Sans Pro" panose="020B0503030403020204" pitchFamily="34" charset="0"/>
            </a:endParaRPr>
          </a:p>
        </p:txBody>
      </p:sp>
      <p:pic>
        <p:nvPicPr>
          <p:cNvPr id="3" name="Grafik 2"/>
          <p:cNvPicPr>
            <a:picLocks noChangeAspect="1"/>
          </p:cNvPicPr>
          <p:nvPr/>
        </p:nvPicPr>
        <p:blipFill>
          <a:blip r:embed="rId2"/>
          <a:stretch>
            <a:fillRect/>
          </a:stretch>
        </p:blipFill>
        <p:spPr>
          <a:xfrm>
            <a:off x="2036964" y="3504532"/>
            <a:ext cx="3695700" cy="2409825"/>
          </a:xfrm>
          <a:prstGeom prst="rect">
            <a:avLst/>
          </a:prstGeom>
          <a:effectLst>
            <a:innerShdw blurRad="114300">
              <a:prstClr val="black"/>
            </a:innerShdw>
          </a:effectLst>
        </p:spPr>
      </p:pic>
      <p:pic>
        <p:nvPicPr>
          <p:cNvPr id="7" name="Grafik 6"/>
          <p:cNvPicPr>
            <a:picLocks noChangeAspect="1"/>
          </p:cNvPicPr>
          <p:nvPr/>
        </p:nvPicPr>
        <p:blipFill>
          <a:blip r:embed="rId3"/>
          <a:stretch>
            <a:fillRect/>
          </a:stretch>
        </p:blipFill>
        <p:spPr>
          <a:xfrm>
            <a:off x="5911089" y="3504533"/>
            <a:ext cx="2049674" cy="2425448"/>
          </a:xfrm>
          <a:prstGeom prst="rect">
            <a:avLst/>
          </a:prstGeom>
          <a:effectLst>
            <a:innerShdw blurRad="114300">
              <a:prstClr val="black"/>
            </a:innerShdw>
          </a:effectLst>
        </p:spPr>
      </p:pic>
      <p:pic>
        <p:nvPicPr>
          <p:cNvPr id="9" name="Grafik 8"/>
          <p:cNvPicPr>
            <a:picLocks noChangeAspect="1"/>
          </p:cNvPicPr>
          <p:nvPr/>
        </p:nvPicPr>
        <p:blipFill>
          <a:blip r:embed="rId4"/>
          <a:stretch>
            <a:fillRect/>
          </a:stretch>
        </p:blipFill>
        <p:spPr>
          <a:xfrm>
            <a:off x="8139188" y="3504532"/>
            <a:ext cx="949983" cy="2429679"/>
          </a:xfrm>
          <a:prstGeom prst="rect">
            <a:avLst/>
          </a:prstGeom>
          <a:effectLst>
            <a:innerShdw blurRad="114300">
              <a:prstClr val="black"/>
            </a:innerShdw>
          </a:effectLst>
        </p:spPr>
      </p:pic>
      <p:sp>
        <p:nvSpPr>
          <p:cNvPr id="10" name="Rechteck 9"/>
          <p:cNvSpPr/>
          <p:nvPr/>
        </p:nvSpPr>
        <p:spPr>
          <a:xfrm>
            <a:off x="2036964" y="3724102"/>
            <a:ext cx="3695700" cy="31588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3" name="Rechteck 12"/>
          <p:cNvSpPr/>
          <p:nvPr/>
        </p:nvSpPr>
        <p:spPr>
          <a:xfrm>
            <a:off x="5911089" y="3652059"/>
            <a:ext cx="2049674" cy="229985"/>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4" name="Rechteck 13"/>
          <p:cNvSpPr/>
          <p:nvPr/>
        </p:nvSpPr>
        <p:spPr>
          <a:xfrm>
            <a:off x="5911089" y="5509283"/>
            <a:ext cx="2049674" cy="201562"/>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5" name="Rechteck 14"/>
          <p:cNvSpPr/>
          <p:nvPr/>
        </p:nvSpPr>
        <p:spPr>
          <a:xfrm>
            <a:off x="8139188" y="3591098"/>
            <a:ext cx="949983" cy="47133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6" name="Rechteck 15"/>
          <p:cNvSpPr/>
          <p:nvPr/>
        </p:nvSpPr>
        <p:spPr>
          <a:xfrm>
            <a:off x="8139188" y="5828252"/>
            <a:ext cx="949983" cy="10172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24086479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36321" y="946123"/>
            <a:ext cx="11225694" cy="38472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b="1" dirty="0">
                <a:solidFill>
                  <a:srgbClr val="0071B2"/>
                </a:solidFill>
                <a:latin typeface="Source Sans Pro" panose="020B0503030403020204" pitchFamily="34" charset="0"/>
              </a:rPr>
              <a:t>Aufgabenstellung: </a:t>
            </a:r>
          </a:p>
          <a:p>
            <a:pPr marR="0" lvl="0" algn="l" defTabSz="914400" rtl="0" eaLnBrk="1" fontAlgn="auto" latinLnBrk="0" hangingPunct="1">
              <a:lnSpc>
                <a:spcPct val="100000"/>
              </a:lnSpc>
              <a:spcBef>
                <a:spcPts val="0"/>
              </a:spcBef>
              <a:spcAft>
                <a:spcPts val="0"/>
              </a:spcAft>
              <a:buClrTx/>
              <a:buSzTx/>
              <a:tabLst/>
              <a:defRPr/>
            </a:pPr>
            <a:endParaRPr lang="de-DE" sz="200" b="1"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lang="de-DE" dirty="0">
                <a:solidFill>
                  <a:srgbClr val="0071B2"/>
                </a:solidFill>
                <a:latin typeface="Source Sans Pro" panose="020B0503030403020204" pitchFamily="34" charset="0"/>
              </a:rPr>
              <a:t>Bei „Geld_her“ ist es regelmäßig notwendig, den </a:t>
            </a:r>
            <a:r>
              <a:rPr lang="de-DE" b="1" dirty="0">
                <a:solidFill>
                  <a:srgbClr val="0071B2"/>
                </a:solidFill>
                <a:latin typeface="Source Sans Pro" panose="020B0503030403020204" pitchFamily="34" charset="0"/>
              </a:rPr>
              <a:t>Datensatz eines Kunden zu löschen</a:t>
            </a:r>
            <a:r>
              <a:rPr lang="de-DE" dirty="0">
                <a:solidFill>
                  <a:srgbClr val="0071B2"/>
                </a:solidFill>
                <a:latin typeface="Source Sans Pro" panose="020B0503030403020204" pitchFamily="34" charset="0"/>
              </a:rPr>
              <a:t>. </a:t>
            </a:r>
          </a:p>
          <a:p>
            <a:pPr marR="0" lvl="0" algn="l" defTabSz="914400" rtl="0" eaLnBrk="1" fontAlgn="auto" latinLnBrk="0" hangingPunct="1">
              <a:lnSpc>
                <a:spcPct val="100000"/>
              </a:lnSpc>
              <a:spcBef>
                <a:spcPts val="0"/>
              </a:spcBef>
              <a:spcAft>
                <a:spcPts val="0"/>
              </a:spcAft>
              <a:buClrTx/>
              <a:buSzTx/>
              <a:tabLst/>
              <a:defRPr/>
            </a:pPr>
            <a:r>
              <a:rPr lang="de-DE" dirty="0">
                <a:solidFill>
                  <a:srgbClr val="0071B2"/>
                </a:solidFill>
                <a:latin typeface="Source Sans Pro" panose="020B0503030403020204" pitchFamily="34" charset="0"/>
              </a:rPr>
              <a:t>Dies kann aber nur gelingen, wenn zuvor alle </a:t>
            </a:r>
            <a:r>
              <a:rPr lang="de-DE" b="1" dirty="0">
                <a:solidFill>
                  <a:srgbClr val="0071B2"/>
                </a:solidFill>
                <a:latin typeface="Source Sans Pro" panose="020B0503030403020204" pitchFamily="34" charset="0"/>
              </a:rPr>
              <a:t>Abrechnungen dieses Kunden gelöscht </a:t>
            </a:r>
            <a:r>
              <a:rPr lang="de-DE" dirty="0">
                <a:solidFill>
                  <a:srgbClr val="0071B2"/>
                </a:solidFill>
                <a:latin typeface="Source Sans Pro" panose="020B0503030403020204" pitchFamily="34" charset="0"/>
              </a:rPr>
              <a:t>wurden. </a:t>
            </a:r>
          </a:p>
          <a:p>
            <a:pPr marR="0" lvl="0" algn="l" defTabSz="914400" rtl="0" eaLnBrk="1" fontAlgn="auto" latinLnBrk="0" hangingPunct="1">
              <a:lnSpc>
                <a:spcPct val="100000"/>
              </a:lnSpc>
              <a:spcBef>
                <a:spcPts val="0"/>
              </a:spcBef>
              <a:spcAft>
                <a:spcPts val="0"/>
              </a:spcAft>
              <a:buClrTx/>
              <a:buSzTx/>
              <a:tabLst/>
              <a:defRPr/>
            </a:pPr>
            <a:r>
              <a:rPr lang="de-DE" dirty="0">
                <a:solidFill>
                  <a:srgbClr val="0071B2"/>
                </a:solidFill>
                <a:latin typeface="Source Sans Pro" panose="020B0503030403020204" pitchFamily="34" charset="0"/>
              </a:rPr>
              <a:t>Dies wiederum verlangt jedoch, alle Einträge der Hilfstabelle zu identifizieren, die sich auf Abrechnungen des zu löschenden Kunden beziehen, da </a:t>
            </a:r>
            <a:r>
              <a:rPr lang="de-DE" b="1" dirty="0">
                <a:solidFill>
                  <a:srgbClr val="0071B2"/>
                </a:solidFill>
                <a:latin typeface="Source Sans Pro" panose="020B0503030403020204" pitchFamily="34" charset="0"/>
              </a:rPr>
              <a:t>zuallererst diese Verkaufsposten gelöscht </a:t>
            </a:r>
            <a:r>
              <a:rPr lang="de-DE" dirty="0">
                <a:solidFill>
                  <a:srgbClr val="0071B2"/>
                </a:solidFill>
                <a:latin typeface="Source Sans Pro" panose="020B0503030403020204" pitchFamily="34" charset="0"/>
              </a:rPr>
              <a:t>werden müssen. </a:t>
            </a:r>
          </a:p>
          <a:p>
            <a:pPr marR="0" lvl="0" algn="l" defTabSz="914400" rtl="0" eaLnBrk="1" fontAlgn="auto" latinLnBrk="0" hangingPunct="1">
              <a:lnSpc>
                <a:spcPct val="100000"/>
              </a:lnSpc>
              <a:spcBef>
                <a:spcPts val="0"/>
              </a:spcBef>
              <a:spcAft>
                <a:spcPts val="0"/>
              </a:spcAft>
              <a:buClrTx/>
              <a:buSzTx/>
              <a:tabLst/>
              <a:defRPr/>
            </a:pPr>
            <a:endParaRPr lang="de-DE" dirty="0">
              <a:solidFill>
                <a:srgbClr val="0071B2"/>
              </a:solidFill>
              <a:latin typeface="Source Sans Pro" panose="020B0503030403020204" pitchFamily="34" charset="0"/>
            </a:endParaRPr>
          </a:p>
          <a:p>
            <a:pPr lvl="0">
              <a:defRPr/>
            </a:pPr>
            <a:r>
              <a:rPr lang="de-DE" dirty="0">
                <a:solidFill>
                  <a:srgbClr val="0071B2"/>
                </a:solidFill>
                <a:latin typeface="Source Sans Pro" panose="020B0503030403020204" pitchFamily="34" charset="0"/>
              </a:rPr>
              <a:t>Um den Gesamt-Löschvorgang zu erleichtern, sollen die Referenzen zu einer </a:t>
            </a:r>
            <a:r>
              <a:rPr lang="de-DE" b="1" dirty="0">
                <a:solidFill>
                  <a:srgbClr val="0071B2"/>
                </a:solidFill>
                <a:latin typeface="Source Sans Pro" panose="020B0503030403020204" pitchFamily="34" charset="0"/>
              </a:rPr>
              <a:t>Kaskade</a:t>
            </a:r>
            <a:r>
              <a:rPr lang="de-DE" dirty="0">
                <a:solidFill>
                  <a:srgbClr val="0071B2"/>
                </a:solidFill>
                <a:latin typeface="Source Sans Pro" panose="020B0503030403020204" pitchFamily="34" charset="0"/>
              </a:rPr>
              <a:t> zusammengefasst werden. Wir betrachten diese Aufgabe am konkreten Beispiel des Löschvorgangs von Kunde 1:</a:t>
            </a:r>
          </a:p>
          <a:p>
            <a:pPr marR="0" lvl="0" algn="l" defTabSz="914400" rtl="0" eaLnBrk="1" fontAlgn="auto" latinLnBrk="0" hangingPunct="1">
              <a:lnSpc>
                <a:spcPct val="100000"/>
              </a:lnSpc>
              <a:spcBef>
                <a:spcPts val="0"/>
              </a:spcBef>
              <a:spcAft>
                <a:spcPts val="0"/>
              </a:spcAft>
              <a:buClrTx/>
              <a:buSzTx/>
              <a:tabLst/>
              <a:defRPr/>
            </a:pPr>
            <a:endParaRPr lang="de-DE"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lang="de-DE"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lang="de-DE" dirty="0">
              <a:solidFill>
                <a:srgbClr val="0071B2"/>
              </a:solidFill>
              <a:latin typeface="Source Sans Pro" panose="020B0503030403020204" pitchFamily="34" charset="0"/>
            </a:endParaRPr>
          </a:p>
          <a:p>
            <a:pPr>
              <a:defRPr/>
            </a:pPr>
            <a:endParaRPr lang="de-DE" dirty="0">
              <a:solidFill>
                <a:srgbClr val="0071B2"/>
              </a:solidFill>
              <a:latin typeface="Source Sans Pro" panose="020B0503030403020204" pitchFamily="34" charset="0"/>
            </a:endParaRPr>
          </a:p>
          <a:p>
            <a:pPr lvl="0">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lvl="0">
              <a:defRPr/>
            </a:pPr>
            <a:r>
              <a:rPr lang="de-DE" sz="4000" dirty="0">
                <a:solidFill>
                  <a:srgbClr val="0071B2"/>
                </a:solidFill>
                <a:latin typeface="Source Sans Pro" panose="020B0503030403020204" pitchFamily="34" charset="0"/>
              </a:rPr>
              <a:t>Beispiel</a:t>
            </a:r>
            <a:endParaRPr lang="de-DE" sz="4000" b="0" i="1" dirty="0">
              <a:solidFill>
                <a:schemeClr val="accent2"/>
              </a:solidFill>
              <a:latin typeface="Source Sans Pro" panose="020B0503030403020204" pitchFamily="34" charset="0"/>
            </a:endParaRPr>
          </a:p>
        </p:txBody>
      </p:sp>
      <p:pic>
        <p:nvPicPr>
          <p:cNvPr id="3" name="Grafik 2"/>
          <p:cNvPicPr>
            <a:picLocks noChangeAspect="1"/>
          </p:cNvPicPr>
          <p:nvPr/>
        </p:nvPicPr>
        <p:blipFill>
          <a:blip r:embed="rId2"/>
          <a:stretch>
            <a:fillRect/>
          </a:stretch>
        </p:blipFill>
        <p:spPr>
          <a:xfrm>
            <a:off x="2036964" y="3504532"/>
            <a:ext cx="3695700" cy="2409825"/>
          </a:xfrm>
          <a:prstGeom prst="rect">
            <a:avLst/>
          </a:prstGeom>
          <a:effectLst>
            <a:innerShdw blurRad="114300">
              <a:prstClr val="black"/>
            </a:innerShdw>
          </a:effectLst>
        </p:spPr>
      </p:pic>
      <p:pic>
        <p:nvPicPr>
          <p:cNvPr id="7" name="Grafik 6"/>
          <p:cNvPicPr>
            <a:picLocks noChangeAspect="1"/>
          </p:cNvPicPr>
          <p:nvPr/>
        </p:nvPicPr>
        <p:blipFill>
          <a:blip r:embed="rId3"/>
          <a:stretch>
            <a:fillRect/>
          </a:stretch>
        </p:blipFill>
        <p:spPr>
          <a:xfrm>
            <a:off x="5911089" y="3504533"/>
            <a:ext cx="2049674" cy="2425448"/>
          </a:xfrm>
          <a:prstGeom prst="rect">
            <a:avLst/>
          </a:prstGeom>
          <a:effectLst>
            <a:innerShdw blurRad="114300">
              <a:prstClr val="black"/>
            </a:innerShdw>
          </a:effectLst>
        </p:spPr>
      </p:pic>
      <p:pic>
        <p:nvPicPr>
          <p:cNvPr id="9" name="Grafik 8"/>
          <p:cNvPicPr>
            <a:picLocks noChangeAspect="1"/>
          </p:cNvPicPr>
          <p:nvPr/>
        </p:nvPicPr>
        <p:blipFill>
          <a:blip r:embed="rId4"/>
          <a:stretch>
            <a:fillRect/>
          </a:stretch>
        </p:blipFill>
        <p:spPr>
          <a:xfrm>
            <a:off x="8139188" y="3504532"/>
            <a:ext cx="949983" cy="2429679"/>
          </a:xfrm>
          <a:prstGeom prst="rect">
            <a:avLst/>
          </a:prstGeom>
          <a:effectLst>
            <a:innerShdw blurRad="114300">
              <a:prstClr val="black"/>
            </a:innerShdw>
          </a:effectLst>
        </p:spPr>
      </p:pic>
      <p:sp>
        <p:nvSpPr>
          <p:cNvPr id="10" name="Rechteck 9"/>
          <p:cNvSpPr/>
          <p:nvPr/>
        </p:nvSpPr>
        <p:spPr>
          <a:xfrm>
            <a:off x="2036964" y="3724102"/>
            <a:ext cx="3695700" cy="315883"/>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3" name="Rechteck 12"/>
          <p:cNvSpPr/>
          <p:nvPr/>
        </p:nvSpPr>
        <p:spPr>
          <a:xfrm>
            <a:off x="5911089" y="3652059"/>
            <a:ext cx="2049674" cy="229985"/>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4" name="Rechteck 13"/>
          <p:cNvSpPr/>
          <p:nvPr/>
        </p:nvSpPr>
        <p:spPr>
          <a:xfrm>
            <a:off x="5911089" y="5509283"/>
            <a:ext cx="2049674" cy="201562"/>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5" name="Rechteck 14"/>
          <p:cNvSpPr/>
          <p:nvPr/>
        </p:nvSpPr>
        <p:spPr>
          <a:xfrm>
            <a:off x="8139188" y="3591098"/>
            <a:ext cx="949983" cy="47133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6" name="Rechteck 15"/>
          <p:cNvSpPr/>
          <p:nvPr/>
        </p:nvSpPr>
        <p:spPr>
          <a:xfrm>
            <a:off x="8139188" y="5828252"/>
            <a:ext cx="949983" cy="10172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2666796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36321" y="946123"/>
            <a:ext cx="11225694" cy="329320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dirty="0">
                <a:solidFill>
                  <a:srgbClr val="0071B2"/>
                </a:solidFill>
                <a:latin typeface="Source Sans Pro" panose="020B0503030403020204" pitchFamily="34" charset="0"/>
              </a:rPr>
              <a:t>Um die Fremdschlüsselbeziehungen in Abrechnung und der Hilfstabelle zu verändern, müssen wir zunächst beide löschen. Die interne Bezeichnung des Fremdschlüssels in „Abrechnung“ ist eindeutig </a:t>
            </a:r>
            <a:r>
              <a:rPr lang="de-DE" b="1" dirty="0">
                <a:solidFill>
                  <a:srgbClr val="0071B2"/>
                </a:solidFill>
                <a:latin typeface="Source Sans Pro" panose="020B0503030403020204" pitchFamily="34" charset="0"/>
              </a:rPr>
              <a:t>(</a:t>
            </a:r>
            <a:r>
              <a:rPr lang="de-DE" b="1" dirty="0">
                <a:solidFill>
                  <a:schemeClr val="accent2"/>
                </a:solidFill>
                <a:latin typeface="Source Sans Pro" panose="020B0503030403020204" pitchFamily="34" charset="0"/>
              </a:rPr>
              <a:t>Abrechnung_ibfk_1</a:t>
            </a:r>
            <a:r>
              <a:rPr lang="de-DE" b="1" dirty="0">
                <a:solidFill>
                  <a:srgbClr val="0071B2"/>
                </a:solidFill>
                <a:latin typeface="Source Sans Pro" panose="020B0503030403020204" pitchFamily="34" charset="0"/>
              </a:rPr>
              <a:t>)</a:t>
            </a:r>
            <a:r>
              <a:rPr lang="de-DE" dirty="0">
                <a:solidFill>
                  <a:srgbClr val="0071B2"/>
                </a:solidFill>
                <a:latin typeface="Source Sans Pro" panose="020B0503030403020204" pitchFamily="34" charset="0"/>
              </a:rPr>
              <a:t>,</a:t>
            </a:r>
            <a:r>
              <a:rPr lang="de-DE" b="1" dirty="0">
                <a:solidFill>
                  <a:srgbClr val="0071B2"/>
                </a:solidFill>
                <a:latin typeface="Source Sans Pro" panose="020B0503030403020204" pitchFamily="34" charset="0"/>
              </a:rPr>
              <a:t> </a:t>
            </a:r>
            <a:r>
              <a:rPr lang="de-DE" dirty="0">
                <a:solidFill>
                  <a:srgbClr val="0071B2"/>
                </a:solidFill>
                <a:latin typeface="Source Sans Pro" panose="020B0503030403020204" pitchFamily="34" charset="0"/>
              </a:rPr>
              <a:t>da die Tabelle Abrechnung nur einen einzigen Fremdschlüssel besitzt. </a:t>
            </a:r>
          </a:p>
          <a:p>
            <a:pPr marR="0" lvl="0" algn="l" defTabSz="914400" rtl="0" eaLnBrk="1" fontAlgn="auto" latinLnBrk="0" hangingPunct="1">
              <a:lnSpc>
                <a:spcPct val="100000"/>
              </a:lnSpc>
              <a:spcBef>
                <a:spcPts val="0"/>
              </a:spcBef>
              <a:spcAft>
                <a:spcPts val="0"/>
              </a:spcAft>
              <a:buClrTx/>
              <a:buSzTx/>
              <a:tabLst/>
              <a:defRPr/>
            </a:pPr>
            <a:r>
              <a:rPr lang="de-DE" dirty="0">
                <a:solidFill>
                  <a:srgbClr val="0071B2"/>
                </a:solidFill>
                <a:latin typeface="Source Sans Pro" panose="020B0503030403020204" pitchFamily="34" charset="0"/>
              </a:rPr>
              <a:t>Die interne Bezeichnung des Fremdschlüssels „Abrechnung_ID“ in der </a:t>
            </a:r>
            <a:r>
              <a:rPr lang="de-DE" b="1" dirty="0">
                <a:solidFill>
                  <a:srgbClr val="0071B2"/>
                </a:solidFill>
                <a:latin typeface="Source Sans Pro" panose="020B0503030403020204" pitchFamily="34" charset="0"/>
              </a:rPr>
              <a:t>Hilfstabelle</a:t>
            </a:r>
            <a:r>
              <a:rPr lang="de-DE" dirty="0">
                <a:solidFill>
                  <a:srgbClr val="0071B2"/>
                </a:solidFill>
                <a:latin typeface="Source Sans Pro" panose="020B0503030403020204" pitchFamily="34" charset="0"/>
              </a:rPr>
              <a:t> werden wir hingegen mittels </a:t>
            </a:r>
            <a:r>
              <a:rPr lang="de-DE" b="1" dirty="0">
                <a:solidFill>
                  <a:srgbClr val="0071B2"/>
                </a:solidFill>
                <a:latin typeface="Source Sans Pro" panose="020B0503030403020204" pitchFamily="34" charset="0"/>
              </a:rPr>
              <a:t>SHOW CREATE TABLE </a:t>
            </a:r>
            <a:r>
              <a:rPr lang="de-DE" dirty="0">
                <a:solidFill>
                  <a:srgbClr val="0071B2"/>
                </a:solidFill>
                <a:latin typeface="Source Sans Pro" panose="020B0503030403020204" pitchFamily="34" charset="0"/>
              </a:rPr>
              <a:t>nachschlagen, da die Hilfstabelle 2 Fremdschlüsselbeziehungen besitzt:    </a:t>
            </a:r>
          </a:p>
          <a:p>
            <a:pPr marR="0" lvl="0" algn="l" defTabSz="914400" rtl="0" eaLnBrk="1" fontAlgn="auto" latinLnBrk="0" hangingPunct="1">
              <a:lnSpc>
                <a:spcPct val="100000"/>
              </a:lnSpc>
              <a:spcBef>
                <a:spcPts val="0"/>
              </a:spcBef>
              <a:spcAft>
                <a:spcPts val="0"/>
              </a:spcAft>
              <a:buClrTx/>
              <a:buSzTx/>
              <a:tabLst/>
              <a:defRPr/>
            </a:pPr>
            <a:endParaRPr lang="de-DE" sz="800"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lang="de-DE" sz="800" dirty="0">
              <a:solidFill>
                <a:srgbClr val="0071B2"/>
              </a:solidFill>
              <a:latin typeface="Source Sans Pro" panose="020B0503030403020204" pitchFamily="34" charset="0"/>
            </a:endParaRPr>
          </a:p>
          <a:p>
            <a:pPr lvl="0">
              <a:defRPr/>
            </a:pPr>
            <a:r>
              <a:rPr lang="de-DE" dirty="0">
                <a:solidFill>
                  <a:srgbClr val="0071B2"/>
                </a:solidFill>
                <a:latin typeface="Source Sans Pro" panose="020B0503030403020204" pitchFamily="34" charset="0"/>
              </a:rPr>
              <a:t>  	</a:t>
            </a:r>
            <a:r>
              <a:rPr lang="de-DE" sz="2400" b="1" dirty="0">
                <a:solidFill>
                  <a:srgbClr val="0071B2"/>
                </a:solidFill>
                <a:latin typeface="Source Sans Pro" panose="020B0503030403020204" pitchFamily="34" charset="0"/>
              </a:rPr>
              <a:t>SHOW CREATE TABLE </a:t>
            </a:r>
            <a:r>
              <a:rPr lang="de-DE" sz="2400" dirty="0">
                <a:solidFill>
                  <a:srgbClr val="0071B2"/>
                </a:solidFill>
                <a:latin typeface="Source Sans Pro" panose="020B0503030403020204" pitchFamily="34" charset="0"/>
              </a:rPr>
              <a:t>Abrechnung_Produkt</a:t>
            </a:r>
            <a:r>
              <a:rPr lang="de-DE" sz="2400" b="1" dirty="0">
                <a:solidFill>
                  <a:srgbClr val="0071B2"/>
                </a:solidFill>
                <a:latin typeface="Source Sans Pro" panose="020B0503030403020204" pitchFamily="34" charset="0"/>
              </a:rPr>
              <a:t>;</a:t>
            </a:r>
          </a:p>
          <a:p>
            <a:pPr lvl="0">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endParaRPr lang="de-DE" sz="1600" dirty="0">
              <a:solidFill>
                <a:srgbClr val="0071B2"/>
              </a:solidFill>
              <a:latin typeface="Source Sans Pro" panose="020B0503030403020204" pitchFamily="34" charset="0"/>
            </a:endParaRPr>
          </a:p>
          <a:p>
            <a:pPr>
              <a:defRPr/>
            </a:pPr>
            <a:endParaRPr lang="de-DE" dirty="0">
              <a:solidFill>
                <a:srgbClr val="0071B2"/>
              </a:solidFill>
              <a:latin typeface="Source Sans Pro" panose="020B0503030403020204" pitchFamily="34" charset="0"/>
            </a:endParaRPr>
          </a:p>
          <a:p>
            <a:pPr lvl="0">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lvl="0">
              <a:defRPr/>
            </a:pPr>
            <a:r>
              <a:rPr lang="de-DE" sz="4000" dirty="0">
                <a:solidFill>
                  <a:srgbClr val="0071B2"/>
                </a:solidFill>
                <a:latin typeface="Source Sans Pro" panose="020B0503030403020204" pitchFamily="34" charset="0"/>
              </a:rPr>
              <a:t>Syntax</a:t>
            </a:r>
            <a:endParaRPr lang="de-DE" sz="4000" b="0" i="1" dirty="0">
              <a:solidFill>
                <a:schemeClr val="accent2"/>
              </a:solidFill>
              <a:latin typeface="Source Sans Pro" panose="020B0503030403020204" pitchFamily="34" charset="0"/>
            </a:endParaRPr>
          </a:p>
        </p:txBody>
      </p:sp>
      <p:pic>
        <p:nvPicPr>
          <p:cNvPr id="2" name="Grafik 1"/>
          <p:cNvPicPr>
            <a:picLocks noChangeAspect="1"/>
          </p:cNvPicPr>
          <p:nvPr/>
        </p:nvPicPr>
        <p:blipFill>
          <a:blip r:embed="rId2"/>
          <a:stretch>
            <a:fillRect/>
          </a:stretch>
        </p:blipFill>
        <p:spPr>
          <a:xfrm>
            <a:off x="1066799" y="3363869"/>
            <a:ext cx="10287000" cy="2085975"/>
          </a:xfrm>
          <a:prstGeom prst="rect">
            <a:avLst/>
          </a:prstGeom>
          <a:effectLst>
            <a:innerShdw blurRad="114300">
              <a:prstClr val="black"/>
            </a:innerShdw>
          </a:effectLst>
        </p:spPr>
      </p:pic>
      <p:sp>
        <p:nvSpPr>
          <p:cNvPr id="3" name="Rechteck 2"/>
          <p:cNvSpPr/>
          <p:nvPr/>
        </p:nvSpPr>
        <p:spPr>
          <a:xfrm>
            <a:off x="3674225" y="4729942"/>
            <a:ext cx="4330931" cy="22444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10" name="Gerade Verbindung mit Pfeil 9"/>
          <p:cNvCxnSpPr/>
          <p:nvPr/>
        </p:nvCxnSpPr>
        <p:spPr>
          <a:xfrm flipH="1">
            <a:off x="5611091" y="4406856"/>
            <a:ext cx="228599" cy="23164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feld 10"/>
          <p:cNvSpPr txBox="1"/>
          <p:nvPr/>
        </p:nvSpPr>
        <p:spPr>
          <a:xfrm>
            <a:off x="5611091" y="4095983"/>
            <a:ext cx="1601592" cy="276999"/>
          </a:xfrm>
          <a:prstGeom prst="rect">
            <a:avLst/>
          </a:prstGeom>
          <a:noFill/>
        </p:spPr>
        <p:txBody>
          <a:bodyPr wrap="none" rtlCol="0">
            <a:spAutoFit/>
          </a:bodyPr>
          <a:lstStyle/>
          <a:p>
            <a:r>
              <a:rPr lang="de-DE" sz="1200" b="1" dirty="0">
                <a:solidFill>
                  <a:srgbClr val="FF0000"/>
                </a:solidFill>
              </a:rPr>
              <a:t>Die gesuchte Nummer</a:t>
            </a:r>
          </a:p>
        </p:txBody>
      </p:sp>
    </p:spTree>
    <p:extLst>
      <p:ext uri="{BB962C8B-B14F-4D97-AF65-F5344CB8AC3E}">
        <p14:creationId xmlns:p14="http://schemas.microsoft.com/office/powerpoint/2010/main" val="2806338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36320" y="946123"/>
            <a:ext cx="11455679" cy="529375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dirty="0">
                <a:solidFill>
                  <a:srgbClr val="0071B2"/>
                </a:solidFill>
                <a:latin typeface="Source Sans Pro" panose="020B0503030403020204" pitchFamily="34" charset="0"/>
              </a:rPr>
              <a:t>Nachdem wir nun die internen Bezeichnungen beider</a:t>
            </a:r>
            <a:r>
              <a:rPr lang="de-DE" noProof="0" dirty="0">
                <a:solidFill>
                  <a:srgbClr val="0071B2"/>
                </a:solidFill>
                <a:latin typeface="Source Sans Pro" panose="020B0503030403020204" pitchFamily="34" charset="0"/>
              </a:rPr>
              <a:t> Fremdschlüsselbeziehungen kennen, können wir diese löschen:</a:t>
            </a:r>
          </a:p>
          <a:p>
            <a:pPr marR="0" lvl="0" algn="l" defTabSz="914400" rtl="0" eaLnBrk="1" fontAlgn="auto" latinLnBrk="0" hangingPunct="1">
              <a:lnSpc>
                <a:spcPct val="100000"/>
              </a:lnSpc>
              <a:spcBef>
                <a:spcPts val="0"/>
              </a:spcBef>
              <a:spcAft>
                <a:spcPts val="0"/>
              </a:spcAft>
              <a:buClrTx/>
              <a:buSzTx/>
              <a:tabLst/>
              <a:defRPr/>
            </a:pPr>
            <a:endParaRPr kumimoji="0" lang="de-DE" b="0" i="0" u="none" strike="noStrike" kern="1200" cap="none" spc="0" normalizeH="0" dirty="0">
              <a:ln>
                <a:noFill/>
              </a:ln>
              <a:solidFill>
                <a:srgbClr val="0071B2"/>
              </a:solidFill>
              <a:effectLst/>
              <a:uLnTx/>
              <a:uFillTx/>
              <a:latin typeface="Source Sans Pro" panose="020B0503030403020204" pitchFamily="34" charset="0"/>
            </a:endParaRPr>
          </a:p>
          <a:p>
            <a:pPr lvl="0">
              <a:defRPr/>
            </a:pPr>
            <a:r>
              <a:rPr lang="de-DE" sz="2400" b="1" dirty="0">
                <a:solidFill>
                  <a:srgbClr val="0071B2"/>
                </a:solidFill>
                <a:latin typeface="Source Sans Pro" panose="020B0503030403020204" pitchFamily="34" charset="0"/>
              </a:rPr>
              <a:t>	</a:t>
            </a:r>
            <a:r>
              <a:rPr lang="de-DE" sz="2000" b="1" dirty="0">
                <a:solidFill>
                  <a:srgbClr val="0071B2"/>
                </a:solidFill>
                <a:latin typeface="Source Sans Pro" panose="020B0503030403020204" pitchFamily="34" charset="0"/>
              </a:rPr>
              <a:t>ALTER TABLE </a:t>
            </a:r>
            <a:r>
              <a:rPr lang="de-DE" sz="2000" dirty="0">
                <a:solidFill>
                  <a:srgbClr val="0071B2"/>
                </a:solidFill>
                <a:latin typeface="Source Sans Pro" panose="020B0503030403020204" pitchFamily="34" charset="0"/>
              </a:rPr>
              <a:t>Abrechnung_Produkt</a:t>
            </a:r>
            <a:r>
              <a:rPr lang="de-DE" sz="2000" b="1" dirty="0">
                <a:solidFill>
                  <a:srgbClr val="0071B2"/>
                </a:solidFill>
                <a:latin typeface="Source Sans Pro" panose="020B0503030403020204" pitchFamily="34" charset="0"/>
              </a:rPr>
              <a:t> DROP FOREIGN KEY </a:t>
            </a:r>
            <a:r>
              <a:rPr lang="de-DE" sz="2000" dirty="0">
                <a:solidFill>
                  <a:srgbClr val="FE5000"/>
                </a:solidFill>
                <a:latin typeface="Source Sans Pro" panose="020B0503030403020204" pitchFamily="34" charset="0"/>
              </a:rPr>
              <a:t>Abrechnung_Produkt_ibfk_1</a:t>
            </a:r>
            <a:r>
              <a:rPr lang="de-DE" sz="2000" b="1" dirty="0">
                <a:solidFill>
                  <a:srgbClr val="0071B2"/>
                </a:solidFill>
                <a:latin typeface="Source Sans Pro" panose="020B0503030403020204" pitchFamily="34" charset="0"/>
              </a:rPr>
              <a:t>;</a:t>
            </a:r>
          </a:p>
          <a:p>
            <a:pPr lvl="0">
              <a:defRPr/>
            </a:pPr>
            <a:r>
              <a:rPr lang="de-DE" sz="2400" b="1" dirty="0">
                <a:solidFill>
                  <a:srgbClr val="0071B2"/>
                </a:solidFill>
                <a:latin typeface="Source Sans Pro" panose="020B0503030403020204" pitchFamily="34" charset="0"/>
              </a:rPr>
              <a:t>	</a:t>
            </a:r>
            <a:r>
              <a:rPr lang="de-DE" sz="2000" b="1" dirty="0">
                <a:solidFill>
                  <a:srgbClr val="0071B2"/>
                </a:solidFill>
                <a:latin typeface="Source Sans Pro" panose="020B0503030403020204" pitchFamily="34" charset="0"/>
              </a:rPr>
              <a:t>ALTER TABLE </a:t>
            </a:r>
            <a:r>
              <a:rPr lang="de-DE" sz="2000" dirty="0">
                <a:solidFill>
                  <a:srgbClr val="0071B2"/>
                </a:solidFill>
                <a:latin typeface="Source Sans Pro" panose="020B0503030403020204" pitchFamily="34" charset="0"/>
              </a:rPr>
              <a:t>Abrechnung</a:t>
            </a:r>
            <a:r>
              <a:rPr lang="de-DE" sz="2000" b="1" dirty="0">
                <a:solidFill>
                  <a:srgbClr val="0071B2"/>
                </a:solidFill>
                <a:latin typeface="Source Sans Pro" panose="020B0503030403020204" pitchFamily="34" charset="0"/>
              </a:rPr>
              <a:t> DROP FOREIGN KEY </a:t>
            </a:r>
            <a:r>
              <a:rPr lang="de-DE" sz="2000" dirty="0">
                <a:solidFill>
                  <a:srgbClr val="FE5000"/>
                </a:solidFill>
                <a:latin typeface="Source Sans Pro" panose="020B0503030403020204" pitchFamily="34" charset="0"/>
              </a:rPr>
              <a:t>Abrechnung_ibfk_1</a:t>
            </a:r>
            <a:r>
              <a:rPr lang="de-DE" sz="2000" b="1" dirty="0">
                <a:solidFill>
                  <a:srgbClr val="0071B2"/>
                </a:solidFill>
                <a:latin typeface="Source Sans Pro" panose="020B0503030403020204" pitchFamily="34" charset="0"/>
              </a:rPr>
              <a:t>;</a:t>
            </a:r>
          </a:p>
          <a:p>
            <a:pPr lvl="0">
              <a:defRPr/>
            </a:pPr>
            <a:endParaRPr lang="de-DE" sz="2000" b="1" dirty="0">
              <a:solidFill>
                <a:srgbClr val="0071B2"/>
              </a:solidFill>
              <a:latin typeface="Source Sans Pro" panose="020B0503030403020204" pitchFamily="34" charset="0"/>
            </a:endParaRPr>
          </a:p>
          <a:p>
            <a:pPr lvl="0">
              <a:defRPr/>
            </a:pPr>
            <a:r>
              <a:rPr lang="de-DE" dirty="0">
                <a:solidFill>
                  <a:srgbClr val="0071B2"/>
                </a:solidFill>
                <a:latin typeface="Source Sans Pro" panose="020B0503030403020204" pitchFamily="34" charset="0"/>
              </a:rPr>
              <a:t>Anschließend können wir die Fremdschlüsselbeziehungen samt „Kaskadierung“ einführen:</a:t>
            </a:r>
          </a:p>
          <a:p>
            <a:pPr lvl="0">
              <a:defRPr/>
            </a:pPr>
            <a:endParaRPr lang="de-DE" sz="2000" b="1" dirty="0">
              <a:solidFill>
                <a:srgbClr val="0071B2"/>
              </a:solidFill>
              <a:latin typeface="Source Sans Pro" panose="020B0503030403020204" pitchFamily="34" charset="0"/>
            </a:endParaRPr>
          </a:p>
          <a:p>
            <a:pPr lvl="0">
              <a:defRPr/>
            </a:pPr>
            <a:r>
              <a:rPr lang="de-DE" sz="2000" dirty="0">
                <a:solidFill>
                  <a:srgbClr val="0071B2"/>
                </a:solidFill>
                <a:latin typeface="Source Sans Pro" panose="020B0503030403020204" pitchFamily="34" charset="0"/>
              </a:rPr>
              <a:t>	</a:t>
            </a:r>
            <a:r>
              <a:rPr lang="de-DE" sz="2000" b="1" dirty="0">
                <a:solidFill>
                  <a:srgbClr val="0071B2"/>
                </a:solidFill>
                <a:latin typeface="Source Sans Pro" panose="020B0503030403020204" pitchFamily="34" charset="0"/>
              </a:rPr>
              <a:t>ALTER TABLE </a:t>
            </a:r>
            <a:r>
              <a:rPr lang="de-DE" sz="2000" dirty="0">
                <a:solidFill>
                  <a:srgbClr val="0071B2"/>
                </a:solidFill>
                <a:latin typeface="Source Sans Pro" panose="020B0503030403020204" pitchFamily="34" charset="0"/>
              </a:rPr>
              <a:t>Abrechnung_Produkt </a:t>
            </a:r>
            <a:r>
              <a:rPr lang="de-DE" sz="2000" b="1" dirty="0">
                <a:solidFill>
                  <a:srgbClr val="0071B2"/>
                </a:solidFill>
                <a:latin typeface="Source Sans Pro" panose="020B0503030403020204" pitchFamily="34" charset="0"/>
              </a:rPr>
              <a:t>ADD</a:t>
            </a:r>
            <a:r>
              <a:rPr lang="de-DE" sz="2000" dirty="0">
                <a:solidFill>
                  <a:srgbClr val="0071B2"/>
                </a:solidFill>
                <a:latin typeface="Source Sans Pro" panose="020B0503030403020204" pitchFamily="34" charset="0"/>
              </a:rPr>
              <a:t> </a:t>
            </a:r>
            <a:r>
              <a:rPr lang="de-DE" sz="2000" b="1" dirty="0">
                <a:solidFill>
                  <a:srgbClr val="0071B2"/>
                </a:solidFill>
                <a:latin typeface="Source Sans Pro" panose="020B0503030403020204" pitchFamily="34" charset="0"/>
              </a:rPr>
              <a:t>FOREIGN KEY(</a:t>
            </a:r>
            <a:r>
              <a:rPr lang="de-DE" sz="2000" dirty="0">
                <a:solidFill>
                  <a:srgbClr val="0071B2"/>
                </a:solidFill>
                <a:latin typeface="Source Sans Pro" panose="020B0503030403020204" pitchFamily="34" charset="0"/>
              </a:rPr>
              <a:t>Abrechnung_ID</a:t>
            </a:r>
            <a:r>
              <a:rPr lang="de-DE" sz="2000" b="1" dirty="0">
                <a:solidFill>
                  <a:srgbClr val="0071B2"/>
                </a:solidFill>
                <a:latin typeface="Source Sans Pro" panose="020B0503030403020204" pitchFamily="34" charset="0"/>
              </a:rPr>
              <a:t>) </a:t>
            </a:r>
          </a:p>
          <a:p>
            <a:pPr lvl="0">
              <a:defRPr/>
            </a:pPr>
            <a:r>
              <a:rPr lang="de-DE" sz="2000" dirty="0">
                <a:solidFill>
                  <a:srgbClr val="0071B2"/>
                </a:solidFill>
                <a:latin typeface="Source Sans Pro" panose="020B0503030403020204" pitchFamily="34" charset="0"/>
              </a:rPr>
              <a:t>	</a:t>
            </a:r>
            <a:r>
              <a:rPr lang="de-DE" sz="2000" b="1" dirty="0">
                <a:solidFill>
                  <a:srgbClr val="0071B2"/>
                </a:solidFill>
                <a:latin typeface="Source Sans Pro" panose="020B0503030403020204" pitchFamily="34" charset="0"/>
              </a:rPr>
              <a:t>REFERENCES</a:t>
            </a:r>
            <a:r>
              <a:rPr lang="de-DE" sz="2000" dirty="0">
                <a:solidFill>
                  <a:srgbClr val="0071B2"/>
                </a:solidFill>
                <a:latin typeface="Source Sans Pro" panose="020B0503030403020204" pitchFamily="34" charset="0"/>
              </a:rPr>
              <a:t> Abrechnung</a:t>
            </a:r>
            <a:r>
              <a:rPr lang="de-DE" sz="2000" b="1" dirty="0">
                <a:solidFill>
                  <a:srgbClr val="0071B2"/>
                </a:solidFill>
                <a:latin typeface="Source Sans Pro" panose="020B0503030403020204" pitchFamily="34" charset="0"/>
              </a:rPr>
              <a:t>(</a:t>
            </a:r>
            <a:r>
              <a:rPr lang="de-DE" sz="2000" dirty="0">
                <a:solidFill>
                  <a:srgbClr val="0071B2"/>
                </a:solidFill>
                <a:latin typeface="Source Sans Pro" panose="020B0503030403020204" pitchFamily="34" charset="0"/>
              </a:rPr>
              <a:t>Abrechnung_ID</a:t>
            </a:r>
            <a:r>
              <a:rPr lang="de-DE" sz="2000" b="1" dirty="0">
                <a:solidFill>
                  <a:srgbClr val="0071B2"/>
                </a:solidFill>
                <a:latin typeface="Source Sans Pro" panose="020B0503030403020204" pitchFamily="34" charset="0"/>
              </a:rPr>
              <a:t>)</a:t>
            </a:r>
            <a:r>
              <a:rPr lang="de-DE" sz="2000" dirty="0">
                <a:solidFill>
                  <a:srgbClr val="0071B2"/>
                </a:solidFill>
                <a:latin typeface="Source Sans Pro" panose="020B0503030403020204" pitchFamily="34" charset="0"/>
              </a:rPr>
              <a:t> </a:t>
            </a:r>
            <a:r>
              <a:rPr lang="de-DE" sz="2000" b="1" dirty="0">
                <a:solidFill>
                  <a:schemeClr val="accent2">
                    <a:lumMod val="50000"/>
                  </a:schemeClr>
                </a:solidFill>
                <a:latin typeface="Source Sans Pro" panose="020B0503030403020204" pitchFamily="34" charset="0"/>
              </a:rPr>
              <a:t>ON DELETE CASCADE</a:t>
            </a:r>
            <a:r>
              <a:rPr lang="de-DE" sz="2000" b="1" dirty="0">
                <a:solidFill>
                  <a:srgbClr val="0071B2"/>
                </a:solidFill>
                <a:latin typeface="Source Sans Pro" panose="020B0503030403020204" pitchFamily="34" charset="0"/>
              </a:rPr>
              <a:t>;</a:t>
            </a:r>
          </a:p>
          <a:p>
            <a:pPr lvl="0">
              <a:defRPr/>
            </a:pPr>
            <a:endParaRPr lang="de-DE" sz="2000" dirty="0">
              <a:solidFill>
                <a:srgbClr val="0071B2"/>
              </a:solidFill>
              <a:latin typeface="Source Sans Pro" panose="020B0503030403020204" pitchFamily="34" charset="0"/>
            </a:endParaRPr>
          </a:p>
          <a:p>
            <a:pPr lvl="0">
              <a:defRPr/>
            </a:pPr>
            <a:r>
              <a:rPr lang="de-DE" sz="2000" dirty="0">
                <a:solidFill>
                  <a:srgbClr val="0071B2"/>
                </a:solidFill>
                <a:latin typeface="Source Sans Pro" panose="020B0503030403020204" pitchFamily="34" charset="0"/>
              </a:rPr>
              <a:t>	</a:t>
            </a:r>
            <a:r>
              <a:rPr lang="de-DE" sz="2000" b="1" dirty="0">
                <a:solidFill>
                  <a:srgbClr val="0071B2"/>
                </a:solidFill>
                <a:latin typeface="Source Sans Pro" panose="020B0503030403020204" pitchFamily="34" charset="0"/>
              </a:rPr>
              <a:t>ALTER TABLE </a:t>
            </a:r>
            <a:r>
              <a:rPr lang="de-DE" sz="2000" dirty="0">
                <a:solidFill>
                  <a:srgbClr val="0071B2"/>
                </a:solidFill>
                <a:latin typeface="Source Sans Pro" panose="020B0503030403020204" pitchFamily="34" charset="0"/>
              </a:rPr>
              <a:t>Abrechnung </a:t>
            </a:r>
            <a:r>
              <a:rPr lang="de-DE" sz="2000" b="1" dirty="0">
                <a:solidFill>
                  <a:srgbClr val="0071B2"/>
                </a:solidFill>
                <a:latin typeface="Source Sans Pro" panose="020B0503030403020204" pitchFamily="34" charset="0"/>
              </a:rPr>
              <a:t>ADD FOREIGN KEY(</a:t>
            </a:r>
            <a:r>
              <a:rPr lang="de-DE" sz="2000" dirty="0">
                <a:solidFill>
                  <a:srgbClr val="0071B2"/>
                </a:solidFill>
                <a:latin typeface="Source Sans Pro" panose="020B0503030403020204" pitchFamily="34" charset="0"/>
              </a:rPr>
              <a:t>Kunde_ID</a:t>
            </a:r>
            <a:r>
              <a:rPr lang="de-DE" sz="2000" b="1" dirty="0">
                <a:solidFill>
                  <a:srgbClr val="0071B2"/>
                </a:solidFill>
                <a:latin typeface="Source Sans Pro" panose="020B0503030403020204" pitchFamily="34" charset="0"/>
              </a:rPr>
              <a:t>) </a:t>
            </a:r>
          </a:p>
          <a:p>
            <a:pPr lvl="0">
              <a:defRPr/>
            </a:pPr>
            <a:r>
              <a:rPr lang="de-DE" sz="2000" dirty="0">
                <a:solidFill>
                  <a:srgbClr val="0071B2"/>
                </a:solidFill>
                <a:latin typeface="Source Sans Pro" panose="020B0503030403020204" pitchFamily="34" charset="0"/>
              </a:rPr>
              <a:t>	</a:t>
            </a:r>
            <a:r>
              <a:rPr lang="de-DE" sz="2000" b="1" dirty="0">
                <a:solidFill>
                  <a:srgbClr val="0071B2"/>
                </a:solidFill>
                <a:latin typeface="Source Sans Pro" panose="020B0503030403020204" pitchFamily="34" charset="0"/>
              </a:rPr>
              <a:t>REFERENCES</a:t>
            </a:r>
            <a:r>
              <a:rPr lang="de-DE" sz="2000" dirty="0">
                <a:solidFill>
                  <a:srgbClr val="0071B2"/>
                </a:solidFill>
                <a:latin typeface="Source Sans Pro" panose="020B0503030403020204" pitchFamily="34" charset="0"/>
              </a:rPr>
              <a:t> Kunde</a:t>
            </a:r>
            <a:r>
              <a:rPr lang="de-DE" sz="2000" b="1" dirty="0">
                <a:solidFill>
                  <a:srgbClr val="0071B2"/>
                </a:solidFill>
                <a:latin typeface="Source Sans Pro" panose="020B0503030403020204" pitchFamily="34" charset="0"/>
              </a:rPr>
              <a:t>(</a:t>
            </a:r>
            <a:r>
              <a:rPr lang="de-DE" sz="2000" dirty="0">
                <a:solidFill>
                  <a:srgbClr val="0071B2"/>
                </a:solidFill>
                <a:latin typeface="Source Sans Pro" panose="020B0503030403020204" pitchFamily="34" charset="0"/>
              </a:rPr>
              <a:t>Kunde_ID</a:t>
            </a:r>
            <a:r>
              <a:rPr lang="de-DE" sz="2000" b="1" dirty="0">
                <a:solidFill>
                  <a:srgbClr val="0071B2"/>
                </a:solidFill>
                <a:latin typeface="Source Sans Pro" panose="020B0503030403020204" pitchFamily="34" charset="0"/>
              </a:rPr>
              <a:t>)</a:t>
            </a:r>
            <a:r>
              <a:rPr lang="de-DE" sz="2000" dirty="0">
                <a:solidFill>
                  <a:srgbClr val="0071B2"/>
                </a:solidFill>
                <a:latin typeface="Source Sans Pro" panose="020B0503030403020204" pitchFamily="34" charset="0"/>
              </a:rPr>
              <a:t> </a:t>
            </a:r>
            <a:r>
              <a:rPr lang="de-DE" sz="2000" b="1" dirty="0">
                <a:solidFill>
                  <a:schemeClr val="accent2">
                    <a:lumMod val="50000"/>
                  </a:schemeClr>
                </a:solidFill>
                <a:latin typeface="Source Sans Pro" panose="020B0503030403020204" pitchFamily="34" charset="0"/>
              </a:rPr>
              <a:t>ON DELETE CASCADE</a:t>
            </a:r>
            <a:r>
              <a:rPr lang="de-DE" sz="2000" b="1" dirty="0">
                <a:solidFill>
                  <a:srgbClr val="0071B2"/>
                </a:solidFill>
                <a:latin typeface="Source Sans Pro" panose="020B0503030403020204" pitchFamily="34" charset="0"/>
              </a:rPr>
              <a:t>;</a:t>
            </a:r>
          </a:p>
          <a:p>
            <a:pPr lvl="0">
              <a:defRPr/>
            </a:pPr>
            <a:endParaRPr lang="de-DE"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endParaRPr lang="de-DE" sz="1600" dirty="0">
              <a:solidFill>
                <a:srgbClr val="0071B2"/>
              </a:solidFill>
              <a:latin typeface="Source Sans Pro" panose="020B0503030403020204" pitchFamily="34" charset="0"/>
            </a:endParaRPr>
          </a:p>
          <a:p>
            <a:pPr>
              <a:defRPr/>
            </a:pPr>
            <a:endParaRPr lang="de-DE" dirty="0">
              <a:solidFill>
                <a:srgbClr val="0071B2"/>
              </a:solidFill>
              <a:latin typeface="Source Sans Pro" panose="020B0503030403020204" pitchFamily="34" charset="0"/>
            </a:endParaRPr>
          </a:p>
          <a:p>
            <a:pPr lvl="0">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lvl="0">
              <a:defRPr/>
            </a:pPr>
            <a:r>
              <a:rPr lang="de-DE" sz="4000" dirty="0">
                <a:solidFill>
                  <a:srgbClr val="0071B2"/>
                </a:solidFill>
                <a:latin typeface="Source Sans Pro" panose="020B0503030403020204" pitchFamily="34" charset="0"/>
              </a:rPr>
              <a:t>Syntax</a:t>
            </a:r>
            <a:endParaRPr lang="de-DE" sz="4000" b="0" i="1" dirty="0">
              <a:solidFill>
                <a:schemeClr val="accent2"/>
              </a:solidFill>
              <a:latin typeface="Source Sans Pro" panose="020B0503030403020204" pitchFamily="34" charset="0"/>
            </a:endParaRPr>
          </a:p>
        </p:txBody>
      </p:sp>
    </p:spTree>
    <p:extLst>
      <p:ext uri="{BB962C8B-B14F-4D97-AF65-F5344CB8AC3E}">
        <p14:creationId xmlns:p14="http://schemas.microsoft.com/office/powerpoint/2010/main" val="2486057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36320" y="946123"/>
            <a:ext cx="11455679" cy="221599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dirty="0">
                <a:solidFill>
                  <a:srgbClr val="0071B2"/>
                </a:solidFill>
                <a:latin typeface="Source Sans Pro" panose="020B0503030403020204" pitchFamily="34" charset="0"/>
              </a:rPr>
              <a:t>Nun können wir – ohne Verletzung der Referentiellen Integrität – den Kunden 1 löschen:</a:t>
            </a:r>
            <a:endParaRPr lang="de-DE" noProof="0"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de-DE" b="0" i="0" u="none" strike="noStrike" kern="1200" cap="none" spc="0" normalizeH="0" dirty="0">
              <a:ln>
                <a:noFill/>
              </a:ln>
              <a:solidFill>
                <a:srgbClr val="0071B2"/>
              </a:solidFill>
              <a:effectLst/>
              <a:uLnTx/>
              <a:uFillTx/>
              <a:latin typeface="Source Sans Pro" panose="020B0503030403020204" pitchFamily="34" charset="0"/>
            </a:endParaRPr>
          </a:p>
          <a:p>
            <a:pPr lvl="0">
              <a:defRPr/>
            </a:pPr>
            <a:r>
              <a:rPr lang="de-DE" sz="2400" b="1" dirty="0">
                <a:solidFill>
                  <a:srgbClr val="0071B2"/>
                </a:solidFill>
                <a:latin typeface="Source Sans Pro" panose="020B0503030403020204" pitchFamily="34" charset="0"/>
              </a:rPr>
              <a:t>	       </a:t>
            </a:r>
            <a:r>
              <a:rPr lang="sv-SE" sz="2400" b="1" dirty="0">
                <a:solidFill>
                  <a:srgbClr val="0071B2"/>
                </a:solidFill>
                <a:latin typeface="Source Sans Pro" panose="020B0503030403020204" pitchFamily="34" charset="0"/>
              </a:rPr>
              <a:t>DELETE FROM </a:t>
            </a:r>
            <a:r>
              <a:rPr lang="sv-SE" sz="2400" dirty="0">
                <a:solidFill>
                  <a:srgbClr val="0071B2"/>
                </a:solidFill>
                <a:latin typeface="Source Sans Pro" panose="020B0503030403020204" pitchFamily="34" charset="0"/>
              </a:rPr>
              <a:t>Kunde</a:t>
            </a:r>
            <a:r>
              <a:rPr lang="sv-SE" sz="2400" b="1" dirty="0">
                <a:solidFill>
                  <a:srgbClr val="0071B2"/>
                </a:solidFill>
                <a:latin typeface="Source Sans Pro" panose="020B0503030403020204" pitchFamily="34" charset="0"/>
              </a:rPr>
              <a:t> WHERE </a:t>
            </a:r>
            <a:r>
              <a:rPr lang="sv-SE" sz="2400" dirty="0">
                <a:solidFill>
                  <a:srgbClr val="0071B2"/>
                </a:solidFill>
                <a:latin typeface="Source Sans Pro" panose="020B0503030403020204" pitchFamily="34" charset="0"/>
              </a:rPr>
              <a:t>Kunde_ID</a:t>
            </a:r>
            <a:r>
              <a:rPr lang="sv-SE" sz="2400" b="1" dirty="0">
                <a:solidFill>
                  <a:srgbClr val="0071B2"/>
                </a:solidFill>
                <a:latin typeface="Source Sans Pro" panose="020B0503030403020204" pitchFamily="34" charset="0"/>
              </a:rPr>
              <a:t>=</a:t>
            </a:r>
            <a:r>
              <a:rPr lang="sv-SE" sz="2400" dirty="0">
                <a:solidFill>
                  <a:srgbClr val="0071B2"/>
                </a:solidFill>
                <a:latin typeface="Source Sans Pro" panose="020B0503030403020204" pitchFamily="34" charset="0"/>
              </a:rPr>
              <a:t>1</a:t>
            </a:r>
            <a:r>
              <a:rPr lang="sv-SE" sz="2400" b="1" dirty="0">
                <a:solidFill>
                  <a:srgbClr val="0071B2"/>
                </a:solidFill>
                <a:latin typeface="Source Sans Pro" panose="020B0503030403020204" pitchFamily="34" charset="0"/>
              </a:rPr>
              <a:t>;</a:t>
            </a:r>
            <a:r>
              <a:rPr lang="de-DE" sz="2400" b="1" dirty="0">
                <a:solidFill>
                  <a:srgbClr val="0071B2"/>
                </a:solidFill>
                <a:latin typeface="Source Sans Pro" panose="020B0503030403020204" pitchFamily="34" charset="0"/>
              </a:rPr>
              <a:t>	</a:t>
            </a:r>
            <a:endParaRPr lang="de-DE"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endParaRPr lang="de-DE" sz="1600" dirty="0">
              <a:solidFill>
                <a:srgbClr val="0071B2"/>
              </a:solidFill>
              <a:latin typeface="Source Sans Pro" panose="020B0503030403020204" pitchFamily="34" charset="0"/>
            </a:endParaRPr>
          </a:p>
          <a:p>
            <a:pPr>
              <a:defRPr/>
            </a:pPr>
            <a:endParaRPr lang="de-DE" dirty="0">
              <a:solidFill>
                <a:srgbClr val="0071B2"/>
              </a:solidFill>
              <a:latin typeface="Source Sans Pro" panose="020B0503030403020204" pitchFamily="34" charset="0"/>
            </a:endParaRPr>
          </a:p>
          <a:p>
            <a:pPr lvl="0">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lvl="0">
              <a:defRPr/>
            </a:pPr>
            <a:r>
              <a:rPr lang="de-DE" sz="4000" dirty="0">
                <a:solidFill>
                  <a:srgbClr val="0071B2"/>
                </a:solidFill>
                <a:latin typeface="Source Sans Pro" panose="020B0503030403020204" pitchFamily="34" charset="0"/>
              </a:rPr>
              <a:t>Syntax</a:t>
            </a:r>
            <a:endParaRPr lang="de-DE" sz="4000" b="0" i="1" dirty="0">
              <a:solidFill>
                <a:schemeClr val="accent2"/>
              </a:solidFill>
              <a:latin typeface="Source Sans Pro" panose="020B0503030403020204" pitchFamily="34" charset="0"/>
            </a:endParaRPr>
          </a:p>
        </p:txBody>
      </p:sp>
      <p:pic>
        <p:nvPicPr>
          <p:cNvPr id="2" name="Grafik 1"/>
          <p:cNvPicPr>
            <a:picLocks noChangeAspect="1"/>
          </p:cNvPicPr>
          <p:nvPr/>
        </p:nvPicPr>
        <p:blipFill>
          <a:blip r:embed="rId2"/>
          <a:stretch>
            <a:fillRect/>
          </a:stretch>
        </p:blipFill>
        <p:spPr>
          <a:xfrm>
            <a:off x="1272383" y="2311430"/>
            <a:ext cx="3714750" cy="2124075"/>
          </a:xfrm>
          <a:prstGeom prst="rect">
            <a:avLst/>
          </a:prstGeom>
          <a:effectLst>
            <a:innerShdw blurRad="114300">
              <a:prstClr val="black"/>
            </a:innerShdw>
          </a:effectLst>
        </p:spPr>
      </p:pic>
      <p:pic>
        <p:nvPicPr>
          <p:cNvPr id="3" name="Grafik 2"/>
          <p:cNvPicPr>
            <a:picLocks noChangeAspect="1"/>
          </p:cNvPicPr>
          <p:nvPr/>
        </p:nvPicPr>
        <p:blipFill>
          <a:blip r:embed="rId3"/>
          <a:stretch>
            <a:fillRect/>
          </a:stretch>
        </p:blipFill>
        <p:spPr>
          <a:xfrm>
            <a:off x="5239161" y="2311430"/>
            <a:ext cx="2218758" cy="2129412"/>
          </a:xfrm>
          <a:prstGeom prst="rect">
            <a:avLst/>
          </a:prstGeom>
          <a:effectLst>
            <a:innerShdw blurRad="114300">
              <a:prstClr val="black"/>
            </a:innerShdw>
          </a:effectLst>
        </p:spPr>
      </p:pic>
      <p:pic>
        <p:nvPicPr>
          <p:cNvPr id="7" name="Grafik 6"/>
          <p:cNvPicPr>
            <a:picLocks noChangeAspect="1"/>
          </p:cNvPicPr>
          <p:nvPr/>
        </p:nvPicPr>
        <p:blipFill>
          <a:blip r:embed="rId4"/>
          <a:stretch>
            <a:fillRect/>
          </a:stretch>
        </p:blipFill>
        <p:spPr>
          <a:xfrm>
            <a:off x="7705925" y="2320550"/>
            <a:ext cx="1095334" cy="2114955"/>
          </a:xfrm>
          <a:prstGeom prst="rect">
            <a:avLst/>
          </a:prstGeom>
          <a:effectLst>
            <a:innerShdw blurRad="114300">
              <a:prstClr val="black"/>
            </a:innerShdw>
          </a:effectLst>
        </p:spPr>
      </p:pic>
    </p:spTree>
    <p:extLst>
      <p:ext uri="{BB962C8B-B14F-4D97-AF65-F5344CB8AC3E}">
        <p14:creationId xmlns:p14="http://schemas.microsoft.com/office/powerpoint/2010/main" val="1211344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5400" dirty="0">
                <a:latin typeface="Source Sans Pro" panose="020B0503030403020204" pitchFamily="34" charset="0"/>
              </a:rPr>
              <a:t>ON </a:t>
            </a:r>
            <a:r>
              <a:rPr lang="de-DE" sz="5400" dirty="0">
                <a:solidFill>
                  <a:schemeClr val="accent2"/>
                </a:solidFill>
                <a:latin typeface="Source Sans Pro" panose="020B0503030403020204" pitchFamily="34" charset="0"/>
              </a:rPr>
              <a:t>UPDATE</a:t>
            </a:r>
            <a:r>
              <a:rPr lang="de-DE" sz="5400" dirty="0">
                <a:latin typeface="Source Sans Pro" panose="020B0503030403020204" pitchFamily="34" charset="0"/>
              </a:rPr>
              <a:t> CASCADE</a:t>
            </a:r>
          </a:p>
          <a:p>
            <a:endParaRPr lang="de-DE" sz="5400" dirty="0">
              <a:latin typeface="Source Sans Pro" panose="020B0503030403020204" pitchFamily="34" charset="0"/>
            </a:endParaRPr>
          </a:p>
        </p:txBody>
      </p:sp>
    </p:spTree>
    <p:extLst>
      <p:ext uri="{BB962C8B-B14F-4D97-AF65-F5344CB8AC3E}">
        <p14:creationId xmlns:p14="http://schemas.microsoft.com/office/powerpoint/2010/main" val="21246013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576626" y="2143649"/>
            <a:ext cx="11615374" cy="187743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000" noProof="0" dirty="0">
                <a:solidFill>
                  <a:srgbClr val="0071B2"/>
                </a:solidFill>
                <a:latin typeface="Source Sans Pro" panose="020B0503030403020204" pitchFamily="34" charset="0"/>
              </a:rPr>
              <a:t>Falls wir den </a:t>
            </a:r>
            <a:r>
              <a:rPr lang="de-DE" sz="2000" b="1" noProof="0" dirty="0">
                <a:solidFill>
                  <a:srgbClr val="0071B2"/>
                </a:solidFill>
                <a:latin typeface="Source Sans Pro" panose="020B0503030403020204" pitchFamily="34" charset="0"/>
              </a:rPr>
              <a:t>Primärschlüsselwert eines Datensatzes ändern </a:t>
            </a:r>
            <a:r>
              <a:rPr lang="de-DE" sz="2000" noProof="0" dirty="0">
                <a:solidFill>
                  <a:srgbClr val="0071B2"/>
                </a:solidFill>
                <a:latin typeface="Source Sans Pro" panose="020B0503030403020204" pitchFamily="34" charset="0"/>
              </a:rPr>
              <a:t>wollen (üblicherweise allerdings nicht empfohlen) können wir auch dies mittels Kaskadierung bequem und ohne Verletzung der Referentiellen Integrität durchführen.</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000" dirty="0">
                <a:solidFill>
                  <a:srgbClr val="0071B2"/>
                </a:solidFill>
                <a:latin typeface="Source Sans Pro" panose="020B0503030403020204" pitchFamily="34" charset="0"/>
              </a:rPr>
              <a:t>Anders als beim Kaskaden-förmigen Löschvorgang, wird die notwendige  </a:t>
            </a:r>
            <a:r>
              <a:rPr lang="de-DE" sz="2000" b="1" dirty="0">
                <a:solidFill>
                  <a:srgbClr val="0071B2"/>
                </a:solidFill>
                <a:latin typeface="Source Sans Pro" panose="020B0503030403020204" pitchFamily="34" charset="0"/>
              </a:rPr>
              <a:t>„Kaskadierungs-Tiefe“ </a:t>
            </a:r>
            <a:r>
              <a:rPr lang="de-DE" sz="2000" dirty="0">
                <a:solidFill>
                  <a:srgbClr val="0071B2"/>
                </a:solidFill>
                <a:latin typeface="Source Sans Pro" panose="020B0503030403020204" pitchFamily="34" charset="0"/>
              </a:rPr>
              <a:t>bei einem UPDATE allerdings in der Regel geringer sein. Siehe hierzu das folgende Beispiel.</a:t>
            </a: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Definition + Motivation</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Tree>
    <p:extLst>
      <p:ext uri="{BB962C8B-B14F-4D97-AF65-F5344CB8AC3E}">
        <p14:creationId xmlns:p14="http://schemas.microsoft.com/office/powerpoint/2010/main" val="3867256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36321" y="946123"/>
            <a:ext cx="11225694" cy="58169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b="1" dirty="0">
                <a:solidFill>
                  <a:srgbClr val="0071B2"/>
                </a:solidFill>
                <a:latin typeface="Source Sans Pro" panose="020B0503030403020204" pitchFamily="34" charset="0"/>
              </a:rPr>
              <a:t>Aufgabenstellung: </a:t>
            </a:r>
          </a:p>
          <a:p>
            <a:pPr marR="0" lvl="0" algn="l" defTabSz="914400" rtl="0" eaLnBrk="1" fontAlgn="auto" latinLnBrk="0" hangingPunct="1">
              <a:lnSpc>
                <a:spcPct val="100000"/>
              </a:lnSpc>
              <a:spcBef>
                <a:spcPts val="0"/>
              </a:spcBef>
              <a:spcAft>
                <a:spcPts val="0"/>
              </a:spcAft>
              <a:buClrTx/>
              <a:buSzTx/>
              <a:tabLst/>
              <a:defRPr/>
            </a:pPr>
            <a:endParaRPr lang="de-DE" sz="200" b="1"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lang="de-DE" dirty="0">
                <a:solidFill>
                  <a:srgbClr val="0071B2"/>
                </a:solidFill>
                <a:latin typeface="Source Sans Pro" panose="020B0503030403020204" pitchFamily="34" charset="0"/>
              </a:rPr>
              <a:t>Wir wollen die Kunde_ID von Kunden 1 auf den Wert 10 ändern. </a:t>
            </a:r>
            <a:r>
              <a:rPr lang="de-DE" sz="1400" dirty="0">
                <a:solidFill>
                  <a:srgbClr val="0071B2"/>
                </a:solidFill>
                <a:latin typeface="Source Sans Pro" panose="020B0503030403020204" pitchFamily="34" charset="0"/>
              </a:rPr>
              <a:t>(Dieser Wert ist wie bereits erwähnt noch „frei“.)</a:t>
            </a:r>
          </a:p>
          <a:p>
            <a:pPr marR="0" lvl="0" algn="l" defTabSz="914400" rtl="0" eaLnBrk="1" fontAlgn="auto" latinLnBrk="0" hangingPunct="1">
              <a:lnSpc>
                <a:spcPct val="100000"/>
              </a:lnSpc>
              <a:spcBef>
                <a:spcPts val="0"/>
              </a:spcBef>
              <a:spcAft>
                <a:spcPts val="0"/>
              </a:spcAft>
              <a:buClrTx/>
              <a:buSzTx/>
              <a:tabLst/>
              <a:defRPr/>
            </a:pPr>
            <a:endParaRPr lang="de-DE" sz="800"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lang="de-DE" dirty="0">
                <a:solidFill>
                  <a:srgbClr val="0071B2"/>
                </a:solidFill>
                <a:latin typeface="Source Sans Pro" panose="020B0503030403020204" pitchFamily="34" charset="0"/>
              </a:rPr>
              <a:t>Dann müssen aber auch die Fremdschlüsselwerte aller Abrechnungen geändert werden, die sich bisher auf Kunden 1 bezogen, und die sich nun zukünftig auf Kunden 10 beziehen sollen.</a:t>
            </a:r>
          </a:p>
          <a:p>
            <a:pPr marR="0" lvl="0" algn="l" defTabSz="914400" rtl="0" eaLnBrk="1" fontAlgn="auto" latinLnBrk="0" hangingPunct="1">
              <a:lnSpc>
                <a:spcPct val="100000"/>
              </a:lnSpc>
              <a:spcBef>
                <a:spcPts val="0"/>
              </a:spcBef>
              <a:spcAft>
                <a:spcPts val="0"/>
              </a:spcAft>
              <a:buClrTx/>
              <a:buSzTx/>
              <a:tabLst/>
              <a:defRPr/>
            </a:pPr>
            <a:endParaRPr lang="de-DE" sz="800"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lang="de-DE" dirty="0">
                <a:solidFill>
                  <a:srgbClr val="0071B2"/>
                </a:solidFill>
                <a:latin typeface="Source Sans Pro" panose="020B0503030403020204" pitchFamily="34" charset="0"/>
              </a:rPr>
              <a:t>Eine weiterführende Kaskadierung wird allerdings (im Unterschied zu ON DELETE CASCADE) nicht notwendig sein, da sich die Einträge der Hilfstabelle nicht auf die Kunde-ID, sondern auf die unveränderte(!) Abrechnungs-ID der Tabelle „Abrechnung“ beziehen. Es reicht also der folgende Code: </a:t>
            </a:r>
          </a:p>
          <a:p>
            <a:pPr marR="0" lvl="0" algn="l" defTabSz="914400" rtl="0" eaLnBrk="1" fontAlgn="auto" latinLnBrk="0" hangingPunct="1">
              <a:lnSpc>
                <a:spcPct val="100000"/>
              </a:lnSpc>
              <a:spcBef>
                <a:spcPts val="0"/>
              </a:spcBef>
              <a:spcAft>
                <a:spcPts val="0"/>
              </a:spcAft>
              <a:buClrTx/>
              <a:buSzTx/>
              <a:tabLst/>
              <a:defRPr/>
            </a:pPr>
            <a:endParaRPr lang="de-DE" sz="800" dirty="0">
              <a:solidFill>
                <a:srgbClr val="0071B2"/>
              </a:solidFill>
              <a:latin typeface="Source Sans Pro" panose="020B0503030403020204" pitchFamily="34" charset="0"/>
            </a:endParaRPr>
          </a:p>
          <a:p>
            <a:pPr lvl="0">
              <a:defRPr/>
            </a:pPr>
            <a:r>
              <a:rPr lang="de-DE" sz="2400" dirty="0">
                <a:solidFill>
                  <a:srgbClr val="0071B2"/>
                </a:solidFill>
                <a:latin typeface="Source Sans Pro" panose="020B0503030403020204" pitchFamily="34" charset="0"/>
              </a:rPr>
              <a:t>	</a:t>
            </a:r>
            <a:r>
              <a:rPr lang="de-DE" sz="2400" b="1" dirty="0">
                <a:solidFill>
                  <a:srgbClr val="0071B2"/>
                </a:solidFill>
                <a:latin typeface="Source Sans Pro" panose="020B0503030403020204" pitchFamily="34" charset="0"/>
              </a:rPr>
              <a:t>ALTER TABLE </a:t>
            </a:r>
            <a:r>
              <a:rPr lang="de-DE" sz="2400" dirty="0">
                <a:solidFill>
                  <a:srgbClr val="0071B2"/>
                </a:solidFill>
                <a:latin typeface="Source Sans Pro" panose="020B0503030403020204" pitchFamily="34" charset="0"/>
              </a:rPr>
              <a:t>Abrechnung </a:t>
            </a:r>
            <a:r>
              <a:rPr lang="de-DE" sz="2400" b="1" dirty="0">
                <a:solidFill>
                  <a:srgbClr val="0071B2"/>
                </a:solidFill>
                <a:latin typeface="Source Sans Pro" panose="020B0503030403020204" pitchFamily="34" charset="0"/>
              </a:rPr>
              <a:t>DROP FOREIGN KEY </a:t>
            </a:r>
            <a:r>
              <a:rPr lang="de-DE" sz="2400" dirty="0">
                <a:solidFill>
                  <a:schemeClr val="accent2"/>
                </a:solidFill>
                <a:latin typeface="Source Sans Pro" panose="020B0503030403020204" pitchFamily="34" charset="0"/>
              </a:rPr>
              <a:t>Abrechnung_ibfk_1</a:t>
            </a:r>
            <a:r>
              <a:rPr lang="de-DE" sz="2400" dirty="0">
                <a:solidFill>
                  <a:srgbClr val="0071B2"/>
                </a:solidFill>
                <a:latin typeface="Source Sans Pro" panose="020B0503030403020204" pitchFamily="34" charset="0"/>
              </a:rPr>
              <a:t>;</a:t>
            </a:r>
          </a:p>
          <a:p>
            <a:pPr lvl="0">
              <a:defRPr/>
            </a:pPr>
            <a:endParaRPr lang="de-DE" sz="800" dirty="0">
              <a:solidFill>
                <a:srgbClr val="0071B2"/>
              </a:solidFill>
              <a:latin typeface="Source Sans Pro" panose="020B0503030403020204" pitchFamily="34" charset="0"/>
            </a:endParaRPr>
          </a:p>
          <a:p>
            <a:pPr lvl="0">
              <a:defRPr/>
            </a:pPr>
            <a:r>
              <a:rPr lang="de-DE" sz="2400" dirty="0">
                <a:solidFill>
                  <a:srgbClr val="0071B2"/>
                </a:solidFill>
                <a:latin typeface="Source Sans Pro" panose="020B0503030403020204" pitchFamily="34" charset="0"/>
              </a:rPr>
              <a:t>	</a:t>
            </a:r>
            <a:r>
              <a:rPr lang="de-DE" sz="2400" b="1" dirty="0">
                <a:solidFill>
                  <a:srgbClr val="0071B2"/>
                </a:solidFill>
                <a:latin typeface="Source Sans Pro" panose="020B0503030403020204" pitchFamily="34" charset="0"/>
              </a:rPr>
              <a:t>ALTER TABLE </a:t>
            </a:r>
            <a:r>
              <a:rPr lang="de-DE" sz="2400" dirty="0">
                <a:solidFill>
                  <a:srgbClr val="0071B2"/>
                </a:solidFill>
                <a:latin typeface="Source Sans Pro" panose="020B0503030403020204" pitchFamily="34" charset="0"/>
              </a:rPr>
              <a:t>Abrechnung </a:t>
            </a:r>
            <a:r>
              <a:rPr lang="de-DE" sz="2400" b="1" dirty="0">
                <a:solidFill>
                  <a:srgbClr val="0071B2"/>
                </a:solidFill>
                <a:latin typeface="Source Sans Pro" panose="020B0503030403020204" pitchFamily="34" charset="0"/>
              </a:rPr>
              <a:t>ADD FOREIGN KEY(</a:t>
            </a:r>
            <a:r>
              <a:rPr lang="de-DE" sz="2400" dirty="0">
                <a:solidFill>
                  <a:srgbClr val="0071B2"/>
                </a:solidFill>
                <a:latin typeface="Source Sans Pro" panose="020B0503030403020204" pitchFamily="34" charset="0"/>
              </a:rPr>
              <a:t>Kunde_ID</a:t>
            </a:r>
            <a:r>
              <a:rPr lang="de-DE" sz="2400" b="1" dirty="0">
                <a:solidFill>
                  <a:srgbClr val="0071B2"/>
                </a:solidFill>
                <a:latin typeface="Source Sans Pro" panose="020B0503030403020204" pitchFamily="34" charset="0"/>
              </a:rPr>
              <a:t>) </a:t>
            </a:r>
          </a:p>
          <a:p>
            <a:pPr lvl="0">
              <a:defRPr/>
            </a:pPr>
            <a:r>
              <a:rPr lang="de-DE" sz="2400" dirty="0">
                <a:solidFill>
                  <a:srgbClr val="0071B2"/>
                </a:solidFill>
                <a:latin typeface="Source Sans Pro" panose="020B0503030403020204" pitchFamily="34" charset="0"/>
              </a:rPr>
              <a:t>	</a:t>
            </a:r>
            <a:r>
              <a:rPr lang="de-DE" sz="2400" b="1" dirty="0">
                <a:solidFill>
                  <a:srgbClr val="0071B2"/>
                </a:solidFill>
                <a:latin typeface="Source Sans Pro" panose="020B0503030403020204" pitchFamily="34" charset="0"/>
              </a:rPr>
              <a:t>REFERENCES</a:t>
            </a:r>
            <a:r>
              <a:rPr lang="de-DE" sz="2400" dirty="0">
                <a:solidFill>
                  <a:srgbClr val="0071B2"/>
                </a:solidFill>
                <a:latin typeface="Source Sans Pro" panose="020B0503030403020204" pitchFamily="34" charset="0"/>
              </a:rPr>
              <a:t> Kunde</a:t>
            </a:r>
            <a:r>
              <a:rPr lang="de-DE" sz="2400" b="1" dirty="0">
                <a:solidFill>
                  <a:srgbClr val="0071B2"/>
                </a:solidFill>
                <a:latin typeface="Source Sans Pro" panose="020B0503030403020204" pitchFamily="34" charset="0"/>
              </a:rPr>
              <a:t>(</a:t>
            </a:r>
            <a:r>
              <a:rPr lang="de-DE" sz="2400" dirty="0">
                <a:solidFill>
                  <a:srgbClr val="0071B2"/>
                </a:solidFill>
                <a:latin typeface="Source Sans Pro" panose="020B0503030403020204" pitchFamily="34" charset="0"/>
              </a:rPr>
              <a:t>Kunde_ID</a:t>
            </a:r>
            <a:r>
              <a:rPr lang="de-DE" sz="2400" b="1" dirty="0">
                <a:solidFill>
                  <a:srgbClr val="0071B2"/>
                </a:solidFill>
                <a:latin typeface="Source Sans Pro" panose="020B0503030403020204" pitchFamily="34" charset="0"/>
              </a:rPr>
              <a:t>)</a:t>
            </a:r>
            <a:r>
              <a:rPr lang="de-DE" sz="2400" dirty="0">
                <a:solidFill>
                  <a:srgbClr val="0071B2"/>
                </a:solidFill>
                <a:latin typeface="Source Sans Pro" panose="020B0503030403020204" pitchFamily="34" charset="0"/>
              </a:rPr>
              <a:t> </a:t>
            </a:r>
            <a:r>
              <a:rPr lang="de-DE" sz="2400" b="1" dirty="0">
                <a:solidFill>
                  <a:schemeClr val="accent2">
                    <a:lumMod val="50000"/>
                  </a:schemeClr>
                </a:solidFill>
                <a:latin typeface="Source Sans Pro" panose="020B0503030403020204" pitchFamily="34" charset="0"/>
              </a:rPr>
              <a:t>ON UPDATE CASCADE</a:t>
            </a:r>
            <a:r>
              <a:rPr lang="de-DE" sz="2400" b="1" dirty="0">
                <a:solidFill>
                  <a:srgbClr val="0071B2"/>
                </a:solidFill>
                <a:latin typeface="Source Sans Pro" panose="020B0503030403020204" pitchFamily="34" charset="0"/>
              </a:rPr>
              <a:t>;</a:t>
            </a:r>
          </a:p>
          <a:p>
            <a:pPr lvl="0">
              <a:defRPr/>
            </a:pPr>
            <a:endParaRPr lang="de-DE" sz="800" dirty="0">
              <a:solidFill>
                <a:srgbClr val="0071B2"/>
              </a:solidFill>
              <a:latin typeface="Source Sans Pro" panose="020B0503030403020204" pitchFamily="34" charset="0"/>
            </a:endParaRPr>
          </a:p>
          <a:p>
            <a:pPr lvl="0">
              <a:defRPr/>
            </a:pPr>
            <a:r>
              <a:rPr lang="de-DE" sz="2400" dirty="0">
                <a:solidFill>
                  <a:srgbClr val="0071B2"/>
                </a:solidFill>
                <a:latin typeface="Source Sans Pro" panose="020B0503030403020204" pitchFamily="34" charset="0"/>
              </a:rPr>
              <a:t>	</a:t>
            </a:r>
            <a:r>
              <a:rPr lang="de-DE" sz="2400" b="1" dirty="0">
                <a:solidFill>
                  <a:srgbClr val="0071B2"/>
                </a:solidFill>
                <a:latin typeface="Source Sans Pro" panose="020B0503030403020204" pitchFamily="34" charset="0"/>
              </a:rPr>
              <a:t>UPDATE</a:t>
            </a:r>
            <a:r>
              <a:rPr lang="de-DE" sz="2400" dirty="0">
                <a:solidFill>
                  <a:srgbClr val="0071B2"/>
                </a:solidFill>
                <a:latin typeface="Source Sans Pro" panose="020B0503030403020204" pitchFamily="34" charset="0"/>
              </a:rPr>
              <a:t> Kunde </a:t>
            </a:r>
            <a:r>
              <a:rPr lang="de-DE" sz="2400" b="1" dirty="0">
                <a:solidFill>
                  <a:srgbClr val="0071B2"/>
                </a:solidFill>
                <a:latin typeface="Source Sans Pro" panose="020B0503030403020204" pitchFamily="34" charset="0"/>
              </a:rPr>
              <a:t>SET</a:t>
            </a:r>
            <a:r>
              <a:rPr lang="de-DE" sz="2400" dirty="0">
                <a:solidFill>
                  <a:srgbClr val="0071B2"/>
                </a:solidFill>
                <a:latin typeface="Source Sans Pro" panose="020B0503030403020204" pitchFamily="34" charset="0"/>
              </a:rPr>
              <a:t> Kunde_ID</a:t>
            </a:r>
            <a:r>
              <a:rPr lang="de-DE" sz="2400" b="1" dirty="0">
                <a:solidFill>
                  <a:srgbClr val="0071B2"/>
                </a:solidFill>
                <a:latin typeface="Source Sans Pro" panose="020B0503030403020204" pitchFamily="34" charset="0"/>
              </a:rPr>
              <a:t>=</a:t>
            </a:r>
            <a:r>
              <a:rPr lang="de-DE" sz="2400" dirty="0">
                <a:solidFill>
                  <a:srgbClr val="0071B2"/>
                </a:solidFill>
                <a:latin typeface="Source Sans Pro" panose="020B0503030403020204" pitchFamily="34" charset="0"/>
              </a:rPr>
              <a:t>10 </a:t>
            </a:r>
            <a:r>
              <a:rPr lang="de-DE" sz="2400" b="1" dirty="0">
                <a:solidFill>
                  <a:srgbClr val="0071B2"/>
                </a:solidFill>
                <a:latin typeface="Source Sans Pro" panose="020B0503030403020204" pitchFamily="34" charset="0"/>
              </a:rPr>
              <a:t>WHERE</a:t>
            </a:r>
            <a:r>
              <a:rPr lang="de-DE" sz="2400" dirty="0">
                <a:solidFill>
                  <a:srgbClr val="0071B2"/>
                </a:solidFill>
                <a:latin typeface="Source Sans Pro" panose="020B0503030403020204" pitchFamily="34" charset="0"/>
              </a:rPr>
              <a:t> Kunde_ID</a:t>
            </a:r>
            <a:r>
              <a:rPr lang="de-DE" sz="2400" b="1" dirty="0">
                <a:solidFill>
                  <a:srgbClr val="0071B2"/>
                </a:solidFill>
                <a:latin typeface="Source Sans Pro" panose="020B0503030403020204" pitchFamily="34" charset="0"/>
              </a:rPr>
              <a:t>=</a:t>
            </a:r>
            <a:r>
              <a:rPr lang="de-DE" sz="2400" dirty="0">
                <a:solidFill>
                  <a:srgbClr val="0071B2"/>
                </a:solidFill>
                <a:latin typeface="Source Sans Pro" panose="020B0503030403020204" pitchFamily="34" charset="0"/>
              </a:rPr>
              <a:t>1;</a:t>
            </a:r>
          </a:p>
          <a:p>
            <a:pPr marR="0" lvl="0" algn="l" defTabSz="914400" rtl="0" eaLnBrk="1" fontAlgn="auto" latinLnBrk="0" hangingPunct="1">
              <a:lnSpc>
                <a:spcPct val="100000"/>
              </a:lnSpc>
              <a:spcBef>
                <a:spcPts val="0"/>
              </a:spcBef>
              <a:spcAft>
                <a:spcPts val="0"/>
              </a:spcAft>
              <a:buClrTx/>
              <a:buSzTx/>
              <a:tabLst/>
              <a:defRPr/>
            </a:pPr>
            <a:endParaRPr lang="de-DE"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lang="de-DE"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lang="de-DE" dirty="0">
              <a:solidFill>
                <a:srgbClr val="0071B2"/>
              </a:solidFill>
              <a:latin typeface="Source Sans Pro" panose="020B0503030403020204" pitchFamily="34" charset="0"/>
            </a:endParaRPr>
          </a:p>
          <a:p>
            <a:pPr>
              <a:defRPr/>
            </a:pPr>
            <a:endParaRPr lang="de-DE" dirty="0">
              <a:solidFill>
                <a:srgbClr val="0071B2"/>
              </a:solidFill>
              <a:latin typeface="Source Sans Pro" panose="020B0503030403020204" pitchFamily="34" charset="0"/>
            </a:endParaRPr>
          </a:p>
          <a:p>
            <a:pPr lvl="0">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lvl="0">
              <a:defRPr/>
            </a:pPr>
            <a:r>
              <a:rPr lang="de-DE" sz="4000" dirty="0">
                <a:solidFill>
                  <a:srgbClr val="0071B2"/>
                </a:solidFill>
                <a:latin typeface="Source Sans Pro" panose="020B0503030403020204" pitchFamily="34" charset="0"/>
              </a:rPr>
              <a:t>Beispiel + Syntax</a:t>
            </a:r>
            <a:endParaRPr lang="de-DE" sz="4000" b="0" i="1" dirty="0">
              <a:solidFill>
                <a:schemeClr val="accent2"/>
              </a:solidFill>
              <a:latin typeface="Source Sans Pro" panose="020B0503030403020204" pitchFamily="34" charset="0"/>
            </a:endParaRPr>
          </a:p>
        </p:txBody>
      </p:sp>
      <p:pic>
        <p:nvPicPr>
          <p:cNvPr id="2" name="Grafik 1"/>
          <p:cNvPicPr>
            <a:picLocks noChangeAspect="1"/>
          </p:cNvPicPr>
          <p:nvPr/>
        </p:nvPicPr>
        <p:blipFill>
          <a:blip r:embed="rId2"/>
          <a:stretch>
            <a:fillRect/>
          </a:stretch>
        </p:blipFill>
        <p:spPr>
          <a:xfrm>
            <a:off x="2500071" y="5231294"/>
            <a:ext cx="2255565" cy="1490181"/>
          </a:xfrm>
          <a:prstGeom prst="rect">
            <a:avLst/>
          </a:prstGeom>
          <a:effectLst>
            <a:innerShdw blurRad="114300">
              <a:prstClr val="black"/>
            </a:innerShdw>
          </a:effectLst>
        </p:spPr>
      </p:pic>
      <p:pic>
        <p:nvPicPr>
          <p:cNvPr id="11" name="Grafik 10"/>
          <p:cNvPicPr>
            <a:picLocks noChangeAspect="1"/>
          </p:cNvPicPr>
          <p:nvPr/>
        </p:nvPicPr>
        <p:blipFill>
          <a:blip r:embed="rId3"/>
          <a:stretch>
            <a:fillRect/>
          </a:stretch>
        </p:blipFill>
        <p:spPr>
          <a:xfrm>
            <a:off x="5236444" y="5231294"/>
            <a:ext cx="1282941" cy="1531806"/>
          </a:xfrm>
          <a:prstGeom prst="rect">
            <a:avLst/>
          </a:prstGeom>
          <a:effectLst>
            <a:innerShdw blurRad="114300">
              <a:prstClr val="black"/>
            </a:innerShdw>
          </a:effectLst>
        </p:spPr>
      </p:pic>
      <p:sp>
        <p:nvSpPr>
          <p:cNvPr id="17" name="Rechteck 16"/>
          <p:cNvSpPr/>
          <p:nvPr/>
        </p:nvSpPr>
        <p:spPr>
          <a:xfrm>
            <a:off x="2500070" y="6533804"/>
            <a:ext cx="2255565" cy="18767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8" name="Rechteck 17"/>
          <p:cNvSpPr/>
          <p:nvPr/>
        </p:nvSpPr>
        <p:spPr>
          <a:xfrm>
            <a:off x="5236444" y="5336166"/>
            <a:ext cx="1282941" cy="14192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9" name="Rechteck 18"/>
          <p:cNvSpPr/>
          <p:nvPr/>
        </p:nvSpPr>
        <p:spPr>
          <a:xfrm>
            <a:off x="5236443" y="6496045"/>
            <a:ext cx="1282941" cy="13751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2528485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5400" dirty="0">
                <a:latin typeface="Source Sans Pro" panose="020B0503030403020204" pitchFamily="34" charset="0"/>
              </a:rPr>
              <a:t>UNION</a:t>
            </a:r>
          </a:p>
          <a:p>
            <a:endParaRPr lang="de-DE" sz="5400" dirty="0">
              <a:latin typeface="Source Sans Pro" panose="020B0503030403020204" pitchFamily="34" charset="0"/>
            </a:endParaRPr>
          </a:p>
        </p:txBody>
      </p:sp>
    </p:spTree>
    <p:extLst>
      <p:ext uri="{BB962C8B-B14F-4D97-AF65-F5344CB8AC3E}">
        <p14:creationId xmlns:p14="http://schemas.microsoft.com/office/powerpoint/2010/main" val="38190392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70838" y="1521240"/>
            <a:ext cx="11116610" cy="390876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noProof="0" dirty="0">
                <a:solidFill>
                  <a:srgbClr val="0071B2"/>
                </a:solidFill>
                <a:latin typeface="Source Sans Pro" panose="020B0503030403020204" pitchFamily="34" charset="0"/>
              </a:rPr>
              <a:t>Jeder SELECT-Befehl produziert eine Ausgabetabelle, die - mengentheoretisch betrachtet - als eine </a:t>
            </a:r>
            <a:r>
              <a:rPr lang="de-DE" sz="2400" b="1" noProof="0" dirty="0">
                <a:solidFill>
                  <a:srgbClr val="0071B2"/>
                </a:solidFill>
                <a:latin typeface="Source Sans Pro" panose="020B0503030403020204" pitchFamily="34" charset="0"/>
              </a:rPr>
              <a:t>„Menge von Datensätzen“ </a:t>
            </a:r>
            <a:r>
              <a:rPr lang="de-DE" sz="2400" noProof="0" dirty="0">
                <a:solidFill>
                  <a:srgbClr val="0071B2"/>
                </a:solidFill>
                <a:latin typeface="Source Sans Pro" panose="020B0503030403020204" pitchFamily="34" charset="0"/>
              </a:rPr>
              <a:t>verstanden werden kann.</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a:solidFill>
                  <a:srgbClr val="0071B2"/>
                </a:solidFill>
                <a:latin typeface="Source Sans Pro" panose="020B0503030403020204" pitchFamily="34" charset="0"/>
              </a:rPr>
              <a:t>Der UNION zweier SELECT-Befehle entspricht dann der mengentheoretischen </a:t>
            </a:r>
            <a:r>
              <a:rPr lang="de-DE" sz="2400" b="1" dirty="0">
                <a:solidFill>
                  <a:srgbClr val="0071B2"/>
                </a:solidFill>
                <a:latin typeface="Source Sans Pro" panose="020B0503030403020204" pitchFamily="34" charset="0"/>
              </a:rPr>
              <a:t>Vereinigung</a:t>
            </a:r>
            <a:r>
              <a:rPr lang="de-DE" sz="2400" dirty="0">
                <a:solidFill>
                  <a:srgbClr val="0071B2"/>
                </a:solidFill>
                <a:latin typeface="Source Sans Pro" panose="020B0503030403020204" pitchFamily="34" charset="0"/>
              </a:rPr>
              <a:t> der beiden Ausgabetabellen.</a:t>
            </a:r>
            <a:endParaRPr lang="de-DE" sz="1400" dirty="0">
              <a:solidFill>
                <a:srgbClr val="0071B2"/>
              </a:solidFill>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marL="342900" lvl="0" indent="-342900">
              <a:buFont typeface="Arial" panose="020B0604020202020204" pitchFamily="34" charset="0"/>
              <a:buChar char="•"/>
              <a:defRPr/>
            </a:pPr>
            <a:r>
              <a:rPr lang="de-DE" sz="2400" noProof="0" dirty="0">
                <a:solidFill>
                  <a:srgbClr val="0071B2"/>
                </a:solidFill>
                <a:latin typeface="Source Sans Pro" panose="020B0503030403020204" pitchFamily="34" charset="0"/>
              </a:rPr>
              <a:t>Ein solcher UNION kann im Einzelfall auch inhaltlich interessant sein. Etwa, wenn wir die Entitäten unterschiedlicher Tabellen unter einer </a:t>
            </a:r>
            <a:r>
              <a:rPr lang="de-DE" sz="2400" b="1" noProof="0" dirty="0">
                <a:solidFill>
                  <a:srgbClr val="0071B2"/>
                </a:solidFill>
                <a:latin typeface="Source Sans Pro" panose="020B0503030403020204" pitchFamily="34" charset="0"/>
              </a:rPr>
              <a:t>gemeinsamen Überschrift </a:t>
            </a:r>
            <a:r>
              <a:rPr lang="de-DE" sz="2000" noProof="0" dirty="0">
                <a:solidFill>
                  <a:srgbClr val="0071B2"/>
                </a:solidFill>
                <a:latin typeface="Source Sans Pro" panose="020B0503030403020204" pitchFamily="34" charset="0"/>
              </a:rPr>
              <a:t>(Beziehungsweise: </a:t>
            </a:r>
            <a:r>
              <a:rPr lang="de-DE" sz="2000" dirty="0">
                <a:solidFill>
                  <a:srgbClr val="0071B2"/>
                </a:solidFill>
                <a:latin typeface="Source Sans Pro" panose="020B0503030403020204" pitchFamily="34" charset="0"/>
              </a:rPr>
              <a:t>b</a:t>
            </a:r>
            <a:r>
              <a:rPr lang="de-DE" sz="2000" noProof="0" dirty="0">
                <a:solidFill>
                  <a:srgbClr val="0071B2"/>
                </a:solidFill>
                <a:latin typeface="Source Sans Pro" panose="020B0503030403020204" pitchFamily="34" charset="0"/>
              </a:rPr>
              <a:t>e</a:t>
            </a:r>
            <a:r>
              <a:rPr lang="de-DE" sz="2000" dirty="0">
                <a:solidFill>
                  <a:srgbClr val="0071B2"/>
                </a:solidFill>
                <a:latin typeface="Source Sans Pro" panose="020B0503030403020204" pitchFamily="34" charset="0"/>
              </a:rPr>
              <a:t>züglich eines gemeinsamen </a:t>
            </a:r>
            <a:r>
              <a:rPr lang="de-DE" sz="2000" noProof="0" dirty="0">
                <a:solidFill>
                  <a:srgbClr val="0071B2"/>
                </a:solidFill>
                <a:latin typeface="Source Sans Pro" panose="020B0503030403020204" pitchFamily="34" charset="0"/>
              </a:rPr>
              <a:t>Oberbegriffs)</a:t>
            </a:r>
            <a:r>
              <a:rPr lang="de-DE" sz="2000" b="1" noProof="0" dirty="0">
                <a:solidFill>
                  <a:srgbClr val="0071B2"/>
                </a:solidFill>
                <a:latin typeface="Source Sans Pro" panose="020B0503030403020204" pitchFamily="34" charset="0"/>
              </a:rPr>
              <a:t> </a:t>
            </a:r>
            <a:r>
              <a:rPr lang="de-DE" sz="2400" noProof="0" dirty="0">
                <a:solidFill>
                  <a:srgbClr val="0071B2"/>
                </a:solidFill>
                <a:latin typeface="Source Sans Pro" panose="020B0503030403020204" pitchFamily="34" charset="0"/>
              </a:rPr>
              <a:t>ausgeben lassen wollen. </a:t>
            </a:r>
          </a:p>
          <a:p>
            <a:pPr marL="342900" lvl="0" indent="-342900">
              <a:buFont typeface="Arial" panose="020B0604020202020204" pitchFamily="34" charset="0"/>
              <a:buChar char="•"/>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a:solidFill>
                  <a:srgbClr val="0071B2"/>
                </a:solidFill>
                <a:latin typeface="Source Sans Pro" panose="020B0503030403020204" pitchFamily="34" charset="0"/>
              </a:rPr>
              <a:t>Im Rahmen von MySQL besteht die zentrale Motivation für den Einsatz eines UNION aber sicherlich in der Möglichkeit, mit diesem den </a:t>
            </a:r>
            <a:r>
              <a:rPr lang="de-DE" sz="2400" b="1" dirty="0">
                <a:solidFill>
                  <a:srgbClr val="0071B2"/>
                </a:solidFill>
                <a:latin typeface="Source Sans Pro" panose="020B0503030403020204" pitchFamily="34" charset="0"/>
              </a:rPr>
              <a:t>FULL JOIN </a:t>
            </a:r>
            <a:r>
              <a:rPr lang="de-DE" sz="2400" dirty="0">
                <a:solidFill>
                  <a:srgbClr val="0071B2"/>
                </a:solidFill>
                <a:latin typeface="Source Sans Pro" panose="020B0503030403020204" pitchFamily="34" charset="0"/>
              </a:rPr>
              <a:t>zu „simulieren“.</a:t>
            </a: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Definition + Motivation</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Tree>
    <p:extLst>
      <p:ext uri="{BB962C8B-B14F-4D97-AF65-F5344CB8AC3E}">
        <p14:creationId xmlns:p14="http://schemas.microsoft.com/office/powerpoint/2010/main" val="4270911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36321" y="946123"/>
            <a:ext cx="11225694" cy="63401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Aufgabenstellung: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Alle Hersteller </a:t>
            </a:r>
            <a:r>
              <a:rPr kumimoji="0" lang="de-DE" sz="12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(Hersteller-ID und Hersteller-Name) </a:t>
            </a:r>
            <a:r>
              <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sollen</a:t>
            </a:r>
            <a:r>
              <a:rPr kumimoji="0" lang="de-DE" sz="1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zusammen mit allen Speditionen </a:t>
            </a:r>
            <a:r>
              <a:rPr kumimoji="0" lang="de-DE" sz="12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(Spedition-ID und Spedition-Name) </a:t>
            </a:r>
            <a:r>
              <a:rPr kumimoji="0" lang="de-DE" sz="1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unter den Überschriften </a:t>
            </a:r>
            <a:r>
              <a:rPr kumimoji="0" lang="de-DE" sz="1800" b="1" i="0" u="none" strike="noStrike" kern="1200" cap="none" spc="0" normalizeH="0" noProof="0" dirty="0">
                <a:ln>
                  <a:noFill/>
                </a:ln>
                <a:solidFill>
                  <a:schemeClr val="accent2">
                    <a:lumMod val="50000"/>
                  </a:schemeClr>
                </a:solidFill>
                <a:effectLst/>
                <a:uLnTx/>
                <a:uFillTx/>
                <a:latin typeface="Source Sans Pro" panose="020B0503030403020204" pitchFamily="34" charset="0"/>
                <a:ea typeface="+mn-ea"/>
                <a:cs typeface="+mn-cs"/>
              </a:rPr>
              <a:t>„ID“ </a:t>
            </a:r>
            <a:r>
              <a:rPr kumimoji="0" lang="de-DE" sz="1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und </a:t>
            </a:r>
            <a:r>
              <a:rPr kumimoji="0" lang="de-DE" sz="1800" b="1" i="0" u="none" strike="noStrike" kern="1200" cap="none" spc="0" normalizeH="0" noProof="0" dirty="0">
                <a:ln>
                  <a:noFill/>
                </a:ln>
                <a:solidFill>
                  <a:schemeClr val="accent2">
                    <a:lumMod val="50000"/>
                  </a:schemeClr>
                </a:solidFill>
                <a:effectLst/>
                <a:uLnTx/>
                <a:uFillTx/>
                <a:latin typeface="Source Sans Pro" panose="020B0503030403020204" pitchFamily="34" charset="0"/>
                <a:ea typeface="+mn-ea"/>
                <a:cs typeface="+mn-cs"/>
              </a:rPr>
              <a:t>„Firmenname“ </a:t>
            </a:r>
            <a:r>
              <a:rPr kumimoji="0" lang="de-DE" sz="1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ausgegeben werden.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800" baseline="0" dirty="0">
              <a:solidFill>
                <a:srgbClr val="0071B2"/>
              </a:solidFill>
              <a:latin typeface="Source Sans Pro" panose="020B0503030403020204" pitchFamily="34" charset="0"/>
            </a:endParaRPr>
          </a:p>
          <a:p>
            <a:pPr lvl="0">
              <a:defRPr/>
            </a:pPr>
            <a:r>
              <a:rPr lang="de-DE" sz="1400" dirty="0">
                <a:solidFill>
                  <a:srgbClr val="0071B2"/>
                </a:solidFill>
                <a:latin typeface="Source Sans Pro" panose="020B0503030403020204" pitchFamily="34" charset="0"/>
              </a:rPr>
              <a:t>Folgender Code vereinigt beide Ausgabetabellen: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lvl="0">
              <a:defRPr/>
            </a:pP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t>
            </a:r>
            <a:r>
              <a:rPr lang="en-US" b="1" dirty="0">
                <a:solidFill>
                  <a:srgbClr val="0071B2"/>
                </a:solidFill>
                <a:latin typeface="Source Sans Pro" panose="020B0503030403020204" pitchFamily="34" charset="0"/>
              </a:rPr>
              <a:t>SELECT </a:t>
            </a:r>
          </a:p>
          <a:p>
            <a:pPr lvl="0">
              <a:defRPr/>
            </a:pPr>
            <a:r>
              <a:rPr lang="en-US" b="1" dirty="0">
                <a:solidFill>
                  <a:srgbClr val="0071B2"/>
                </a:solidFill>
                <a:latin typeface="Source Sans Pro" panose="020B0503030403020204" pitchFamily="34" charset="0"/>
              </a:rPr>
              <a:t>       		</a:t>
            </a:r>
            <a:r>
              <a:rPr lang="en-US" dirty="0">
                <a:solidFill>
                  <a:srgbClr val="0071B2"/>
                </a:solidFill>
                <a:latin typeface="Source Sans Pro" panose="020B0503030403020204" pitchFamily="34" charset="0"/>
              </a:rPr>
              <a:t>Hersteller_ID</a:t>
            </a:r>
            <a:r>
              <a:rPr lang="en-US" b="1" dirty="0">
                <a:solidFill>
                  <a:srgbClr val="0071B2"/>
                </a:solidFill>
                <a:latin typeface="Source Sans Pro" panose="020B0503030403020204" pitchFamily="34" charset="0"/>
              </a:rPr>
              <a:t> AS </a:t>
            </a:r>
            <a:r>
              <a:rPr lang="en-US" b="1" dirty="0">
                <a:solidFill>
                  <a:schemeClr val="accent2">
                    <a:lumMod val="50000"/>
                  </a:schemeClr>
                </a:solidFill>
                <a:latin typeface="Source Sans Pro" panose="020B0503030403020204" pitchFamily="34" charset="0"/>
              </a:rPr>
              <a:t>"</a:t>
            </a:r>
            <a:r>
              <a:rPr lang="en-US" dirty="0">
                <a:solidFill>
                  <a:schemeClr val="accent2">
                    <a:lumMod val="50000"/>
                  </a:schemeClr>
                </a:solidFill>
                <a:latin typeface="Source Sans Pro" panose="020B0503030403020204" pitchFamily="34" charset="0"/>
              </a:rPr>
              <a:t>ID</a:t>
            </a:r>
            <a:r>
              <a:rPr lang="en-US" b="1" dirty="0">
                <a:solidFill>
                  <a:schemeClr val="accent2">
                    <a:lumMod val="50000"/>
                  </a:schemeClr>
                </a:solidFill>
                <a:latin typeface="Source Sans Pro" panose="020B0503030403020204" pitchFamily="34" charset="0"/>
              </a:rPr>
              <a:t>"</a:t>
            </a:r>
            <a:r>
              <a:rPr lang="en-US" b="1" dirty="0">
                <a:latin typeface="Source Sans Pro" panose="020B0503030403020204" pitchFamily="34" charset="0"/>
              </a:rPr>
              <a:t>,</a:t>
            </a:r>
          </a:p>
          <a:p>
            <a:pPr lvl="0">
              <a:defRPr/>
            </a:pPr>
            <a:r>
              <a:rPr lang="en-US" b="1" dirty="0">
                <a:solidFill>
                  <a:srgbClr val="0071B2"/>
                </a:solidFill>
                <a:latin typeface="Source Sans Pro" panose="020B0503030403020204" pitchFamily="34" charset="0"/>
              </a:rPr>
              <a:t>       		</a:t>
            </a:r>
            <a:r>
              <a:rPr lang="en-US" dirty="0">
                <a:solidFill>
                  <a:srgbClr val="0071B2"/>
                </a:solidFill>
                <a:latin typeface="Source Sans Pro" panose="020B0503030403020204" pitchFamily="34" charset="0"/>
              </a:rPr>
              <a:t>Hersteller_Name</a:t>
            </a:r>
            <a:r>
              <a:rPr lang="en-US" b="1" dirty="0">
                <a:solidFill>
                  <a:srgbClr val="0071B2"/>
                </a:solidFill>
                <a:latin typeface="Source Sans Pro" panose="020B0503030403020204" pitchFamily="34" charset="0"/>
              </a:rPr>
              <a:t> AS </a:t>
            </a:r>
            <a:r>
              <a:rPr lang="en-US" b="1" dirty="0">
                <a:solidFill>
                  <a:schemeClr val="accent2">
                    <a:lumMod val="50000"/>
                  </a:schemeClr>
                </a:solidFill>
                <a:latin typeface="Source Sans Pro" panose="020B0503030403020204" pitchFamily="34" charset="0"/>
              </a:rPr>
              <a:t>"</a:t>
            </a:r>
            <a:r>
              <a:rPr lang="en-US" dirty="0">
                <a:solidFill>
                  <a:schemeClr val="accent2">
                    <a:lumMod val="50000"/>
                  </a:schemeClr>
                </a:solidFill>
                <a:latin typeface="Source Sans Pro" panose="020B0503030403020204" pitchFamily="34" charset="0"/>
              </a:rPr>
              <a:t>Firmenname</a:t>
            </a:r>
            <a:r>
              <a:rPr lang="en-US" b="1" dirty="0">
                <a:solidFill>
                  <a:schemeClr val="accent2">
                    <a:lumMod val="50000"/>
                  </a:schemeClr>
                </a:solidFill>
                <a:latin typeface="Source Sans Pro" panose="020B0503030403020204" pitchFamily="34" charset="0"/>
              </a:rPr>
              <a:t>"</a:t>
            </a:r>
          </a:p>
          <a:p>
            <a:pPr lvl="0">
              <a:defRPr/>
            </a:pPr>
            <a:r>
              <a:rPr lang="en-US" b="1" dirty="0">
                <a:solidFill>
                  <a:srgbClr val="0071B2"/>
                </a:solidFill>
                <a:latin typeface="Source Sans Pro" panose="020B0503030403020204" pitchFamily="34" charset="0"/>
              </a:rPr>
              <a:t>	FROM </a:t>
            </a:r>
            <a:r>
              <a:rPr lang="en-US" dirty="0">
                <a:solidFill>
                  <a:srgbClr val="0071B2"/>
                </a:solidFill>
                <a:latin typeface="Source Sans Pro" panose="020B0503030403020204" pitchFamily="34" charset="0"/>
              </a:rPr>
              <a:t>Hersteller</a:t>
            </a:r>
          </a:p>
          <a:p>
            <a:pPr lvl="0">
              <a:defRPr/>
            </a:pPr>
            <a:endParaRPr lang="en-US" b="1" dirty="0">
              <a:solidFill>
                <a:srgbClr val="0071B2"/>
              </a:solidFill>
              <a:latin typeface="Source Sans Pro" panose="020B0503030403020204" pitchFamily="34" charset="0"/>
            </a:endParaRPr>
          </a:p>
          <a:p>
            <a:pPr lvl="0">
              <a:defRPr/>
            </a:pPr>
            <a:r>
              <a:rPr lang="en-US" b="1" dirty="0">
                <a:solidFill>
                  <a:srgbClr val="0071B2"/>
                </a:solidFill>
                <a:latin typeface="Source Sans Pro" panose="020B0503030403020204" pitchFamily="34" charset="0"/>
              </a:rPr>
              <a:t>	</a:t>
            </a:r>
            <a:r>
              <a:rPr lang="en-US" b="1" dirty="0">
                <a:solidFill>
                  <a:schemeClr val="accent2"/>
                </a:solidFill>
                <a:latin typeface="Source Sans Pro" panose="020B0503030403020204" pitchFamily="34" charset="0"/>
              </a:rPr>
              <a:t>UNION</a:t>
            </a:r>
          </a:p>
          <a:p>
            <a:pPr lvl="0">
              <a:defRPr/>
            </a:pPr>
            <a:endParaRPr lang="en-US" b="1" dirty="0">
              <a:solidFill>
                <a:srgbClr val="0071B2"/>
              </a:solidFill>
              <a:latin typeface="Source Sans Pro" panose="020B0503030403020204" pitchFamily="34" charset="0"/>
            </a:endParaRPr>
          </a:p>
          <a:p>
            <a:pPr lvl="0">
              <a:defRPr/>
            </a:pPr>
            <a:r>
              <a:rPr lang="en-US" b="1" dirty="0">
                <a:solidFill>
                  <a:srgbClr val="0071B2"/>
                </a:solidFill>
                <a:latin typeface="Source Sans Pro" panose="020B0503030403020204" pitchFamily="34" charset="0"/>
              </a:rPr>
              <a:t>	SELECT </a:t>
            </a:r>
          </a:p>
          <a:p>
            <a:pPr lvl="0">
              <a:defRPr/>
            </a:pPr>
            <a:r>
              <a:rPr lang="en-US" b="1" dirty="0">
                <a:solidFill>
                  <a:srgbClr val="0071B2"/>
                </a:solidFill>
                <a:latin typeface="Source Sans Pro" panose="020B0503030403020204" pitchFamily="34" charset="0"/>
              </a:rPr>
              <a:t>       		</a:t>
            </a:r>
            <a:r>
              <a:rPr lang="en-US" dirty="0">
                <a:solidFill>
                  <a:srgbClr val="0071B2"/>
                </a:solidFill>
                <a:latin typeface="Source Sans Pro" panose="020B0503030403020204" pitchFamily="34" charset="0"/>
              </a:rPr>
              <a:t>Spedition_ID</a:t>
            </a:r>
            <a:r>
              <a:rPr lang="en-US" b="1" dirty="0">
                <a:solidFill>
                  <a:srgbClr val="0071B2"/>
                </a:solidFill>
                <a:latin typeface="Source Sans Pro" panose="020B0503030403020204" pitchFamily="34" charset="0"/>
              </a:rPr>
              <a:t> ,</a:t>
            </a:r>
          </a:p>
          <a:p>
            <a:pPr lvl="0">
              <a:defRPr/>
            </a:pPr>
            <a:r>
              <a:rPr lang="en-US" b="1" dirty="0">
                <a:solidFill>
                  <a:srgbClr val="0071B2"/>
                </a:solidFill>
                <a:latin typeface="Source Sans Pro" panose="020B0503030403020204" pitchFamily="34" charset="0"/>
              </a:rPr>
              <a:t>       		</a:t>
            </a:r>
            <a:r>
              <a:rPr lang="en-US" dirty="0">
                <a:solidFill>
                  <a:srgbClr val="0071B2"/>
                </a:solidFill>
                <a:latin typeface="Source Sans Pro" panose="020B0503030403020204" pitchFamily="34" charset="0"/>
              </a:rPr>
              <a:t>Spedition_Name</a:t>
            </a:r>
            <a:endParaRPr lang="en-US" b="1" dirty="0">
              <a:solidFill>
                <a:srgbClr val="0071B2"/>
              </a:solidFill>
              <a:latin typeface="Source Sans Pro" panose="020B0503030403020204" pitchFamily="34" charset="0"/>
            </a:endParaRPr>
          </a:p>
          <a:p>
            <a:pPr lvl="0">
              <a:defRPr/>
            </a:pPr>
            <a:r>
              <a:rPr lang="en-US" b="1" dirty="0">
                <a:solidFill>
                  <a:srgbClr val="0071B2"/>
                </a:solidFill>
                <a:latin typeface="Source Sans Pro" panose="020B0503030403020204" pitchFamily="34" charset="0"/>
              </a:rPr>
              <a:t>	FROM </a:t>
            </a:r>
            <a:r>
              <a:rPr lang="en-US" dirty="0">
                <a:solidFill>
                  <a:srgbClr val="0071B2"/>
                </a:solidFill>
                <a:latin typeface="Source Sans Pro" panose="020B0503030403020204" pitchFamily="34" charset="0"/>
              </a:rPr>
              <a:t>Spedition</a:t>
            </a:r>
            <a:r>
              <a:rPr lang="en-US" b="1" dirty="0">
                <a:solidFill>
                  <a:srgbClr val="0071B2"/>
                </a:solidFill>
                <a:latin typeface="Source Sans Pro" panose="020B0503030403020204" pitchFamily="34" charset="0"/>
              </a:rPr>
              <a:t>;</a:t>
            </a:r>
            <a:endParaRPr kumimoji="0" lang="de-DE" b="0" i="0" u="none" strike="noStrike" kern="1200" cap="none" spc="0" normalizeH="0" baseline="0" noProof="0" dirty="0">
              <a:ln>
                <a:noFill/>
              </a:ln>
              <a:solidFill>
                <a:srgbClr val="0071B2"/>
              </a:solidFill>
              <a:effectLst/>
              <a:uLnTx/>
              <a:uFillTx/>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Beispiel(1) + Syntax</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pic>
        <p:nvPicPr>
          <p:cNvPr id="3" name="Grafik 2"/>
          <p:cNvPicPr>
            <a:picLocks noChangeAspect="1"/>
          </p:cNvPicPr>
          <p:nvPr/>
        </p:nvPicPr>
        <p:blipFill>
          <a:blip r:embed="rId2"/>
          <a:stretch>
            <a:fillRect/>
          </a:stretch>
        </p:blipFill>
        <p:spPr>
          <a:xfrm>
            <a:off x="6525058" y="2843212"/>
            <a:ext cx="1552575" cy="3000375"/>
          </a:xfrm>
          <a:prstGeom prst="rect">
            <a:avLst/>
          </a:prstGeom>
          <a:effectLst>
            <a:innerShdw blurRad="114300">
              <a:prstClr val="black"/>
            </a:innerShdw>
          </a:effectLst>
        </p:spPr>
      </p:pic>
    </p:spTree>
    <p:extLst>
      <p:ext uri="{BB962C8B-B14F-4D97-AF65-F5344CB8AC3E}">
        <p14:creationId xmlns:p14="http://schemas.microsoft.com/office/powerpoint/2010/main" val="3522466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15" end="1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16" end="1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17" end="17"/>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18" end="18"/>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36321" y="946123"/>
            <a:ext cx="10652115" cy="618630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Aufgabenstellung: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Alle Kunden </a:t>
            </a:r>
            <a:r>
              <a:rPr kumimoji="0" lang="de-DE" sz="12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(Kunde-ID und Vorname) </a:t>
            </a:r>
            <a:r>
              <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sollen</a:t>
            </a:r>
            <a:r>
              <a:rPr kumimoji="0" lang="de-DE" sz="1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zusammen mit allen Produkten </a:t>
            </a:r>
            <a:r>
              <a:rPr kumimoji="0" lang="de-DE" sz="12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(Produkt-ID und Preis)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unter den Überschriften </a:t>
            </a:r>
            <a:r>
              <a:rPr kumimoji="0" lang="de-DE" sz="1800" b="1" i="0" u="none" strike="noStrike" kern="1200" cap="none" spc="0" normalizeH="0" noProof="0" dirty="0">
                <a:ln>
                  <a:noFill/>
                </a:ln>
                <a:solidFill>
                  <a:schemeClr val="accent2">
                    <a:lumMod val="50000"/>
                  </a:schemeClr>
                </a:solidFill>
                <a:effectLst/>
                <a:uLnTx/>
                <a:uFillTx/>
                <a:latin typeface="Source Sans Pro" panose="020B0503030403020204" pitchFamily="34" charset="0"/>
                <a:ea typeface="+mn-ea"/>
                <a:cs typeface="+mn-cs"/>
              </a:rPr>
              <a:t>„ID“ </a:t>
            </a:r>
            <a:r>
              <a:rPr kumimoji="0" lang="de-DE" sz="1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und </a:t>
            </a:r>
            <a:r>
              <a:rPr kumimoji="0" lang="de-DE" sz="1800" b="1" i="0" u="none" strike="noStrike" kern="1200" cap="none" spc="0" normalizeH="0" noProof="0" dirty="0">
                <a:ln>
                  <a:noFill/>
                </a:ln>
                <a:solidFill>
                  <a:schemeClr val="accent2">
                    <a:lumMod val="50000"/>
                  </a:schemeClr>
                </a:solidFill>
                <a:effectLst/>
                <a:uLnTx/>
                <a:uFillTx/>
                <a:latin typeface="Source Sans Pro" panose="020B0503030403020204" pitchFamily="34" charset="0"/>
                <a:ea typeface="+mn-ea"/>
                <a:cs typeface="+mn-cs"/>
              </a:rPr>
              <a:t>„Häh ??“ </a:t>
            </a:r>
            <a:r>
              <a:rPr kumimoji="0" lang="de-DE" sz="1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ausgegeben werden.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800" baseline="0" dirty="0">
              <a:solidFill>
                <a:srgbClr val="0071B2"/>
              </a:solidFill>
              <a:latin typeface="Source Sans Pro" panose="020B0503030403020204" pitchFamily="34" charset="0"/>
            </a:endParaRPr>
          </a:p>
          <a:p>
            <a:pPr lvl="0">
              <a:defRPr/>
            </a:pPr>
            <a:r>
              <a:rPr lang="de-DE" sz="1400" dirty="0">
                <a:solidFill>
                  <a:srgbClr val="0071B2"/>
                </a:solidFill>
                <a:latin typeface="Source Sans Pro" panose="020B0503030403020204" pitchFamily="34" charset="0"/>
              </a:rPr>
              <a:t>Folgender Code vereinigt beide Ausgabetabellen: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lvl="0">
              <a:defRPr/>
            </a:pP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t>
            </a:r>
            <a:r>
              <a:rPr lang="en-US" b="1" dirty="0">
                <a:solidFill>
                  <a:srgbClr val="0071B2"/>
                </a:solidFill>
                <a:latin typeface="Source Sans Pro" panose="020B0503030403020204" pitchFamily="34" charset="0"/>
              </a:rPr>
              <a:t>SELECT </a:t>
            </a:r>
          </a:p>
          <a:p>
            <a:pPr lvl="0">
              <a:defRPr/>
            </a:pPr>
            <a:r>
              <a:rPr lang="en-US" b="1" dirty="0">
                <a:solidFill>
                  <a:srgbClr val="0071B2"/>
                </a:solidFill>
                <a:latin typeface="Source Sans Pro" panose="020B0503030403020204" pitchFamily="34" charset="0"/>
              </a:rPr>
              <a:t>       		</a:t>
            </a:r>
            <a:r>
              <a:rPr lang="en-US" dirty="0">
                <a:solidFill>
                  <a:srgbClr val="0071B2"/>
                </a:solidFill>
                <a:latin typeface="Source Sans Pro" panose="020B0503030403020204" pitchFamily="34" charset="0"/>
              </a:rPr>
              <a:t>Kunde_ID</a:t>
            </a:r>
            <a:r>
              <a:rPr lang="en-US" b="1" dirty="0">
                <a:solidFill>
                  <a:srgbClr val="0071B2"/>
                </a:solidFill>
                <a:latin typeface="Source Sans Pro" panose="020B0503030403020204" pitchFamily="34" charset="0"/>
              </a:rPr>
              <a:t> AS </a:t>
            </a:r>
            <a:r>
              <a:rPr lang="en-US" b="1" dirty="0">
                <a:solidFill>
                  <a:schemeClr val="accent2">
                    <a:lumMod val="50000"/>
                  </a:schemeClr>
                </a:solidFill>
                <a:latin typeface="Source Sans Pro" panose="020B0503030403020204" pitchFamily="34" charset="0"/>
              </a:rPr>
              <a:t>"</a:t>
            </a:r>
            <a:r>
              <a:rPr lang="en-US" dirty="0">
                <a:solidFill>
                  <a:schemeClr val="accent2">
                    <a:lumMod val="50000"/>
                  </a:schemeClr>
                </a:solidFill>
                <a:latin typeface="Source Sans Pro" panose="020B0503030403020204" pitchFamily="34" charset="0"/>
              </a:rPr>
              <a:t>ID</a:t>
            </a:r>
            <a:r>
              <a:rPr lang="en-US" b="1" dirty="0">
                <a:solidFill>
                  <a:schemeClr val="accent2">
                    <a:lumMod val="50000"/>
                  </a:schemeClr>
                </a:solidFill>
                <a:latin typeface="Source Sans Pro" panose="020B0503030403020204" pitchFamily="34" charset="0"/>
              </a:rPr>
              <a:t>"</a:t>
            </a:r>
            <a:r>
              <a:rPr lang="en-US" b="1" dirty="0">
                <a:latin typeface="Source Sans Pro" panose="020B0503030403020204" pitchFamily="34" charset="0"/>
              </a:rPr>
              <a:t>,</a:t>
            </a:r>
          </a:p>
          <a:p>
            <a:pPr>
              <a:defRPr/>
            </a:pPr>
            <a:r>
              <a:rPr lang="en-US" b="1" dirty="0">
                <a:solidFill>
                  <a:srgbClr val="0071B2"/>
                </a:solidFill>
                <a:latin typeface="Source Sans Pro" panose="020B0503030403020204" pitchFamily="34" charset="0"/>
              </a:rPr>
              <a:t>       		</a:t>
            </a:r>
            <a:r>
              <a:rPr lang="en-US" dirty="0">
                <a:solidFill>
                  <a:srgbClr val="0071B2"/>
                </a:solidFill>
                <a:latin typeface="Source Sans Pro" panose="020B0503030403020204" pitchFamily="34" charset="0"/>
              </a:rPr>
              <a:t>Vorname</a:t>
            </a:r>
            <a:r>
              <a:rPr lang="en-US" b="1" dirty="0">
                <a:solidFill>
                  <a:srgbClr val="0071B2"/>
                </a:solidFill>
                <a:latin typeface="Source Sans Pro" panose="020B0503030403020204" pitchFamily="34" charset="0"/>
              </a:rPr>
              <a:t> AS </a:t>
            </a:r>
            <a:r>
              <a:rPr lang="en-US" b="1" dirty="0">
                <a:solidFill>
                  <a:schemeClr val="accent2">
                    <a:lumMod val="50000"/>
                  </a:schemeClr>
                </a:solidFill>
                <a:latin typeface="Source Sans Pro" panose="020B0503030403020204" pitchFamily="34" charset="0"/>
              </a:rPr>
              <a:t>"</a:t>
            </a:r>
            <a:r>
              <a:rPr lang="en-US" dirty="0">
                <a:solidFill>
                  <a:schemeClr val="accent2">
                    <a:lumMod val="50000"/>
                  </a:schemeClr>
                </a:solidFill>
                <a:latin typeface="Source Sans Pro" panose="020B0503030403020204" pitchFamily="34" charset="0"/>
              </a:rPr>
              <a:t>Häh ??</a:t>
            </a:r>
            <a:r>
              <a:rPr lang="en-US" b="1" dirty="0">
                <a:solidFill>
                  <a:schemeClr val="accent2">
                    <a:lumMod val="50000"/>
                  </a:schemeClr>
                </a:solidFill>
                <a:latin typeface="Source Sans Pro" panose="020B0503030403020204" pitchFamily="34" charset="0"/>
              </a:rPr>
              <a:t>"</a:t>
            </a:r>
          </a:p>
          <a:p>
            <a:pPr lvl="0">
              <a:defRPr/>
            </a:pPr>
            <a:r>
              <a:rPr lang="en-US" b="1" dirty="0">
                <a:solidFill>
                  <a:srgbClr val="0071B2"/>
                </a:solidFill>
                <a:latin typeface="Source Sans Pro" panose="020B0503030403020204" pitchFamily="34" charset="0"/>
              </a:rPr>
              <a:t>	FROM </a:t>
            </a:r>
            <a:r>
              <a:rPr lang="en-US" dirty="0">
                <a:solidFill>
                  <a:srgbClr val="0071B2"/>
                </a:solidFill>
                <a:latin typeface="Source Sans Pro" panose="020B0503030403020204" pitchFamily="34" charset="0"/>
              </a:rPr>
              <a:t>Kunde</a:t>
            </a:r>
          </a:p>
          <a:p>
            <a:pPr lvl="0">
              <a:defRPr/>
            </a:pPr>
            <a:endParaRPr lang="en-US" b="1" dirty="0">
              <a:solidFill>
                <a:srgbClr val="0071B2"/>
              </a:solidFill>
              <a:latin typeface="Source Sans Pro" panose="020B0503030403020204" pitchFamily="34" charset="0"/>
            </a:endParaRPr>
          </a:p>
          <a:p>
            <a:pPr lvl="0">
              <a:defRPr/>
            </a:pPr>
            <a:r>
              <a:rPr lang="en-US" b="1" dirty="0">
                <a:solidFill>
                  <a:srgbClr val="0071B2"/>
                </a:solidFill>
                <a:latin typeface="Source Sans Pro" panose="020B0503030403020204" pitchFamily="34" charset="0"/>
              </a:rPr>
              <a:t>	</a:t>
            </a:r>
            <a:r>
              <a:rPr lang="en-US" b="1" dirty="0">
                <a:solidFill>
                  <a:schemeClr val="accent2"/>
                </a:solidFill>
                <a:latin typeface="Source Sans Pro" panose="020B0503030403020204" pitchFamily="34" charset="0"/>
              </a:rPr>
              <a:t>UNION</a:t>
            </a:r>
          </a:p>
          <a:p>
            <a:pPr lvl="0">
              <a:defRPr/>
            </a:pPr>
            <a:endParaRPr lang="en-US" b="1" dirty="0">
              <a:solidFill>
                <a:srgbClr val="0071B2"/>
              </a:solidFill>
              <a:latin typeface="Source Sans Pro" panose="020B0503030403020204" pitchFamily="34" charset="0"/>
            </a:endParaRPr>
          </a:p>
          <a:p>
            <a:pPr lvl="0">
              <a:defRPr/>
            </a:pPr>
            <a:r>
              <a:rPr lang="en-US" b="1" dirty="0">
                <a:solidFill>
                  <a:srgbClr val="0071B2"/>
                </a:solidFill>
                <a:latin typeface="Source Sans Pro" panose="020B0503030403020204" pitchFamily="34" charset="0"/>
              </a:rPr>
              <a:t>	SELECT </a:t>
            </a:r>
          </a:p>
          <a:p>
            <a:pPr lvl="0">
              <a:defRPr/>
            </a:pPr>
            <a:r>
              <a:rPr lang="en-US" b="1" dirty="0">
                <a:solidFill>
                  <a:srgbClr val="0071B2"/>
                </a:solidFill>
                <a:latin typeface="Source Sans Pro" panose="020B0503030403020204" pitchFamily="34" charset="0"/>
              </a:rPr>
              <a:t>       		</a:t>
            </a:r>
            <a:r>
              <a:rPr lang="en-US" dirty="0">
                <a:solidFill>
                  <a:srgbClr val="0071B2"/>
                </a:solidFill>
                <a:latin typeface="Source Sans Pro" panose="020B0503030403020204" pitchFamily="34" charset="0"/>
              </a:rPr>
              <a:t>Produkt_ID</a:t>
            </a:r>
            <a:r>
              <a:rPr lang="en-US" b="1" dirty="0">
                <a:solidFill>
                  <a:srgbClr val="0071B2"/>
                </a:solidFill>
                <a:latin typeface="Source Sans Pro" panose="020B0503030403020204" pitchFamily="34" charset="0"/>
              </a:rPr>
              <a:t> ,</a:t>
            </a:r>
          </a:p>
          <a:p>
            <a:pPr lvl="0">
              <a:defRPr/>
            </a:pPr>
            <a:r>
              <a:rPr lang="en-US" b="1" dirty="0">
                <a:solidFill>
                  <a:srgbClr val="0071B2"/>
                </a:solidFill>
                <a:latin typeface="Source Sans Pro" panose="020B0503030403020204" pitchFamily="34" charset="0"/>
              </a:rPr>
              <a:t>       		</a:t>
            </a:r>
            <a:r>
              <a:rPr lang="en-US" dirty="0">
                <a:solidFill>
                  <a:srgbClr val="0071B2"/>
                </a:solidFill>
                <a:latin typeface="Source Sans Pro" panose="020B0503030403020204" pitchFamily="34" charset="0"/>
              </a:rPr>
              <a:t>Euro_Preis</a:t>
            </a:r>
            <a:endParaRPr lang="en-US" b="1" dirty="0">
              <a:solidFill>
                <a:srgbClr val="0071B2"/>
              </a:solidFill>
              <a:latin typeface="Source Sans Pro" panose="020B0503030403020204" pitchFamily="34" charset="0"/>
            </a:endParaRPr>
          </a:p>
          <a:p>
            <a:pPr lvl="0">
              <a:defRPr/>
            </a:pPr>
            <a:r>
              <a:rPr lang="en-US" b="1" dirty="0">
                <a:solidFill>
                  <a:srgbClr val="0071B2"/>
                </a:solidFill>
                <a:latin typeface="Source Sans Pro" panose="020B0503030403020204" pitchFamily="34" charset="0"/>
              </a:rPr>
              <a:t>	FROM </a:t>
            </a:r>
            <a:r>
              <a:rPr lang="en-US" dirty="0">
                <a:solidFill>
                  <a:srgbClr val="0071B2"/>
                </a:solidFill>
                <a:latin typeface="Source Sans Pro" panose="020B0503030403020204" pitchFamily="34" charset="0"/>
              </a:rPr>
              <a:t>Produkt</a:t>
            </a:r>
            <a:r>
              <a:rPr lang="en-US" b="1" dirty="0">
                <a:solidFill>
                  <a:srgbClr val="0071B2"/>
                </a:solidFill>
                <a:latin typeface="Source Sans Pro" panose="020B0503030403020204" pitchFamily="34" charset="0"/>
              </a:rPr>
              <a:t>;</a:t>
            </a:r>
            <a:endParaRPr kumimoji="0" lang="de-DE" b="0" i="0" u="none" strike="noStrike" kern="1200" cap="none" spc="0" normalizeH="0" baseline="0" noProof="0" dirty="0">
              <a:ln>
                <a:noFill/>
              </a:ln>
              <a:solidFill>
                <a:srgbClr val="0071B2"/>
              </a:solidFill>
              <a:effectLst/>
              <a:uLnTx/>
              <a:uFillTx/>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Beispiel(2) + Syntax</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pic>
        <p:nvPicPr>
          <p:cNvPr id="2" name="Grafik 1"/>
          <p:cNvPicPr>
            <a:picLocks noChangeAspect="1"/>
          </p:cNvPicPr>
          <p:nvPr/>
        </p:nvPicPr>
        <p:blipFill>
          <a:blip r:embed="rId2"/>
          <a:stretch>
            <a:fillRect/>
          </a:stretch>
        </p:blipFill>
        <p:spPr>
          <a:xfrm>
            <a:off x="5568547" y="2635134"/>
            <a:ext cx="1668634" cy="3257809"/>
          </a:xfrm>
          <a:prstGeom prst="rect">
            <a:avLst/>
          </a:prstGeom>
          <a:effectLst>
            <a:innerShdw blurRad="114300">
              <a:prstClr val="black"/>
            </a:innerShdw>
          </a:effectLst>
        </p:spPr>
      </p:pic>
      <p:sp>
        <p:nvSpPr>
          <p:cNvPr id="4" name="Rechteck 3"/>
          <p:cNvSpPr/>
          <p:nvPr/>
        </p:nvSpPr>
        <p:spPr>
          <a:xfrm>
            <a:off x="5802284" y="2834640"/>
            <a:ext cx="1434897" cy="164592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 name="Rechteck 4"/>
          <p:cNvSpPr/>
          <p:nvPr/>
        </p:nvSpPr>
        <p:spPr>
          <a:xfrm>
            <a:off x="5802284" y="4509653"/>
            <a:ext cx="1434897" cy="1383289"/>
          </a:xfrm>
          <a:prstGeom prst="rect">
            <a:avLst/>
          </a:prstGeom>
          <a:noFill/>
          <a:ln w="381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7" name="Textfeld 6"/>
          <p:cNvSpPr txBox="1"/>
          <p:nvPr/>
        </p:nvSpPr>
        <p:spPr>
          <a:xfrm>
            <a:off x="7311705" y="4249727"/>
            <a:ext cx="4101572" cy="461665"/>
          </a:xfrm>
          <a:prstGeom prst="rect">
            <a:avLst/>
          </a:prstGeom>
          <a:noFill/>
        </p:spPr>
        <p:txBody>
          <a:bodyPr wrap="none" rtlCol="0">
            <a:spAutoFit/>
          </a:bodyPr>
          <a:lstStyle/>
          <a:p>
            <a:r>
              <a:rPr lang="de-DE" sz="1200" b="1" dirty="0">
                <a:solidFill>
                  <a:srgbClr val="FF0000"/>
                </a:solidFill>
              </a:rPr>
              <a:t>Gemeinsame Ausgabe </a:t>
            </a:r>
            <a:r>
              <a:rPr lang="de-DE" sz="1200" dirty="0">
                <a:solidFill>
                  <a:srgbClr val="FF0000"/>
                </a:solidFill>
              </a:rPr>
              <a:t>(</a:t>
            </a:r>
            <a:r>
              <a:rPr lang="de-DE" sz="1200" u="sng" dirty="0">
                <a:solidFill>
                  <a:srgbClr val="FF0000"/>
                </a:solidFill>
              </a:rPr>
              <a:t>obwohl</a:t>
            </a:r>
            <a:r>
              <a:rPr lang="de-DE" sz="1200" dirty="0">
                <a:solidFill>
                  <a:srgbClr val="FF0000"/>
                </a:solidFill>
              </a:rPr>
              <a:t> unterschiedlichen Typs!)</a:t>
            </a:r>
          </a:p>
          <a:p>
            <a:r>
              <a:rPr lang="de-DE" sz="1200" dirty="0">
                <a:solidFill>
                  <a:srgbClr val="FF0000"/>
                </a:solidFill>
              </a:rPr>
              <a:t>=&gt; daher existiert auch keine sinnvolle gemeinsame Überschrift</a:t>
            </a:r>
          </a:p>
        </p:txBody>
      </p:sp>
    </p:spTree>
    <p:extLst>
      <p:ext uri="{BB962C8B-B14F-4D97-AF65-F5344CB8AC3E}">
        <p14:creationId xmlns:p14="http://schemas.microsoft.com/office/powerpoint/2010/main" val="1682315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16" end="1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17" end="17"/>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18" end="18"/>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
                                            <p:txEl>
                                              <p:pRg st="19" end="19"/>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36321" y="946123"/>
            <a:ext cx="10652115" cy="59093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Aufgabenstellung: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Alle Kunden </a:t>
            </a:r>
            <a:r>
              <a:rPr kumimoji="0" lang="de-DE" sz="12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(Kunde-ID und Vorname) </a:t>
            </a:r>
            <a:r>
              <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sollen</a:t>
            </a:r>
            <a:r>
              <a:rPr kumimoji="0" lang="de-DE" sz="1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zusammen mit allen Produkten </a:t>
            </a:r>
            <a:r>
              <a:rPr kumimoji="0" lang="de-DE" sz="12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(Produkt-ID)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unter den Überschriften </a:t>
            </a:r>
            <a:r>
              <a:rPr kumimoji="0" lang="de-DE" sz="1800" b="1" i="0" u="none" strike="noStrike" kern="1200" cap="none" spc="0" normalizeH="0" noProof="0" dirty="0">
                <a:ln>
                  <a:noFill/>
                </a:ln>
                <a:solidFill>
                  <a:schemeClr val="accent2">
                    <a:lumMod val="50000"/>
                  </a:schemeClr>
                </a:solidFill>
                <a:effectLst/>
                <a:uLnTx/>
                <a:uFillTx/>
                <a:latin typeface="Source Sans Pro" panose="020B0503030403020204" pitchFamily="34" charset="0"/>
                <a:ea typeface="+mn-ea"/>
                <a:cs typeface="+mn-cs"/>
              </a:rPr>
              <a:t>„ID“ </a:t>
            </a:r>
            <a:r>
              <a:rPr kumimoji="0" lang="de-DE" sz="1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und </a:t>
            </a:r>
            <a:r>
              <a:rPr kumimoji="0" lang="de-DE" sz="1800" b="1" i="0" u="none" strike="noStrike" kern="1200" cap="none" spc="0" normalizeH="0" noProof="0" dirty="0">
                <a:ln>
                  <a:noFill/>
                </a:ln>
                <a:solidFill>
                  <a:schemeClr val="accent2">
                    <a:lumMod val="50000"/>
                  </a:schemeClr>
                </a:solidFill>
                <a:effectLst/>
                <a:uLnTx/>
                <a:uFillTx/>
                <a:latin typeface="Source Sans Pro" panose="020B0503030403020204" pitchFamily="34" charset="0"/>
                <a:ea typeface="+mn-ea"/>
                <a:cs typeface="+mn-cs"/>
              </a:rPr>
              <a:t>„Rufname“ </a:t>
            </a:r>
            <a:r>
              <a:rPr kumimoji="0" lang="de-DE" sz="1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ausgegeben werden.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800" baseline="0" dirty="0">
              <a:solidFill>
                <a:srgbClr val="0071B2"/>
              </a:solidFill>
              <a:latin typeface="Source Sans Pro" panose="020B0503030403020204" pitchFamily="34" charset="0"/>
            </a:endParaRPr>
          </a:p>
          <a:p>
            <a:pPr lvl="0">
              <a:defRPr/>
            </a:pPr>
            <a:r>
              <a:rPr lang="de-DE" sz="1400" dirty="0">
                <a:solidFill>
                  <a:srgbClr val="0071B2"/>
                </a:solidFill>
                <a:latin typeface="Source Sans Pro" panose="020B0503030403020204" pitchFamily="34" charset="0"/>
              </a:rPr>
              <a:t>Folgender Code führt aber zu einer Fehlermeldung: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lvl="0">
              <a:defRPr/>
            </a:pP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t>
            </a:r>
            <a:r>
              <a:rPr lang="en-US" b="1" dirty="0">
                <a:solidFill>
                  <a:srgbClr val="0071B2"/>
                </a:solidFill>
                <a:latin typeface="Source Sans Pro" panose="020B0503030403020204" pitchFamily="34" charset="0"/>
              </a:rPr>
              <a:t>SELECT </a:t>
            </a:r>
          </a:p>
          <a:p>
            <a:pPr lvl="0">
              <a:defRPr/>
            </a:pPr>
            <a:r>
              <a:rPr lang="en-US" b="1" dirty="0">
                <a:solidFill>
                  <a:srgbClr val="0071B2"/>
                </a:solidFill>
                <a:latin typeface="Source Sans Pro" panose="020B0503030403020204" pitchFamily="34" charset="0"/>
              </a:rPr>
              <a:t>       		</a:t>
            </a:r>
            <a:r>
              <a:rPr lang="en-US" dirty="0">
                <a:solidFill>
                  <a:srgbClr val="0071B2"/>
                </a:solidFill>
                <a:latin typeface="Source Sans Pro" panose="020B0503030403020204" pitchFamily="34" charset="0"/>
              </a:rPr>
              <a:t>Kunde_ID</a:t>
            </a:r>
            <a:r>
              <a:rPr lang="en-US" b="1" dirty="0">
                <a:solidFill>
                  <a:srgbClr val="0071B2"/>
                </a:solidFill>
                <a:latin typeface="Source Sans Pro" panose="020B0503030403020204" pitchFamily="34" charset="0"/>
              </a:rPr>
              <a:t> AS </a:t>
            </a:r>
            <a:r>
              <a:rPr lang="en-US" b="1" dirty="0">
                <a:solidFill>
                  <a:schemeClr val="accent2">
                    <a:lumMod val="50000"/>
                  </a:schemeClr>
                </a:solidFill>
                <a:latin typeface="Source Sans Pro" panose="020B0503030403020204" pitchFamily="34" charset="0"/>
              </a:rPr>
              <a:t>"</a:t>
            </a:r>
            <a:r>
              <a:rPr lang="en-US" dirty="0">
                <a:solidFill>
                  <a:schemeClr val="accent2">
                    <a:lumMod val="50000"/>
                  </a:schemeClr>
                </a:solidFill>
                <a:latin typeface="Source Sans Pro" panose="020B0503030403020204" pitchFamily="34" charset="0"/>
              </a:rPr>
              <a:t>ID</a:t>
            </a:r>
            <a:r>
              <a:rPr lang="en-US" b="1" dirty="0">
                <a:solidFill>
                  <a:schemeClr val="accent2">
                    <a:lumMod val="50000"/>
                  </a:schemeClr>
                </a:solidFill>
                <a:latin typeface="Source Sans Pro" panose="020B0503030403020204" pitchFamily="34" charset="0"/>
              </a:rPr>
              <a:t>"</a:t>
            </a:r>
            <a:r>
              <a:rPr lang="en-US" b="1" dirty="0">
                <a:latin typeface="Source Sans Pro" panose="020B0503030403020204" pitchFamily="34" charset="0"/>
              </a:rPr>
              <a:t>,</a:t>
            </a:r>
          </a:p>
          <a:p>
            <a:pPr>
              <a:defRPr/>
            </a:pPr>
            <a:r>
              <a:rPr lang="en-US" b="1" dirty="0">
                <a:solidFill>
                  <a:srgbClr val="0071B2"/>
                </a:solidFill>
                <a:latin typeface="Source Sans Pro" panose="020B0503030403020204" pitchFamily="34" charset="0"/>
              </a:rPr>
              <a:t>       		</a:t>
            </a:r>
            <a:r>
              <a:rPr lang="en-US" dirty="0">
                <a:solidFill>
                  <a:srgbClr val="0071B2"/>
                </a:solidFill>
                <a:latin typeface="Source Sans Pro" panose="020B0503030403020204" pitchFamily="34" charset="0"/>
              </a:rPr>
              <a:t>Vorname</a:t>
            </a:r>
            <a:r>
              <a:rPr lang="en-US" b="1" dirty="0">
                <a:solidFill>
                  <a:srgbClr val="0071B2"/>
                </a:solidFill>
                <a:latin typeface="Source Sans Pro" panose="020B0503030403020204" pitchFamily="34" charset="0"/>
              </a:rPr>
              <a:t> AS </a:t>
            </a:r>
            <a:r>
              <a:rPr lang="en-US" b="1" dirty="0">
                <a:solidFill>
                  <a:schemeClr val="accent2">
                    <a:lumMod val="50000"/>
                  </a:schemeClr>
                </a:solidFill>
                <a:latin typeface="Source Sans Pro" panose="020B0503030403020204" pitchFamily="34" charset="0"/>
              </a:rPr>
              <a:t>"</a:t>
            </a:r>
            <a:r>
              <a:rPr lang="en-US" dirty="0">
                <a:solidFill>
                  <a:schemeClr val="accent2">
                    <a:lumMod val="50000"/>
                  </a:schemeClr>
                </a:solidFill>
                <a:latin typeface="Source Sans Pro" panose="020B0503030403020204" pitchFamily="34" charset="0"/>
              </a:rPr>
              <a:t>Rufname</a:t>
            </a:r>
            <a:r>
              <a:rPr lang="en-US" b="1" dirty="0">
                <a:solidFill>
                  <a:schemeClr val="accent2">
                    <a:lumMod val="50000"/>
                  </a:schemeClr>
                </a:solidFill>
                <a:latin typeface="Source Sans Pro" panose="020B0503030403020204" pitchFamily="34" charset="0"/>
              </a:rPr>
              <a:t> "</a:t>
            </a:r>
          </a:p>
          <a:p>
            <a:pPr lvl="0">
              <a:defRPr/>
            </a:pPr>
            <a:r>
              <a:rPr lang="en-US" b="1" dirty="0">
                <a:solidFill>
                  <a:srgbClr val="0071B2"/>
                </a:solidFill>
                <a:latin typeface="Source Sans Pro" panose="020B0503030403020204" pitchFamily="34" charset="0"/>
              </a:rPr>
              <a:t>	FROM </a:t>
            </a:r>
            <a:r>
              <a:rPr lang="en-US" dirty="0">
                <a:solidFill>
                  <a:srgbClr val="0071B2"/>
                </a:solidFill>
                <a:latin typeface="Source Sans Pro" panose="020B0503030403020204" pitchFamily="34" charset="0"/>
              </a:rPr>
              <a:t>Kunde</a:t>
            </a:r>
          </a:p>
          <a:p>
            <a:pPr lvl="0">
              <a:defRPr/>
            </a:pPr>
            <a:endParaRPr lang="en-US" b="1" dirty="0">
              <a:solidFill>
                <a:srgbClr val="0071B2"/>
              </a:solidFill>
              <a:latin typeface="Source Sans Pro" panose="020B0503030403020204" pitchFamily="34" charset="0"/>
            </a:endParaRPr>
          </a:p>
          <a:p>
            <a:pPr lvl="0">
              <a:defRPr/>
            </a:pPr>
            <a:r>
              <a:rPr lang="en-US" b="1" dirty="0">
                <a:solidFill>
                  <a:srgbClr val="0071B2"/>
                </a:solidFill>
                <a:latin typeface="Source Sans Pro" panose="020B0503030403020204" pitchFamily="34" charset="0"/>
              </a:rPr>
              <a:t>	</a:t>
            </a:r>
            <a:r>
              <a:rPr lang="en-US" b="1" dirty="0">
                <a:solidFill>
                  <a:schemeClr val="accent2"/>
                </a:solidFill>
                <a:latin typeface="Source Sans Pro" panose="020B0503030403020204" pitchFamily="34" charset="0"/>
              </a:rPr>
              <a:t>UNION</a:t>
            </a:r>
          </a:p>
          <a:p>
            <a:pPr lvl="0">
              <a:defRPr/>
            </a:pPr>
            <a:endParaRPr lang="en-US" b="1" dirty="0">
              <a:solidFill>
                <a:srgbClr val="0071B2"/>
              </a:solidFill>
              <a:latin typeface="Source Sans Pro" panose="020B0503030403020204" pitchFamily="34" charset="0"/>
            </a:endParaRPr>
          </a:p>
          <a:p>
            <a:pPr lvl="0">
              <a:defRPr/>
            </a:pPr>
            <a:r>
              <a:rPr lang="en-US" b="1" dirty="0">
                <a:solidFill>
                  <a:srgbClr val="0071B2"/>
                </a:solidFill>
                <a:latin typeface="Source Sans Pro" panose="020B0503030403020204" pitchFamily="34" charset="0"/>
              </a:rPr>
              <a:t>	SELECT </a:t>
            </a:r>
          </a:p>
          <a:p>
            <a:pPr lvl="0">
              <a:defRPr/>
            </a:pPr>
            <a:r>
              <a:rPr lang="en-US" b="1" dirty="0">
                <a:solidFill>
                  <a:srgbClr val="0071B2"/>
                </a:solidFill>
                <a:latin typeface="Source Sans Pro" panose="020B0503030403020204" pitchFamily="34" charset="0"/>
              </a:rPr>
              <a:t>       		</a:t>
            </a:r>
            <a:r>
              <a:rPr lang="en-US" dirty="0">
                <a:solidFill>
                  <a:srgbClr val="0071B2"/>
                </a:solidFill>
                <a:latin typeface="Source Sans Pro" panose="020B0503030403020204" pitchFamily="34" charset="0"/>
              </a:rPr>
              <a:t>Produkt_ID</a:t>
            </a:r>
            <a:r>
              <a:rPr lang="en-US" b="1" dirty="0">
                <a:solidFill>
                  <a:srgbClr val="0071B2"/>
                </a:solidFill>
                <a:latin typeface="Source Sans Pro" panose="020B0503030403020204" pitchFamily="34" charset="0"/>
              </a:rPr>
              <a:t> </a:t>
            </a:r>
          </a:p>
          <a:p>
            <a:pPr lvl="0">
              <a:defRPr/>
            </a:pPr>
            <a:r>
              <a:rPr lang="en-US" b="1" dirty="0">
                <a:solidFill>
                  <a:srgbClr val="0071B2"/>
                </a:solidFill>
                <a:latin typeface="Source Sans Pro" panose="020B0503030403020204" pitchFamily="34" charset="0"/>
              </a:rPr>
              <a:t>	FROM </a:t>
            </a:r>
            <a:r>
              <a:rPr lang="en-US" dirty="0">
                <a:solidFill>
                  <a:srgbClr val="0071B2"/>
                </a:solidFill>
                <a:latin typeface="Source Sans Pro" panose="020B0503030403020204" pitchFamily="34" charset="0"/>
              </a:rPr>
              <a:t>Produkt</a:t>
            </a:r>
            <a:r>
              <a:rPr lang="en-US" b="1" dirty="0">
                <a:solidFill>
                  <a:srgbClr val="0071B2"/>
                </a:solidFill>
                <a:latin typeface="Source Sans Pro" panose="020B0503030403020204" pitchFamily="34" charset="0"/>
              </a:rPr>
              <a:t>;</a:t>
            </a:r>
            <a:endParaRPr kumimoji="0" lang="de-DE" b="0" i="0" u="none" strike="noStrike" kern="1200" cap="none" spc="0" normalizeH="0" baseline="0" noProof="0" dirty="0">
              <a:ln>
                <a:noFill/>
              </a:ln>
              <a:solidFill>
                <a:srgbClr val="0071B2"/>
              </a:solidFill>
              <a:effectLst/>
              <a:uLnTx/>
              <a:uFillTx/>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Beispiel(3) + Syntax</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pic>
        <p:nvPicPr>
          <p:cNvPr id="3" name="Grafik 2"/>
          <p:cNvPicPr>
            <a:picLocks noChangeAspect="1"/>
          </p:cNvPicPr>
          <p:nvPr/>
        </p:nvPicPr>
        <p:blipFill>
          <a:blip r:embed="rId2"/>
          <a:stretch>
            <a:fillRect/>
          </a:stretch>
        </p:blipFill>
        <p:spPr>
          <a:xfrm>
            <a:off x="3585384" y="5206972"/>
            <a:ext cx="8362950" cy="733425"/>
          </a:xfrm>
          <a:prstGeom prst="rect">
            <a:avLst/>
          </a:prstGeom>
          <a:effectLst>
            <a:innerShdw blurRad="114300">
              <a:prstClr val="black"/>
            </a:innerShdw>
          </a:effectLst>
        </p:spPr>
      </p:pic>
      <p:sp>
        <p:nvSpPr>
          <p:cNvPr id="9" name="Ellipse 8"/>
          <p:cNvSpPr/>
          <p:nvPr/>
        </p:nvSpPr>
        <p:spPr>
          <a:xfrm>
            <a:off x="7838902" y="5511339"/>
            <a:ext cx="3449782" cy="429058"/>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370614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16" end="1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17" end="17"/>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18" end="18"/>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5400" dirty="0">
                <a:latin typeface="Source Sans Pro" panose="020B0503030403020204" pitchFamily="34" charset="0"/>
              </a:rPr>
              <a:t>UNION </a:t>
            </a:r>
            <a:r>
              <a:rPr lang="de-DE" sz="5400" dirty="0">
                <a:solidFill>
                  <a:schemeClr val="accent2"/>
                </a:solidFill>
                <a:latin typeface="Source Sans Pro" panose="020B0503030403020204" pitchFamily="34" charset="0"/>
              </a:rPr>
              <a:t>ALL</a:t>
            </a:r>
          </a:p>
          <a:p>
            <a:endParaRPr lang="de-DE" sz="5400" dirty="0">
              <a:latin typeface="Source Sans Pro" panose="020B0503030403020204" pitchFamily="34" charset="0"/>
            </a:endParaRPr>
          </a:p>
        </p:txBody>
      </p:sp>
    </p:spTree>
    <p:extLst>
      <p:ext uri="{BB962C8B-B14F-4D97-AF65-F5344CB8AC3E}">
        <p14:creationId xmlns:p14="http://schemas.microsoft.com/office/powerpoint/2010/main" val="34192605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36321" y="946123"/>
            <a:ext cx="11121382" cy="33547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Den Unterschied zwischen </a:t>
            </a:r>
            <a:r>
              <a:rPr kumimoji="0" lang="de-DE"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UNION</a:t>
            </a:r>
            <a:r>
              <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und </a:t>
            </a:r>
            <a:r>
              <a:rPr kumimoji="0" lang="de-DE"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UNION </a:t>
            </a:r>
            <a:r>
              <a:rPr kumimoji="0" lang="de-DE" sz="1800" b="1" i="0" u="none" strike="noStrike" kern="1200" cap="none" spc="0" normalizeH="0" baseline="0" noProof="0" dirty="0">
                <a:ln>
                  <a:noFill/>
                </a:ln>
                <a:effectLst/>
                <a:uLnTx/>
                <a:uFillTx/>
                <a:latin typeface="Source Sans Pro" panose="020B0503030403020204" pitchFamily="34" charset="0"/>
                <a:ea typeface="+mn-ea"/>
                <a:cs typeface="+mn-cs"/>
              </a:rPr>
              <a:t>ALL</a:t>
            </a:r>
            <a:r>
              <a:rPr kumimoji="0" lang="de-DE"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t>
            </a:r>
            <a:r>
              <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erarbeiten wir uns schrittweise.</a:t>
            </a:r>
            <a:endParaRPr kumimoji="0" lang="de-DE" sz="12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Zunächst betrachten wir die beiden Ausgabetabellen, die sich bei den folgenden </a:t>
            </a:r>
            <a:r>
              <a:rPr kumimoji="0" lang="de-DE"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2 SELECT-Anweisungen </a:t>
            </a:r>
            <a:r>
              <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ergeben: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t>
            </a: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SELECT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t>
            </a:r>
            <a:r>
              <a:rPr kumimoji="0" lang="en-US"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Kunde_ID</a:t>
            </a: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AS </a:t>
            </a:r>
            <a:r>
              <a:rPr kumimoji="0" lang="en-US" sz="1800" b="1" i="0" u="none" strike="noStrike" kern="1200" cap="none" spc="0" normalizeH="0" baseline="0" noProof="0" dirty="0">
                <a:ln>
                  <a:noFill/>
                </a:ln>
                <a:effectLst/>
                <a:uLnTx/>
                <a:uFillTx/>
                <a:latin typeface="Source Sans Pro" panose="020B0503030403020204" pitchFamily="34" charset="0"/>
                <a:ea typeface="+mn-ea"/>
                <a:cs typeface="+mn-cs"/>
              </a:rPr>
              <a:t>"</a:t>
            </a:r>
            <a:r>
              <a:rPr kumimoji="0" lang="en-US" sz="1800" b="0" i="0" u="none" strike="noStrike" kern="1200" cap="none" spc="0" normalizeH="0" baseline="0" noProof="0" dirty="0">
                <a:ln>
                  <a:noFill/>
                </a:ln>
                <a:effectLst/>
                <a:uLnTx/>
                <a:uFillTx/>
                <a:latin typeface="Source Sans Pro" panose="020B0503030403020204" pitchFamily="34" charset="0"/>
                <a:ea typeface="+mn-ea"/>
                <a:cs typeface="+mn-cs"/>
              </a:rPr>
              <a:t>ID</a:t>
            </a:r>
            <a:r>
              <a:rPr kumimoji="0" lang="en-US" sz="1800" b="1" i="0" u="none" strike="noStrike" kern="1200" cap="none" spc="0" normalizeH="0" baseline="0" noProof="0" dirty="0">
                <a:ln>
                  <a:noFill/>
                </a:ln>
                <a:effectLst/>
                <a:uLnTx/>
                <a:uFillTx/>
                <a:latin typeface="Source Sans Pro" panose="020B0503030403020204" pitchFamily="34"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FROM </a:t>
            </a:r>
            <a:r>
              <a:rPr kumimoji="0" lang="en-US"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Kunde</a:t>
            </a: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Beispiel + Syntax</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pic>
        <p:nvPicPr>
          <p:cNvPr id="10" name="Grafik 9"/>
          <p:cNvPicPr>
            <a:picLocks noChangeAspect="1"/>
          </p:cNvPicPr>
          <p:nvPr/>
        </p:nvPicPr>
        <p:blipFill>
          <a:blip r:embed="rId2"/>
          <a:stretch>
            <a:fillRect/>
          </a:stretch>
        </p:blipFill>
        <p:spPr>
          <a:xfrm>
            <a:off x="4935671" y="1871810"/>
            <a:ext cx="298801" cy="1192402"/>
          </a:xfrm>
          <a:prstGeom prst="rect">
            <a:avLst/>
          </a:prstGeom>
          <a:effectLst>
            <a:innerShdw blurRad="114300">
              <a:prstClr val="black"/>
            </a:innerShdw>
          </a:effectLst>
        </p:spPr>
      </p:pic>
    </p:spTree>
    <p:extLst>
      <p:ext uri="{BB962C8B-B14F-4D97-AF65-F5344CB8AC3E}">
        <p14:creationId xmlns:p14="http://schemas.microsoft.com/office/powerpoint/2010/main" val="1728735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36321" y="946123"/>
            <a:ext cx="11121382" cy="501675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Den Unterschied zwischen </a:t>
            </a:r>
            <a:r>
              <a:rPr kumimoji="0" lang="de-DE"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UNION</a:t>
            </a:r>
            <a:r>
              <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und </a:t>
            </a:r>
            <a:r>
              <a:rPr kumimoji="0" lang="de-DE"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UNION </a:t>
            </a:r>
            <a:r>
              <a:rPr kumimoji="0" lang="de-DE" sz="1800" b="1" i="0" u="none" strike="noStrike" kern="1200" cap="none" spc="0" normalizeH="0" baseline="0" noProof="0" dirty="0">
                <a:ln>
                  <a:noFill/>
                </a:ln>
                <a:effectLst/>
                <a:uLnTx/>
                <a:uFillTx/>
                <a:latin typeface="Source Sans Pro" panose="020B0503030403020204" pitchFamily="34" charset="0"/>
                <a:ea typeface="+mn-ea"/>
                <a:cs typeface="+mn-cs"/>
              </a:rPr>
              <a:t>ALL</a:t>
            </a:r>
            <a:r>
              <a:rPr kumimoji="0" lang="de-DE"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t>
            </a:r>
            <a:r>
              <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erarbeiten wir uns schrittweise.</a:t>
            </a:r>
            <a:endParaRPr kumimoji="0" lang="de-DE" sz="12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Zunächst betrachten wir die beiden Ausgabetabellen, die sich bei den folgenden </a:t>
            </a:r>
            <a:r>
              <a:rPr kumimoji="0" lang="de-DE"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2 SELECT-Anweisungen </a:t>
            </a:r>
            <a:r>
              <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ergeben: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t>
            </a: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SELECT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t>
            </a:r>
            <a:r>
              <a:rPr kumimoji="0" lang="en-US"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Kunde_ID</a:t>
            </a: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AS </a:t>
            </a:r>
            <a:r>
              <a:rPr kumimoji="0" lang="en-US" sz="1800" b="1" i="0" u="none" strike="noStrike" kern="1200" cap="none" spc="0" normalizeH="0" baseline="0" noProof="0" dirty="0">
                <a:ln>
                  <a:noFill/>
                </a:ln>
                <a:effectLst/>
                <a:uLnTx/>
                <a:uFillTx/>
                <a:latin typeface="Source Sans Pro" panose="020B0503030403020204" pitchFamily="34" charset="0"/>
                <a:ea typeface="+mn-ea"/>
                <a:cs typeface="+mn-cs"/>
              </a:rPr>
              <a:t>"</a:t>
            </a:r>
            <a:r>
              <a:rPr kumimoji="0" lang="en-US" sz="1800" b="0" i="0" u="none" strike="noStrike" kern="1200" cap="none" spc="0" normalizeH="0" baseline="0" noProof="0" dirty="0">
                <a:ln>
                  <a:noFill/>
                </a:ln>
                <a:effectLst/>
                <a:uLnTx/>
                <a:uFillTx/>
                <a:latin typeface="Source Sans Pro" panose="020B0503030403020204" pitchFamily="34" charset="0"/>
                <a:ea typeface="+mn-ea"/>
                <a:cs typeface="+mn-cs"/>
              </a:rPr>
              <a:t>ID</a:t>
            </a:r>
            <a:r>
              <a:rPr kumimoji="0" lang="en-US" sz="1800" b="1" i="0" u="none" strike="noStrike" kern="1200" cap="none" spc="0" normalizeH="0" baseline="0" noProof="0" dirty="0">
                <a:ln>
                  <a:noFill/>
                </a:ln>
                <a:effectLst/>
                <a:uLnTx/>
                <a:uFillTx/>
                <a:latin typeface="Source Sans Pro" panose="020B0503030403020204" pitchFamily="34"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FROM </a:t>
            </a:r>
            <a:r>
              <a:rPr kumimoji="0" lang="en-US"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Kunde</a:t>
            </a: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ource Sans Pro" panose="020B0503030403020204" pitchFamily="34" charset="0"/>
                <a:ea typeface="+mn-ea"/>
                <a:cs typeface="+mn-cs"/>
              </a:rPr>
              <a:t>UNION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SELECT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t>
            </a:r>
            <a:r>
              <a:rPr kumimoji="0" lang="en-US"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Produkt_ID</a:t>
            </a: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FROM </a:t>
            </a:r>
            <a:r>
              <a:rPr kumimoji="0" lang="en-US"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Produkt</a:t>
            </a: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a:t>
            </a: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Beispiel + Syntax</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pic>
        <p:nvPicPr>
          <p:cNvPr id="5" name="Grafik 4"/>
          <p:cNvPicPr>
            <a:picLocks noChangeAspect="1"/>
          </p:cNvPicPr>
          <p:nvPr/>
        </p:nvPicPr>
        <p:blipFill>
          <a:blip r:embed="rId2"/>
          <a:stretch>
            <a:fillRect/>
          </a:stretch>
        </p:blipFill>
        <p:spPr>
          <a:xfrm>
            <a:off x="4935671" y="1871810"/>
            <a:ext cx="298801" cy="1192402"/>
          </a:xfrm>
          <a:prstGeom prst="rect">
            <a:avLst/>
          </a:prstGeom>
          <a:effectLst>
            <a:innerShdw blurRad="114300">
              <a:prstClr val="black"/>
            </a:innerShdw>
          </a:effectLst>
        </p:spPr>
      </p:pic>
      <p:pic>
        <p:nvPicPr>
          <p:cNvPr id="2" name="Grafik 1"/>
          <p:cNvPicPr>
            <a:picLocks noChangeAspect="1"/>
          </p:cNvPicPr>
          <p:nvPr/>
        </p:nvPicPr>
        <p:blipFill>
          <a:blip r:embed="rId3"/>
          <a:stretch>
            <a:fillRect/>
          </a:stretch>
        </p:blipFill>
        <p:spPr>
          <a:xfrm>
            <a:off x="4630190" y="3541990"/>
            <a:ext cx="922712" cy="1229529"/>
          </a:xfrm>
          <a:prstGeom prst="rect">
            <a:avLst/>
          </a:prstGeom>
          <a:effectLst>
            <a:innerShdw blurRad="114300">
              <a:prstClr val="black"/>
            </a:innerShdw>
          </a:effectLst>
        </p:spPr>
      </p:pic>
    </p:spTree>
    <p:extLst>
      <p:ext uri="{BB962C8B-B14F-4D97-AF65-F5344CB8AC3E}">
        <p14:creationId xmlns:p14="http://schemas.microsoft.com/office/powerpoint/2010/main" val="3318813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36321" y="946123"/>
            <a:ext cx="11121382" cy="473975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Wir betrachten nun die Ausgabe, die sich bei dem </a:t>
            </a:r>
            <a:r>
              <a:rPr kumimoji="0" lang="de-DE"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UNION</a:t>
            </a:r>
            <a:r>
              <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beider SELECT-Anweisungen ergibt: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t>
            </a: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SELECT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t>
            </a:r>
            <a:r>
              <a:rPr kumimoji="0" lang="en-US"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Kunde_ID</a:t>
            </a: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AS </a:t>
            </a:r>
            <a:r>
              <a:rPr kumimoji="0" lang="en-US" sz="1800" b="1" i="0" u="none" strike="noStrike" kern="1200" cap="none" spc="0" normalizeH="0" baseline="0" noProof="0" dirty="0">
                <a:ln>
                  <a:noFill/>
                </a:ln>
                <a:effectLst/>
                <a:uLnTx/>
                <a:uFillTx/>
                <a:latin typeface="Source Sans Pro" panose="020B0503030403020204" pitchFamily="34" charset="0"/>
                <a:ea typeface="+mn-ea"/>
                <a:cs typeface="+mn-cs"/>
              </a:rPr>
              <a:t>"</a:t>
            </a:r>
            <a:r>
              <a:rPr kumimoji="0" lang="en-US" sz="1800" b="0" i="0" u="none" strike="noStrike" kern="1200" cap="none" spc="0" normalizeH="0" baseline="0" noProof="0" dirty="0">
                <a:ln>
                  <a:noFill/>
                </a:ln>
                <a:effectLst/>
                <a:uLnTx/>
                <a:uFillTx/>
                <a:latin typeface="Source Sans Pro" panose="020B0503030403020204" pitchFamily="34" charset="0"/>
                <a:ea typeface="+mn-ea"/>
                <a:cs typeface="+mn-cs"/>
              </a:rPr>
              <a:t>ID</a:t>
            </a:r>
            <a:r>
              <a:rPr kumimoji="0" lang="en-US" sz="1800" b="1" i="0" u="none" strike="noStrike" kern="1200" cap="none" spc="0" normalizeH="0" baseline="0" noProof="0" dirty="0">
                <a:ln>
                  <a:noFill/>
                </a:ln>
                <a:effectLst/>
                <a:uLnTx/>
                <a:uFillTx/>
                <a:latin typeface="Source Sans Pro" panose="020B0503030403020204" pitchFamily="34"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FROM </a:t>
            </a:r>
            <a:r>
              <a:rPr kumimoji="0" lang="en-US"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Kunde</a:t>
            </a: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t>
            </a:r>
            <a:r>
              <a:rPr kumimoji="0" lang="en-US" sz="1800" b="1" i="0" u="none" strike="noStrike" kern="1200" cap="none" spc="0" normalizeH="0" baseline="0" noProof="0" dirty="0">
                <a:ln>
                  <a:noFill/>
                </a:ln>
                <a:solidFill>
                  <a:srgbClr val="FE5000"/>
                </a:solidFill>
                <a:effectLst/>
                <a:uLnTx/>
                <a:uFillTx/>
                <a:latin typeface="Source Sans Pro" panose="020B0503030403020204" pitchFamily="34" charset="0"/>
                <a:ea typeface="+mn-ea"/>
                <a:cs typeface="+mn-cs"/>
              </a:rPr>
              <a:t>UNION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SELECT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t>
            </a:r>
            <a:r>
              <a:rPr kumimoji="0" lang="en-US"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Produkt_ID</a:t>
            </a: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FROM </a:t>
            </a:r>
            <a:r>
              <a:rPr kumimoji="0" lang="en-US"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Produkt</a:t>
            </a: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a:t>
            </a: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Beispiel + Syntax</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Tree>
    <p:extLst>
      <p:ext uri="{BB962C8B-B14F-4D97-AF65-F5344CB8AC3E}">
        <p14:creationId xmlns:p14="http://schemas.microsoft.com/office/powerpoint/2010/main" val="39783133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36321" y="946123"/>
            <a:ext cx="11121382" cy="473975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lvl="0">
              <a:defRPr/>
            </a:pPr>
            <a:r>
              <a:rPr lang="de-DE" dirty="0">
                <a:solidFill>
                  <a:srgbClr val="0071B2"/>
                </a:solidFill>
                <a:latin typeface="Source Sans Pro" panose="020B0503030403020204" pitchFamily="34" charset="0"/>
              </a:rPr>
              <a:t>Wir betrachten nun die Ausgabe, die sich bei dem </a:t>
            </a:r>
            <a:r>
              <a:rPr lang="de-DE" b="1" dirty="0">
                <a:solidFill>
                  <a:srgbClr val="0071B2"/>
                </a:solidFill>
                <a:latin typeface="Source Sans Pro" panose="020B0503030403020204" pitchFamily="34" charset="0"/>
              </a:rPr>
              <a:t>UNION</a:t>
            </a:r>
            <a:r>
              <a:rPr lang="de-DE" dirty="0">
                <a:solidFill>
                  <a:srgbClr val="0071B2"/>
                </a:solidFill>
                <a:latin typeface="Source Sans Pro" panose="020B0503030403020204" pitchFamily="34" charset="0"/>
              </a:rPr>
              <a:t> beider SELECT-Anweisungen ergibt: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t>
            </a: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SELECT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t>
            </a:r>
            <a:r>
              <a:rPr kumimoji="0" lang="en-US"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Kunde_ID</a:t>
            </a: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AS </a:t>
            </a:r>
            <a:r>
              <a:rPr kumimoji="0" lang="en-US" sz="1800" b="1" i="0" u="none" strike="noStrike" kern="1200" cap="none" spc="0" normalizeH="0" baseline="0" noProof="0" dirty="0">
                <a:ln>
                  <a:noFill/>
                </a:ln>
                <a:effectLst/>
                <a:uLnTx/>
                <a:uFillTx/>
                <a:latin typeface="Source Sans Pro" panose="020B0503030403020204" pitchFamily="34" charset="0"/>
                <a:ea typeface="+mn-ea"/>
                <a:cs typeface="+mn-cs"/>
              </a:rPr>
              <a:t>"</a:t>
            </a:r>
            <a:r>
              <a:rPr kumimoji="0" lang="en-US" sz="1800" b="0" i="0" u="none" strike="noStrike" kern="1200" cap="none" spc="0" normalizeH="0" baseline="0" noProof="0" dirty="0">
                <a:ln>
                  <a:noFill/>
                </a:ln>
                <a:effectLst/>
                <a:uLnTx/>
                <a:uFillTx/>
                <a:latin typeface="Source Sans Pro" panose="020B0503030403020204" pitchFamily="34" charset="0"/>
                <a:ea typeface="+mn-ea"/>
                <a:cs typeface="+mn-cs"/>
              </a:rPr>
              <a:t>ID</a:t>
            </a:r>
            <a:r>
              <a:rPr kumimoji="0" lang="en-US" sz="1800" b="1" i="0" u="none" strike="noStrike" kern="1200" cap="none" spc="0" normalizeH="0" baseline="0" noProof="0" dirty="0">
                <a:ln>
                  <a:noFill/>
                </a:ln>
                <a:effectLst/>
                <a:uLnTx/>
                <a:uFillTx/>
                <a:latin typeface="Source Sans Pro" panose="020B0503030403020204" pitchFamily="34"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FROM </a:t>
            </a:r>
            <a:r>
              <a:rPr kumimoji="0" lang="en-US"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Kunde</a:t>
            </a:r>
            <a:r>
              <a:rPr kumimoji="0" lang="en-US" sz="1800" b="1" i="0" u="none" strike="noStrike" kern="1200" cap="none" spc="0" normalizeH="0" baseline="0" noProof="0" dirty="0">
                <a:ln>
                  <a:noFill/>
                </a:ln>
                <a:solidFill>
                  <a:srgbClr val="FF0000"/>
                </a:solidFill>
                <a:effectLst/>
                <a:uLnTx/>
                <a:uFillTx/>
                <a:latin typeface="Source Sans Pro" panose="020B0503030403020204" pitchFamily="34"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t>
            </a:r>
            <a:r>
              <a:rPr kumimoji="0" lang="en-US" sz="1800" b="1" i="0" u="none" strike="noStrike" kern="1200" cap="none" spc="0" normalizeH="0" baseline="0" noProof="0" dirty="0">
                <a:ln>
                  <a:noFill/>
                </a:ln>
                <a:solidFill>
                  <a:srgbClr val="FE5000"/>
                </a:solidFill>
                <a:effectLst/>
                <a:uLnTx/>
                <a:uFillTx/>
                <a:latin typeface="Source Sans Pro" panose="020B0503030403020204" pitchFamily="34" charset="0"/>
                <a:ea typeface="+mn-ea"/>
                <a:cs typeface="+mn-cs"/>
              </a:rPr>
              <a:t>UNION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SELECT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t>
            </a:r>
            <a:r>
              <a:rPr kumimoji="0" lang="en-US"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Produkt_ID</a:t>
            </a: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FROM </a:t>
            </a:r>
            <a:r>
              <a:rPr kumimoji="0" lang="en-US"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Produkt</a:t>
            </a: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a:t>
            </a: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Beispiel + Syntax</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
        <p:nvSpPr>
          <p:cNvPr id="4" name="Textfeld 3"/>
          <p:cNvSpPr txBox="1"/>
          <p:nvPr/>
        </p:nvSpPr>
        <p:spPr>
          <a:xfrm>
            <a:off x="3052289" y="2677025"/>
            <a:ext cx="2325765" cy="276999"/>
          </a:xfrm>
          <a:prstGeom prst="rect">
            <a:avLst/>
          </a:prstGeom>
          <a:noFill/>
        </p:spPr>
        <p:txBody>
          <a:bodyPr wrap="none" rtlCol="0">
            <a:spAutoFit/>
          </a:bodyPr>
          <a:lstStyle/>
          <a:p>
            <a:r>
              <a:rPr lang="de-DE" sz="1200" dirty="0">
                <a:solidFill>
                  <a:srgbClr val="FF0000"/>
                </a:solidFill>
              </a:rPr>
              <a:t>Semikolon </a:t>
            </a:r>
            <a:r>
              <a:rPr lang="de-DE" sz="1200" b="1" dirty="0">
                <a:solidFill>
                  <a:srgbClr val="FF0000"/>
                </a:solidFill>
              </a:rPr>
              <a:t>muss gelöscht </a:t>
            </a:r>
            <a:r>
              <a:rPr lang="de-DE" sz="1200" dirty="0">
                <a:solidFill>
                  <a:srgbClr val="FF0000"/>
                </a:solidFill>
              </a:rPr>
              <a:t>werden!</a:t>
            </a:r>
          </a:p>
        </p:txBody>
      </p:sp>
    </p:spTree>
    <p:extLst>
      <p:ext uri="{BB962C8B-B14F-4D97-AF65-F5344CB8AC3E}">
        <p14:creationId xmlns:p14="http://schemas.microsoft.com/office/powerpoint/2010/main" val="2509302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36321" y="946123"/>
            <a:ext cx="11121382" cy="473975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lvl="0">
              <a:defRPr/>
            </a:pPr>
            <a:r>
              <a:rPr lang="de-DE" dirty="0">
                <a:solidFill>
                  <a:srgbClr val="0071B2"/>
                </a:solidFill>
                <a:latin typeface="Source Sans Pro" panose="020B0503030403020204" pitchFamily="34" charset="0"/>
              </a:rPr>
              <a:t>Wir betrachten nun die Ausgabe, die sich bei dem </a:t>
            </a:r>
            <a:r>
              <a:rPr lang="de-DE" b="1" dirty="0">
                <a:solidFill>
                  <a:srgbClr val="0071B2"/>
                </a:solidFill>
                <a:latin typeface="Source Sans Pro" panose="020B0503030403020204" pitchFamily="34" charset="0"/>
              </a:rPr>
              <a:t>UNION</a:t>
            </a:r>
            <a:r>
              <a:rPr lang="de-DE" dirty="0">
                <a:solidFill>
                  <a:srgbClr val="0071B2"/>
                </a:solidFill>
                <a:latin typeface="Source Sans Pro" panose="020B0503030403020204" pitchFamily="34" charset="0"/>
              </a:rPr>
              <a:t> beider SELECT-Anweisungen ergibt: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t>
            </a: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SELECT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t>
            </a:r>
            <a:r>
              <a:rPr kumimoji="0" lang="en-US"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Kunde_ID</a:t>
            </a: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AS </a:t>
            </a:r>
            <a:r>
              <a:rPr kumimoji="0" lang="en-US" sz="1800" b="1" i="0" u="none" strike="noStrike" kern="1200" cap="none" spc="0" normalizeH="0" baseline="0" noProof="0" dirty="0">
                <a:ln>
                  <a:noFill/>
                </a:ln>
                <a:effectLst/>
                <a:uLnTx/>
                <a:uFillTx/>
                <a:latin typeface="Source Sans Pro" panose="020B0503030403020204" pitchFamily="34" charset="0"/>
                <a:ea typeface="+mn-ea"/>
                <a:cs typeface="+mn-cs"/>
              </a:rPr>
              <a:t>"</a:t>
            </a:r>
            <a:r>
              <a:rPr kumimoji="0" lang="en-US" sz="1800" b="0" i="0" u="none" strike="noStrike" kern="1200" cap="none" spc="0" normalizeH="0" baseline="0" noProof="0" dirty="0">
                <a:ln>
                  <a:noFill/>
                </a:ln>
                <a:effectLst/>
                <a:uLnTx/>
                <a:uFillTx/>
                <a:latin typeface="Source Sans Pro" panose="020B0503030403020204" pitchFamily="34" charset="0"/>
                <a:ea typeface="+mn-ea"/>
                <a:cs typeface="+mn-cs"/>
              </a:rPr>
              <a:t>ID</a:t>
            </a:r>
            <a:r>
              <a:rPr kumimoji="0" lang="en-US" sz="1800" b="1" i="0" u="none" strike="noStrike" kern="1200" cap="none" spc="0" normalizeH="0" baseline="0" noProof="0" dirty="0">
                <a:ln>
                  <a:noFill/>
                </a:ln>
                <a:effectLst/>
                <a:uLnTx/>
                <a:uFillTx/>
                <a:latin typeface="Source Sans Pro" panose="020B0503030403020204" pitchFamily="34"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FROM </a:t>
            </a:r>
            <a:r>
              <a:rPr kumimoji="0" lang="en-US"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Kunde</a:t>
            </a:r>
            <a:endParaRPr kumimoji="0" lang="en-US" sz="1800" b="1" i="0" u="none" strike="noStrike" kern="1200" cap="none" spc="0" normalizeH="0" baseline="0" noProof="0" dirty="0">
              <a:ln>
                <a:noFill/>
              </a:ln>
              <a:solidFill>
                <a:srgbClr val="FF0000"/>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t>
            </a:r>
            <a:r>
              <a:rPr kumimoji="0" lang="en-US" sz="1800" b="1" i="0" u="none" strike="noStrike" kern="1200" cap="none" spc="0" normalizeH="0" baseline="0" noProof="0" dirty="0">
                <a:ln>
                  <a:noFill/>
                </a:ln>
                <a:solidFill>
                  <a:srgbClr val="FE5000"/>
                </a:solidFill>
                <a:effectLst/>
                <a:uLnTx/>
                <a:uFillTx/>
                <a:latin typeface="Source Sans Pro" panose="020B0503030403020204" pitchFamily="34" charset="0"/>
                <a:ea typeface="+mn-ea"/>
                <a:cs typeface="+mn-cs"/>
              </a:rPr>
              <a:t>UNION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SELECT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t>
            </a:r>
            <a:r>
              <a:rPr kumimoji="0" lang="en-US"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Produkt_ID</a:t>
            </a: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FROM </a:t>
            </a:r>
            <a:r>
              <a:rPr kumimoji="0" lang="en-US"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Produkt</a:t>
            </a: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a:t>
            </a: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Beispiel + Syntax</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pic>
        <p:nvPicPr>
          <p:cNvPr id="2" name="Grafik 1"/>
          <p:cNvPicPr>
            <a:picLocks noChangeAspect="1"/>
          </p:cNvPicPr>
          <p:nvPr/>
        </p:nvPicPr>
        <p:blipFill>
          <a:blip r:embed="rId2"/>
          <a:stretch>
            <a:fillRect/>
          </a:stretch>
        </p:blipFill>
        <p:spPr>
          <a:xfrm>
            <a:off x="5066668" y="2358421"/>
            <a:ext cx="247650" cy="1971675"/>
          </a:xfrm>
          <a:prstGeom prst="rect">
            <a:avLst/>
          </a:prstGeom>
          <a:effectLst>
            <a:innerShdw blurRad="114300">
              <a:prstClr val="black"/>
            </a:innerShdw>
          </a:effectLst>
        </p:spPr>
      </p:pic>
      <p:sp>
        <p:nvSpPr>
          <p:cNvPr id="7" name="Textfeld 6"/>
          <p:cNvSpPr txBox="1"/>
          <p:nvPr/>
        </p:nvSpPr>
        <p:spPr>
          <a:xfrm>
            <a:off x="5446354" y="2548746"/>
            <a:ext cx="3492366" cy="1261884"/>
          </a:xfrm>
          <a:prstGeom prst="rect">
            <a:avLst/>
          </a:prstGeom>
          <a:noFill/>
        </p:spPr>
        <p:txBody>
          <a:bodyPr wrap="none" rtlCol="0">
            <a:spAutoFit/>
          </a:bodyPr>
          <a:lstStyle/>
          <a:p>
            <a:r>
              <a:rPr lang="de-DE" sz="1600" b="1" dirty="0">
                <a:solidFill>
                  <a:srgbClr val="FF0000"/>
                </a:solidFill>
              </a:rPr>
              <a:t>Dubletten werden vermieden!</a:t>
            </a:r>
          </a:p>
          <a:p>
            <a:r>
              <a:rPr lang="de-DE" sz="1200" dirty="0">
                <a:solidFill>
                  <a:srgbClr val="FF0000"/>
                </a:solidFill>
              </a:rPr>
              <a:t>(wie auch bei der mengentheoretischen Vereinigung)</a:t>
            </a:r>
          </a:p>
          <a:p>
            <a:endParaRPr lang="de-DE" sz="1200" dirty="0">
              <a:solidFill>
                <a:srgbClr val="FF0000"/>
              </a:solidFill>
            </a:endParaRPr>
          </a:p>
          <a:p>
            <a:pPr marL="171450" indent="-171450">
              <a:buFont typeface="Symbol" panose="05050102010706020507" pitchFamily="18" charset="2"/>
              <a:buChar char="Þ"/>
            </a:pPr>
            <a:r>
              <a:rPr lang="de-DE" sz="1200" dirty="0">
                <a:solidFill>
                  <a:srgbClr val="FF0000"/>
                </a:solidFill>
              </a:rPr>
              <a:t>Die beiden Primärschlüsselwerte: </a:t>
            </a:r>
          </a:p>
          <a:p>
            <a:r>
              <a:rPr lang="de-DE" sz="1200" b="1" dirty="0">
                <a:solidFill>
                  <a:srgbClr val="FF0000"/>
                </a:solidFill>
              </a:rPr>
              <a:t>     1 (Kunde-ID) </a:t>
            </a:r>
            <a:r>
              <a:rPr lang="de-DE" sz="1200" dirty="0">
                <a:solidFill>
                  <a:srgbClr val="FF0000"/>
                </a:solidFill>
              </a:rPr>
              <a:t>und </a:t>
            </a:r>
          </a:p>
          <a:p>
            <a:r>
              <a:rPr lang="de-DE" sz="1200" b="1" dirty="0">
                <a:solidFill>
                  <a:srgbClr val="FF0000"/>
                </a:solidFill>
              </a:rPr>
              <a:t>     1(Produkt-ID) </a:t>
            </a:r>
            <a:r>
              <a:rPr lang="de-DE" sz="1200" dirty="0">
                <a:solidFill>
                  <a:srgbClr val="FF0000"/>
                </a:solidFill>
              </a:rPr>
              <a:t>werden </a:t>
            </a:r>
            <a:r>
              <a:rPr lang="de-DE" sz="1200" b="1" u="sng" dirty="0">
                <a:solidFill>
                  <a:srgbClr val="FF0000"/>
                </a:solidFill>
              </a:rPr>
              <a:t>nicht</a:t>
            </a:r>
            <a:r>
              <a:rPr lang="de-DE" sz="1200" b="1" dirty="0">
                <a:solidFill>
                  <a:srgbClr val="FF0000"/>
                </a:solidFill>
              </a:rPr>
              <a:t> doppelt </a:t>
            </a:r>
            <a:r>
              <a:rPr lang="de-DE" sz="1200" dirty="0">
                <a:solidFill>
                  <a:srgbClr val="FF0000"/>
                </a:solidFill>
              </a:rPr>
              <a:t>ausgegeben.</a:t>
            </a:r>
          </a:p>
        </p:txBody>
      </p:sp>
    </p:spTree>
    <p:extLst>
      <p:ext uri="{BB962C8B-B14F-4D97-AF65-F5344CB8AC3E}">
        <p14:creationId xmlns:p14="http://schemas.microsoft.com/office/powerpoint/2010/main" val="1873980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36321" y="946123"/>
            <a:ext cx="11121382" cy="473975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lvl="0">
              <a:defRPr/>
            </a:pPr>
            <a:r>
              <a:rPr lang="de-DE" dirty="0">
                <a:solidFill>
                  <a:srgbClr val="0071B2"/>
                </a:solidFill>
                <a:latin typeface="Source Sans Pro" panose="020B0503030403020204" pitchFamily="34" charset="0"/>
              </a:rPr>
              <a:t>Wir vergleichen dies mit der Ausgabe, die sich bei dem </a:t>
            </a:r>
            <a:r>
              <a:rPr lang="de-DE" b="1" dirty="0">
                <a:solidFill>
                  <a:srgbClr val="0071B2"/>
                </a:solidFill>
                <a:latin typeface="Source Sans Pro" panose="020B0503030403020204" pitchFamily="34" charset="0"/>
              </a:rPr>
              <a:t>UNION</a:t>
            </a:r>
            <a:r>
              <a:rPr lang="de-DE" dirty="0">
                <a:solidFill>
                  <a:srgbClr val="0071B2"/>
                </a:solidFill>
                <a:latin typeface="Source Sans Pro" panose="020B0503030403020204" pitchFamily="34" charset="0"/>
              </a:rPr>
              <a:t> </a:t>
            </a:r>
            <a:r>
              <a:rPr lang="de-DE" b="1" dirty="0">
                <a:solidFill>
                  <a:srgbClr val="0071B2"/>
                </a:solidFill>
                <a:latin typeface="Source Sans Pro" panose="020B0503030403020204" pitchFamily="34" charset="0"/>
              </a:rPr>
              <a:t>ALL</a:t>
            </a:r>
            <a:r>
              <a:rPr lang="de-DE" dirty="0">
                <a:solidFill>
                  <a:srgbClr val="0071B2"/>
                </a:solidFill>
                <a:latin typeface="Source Sans Pro" panose="020B0503030403020204" pitchFamily="34" charset="0"/>
              </a:rPr>
              <a:t> ergibt: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t>
            </a: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SELECT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t>
            </a:r>
            <a:r>
              <a:rPr kumimoji="0" lang="en-US"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Kunde_ID</a:t>
            </a: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AS </a:t>
            </a:r>
            <a:r>
              <a:rPr kumimoji="0" lang="en-US" sz="1800" b="1" i="0" u="none" strike="noStrike" kern="1200" cap="none" spc="0" normalizeH="0" baseline="0" noProof="0" dirty="0">
                <a:ln>
                  <a:noFill/>
                </a:ln>
                <a:effectLst/>
                <a:uLnTx/>
                <a:uFillTx/>
                <a:latin typeface="Source Sans Pro" panose="020B0503030403020204" pitchFamily="34" charset="0"/>
                <a:ea typeface="+mn-ea"/>
                <a:cs typeface="+mn-cs"/>
              </a:rPr>
              <a:t>"</a:t>
            </a:r>
            <a:r>
              <a:rPr kumimoji="0" lang="en-US" sz="1800" b="0" i="0" u="none" strike="noStrike" kern="1200" cap="none" spc="0" normalizeH="0" baseline="0" noProof="0" dirty="0">
                <a:ln>
                  <a:noFill/>
                </a:ln>
                <a:effectLst/>
                <a:uLnTx/>
                <a:uFillTx/>
                <a:latin typeface="Source Sans Pro" panose="020B0503030403020204" pitchFamily="34" charset="0"/>
                <a:ea typeface="+mn-ea"/>
                <a:cs typeface="+mn-cs"/>
              </a:rPr>
              <a:t>ID</a:t>
            </a:r>
            <a:r>
              <a:rPr kumimoji="0" lang="en-US" sz="1800" b="1" i="0" u="none" strike="noStrike" kern="1200" cap="none" spc="0" normalizeH="0" baseline="0" noProof="0" dirty="0">
                <a:ln>
                  <a:noFill/>
                </a:ln>
                <a:effectLst/>
                <a:uLnTx/>
                <a:uFillTx/>
                <a:latin typeface="Source Sans Pro" panose="020B0503030403020204" pitchFamily="34"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FROM </a:t>
            </a:r>
            <a:r>
              <a:rPr kumimoji="0" lang="en-US"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Kunde</a:t>
            </a:r>
            <a:endParaRPr kumimoji="0" lang="en-US" sz="1800" b="1" i="0" u="none" strike="noStrike" kern="1200" cap="none" spc="0" normalizeH="0" baseline="0" noProof="0" dirty="0">
              <a:ln>
                <a:noFill/>
              </a:ln>
              <a:solidFill>
                <a:srgbClr val="FF0000"/>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t>
            </a:r>
            <a:r>
              <a:rPr kumimoji="0" lang="en-US" sz="1800" b="1" i="0" u="none" strike="noStrike" kern="1200" cap="none" spc="0" normalizeH="0" baseline="0" noProof="0" dirty="0">
                <a:ln>
                  <a:noFill/>
                </a:ln>
                <a:effectLst/>
                <a:uLnTx/>
                <a:uFillTx/>
                <a:latin typeface="Source Sans Pro" panose="020B0503030403020204" pitchFamily="34" charset="0"/>
                <a:ea typeface="+mn-ea"/>
                <a:cs typeface="+mn-cs"/>
              </a:rPr>
              <a:t>UNION</a:t>
            </a:r>
            <a:r>
              <a:rPr kumimoji="0" lang="en-US" sz="1800" b="1" i="0" u="none" strike="noStrike" kern="1200" cap="none" spc="0" normalizeH="0" baseline="0" noProof="0" dirty="0">
                <a:ln>
                  <a:noFill/>
                </a:ln>
                <a:solidFill>
                  <a:srgbClr val="FE5000"/>
                </a:solidFill>
                <a:effectLst/>
                <a:uLnTx/>
                <a:uFillTx/>
                <a:latin typeface="Source Sans Pro" panose="020B0503030403020204" pitchFamily="34" charset="0"/>
                <a:ea typeface="+mn-ea"/>
                <a:cs typeface="+mn-cs"/>
              </a:rPr>
              <a:t> ALL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SELECT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t>
            </a:r>
            <a:r>
              <a:rPr kumimoji="0" lang="en-US"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Produkt_ID</a:t>
            </a: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FROM </a:t>
            </a:r>
            <a:r>
              <a:rPr kumimoji="0" lang="en-US"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Produkt</a:t>
            </a:r>
            <a:r>
              <a:rPr kumimoji="0" lang="en-US" sz="18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a:t>
            </a: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Beispiel + Syntax</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
        <p:nvSpPr>
          <p:cNvPr id="7" name="Textfeld 6"/>
          <p:cNvSpPr txBox="1"/>
          <p:nvPr/>
        </p:nvSpPr>
        <p:spPr>
          <a:xfrm>
            <a:off x="5446354" y="2548746"/>
            <a:ext cx="2761462" cy="338554"/>
          </a:xfrm>
          <a:prstGeom prst="rect">
            <a:avLst/>
          </a:prstGeom>
          <a:noFill/>
        </p:spPr>
        <p:txBody>
          <a:bodyPr wrap="none" rtlCol="0">
            <a:spAutoFit/>
          </a:bodyPr>
          <a:lstStyle/>
          <a:p>
            <a:r>
              <a:rPr lang="de-DE" sz="1600" b="1" dirty="0">
                <a:solidFill>
                  <a:srgbClr val="FF0000"/>
                </a:solidFill>
              </a:rPr>
              <a:t>Dubletten werden zugelassen!</a:t>
            </a:r>
          </a:p>
        </p:txBody>
      </p:sp>
      <p:pic>
        <p:nvPicPr>
          <p:cNvPr id="3" name="Grafik 2"/>
          <p:cNvPicPr>
            <a:picLocks noChangeAspect="1"/>
          </p:cNvPicPr>
          <p:nvPr/>
        </p:nvPicPr>
        <p:blipFill>
          <a:blip r:embed="rId2"/>
          <a:stretch>
            <a:fillRect/>
          </a:stretch>
        </p:blipFill>
        <p:spPr>
          <a:xfrm>
            <a:off x="4930556" y="1771390"/>
            <a:ext cx="219075" cy="3514725"/>
          </a:xfrm>
          <a:prstGeom prst="rect">
            <a:avLst/>
          </a:prstGeom>
          <a:effectLst>
            <a:innerShdw blurRad="114300">
              <a:prstClr val="black"/>
            </a:innerShdw>
          </a:effectLst>
        </p:spPr>
      </p:pic>
    </p:spTree>
    <p:extLst>
      <p:ext uri="{BB962C8B-B14F-4D97-AF65-F5344CB8AC3E}">
        <p14:creationId xmlns:p14="http://schemas.microsoft.com/office/powerpoint/2010/main" val="457412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5400" dirty="0">
                <a:latin typeface="Source Sans Pro" panose="020B0503030403020204" pitchFamily="34" charset="0"/>
              </a:rPr>
              <a:t>FULL JOIN</a:t>
            </a:r>
            <a:endParaRPr lang="de-DE" sz="5400" dirty="0">
              <a:solidFill>
                <a:schemeClr val="accent2"/>
              </a:solidFill>
              <a:latin typeface="Source Sans Pro" panose="020B0503030403020204" pitchFamily="34" charset="0"/>
            </a:endParaRPr>
          </a:p>
          <a:p>
            <a:endParaRPr lang="de-DE" sz="5400" dirty="0">
              <a:latin typeface="Source Sans Pro" panose="020B0503030403020204" pitchFamily="34" charset="0"/>
            </a:endParaRPr>
          </a:p>
        </p:txBody>
      </p:sp>
    </p:spTree>
    <p:extLst>
      <p:ext uri="{BB962C8B-B14F-4D97-AF65-F5344CB8AC3E}">
        <p14:creationId xmlns:p14="http://schemas.microsoft.com/office/powerpoint/2010/main" val="31441145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303583" y="1446688"/>
            <a:ext cx="11495754" cy="714373"/>
          </a:xfrm>
        </p:spPr>
        <p:txBody>
          <a:bodyPr/>
          <a:lstStyle/>
          <a:p>
            <a:endParaRPr lang="de-DE" dirty="0"/>
          </a:p>
          <a:p>
            <a:endParaRPr lang="de-DE" dirty="0"/>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Aufgabenstellung:</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pic>
        <p:nvPicPr>
          <p:cNvPr id="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3852" y="4533948"/>
            <a:ext cx="6111155" cy="1457057"/>
          </a:xfrm>
          <a:prstGeom prst="rect">
            <a:avLst/>
          </a:prstGeom>
          <a:noFill/>
          <a:ln>
            <a:noFill/>
          </a:ln>
          <a:effectLst>
            <a:innerShdw blurRad="114300">
              <a:prstClr val="black"/>
            </a:inn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 name="Grafik 1"/>
          <p:cNvPicPr>
            <a:picLocks noChangeAspect="1"/>
          </p:cNvPicPr>
          <p:nvPr/>
        </p:nvPicPr>
        <p:blipFill>
          <a:blip r:embed="rId3"/>
          <a:stretch>
            <a:fillRect/>
          </a:stretch>
        </p:blipFill>
        <p:spPr>
          <a:xfrm>
            <a:off x="700235" y="1279163"/>
            <a:ext cx="3265798" cy="2842226"/>
          </a:xfrm>
          <a:prstGeom prst="rect">
            <a:avLst/>
          </a:prstGeom>
          <a:effectLst>
            <a:innerShdw blurRad="114300">
              <a:prstClr val="black"/>
            </a:innerShdw>
          </a:effectLst>
        </p:spPr>
      </p:pic>
      <p:pic>
        <p:nvPicPr>
          <p:cNvPr id="3" name="Grafik 2"/>
          <p:cNvPicPr>
            <a:picLocks noChangeAspect="1"/>
          </p:cNvPicPr>
          <p:nvPr/>
        </p:nvPicPr>
        <p:blipFill>
          <a:blip r:embed="rId4"/>
          <a:stretch>
            <a:fillRect/>
          </a:stretch>
        </p:blipFill>
        <p:spPr>
          <a:xfrm>
            <a:off x="4219418" y="1431954"/>
            <a:ext cx="3352800" cy="857250"/>
          </a:xfrm>
          <a:prstGeom prst="rect">
            <a:avLst/>
          </a:prstGeom>
          <a:effectLst>
            <a:innerShdw blurRad="114300">
              <a:prstClr val="black"/>
            </a:innerShdw>
          </a:effectLst>
        </p:spPr>
      </p:pic>
      <p:pic>
        <p:nvPicPr>
          <p:cNvPr id="10" name="Grafik 9"/>
          <p:cNvPicPr>
            <a:picLocks noChangeAspect="1"/>
          </p:cNvPicPr>
          <p:nvPr/>
        </p:nvPicPr>
        <p:blipFill>
          <a:blip r:embed="rId5"/>
          <a:stretch>
            <a:fillRect/>
          </a:stretch>
        </p:blipFill>
        <p:spPr>
          <a:xfrm>
            <a:off x="4257518" y="2436096"/>
            <a:ext cx="3276600" cy="476250"/>
          </a:xfrm>
          <a:prstGeom prst="rect">
            <a:avLst/>
          </a:prstGeom>
          <a:effectLst>
            <a:innerShdw blurRad="114300">
              <a:prstClr val="black"/>
            </a:innerShdw>
          </a:effectLst>
        </p:spPr>
      </p:pic>
      <p:pic>
        <p:nvPicPr>
          <p:cNvPr id="11" name="Grafik 10"/>
          <p:cNvPicPr>
            <a:picLocks noChangeAspect="1"/>
          </p:cNvPicPr>
          <p:nvPr/>
        </p:nvPicPr>
        <p:blipFill>
          <a:blip r:embed="rId6"/>
          <a:stretch>
            <a:fillRect/>
          </a:stretch>
        </p:blipFill>
        <p:spPr>
          <a:xfrm>
            <a:off x="4333718" y="3084497"/>
            <a:ext cx="3124200" cy="800100"/>
          </a:xfrm>
          <a:prstGeom prst="rect">
            <a:avLst/>
          </a:prstGeom>
          <a:effectLst>
            <a:innerShdw blurRad="114300">
              <a:prstClr val="black"/>
            </a:innerShdw>
          </a:effectLst>
        </p:spPr>
      </p:pic>
      <p:sp>
        <p:nvSpPr>
          <p:cNvPr id="13" name="Textfeld 12"/>
          <p:cNvSpPr txBox="1"/>
          <p:nvPr/>
        </p:nvSpPr>
        <p:spPr>
          <a:xfrm>
            <a:off x="5276846" y="4164616"/>
            <a:ext cx="2295372" cy="369332"/>
          </a:xfrm>
          <a:prstGeom prst="rect">
            <a:avLst/>
          </a:prstGeom>
          <a:noFill/>
        </p:spPr>
        <p:txBody>
          <a:bodyPr wrap="none" rtlCol="0">
            <a:spAutoFit/>
          </a:bodyPr>
          <a:lstStyle/>
          <a:p>
            <a:r>
              <a:rPr lang="de-DE" b="1" dirty="0">
                <a:solidFill>
                  <a:schemeClr val="accent2"/>
                </a:solidFill>
              </a:rPr>
              <a:t>Gewünschte Ausgabe:</a:t>
            </a:r>
          </a:p>
        </p:txBody>
      </p:sp>
      <p:sp>
        <p:nvSpPr>
          <p:cNvPr id="14" name="Textfeld 13"/>
          <p:cNvSpPr txBox="1"/>
          <p:nvPr/>
        </p:nvSpPr>
        <p:spPr>
          <a:xfrm>
            <a:off x="606830" y="1048718"/>
            <a:ext cx="1367939" cy="276999"/>
          </a:xfrm>
          <a:prstGeom prst="rect">
            <a:avLst/>
          </a:prstGeom>
          <a:noFill/>
        </p:spPr>
        <p:txBody>
          <a:bodyPr wrap="none" rtlCol="0">
            <a:spAutoFit/>
          </a:bodyPr>
          <a:lstStyle/>
          <a:p>
            <a:r>
              <a:rPr lang="de-DE" sz="1200" b="1" dirty="0"/>
              <a:t>Datenbankschema</a:t>
            </a:r>
          </a:p>
        </p:txBody>
      </p:sp>
      <p:sp>
        <p:nvSpPr>
          <p:cNvPr id="15" name="Textfeld 14"/>
          <p:cNvSpPr txBox="1"/>
          <p:nvPr/>
        </p:nvSpPr>
        <p:spPr>
          <a:xfrm>
            <a:off x="4127581" y="1164999"/>
            <a:ext cx="1729191" cy="276999"/>
          </a:xfrm>
          <a:prstGeom prst="rect">
            <a:avLst/>
          </a:prstGeom>
          <a:noFill/>
        </p:spPr>
        <p:txBody>
          <a:bodyPr wrap="none" rtlCol="0">
            <a:spAutoFit/>
          </a:bodyPr>
          <a:lstStyle/>
          <a:p>
            <a:r>
              <a:rPr lang="de-DE" sz="1200" b="1" dirty="0"/>
              <a:t>Die eingepflegten Daten</a:t>
            </a:r>
          </a:p>
        </p:txBody>
      </p:sp>
    </p:spTree>
    <p:extLst>
      <p:ext uri="{BB962C8B-B14F-4D97-AF65-F5344CB8AC3E}">
        <p14:creationId xmlns:p14="http://schemas.microsoft.com/office/powerpoint/2010/main" val="1540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Teillösung – </a:t>
            </a:r>
            <a:r>
              <a:rPr kumimoji="0" lang="de-DE" sz="4000" b="1" i="0"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rPr>
              <a:t>LEFT </a:t>
            </a:r>
            <a:r>
              <a:rPr kumimoji="0" lang="de-DE" sz="4000" b="1" i="0" u="none" strike="noStrike" kern="1200" cap="none" spc="0" normalizeH="0" baseline="0" noProof="0" dirty="0">
                <a:ln>
                  <a:noFill/>
                </a:ln>
                <a:effectLst/>
                <a:uLnTx/>
                <a:uFillTx/>
                <a:latin typeface="Source Sans Pro" panose="020B0503030403020204" pitchFamily="34" charset="0"/>
                <a:ea typeface="+mj-ea"/>
                <a:cs typeface="+mj-cs"/>
              </a:rPr>
              <a:t>JOIN:</a:t>
            </a:r>
            <a:endParaRPr kumimoji="0" lang="de-DE" sz="4000" b="0" i="1" u="none" strike="noStrike" kern="1200" cap="none" spc="0" normalizeH="0" baseline="0" noProof="0" dirty="0">
              <a:ln>
                <a:noFill/>
              </a:ln>
              <a:effectLst/>
              <a:uLnTx/>
              <a:uFillTx/>
              <a:latin typeface="Source Sans Pro" panose="020B0503030403020204" pitchFamily="34" charset="0"/>
              <a:ea typeface="+mj-ea"/>
              <a:cs typeface="+mj-cs"/>
            </a:endParaRPr>
          </a:p>
        </p:txBody>
      </p:sp>
      <p:sp>
        <p:nvSpPr>
          <p:cNvPr id="7" name="Rechteck 6"/>
          <p:cNvSpPr/>
          <p:nvPr/>
        </p:nvSpPr>
        <p:spPr>
          <a:xfrm>
            <a:off x="1237861" y="2054395"/>
            <a:ext cx="9996195" cy="1200329"/>
          </a:xfrm>
          <a:prstGeom prst="rect">
            <a:avLst/>
          </a:prstGeom>
        </p:spPr>
        <p:txBody>
          <a:bodyPr wrap="square">
            <a:spAutoFit/>
          </a:bodyPr>
          <a:lstStyle/>
          <a:p>
            <a:r>
              <a:rPr lang="de-DE" sz="2400" b="1" dirty="0"/>
              <a:t>SELECT</a:t>
            </a:r>
            <a:r>
              <a:rPr lang="de-DE" sz="2400" dirty="0"/>
              <a:t> Mann_Vorname</a:t>
            </a:r>
            <a:r>
              <a:rPr lang="de-DE" sz="2400" b="1" dirty="0"/>
              <a:t>,</a:t>
            </a:r>
            <a:r>
              <a:rPr lang="de-DE" sz="2400" dirty="0"/>
              <a:t> Mann_Nachname</a:t>
            </a:r>
            <a:r>
              <a:rPr lang="de-DE" sz="2400" b="1" dirty="0"/>
              <a:t>, </a:t>
            </a:r>
            <a:r>
              <a:rPr lang="de-DE" sz="2400" dirty="0"/>
              <a:t>Frau_Vorname</a:t>
            </a:r>
            <a:r>
              <a:rPr lang="de-DE" sz="2400" b="1" dirty="0"/>
              <a:t>,</a:t>
            </a:r>
            <a:r>
              <a:rPr lang="de-DE" sz="2400" dirty="0"/>
              <a:t> Frau_Nachname</a:t>
            </a:r>
          </a:p>
          <a:p>
            <a:r>
              <a:rPr lang="de-DE" sz="2400" b="1" dirty="0"/>
              <a:t>FROM</a:t>
            </a:r>
            <a:r>
              <a:rPr lang="de-DE" sz="2400" dirty="0"/>
              <a:t> Mann </a:t>
            </a:r>
            <a:r>
              <a:rPr lang="de-DE" sz="2400" b="1" dirty="0">
                <a:solidFill>
                  <a:schemeClr val="accent2"/>
                </a:solidFill>
              </a:rPr>
              <a:t>LEFT</a:t>
            </a:r>
            <a:r>
              <a:rPr lang="de-DE" sz="2400" b="1" dirty="0"/>
              <a:t> JOIN </a:t>
            </a:r>
            <a:r>
              <a:rPr lang="de-DE" sz="2400" dirty="0"/>
              <a:t>Ehe </a:t>
            </a:r>
            <a:r>
              <a:rPr lang="de-DE" sz="2400" b="1" dirty="0"/>
              <a:t>ON</a:t>
            </a:r>
            <a:r>
              <a:rPr lang="de-DE" sz="2400" dirty="0"/>
              <a:t> Mann.Mann_ID</a:t>
            </a:r>
            <a:r>
              <a:rPr lang="de-DE" sz="2400" b="1" dirty="0"/>
              <a:t>=</a:t>
            </a:r>
            <a:r>
              <a:rPr lang="de-DE" sz="2400" dirty="0"/>
              <a:t>Ehe.Mann_ID</a:t>
            </a:r>
          </a:p>
          <a:p>
            <a:r>
              <a:rPr lang="de-DE" sz="2400" dirty="0"/>
              <a:t>             </a:t>
            </a:r>
            <a:r>
              <a:rPr lang="de-DE" sz="2400" b="1" dirty="0">
                <a:solidFill>
                  <a:schemeClr val="accent2"/>
                </a:solidFill>
              </a:rPr>
              <a:t>LEFT</a:t>
            </a:r>
            <a:r>
              <a:rPr lang="de-DE" sz="2400" b="1" dirty="0"/>
              <a:t> JOIN </a:t>
            </a:r>
            <a:r>
              <a:rPr lang="de-DE" sz="2400" dirty="0"/>
              <a:t>Frau </a:t>
            </a:r>
            <a:r>
              <a:rPr lang="de-DE" sz="2400" b="1" dirty="0"/>
              <a:t>ON</a:t>
            </a:r>
            <a:r>
              <a:rPr lang="de-DE" sz="2400" dirty="0"/>
              <a:t> Ehe.Frau_ID</a:t>
            </a:r>
            <a:r>
              <a:rPr lang="de-DE" sz="2400" b="1" dirty="0"/>
              <a:t>=</a:t>
            </a:r>
            <a:r>
              <a:rPr lang="de-DE" sz="2400" dirty="0"/>
              <a:t>Frau.Frau_id</a:t>
            </a:r>
            <a:r>
              <a:rPr lang="de-DE" sz="2400" b="1" dirty="0"/>
              <a:t>;</a:t>
            </a:r>
            <a:r>
              <a:rPr lang="de-DE" sz="2400" dirty="0"/>
              <a:t> </a:t>
            </a:r>
          </a:p>
        </p:txBody>
      </p:sp>
      <p:pic>
        <p:nvPicPr>
          <p:cNvPr id="16" name="Grafik 15"/>
          <p:cNvPicPr>
            <a:picLocks noChangeAspect="1"/>
          </p:cNvPicPr>
          <p:nvPr/>
        </p:nvPicPr>
        <p:blipFill>
          <a:blip r:embed="rId2"/>
          <a:stretch>
            <a:fillRect/>
          </a:stretch>
        </p:blipFill>
        <p:spPr>
          <a:xfrm>
            <a:off x="2418689" y="3373089"/>
            <a:ext cx="5248275" cy="723900"/>
          </a:xfrm>
          <a:prstGeom prst="rect">
            <a:avLst/>
          </a:prstGeom>
          <a:effectLst>
            <a:innerShdw blurRad="114300">
              <a:prstClr val="black"/>
            </a:innerShdw>
          </a:effectLst>
        </p:spPr>
      </p:pic>
    </p:spTree>
    <p:extLst>
      <p:ext uri="{BB962C8B-B14F-4D97-AF65-F5344CB8AC3E}">
        <p14:creationId xmlns:p14="http://schemas.microsoft.com/office/powerpoint/2010/main" val="27139911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lvl="0">
              <a:defRPr/>
            </a:pPr>
            <a:r>
              <a:rPr lang="de-DE" sz="4000" dirty="0">
                <a:solidFill>
                  <a:srgbClr val="0071B2"/>
                </a:solidFill>
                <a:latin typeface="Source Sans Pro" panose="020B0503030403020204" pitchFamily="34" charset="0"/>
              </a:rPr>
              <a:t>Teillösung – </a:t>
            </a:r>
            <a:r>
              <a:rPr lang="de-DE" sz="4000" dirty="0">
                <a:solidFill>
                  <a:schemeClr val="accent2"/>
                </a:solidFill>
                <a:latin typeface="Source Sans Pro" panose="020B0503030403020204" pitchFamily="34" charset="0"/>
              </a:rPr>
              <a:t>RIGHT </a:t>
            </a:r>
            <a:r>
              <a:rPr lang="de-DE" sz="4000" dirty="0">
                <a:latin typeface="Source Sans Pro" panose="020B0503030403020204" pitchFamily="34" charset="0"/>
              </a:rPr>
              <a:t>JOIN:</a:t>
            </a:r>
            <a:endParaRPr lang="de-DE" sz="4000" b="0" i="1" dirty="0">
              <a:latin typeface="Source Sans Pro" panose="020B0503030403020204" pitchFamily="34" charset="0"/>
            </a:endParaRPr>
          </a:p>
        </p:txBody>
      </p:sp>
      <p:pic>
        <p:nvPicPr>
          <p:cNvPr id="18" name="Grafik 17"/>
          <p:cNvPicPr>
            <a:picLocks noChangeAspect="1"/>
          </p:cNvPicPr>
          <p:nvPr/>
        </p:nvPicPr>
        <p:blipFill>
          <a:blip r:embed="rId2"/>
          <a:stretch>
            <a:fillRect/>
          </a:stretch>
        </p:blipFill>
        <p:spPr>
          <a:xfrm>
            <a:off x="2560345" y="3369011"/>
            <a:ext cx="5248275" cy="714375"/>
          </a:xfrm>
          <a:prstGeom prst="rect">
            <a:avLst/>
          </a:prstGeom>
          <a:effectLst>
            <a:innerShdw blurRad="114300">
              <a:prstClr val="black"/>
            </a:innerShdw>
          </a:effectLst>
        </p:spPr>
      </p:pic>
      <p:sp>
        <p:nvSpPr>
          <p:cNvPr id="19" name="Rechteck 18"/>
          <p:cNvSpPr/>
          <p:nvPr/>
        </p:nvSpPr>
        <p:spPr>
          <a:xfrm>
            <a:off x="1237861" y="2054395"/>
            <a:ext cx="9996195" cy="1200329"/>
          </a:xfrm>
          <a:prstGeom prst="rect">
            <a:avLst/>
          </a:prstGeom>
        </p:spPr>
        <p:txBody>
          <a:bodyPr wrap="square">
            <a:spAutoFit/>
          </a:bodyPr>
          <a:lstStyle/>
          <a:p>
            <a:r>
              <a:rPr lang="de-DE" sz="2400" b="1" dirty="0"/>
              <a:t>SELECT</a:t>
            </a:r>
            <a:r>
              <a:rPr lang="de-DE" sz="2400" dirty="0"/>
              <a:t> Mann_Vorname</a:t>
            </a:r>
            <a:r>
              <a:rPr lang="de-DE" sz="2400" b="1" dirty="0"/>
              <a:t>,</a:t>
            </a:r>
            <a:r>
              <a:rPr lang="de-DE" sz="2400" dirty="0"/>
              <a:t> Mann_Nachname</a:t>
            </a:r>
            <a:r>
              <a:rPr lang="de-DE" sz="2400" b="1" dirty="0"/>
              <a:t>, </a:t>
            </a:r>
            <a:r>
              <a:rPr lang="de-DE" sz="2400" dirty="0"/>
              <a:t>Frau_Vorname</a:t>
            </a:r>
            <a:r>
              <a:rPr lang="de-DE" sz="2400" b="1" dirty="0"/>
              <a:t>,</a:t>
            </a:r>
            <a:r>
              <a:rPr lang="de-DE" sz="2400" dirty="0"/>
              <a:t> Frau_Nachname</a:t>
            </a:r>
          </a:p>
          <a:p>
            <a:r>
              <a:rPr lang="de-DE" sz="2400" b="1" dirty="0"/>
              <a:t>FROM</a:t>
            </a:r>
            <a:r>
              <a:rPr lang="de-DE" sz="2400" dirty="0"/>
              <a:t> Mann </a:t>
            </a:r>
            <a:r>
              <a:rPr lang="de-DE" sz="2400" b="1" dirty="0">
                <a:solidFill>
                  <a:schemeClr val="accent2"/>
                </a:solidFill>
              </a:rPr>
              <a:t>RIGHT</a:t>
            </a:r>
            <a:r>
              <a:rPr lang="de-DE" sz="2400" b="1" dirty="0"/>
              <a:t> JOIN </a:t>
            </a:r>
            <a:r>
              <a:rPr lang="de-DE" sz="2400" dirty="0"/>
              <a:t>Ehe </a:t>
            </a:r>
            <a:r>
              <a:rPr lang="de-DE" sz="2400" b="1" dirty="0"/>
              <a:t>ON</a:t>
            </a:r>
            <a:r>
              <a:rPr lang="de-DE" sz="2400" dirty="0"/>
              <a:t> Mann.Mann_ID</a:t>
            </a:r>
            <a:r>
              <a:rPr lang="de-DE" sz="2400" b="1" dirty="0"/>
              <a:t>=</a:t>
            </a:r>
            <a:r>
              <a:rPr lang="de-DE" sz="2400" dirty="0"/>
              <a:t>Ehe.Mann_ID</a:t>
            </a:r>
          </a:p>
          <a:p>
            <a:r>
              <a:rPr lang="de-DE" sz="2400" dirty="0"/>
              <a:t>             </a:t>
            </a:r>
            <a:r>
              <a:rPr lang="de-DE" sz="2400" b="1" dirty="0">
                <a:solidFill>
                  <a:schemeClr val="accent2"/>
                </a:solidFill>
              </a:rPr>
              <a:t>RIGHT</a:t>
            </a:r>
            <a:r>
              <a:rPr lang="de-DE" sz="2400" b="1" dirty="0"/>
              <a:t> JOIN </a:t>
            </a:r>
            <a:r>
              <a:rPr lang="de-DE" sz="2400" dirty="0"/>
              <a:t>Frau </a:t>
            </a:r>
            <a:r>
              <a:rPr lang="de-DE" sz="2400" b="1" dirty="0"/>
              <a:t>ON</a:t>
            </a:r>
            <a:r>
              <a:rPr lang="de-DE" sz="2400" dirty="0"/>
              <a:t> Ehe.Frau_ID</a:t>
            </a:r>
            <a:r>
              <a:rPr lang="de-DE" sz="2400" b="1" dirty="0"/>
              <a:t>=</a:t>
            </a:r>
            <a:r>
              <a:rPr lang="de-DE" sz="2400" dirty="0"/>
              <a:t>Frau.Frau_id</a:t>
            </a:r>
            <a:r>
              <a:rPr lang="de-DE" sz="2400" b="1" dirty="0"/>
              <a:t>;</a:t>
            </a:r>
            <a:r>
              <a:rPr lang="de-DE" sz="2400" dirty="0"/>
              <a:t> </a:t>
            </a:r>
          </a:p>
        </p:txBody>
      </p:sp>
    </p:spTree>
    <p:extLst>
      <p:ext uri="{BB962C8B-B14F-4D97-AF65-F5344CB8AC3E}">
        <p14:creationId xmlns:p14="http://schemas.microsoft.com/office/powerpoint/2010/main" val="2640218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8" name="Titel 10"/>
          <p:cNvSpPr txBox="1">
            <a:spLocks/>
          </p:cNvSpPr>
          <p:nvPr/>
        </p:nvSpPr>
        <p:spPr>
          <a:xfrm>
            <a:off x="420609" y="383340"/>
            <a:ext cx="12256300"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Vereinigung beider Teillösungen mittels </a:t>
            </a:r>
            <a:r>
              <a:rPr kumimoji="0" lang="de-DE" sz="4000" b="1" i="0"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rPr>
              <a:t>UNION</a:t>
            </a: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pic>
        <p:nvPicPr>
          <p:cNvPr id="3" name="Grafik 2"/>
          <p:cNvPicPr>
            <a:picLocks noChangeAspect="1"/>
          </p:cNvPicPr>
          <p:nvPr/>
        </p:nvPicPr>
        <p:blipFill>
          <a:blip r:embed="rId2"/>
          <a:stretch>
            <a:fillRect/>
          </a:stretch>
        </p:blipFill>
        <p:spPr>
          <a:xfrm>
            <a:off x="2525163" y="4818218"/>
            <a:ext cx="5229225" cy="971550"/>
          </a:xfrm>
          <a:prstGeom prst="rect">
            <a:avLst/>
          </a:prstGeom>
          <a:effectLst>
            <a:innerShdw blurRad="114300">
              <a:prstClr val="black"/>
            </a:innerShdw>
          </a:effectLst>
        </p:spPr>
      </p:pic>
      <p:sp>
        <p:nvSpPr>
          <p:cNvPr id="9" name="Rechteck 8"/>
          <p:cNvSpPr/>
          <p:nvPr/>
        </p:nvSpPr>
        <p:spPr>
          <a:xfrm>
            <a:off x="1237861" y="2054395"/>
            <a:ext cx="9996195" cy="3046988"/>
          </a:xfrm>
          <a:prstGeom prst="rect">
            <a:avLst/>
          </a:prstGeom>
        </p:spPr>
        <p:txBody>
          <a:bodyPr wrap="square">
            <a:spAutoFit/>
          </a:bodyPr>
          <a:lstStyle/>
          <a:p>
            <a:r>
              <a:rPr lang="de-DE" sz="2400" b="1" dirty="0"/>
              <a:t>SELECT</a:t>
            </a:r>
            <a:r>
              <a:rPr lang="de-DE" sz="2400" dirty="0"/>
              <a:t> Mann_Vorname</a:t>
            </a:r>
            <a:r>
              <a:rPr lang="de-DE" sz="2400" b="1" dirty="0"/>
              <a:t>,</a:t>
            </a:r>
            <a:r>
              <a:rPr lang="de-DE" sz="2400" dirty="0"/>
              <a:t> Mann_Nachname</a:t>
            </a:r>
            <a:r>
              <a:rPr lang="de-DE" sz="2400" b="1" dirty="0"/>
              <a:t>, </a:t>
            </a:r>
            <a:r>
              <a:rPr lang="de-DE" sz="2400" dirty="0"/>
              <a:t>Frau_Vorname</a:t>
            </a:r>
            <a:r>
              <a:rPr lang="de-DE" sz="2400" b="1" dirty="0"/>
              <a:t>,</a:t>
            </a:r>
            <a:r>
              <a:rPr lang="de-DE" sz="2400" dirty="0"/>
              <a:t> Frau_Nachname</a:t>
            </a:r>
          </a:p>
          <a:p>
            <a:r>
              <a:rPr lang="de-DE" sz="2400" b="1" dirty="0"/>
              <a:t>FROM</a:t>
            </a:r>
            <a:r>
              <a:rPr lang="de-DE" sz="2400" dirty="0"/>
              <a:t> Mann </a:t>
            </a:r>
            <a:r>
              <a:rPr lang="de-DE" sz="2400" b="1" dirty="0"/>
              <a:t>LEFT JOIN </a:t>
            </a:r>
            <a:r>
              <a:rPr lang="de-DE" sz="2400" dirty="0"/>
              <a:t>Ehe </a:t>
            </a:r>
            <a:r>
              <a:rPr lang="de-DE" sz="2400" b="1" dirty="0"/>
              <a:t>ON</a:t>
            </a:r>
            <a:r>
              <a:rPr lang="de-DE" sz="2400" dirty="0"/>
              <a:t> Mann.Mann_ID</a:t>
            </a:r>
            <a:r>
              <a:rPr lang="de-DE" sz="2400" b="1" dirty="0"/>
              <a:t>=</a:t>
            </a:r>
            <a:r>
              <a:rPr lang="de-DE" sz="2400" dirty="0"/>
              <a:t>Ehe.Mann_ID</a:t>
            </a:r>
          </a:p>
          <a:p>
            <a:r>
              <a:rPr lang="de-DE" sz="2400" dirty="0"/>
              <a:t>             </a:t>
            </a:r>
            <a:r>
              <a:rPr lang="de-DE" sz="2400" b="1" dirty="0"/>
              <a:t>LEFT JOIN </a:t>
            </a:r>
            <a:r>
              <a:rPr lang="de-DE" sz="2400" dirty="0"/>
              <a:t>Frau </a:t>
            </a:r>
            <a:r>
              <a:rPr lang="de-DE" sz="2400" b="1" dirty="0"/>
              <a:t>ON</a:t>
            </a:r>
            <a:r>
              <a:rPr lang="de-DE" sz="2400" dirty="0"/>
              <a:t> Ehe.Frau_ID</a:t>
            </a:r>
            <a:r>
              <a:rPr lang="de-DE" sz="2400" b="1" dirty="0"/>
              <a:t>=</a:t>
            </a:r>
            <a:r>
              <a:rPr lang="de-DE" sz="2400" dirty="0"/>
              <a:t>Frau.Frau_id</a:t>
            </a:r>
            <a:endParaRPr lang="de-DE" sz="2400" b="1" dirty="0"/>
          </a:p>
          <a:p>
            <a:r>
              <a:rPr lang="de-DE" sz="2400" b="1" dirty="0">
                <a:solidFill>
                  <a:schemeClr val="accent2"/>
                </a:solidFill>
              </a:rPr>
              <a:t>UNION</a:t>
            </a:r>
          </a:p>
          <a:p>
            <a:r>
              <a:rPr lang="de-DE" sz="2400" b="1" dirty="0"/>
              <a:t>SELECT</a:t>
            </a:r>
            <a:r>
              <a:rPr lang="de-DE" sz="2400" dirty="0"/>
              <a:t> Mann_Vorname</a:t>
            </a:r>
            <a:r>
              <a:rPr lang="de-DE" sz="2400" b="1" dirty="0"/>
              <a:t>,</a:t>
            </a:r>
            <a:r>
              <a:rPr lang="de-DE" sz="2400" dirty="0"/>
              <a:t> Mann_Nachname</a:t>
            </a:r>
            <a:r>
              <a:rPr lang="de-DE" sz="2400" b="1" dirty="0"/>
              <a:t>, </a:t>
            </a:r>
            <a:r>
              <a:rPr lang="de-DE" sz="2400" dirty="0"/>
              <a:t>Frau_Vorname</a:t>
            </a:r>
            <a:r>
              <a:rPr lang="de-DE" sz="2400" b="1" dirty="0"/>
              <a:t>,</a:t>
            </a:r>
            <a:r>
              <a:rPr lang="de-DE" sz="2400" dirty="0"/>
              <a:t> Frau_Nachname</a:t>
            </a:r>
          </a:p>
          <a:p>
            <a:r>
              <a:rPr lang="de-DE" sz="2400" b="1" dirty="0"/>
              <a:t>FROM</a:t>
            </a:r>
            <a:r>
              <a:rPr lang="de-DE" sz="2400" dirty="0"/>
              <a:t> Mann </a:t>
            </a:r>
            <a:r>
              <a:rPr lang="de-DE" sz="2400" b="1" dirty="0"/>
              <a:t>RIGHT JOIN </a:t>
            </a:r>
            <a:r>
              <a:rPr lang="de-DE" sz="2400" dirty="0"/>
              <a:t>Ehe </a:t>
            </a:r>
            <a:r>
              <a:rPr lang="de-DE" sz="2400" b="1" dirty="0"/>
              <a:t>ON</a:t>
            </a:r>
            <a:r>
              <a:rPr lang="de-DE" sz="2400" dirty="0"/>
              <a:t> Mann.Mann_ID</a:t>
            </a:r>
            <a:r>
              <a:rPr lang="de-DE" sz="2400" b="1" dirty="0"/>
              <a:t>=</a:t>
            </a:r>
            <a:r>
              <a:rPr lang="de-DE" sz="2400" dirty="0"/>
              <a:t>Ehe.Mann_ID</a:t>
            </a:r>
          </a:p>
          <a:p>
            <a:r>
              <a:rPr lang="de-DE" sz="2400" dirty="0"/>
              <a:t>             </a:t>
            </a:r>
            <a:r>
              <a:rPr lang="de-DE" sz="2400" b="1" dirty="0"/>
              <a:t>RIGHT JOIN </a:t>
            </a:r>
            <a:r>
              <a:rPr lang="de-DE" sz="2400" dirty="0"/>
              <a:t>Frau </a:t>
            </a:r>
            <a:r>
              <a:rPr lang="de-DE" sz="2400" b="1" dirty="0"/>
              <a:t>ON</a:t>
            </a:r>
            <a:r>
              <a:rPr lang="de-DE" sz="2400" dirty="0"/>
              <a:t> Ehe.Frau_ID</a:t>
            </a:r>
            <a:r>
              <a:rPr lang="de-DE" sz="2400" b="1" dirty="0"/>
              <a:t>=</a:t>
            </a:r>
            <a:r>
              <a:rPr lang="de-DE" sz="2400" dirty="0"/>
              <a:t>Frau.Frau_id</a:t>
            </a:r>
            <a:r>
              <a:rPr lang="de-DE" sz="2400" b="1" dirty="0"/>
              <a:t>;</a:t>
            </a:r>
            <a:r>
              <a:rPr lang="de-DE" sz="2400" dirty="0"/>
              <a:t> </a:t>
            </a:r>
          </a:p>
          <a:p>
            <a:endParaRPr lang="de-DE" sz="2400" dirty="0">
              <a:solidFill>
                <a:schemeClr val="accent2"/>
              </a:solidFill>
            </a:endParaRPr>
          </a:p>
        </p:txBody>
      </p:sp>
    </p:spTree>
    <p:extLst>
      <p:ext uri="{BB962C8B-B14F-4D97-AF65-F5344CB8AC3E}">
        <p14:creationId xmlns:p14="http://schemas.microsoft.com/office/powerpoint/2010/main" val="9299369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0693505" cy="720725"/>
          </a:xfrm>
        </p:spPr>
        <p:txBody>
          <a:bodyPr>
            <a:normAutofit fontScale="90000"/>
          </a:bodyPr>
          <a:lstStyle/>
          <a:p>
            <a:r>
              <a:rPr lang="de-DE" dirty="0">
                <a:latin typeface="Source Sans Pro" panose="020B0503030403020204" pitchFamily="34" charset="0"/>
              </a:rPr>
              <a:t>Gemeinsame Übung </a:t>
            </a:r>
            <a:r>
              <a:rPr lang="de-DE" sz="2700" dirty="0">
                <a:latin typeface="Source Sans Pro" panose="020B0503030403020204" pitchFamily="34" charset="0"/>
              </a:rPr>
              <a:t>(„Live-Coding“) </a:t>
            </a:r>
            <a:r>
              <a:rPr lang="de-DE" dirty="0">
                <a:latin typeface="Source Sans Pro" panose="020B0503030403020204" pitchFamily="34" charset="0"/>
              </a:rPr>
              <a:t>-&gt; </a:t>
            </a:r>
            <a:r>
              <a:rPr lang="de-DE" dirty="0">
                <a:solidFill>
                  <a:schemeClr val="accent2"/>
                </a:solidFill>
                <a:latin typeface="Source Sans Pro" panose="020B0503030403020204" pitchFamily="34" charset="0"/>
              </a:rPr>
              <a:t>A_04_01_01</a:t>
            </a:r>
            <a:endParaRPr lang="de-DE" sz="18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pic>
        <p:nvPicPr>
          <p:cNvPr id="3" name="Grafik 2"/>
          <p:cNvPicPr>
            <a:picLocks noChangeAspect="1"/>
          </p:cNvPicPr>
          <p:nvPr/>
        </p:nvPicPr>
        <p:blipFill>
          <a:blip r:embed="rId2"/>
          <a:stretch>
            <a:fillRect/>
          </a:stretch>
        </p:blipFill>
        <p:spPr>
          <a:xfrm>
            <a:off x="4767423" y="1282616"/>
            <a:ext cx="3058032" cy="4314911"/>
          </a:xfrm>
          <a:prstGeom prst="rect">
            <a:avLst/>
          </a:prstGeom>
          <a:effectLst>
            <a:innerShdw blurRad="114300">
              <a:prstClr val="black"/>
            </a:innerShdw>
          </a:effectLst>
        </p:spPr>
      </p:pic>
    </p:spTree>
    <p:extLst>
      <p:ext uri="{BB962C8B-B14F-4D97-AF65-F5344CB8AC3E}">
        <p14:creationId xmlns:p14="http://schemas.microsoft.com/office/powerpoint/2010/main" val="16236191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7" name="Textplatzhalter 6"/>
          <p:cNvSpPr>
            <a:spLocks noGrp="1"/>
          </p:cNvSpPr>
          <p:nvPr>
            <p:ph type="body" sz="quarter" idx="13"/>
          </p:nvPr>
        </p:nvSpPr>
        <p:spPr>
          <a:xfrm>
            <a:off x="1664955" y="2344103"/>
            <a:ext cx="8686800" cy="1455737"/>
          </a:xfrm>
        </p:spPr>
        <p:txBody>
          <a:bodyPr/>
          <a:lstStyle/>
          <a:p>
            <a:r>
              <a:rPr lang="de-DE" dirty="0">
                <a:latin typeface="Source Sans Pro" panose="020B0503030403020204" pitchFamily="34" charset="0"/>
              </a:rPr>
              <a:t>Vielen Dank für Ihre Aufmerksamkeit!</a:t>
            </a:r>
          </a:p>
        </p:txBody>
      </p:sp>
      <p:grpSp>
        <p:nvGrpSpPr>
          <p:cNvPr id="8" name="Grafik 127" descr="Gruppenerfolg">
            <a:extLst>
              <a:ext uri="{FF2B5EF4-FFF2-40B4-BE49-F238E27FC236}">
                <a16:creationId xmlns:a16="http://schemas.microsoft.com/office/drawing/2014/main" id="{B1AEA3CB-529A-43D3-BF54-B3A291B5B89A}"/>
              </a:ext>
            </a:extLst>
          </p:cNvPr>
          <p:cNvGrpSpPr/>
          <p:nvPr/>
        </p:nvGrpSpPr>
        <p:grpSpPr>
          <a:xfrm>
            <a:off x="5773243" y="4981866"/>
            <a:ext cx="1656909" cy="1118841"/>
            <a:chOff x="6764943" y="3423412"/>
            <a:chExt cx="619669" cy="418437"/>
          </a:xfrm>
          <a:solidFill>
            <a:srgbClr val="0071B2"/>
          </a:solidFill>
        </p:grpSpPr>
        <p:sp>
          <p:nvSpPr>
            <p:cNvPr id="9" name="Freihandform: Form 179">
              <a:extLst>
                <a:ext uri="{FF2B5EF4-FFF2-40B4-BE49-F238E27FC236}">
                  <a16:creationId xmlns:a16="http://schemas.microsoft.com/office/drawing/2014/main" id="{83C0AB4F-B2FF-48B2-8B01-EEAE4874DA4F}"/>
                </a:ext>
              </a:extLst>
            </p:cNvPr>
            <p:cNvSpPr/>
            <p:nvPr/>
          </p:nvSpPr>
          <p:spPr>
            <a:xfrm>
              <a:off x="72594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0" name="Freihandform: Form 180">
              <a:extLst>
                <a:ext uri="{FF2B5EF4-FFF2-40B4-BE49-F238E27FC236}">
                  <a16:creationId xmlns:a16="http://schemas.microsoft.com/office/drawing/2014/main" id="{0397E236-998B-4584-8060-2EAAEEB496B8}"/>
                </a:ext>
              </a:extLst>
            </p:cNvPr>
            <p:cNvSpPr/>
            <p:nvPr/>
          </p:nvSpPr>
          <p:spPr>
            <a:xfrm>
              <a:off x="7111582"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1" name="Freihandform: Form 181">
              <a:extLst>
                <a:ext uri="{FF2B5EF4-FFF2-40B4-BE49-F238E27FC236}">
                  <a16:creationId xmlns:a16="http://schemas.microsoft.com/office/drawing/2014/main" id="{16928ED2-C07E-4785-8197-7CC30C3379AD}"/>
                </a:ext>
              </a:extLst>
            </p:cNvPr>
            <p:cNvSpPr/>
            <p:nvPr/>
          </p:nvSpPr>
          <p:spPr>
            <a:xfrm>
              <a:off x="6963749"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2" name="Freihandform: Form 182">
              <a:extLst>
                <a:ext uri="{FF2B5EF4-FFF2-40B4-BE49-F238E27FC236}">
                  <a16:creationId xmlns:a16="http://schemas.microsoft.com/office/drawing/2014/main" id="{EAFD5657-18FA-4723-A9AE-B61E45511EAB}"/>
                </a:ext>
              </a:extLst>
            </p:cNvPr>
            <p:cNvSpPr/>
            <p:nvPr/>
          </p:nvSpPr>
          <p:spPr>
            <a:xfrm>
              <a:off x="68159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Freihandform: Form 183">
              <a:extLst>
                <a:ext uri="{FF2B5EF4-FFF2-40B4-BE49-F238E27FC236}">
                  <a16:creationId xmlns:a16="http://schemas.microsoft.com/office/drawing/2014/main" id="{93F96C60-0AEE-4A75-8162-D9D7D87FD848}"/>
                </a:ext>
              </a:extLst>
            </p:cNvPr>
            <p:cNvSpPr/>
            <p:nvPr/>
          </p:nvSpPr>
          <p:spPr>
            <a:xfrm>
              <a:off x="6764943" y="3423412"/>
              <a:ext cx="619669" cy="418437"/>
            </a:xfrm>
            <a:custGeom>
              <a:avLst/>
              <a:gdLst>
                <a:gd name="connsiteX0" fmla="*/ 609633 w 619669"/>
                <a:gd name="connsiteY0" fmla="*/ 882 h 418437"/>
                <a:gd name="connsiteX1" fmla="*/ 590709 w 619669"/>
                <a:gd name="connsiteY1" fmla="*/ 9769 h 418437"/>
                <a:gd name="connsiteX2" fmla="*/ 590562 w 619669"/>
                <a:gd name="connsiteY2" fmla="*/ 10196 h 418437"/>
                <a:gd name="connsiteX3" fmla="*/ 562991 w 619669"/>
                <a:gd name="connsiteY3" fmla="*/ 91504 h 418437"/>
                <a:gd name="connsiteX4" fmla="*/ 531429 w 619669"/>
                <a:gd name="connsiteY4" fmla="*/ 85812 h 418437"/>
                <a:gd name="connsiteX5" fmla="*/ 499497 w 619669"/>
                <a:gd name="connsiteY5" fmla="*/ 91578 h 418437"/>
                <a:gd name="connsiteX6" fmla="*/ 472296 w 619669"/>
                <a:gd name="connsiteY6" fmla="*/ 10196 h 418437"/>
                <a:gd name="connsiteX7" fmla="*/ 452235 w 619669"/>
                <a:gd name="connsiteY7" fmla="*/ 1280 h 418437"/>
                <a:gd name="connsiteX8" fmla="*/ 443320 w 619669"/>
                <a:gd name="connsiteY8" fmla="*/ 10196 h 418437"/>
                <a:gd name="connsiteX9" fmla="*/ 415749 w 619669"/>
                <a:gd name="connsiteY9" fmla="*/ 91504 h 418437"/>
                <a:gd name="connsiteX10" fmla="*/ 383596 w 619669"/>
                <a:gd name="connsiteY10" fmla="*/ 85812 h 418437"/>
                <a:gd name="connsiteX11" fmla="*/ 351664 w 619669"/>
                <a:gd name="connsiteY11" fmla="*/ 91504 h 418437"/>
                <a:gd name="connsiteX12" fmla="*/ 324462 w 619669"/>
                <a:gd name="connsiteY12" fmla="*/ 10196 h 418437"/>
                <a:gd name="connsiteX13" fmla="*/ 304402 w 619669"/>
                <a:gd name="connsiteY13" fmla="*/ 1280 h 418437"/>
                <a:gd name="connsiteX14" fmla="*/ 295487 w 619669"/>
                <a:gd name="connsiteY14" fmla="*/ 10196 h 418437"/>
                <a:gd name="connsiteX15" fmla="*/ 267990 w 619669"/>
                <a:gd name="connsiteY15" fmla="*/ 91504 h 418437"/>
                <a:gd name="connsiteX16" fmla="*/ 235762 w 619669"/>
                <a:gd name="connsiteY16" fmla="*/ 85812 h 418437"/>
                <a:gd name="connsiteX17" fmla="*/ 203830 w 619669"/>
                <a:gd name="connsiteY17" fmla="*/ 91578 h 418437"/>
                <a:gd name="connsiteX18" fmla="*/ 176629 w 619669"/>
                <a:gd name="connsiteY18" fmla="*/ 10196 h 418437"/>
                <a:gd name="connsiteX19" fmla="*/ 156569 w 619669"/>
                <a:gd name="connsiteY19" fmla="*/ 1280 h 418437"/>
                <a:gd name="connsiteX20" fmla="*/ 147654 w 619669"/>
                <a:gd name="connsiteY20" fmla="*/ 10196 h 418437"/>
                <a:gd name="connsiteX21" fmla="*/ 120083 w 619669"/>
                <a:gd name="connsiteY21" fmla="*/ 91504 h 418437"/>
                <a:gd name="connsiteX22" fmla="*/ 87929 w 619669"/>
                <a:gd name="connsiteY22" fmla="*/ 85812 h 418437"/>
                <a:gd name="connsiteX23" fmla="*/ 55997 w 619669"/>
                <a:gd name="connsiteY23" fmla="*/ 91578 h 418437"/>
                <a:gd name="connsiteX24" fmla="*/ 28796 w 619669"/>
                <a:gd name="connsiteY24" fmla="*/ 10196 h 418437"/>
                <a:gd name="connsiteX25" fmla="*/ 10058 w 619669"/>
                <a:gd name="connsiteY25" fmla="*/ 919 h 418437"/>
                <a:gd name="connsiteX26" fmla="*/ 781 w 619669"/>
                <a:gd name="connsiteY26" fmla="*/ 19657 h 418437"/>
                <a:gd name="connsiteX27" fmla="*/ 37296 w 619669"/>
                <a:gd name="connsiteY27" fmla="*/ 127501 h 418437"/>
                <a:gd name="connsiteX28" fmla="*/ 50971 w 619669"/>
                <a:gd name="connsiteY28" fmla="*/ 137554 h 418437"/>
                <a:gd name="connsiteX29" fmla="*/ 50971 w 619669"/>
                <a:gd name="connsiteY29" fmla="*/ 181904 h 418437"/>
                <a:gd name="connsiteX30" fmla="*/ 28796 w 619669"/>
                <a:gd name="connsiteY30" fmla="*/ 292779 h 418437"/>
                <a:gd name="connsiteX31" fmla="*/ 50971 w 619669"/>
                <a:gd name="connsiteY31" fmla="*/ 292779 h 418437"/>
                <a:gd name="connsiteX32" fmla="*/ 50971 w 619669"/>
                <a:gd name="connsiteY32" fmla="*/ 418438 h 418437"/>
                <a:gd name="connsiteX33" fmla="*/ 80537 w 619669"/>
                <a:gd name="connsiteY33" fmla="*/ 418438 h 418437"/>
                <a:gd name="connsiteX34" fmla="*/ 80537 w 619669"/>
                <a:gd name="connsiteY34" fmla="*/ 292779 h 418437"/>
                <a:gd name="connsiteX35" fmla="*/ 95321 w 619669"/>
                <a:gd name="connsiteY35" fmla="*/ 292779 h 418437"/>
                <a:gd name="connsiteX36" fmla="*/ 95321 w 619669"/>
                <a:gd name="connsiteY36" fmla="*/ 418438 h 418437"/>
                <a:gd name="connsiteX37" fmla="*/ 124887 w 619669"/>
                <a:gd name="connsiteY37" fmla="*/ 418438 h 418437"/>
                <a:gd name="connsiteX38" fmla="*/ 124887 w 619669"/>
                <a:gd name="connsiteY38" fmla="*/ 292779 h 418437"/>
                <a:gd name="connsiteX39" fmla="*/ 147062 w 619669"/>
                <a:gd name="connsiteY39" fmla="*/ 292779 h 418437"/>
                <a:gd name="connsiteX40" fmla="*/ 124887 w 619669"/>
                <a:gd name="connsiteY40" fmla="*/ 181904 h 418437"/>
                <a:gd name="connsiteX41" fmla="*/ 124887 w 619669"/>
                <a:gd name="connsiteY41" fmla="*/ 137554 h 418437"/>
                <a:gd name="connsiteX42" fmla="*/ 138858 w 619669"/>
                <a:gd name="connsiteY42" fmla="*/ 127501 h 418437"/>
                <a:gd name="connsiteX43" fmla="*/ 161846 w 619669"/>
                <a:gd name="connsiteY43" fmla="*/ 59646 h 418437"/>
                <a:gd name="connsiteX44" fmla="*/ 184834 w 619669"/>
                <a:gd name="connsiteY44" fmla="*/ 127501 h 418437"/>
                <a:gd name="connsiteX45" fmla="*/ 198804 w 619669"/>
                <a:gd name="connsiteY45" fmla="*/ 137554 h 418437"/>
                <a:gd name="connsiteX46" fmla="*/ 198804 w 619669"/>
                <a:gd name="connsiteY46" fmla="*/ 418438 h 418437"/>
                <a:gd name="connsiteX47" fmla="*/ 228371 w 619669"/>
                <a:gd name="connsiteY47" fmla="*/ 418438 h 418437"/>
                <a:gd name="connsiteX48" fmla="*/ 228371 w 619669"/>
                <a:gd name="connsiteY48" fmla="*/ 248429 h 418437"/>
                <a:gd name="connsiteX49" fmla="*/ 243154 w 619669"/>
                <a:gd name="connsiteY49" fmla="*/ 248429 h 418437"/>
                <a:gd name="connsiteX50" fmla="*/ 243154 w 619669"/>
                <a:gd name="connsiteY50" fmla="*/ 418438 h 418437"/>
                <a:gd name="connsiteX51" fmla="*/ 272721 w 619669"/>
                <a:gd name="connsiteY51" fmla="*/ 418438 h 418437"/>
                <a:gd name="connsiteX52" fmla="*/ 272721 w 619669"/>
                <a:gd name="connsiteY52" fmla="*/ 137554 h 418437"/>
                <a:gd name="connsiteX53" fmla="*/ 286691 w 619669"/>
                <a:gd name="connsiteY53" fmla="*/ 127501 h 418437"/>
                <a:gd name="connsiteX54" fmla="*/ 309679 w 619669"/>
                <a:gd name="connsiteY54" fmla="*/ 59646 h 418437"/>
                <a:gd name="connsiteX55" fmla="*/ 332667 w 619669"/>
                <a:gd name="connsiteY55" fmla="*/ 127501 h 418437"/>
                <a:gd name="connsiteX56" fmla="*/ 346637 w 619669"/>
                <a:gd name="connsiteY56" fmla="*/ 137554 h 418437"/>
                <a:gd name="connsiteX57" fmla="*/ 346637 w 619669"/>
                <a:gd name="connsiteY57" fmla="*/ 181904 h 418437"/>
                <a:gd name="connsiteX58" fmla="*/ 324462 w 619669"/>
                <a:gd name="connsiteY58" fmla="*/ 292779 h 418437"/>
                <a:gd name="connsiteX59" fmla="*/ 346637 w 619669"/>
                <a:gd name="connsiteY59" fmla="*/ 292779 h 418437"/>
                <a:gd name="connsiteX60" fmla="*/ 346637 w 619669"/>
                <a:gd name="connsiteY60" fmla="*/ 418438 h 418437"/>
                <a:gd name="connsiteX61" fmla="*/ 376204 w 619669"/>
                <a:gd name="connsiteY61" fmla="*/ 418438 h 418437"/>
                <a:gd name="connsiteX62" fmla="*/ 376204 w 619669"/>
                <a:gd name="connsiteY62" fmla="*/ 292779 h 418437"/>
                <a:gd name="connsiteX63" fmla="*/ 390987 w 619669"/>
                <a:gd name="connsiteY63" fmla="*/ 292779 h 418437"/>
                <a:gd name="connsiteX64" fmla="*/ 390987 w 619669"/>
                <a:gd name="connsiteY64" fmla="*/ 418438 h 418437"/>
                <a:gd name="connsiteX65" fmla="*/ 420554 w 619669"/>
                <a:gd name="connsiteY65" fmla="*/ 418438 h 418437"/>
                <a:gd name="connsiteX66" fmla="*/ 420554 w 619669"/>
                <a:gd name="connsiteY66" fmla="*/ 292779 h 418437"/>
                <a:gd name="connsiteX67" fmla="*/ 442729 w 619669"/>
                <a:gd name="connsiteY67" fmla="*/ 292779 h 418437"/>
                <a:gd name="connsiteX68" fmla="*/ 420554 w 619669"/>
                <a:gd name="connsiteY68" fmla="*/ 181904 h 418437"/>
                <a:gd name="connsiteX69" fmla="*/ 420554 w 619669"/>
                <a:gd name="connsiteY69" fmla="*/ 137554 h 418437"/>
                <a:gd name="connsiteX70" fmla="*/ 434524 w 619669"/>
                <a:gd name="connsiteY70" fmla="*/ 127501 h 418437"/>
                <a:gd name="connsiteX71" fmla="*/ 457512 w 619669"/>
                <a:gd name="connsiteY71" fmla="*/ 59646 h 418437"/>
                <a:gd name="connsiteX72" fmla="*/ 480500 w 619669"/>
                <a:gd name="connsiteY72" fmla="*/ 127501 h 418437"/>
                <a:gd name="connsiteX73" fmla="*/ 494471 w 619669"/>
                <a:gd name="connsiteY73" fmla="*/ 137554 h 418437"/>
                <a:gd name="connsiteX74" fmla="*/ 494471 w 619669"/>
                <a:gd name="connsiteY74" fmla="*/ 418438 h 418437"/>
                <a:gd name="connsiteX75" fmla="*/ 524037 w 619669"/>
                <a:gd name="connsiteY75" fmla="*/ 418438 h 418437"/>
                <a:gd name="connsiteX76" fmla="*/ 524037 w 619669"/>
                <a:gd name="connsiteY76" fmla="*/ 248429 h 418437"/>
                <a:gd name="connsiteX77" fmla="*/ 538821 w 619669"/>
                <a:gd name="connsiteY77" fmla="*/ 248429 h 418437"/>
                <a:gd name="connsiteX78" fmla="*/ 538821 w 619669"/>
                <a:gd name="connsiteY78" fmla="*/ 418438 h 418437"/>
                <a:gd name="connsiteX79" fmla="*/ 568387 w 619669"/>
                <a:gd name="connsiteY79" fmla="*/ 418438 h 418437"/>
                <a:gd name="connsiteX80" fmla="*/ 568387 w 619669"/>
                <a:gd name="connsiteY80" fmla="*/ 137554 h 418437"/>
                <a:gd name="connsiteX81" fmla="*/ 582358 w 619669"/>
                <a:gd name="connsiteY81" fmla="*/ 127501 h 418437"/>
                <a:gd name="connsiteX82" fmla="*/ 618873 w 619669"/>
                <a:gd name="connsiteY82" fmla="*/ 19657 h 418437"/>
                <a:gd name="connsiteX83" fmla="*/ 609657 w 619669"/>
                <a:gd name="connsiteY83" fmla="*/ 890 h 418437"/>
                <a:gd name="connsiteX84" fmla="*/ 609633 w 619669"/>
                <a:gd name="connsiteY84" fmla="*/ 882 h 41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619669" h="418437">
                  <a:moveTo>
                    <a:pt x="609633" y="882"/>
                  </a:moveTo>
                  <a:cubicBezTo>
                    <a:pt x="601953" y="-1890"/>
                    <a:pt x="593481" y="2089"/>
                    <a:pt x="590709" y="9769"/>
                  </a:cubicBezTo>
                  <a:cubicBezTo>
                    <a:pt x="590658" y="9910"/>
                    <a:pt x="590609" y="10053"/>
                    <a:pt x="590562" y="10196"/>
                  </a:cubicBezTo>
                  <a:lnTo>
                    <a:pt x="562991" y="91504"/>
                  </a:lnTo>
                  <a:cubicBezTo>
                    <a:pt x="552806" y="88074"/>
                    <a:pt x="542171" y="86156"/>
                    <a:pt x="531429" y="85812"/>
                  </a:cubicBezTo>
                  <a:cubicBezTo>
                    <a:pt x="520558" y="86140"/>
                    <a:pt x="509796" y="88082"/>
                    <a:pt x="499497" y="91578"/>
                  </a:cubicBezTo>
                  <a:lnTo>
                    <a:pt x="472296" y="10196"/>
                  </a:lnTo>
                  <a:cubicBezTo>
                    <a:pt x="469218" y="2194"/>
                    <a:pt x="460237" y="-1797"/>
                    <a:pt x="452235" y="1280"/>
                  </a:cubicBezTo>
                  <a:cubicBezTo>
                    <a:pt x="448136" y="2857"/>
                    <a:pt x="444897" y="6097"/>
                    <a:pt x="443320" y="10196"/>
                  </a:cubicBezTo>
                  <a:lnTo>
                    <a:pt x="415749" y="91504"/>
                  </a:lnTo>
                  <a:cubicBezTo>
                    <a:pt x="405376" y="88010"/>
                    <a:pt x="394538" y="86092"/>
                    <a:pt x="383596" y="85812"/>
                  </a:cubicBezTo>
                  <a:cubicBezTo>
                    <a:pt x="372731" y="86148"/>
                    <a:pt x="361974" y="88065"/>
                    <a:pt x="351664" y="91504"/>
                  </a:cubicBezTo>
                  <a:lnTo>
                    <a:pt x="324462" y="10196"/>
                  </a:lnTo>
                  <a:cubicBezTo>
                    <a:pt x="321384" y="2194"/>
                    <a:pt x="312404" y="-1797"/>
                    <a:pt x="304402" y="1280"/>
                  </a:cubicBezTo>
                  <a:cubicBezTo>
                    <a:pt x="300303" y="2857"/>
                    <a:pt x="297064" y="6097"/>
                    <a:pt x="295487" y="10196"/>
                  </a:cubicBezTo>
                  <a:lnTo>
                    <a:pt x="267990" y="91504"/>
                  </a:lnTo>
                  <a:cubicBezTo>
                    <a:pt x="257582" y="88047"/>
                    <a:pt x="246725" y="86129"/>
                    <a:pt x="235762" y="85812"/>
                  </a:cubicBezTo>
                  <a:cubicBezTo>
                    <a:pt x="224891" y="86140"/>
                    <a:pt x="214129" y="88082"/>
                    <a:pt x="203830" y="91578"/>
                  </a:cubicBezTo>
                  <a:lnTo>
                    <a:pt x="176629" y="10196"/>
                  </a:lnTo>
                  <a:cubicBezTo>
                    <a:pt x="173551" y="2194"/>
                    <a:pt x="164570" y="-1797"/>
                    <a:pt x="156569" y="1280"/>
                  </a:cubicBezTo>
                  <a:cubicBezTo>
                    <a:pt x="152469" y="2857"/>
                    <a:pt x="149230" y="6097"/>
                    <a:pt x="147654" y="10196"/>
                  </a:cubicBezTo>
                  <a:lnTo>
                    <a:pt x="120083" y="91504"/>
                  </a:lnTo>
                  <a:cubicBezTo>
                    <a:pt x="109702" y="88042"/>
                    <a:pt x="98868" y="86124"/>
                    <a:pt x="87929" y="85812"/>
                  </a:cubicBezTo>
                  <a:cubicBezTo>
                    <a:pt x="77058" y="86140"/>
                    <a:pt x="66296" y="88082"/>
                    <a:pt x="55997" y="91578"/>
                  </a:cubicBezTo>
                  <a:lnTo>
                    <a:pt x="28796" y="10196"/>
                  </a:lnTo>
                  <a:cubicBezTo>
                    <a:pt x="26183" y="2459"/>
                    <a:pt x="17794" y="-1694"/>
                    <a:pt x="10058" y="919"/>
                  </a:cubicBezTo>
                  <a:cubicBezTo>
                    <a:pt x="2322" y="3532"/>
                    <a:pt x="-1831" y="11921"/>
                    <a:pt x="781" y="19657"/>
                  </a:cubicBezTo>
                  <a:lnTo>
                    <a:pt x="37296" y="127501"/>
                  </a:lnTo>
                  <a:cubicBezTo>
                    <a:pt x="39285" y="133396"/>
                    <a:pt x="44751" y="137414"/>
                    <a:pt x="50971" y="137554"/>
                  </a:cubicBezTo>
                  <a:lnTo>
                    <a:pt x="50971" y="181904"/>
                  </a:lnTo>
                  <a:lnTo>
                    <a:pt x="28796" y="292779"/>
                  </a:lnTo>
                  <a:lnTo>
                    <a:pt x="50971" y="292779"/>
                  </a:lnTo>
                  <a:lnTo>
                    <a:pt x="50971" y="418438"/>
                  </a:lnTo>
                  <a:lnTo>
                    <a:pt x="80537" y="418438"/>
                  </a:lnTo>
                  <a:lnTo>
                    <a:pt x="80537" y="292779"/>
                  </a:lnTo>
                  <a:lnTo>
                    <a:pt x="95321" y="292779"/>
                  </a:lnTo>
                  <a:lnTo>
                    <a:pt x="95321" y="418438"/>
                  </a:lnTo>
                  <a:lnTo>
                    <a:pt x="124887" y="418438"/>
                  </a:lnTo>
                  <a:lnTo>
                    <a:pt x="124887" y="292779"/>
                  </a:lnTo>
                  <a:lnTo>
                    <a:pt x="147062" y="292779"/>
                  </a:lnTo>
                  <a:lnTo>
                    <a:pt x="124887" y="181904"/>
                  </a:lnTo>
                  <a:lnTo>
                    <a:pt x="124887" y="137554"/>
                  </a:lnTo>
                  <a:cubicBezTo>
                    <a:pt x="131216" y="137539"/>
                    <a:pt x="136832" y="133497"/>
                    <a:pt x="138858" y="127501"/>
                  </a:cubicBezTo>
                  <a:lnTo>
                    <a:pt x="161846" y="59646"/>
                  </a:lnTo>
                  <a:lnTo>
                    <a:pt x="184834" y="127501"/>
                  </a:lnTo>
                  <a:cubicBezTo>
                    <a:pt x="186859" y="133497"/>
                    <a:pt x="192475" y="137539"/>
                    <a:pt x="198804" y="137554"/>
                  </a:cubicBezTo>
                  <a:lnTo>
                    <a:pt x="198804" y="418438"/>
                  </a:lnTo>
                  <a:lnTo>
                    <a:pt x="228371" y="418438"/>
                  </a:lnTo>
                  <a:lnTo>
                    <a:pt x="228371" y="248429"/>
                  </a:lnTo>
                  <a:lnTo>
                    <a:pt x="243154" y="248429"/>
                  </a:lnTo>
                  <a:lnTo>
                    <a:pt x="243154" y="418438"/>
                  </a:lnTo>
                  <a:lnTo>
                    <a:pt x="272721" y="418438"/>
                  </a:lnTo>
                  <a:lnTo>
                    <a:pt x="272721" y="137554"/>
                  </a:lnTo>
                  <a:cubicBezTo>
                    <a:pt x="279049" y="137539"/>
                    <a:pt x="284666" y="133497"/>
                    <a:pt x="286691" y="127501"/>
                  </a:cubicBezTo>
                  <a:lnTo>
                    <a:pt x="309679" y="59646"/>
                  </a:lnTo>
                  <a:lnTo>
                    <a:pt x="332667" y="127501"/>
                  </a:lnTo>
                  <a:cubicBezTo>
                    <a:pt x="334692" y="133497"/>
                    <a:pt x="340309" y="137539"/>
                    <a:pt x="346637" y="137554"/>
                  </a:cubicBezTo>
                  <a:lnTo>
                    <a:pt x="346637" y="181904"/>
                  </a:lnTo>
                  <a:lnTo>
                    <a:pt x="324462" y="292779"/>
                  </a:lnTo>
                  <a:lnTo>
                    <a:pt x="346637" y="292779"/>
                  </a:lnTo>
                  <a:lnTo>
                    <a:pt x="346637" y="418438"/>
                  </a:lnTo>
                  <a:lnTo>
                    <a:pt x="376204" y="418438"/>
                  </a:lnTo>
                  <a:lnTo>
                    <a:pt x="376204" y="292779"/>
                  </a:lnTo>
                  <a:lnTo>
                    <a:pt x="390987" y="292779"/>
                  </a:lnTo>
                  <a:lnTo>
                    <a:pt x="390987" y="418438"/>
                  </a:lnTo>
                  <a:lnTo>
                    <a:pt x="420554" y="418438"/>
                  </a:lnTo>
                  <a:lnTo>
                    <a:pt x="420554" y="292779"/>
                  </a:lnTo>
                  <a:lnTo>
                    <a:pt x="442729" y="292779"/>
                  </a:lnTo>
                  <a:lnTo>
                    <a:pt x="420554" y="181904"/>
                  </a:lnTo>
                  <a:lnTo>
                    <a:pt x="420554" y="137554"/>
                  </a:lnTo>
                  <a:cubicBezTo>
                    <a:pt x="426883" y="137539"/>
                    <a:pt x="432499" y="133497"/>
                    <a:pt x="434524" y="127501"/>
                  </a:cubicBezTo>
                  <a:lnTo>
                    <a:pt x="457512" y="59646"/>
                  </a:lnTo>
                  <a:lnTo>
                    <a:pt x="480500" y="127501"/>
                  </a:lnTo>
                  <a:cubicBezTo>
                    <a:pt x="482526" y="133497"/>
                    <a:pt x="488142" y="137539"/>
                    <a:pt x="494471" y="137554"/>
                  </a:cubicBezTo>
                  <a:lnTo>
                    <a:pt x="494471" y="418438"/>
                  </a:lnTo>
                  <a:lnTo>
                    <a:pt x="524037" y="418438"/>
                  </a:lnTo>
                  <a:lnTo>
                    <a:pt x="524037" y="248429"/>
                  </a:lnTo>
                  <a:lnTo>
                    <a:pt x="538821" y="248429"/>
                  </a:lnTo>
                  <a:lnTo>
                    <a:pt x="538821" y="418438"/>
                  </a:lnTo>
                  <a:lnTo>
                    <a:pt x="568387" y="418438"/>
                  </a:lnTo>
                  <a:lnTo>
                    <a:pt x="568387" y="137554"/>
                  </a:lnTo>
                  <a:cubicBezTo>
                    <a:pt x="574716" y="137539"/>
                    <a:pt x="580332" y="133497"/>
                    <a:pt x="582358" y="127501"/>
                  </a:cubicBezTo>
                  <a:lnTo>
                    <a:pt x="618873" y="19657"/>
                  </a:lnTo>
                  <a:cubicBezTo>
                    <a:pt x="621510" y="11930"/>
                    <a:pt x="617385" y="3528"/>
                    <a:pt x="609657" y="890"/>
                  </a:cubicBezTo>
                  <a:cubicBezTo>
                    <a:pt x="609649" y="888"/>
                    <a:pt x="609641" y="885"/>
                    <a:pt x="609633" y="882"/>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3922031" y="4598358"/>
            <a:ext cx="1713537" cy="1713542"/>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588380223"/>
      </p:ext>
    </p:extLst>
  </p:cSld>
  <p:clrMapOvr>
    <a:masterClrMapping/>
  </p:clrMapOvr>
</p:sld>
</file>

<file path=ppt/theme/theme1.xml><?xml version="1.0" encoding="utf-8"?>
<a:theme xmlns:a="http://schemas.openxmlformats.org/drawingml/2006/main" name="1_Office">
  <a:themeElements>
    <a:clrScheme name="WBS_Folienvorlage">
      <a:dk1>
        <a:srgbClr val="0071B2"/>
      </a:dk1>
      <a:lt1>
        <a:srgbClr val="D2E8F4"/>
      </a:lt1>
      <a:dk2>
        <a:srgbClr val="B2B2B2"/>
      </a:dk2>
      <a:lt2>
        <a:srgbClr val="EEEEEE"/>
      </a:lt2>
      <a:accent1>
        <a:srgbClr val="0071B2"/>
      </a:accent1>
      <a:accent2>
        <a:srgbClr val="FE5000"/>
      </a:accent2>
      <a:accent3>
        <a:srgbClr val="D2E8F4"/>
      </a:accent3>
      <a:accent4>
        <a:srgbClr val="EEEEEE"/>
      </a:accent4>
      <a:accent5>
        <a:srgbClr val="D9D9D9"/>
      </a:accent5>
      <a:accent6>
        <a:srgbClr val="B2B2B2"/>
      </a:accent6>
      <a:hlink>
        <a:srgbClr val="FE5000"/>
      </a:hlink>
      <a:folHlink>
        <a:srgbClr val="C000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2761</Words>
  <Application>Microsoft Office PowerPoint</Application>
  <PresentationFormat>Breitbild</PresentationFormat>
  <Paragraphs>509</Paragraphs>
  <Slides>39</Slides>
  <Notes>0</Notes>
  <HiddenSlides>0</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39</vt:i4>
      </vt:variant>
    </vt:vector>
  </HeadingPairs>
  <TitlesOfParts>
    <vt:vector size="46" baseType="lpstr">
      <vt:lpstr>Arial</vt:lpstr>
      <vt:lpstr>Calibri</vt:lpstr>
      <vt:lpstr>Courier New</vt:lpstr>
      <vt:lpstr>Source Sans Pro</vt:lpstr>
      <vt:lpstr>Symbol</vt:lpstr>
      <vt:lpstr>Wingdings</vt:lpstr>
      <vt:lpstr>1_Office</vt:lpstr>
      <vt:lpstr>Datenbanken und SQL</vt:lpstr>
      <vt:lpstr>Agenda</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Gemeinsame Übung („Live-Coding“) -&gt; A_04_01_01</vt:lpstr>
      <vt:lpstr>PowerPoint-Präsentation</vt:lpstr>
    </vt:vector>
  </TitlesOfParts>
  <Company>WBS TRAINING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Datenbanken und SQL</dc:title>
  <dc:creator>Max Muster01</dc:creator>
  <cp:lastModifiedBy>Andreas Passon</cp:lastModifiedBy>
  <cp:revision>812</cp:revision>
  <dcterms:created xsi:type="dcterms:W3CDTF">2022-02-01T13:48:14Z</dcterms:created>
  <dcterms:modified xsi:type="dcterms:W3CDTF">2023-11-27T20:05:36Z</dcterms:modified>
</cp:coreProperties>
</file>