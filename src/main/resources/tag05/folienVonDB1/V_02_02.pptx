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335" r:id="rId3"/>
    <p:sldId id="260" r:id="rId4"/>
    <p:sldId id="301" r:id="rId5"/>
    <p:sldId id="336" r:id="rId6"/>
    <p:sldId id="338" r:id="rId7"/>
    <p:sldId id="339" r:id="rId8"/>
    <p:sldId id="341" r:id="rId9"/>
    <p:sldId id="340" r:id="rId10"/>
    <p:sldId id="342" r:id="rId11"/>
    <p:sldId id="343" r:id="rId12"/>
    <p:sldId id="344" r:id="rId13"/>
    <p:sldId id="345" r:id="rId14"/>
    <p:sldId id="277" r:id="rId15"/>
    <p:sldId id="259"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0" d="100"/>
          <a:sy n="100" d="100"/>
        </p:scale>
        <p:origin x="150"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30.05.2022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30.05.2022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40227508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30.05.2022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14567726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26284083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7921015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30.05.2022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4087183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30.05.2022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2786703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30.05.2022</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smtClean="0">
                <a:latin typeface="Source Sans Pro" panose="020B0503030403020204" pitchFamily="34" charset="0"/>
              </a:rPr>
              <a:t>Datenbanken und SQL</a:t>
            </a:r>
            <a:endParaRPr lang="de-DE" sz="7200" b="1" dirty="0">
              <a:latin typeface="Source Sans Pro" panose="020B0503030403020204" pitchFamily="34" charset="0"/>
            </a:endParaRPr>
          </a:p>
        </p:txBody>
      </p:sp>
      <p:sp>
        <p:nvSpPr>
          <p:cNvPr id="6" name="Untertitel 5"/>
          <p:cNvSpPr>
            <a:spLocks noGrp="1"/>
          </p:cNvSpPr>
          <p:nvPr>
            <p:ph type="subTitle" idx="1"/>
          </p:nvPr>
        </p:nvSpPr>
        <p:spPr/>
        <p:txBody>
          <a:bodyPr/>
          <a:lstStyle/>
          <a:p>
            <a:pPr algn="ctr"/>
            <a:r>
              <a:rPr lang="de-DE" dirty="0" smtClean="0">
                <a:latin typeface="Source Sans Pro" panose="020B0503030403020204" pitchFamily="34" charset="0"/>
              </a:rPr>
              <a:t>(Woche 2 - Tag 2)</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smtClean="0">
                <a:latin typeface="Source Sans Pro" panose="020B0503030403020204" pitchFamily="34" charset="0"/>
              </a:rPr>
              <a:t>Agenda</a:t>
            </a:r>
            <a:endParaRPr lang="de-DE"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1047404" y="1465245"/>
            <a:ext cx="10713719" cy="3631763"/>
          </a:xfrm>
          <a:prstGeom prst="rect">
            <a:avLst/>
          </a:prstGeom>
          <a:noFill/>
        </p:spPr>
        <p:txBody>
          <a:bodyPr wrap="square" rtlCol="0">
            <a:spAutoFit/>
          </a:bodyPr>
          <a:lstStyle/>
          <a:p>
            <a:endParaRPr lang="de-DE" b="1" dirty="0" smtClean="0">
              <a:latin typeface="Source Sans Pro" panose="020B0503030403020204" pitchFamily="34" charset="0"/>
            </a:endParaRPr>
          </a:p>
          <a:p>
            <a:r>
              <a:rPr lang="de-DE" sz="2400" b="1" dirty="0">
                <a:latin typeface="Source Sans Pro" panose="020B0503030403020204" pitchFamily="34" charset="0"/>
              </a:rPr>
              <a:t>A</a:t>
            </a:r>
            <a:r>
              <a:rPr lang="de-DE" sz="2400" b="1" dirty="0" smtClean="0">
                <a:latin typeface="Source Sans Pro" panose="020B0503030403020204" pitchFamily="34" charset="0"/>
              </a:rPr>
              <a:t>LTER TABLE -&gt;</a:t>
            </a:r>
            <a:r>
              <a:rPr lang="de-DE" sz="2400" dirty="0" smtClean="0">
                <a:latin typeface="Source Sans Pro" panose="020B0503030403020204" pitchFamily="34" charset="0"/>
              </a:rPr>
              <a:t> Data Definition Language </a:t>
            </a:r>
            <a:r>
              <a:rPr lang="de-DE" sz="1600" dirty="0" smtClean="0">
                <a:latin typeface="Source Sans Pro" panose="020B0503030403020204" pitchFamily="34" charset="0"/>
              </a:rPr>
              <a:t>(Fortsetzung)</a:t>
            </a:r>
          </a:p>
          <a:p>
            <a:endParaRPr lang="de-DE" sz="800" b="1" dirty="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Definition</a:t>
            </a:r>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Motivation</a:t>
            </a:r>
          </a:p>
          <a:p>
            <a:pPr marL="742950" lvl="1" indent="-285750">
              <a:buFont typeface="Arial" panose="020B0604020202020204" pitchFamily="34" charset="0"/>
              <a:buChar char="•"/>
            </a:pPr>
            <a:r>
              <a:rPr lang="de-DE" sz="2000" dirty="0" smtClean="0">
                <a:latin typeface="Source Sans Pro" panose="020B0503030403020204" pitchFamily="34" charset="0"/>
              </a:rPr>
              <a:t>Syntax</a:t>
            </a:r>
            <a:endParaRPr lang="de-DE" sz="800" dirty="0"/>
          </a:p>
          <a:p>
            <a:pPr marL="1257300" lvl="2" indent="-342900">
              <a:buFont typeface="Wingdings" panose="05000000000000000000" pitchFamily="2" charset="2"/>
              <a:buChar char="Ø"/>
            </a:pPr>
            <a:r>
              <a:rPr lang="de-DE" sz="1600" dirty="0" smtClean="0">
                <a:latin typeface="Source Sans Pro" panose="020B0503030403020204" pitchFamily="34" charset="0"/>
              </a:rPr>
              <a:t>ADD</a:t>
            </a:r>
          </a:p>
          <a:p>
            <a:pPr marL="1714500" lvl="3" indent="-342900">
              <a:buFont typeface="Wingdings" panose="05000000000000000000" pitchFamily="2" charset="2"/>
              <a:buChar char="§"/>
            </a:pPr>
            <a:r>
              <a:rPr lang="de-DE" sz="1200" dirty="0" smtClean="0">
                <a:latin typeface="Source Sans Pro" panose="020B0503030403020204" pitchFamily="34" charset="0"/>
              </a:rPr>
              <a:t>Nichtschlüssel-Attribut</a:t>
            </a:r>
          </a:p>
          <a:p>
            <a:pPr marL="1714500" lvl="3" indent="-342900">
              <a:buFont typeface="Wingdings" panose="05000000000000000000" pitchFamily="2" charset="2"/>
              <a:buChar char="§"/>
            </a:pPr>
            <a:r>
              <a:rPr lang="de-DE" sz="1200" dirty="0" smtClean="0">
                <a:latin typeface="Source Sans Pro" panose="020B0503030403020204" pitchFamily="34" charset="0"/>
              </a:rPr>
              <a:t>Fremdschlüssel</a:t>
            </a:r>
          </a:p>
          <a:p>
            <a:pPr marL="1257300" lvl="2" indent="-342900">
              <a:buFont typeface="Wingdings" panose="05000000000000000000" pitchFamily="2" charset="2"/>
              <a:buChar char="Ø"/>
            </a:pPr>
            <a:r>
              <a:rPr lang="de-DE" sz="1600" dirty="0" smtClean="0">
                <a:latin typeface="Source Sans Pro" panose="020B0503030403020204" pitchFamily="34" charset="0"/>
              </a:rPr>
              <a:t>DROP</a:t>
            </a:r>
          </a:p>
          <a:p>
            <a:pPr marL="1714500" lvl="3" indent="-342900">
              <a:buFont typeface="Wingdings" panose="05000000000000000000" pitchFamily="2" charset="2"/>
              <a:buChar char="§"/>
            </a:pPr>
            <a:r>
              <a:rPr lang="de-DE" sz="1200" dirty="0">
                <a:latin typeface="Source Sans Pro" panose="020B0503030403020204" pitchFamily="34" charset="0"/>
              </a:rPr>
              <a:t>Nichtschlüssel-Attribut</a:t>
            </a:r>
          </a:p>
          <a:p>
            <a:pPr marL="1714500" lvl="3" indent="-342900">
              <a:buFont typeface="Wingdings" panose="05000000000000000000" pitchFamily="2" charset="2"/>
              <a:buChar char="§"/>
            </a:pPr>
            <a:r>
              <a:rPr lang="de-DE" sz="1200" dirty="0" smtClean="0">
                <a:latin typeface="Source Sans Pro" panose="020B0503030403020204" pitchFamily="34" charset="0"/>
              </a:rPr>
              <a:t>Fremdschlüssel</a:t>
            </a:r>
            <a:endParaRPr lang="de-DE" sz="1600" dirty="0" smtClean="0">
              <a:latin typeface="Source Sans Pro" panose="020B0503030403020204" pitchFamily="34" charset="0"/>
            </a:endParaRPr>
          </a:p>
          <a:p>
            <a:pPr marL="1257300" lvl="2" indent="-342900">
              <a:buFont typeface="Wingdings" panose="05000000000000000000" pitchFamily="2" charset="2"/>
              <a:buChar char="Ø"/>
            </a:pPr>
            <a:r>
              <a:rPr lang="de-DE" sz="1600" dirty="0" smtClean="0">
                <a:latin typeface="Source Sans Pro" panose="020B0503030403020204" pitchFamily="34" charset="0"/>
              </a:rPr>
              <a:t>CHANGE</a:t>
            </a:r>
          </a:p>
          <a:p>
            <a:pPr marL="1257300" lvl="2" indent="-342900">
              <a:buFont typeface="Wingdings" panose="05000000000000000000" pitchFamily="2" charset="2"/>
              <a:buChar char="Ø"/>
            </a:pPr>
            <a:r>
              <a:rPr lang="de-DE" sz="1600" dirty="0" smtClean="0">
                <a:latin typeface="Source Sans Pro" panose="020B0503030403020204" pitchFamily="34" charset="0"/>
              </a:rPr>
              <a:t>RENAME</a:t>
            </a:r>
          </a:p>
        </p:txBody>
      </p:sp>
    </p:spTree>
    <p:extLst>
      <p:ext uri="{BB962C8B-B14F-4D97-AF65-F5344CB8AC3E}">
        <p14:creationId xmlns:p14="http://schemas.microsoft.com/office/powerpoint/2010/main" val="2960352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DDL </a:t>
            </a:r>
            <a:r>
              <a:rPr lang="de-DE" sz="6000" dirty="0" smtClean="0">
                <a:latin typeface="Source Sans Pro" panose="020B0503030403020204" pitchFamily="34" charset="0"/>
              </a:rPr>
              <a:t>(Fortsetzung)</a:t>
            </a:r>
            <a:endParaRPr lang="de-DE" sz="60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1516464" cy="720725"/>
          </a:xfrm>
        </p:spPr>
        <p:txBody>
          <a:bodyPr>
            <a:normAutofit/>
          </a:bodyPr>
          <a:lstStyle/>
          <a:p>
            <a:r>
              <a:rPr lang="de-DE" dirty="0" smtClean="0">
                <a:latin typeface="Source Sans Pro" panose="020B0503030403020204" pitchFamily="34" charset="0"/>
              </a:rPr>
              <a:t>ALTER TABLE -&gt; </a:t>
            </a:r>
            <a:r>
              <a:rPr lang="de-DE" dirty="0" smtClean="0">
                <a:solidFill>
                  <a:schemeClr val="accent2"/>
                </a:solidFill>
                <a:latin typeface="Source Sans Pro" panose="020B0503030403020204" pitchFamily="34" charset="0"/>
              </a:rPr>
              <a:t>Definition</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2" y="1849819"/>
            <a:ext cx="10327917" cy="4154984"/>
          </a:xfrm>
          <a:prstGeom prst="rect">
            <a:avLst/>
          </a:prstGeom>
          <a:noFill/>
        </p:spPr>
        <p:txBody>
          <a:bodyPr wrap="square" rtlCol="0">
            <a:spAutoFit/>
          </a:bodyPr>
          <a:lstStyle/>
          <a:p>
            <a:pPr marL="342900" lvl="0" indent="-342900">
              <a:buFont typeface="Arial" panose="020B0604020202020204" pitchFamily="34" charset="0"/>
              <a:buChar char="•"/>
              <a:defRPr/>
            </a:pPr>
            <a:r>
              <a:rPr lang="de-DE" sz="2400" dirty="0" smtClean="0">
                <a:solidFill>
                  <a:srgbClr val="0071B2"/>
                </a:solidFill>
                <a:latin typeface="Source Sans Pro" panose="020B0503030403020204" pitchFamily="34" charset="0"/>
              </a:rPr>
              <a:t>„ALTER TABLE“ ist der </a:t>
            </a:r>
            <a:r>
              <a:rPr lang="de-DE" sz="2400" b="1" dirty="0" smtClean="0">
                <a:solidFill>
                  <a:srgbClr val="0071B2"/>
                </a:solidFill>
                <a:latin typeface="Source Sans Pro" panose="020B0503030403020204" pitchFamily="34" charset="0"/>
              </a:rPr>
              <a:t>Oberbegriff</a:t>
            </a:r>
            <a:r>
              <a:rPr lang="de-DE" sz="2400" dirty="0" smtClean="0">
                <a:solidFill>
                  <a:srgbClr val="0071B2"/>
                </a:solidFill>
                <a:latin typeface="Source Sans Pro" panose="020B0503030403020204" pitchFamily="34" charset="0"/>
              </a:rPr>
              <a:t> für eine ganze Reihe von Befehlen mit deren Hilfe Tabellen (nachträglich) verändert werden können.</a:t>
            </a:r>
          </a:p>
          <a:p>
            <a:pPr lvl="0">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Da auf diese Weise die Struktur (bzw. Definition) des Datenbankschemas verändert wird, zählen diese Befehle zur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DDL</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(Data Definition Language).</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Folgende </a:t>
            </a:r>
            <a:r>
              <a:rPr lang="de-DE" sz="2400" b="1" dirty="0" smtClean="0">
                <a:solidFill>
                  <a:srgbClr val="0071B2"/>
                </a:solidFill>
                <a:latin typeface="Source Sans Pro" panose="020B0503030403020204" pitchFamily="34" charset="0"/>
              </a:rPr>
              <a:t>Veränderungen</a:t>
            </a:r>
            <a:r>
              <a:rPr lang="de-DE" sz="2400" dirty="0" smtClean="0">
                <a:solidFill>
                  <a:srgbClr val="0071B2"/>
                </a:solidFill>
                <a:latin typeface="Source Sans Pro" panose="020B0503030403020204" pitchFamily="34" charset="0"/>
              </a:rPr>
              <a:t> werden wir kennen lernen:</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800100" lvl="1" indent="-342900">
              <a:buFont typeface="Wingdings" panose="05000000000000000000" pitchFamily="2" charset="2"/>
              <a:buChar char="Ø"/>
              <a:defRPr/>
            </a:pP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Hinzufügen eines neuen Attributs</a:t>
            </a:r>
          </a:p>
          <a:p>
            <a:pPr marL="800100" lvl="1" indent="-342900">
              <a:buFont typeface="Wingdings" panose="05000000000000000000" pitchFamily="2" charset="2"/>
              <a:buChar char="Ø"/>
              <a:defRPr/>
            </a:pPr>
            <a:r>
              <a:rPr lang="de-DE" dirty="0">
                <a:solidFill>
                  <a:srgbClr val="0071B2"/>
                </a:solidFill>
                <a:latin typeface="Source Sans Pro" panose="020B0503030403020204" pitchFamily="34" charset="0"/>
              </a:rPr>
              <a:t>Ä</a:t>
            </a:r>
            <a:r>
              <a:rPr lang="de-DE" dirty="0" smtClean="0">
                <a:solidFill>
                  <a:srgbClr val="0071B2"/>
                </a:solidFill>
                <a:latin typeface="Source Sans Pro" panose="020B0503030403020204" pitchFamily="34" charset="0"/>
              </a:rPr>
              <a:t>ndern eines bestehenden Attributs</a:t>
            </a:r>
          </a:p>
          <a:p>
            <a:pPr marL="800100" lvl="1" indent="-342900">
              <a:buFont typeface="Wingdings" panose="05000000000000000000" pitchFamily="2" charset="2"/>
              <a:buChar char="Ø"/>
              <a:defRPr/>
            </a:pPr>
            <a:r>
              <a:rPr lang="de-DE" dirty="0" smtClean="0">
                <a:solidFill>
                  <a:srgbClr val="0071B2"/>
                </a:solidFill>
                <a:latin typeface="Source Sans Pro" panose="020B0503030403020204" pitchFamily="34" charset="0"/>
              </a:rPr>
              <a:t>Löschen </a:t>
            </a:r>
            <a:r>
              <a:rPr lang="de-DE" dirty="0">
                <a:solidFill>
                  <a:srgbClr val="0071B2"/>
                </a:solidFill>
                <a:latin typeface="Source Sans Pro" panose="020B0503030403020204" pitchFamily="34" charset="0"/>
              </a:rPr>
              <a:t>eines bestehenden </a:t>
            </a:r>
            <a:r>
              <a:rPr lang="de-DE" dirty="0" smtClean="0">
                <a:solidFill>
                  <a:srgbClr val="0071B2"/>
                </a:solidFill>
                <a:latin typeface="Source Sans Pro" panose="020B0503030403020204" pitchFamily="34" charset="0"/>
              </a:rPr>
              <a:t>Attributs</a:t>
            </a:r>
          </a:p>
          <a:p>
            <a:pPr marL="800100" lvl="1" indent="-342900">
              <a:buFont typeface="Wingdings" panose="05000000000000000000" pitchFamily="2" charset="2"/>
              <a:buChar char="Ø"/>
              <a:defRPr/>
            </a:pPr>
            <a:r>
              <a:rPr lang="de-DE" dirty="0" smtClean="0">
                <a:solidFill>
                  <a:srgbClr val="0071B2"/>
                </a:solidFill>
                <a:latin typeface="Source Sans Pro" panose="020B0503030403020204" pitchFamily="34" charset="0"/>
              </a:rPr>
              <a:t>Ändern eines Tabellennamens</a:t>
            </a:r>
            <a:endParaRPr lang="de-DE"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93510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1516464" cy="720725"/>
          </a:xfrm>
        </p:spPr>
        <p:txBody>
          <a:bodyPr>
            <a:normAutofit/>
          </a:bodyPr>
          <a:lstStyle/>
          <a:p>
            <a:r>
              <a:rPr lang="de-DE" dirty="0" smtClean="0">
                <a:latin typeface="Source Sans Pro" panose="020B0503030403020204" pitchFamily="34" charset="0"/>
              </a:rPr>
              <a:t>ALTER TABLE -&gt; </a:t>
            </a:r>
            <a:r>
              <a:rPr lang="de-DE" dirty="0" smtClean="0">
                <a:solidFill>
                  <a:schemeClr val="accent2"/>
                </a:solidFill>
                <a:latin typeface="Source Sans Pro" panose="020B0503030403020204" pitchFamily="34" charset="0"/>
              </a:rPr>
              <a:t>Motivation</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94596" y="2136793"/>
            <a:ext cx="10768493" cy="3293209"/>
          </a:xfrm>
          <a:prstGeom prst="rect">
            <a:avLst/>
          </a:prstGeom>
          <a:noFill/>
        </p:spPr>
        <p:txBody>
          <a:bodyPr wrap="square" rtlCol="0">
            <a:spAutoFit/>
          </a:bodyPr>
          <a:lstStyle/>
          <a:p>
            <a:pPr marL="342900" lvl="0" indent="-342900">
              <a:buFont typeface="Arial" panose="020B0604020202020204" pitchFamily="34" charset="0"/>
              <a:buChar char="•"/>
              <a:defRPr/>
            </a:pPr>
            <a:r>
              <a:rPr lang="de-DE" sz="2400" dirty="0" smtClean="0">
                <a:solidFill>
                  <a:srgbClr val="0071B2"/>
                </a:solidFill>
                <a:latin typeface="Source Sans Pro" panose="020B0503030403020204" pitchFamily="34" charset="0"/>
              </a:rPr>
              <a:t>Falls die mittels „CREATE TABLE“ erstellten Tabellen fehlerhaft sind, können wir sie mit Hilfe von „ALTER TABLE“ entsprechend </a:t>
            </a:r>
            <a:r>
              <a:rPr lang="de-DE" sz="2400" b="1" dirty="0" smtClean="0">
                <a:solidFill>
                  <a:srgbClr val="0071B2"/>
                </a:solidFill>
                <a:latin typeface="Source Sans Pro" panose="020B0503030403020204" pitchFamily="34" charset="0"/>
              </a:rPr>
              <a:t>korrigieren</a:t>
            </a:r>
            <a:r>
              <a:rPr lang="de-DE" sz="2400" dirty="0" smtClean="0">
                <a:solidFill>
                  <a:srgbClr val="0071B2"/>
                </a:solidFill>
                <a:latin typeface="Source Sans Pro" panose="020B0503030403020204" pitchFamily="34" charset="0"/>
              </a:rPr>
              <a:t>.</a:t>
            </a:r>
          </a:p>
          <a:p>
            <a:pPr lvl="0">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Ferner könnte es notwendig werden, ein ursprünglich korrekt erstelltes Schema im Laufe der Zeit zu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aktualisieren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Darüber hinaus werden wir Situationen kennen lernen, in denen</a:t>
            </a:r>
            <a:r>
              <a:rPr lang="de-DE" sz="1600" dirty="0" smtClean="0">
                <a:solidFill>
                  <a:srgbClr val="0071B2"/>
                </a:solidFill>
                <a:latin typeface="Source Sans Pro" panose="020B0503030403020204" pitchFamily="34" charset="0"/>
              </a:rPr>
              <a:t> (zumindest im Falle einer aktivierten Fremdschlüsselüberprüfung) </a:t>
            </a:r>
            <a:r>
              <a:rPr lang="de-DE" sz="2400" dirty="0" smtClean="0">
                <a:solidFill>
                  <a:srgbClr val="0071B2"/>
                </a:solidFill>
                <a:latin typeface="Source Sans Pro" panose="020B0503030403020204" pitchFamily="34" charset="0"/>
              </a:rPr>
              <a:t>ein Einsatz von „ALTER TABLE“ </a:t>
            </a:r>
            <a:r>
              <a:rPr lang="de-DE" sz="2400" b="1" dirty="0" smtClean="0">
                <a:solidFill>
                  <a:srgbClr val="0071B2"/>
                </a:solidFill>
                <a:latin typeface="Source Sans Pro" panose="020B0503030403020204" pitchFamily="34" charset="0"/>
              </a:rPr>
              <a:t>unverzichtbar</a:t>
            </a:r>
            <a:r>
              <a:rPr lang="de-DE" sz="2400" dirty="0" smtClean="0">
                <a:solidFill>
                  <a:srgbClr val="0071B2"/>
                </a:solidFill>
                <a:latin typeface="Source Sans Pro" panose="020B0503030403020204" pitchFamily="34" charset="0"/>
              </a:rPr>
              <a:t> ist. </a:t>
            </a:r>
            <a:endParaRPr lang="de-DE"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78773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ALTER TABLE</a:t>
            </a:r>
            <a:endParaRPr lang="de-DE" sz="6000" dirty="0">
              <a:latin typeface="Source Sans Pro" panose="020B0503030403020204" pitchFamily="34" charset="0"/>
            </a:endParaRPr>
          </a:p>
        </p:txBody>
      </p:sp>
    </p:spTree>
    <p:extLst>
      <p:ext uri="{BB962C8B-B14F-4D97-AF65-F5344CB8AC3E}">
        <p14:creationId xmlns:p14="http://schemas.microsoft.com/office/powerpoint/2010/main" val="39322294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fontScale="90000"/>
          </a:bodyPr>
          <a:lstStyle/>
          <a:p>
            <a:r>
              <a:rPr lang="de-DE" sz="3200" dirty="0">
                <a:solidFill>
                  <a:srgbClr val="0071B2"/>
                </a:solidFill>
                <a:latin typeface="Source Sans Pro" panose="020B0503030403020204" pitchFamily="34" charset="0"/>
              </a:rPr>
              <a:t>ALTER TABLE </a:t>
            </a:r>
            <a:r>
              <a:rPr lang="de-DE" sz="3200" dirty="0" smtClean="0">
                <a:solidFill>
                  <a:srgbClr val="D2E8F4">
                    <a:lumMod val="75000"/>
                  </a:srgbClr>
                </a:solidFill>
                <a:latin typeface="Source Sans Pro" panose="020B0503030403020204" pitchFamily="34" charset="0"/>
              </a:rPr>
              <a:t>Tabellen-Name</a:t>
            </a:r>
            <a:r>
              <a:rPr lang="de-DE" sz="3200" dirty="0" smtClean="0">
                <a:solidFill>
                  <a:srgbClr val="0071B2"/>
                </a:solidFill>
                <a:latin typeface="Source Sans Pro" panose="020B0503030403020204" pitchFamily="34" charset="0"/>
              </a:rPr>
              <a:t> </a:t>
            </a:r>
            <a:r>
              <a:rPr lang="de-DE" sz="3200" dirty="0">
                <a:solidFill>
                  <a:srgbClr val="FE5000"/>
                </a:solidFill>
                <a:latin typeface="Source Sans Pro" panose="020B0503030403020204" pitchFamily="34" charset="0"/>
              </a:rPr>
              <a:t>ADD </a:t>
            </a:r>
            <a:r>
              <a:rPr lang="de-DE" sz="3200" dirty="0" smtClean="0">
                <a:solidFill>
                  <a:srgbClr val="FE5000">
                    <a:lumMod val="50000"/>
                  </a:srgbClr>
                </a:solidFill>
                <a:latin typeface="Source Sans Pro" panose="020B0503030403020204" pitchFamily="34" charset="0"/>
              </a:rPr>
              <a:t>Attribut-Name</a:t>
            </a:r>
            <a:r>
              <a:rPr lang="de-DE" sz="3200" dirty="0" smtClean="0">
                <a:solidFill>
                  <a:srgbClr val="FE5000"/>
                </a:solidFill>
                <a:latin typeface="Source Sans Pro" panose="020B0503030403020204" pitchFamily="34" charset="0"/>
              </a:rPr>
              <a:t> </a:t>
            </a:r>
            <a:r>
              <a:rPr lang="de-DE" sz="3200" dirty="0">
                <a:solidFill>
                  <a:srgbClr val="FE5000">
                    <a:lumMod val="75000"/>
                  </a:srgbClr>
                </a:solidFill>
                <a:latin typeface="Source Sans Pro" panose="020B0503030403020204" pitchFamily="34" charset="0"/>
              </a:rPr>
              <a:t>Definition</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543745" y="2366618"/>
            <a:ext cx="10810054" cy="1077218"/>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Um in der Tabelle „Kunde“ (z.B.) das </a:t>
            </a:r>
            <a:r>
              <a:rPr kumimoji="0" lang="de-DE" sz="16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neue Attribut „Anrede“ </a:t>
            </a: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hinzuzufügen, verwenden</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wir den folgenden Befehl:</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3200" b="1" baseline="0" dirty="0" smtClean="0">
                <a:solidFill>
                  <a:srgbClr val="0071B2"/>
                </a:solidFill>
                <a:latin typeface="Source Sans Pro" panose="020B0503030403020204" pitchFamily="34" charset="0"/>
              </a:rPr>
              <a:t> ALTER TABLE </a:t>
            </a:r>
            <a:r>
              <a:rPr lang="de-DE" sz="3200" dirty="0" smtClean="0">
                <a:solidFill>
                  <a:schemeClr val="accent3">
                    <a:lumMod val="75000"/>
                  </a:schemeClr>
                </a:solidFill>
                <a:latin typeface="Source Sans Pro" panose="020B0503030403020204" pitchFamily="34" charset="0"/>
              </a:rPr>
              <a:t>Kunde</a:t>
            </a:r>
            <a:r>
              <a:rPr lang="de-DE" sz="3200" dirty="0" smtClean="0">
                <a:solidFill>
                  <a:srgbClr val="0071B2"/>
                </a:solidFill>
                <a:latin typeface="Source Sans Pro" panose="020B0503030403020204" pitchFamily="34" charset="0"/>
              </a:rPr>
              <a:t> </a:t>
            </a:r>
            <a:r>
              <a:rPr lang="de-DE" sz="3200" b="1" dirty="0" smtClean="0">
                <a:solidFill>
                  <a:schemeClr val="accent2"/>
                </a:solidFill>
                <a:latin typeface="Source Sans Pro" panose="020B0503030403020204" pitchFamily="34" charset="0"/>
              </a:rPr>
              <a:t>ADD</a:t>
            </a:r>
            <a:r>
              <a:rPr lang="de-DE" sz="3200" b="1" dirty="0" smtClean="0">
                <a:solidFill>
                  <a:srgbClr val="0071B2"/>
                </a:solidFill>
                <a:latin typeface="Source Sans Pro" panose="020B0503030403020204" pitchFamily="34" charset="0"/>
              </a:rPr>
              <a:t> </a:t>
            </a:r>
            <a:r>
              <a:rPr lang="de-DE" sz="3200" dirty="0" smtClean="0">
                <a:solidFill>
                  <a:schemeClr val="accent2">
                    <a:lumMod val="50000"/>
                  </a:schemeClr>
                </a:solidFill>
                <a:latin typeface="Source Sans Pro" panose="020B0503030403020204" pitchFamily="34" charset="0"/>
              </a:rPr>
              <a:t>Anrede</a:t>
            </a:r>
            <a:r>
              <a:rPr lang="de-DE" sz="3200" b="1" dirty="0" smtClean="0">
                <a:solidFill>
                  <a:srgbClr val="0071B2"/>
                </a:solidFill>
                <a:latin typeface="Source Sans Pro" panose="020B0503030403020204" pitchFamily="34" charset="0"/>
              </a:rPr>
              <a:t> </a:t>
            </a:r>
            <a:r>
              <a:rPr lang="de-DE" sz="3200" b="1" dirty="0" smtClean="0">
                <a:solidFill>
                  <a:schemeClr val="accent2">
                    <a:lumMod val="75000"/>
                  </a:schemeClr>
                </a:solidFill>
                <a:latin typeface="Source Sans Pro" panose="020B0503030403020204" pitchFamily="34" charset="0"/>
              </a:rPr>
              <a:t>VARCHAR(255) NOT NULL </a:t>
            </a:r>
            <a:r>
              <a:rPr lang="de-DE" sz="3200" b="1" dirty="0" smtClean="0">
                <a:solidFill>
                  <a:srgbClr val="0071B2"/>
                </a:solidFill>
                <a:latin typeface="Source Sans Pro" panose="020B0503030403020204" pitchFamily="34" charset="0"/>
              </a:rPr>
              <a:t>;</a:t>
            </a:r>
            <a:endPar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06311" y="4313775"/>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smtClean="0">
                <a:solidFill>
                  <a:schemeClr val="tx1"/>
                </a:solidFill>
              </a:rPr>
              <a:t>Der durch die </a:t>
            </a:r>
            <a:r>
              <a:rPr lang="de-DE" sz="2000" b="1" dirty="0" smtClean="0">
                <a:solidFill>
                  <a:schemeClr val="tx1"/>
                </a:solidFill>
              </a:rPr>
              <a:t>geschweifte Klammer </a:t>
            </a:r>
            <a:r>
              <a:rPr lang="de-DE" sz="2000" dirty="0" smtClean="0">
                <a:solidFill>
                  <a:schemeClr val="tx1"/>
                </a:solidFill>
              </a:rPr>
              <a:t>markierte Bereich entspricht </a:t>
            </a:r>
            <a:r>
              <a:rPr lang="de-DE" sz="2000" b="1" dirty="0" smtClean="0">
                <a:solidFill>
                  <a:schemeClr val="accent2"/>
                </a:solidFill>
              </a:rPr>
              <a:t>exakt jener Syntax</a:t>
            </a:r>
            <a:r>
              <a:rPr lang="de-DE" sz="2000" dirty="0" smtClean="0">
                <a:solidFill>
                  <a:schemeClr val="tx1"/>
                </a:solidFill>
              </a:rPr>
              <a:t>,</a:t>
            </a:r>
          </a:p>
          <a:p>
            <a:pPr algn="ctr"/>
            <a:r>
              <a:rPr lang="de-DE" sz="2000" dirty="0" smtClean="0">
                <a:solidFill>
                  <a:schemeClr val="tx1"/>
                </a:solidFill>
              </a:rPr>
              <a:t>die verwendet worden wäre, hätte man dieses Attribut bereits von Beginn an</a:t>
            </a:r>
          </a:p>
          <a:p>
            <a:pPr algn="ctr"/>
            <a:r>
              <a:rPr lang="de-DE" sz="2000" dirty="0">
                <a:solidFill>
                  <a:schemeClr val="tx1"/>
                </a:solidFill>
              </a:rPr>
              <a:t>b</a:t>
            </a:r>
            <a:r>
              <a:rPr lang="de-DE" sz="2000" dirty="0" smtClean="0">
                <a:solidFill>
                  <a:schemeClr val="tx1"/>
                </a:solidFill>
              </a:rPr>
              <a:t>ei der Implementierung der Tabelle mittels „</a:t>
            </a:r>
            <a:r>
              <a:rPr lang="de-DE" sz="2000" b="1" dirty="0" smtClean="0">
                <a:solidFill>
                  <a:schemeClr val="tx1"/>
                </a:solidFill>
              </a:rPr>
              <a:t>CREATE TABLE </a:t>
            </a:r>
            <a:r>
              <a:rPr lang="de-DE" sz="2000" dirty="0" smtClean="0">
                <a:solidFill>
                  <a:schemeClr val="tx1"/>
                </a:solidFill>
              </a:rPr>
              <a:t>Kunde“ erzeugt.</a:t>
            </a:r>
          </a:p>
          <a:p>
            <a:pPr algn="ctr"/>
            <a:endParaRPr lang="de-DE" sz="1200" dirty="0">
              <a:solidFill>
                <a:schemeClr val="tx1"/>
              </a:solidFill>
            </a:endParaRPr>
          </a:p>
        </p:txBody>
      </p:sp>
      <p:sp>
        <p:nvSpPr>
          <p:cNvPr id="3" name="Geschweifte Klammer rechts 2"/>
          <p:cNvSpPr/>
          <p:nvPr/>
        </p:nvSpPr>
        <p:spPr>
          <a:xfrm rot="5400000">
            <a:off x="7978371" y="305190"/>
            <a:ext cx="203200" cy="5902038"/>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Tree>
    <p:extLst>
      <p:ext uri="{BB962C8B-B14F-4D97-AF65-F5344CB8AC3E}">
        <p14:creationId xmlns:p14="http://schemas.microsoft.com/office/powerpoint/2010/main" val="266348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0793260" cy="720725"/>
          </a:xfrm>
        </p:spPr>
        <p:txBody>
          <a:bodyPr>
            <a:noAutofit/>
          </a:bodyPr>
          <a:lstStyle/>
          <a:p>
            <a:r>
              <a:rPr lang="de-DE" sz="3200" dirty="0">
                <a:latin typeface="Source Sans Pro" panose="020B0503030403020204" pitchFamily="34" charset="0"/>
              </a:rPr>
              <a:t>ALTER TABLE </a:t>
            </a:r>
            <a:r>
              <a:rPr lang="de-DE" sz="3200" dirty="0" smtClean="0">
                <a:latin typeface="Source Sans Pro" panose="020B0503030403020204" pitchFamily="34" charset="0"/>
              </a:rPr>
              <a:t>Tabellen-Name </a:t>
            </a:r>
            <a:r>
              <a:rPr lang="de-DE" sz="3200" dirty="0">
                <a:latin typeface="Source Sans Pro" panose="020B0503030403020204" pitchFamily="34" charset="0"/>
              </a:rPr>
              <a:t>ADD </a:t>
            </a:r>
            <a:r>
              <a:rPr lang="de-DE" sz="3200" dirty="0" smtClean="0">
                <a:solidFill>
                  <a:srgbClr val="FE5000"/>
                </a:solidFill>
                <a:latin typeface="Source Sans Pro" panose="020B0503030403020204" pitchFamily="34" charset="0"/>
              </a:rPr>
              <a:t>Fremdschlüssel</a:t>
            </a:r>
            <a:r>
              <a:rPr lang="de-DE" sz="3200" dirty="0" smtClean="0">
                <a:latin typeface="Source Sans Pro" panose="020B0503030403020204" pitchFamily="34" charset="0"/>
              </a:rPr>
              <a:t>-Attribut</a:t>
            </a:r>
            <a:endParaRPr lang="de-DE" sz="32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543744" y="1427279"/>
            <a:ext cx="11094073" cy="341632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beweisen Phantasie ;-) und behaupten, dass wir jedem Produkt </a:t>
            </a:r>
            <a:r>
              <a:rPr kumimoji="0" lang="de-DE" sz="16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höchstens 1 </a:t>
            </a: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Kunden zuordnen können, der dieses Produkt erfunden</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hat. Da jeder Kunde auch </a:t>
            </a:r>
            <a:r>
              <a:rPr kumimoji="0" lang="de-DE" sz="16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mehrere</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Produkte erfunden haben könnte, bestünde dann eine </a:t>
            </a:r>
            <a:r>
              <a:rPr kumimoji="0" lang="de-DE" sz="16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1:n-Beziehung</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zwischen Kunde und Produkt . Entsprechend müsste zur Tabelle </a:t>
            </a:r>
            <a:r>
              <a:rPr kumimoji="0" lang="de-DE" sz="1600" b="1" i="0" u="none" strike="noStrike" kern="1200" cap="none" spc="0" normalizeH="0" noProof="0" dirty="0" smtClean="0">
                <a:ln>
                  <a:noFill/>
                </a:ln>
                <a:solidFill>
                  <a:schemeClr val="accent3">
                    <a:lumMod val="75000"/>
                  </a:schemeClr>
                </a:solidFill>
                <a:effectLst/>
                <a:uLnTx/>
                <a:uFillTx/>
                <a:latin typeface="Source Sans Pro" panose="020B0503030403020204" pitchFamily="34" charset="0"/>
                <a:ea typeface="+mn-ea"/>
                <a:cs typeface="+mn-cs"/>
              </a:rPr>
              <a:t>Produkt</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zunächst das Attribut </a:t>
            </a:r>
            <a:r>
              <a:rPr kumimoji="0" lang="de-DE" sz="1600" b="1"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n-ea"/>
                <a:cs typeface="+mn-cs"/>
              </a:rPr>
              <a:t>Kunde_ID</a:t>
            </a:r>
            <a:r>
              <a:rPr kumimoji="0" lang="de-DE" sz="16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1600" b="1" i="0" u="none" strike="noStrike" kern="1200" cap="none" spc="0" normalizeH="0" noProof="0" dirty="0" smtClean="0">
                <a:ln>
                  <a:noFill/>
                </a:ln>
                <a:solidFill>
                  <a:schemeClr val="accent2"/>
                </a:solidFill>
                <a:effectLst/>
                <a:uLnTx/>
                <a:uFillTx/>
                <a:latin typeface="Source Sans Pro" panose="020B0503030403020204" pitchFamily="34" charset="0"/>
                <a:ea typeface="+mn-ea"/>
                <a:cs typeface="+mn-cs"/>
              </a:rPr>
              <a:t>hinzugefügt</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werden:</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3200" b="1" baseline="0" dirty="0" smtClean="0">
                <a:solidFill>
                  <a:srgbClr val="0071B2"/>
                </a:solidFill>
                <a:latin typeface="Source Sans Pro" panose="020B0503030403020204" pitchFamily="34" charset="0"/>
              </a:rPr>
              <a:t> ALTER TABLE </a:t>
            </a:r>
            <a:r>
              <a:rPr lang="de-DE" sz="3200" dirty="0" smtClean="0">
                <a:solidFill>
                  <a:schemeClr val="accent3">
                    <a:lumMod val="75000"/>
                  </a:schemeClr>
                </a:solidFill>
                <a:latin typeface="Source Sans Pro" panose="020B0503030403020204" pitchFamily="34" charset="0"/>
              </a:rPr>
              <a:t>Produkt</a:t>
            </a:r>
            <a:r>
              <a:rPr lang="de-DE" sz="3200" dirty="0" smtClean="0">
                <a:solidFill>
                  <a:srgbClr val="0071B2"/>
                </a:solidFill>
                <a:latin typeface="Source Sans Pro" panose="020B0503030403020204" pitchFamily="34" charset="0"/>
              </a:rPr>
              <a:t> </a:t>
            </a:r>
            <a:r>
              <a:rPr lang="de-DE" sz="3200" b="1" dirty="0" smtClean="0">
                <a:solidFill>
                  <a:schemeClr val="accent2"/>
                </a:solidFill>
                <a:latin typeface="Source Sans Pro" panose="020B0503030403020204" pitchFamily="34" charset="0"/>
              </a:rPr>
              <a:t>ADD</a:t>
            </a:r>
            <a:r>
              <a:rPr lang="de-DE" sz="3200" b="1" dirty="0" smtClean="0">
                <a:solidFill>
                  <a:srgbClr val="0071B2"/>
                </a:solidFill>
                <a:latin typeface="Source Sans Pro" panose="020B0503030403020204" pitchFamily="34" charset="0"/>
              </a:rPr>
              <a:t> </a:t>
            </a:r>
            <a:r>
              <a:rPr lang="de-DE" sz="3200" dirty="0" smtClean="0">
                <a:solidFill>
                  <a:schemeClr val="accent2">
                    <a:lumMod val="50000"/>
                  </a:schemeClr>
                </a:solidFill>
                <a:latin typeface="Source Sans Pro" panose="020B0503030403020204" pitchFamily="34" charset="0"/>
              </a:rPr>
              <a:t>Kunde_ID</a:t>
            </a:r>
            <a:r>
              <a:rPr lang="de-DE" sz="3200" b="1" dirty="0" smtClean="0">
                <a:solidFill>
                  <a:srgbClr val="0071B2"/>
                </a:solidFill>
                <a:latin typeface="Source Sans Pro" panose="020B0503030403020204" pitchFamily="34" charset="0"/>
              </a:rPr>
              <a:t> </a:t>
            </a:r>
            <a:r>
              <a:rPr lang="de-DE" sz="3200" b="1" dirty="0" smtClean="0">
                <a:solidFill>
                  <a:schemeClr val="accent2">
                    <a:lumMod val="75000"/>
                  </a:schemeClr>
                </a:solidFill>
                <a:latin typeface="Source Sans Pro" panose="020B0503030403020204" pitchFamily="34" charset="0"/>
              </a:rPr>
              <a:t>INT(11) </a:t>
            </a:r>
            <a:r>
              <a:rPr lang="de-DE" sz="3200" b="1" dirty="0" smtClean="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3200" b="1" i="0" u="none" strike="noStrike" kern="1200" cap="none" spc="0" normalizeH="0" baseline="0" noProof="0" dirty="0">
              <a:ln>
                <a:noFill/>
              </a:ln>
              <a:solidFill>
                <a:srgbClr val="0071B2"/>
              </a:solidFill>
              <a:effectLst/>
              <a:uLnTx/>
              <a:uFillTx/>
              <a:latin typeface="Source Sans Pro" panose="020B0503030403020204" pitchFamily="34" charset="0"/>
            </a:endParaRPr>
          </a:p>
          <a:p>
            <a:pPr lvl="0">
              <a:defRPr/>
            </a:pPr>
            <a:r>
              <a:rPr lang="de-DE" sz="1600" dirty="0" smtClean="0">
                <a:solidFill>
                  <a:srgbClr val="0071B2"/>
                </a:solidFill>
                <a:latin typeface="Source Sans Pro" panose="020B0503030403020204" pitchFamily="34" charset="0"/>
              </a:rPr>
              <a:t>Anschließend muss dann aber auch noch mitgeteilt werden, dass </a:t>
            </a:r>
            <a:r>
              <a:rPr lang="de-DE" sz="1600" dirty="0" smtClean="0">
                <a:latin typeface="Source Sans Pro" panose="020B0503030403020204" pitchFamily="34" charset="0"/>
              </a:rPr>
              <a:t>das Attribut </a:t>
            </a:r>
            <a:r>
              <a:rPr lang="de-DE" sz="1600" b="1" dirty="0" smtClean="0">
                <a:solidFill>
                  <a:schemeClr val="accent3">
                    <a:lumMod val="75000"/>
                  </a:schemeClr>
                </a:solidFill>
                <a:latin typeface="Source Sans Pro" panose="020B0503030403020204" pitchFamily="34" charset="0"/>
              </a:rPr>
              <a:t>Kunde_ID </a:t>
            </a:r>
            <a:r>
              <a:rPr lang="de-DE" sz="1600" dirty="0" smtClean="0">
                <a:solidFill>
                  <a:srgbClr val="0071B2"/>
                </a:solidFill>
                <a:latin typeface="Source Sans Pro" panose="020B0503030403020204" pitchFamily="34" charset="0"/>
              </a:rPr>
              <a:t>auf die Tabelle </a:t>
            </a:r>
            <a:r>
              <a:rPr lang="de-DE" sz="1600" b="1" dirty="0" smtClean="0">
                <a:solidFill>
                  <a:srgbClr val="0071B2"/>
                </a:solidFill>
                <a:latin typeface="Source Sans Pro" panose="020B0503030403020204" pitchFamily="34" charset="0"/>
              </a:rPr>
              <a:t>Kunde</a:t>
            </a:r>
            <a:r>
              <a:rPr lang="de-DE" sz="1600" dirty="0" smtClean="0">
                <a:solidFill>
                  <a:srgbClr val="0071B2"/>
                </a:solidFill>
                <a:latin typeface="Source Sans Pro" panose="020B0503030403020204" pitchFamily="34" charset="0"/>
              </a:rPr>
              <a:t> referenziert:</a:t>
            </a:r>
            <a:endParaRPr lang="de-DE" sz="800" dirty="0">
              <a:solidFill>
                <a:srgbClr val="0071B2"/>
              </a:solidFill>
              <a:latin typeface="Source Sans Pro" panose="020B0503030403020204" pitchFamily="34" charset="0"/>
            </a:endParaRPr>
          </a:p>
          <a:p>
            <a:pPr lvl="0">
              <a:defRPr/>
            </a:pPr>
            <a:r>
              <a:rPr lang="de-DE" sz="3200" b="1"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ALTER TABLE </a:t>
            </a:r>
            <a:r>
              <a:rPr lang="de-DE" sz="2000" dirty="0" smtClean="0">
                <a:solidFill>
                  <a:srgbClr val="D2E8F4">
                    <a:lumMod val="75000"/>
                  </a:srgbClr>
                </a:solidFill>
                <a:latin typeface="Source Sans Pro" panose="020B0503030403020204" pitchFamily="34" charset="0"/>
              </a:rPr>
              <a:t>Produkt</a:t>
            </a:r>
            <a:r>
              <a:rPr lang="de-DE" sz="2000" dirty="0" smtClean="0">
                <a:solidFill>
                  <a:srgbClr val="0071B2"/>
                </a:solidFill>
                <a:latin typeface="Source Sans Pro" panose="020B0503030403020204" pitchFamily="34" charset="0"/>
              </a:rPr>
              <a:t> </a:t>
            </a:r>
            <a:r>
              <a:rPr lang="de-DE" sz="2000" b="1" dirty="0">
                <a:solidFill>
                  <a:srgbClr val="FE5000"/>
                </a:solidFill>
                <a:latin typeface="Source Sans Pro" panose="020B0503030403020204" pitchFamily="34" charset="0"/>
              </a:rPr>
              <a:t>ADD</a:t>
            </a:r>
            <a:r>
              <a:rPr lang="de-DE" sz="2000" b="1" dirty="0">
                <a:solidFill>
                  <a:srgbClr val="0071B2"/>
                </a:solidFill>
                <a:latin typeface="Source Sans Pro" panose="020B0503030403020204" pitchFamily="34" charset="0"/>
              </a:rPr>
              <a:t> </a:t>
            </a:r>
            <a:r>
              <a:rPr lang="de-DE" sz="2000" b="1" dirty="0" smtClean="0">
                <a:solidFill>
                  <a:srgbClr val="FE5000">
                    <a:lumMod val="50000"/>
                  </a:srgbClr>
                </a:solidFill>
                <a:latin typeface="Source Sans Pro" panose="020B0503030403020204" pitchFamily="34" charset="0"/>
              </a:rPr>
              <a:t>FOREIGN KEY(</a:t>
            </a:r>
            <a:r>
              <a:rPr lang="de-DE" sz="2000" dirty="0" smtClean="0">
                <a:solidFill>
                  <a:schemeClr val="accent3">
                    <a:lumMod val="75000"/>
                  </a:schemeClr>
                </a:solidFill>
                <a:latin typeface="Source Sans Pro" panose="020B0503030403020204" pitchFamily="34" charset="0"/>
              </a:rPr>
              <a:t>Kunde_ID</a:t>
            </a:r>
            <a:r>
              <a:rPr lang="de-DE" sz="2000" b="1" dirty="0" smtClean="0">
                <a:solidFill>
                  <a:srgbClr val="FE5000">
                    <a:lumMod val="50000"/>
                  </a:srgbClr>
                </a:solidFill>
                <a:latin typeface="Source Sans Pro" panose="020B0503030403020204" pitchFamily="34" charset="0"/>
              </a:rPr>
              <a:t>) REFERENCES </a:t>
            </a:r>
            <a:r>
              <a:rPr lang="de-DE" sz="2000" b="1" dirty="0" smtClean="0">
                <a:latin typeface="Source Sans Pro" panose="020B0503030403020204" pitchFamily="34" charset="0"/>
              </a:rPr>
              <a:t>Kunde(</a:t>
            </a:r>
            <a:r>
              <a:rPr lang="de-DE" sz="2000" dirty="0" smtClean="0">
                <a:latin typeface="Source Sans Pro" panose="020B0503030403020204" pitchFamily="34" charset="0"/>
              </a:rPr>
              <a:t>Kunde_ID</a:t>
            </a:r>
            <a:r>
              <a:rPr lang="de-DE" sz="2000" b="1" dirty="0" smtClean="0">
                <a:latin typeface="Source Sans Pro" panose="020B0503030403020204" pitchFamily="34" charset="0"/>
              </a:rPr>
              <a:t>);</a:t>
            </a:r>
            <a:endParaRPr lang="de-DE" sz="2000" b="1" dirty="0">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06311" y="4313775"/>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smtClean="0">
                <a:solidFill>
                  <a:schemeClr val="tx1"/>
                </a:solidFill>
              </a:rPr>
              <a:t>Der durch die </a:t>
            </a:r>
            <a:r>
              <a:rPr lang="de-DE" sz="2000" b="1" dirty="0" smtClean="0">
                <a:solidFill>
                  <a:schemeClr val="tx1"/>
                </a:solidFill>
              </a:rPr>
              <a:t>geschweifte Klammer </a:t>
            </a:r>
            <a:r>
              <a:rPr lang="de-DE" sz="2000" dirty="0" smtClean="0">
                <a:solidFill>
                  <a:schemeClr val="tx1"/>
                </a:solidFill>
              </a:rPr>
              <a:t>markierte Bereich entspricht </a:t>
            </a:r>
            <a:r>
              <a:rPr lang="de-DE" sz="2000" b="1" dirty="0" smtClean="0">
                <a:solidFill>
                  <a:schemeClr val="accent2"/>
                </a:solidFill>
              </a:rPr>
              <a:t>erneut jener Syntax</a:t>
            </a:r>
            <a:r>
              <a:rPr lang="de-DE" sz="2000" dirty="0" smtClean="0">
                <a:solidFill>
                  <a:schemeClr val="tx1"/>
                </a:solidFill>
              </a:rPr>
              <a:t>,</a:t>
            </a:r>
          </a:p>
          <a:p>
            <a:pPr algn="ctr"/>
            <a:r>
              <a:rPr lang="de-DE" sz="2000" dirty="0" smtClean="0">
                <a:solidFill>
                  <a:schemeClr val="tx1"/>
                </a:solidFill>
              </a:rPr>
              <a:t>die verwendet worden wäre, hätte man diesen Fremdschlüssel-Constraint bereits von Beginn an</a:t>
            </a:r>
          </a:p>
          <a:p>
            <a:pPr algn="ctr"/>
            <a:r>
              <a:rPr lang="de-DE" sz="2000" dirty="0">
                <a:solidFill>
                  <a:schemeClr val="tx1"/>
                </a:solidFill>
              </a:rPr>
              <a:t>b</a:t>
            </a:r>
            <a:r>
              <a:rPr lang="de-DE" sz="2000" dirty="0" smtClean="0">
                <a:solidFill>
                  <a:schemeClr val="tx1"/>
                </a:solidFill>
              </a:rPr>
              <a:t>ei </a:t>
            </a:r>
            <a:r>
              <a:rPr lang="de-DE" sz="2000" dirty="0">
                <a:solidFill>
                  <a:schemeClr val="tx1"/>
                </a:solidFill>
              </a:rPr>
              <a:t>der Implementierung der Tabelle mittels </a:t>
            </a:r>
            <a:r>
              <a:rPr lang="de-DE" sz="2000" dirty="0" smtClean="0">
                <a:solidFill>
                  <a:schemeClr val="tx1"/>
                </a:solidFill>
              </a:rPr>
              <a:t>„</a:t>
            </a:r>
            <a:r>
              <a:rPr lang="de-DE" sz="2000" b="1" dirty="0" smtClean="0">
                <a:solidFill>
                  <a:schemeClr val="tx1"/>
                </a:solidFill>
              </a:rPr>
              <a:t>CREATE TABLE </a:t>
            </a:r>
            <a:r>
              <a:rPr lang="de-DE" sz="2000" dirty="0" smtClean="0">
                <a:solidFill>
                  <a:schemeClr val="tx1"/>
                </a:solidFill>
              </a:rPr>
              <a:t>Produkt“ erzeugt.</a:t>
            </a:r>
          </a:p>
          <a:p>
            <a:pPr algn="ctr"/>
            <a:endParaRPr lang="de-DE" sz="1200" dirty="0">
              <a:solidFill>
                <a:schemeClr val="tx1"/>
              </a:solidFill>
            </a:endParaRPr>
          </a:p>
        </p:txBody>
      </p:sp>
      <p:sp>
        <p:nvSpPr>
          <p:cNvPr id="8" name="Geschweifte Klammer rechts 7"/>
          <p:cNvSpPr/>
          <p:nvPr/>
        </p:nvSpPr>
        <p:spPr>
          <a:xfrm rot="5400000">
            <a:off x="6664959" y="949920"/>
            <a:ext cx="203200" cy="6201295"/>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Tree>
    <p:extLst>
      <p:ext uri="{BB962C8B-B14F-4D97-AF65-F5344CB8AC3E}">
        <p14:creationId xmlns:p14="http://schemas.microsoft.com/office/powerpoint/2010/main" val="4074190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0319435" cy="720725"/>
          </a:xfrm>
        </p:spPr>
        <p:txBody>
          <a:bodyPr>
            <a:noAutofit/>
          </a:bodyPr>
          <a:lstStyle/>
          <a:p>
            <a:r>
              <a:rPr lang="de-DE" sz="3600" dirty="0">
                <a:solidFill>
                  <a:srgbClr val="0071B2"/>
                </a:solidFill>
                <a:latin typeface="Source Sans Pro" panose="020B0503030403020204" pitchFamily="34" charset="0"/>
              </a:rPr>
              <a:t>ALTER TABLE </a:t>
            </a:r>
            <a:r>
              <a:rPr lang="de-DE" sz="3600" dirty="0" smtClean="0">
                <a:solidFill>
                  <a:srgbClr val="D2E8F4">
                    <a:lumMod val="75000"/>
                  </a:srgbClr>
                </a:solidFill>
                <a:latin typeface="Source Sans Pro" panose="020B0503030403020204" pitchFamily="34" charset="0"/>
              </a:rPr>
              <a:t>Tabellen-Name</a:t>
            </a:r>
            <a:r>
              <a:rPr lang="de-DE" sz="3600" dirty="0" smtClean="0">
                <a:solidFill>
                  <a:srgbClr val="0071B2"/>
                </a:solidFill>
                <a:latin typeface="Source Sans Pro" panose="020B0503030403020204" pitchFamily="34" charset="0"/>
              </a:rPr>
              <a:t> </a:t>
            </a:r>
            <a:r>
              <a:rPr lang="de-DE" sz="3600" dirty="0" smtClean="0">
                <a:solidFill>
                  <a:srgbClr val="FE5000"/>
                </a:solidFill>
                <a:latin typeface="Source Sans Pro" panose="020B0503030403020204" pitchFamily="34" charset="0"/>
              </a:rPr>
              <a:t>DROP </a:t>
            </a:r>
            <a:r>
              <a:rPr lang="de-DE" sz="3600" dirty="0" smtClean="0">
                <a:solidFill>
                  <a:srgbClr val="FE5000">
                    <a:lumMod val="50000"/>
                  </a:srgbClr>
                </a:solidFill>
                <a:latin typeface="Source Sans Pro" panose="020B0503030403020204" pitchFamily="34" charset="0"/>
              </a:rPr>
              <a:t>Attribut-Name</a:t>
            </a:r>
            <a:endParaRPr lang="de-DE" sz="36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543745" y="2366618"/>
            <a:ext cx="10810054" cy="1077218"/>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Um (z.B.) in der Tabelle „Kunde“ das </a:t>
            </a:r>
            <a:r>
              <a:rPr kumimoji="0" lang="de-DE" sz="16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Attribut „Anrede“ </a:t>
            </a: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zu löschen, verwenden</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wir den folgenden Befehl:</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3200" b="1" baseline="0" dirty="0" smtClean="0">
                <a:solidFill>
                  <a:srgbClr val="0071B2"/>
                </a:solidFill>
                <a:latin typeface="Source Sans Pro" panose="020B0503030403020204" pitchFamily="34" charset="0"/>
              </a:rPr>
              <a:t> ALTER TABLE </a:t>
            </a:r>
            <a:r>
              <a:rPr lang="de-DE" sz="3200" dirty="0" smtClean="0">
                <a:solidFill>
                  <a:schemeClr val="accent3">
                    <a:lumMod val="75000"/>
                  </a:schemeClr>
                </a:solidFill>
                <a:latin typeface="Source Sans Pro" panose="020B0503030403020204" pitchFamily="34" charset="0"/>
              </a:rPr>
              <a:t>Kunde</a:t>
            </a:r>
            <a:r>
              <a:rPr lang="de-DE" sz="3200" dirty="0" smtClean="0">
                <a:solidFill>
                  <a:srgbClr val="0071B2"/>
                </a:solidFill>
                <a:latin typeface="Source Sans Pro" panose="020B0503030403020204" pitchFamily="34" charset="0"/>
              </a:rPr>
              <a:t> </a:t>
            </a:r>
            <a:r>
              <a:rPr lang="de-DE" sz="3200" b="1" dirty="0" smtClean="0">
                <a:solidFill>
                  <a:schemeClr val="accent2"/>
                </a:solidFill>
                <a:latin typeface="Source Sans Pro" panose="020B0503030403020204" pitchFamily="34" charset="0"/>
              </a:rPr>
              <a:t>DROP </a:t>
            </a:r>
            <a:r>
              <a:rPr lang="de-DE" sz="3200" b="1" dirty="0" smtClean="0">
                <a:solidFill>
                  <a:schemeClr val="accent2">
                    <a:lumMod val="50000"/>
                  </a:schemeClr>
                </a:solidFill>
                <a:latin typeface="Source Sans Pro" panose="020B0503030403020204" pitchFamily="34" charset="0"/>
              </a:rPr>
              <a:t>Anrede</a:t>
            </a:r>
            <a:r>
              <a:rPr lang="de-DE" sz="3200" b="1" dirty="0" smtClean="0">
                <a:solidFill>
                  <a:srgbClr val="0071B2"/>
                </a:solidFill>
                <a:latin typeface="Source Sans Pro" panose="020B0503030403020204" pitchFamily="34" charset="0"/>
              </a:rPr>
              <a:t>;</a:t>
            </a:r>
            <a:endPar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203733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491529" cy="720725"/>
          </a:xfrm>
        </p:spPr>
        <p:txBody>
          <a:bodyPr>
            <a:noAutofit/>
          </a:bodyPr>
          <a:lstStyle/>
          <a:p>
            <a:r>
              <a:rPr lang="de-DE" sz="2800" dirty="0">
                <a:solidFill>
                  <a:srgbClr val="0071B2"/>
                </a:solidFill>
                <a:latin typeface="Source Sans Pro" panose="020B0503030403020204" pitchFamily="34" charset="0"/>
              </a:rPr>
              <a:t>ALTER TABLE </a:t>
            </a:r>
            <a:r>
              <a:rPr lang="de-DE" sz="2800" dirty="0" smtClean="0">
                <a:latin typeface="Source Sans Pro" panose="020B0503030403020204" pitchFamily="34" charset="0"/>
              </a:rPr>
              <a:t>Tabellen-Name DROP </a:t>
            </a:r>
            <a:r>
              <a:rPr lang="de-DE" sz="2800" dirty="0" smtClean="0">
                <a:solidFill>
                  <a:schemeClr val="accent2"/>
                </a:solidFill>
                <a:latin typeface="Source Sans Pro" panose="020B0503030403020204" pitchFamily="34" charset="0"/>
              </a:rPr>
              <a:t>einziges</a:t>
            </a:r>
            <a:r>
              <a:rPr lang="de-DE" sz="2800" dirty="0" smtClean="0">
                <a:latin typeface="Source Sans Pro" panose="020B0503030403020204" pitchFamily="34" charset="0"/>
              </a:rPr>
              <a:t> Fremdschlüssel-Attribut</a:t>
            </a:r>
            <a:endParaRPr lang="de-DE" sz="2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594398" y="1539397"/>
            <a:ext cx="11143950" cy="2954655"/>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1400" b="0" i="0" u="none" strike="noStrike" kern="1200" cap="none" spc="0" normalizeH="0" baseline="0" noProof="0" dirty="0" smtClean="0">
                <a:ln>
                  <a:noFill/>
                </a:ln>
                <a:solidFill>
                  <a:srgbClr val="0071B2"/>
                </a:solidFill>
                <a:effectLst/>
                <a:uLnTx/>
                <a:uFillTx/>
                <a:latin typeface="Source Sans Pro" panose="020B0503030403020204" pitchFamily="34" charset="0"/>
              </a:rPr>
              <a:t>In der Tabelle </a:t>
            </a:r>
            <a:r>
              <a:rPr kumimoji="0" lang="de-DE" sz="1400" b="1" i="0" u="none" strike="noStrike" kern="1200" cap="none" spc="0" normalizeH="0" baseline="0" noProof="0" dirty="0" smtClean="0">
                <a:ln>
                  <a:noFill/>
                </a:ln>
                <a:solidFill>
                  <a:schemeClr val="accent3">
                    <a:lumMod val="75000"/>
                  </a:schemeClr>
                </a:solidFill>
                <a:effectLst/>
                <a:uLnTx/>
                <a:uFillTx/>
                <a:latin typeface="Source Sans Pro" panose="020B0503030403020204" pitchFamily="34" charset="0"/>
              </a:rPr>
              <a:t>Abrechnung</a:t>
            </a:r>
            <a:r>
              <a:rPr kumimoji="0" lang="de-DE" sz="1400" i="0" u="none" strike="noStrike" kern="1200" cap="none" spc="0" normalizeH="0" baseline="0" noProof="0" dirty="0" smtClean="0">
                <a:ln>
                  <a:noFill/>
                </a:ln>
                <a:effectLst/>
                <a:uLnTx/>
                <a:uFillTx/>
                <a:latin typeface="Source Sans Pro" panose="020B0503030403020204" pitchFamily="34" charset="0"/>
              </a:rPr>
              <a:t> </a:t>
            </a:r>
            <a:r>
              <a:rPr kumimoji="0" lang="de-DE" sz="1400" b="0" i="0" u="none" strike="noStrike" kern="1200" cap="none" spc="0" normalizeH="0" baseline="0" noProof="0" dirty="0" smtClean="0">
                <a:ln>
                  <a:noFill/>
                </a:ln>
                <a:solidFill>
                  <a:srgbClr val="0071B2"/>
                </a:solidFill>
                <a:effectLst/>
                <a:uLnTx/>
                <a:uFillTx/>
                <a:latin typeface="Source Sans Pro" panose="020B0503030403020204" pitchFamily="34" charset="0"/>
              </a:rPr>
              <a:t>existiert nur ein </a:t>
            </a:r>
            <a:r>
              <a:rPr kumimoji="0" lang="de-DE" sz="1400" b="1" i="0" u="none" strike="noStrike" kern="1200" cap="none" spc="0" normalizeH="0" baseline="0" noProof="0" dirty="0" smtClean="0">
                <a:ln>
                  <a:noFill/>
                </a:ln>
                <a:solidFill>
                  <a:schemeClr val="accent2"/>
                </a:solidFill>
                <a:effectLst/>
                <a:uLnTx/>
                <a:uFillTx/>
                <a:latin typeface="Source Sans Pro" panose="020B0503030403020204" pitchFamily="34" charset="0"/>
              </a:rPr>
              <a:t>einziger</a:t>
            </a:r>
            <a:r>
              <a:rPr kumimoji="0" lang="de-DE" sz="1400" b="0" i="0" u="none" strike="noStrike" kern="1200" cap="none" spc="0" normalizeH="0" baseline="0" noProof="0" dirty="0" smtClean="0">
                <a:ln>
                  <a:noFill/>
                </a:ln>
                <a:solidFill>
                  <a:srgbClr val="0071B2"/>
                </a:solidFill>
                <a:effectLst/>
                <a:uLnTx/>
                <a:uFillTx/>
                <a:latin typeface="Source Sans Pro" panose="020B0503030403020204" pitchFamily="34" charset="0"/>
              </a:rPr>
              <a:t> Fremdschlüssel. Daher ist die </a:t>
            </a:r>
            <a:r>
              <a:rPr kumimoji="0" lang="de-DE" sz="14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rPr>
              <a:t>interne Namensgebung </a:t>
            </a:r>
            <a:r>
              <a:rPr kumimoji="0" lang="de-DE" sz="1400" i="0" u="none" strike="noStrike" kern="1200" cap="none" spc="0" normalizeH="0" baseline="0" noProof="0" dirty="0" smtClean="0">
                <a:ln>
                  <a:noFill/>
                </a:ln>
                <a:effectLst/>
                <a:uLnTx/>
                <a:uFillTx/>
                <a:latin typeface="Source Sans Pro" panose="020B0503030403020204" pitchFamily="34" charset="0"/>
              </a:rPr>
              <a:t>in diesem Fall </a:t>
            </a:r>
            <a:r>
              <a:rPr kumimoji="0" lang="de-DE" sz="1400" b="0" i="0" u="none" strike="noStrike" kern="1200" cap="none" spc="0" normalizeH="0" baseline="0" noProof="0" dirty="0" smtClean="0">
                <a:ln>
                  <a:noFill/>
                </a:ln>
                <a:solidFill>
                  <a:srgbClr val="0071B2"/>
                </a:solidFill>
                <a:effectLst/>
                <a:uLnTx/>
                <a:uFillTx/>
                <a:latin typeface="Source Sans Pro" panose="020B0503030403020204" pitchFamily="34" charset="0"/>
              </a:rPr>
              <a:t>eindeutig:</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3200" b="1" baseline="0" dirty="0" smtClean="0">
                <a:solidFill>
                  <a:srgbClr val="0071B2"/>
                </a:solidFill>
                <a:latin typeface="Source Sans Pro" panose="020B0503030403020204" pitchFamily="34" charset="0"/>
              </a:rPr>
              <a:t> </a:t>
            </a:r>
            <a:r>
              <a:rPr lang="de-DE" sz="2800" b="1" baseline="0" dirty="0" smtClean="0">
                <a:solidFill>
                  <a:srgbClr val="0071B2"/>
                </a:solidFill>
                <a:latin typeface="Source Sans Pro" panose="020B0503030403020204" pitchFamily="34" charset="0"/>
              </a:rPr>
              <a:t>ALTER TABLE </a:t>
            </a:r>
            <a:r>
              <a:rPr lang="de-DE" sz="2800" dirty="0" smtClean="0">
                <a:solidFill>
                  <a:schemeClr val="accent3">
                    <a:lumMod val="75000"/>
                  </a:schemeClr>
                </a:solidFill>
                <a:latin typeface="Source Sans Pro" panose="020B0503030403020204" pitchFamily="34" charset="0"/>
              </a:rPr>
              <a:t>Abrechnung</a:t>
            </a:r>
            <a:r>
              <a:rPr lang="de-DE" sz="2800" dirty="0" smtClean="0">
                <a:solidFill>
                  <a:srgbClr val="0071B2"/>
                </a:solidFill>
                <a:latin typeface="Source Sans Pro" panose="020B0503030403020204" pitchFamily="34" charset="0"/>
              </a:rPr>
              <a:t> </a:t>
            </a:r>
            <a:r>
              <a:rPr lang="de-DE" sz="2800" b="1" dirty="0" smtClean="0">
                <a:latin typeface="Source Sans Pro" panose="020B0503030403020204" pitchFamily="34" charset="0"/>
              </a:rPr>
              <a:t>DROP FOREIGN KEY </a:t>
            </a:r>
            <a:r>
              <a:rPr lang="de-DE" sz="2800" b="1" dirty="0" smtClean="0">
                <a:solidFill>
                  <a:schemeClr val="accent2">
                    <a:lumMod val="50000"/>
                  </a:schemeClr>
                </a:solidFill>
                <a:latin typeface="Source Sans Pro" panose="020B0503030403020204" pitchFamily="34" charset="0"/>
              </a:rPr>
              <a:t>Abrechnung_ibfk_</a:t>
            </a:r>
            <a:r>
              <a:rPr lang="de-DE" sz="2800" b="1" dirty="0" smtClean="0">
                <a:solidFill>
                  <a:schemeClr val="accent2"/>
                </a:solidFill>
                <a:latin typeface="Source Sans Pro" panose="020B0503030403020204" pitchFamily="34" charset="0"/>
              </a:rPr>
              <a:t>1</a:t>
            </a:r>
            <a:r>
              <a:rPr lang="de-DE" sz="2800" b="1" dirty="0" smtClean="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lvl="0">
              <a:defRPr/>
            </a:pPr>
            <a:r>
              <a:rPr lang="de-DE" sz="1400" dirty="0" smtClean="0">
                <a:solidFill>
                  <a:srgbClr val="0071B2"/>
                </a:solidFill>
                <a:latin typeface="Source Sans Pro" panose="020B0503030403020204" pitchFamily="34" charset="0"/>
              </a:rPr>
              <a:t>Nachdem wir dadurch die </a:t>
            </a:r>
            <a:r>
              <a:rPr lang="de-DE" sz="1400" b="1" dirty="0" smtClean="0">
                <a:solidFill>
                  <a:srgbClr val="0071B2"/>
                </a:solidFill>
                <a:latin typeface="Source Sans Pro" panose="020B0503030403020204" pitchFamily="34" charset="0"/>
              </a:rPr>
              <a:t>Referenz</a:t>
            </a:r>
            <a:r>
              <a:rPr lang="de-DE" sz="1400" dirty="0" smtClean="0">
                <a:solidFill>
                  <a:srgbClr val="0071B2"/>
                </a:solidFill>
                <a:latin typeface="Source Sans Pro" panose="020B0503030403020204" pitchFamily="34" charset="0"/>
              </a:rPr>
              <a:t> des Fremdschlüssels Kunde_ID (in „Abrechnungen“) auf den Primärschlüssel  Kunde_ID (in „Kunde“) gelöscht haben, können wir nun - trotz aktivierter Fremdschlüsselüberprüfung – das Attribut </a:t>
            </a:r>
            <a:r>
              <a:rPr lang="de-DE" sz="1400" b="1" dirty="0" smtClean="0">
                <a:solidFill>
                  <a:schemeClr val="accent2">
                    <a:lumMod val="50000"/>
                  </a:schemeClr>
                </a:solidFill>
                <a:latin typeface="Source Sans Pro" panose="020B0503030403020204" pitchFamily="34" charset="0"/>
              </a:rPr>
              <a:t>Kunde_ID</a:t>
            </a:r>
            <a:r>
              <a:rPr lang="de-DE" sz="1400" dirty="0" smtClean="0">
                <a:solidFill>
                  <a:srgbClr val="0071B2"/>
                </a:solidFill>
                <a:latin typeface="Source Sans Pro" panose="020B0503030403020204" pitchFamily="34" charset="0"/>
              </a:rPr>
              <a:t> (in </a:t>
            </a:r>
            <a:r>
              <a:rPr lang="de-DE" sz="1400" b="1" dirty="0" smtClean="0">
                <a:solidFill>
                  <a:schemeClr val="accent3">
                    <a:lumMod val="75000"/>
                  </a:schemeClr>
                </a:solidFill>
                <a:latin typeface="Source Sans Pro" panose="020B0503030403020204" pitchFamily="34" charset="0"/>
              </a:rPr>
              <a:t>„Abrechnungen“</a:t>
            </a:r>
            <a:r>
              <a:rPr lang="de-DE" sz="1400" dirty="0" smtClean="0">
                <a:latin typeface="Source Sans Pro" panose="020B0503030403020204" pitchFamily="34" charset="0"/>
              </a:rPr>
              <a:t>)</a:t>
            </a:r>
            <a:r>
              <a:rPr lang="de-DE" sz="1400" b="1" dirty="0" smtClean="0">
                <a:solidFill>
                  <a:schemeClr val="accent3">
                    <a:lumMod val="75000"/>
                  </a:schemeClr>
                </a:solidFill>
                <a:latin typeface="Source Sans Pro" panose="020B0503030403020204" pitchFamily="34" charset="0"/>
              </a:rPr>
              <a:t> </a:t>
            </a:r>
            <a:r>
              <a:rPr lang="de-DE" sz="1400" dirty="0" smtClean="0">
                <a:solidFill>
                  <a:srgbClr val="0071B2"/>
                </a:solidFill>
                <a:latin typeface="Source Sans Pro" panose="020B0503030403020204" pitchFamily="34" charset="0"/>
              </a:rPr>
              <a:t>löschen :</a:t>
            </a:r>
            <a:endParaRPr lang="de-DE" sz="1400" dirty="0">
              <a:solidFill>
                <a:srgbClr val="0071B2"/>
              </a:solidFill>
              <a:latin typeface="Source Sans Pro" panose="020B0503030403020204" pitchFamily="34" charset="0"/>
            </a:endParaRPr>
          </a:p>
          <a:p>
            <a:pPr lvl="0">
              <a:defRPr/>
            </a:pPr>
            <a:endParaRPr lang="de-DE" sz="800" dirty="0">
              <a:solidFill>
                <a:srgbClr val="0071B2"/>
              </a:solidFill>
              <a:latin typeface="Source Sans Pro" panose="020B0503030403020204" pitchFamily="34" charset="0"/>
            </a:endParaRPr>
          </a:p>
          <a:p>
            <a:pPr lvl="0">
              <a:defRPr/>
            </a:pPr>
            <a:r>
              <a:rPr lang="de-DE" sz="3200" b="1" dirty="0">
                <a:solidFill>
                  <a:srgbClr val="0071B2"/>
                </a:solidFill>
                <a:latin typeface="Source Sans Pro" panose="020B0503030403020204" pitchFamily="34" charset="0"/>
              </a:rPr>
              <a:t> </a:t>
            </a:r>
            <a:r>
              <a:rPr lang="de-DE" sz="2800" b="1" dirty="0">
                <a:solidFill>
                  <a:srgbClr val="0071B2"/>
                </a:solidFill>
                <a:latin typeface="Source Sans Pro" panose="020B0503030403020204" pitchFamily="34" charset="0"/>
              </a:rPr>
              <a:t>ALTER TABLE </a:t>
            </a:r>
            <a:r>
              <a:rPr lang="de-DE" sz="2800" dirty="0">
                <a:solidFill>
                  <a:srgbClr val="D2E8F4">
                    <a:lumMod val="75000"/>
                  </a:srgbClr>
                </a:solidFill>
                <a:latin typeface="Source Sans Pro" panose="020B0503030403020204" pitchFamily="34" charset="0"/>
              </a:rPr>
              <a:t>Abrechnung</a:t>
            </a:r>
            <a:r>
              <a:rPr lang="de-DE" sz="2800" dirty="0">
                <a:solidFill>
                  <a:srgbClr val="0071B2"/>
                </a:solidFill>
                <a:latin typeface="Source Sans Pro" panose="020B0503030403020204" pitchFamily="34" charset="0"/>
              </a:rPr>
              <a:t> </a:t>
            </a:r>
            <a:r>
              <a:rPr lang="de-DE" sz="2800" b="1" dirty="0">
                <a:solidFill>
                  <a:srgbClr val="0071B2"/>
                </a:solidFill>
                <a:latin typeface="Source Sans Pro" panose="020B0503030403020204" pitchFamily="34" charset="0"/>
              </a:rPr>
              <a:t>DROP </a:t>
            </a:r>
            <a:r>
              <a:rPr lang="de-DE" sz="2800" dirty="0">
                <a:solidFill>
                  <a:schemeClr val="accent2">
                    <a:lumMod val="50000"/>
                  </a:schemeClr>
                </a:solidFill>
                <a:latin typeface="Source Sans Pro" panose="020B0503030403020204" pitchFamily="34" charset="0"/>
              </a:rPr>
              <a:t>K</a:t>
            </a:r>
            <a:r>
              <a:rPr lang="de-DE" sz="2800" dirty="0" smtClean="0">
                <a:solidFill>
                  <a:schemeClr val="accent2">
                    <a:lumMod val="50000"/>
                  </a:schemeClr>
                </a:solidFill>
                <a:latin typeface="Source Sans Pro" panose="020B0503030403020204" pitchFamily="34" charset="0"/>
              </a:rPr>
              <a:t>unde_ID</a:t>
            </a:r>
            <a:r>
              <a:rPr lang="de-DE" sz="2800" b="1" dirty="0" smtClean="0">
                <a:solidFill>
                  <a:srgbClr val="0071B2"/>
                </a:solidFill>
                <a:latin typeface="Source Sans Pro" panose="020B0503030403020204" pitchFamily="34" charset="0"/>
              </a:rPr>
              <a:t>;</a:t>
            </a:r>
            <a:endParaRPr lang="de-DE" sz="2800" b="1"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2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06311" y="4313775"/>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smtClean="0">
                <a:solidFill>
                  <a:schemeClr val="tx1"/>
                </a:solidFill>
              </a:rPr>
              <a:t>Hinweis:</a:t>
            </a:r>
          </a:p>
          <a:p>
            <a:pPr algn="ctr"/>
            <a:endParaRPr lang="de-DE" sz="800" b="1" dirty="0" smtClean="0">
              <a:solidFill>
                <a:schemeClr val="tx1"/>
              </a:solidFill>
            </a:endParaRPr>
          </a:p>
          <a:p>
            <a:pPr algn="ctr"/>
            <a:r>
              <a:rPr lang="de-DE" sz="2000" dirty="0" smtClean="0">
                <a:solidFill>
                  <a:schemeClr val="tx1"/>
                </a:solidFill>
              </a:rPr>
              <a:t>Die Namensgebung </a:t>
            </a:r>
            <a:r>
              <a:rPr lang="de-DE" sz="2000" b="1" dirty="0" smtClean="0">
                <a:solidFill>
                  <a:schemeClr val="accent2"/>
                </a:solidFill>
              </a:rPr>
              <a:t>TabellenName_ibfk_Nummer</a:t>
            </a:r>
            <a:r>
              <a:rPr lang="de-DE" sz="2000" dirty="0" smtClean="0">
                <a:solidFill>
                  <a:schemeClr val="tx1"/>
                </a:solidFill>
              </a:rPr>
              <a:t> ist eine individuelle Entscheidung</a:t>
            </a:r>
          </a:p>
          <a:p>
            <a:pPr algn="ctr"/>
            <a:r>
              <a:rPr lang="de-DE" sz="2000" dirty="0" smtClean="0">
                <a:solidFill>
                  <a:schemeClr val="tx1"/>
                </a:solidFill>
              </a:rPr>
              <a:t>des Entwicklers von MariaDB und </a:t>
            </a:r>
            <a:r>
              <a:rPr lang="de-DE" sz="2000" b="1" u="sng" dirty="0" smtClean="0">
                <a:solidFill>
                  <a:schemeClr val="tx1"/>
                </a:solidFill>
              </a:rPr>
              <a:t>keine</a:t>
            </a:r>
            <a:r>
              <a:rPr lang="de-DE" sz="2000" b="1" dirty="0" smtClean="0">
                <a:solidFill>
                  <a:schemeClr val="tx1"/>
                </a:solidFill>
              </a:rPr>
              <a:t> allgemeingültige Syntax </a:t>
            </a:r>
            <a:r>
              <a:rPr lang="de-DE" sz="2000" dirty="0" smtClean="0">
                <a:solidFill>
                  <a:schemeClr val="tx1"/>
                </a:solidFill>
              </a:rPr>
              <a:t>für alle SQL-Dialekte!</a:t>
            </a:r>
          </a:p>
          <a:p>
            <a:pPr algn="ctr"/>
            <a:endParaRPr lang="de-DE" sz="1200" dirty="0">
              <a:solidFill>
                <a:schemeClr val="tx1"/>
              </a:solidFill>
            </a:endParaRPr>
          </a:p>
        </p:txBody>
      </p:sp>
    </p:spTree>
    <p:extLst>
      <p:ext uri="{BB962C8B-B14F-4D97-AF65-F5344CB8AC3E}">
        <p14:creationId xmlns:p14="http://schemas.microsoft.com/office/powerpoint/2010/main" val="304016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491529" cy="720725"/>
          </a:xfrm>
        </p:spPr>
        <p:txBody>
          <a:bodyPr>
            <a:noAutofit/>
          </a:bodyPr>
          <a:lstStyle/>
          <a:p>
            <a:r>
              <a:rPr lang="de-DE" sz="2700" dirty="0">
                <a:solidFill>
                  <a:srgbClr val="0071B2"/>
                </a:solidFill>
                <a:latin typeface="Source Sans Pro" panose="020B0503030403020204" pitchFamily="34" charset="0"/>
              </a:rPr>
              <a:t>ALTER TABLE </a:t>
            </a:r>
            <a:r>
              <a:rPr lang="de-DE" sz="2700" dirty="0" smtClean="0">
                <a:latin typeface="Source Sans Pro" panose="020B0503030403020204" pitchFamily="34" charset="0"/>
              </a:rPr>
              <a:t>Tabellen-Name DROP </a:t>
            </a:r>
            <a:r>
              <a:rPr lang="de-DE" sz="2700" u="sng" dirty="0" smtClean="0">
                <a:solidFill>
                  <a:srgbClr val="FE5000"/>
                </a:solidFill>
                <a:latin typeface="Source Sans Pro" panose="020B0503030403020204" pitchFamily="34" charset="0"/>
              </a:rPr>
              <a:t>einen</a:t>
            </a:r>
            <a:r>
              <a:rPr lang="de-DE" sz="2700" dirty="0" smtClean="0">
                <a:solidFill>
                  <a:srgbClr val="FE5000"/>
                </a:solidFill>
                <a:latin typeface="Source Sans Pro" panose="020B0503030403020204" pitchFamily="34" charset="0"/>
              </a:rPr>
              <a:t> </a:t>
            </a:r>
            <a:r>
              <a:rPr lang="de-DE" sz="1800" dirty="0" smtClean="0">
                <a:solidFill>
                  <a:srgbClr val="FE5000"/>
                </a:solidFill>
                <a:latin typeface="Source Sans Pro" panose="020B0503030403020204" pitchFamily="34" charset="0"/>
              </a:rPr>
              <a:t>(von mehreren) </a:t>
            </a:r>
            <a:r>
              <a:rPr lang="de-DE" sz="2700" dirty="0" smtClean="0">
                <a:latin typeface="Source Sans Pro" panose="020B0503030403020204" pitchFamily="34" charset="0"/>
              </a:rPr>
              <a:t>Fremdschlüsseln</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485554" y="853702"/>
            <a:ext cx="11110699" cy="6124754"/>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Kunde hat weniger Phantasie  </a:t>
            </a: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sym typeface="Wingdings" panose="05000000000000000000" pitchFamily="2" charset="2"/>
              </a:rPr>
              <a:t> </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und verlangt, dass der Fremdschlüssel „Kunde_ID“ aus der Tabelle Produkt gelöscht wird. Die Tabelle Produkt besitzt aber mittlerweile </a:t>
            </a:r>
            <a:r>
              <a:rPr kumimoji="0" lang="de-DE" sz="1600" b="1" i="0" u="none" strike="noStrike" kern="1200" cap="none" spc="0" normalizeH="0" noProof="0" dirty="0" smtClean="0">
                <a:ln>
                  <a:noFill/>
                </a:ln>
                <a:solidFill>
                  <a:schemeClr val="accent2"/>
                </a:solidFill>
                <a:effectLst/>
                <a:uLnTx/>
                <a:uFillTx/>
                <a:latin typeface="Source Sans Pro" panose="020B0503030403020204" pitchFamily="34" charset="0"/>
                <a:ea typeface="+mn-ea"/>
                <a:cs typeface="+mn-cs"/>
              </a:rPr>
              <a:t>mehrere</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Fremdschlüssel (Hersteller_ID und Kunde_ID).</a:t>
            </a:r>
          </a:p>
          <a:p>
            <a:pPr marR="0" lvl="0" algn="l" defTabSz="914400" rtl="0" eaLnBrk="1" fontAlgn="auto" latinLnBrk="0" hangingPunct="1">
              <a:lnSpc>
                <a:spcPct val="100000"/>
              </a:lnSpc>
              <a:spcBef>
                <a:spcPts val="0"/>
              </a:spcBef>
              <a:spcAft>
                <a:spcPts val="0"/>
              </a:spcAft>
              <a:buClrTx/>
              <a:buSzTx/>
              <a:tabLst/>
              <a:defRPr/>
            </a:pPr>
            <a:endParaRPr lang="de-DE" sz="16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Um die interne Namensgebung ermitteln zu können, rufen wir zunächst den Befehl   </a:t>
            </a:r>
            <a:r>
              <a:rPr kumimoji="0" lang="de-DE" sz="1600" b="1"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n-ea"/>
                <a:cs typeface="+mn-cs"/>
              </a:rPr>
              <a:t>SHOW CREATE TABLE </a:t>
            </a:r>
            <a:r>
              <a:rPr kumimoji="0" lang="de-DE" sz="1600"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n-ea"/>
                <a:cs typeface="+mn-cs"/>
              </a:rPr>
              <a:t>Produkt</a:t>
            </a:r>
            <a:r>
              <a:rPr kumimoji="0" lang="de-DE" sz="1600" b="1"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n-ea"/>
                <a:cs typeface="+mn-cs"/>
              </a:rPr>
              <a:t>   </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auf, worauf die folgende Ausgabe erscheinen wird. [Im Zweifel müssen Sie </a:t>
            </a:r>
            <a:r>
              <a:rPr kumimoji="0" lang="de-DE" sz="16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„Optionen“ </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anklicken und dort </a:t>
            </a:r>
            <a:r>
              <a:rPr kumimoji="0" lang="de-DE" sz="16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„vollständige Texte“ </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auswählen]</a:t>
            </a:r>
          </a:p>
          <a:p>
            <a:pPr marR="0" lvl="0" algn="l" defTabSz="914400" rtl="0" eaLnBrk="1" fontAlgn="auto" latinLnBrk="0" hangingPunct="1">
              <a:lnSpc>
                <a:spcPct val="100000"/>
              </a:lnSpc>
              <a:spcBef>
                <a:spcPts val="0"/>
              </a:spcBef>
              <a:spcAft>
                <a:spcPts val="0"/>
              </a:spcAft>
              <a:buClrTx/>
              <a:buSzTx/>
              <a:tabLst/>
              <a:defRPr/>
            </a:pPr>
            <a:endParaRPr lang="de-DE" sz="1600" dirty="0" smtClean="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16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lang="de-DE" sz="16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lang="de-DE" sz="16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1600" dirty="0" smtClean="0">
                <a:solidFill>
                  <a:srgbClr val="0071B2"/>
                </a:solidFill>
                <a:latin typeface="Source Sans Pro" panose="020B0503030403020204" pitchFamily="34" charset="0"/>
              </a:rPr>
              <a:t>Anschließend können wir in der Tabelle </a:t>
            </a:r>
            <a:r>
              <a:rPr lang="de-DE" sz="1600" b="1" dirty="0">
                <a:latin typeface="Source Sans Pro" panose="020B0503030403020204" pitchFamily="34" charset="0"/>
              </a:rPr>
              <a:t>P</a:t>
            </a:r>
            <a:r>
              <a:rPr lang="de-DE" sz="1600" b="1" dirty="0" smtClean="0">
                <a:latin typeface="Source Sans Pro" panose="020B0503030403020204" pitchFamily="34" charset="0"/>
              </a:rPr>
              <a:t>rodukt</a:t>
            </a:r>
            <a:r>
              <a:rPr lang="de-DE" sz="1600" dirty="0" smtClean="0">
                <a:solidFill>
                  <a:srgbClr val="0071B2"/>
                </a:solidFill>
                <a:latin typeface="Source Sans Pro" panose="020B0503030403020204" pitchFamily="34" charset="0"/>
              </a:rPr>
              <a:t> die Referenz von </a:t>
            </a:r>
            <a:r>
              <a:rPr lang="de-DE" sz="1600" b="1" dirty="0" smtClean="0">
                <a:solidFill>
                  <a:srgbClr val="0071B2"/>
                </a:solidFill>
                <a:latin typeface="Source Sans Pro" panose="020B0503030403020204" pitchFamily="34" charset="0"/>
              </a:rPr>
              <a:t>Kunde_ID</a:t>
            </a:r>
            <a:r>
              <a:rPr lang="de-DE" sz="1600" dirty="0" smtClean="0">
                <a:solidFill>
                  <a:srgbClr val="0071B2"/>
                </a:solidFill>
                <a:latin typeface="Source Sans Pro" panose="020B0503030403020204" pitchFamily="34" charset="0"/>
              </a:rPr>
              <a:t> auf die Tabelle </a:t>
            </a:r>
            <a:r>
              <a:rPr lang="de-DE" sz="1600" dirty="0" smtClean="0">
                <a:latin typeface="Source Sans Pro" panose="020B0503030403020204" pitchFamily="34" charset="0"/>
              </a:rPr>
              <a:t>„</a:t>
            </a:r>
            <a:r>
              <a:rPr lang="de-DE" sz="1600" b="1" dirty="0" smtClean="0">
                <a:latin typeface="Source Sans Pro" panose="020B0503030403020204" pitchFamily="34" charset="0"/>
              </a:rPr>
              <a:t>Kunde“ </a:t>
            </a:r>
            <a:r>
              <a:rPr lang="de-DE" sz="1600" dirty="0" smtClean="0">
                <a:latin typeface="Source Sans Pro" panose="020B0503030403020204" pitchFamily="34" charset="0"/>
              </a:rPr>
              <a:t>löschen:</a:t>
            </a:r>
            <a:endParaRPr kumimoji="0" lang="de-DE" sz="1600" b="0" i="0" u="none" strike="noStrike" kern="1200" cap="none" spc="0" normalizeH="0" noProof="0" dirty="0" smtClean="0">
              <a:ln>
                <a:noFill/>
              </a:ln>
              <a:effectLst/>
              <a:uLnTx/>
              <a:uFillTx/>
              <a:latin typeface="Source Sans Pro" panose="020B0503030403020204" pitchFamily="34" charset="0"/>
            </a:endParaRPr>
          </a:p>
          <a:p>
            <a:pPr>
              <a:defRPr/>
            </a:pPr>
            <a:r>
              <a:rPr lang="de-DE" sz="2000" b="1" dirty="0">
                <a:solidFill>
                  <a:srgbClr val="0071B2"/>
                </a:solidFill>
                <a:latin typeface="Source Sans Pro" panose="020B0503030403020204" pitchFamily="34" charset="0"/>
              </a:rPr>
              <a:t>ALTER TABLE </a:t>
            </a:r>
            <a:r>
              <a:rPr lang="de-DE" sz="2000" dirty="0">
                <a:latin typeface="Source Sans Pro" panose="020B0503030403020204" pitchFamily="34" charset="0"/>
              </a:rPr>
              <a:t>Produkt</a:t>
            </a:r>
            <a:r>
              <a:rPr lang="de-DE" sz="2000" dirty="0">
                <a:solidFill>
                  <a:srgbClr val="0071B2"/>
                </a:solidFill>
                <a:latin typeface="Source Sans Pro" panose="020B0503030403020204" pitchFamily="34" charset="0"/>
              </a:rPr>
              <a:t> </a:t>
            </a:r>
            <a:r>
              <a:rPr lang="de-DE" sz="2000" b="1" dirty="0" smtClean="0">
                <a:latin typeface="Source Sans Pro" panose="020B0503030403020204" pitchFamily="34" charset="0"/>
              </a:rPr>
              <a:t>DROP FOREIGN KEY </a:t>
            </a:r>
            <a:r>
              <a:rPr lang="de-DE" sz="2000" b="1" dirty="0">
                <a:solidFill>
                  <a:srgbClr val="FF0000"/>
                </a:solidFill>
                <a:latin typeface="Source Sans Pro" panose="020B0503030403020204" pitchFamily="34" charset="0"/>
              </a:rPr>
              <a:t>Produkt_ibfk_2</a:t>
            </a:r>
            <a:r>
              <a:rPr lang="de-DE" sz="2000" b="1" dirty="0" smtClean="0">
                <a:solidFill>
                  <a:srgbClr val="0071B2"/>
                </a:solidFill>
                <a:latin typeface="Source Sans Pro" panose="020B0503030403020204" pitchFamily="34" charset="0"/>
              </a:rPr>
              <a:t>;</a:t>
            </a:r>
          </a:p>
          <a:p>
            <a:pPr>
              <a:defRPr/>
            </a:pPr>
            <a:endParaRPr lang="de-DE" sz="800" b="1" dirty="0">
              <a:solidFill>
                <a:srgbClr val="0071B2"/>
              </a:solidFill>
              <a:latin typeface="Source Sans Pro" panose="020B0503030403020204" pitchFamily="34" charset="0"/>
            </a:endParaRPr>
          </a:p>
          <a:p>
            <a:pPr lvl="0">
              <a:defRPr/>
            </a:pPr>
            <a:r>
              <a:rPr lang="de-DE" sz="1600" dirty="0" smtClean="0">
                <a:latin typeface="Source Sans Pro" panose="020B0503030403020204" pitchFamily="34" charset="0"/>
              </a:rPr>
              <a:t>Erst durch die Aufhebung dieser Referenz können wir nun auch das Attribut </a:t>
            </a:r>
            <a:r>
              <a:rPr lang="de-DE" sz="1600" b="1" dirty="0" smtClean="0">
                <a:latin typeface="Source Sans Pro" panose="020B0503030403020204" pitchFamily="34" charset="0"/>
              </a:rPr>
              <a:t>Kunde_ID</a:t>
            </a:r>
            <a:r>
              <a:rPr lang="de-DE" sz="1600" dirty="0" smtClean="0">
                <a:latin typeface="Source Sans Pro" panose="020B0503030403020204" pitchFamily="34" charset="0"/>
              </a:rPr>
              <a:t> aus der Tabelle </a:t>
            </a:r>
            <a:r>
              <a:rPr lang="de-DE" sz="1600" b="1" dirty="0" smtClean="0">
                <a:latin typeface="Source Sans Pro" panose="020B0503030403020204" pitchFamily="34" charset="0"/>
              </a:rPr>
              <a:t>Produkt</a:t>
            </a:r>
            <a:r>
              <a:rPr lang="de-DE" sz="1600" dirty="0" smtClean="0">
                <a:latin typeface="Source Sans Pro" panose="020B0503030403020204" pitchFamily="34" charset="0"/>
              </a:rPr>
              <a:t> löschen:</a:t>
            </a:r>
            <a:endParaRPr lang="de-DE" sz="1600" dirty="0">
              <a:latin typeface="Source Sans Pro" panose="020B0503030403020204" pitchFamily="34" charset="0"/>
            </a:endParaRPr>
          </a:p>
          <a:p>
            <a:pPr lvl="0">
              <a:defRPr/>
            </a:pPr>
            <a:r>
              <a:rPr lang="de-DE" sz="2000" b="1" dirty="0">
                <a:latin typeface="Source Sans Pro" panose="020B0503030403020204" pitchFamily="34" charset="0"/>
              </a:rPr>
              <a:t>ALTER TABLE </a:t>
            </a:r>
            <a:r>
              <a:rPr lang="de-DE" sz="2000" dirty="0">
                <a:latin typeface="Source Sans Pro" panose="020B0503030403020204" pitchFamily="34" charset="0"/>
              </a:rPr>
              <a:t>Produkt </a:t>
            </a:r>
            <a:r>
              <a:rPr lang="de-DE" sz="2000" b="1" dirty="0">
                <a:latin typeface="Source Sans Pro" panose="020B0503030403020204" pitchFamily="34" charset="0"/>
              </a:rPr>
              <a:t>DROP </a:t>
            </a:r>
            <a:r>
              <a:rPr lang="de-DE" sz="2000" dirty="0" smtClean="0">
                <a:latin typeface="Source Sans Pro" panose="020B0503030403020204" pitchFamily="34" charset="0"/>
              </a:rPr>
              <a:t>Kunde_ID</a:t>
            </a:r>
            <a:r>
              <a:rPr lang="de-DE" sz="2000" b="1" dirty="0" smtClean="0">
                <a:latin typeface="Source Sans Pro" panose="020B0503030403020204" pitchFamily="34" charset="0"/>
              </a:rPr>
              <a:t>;</a:t>
            </a:r>
            <a:endParaRPr lang="de-DE" sz="2000" b="1" dirty="0">
              <a:latin typeface="Source Sans Pro" panose="020B0503030403020204" pitchFamily="34" charset="0"/>
            </a:endParaRPr>
          </a:p>
          <a:p>
            <a:pPr>
              <a:defRPr/>
            </a:pPr>
            <a:endParaRPr lang="de-DE" sz="2000" b="1" dirty="0" smtClean="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3200" b="1" baseline="0" dirty="0" smtClean="0">
                <a:solidFill>
                  <a:srgbClr val="0071B2"/>
                </a:solidFill>
                <a:latin typeface="Source Sans Pro" panose="020B0503030403020204" pitchFamily="34" charset="0"/>
              </a:rPr>
              <a:t> </a:t>
            </a: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pic>
        <p:nvPicPr>
          <p:cNvPr id="10" name="Grafik 9"/>
          <p:cNvPicPr>
            <a:picLocks noChangeAspect="1"/>
          </p:cNvPicPr>
          <p:nvPr/>
        </p:nvPicPr>
        <p:blipFill>
          <a:blip r:embed="rId2"/>
          <a:stretch>
            <a:fillRect/>
          </a:stretch>
        </p:blipFill>
        <p:spPr>
          <a:xfrm>
            <a:off x="648391" y="2173607"/>
            <a:ext cx="5699241" cy="2310209"/>
          </a:xfrm>
          <a:prstGeom prst="rect">
            <a:avLst/>
          </a:prstGeom>
          <a:effectLst>
            <a:innerShdw blurRad="114300">
              <a:prstClr val="black"/>
            </a:innerShdw>
          </a:effectLst>
        </p:spPr>
      </p:pic>
      <p:sp>
        <p:nvSpPr>
          <p:cNvPr id="3" name="Rechteck 2"/>
          <p:cNvSpPr/>
          <p:nvPr/>
        </p:nvSpPr>
        <p:spPr>
          <a:xfrm>
            <a:off x="1899184" y="4131425"/>
            <a:ext cx="794140" cy="1606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8" name="Gerader Verbinder 7"/>
          <p:cNvCxnSpPr/>
          <p:nvPr/>
        </p:nvCxnSpPr>
        <p:spPr>
          <a:xfrm>
            <a:off x="3498011" y="4292082"/>
            <a:ext cx="53530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4637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556277" cy="720725"/>
          </a:xfrm>
        </p:spPr>
        <p:txBody>
          <a:bodyPr>
            <a:noAutofit/>
          </a:bodyPr>
          <a:lstStyle/>
          <a:p>
            <a:r>
              <a:rPr lang="de-DE" sz="2000" dirty="0">
                <a:solidFill>
                  <a:srgbClr val="0071B2"/>
                </a:solidFill>
                <a:latin typeface="Source Sans Pro" panose="020B0503030403020204" pitchFamily="34" charset="0"/>
              </a:rPr>
              <a:t>ALTER TABLE </a:t>
            </a:r>
            <a:r>
              <a:rPr lang="de-DE" sz="2000" dirty="0" smtClean="0">
                <a:solidFill>
                  <a:srgbClr val="D2E8F4">
                    <a:lumMod val="75000"/>
                  </a:srgbClr>
                </a:solidFill>
                <a:latin typeface="Source Sans Pro" panose="020B0503030403020204" pitchFamily="34" charset="0"/>
              </a:rPr>
              <a:t>Tabellen-Name</a:t>
            </a:r>
            <a:r>
              <a:rPr lang="de-DE" sz="2000" dirty="0" smtClean="0">
                <a:solidFill>
                  <a:srgbClr val="0071B2"/>
                </a:solidFill>
                <a:latin typeface="Source Sans Pro" panose="020B0503030403020204" pitchFamily="34" charset="0"/>
              </a:rPr>
              <a:t> </a:t>
            </a:r>
            <a:r>
              <a:rPr lang="de-DE" sz="2000" dirty="0" smtClean="0">
                <a:solidFill>
                  <a:srgbClr val="FE5000"/>
                </a:solidFill>
                <a:latin typeface="Source Sans Pro" panose="020B0503030403020204" pitchFamily="34" charset="0"/>
              </a:rPr>
              <a:t>CHANGE </a:t>
            </a:r>
            <a:r>
              <a:rPr lang="de-DE" sz="2000" dirty="0" smtClean="0">
                <a:solidFill>
                  <a:schemeClr val="accent2">
                    <a:lumMod val="50000"/>
                  </a:schemeClr>
                </a:solidFill>
                <a:latin typeface="Source Sans Pro" panose="020B0503030403020204" pitchFamily="34" charset="0"/>
              </a:rPr>
              <a:t>bisheriger Attribut-Name </a:t>
            </a:r>
            <a:r>
              <a:rPr lang="de-DE" sz="2000" dirty="0" smtClean="0">
                <a:solidFill>
                  <a:schemeClr val="accent2">
                    <a:lumMod val="75000"/>
                  </a:schemeClr>
                </a:solidFill>
                <a:latin typeface="Source Sans Pro" panose="020B0503030403020204" pitchFamily="34" charset="0"/>
              </a:rPr>
              <a:t>neuer Attribut-Name Definition</a:t>
            </a:r>
            <a:endParaRPr lang="de-DE" sz="2000" b="0" i="1" dirty="0">
              <a:solidFill>
                <a:schemeClr val="accent2">
                  <a:lumMod val="75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543744" y="2366618"/>
            <a:ext cx="11343455" cy="23698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Um (z.B.) in der Tabelle „Kunde“ das </a:t>
            </a:r>
            <a:r>
              <a:rPr kumimoji="0" lang="de-DE" sz="16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Attribut „Vorname“ </a:t>
            </a:r>
            <a:r>
              <a:rPr kumimoji="0" lang="de-DE" sz="16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zu ändern, verwenden wir den folgenden Befehl: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ALTER TABLE </a:t>
            </a:r>
            <a:r>
              <a:rPr kumimoji="0" lang="de-DE" sz="2400" b="0" i="0" u="none" strike="noStrike" kern="1200" cap="none" spc="0" normalizeH="0" baseline="0" noProof="0" dirty="0" smtClean="0">
                <a:ln>
                  <a:noFill/>
                </a:ln>
                <a:solidFill>
                  <a:srgbClr val="D2E8F4">
                    <a:lumMod val="75000"/>
                  </a:srgbClr>
                </a:solidFill>
                <a:effectLst/>
                <a:uLnTx/>
                <a:uFillTx/>
                <a:latin typeface="Source Sans Pro" panose="020B0503030403020204" pitchFamily="34" charset="0"/>
                <a:ea typeface="+mn-ea"/>
                <a:cs typeface="+mn-cs"/>
              </a:rPr>
              <a:t>Kunde</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2400" b="1" i="0" u="none" strike="noStrike" kern="1200" cap="none" spc="0" normalizeH="0" baseline="0" noProof="0" dirty="0" smtClean="0">
                <a:ln>
                  <a:noFill/>
                </a:ln>
                <a:solidFill>
                  <a:srgbClr val="FE5000"/>
                </a:solidFill>
                <a:effectLst/>
                <a:uLnTx/>
                <a:uFillTx/>
                <a:latin typeface="Source Sans Pro" panose="020B0503030403020204" pitchFamily="34" charset="0"/>
                <a:ea typeface="+mn-ea"/>
                <a:cs typeface="+mn-cs"/>
              </a:rPr>
              <a:t>CHANGE</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2400" b="0" i="0" u="none" strike="noStrike" kern="1200" cap="none" spc="0" normalizeH="0" baseline="0" noProof="0" dirty="0" smtClean="0">
                <a:ln>
                  <a:noFill/>
                </a:ln>
                <a:solidFill>
                  <a:srgbClr val="FE5000">
                    <a:lumMod val="50000"/>
                  </a:srgbClr>
                </a:solidFill>
                <a:effectLst/>
                <a:uLnTx/>
                <a:uFillTx/>
                <a:latin typeface="Source Sans Pro" panose="020B0503030403020204" pitchFamily="34" charset="0"/>
                <a:ea typeface="+mn-ea"/>
                <a:cs typeface="+mn-cs"/>
              </a:rPr>
              <a:t>Vorname</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2400" b="1" i="0" u="none" strike="noStrike" kern="1200" cap="none" spc="0" normalizeH="0" baseline="0" noProof="0" dirty="0" smtClean="0">
                <a:ln>
                  <a:noFill/>
                </a:ln>
                <a:solidFill>
                  <a:schemeClr val="accent2">
                    <a:lumMod val="75000"/>
                  </a:schemeClr>
                </a:solidFill>
                <a:effectLst/>
                <a:uLnTx/>
                <a:uFillTx/>
                <a:latin typeface="Source Sans Pro" panose="020B0503030403020204" pitchFamily="34" charset="0"/>
                <a:ea typeface="+mn-ea"/>
                <a:cs typeface="+mn-cs"/>
              </a:rPr>
              <a:t>Kunde_Vorname</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2400" b="1" i="0" u="none" strike="noStrike" kern="1200" cap="none" spc="0" normalizeH="0" baseline="0" noProof="0" dirty="0" smtClean="0">
                <a:ln>
                  <a:noFill/>
                </a:ln>
                <a:solidFill>
                  <a:srgbClr val="FE5000">
                    <a:lumMod val="75000"/>
                  </a:srgbClr>
                </a:solidFill>
                <a:effectLst/>
                <a:uLnTx/>
                <a:uFillTx/>
                <a:latin typeface="Source Sans Pro" panose="020B0503030403020204" pitchFamily="34" charset="0"/>
                <a:ea typeface="+mn-ea"/>
                <a:cs typeface="+mn-cs"/>
              </a:rPr>
              <a:t>VARCHAR(50) NOT NULL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400" b="1" dirty="0">
              <a:solidFill>
                <a:srgbClr val="0071B2"/>
              </a:solidFill>
              <a:latin typeface="Source Sans Pro" panose="020B0503030403020204" pitchFamily="34" charset="0"/>
            </a:endParaRPr>
          </a:p>
          <a:p>
            <a:pPr>
              <a:defRPr/>
            </a:pPr>
            <a:r>
              <a:rPr lang="de-DE" dirty="0" smtClean="0">
                <a:solidFill>
                  <a:srgbClr val="0071B2"/>
                </a:solidFill>
              </a:rPr>
              <a:t>                                                                                                   </a:t>
            </a:r>
            <a:r>
              <a:rPr lang="de-DE" dirty="0" smtClean="0">
                <a:solidFill>
                  <a:srgbClr val="0070C0"/>
                </a:solidFill>
              </a:rPr>
              <a:t>Dies </a:t>
            </a:r>
            <a:r>
              <a:rPr lang="de-DE" dirty="0">
                <a:solidFill>
                  <a:srgbClr val="0070C0"/>
                </a:solidFill>
              </a:rPr>
              <a:t>entspricht </a:t>
            </a:r>
            <a:r>
              <a:rPr lang="de-DE" b="1" dirty="0">
                <a:solidFill>
                  <a:srgbClr val="0070C0"/>
                </a:solidFill>
              </a:rPr>
              <a:t>auch diesmal jener </a:t>
            </a:r>
            <a:r>
              <a:rPr lang="de-DE" b="1" dirty="0" smtClean="0">
                <a:solidFill>
                  <a:srgbClr val="0070C0"/>
                </a:solidFill>
              </a:rPr>
              <a:t>Syntax</a:t>
            </a:r>
            <a:r>
              <a:rPr lang="de-DE" dirty="0" smtClean="0">
                <a:solidFill>
                  <a:srgbClr val="0070C0"/>
                </a:solidFill>
              </a:rPr>
              <a:t>, die </a:t>
            </a:r>
            <a:r>
              <a:rPr lang="de-DE" dirty="0">
                <a:solidFill>
                  <a:srgbClr val="0070C0"/>
                </a:solidFill>
              </a:rPr>
              <a:t>wir schon bei </a:t>
            </a:r>
            <a:r>
              <a:rPr lang="de-DE" dirty="0" smtClean="0">
                <a:solidFill>
                  <a:srgbClr val="0070C0"/>
                </a:solidFill>
              </a:rPr>
              <a:t>                      </a:t>
            </a:r>
          </a:p>
          <a:p>
            <a:pPr>
              <a:defRPr/>
            </a:pPr>
            <a:r>
              <a:rPr lang="de-DE" dirty="0" smtClean="0">
                <a:solidFill>
                  <a:srgbClr val="0070C0"/>
                </a:solidFill>
              </a:rPr>
              <a:t>                                                                                                                „</a:t>
            </a:r>
            <a:r>
              <a:rPr lang="de-DE" b="1" dirty="0">
                <a:solidFill>
                  <a:srgbClr val="0070C0"/>
                </a:solidFill>
              </a:rPr>
              <a:t>CREATE TABLE </a:t>
            </a:r>
            <a:r>
              <a:rPr lang="de-DE" dirty="0">
                <a:solidFill>
                  <a:srgbClr val="0070C0"/>
                </a:solidFill>
              </a:rPr>
              <a:t>Kunde“ hätten nutzen können.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06311" y="4736498"/>
            <a:ext cx="11870575" cy="107375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dirty="0" smtClean="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noProof="0" dirty="0" smtClean="0">
                <a:solidFill>
                  <a:srgbClr val="0071B2"/>
                </a:solidFill>
                <a:latin typeface="Calibri" panose="020F0502020204030204"/>
              </a:rPr>
              <a:t>Natürlich kann frei gewählt werden, </a:t>
            </a:r>
            <a:r>
              <a:rPr lang="de-DE" sz="1400" b="1" noProof="0" dirty="0" smtClean="0">
                <a:solidFill>
                  <a:srgbClr val="0071B2"/>
                </a:solidFill>
                <a:latin typeface="Calibri" panose="020F0502020204030204"/>
              </a:rPr>
              <a:t>was</a:t>
            </a:r>
            <a:r>
              <a:rPr lang="de-DE" sz="1400" noProof="0" dirty="0" smtClean="0">
                <a:solidFill>
                  <a:srgbClr val="0071B2"/>
                </a:solidFill>
                <a:latin typeface="Calibri" panose="020F0502020204030204"/>
              </a:rPr>
              <a:t> geändert werden soll. Insbesondere ist man also </a:t>
            </a:r>
            <a:r>
              <a:rPr lang="de-DE" sz="1400" u="sng" noProof="0" dirty="0" smtClean="0">
                <a:solidFill>
                  <a:srgbClr val="0071B2"/>
                </a:solidFill>
                <a:latin typeface="Calibri" panose="020F0502020204030204"/>
              </a:rPr>
              <a:t>nicht</a:t>
            </a:r>
            <a:r>
              <a:rPr lang="de-DE" sz="1400" noProof="0" dirty="0" smtClean="0">
                <a:solidFill>
                  <a:srgbClr val="0071B2"/>
                </a:solidFill>
                <a:latin typeface="Calibri" panose="020F0502020204030204"/>
              </a:rPr>
              <a:t> verpflichtet, den Attribut-Namen zu ändern. Hierzu eine Beispiel: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de-DE" sz="2800" b="1" noProof="0" dirty="0" smtClean="0">
                <a:solidFill>
                  <a:srgbClr val="0071B2"/>
                </a:solidFill>
                <a:latin typeface="Calibri" panose="020F0502020204030204"/>
              </a:rPr>
              <a:t>ALTER TABLE </a:t>
            </a:r>
            <a:r>
              <a:rPr lang="de-DE" sz="2800" noProof="0" dirty="0" smtClean="0">
                <a:solidFill>
                  <a:schemeClr val="accent3">
                    <a:lumMod val="75000"/>
                  </a:schemeClr>
                </a:solidFill>
                <a:latin typeface="Calibri" panose="020F0502020204030204"/>
              </a:rPr>
              <a:t>Kunde</a:t>
            </a:r>
            <a:r>
              <a:rPr lang="de-DE" sz="2800" noProof="0" dirty="0" smtClean="0">
                <a:solidFill>
                  <a:srgbClr val="0071B2"/>
                </a:solidFill>
                <a:latin typeface="Calibri" panose="020F0502020204030204"/>
              </a:rPr>
              <a:t> </a:t>
            </a:r>
            <a:r>
              <a:rPr lang="de-DE" sz="2800" b="1" noProof="0" dirty="0" smtClean="0">
                <a:solidFill>
                  <a:schemeClr val="accent2"/>
                </a:solidFill>
                <a:latin typeface="Calibri" panose="020F0502020204030204"/>
              </a:rPr>
              <a:t>CHANGE</a:t>
            </a:r>
            <a:r>
              <a:rPr lang="de-DE" sz="2800" noProof="0" dirty="0" smtClean="0">
                <a:solidFill>
                  <a:srgbClr val="0071B2"/>
                </a:solidFill>
                <a:latin typeface="Calibri" panose="020F0502020204030204"/>
              </a:rPr>
              <a:t> </a:t>
            </a:r>
            <a:r>
              <a:rPr lang="de-DE" sz="2800" noProof="0" dirty="0" smtClean="0">
                <a:solidFill>
                  <a:schemeClr val="accent2">
                    <a:lumMod val="50000"/>
                  </a:schemeClr>
                </a:solidFill>
                <a:latin typeface="Calibri" panose="020F0502020204030204"/>
              </a:rPr>
              <a:t>Vorname</a:t>
            </a:r>
            <a:r>
              <a:rPr lang="de-DE" sz="2800" noProof="0" dirty="0" smtClean="0">
                <a:solidFill>
                  <a:srgbClr val="0071B2"/>
                </a:solidFill>
                <a:latin typeface="Calibri" panose="020F0502020204030204"/>
              </a:rPr>
              <a:t> </a:t>
            </a:r>
            <a:r>
              <a:rPr lang="de-DE" sz="2800" noProof="0" dirty="0" smtClean="0">
                <a:solidFill>
                  <a:schemeClr val="accent2">
                    <a:lumMod val="75000"/>
                  </a:schemeClr>
                </a:solidFill>
                <a:latin typeface="Calibri" panose="020F0502020204030204"/>
              </a:rPr>
              <a:t>Vorname </a:t>
            </a:r>
            <a:r>
              <a:rPr lang="de-DE" sz="2800" b="1" noProof="0" dirty="0" smtClean="0">
                <a:solidFill>
                  <a:schemeClr val="accent2">
                    <a:lumMod val="75000"/>
                  </a:schemeClr>
                </a:solidFill>
                <a:latin typeface="Calibri" panose="020F0502020204030204"/>
              </a:rPr>
              <a:t>VARCHAR(100) NULL</a:t>
            </a:r>
            <a:r>
              <a:rPr lang="de-DE" sz="2800" b="1" noProof="0" dirty="0" smtClean="0">
                <a:solidFill>
                  <a:srgbClr val="0071B2"/>
                </a:solidFill>
                <a:latin typeface="Calibri" panose="020F0502020204030204"/>
              </a:rPr>
              <a:t>;</a:t>
            </a:r>
            <a:endParaRPr kumimoji="0" lang="de-DE" sz="2800" b="1" i="0" u="none" strike="noStrike" kern="1200" cap="none" spc="0" normalizeH="0" baseline="0" noProof="0" dirty="0">
              <a:ln>
                <a:noFill/>
              </a:ln>
              <a:solidFill>
                <a:srgbClr val="0071B2"/>
              </a:solidFill>
              <a:effectLst/>
              <a:uLnTx/>
              <a:uFillTx/>
              <a:latin typeface="Calibri" panose="020F0502020204030204"/>
            </a:endParaRPr>
          </a:p>
        </p:txBody>
      </p:sp>
      <p:sp>
        <p:nvSpPr>
          <p:cNvPr id="3" name="Geschweifte Klammer rechts 2"/>
          <p:cNvSpPr/>
          <p:nvPr/>
        </p:nvSpPr>
        <p:spPr>
          <a:xfrm rot="5400000">
            <a:off x="8480597" y="484607"/>
            <a:ext cx="203200" cy="5543203"/>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65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159020" cy="720725"/>
          </a:xfrm>
        </p:spPr>
        <p:txBody>
          <a:bodyPr>
            <a:noAutofit/>
          </a:bodyPr>
          <a:lstStyle/>
          <a:p>
            <a:r>
              <a:rPr lang="de-DE" sz="3000" dirty="0">
                <a:solidFill>
                  <a:srgbClr val="0071B2"/>
                </a:solidFill>
                <a:latin typeface="Source Sans Pro" panose="020B0503030403020204" pitchFamily="34" charset="0"/>
              </a:rPr>
              <a:t>ALTER TABLE </a:t>
            </a:r>
            <a:r>
              <a:rPr lang="de-DE" sz="3000" dirty="0" smtClean="0">
                <a:solidFill>
                  <a:srgbClr val="D2E8F4">
                    <a:lumMod val="75000"/>
                  </a:srgbClr>
                </a:solidFill>
                <a:latin typeface="Source Sans Pro" panose="020B0503030403020204" pitchFamily="34" charset="0"/>
              </a:rPr>
              <a:t>alter Tabellen-Name</a:t>
            </a:r>
            <a:r>
              <a:rPr lang="de-DE" sz="3000" dirty="0" smtClean="0">
                <a:solidFill>
                  <a:srgbClr val="0071B2"/>
                </a:solidFill>
                <a:latin typeface="Source Sans Pro" panose="020B0503030403020204" pitchFamily="34" charset="0"/>
              </a:rPr>
              <a:t> </a:t>
            </a:r>
            <a:r>
              <a:rPr lang="de-DE" sz="3000" dirty="0" smtClean="0">
                <a:solidFill>
                  <a:srgbClr val="FE5000"/>
                </a:solidFill>
                <a:latin typeface="Source Sans Pro" panose="020B0503030403020204" pitchFamily="34" charset="0"/>
              </a:rPr>
              <a:t>RENAME </a:t>
            </a:r>
            <a:r>
              <a:rPr lang="de-DE" sz="3000" dirty="0" smtClean="0">
                <a:solidFill>
                  <a:srgbClr val="FE5000">
                    <a:lumMod val="50000"/>
                  </a:srgbClr>
                </a:solidFill>
                <a:latin typeface="Source Sans Pro" panose="020B0503030403020204" pitchFamily="34" charset="0"/>
              </a:rPr>
              <a:t>neuer Tabellen-Name</a:t>
            </a:r>
            <a:endParaRPr lang="de-DE" sz="3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302676" y="2333367"/>
            <a:ext cx="1172584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5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Um (z.B.) den Namen der Tabelle </a:t>
            </a:r>
            <a:r>
              <a:rPr kumimoji="0" lang="de-DE" sz="1500" b="1" i="0" u="none" strike="noStrike" kern="1200" cap="none" spc="0" normalizeH="0" baseline="0" noProof="0" dirty="0" smtClean="0">
                <a:ln>
                  <a:noFill/>
                </a:ln>
                <a:solidFill>
                  <a:schemeClr val="accent3">
                    <a:lumMod val="75000"/>
                  </a:schemeClr>
                </a:solidFill>
                <a:effectLst/>
                <a:uLnTx/>
                <a:uFillTx/>
                <a:latin typeface="Source Sans Pro" panose="020B0503030403020204" pitchFamily="34" charset="0"/>
                <a:ea typeface="+mn-ea"/>
                <a:cs typeface="+mn-cs"/>
              </a:rPr>
              <a:t>„Abrechnung“ </a:t>
            </a:r>
            <a:r>
              <a:rPr kumimoji="0" lang="de-DE" sz="15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durch die neue Bezeichnung </a:t>
            </a:r>
            <a:r>
              <a:rPr kumimoji="0" lang="de-DE" sz="15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n-ea"/>
                <a:cs typeface="+mn-cs"/>
              </a:rPr>
              <a:t>„invoice“ </a:t>
            </a:r>
            <a:r>
              <a:rPr kumimoji="0" lang="de-DE" sz="15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zu überschreiben, verwenden wir den folgenden Befehl: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ALTER TABLE </a:t>
            </a:r>
            <a:r>
              <a:rPr kumimoji="0" lang="de-DE" sz="3200" b="0" i="0" u="none" strike="noStrike" kern="1200" cap="none" spc="0" normalizeH="0" baseline="0" noProof="0" dirty="0" smtClean="0">
                <a:ln>
                  <a:noFill/>
                </a:ln>
                <a:solidFill>
                  <a:srgbClr val="D2E8F4">
                    <a:lumMod val="75000"/>
                  </a:srgbClr>
                </a:solidFill>
                <a:effectLst/>
                <a:uLnTx/>
                <a:uFillTx/>
                <a:latin typeface="Source Sans Pro" panose="020B0503030403020204" pitchFamily="34" charset="0"/>
                <a:ea typeface="+mn-ea"/>
                <a:cs typeface="+mn-cs"/>
              </a:rPr>
              <a:t>Abrechnung</a:t>
            </a:r>
            <a:r>
              <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3200" b="1" i="0" u="none" strike="noStrike" kern="1200" cap="none" spc="0" normalizeH="0" baseline="0" noProof="0" dirty="0" smtClean="0">
                <a:ln>
                  <a:noFill/>
                </a:ln>
                <a:solidFill>
                  <a:srgbClr val="FE5000"/>
                </a:solidFill>
                <a:effectLst/>
                <a:uLnTx/>
                <a:uFillTx/>
                <a:latin typeface="Source Sans Pro" panose="020B0503030403020204" pitchFamily="34" charset="0"/>
                <a:ea typeface="+mn-ea"/>
                <a:cs typeface="+mn-cs"/>
              </a:rPr>
              <a:t>RENAME </a:t>
            </a:r>
            <a:r>
              <a:rPr kumimoji="0" lang="de-DE" sz="3200" i="0" u="none" strike="noStrike" kern="1200" cap="none" spc="0" normalizeH="0" baseline="0" noProof="0" dirty="0" smtClean="0">
                <a:ln>
                  <a:noFill/>
                </a:ln>
                <a:solidFill>
                  <a:srgbClr val="FE5000">
                    <a:lumMod val="50000"/>
                  </a:srgbClr>
                </a:solidFill>
                <a:effectLst/>
                <a:uLnTx/>
                <a:uFillTx/>
                <a:latin typeface="Source Sans Pro" panose="020B0503030403020204" pitchFamily="34" charset="0"/>
                <a:ea typeface="+mn-ea"/>
                <a:cs typeface="+mn-cs"/>
              </a:rPr>
              <a:t>invoice</a:t>
            </a:r>
            <a:r>
              <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Rechteck 7"/>
          <p:cNvSpPr/>
          <p:nvPr/>
        </p:nvSpPr>
        <p:spPr>
          <a:xfrm>
            <a:off x="157941" y="3818768"/>
            <a:ext cx="11870575" cy="1994204"/>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b="1" dirty="0" smtClean="0">
                <a:solidFill>
                  <a:schemeClr val="tx1"/>
                </a:solidFill>
              </a:rPr>
              <a:t>Hinweis:</a:t>
            </a:r>
          </a:p>
          <a:p>
            <a:pPr algn="ctr"/>
            <a:r>
              <a:rPr lang="de-DE" sz="2400" dirty="0" smtClean="0">
                <a:solidFill>
                  <a:schemeClr val="tx1"/>
                </a:solidFill>
              </a:rPr>
              <a:t>Durch die Umbenennung wird auch die interne Bezeichnung des Fremdschlüssels angepasst:</a:t>
            </a:r>
          </a:p>
          <a:p>
            <a:pPr algn="ctr"/>
            <a:endParaRPr lang="de-DE" sz="1200" dirty="0" smtClean="0">
              <a:solidFill>
                <a:schemeClr val="tx1"/>
              </a:solidFill>
            </a:endParaRPr>
          </a:p>
          <a:p>
            <a:pPr algn="ctr"/>
            <a:r>
              <a:rPr lang="de-DE" dirty="0" smtClean="0">
                <a:solidFill>
                  <a:schemeClr val="tx1"/>
                </a:solidFill>
              </a:rPr>
              <a:t>Der Fremdschlüssel „Kunde_ID“ hieß bisher intern </a:t>
            </a:r>
            <a:r>
              <a:rPr lang="de-DE" b="1" dirty="0">
                <a:solidFill>
                  <a:schemeClr val="bg1">
                    <a:lumMod val="75000"/>
                  </a:schemeClr>
                </a:solidFill>
              </a:rPr>
              <a:t>a</a:t>
            </a:r>
            <a:r>
              <a:rPr lang="de-DE" b="1" dirty="0" smtClean="0">
                <a:solidFill>
                  <a:schemeClr val="bg1">
                    <a:lumMod val="75000"/>
                  </a:schemeClr>
                </a:solidFill>
              </a:rPr>
              <a:t>brechnung</a:t>
            </a:r>
            <a:r>
              <a:rPr lang="de-DE" b="1" dirty="0" smtClean="0">
                <a:solidFill>
                  <a:schemeClr val="tx1"/>
                </a:solidFill>
              </a:rPr>
              <a:t>_ibfk_1</a:t>
            </a:r>
            <a:r>
              <a:rPr lang="de-DE" dirty="0" smtClean="0">
                <a:solidFill>
                  <a:schemeClr val="tx1"/>
                </a:solidFill>
              </a:rPr>
              <a:t>.</a:t>
            </a:r>
          </a:p>
          <a:p>
            <a:pPr algn="ctr"/>
            <a:r>
              <a:rPr lang="de-DE" dirty="0" smtClean="0">
                <a:solidFill>
                  <a:schemeClr val="tx1"/>
                </a:solidFill>
              </a:rPr>
              <a:t>Nach der Umbenennung wird er intern nun entsprechend </a:t>
            </a:r>
            <a:r>
              <a:rPr lang="de-DE" b="1" dirty="0" smtClean="0">
                <a:solidFill>
                  <a:schemeClr val="accent2">
                    <a:lumMod val="50000"/>
                  </a:schemeClr>
                </a:solidFill>
              </a:rPr>
              <a:t>invoice</a:t>
            </a:r>
            <a:r>
              <a:rPr lang="de-DE" b="1" dirty="0" smtClean="0">
                <a:solidFill>
                  <a:schemeClr val="tx1"/>
                </a:solidFill>
              </a:rPr>
              <a:t>_ibfk_1</a:t>
            </a:r>
            <a:r>
              <a:rPr lang="de-DE" dirty="0" smtClean="0">
                <a:solidFill>
                  <a:schemeClr val="tx1"/>
                </a:solidFill>
              </a:rPr>
              <a:t> genannt.</a:t>
            </a:r>
          </a:p>
        </p:txBody>
      </p:sp>
    </p:spTree>
    <p:extLst>
      <p:ext uri="{BB962C8B-B14F-4D97-AF65-F5344CB8AC3E}">
        <p14:creationId xmlns:p14="http://schemas.microsoft.com/office/powerpoint/2010/main" val="75606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a:t>
            </a:r>
            <a:r>
              <a:rPr lang="de-DE" dirty="0" smtClean="0">
                <a:latin typeface="Source Sans Pro" panose="020B0503030403020204" pitchFamily="34" charset="0"/>
              </a:rPr>
              <a:t>Übung </a:t>
            </a:r>
            <a:r>
              <a:rPr lang="de-DE" sz="2700" dirty="0" smtClean="0">
                <a:latin typeface="Source Sans Pro" panose="020B0503030403020204" pitchFamily="34" charset="0"/>
              </a:rPr>
              <a:t>(„Live-Coding“) </a:t>
            </a:r>
            <a:r>
              <a:rPr lang="de-DE" dirty="0" smtClean="0">
                <a:latin typeface="Source Sans Pro" panose="020B0503030403020204" pitchFamily="34" charset="0"/>
              </a:rPr>
              <a:t>-&gt; </a:t>
            </a:r>
            <a:r>
              <a:rPr lang="de-DE" dirty="0" smtClean="0">
                <a:solidFill>
                  <a:schemeClr val="accent2"/>
                </a:solidFill>
                <a:latin typeface="Source Sans Pro" panose="020B0503030403020204" pitchFamily="34" charset="0"/>
              </a:rPr>
              <a:t>A_02_02_01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3" name="Grafik 2"/>
          <p:cNvPicPr>
            <a:picLocks noChangeAspect="1"/>
          </p:cNvPicPr>
          <p:nvPr/>
        </p:nvPicPr>
        <p:blipFill>
          <a:blip r:embed="rId2"/>
          <a:stretch>
            <a:fillRect/>
          </a:stretch>
        </p:blipFill>
        <p:spPr>
          <a:xfrm>
            <a:off x="2886271" y="1365848"/>
            <a:ext cx="5955812" cy="4183725"/>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smtClean="0">
                <a:latin typeface="Source Sans Pro" panose="020B0503030403020204" pitchFamily="34" charset="0"/>
              </a:rPr>
              <a:t>Vielen Dank für Ihre Aufmerksamkeit!</a:t>
            </a:r>
            <a:endParaRPr lang="de-DE" dirty="0">
              <a:latin typeface="Source Sans Pro" panose="020B0503030403020204" pitchFamily="34" charset="0"/>
            </a:endParaRP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927</Words>
  <Application>Microsoft Office PowerPoint</Application>
  <PresentationFormat>Breitbild</PresentationFormat>
  <Paragraphs>139</Paragraphs>
  <Slides>15</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15</vt:i4>
      </vt:variant>
    </vt:vector>
  </HeadingPairs>
  <TitlesOfParts>
    <vt:vector size="20" baseType="lpstr">
      <vt:lpstr>Arial</vt:lpstr>
      <vt:lpstr>Calibri</vt:lpstr>
      <vt:lpstr>Source Sans Pro</vt:lpstr>
      <vt:lpstr>Wingdings</vt:lpstr>
      <vt:lpstr>1_Office</vt:lpstr>
      <vt:lpstr>Datenbanken und SQL</vt:lpstr>
      <vt:lpstr>Agenda</vt:lpstr>
      <vt:lpstr>PowerPoint-Präsentation</vt:lpstr>
      <vt:lpstr>ALTER TABLE -&gt; Definition</vt:lpstr>
      <vt:lpstr>ALTER TABLE -&gt; Motivation</vt:lpstr>
      <vt:lpstr>PowerPoint-Präsentation</vt:lpstr>
      <vt:lpstr>ALTER TABLE Tabellen-Name ADD Attribut-Name Definition</vt:lpstr>
      <vt:lpstr>ALTER TABLE Tabellen-Name ADD Fremdschlüssel-Attribut</vt:lpstr>
      <vt:lpstr>ALTER TABLE Tabellen-Name DROP Attribut-Name</vt:lpstr>
      <vt:lpstr>ALTER TABLE Tabellen-Name DROP einziges Fremdschlüssel-Attribut</vt:lpstr>
      <vt:lpstr>ALTER TABLE Tabellen-Name DROP einen (von mehreren) Fremdschlüsseln</vt:lpstr>
      <vt:lpstr>ALTER TABLE Tabellen-Name CHANGE bisheriger Attribut-Name neuer Attribut-Name Definition</vt:lpstr>
      <vt:lpstr>ALTER TABLE alter Tabellen-Name RENAME neuer Tabellen-Name</vt:lpstr>
      <vt:lpstr>Gemeinsame Übung („Live-Coding“) -&gt; A_02_02_01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Max Muster01</cp:lastModifiedBy>
  <cp:revision>380</cp:revision>
  <dcterms:created xsi:type="dcterms:W3CDTF">2022-02-01T13:48:14Z</dcterms:created>
  <dcterms:modified xsi:type="dcterms:W3CDTF">2022-05-30T16:01:14Z</dcterms:modified>
</cp:coreProperties>
</file>