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8" r:id="rId5"/>
    <p:sldId id="282" r:id="rId6"/>
    <p:sldId id="270" r:id="rId7"/>
    <p:sldId id="278" r:id="rId8"/>
    <p:sldId id="279" r:id="rId9"/>
    <p:sldId id="280" r:id="rId10"/>
    <p:sldId id="276" r:id="rId11"/>
    <p:sldId id="281" r:id="rId12"/>
    <p:sldId id="283" r:id="rId13"/>
    <p:sldId id="284" r:id="rId14"/>
    <p:sldId id="285" r:id="rId15"/>
    <p:sldId id="286" r:id="rId16"/>
    <p:sldId id="287" r:id="rId17"/>
    <p:sldId id="298" r:id="rId18"/>
    <p:sldId id="288" r:id="rId19"/>
    <p:sldId id="289" r:id="rId20"/>
    <p:sldId id="297" r:id="rId21"/>
    <p:sldId id="299" r:id="rId22"/>
    <p:sldId id="290" r:id="rId23"/>
    <p:sldId id="291" r:id="rId24"/>
    <p:sldId id="292" r:id="rId25"/>
    <p:sldId id="293" r:id="rId26"/>
    <p:sldId id="295" r:id="rId27"/>
    <p:sldId id="296" r:id="rId28"/>
    <p:sldId id="277" r:id="rId29"/>
    <p:sldId id="259"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10.01.2024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10.01.2024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10.01.2024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10.01.2024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10.01.2024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10.01.2024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10.01.2024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10.01.2024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10.01.2024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10.01.2024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10.01.2024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10.01.2024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1 - Tag 3)</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1456"/>
            <a:ext cx="10713719" cy="4770537"/>
          </a:xfrm>
          <a:prstGeom prst="rect">
            <a:avLst/>
          </a:prstGeom>
          <a:noFill/>
        </p:spPr>
        <p:txBody>
          <a:bodyPr wrap="square" rtlCol="0">
            <a:spAutoFit/>
          </a:bodyPr>
          <a:lstStyle/>
          <a:p>
            <a:endParaRPr lang="de-DE" b="1" dirty="0">
              <a:latin typeface="Source Sans Pro" panose="020B0503030403020204" pitchFamily="34" charset="0"/>
            </a:endParaRPr>
          </a:p>
          <a:p>
            <a:r>
              <a:rPr lang="de-DE" b="1" dirty="0">
                <a:latin typeface="Source Sans Pro" panose="020B0503030403020204" pitchFamily="34" charset="0"/>
              </a:rPr>
              <a:t>Entity-Relationship-Modell/Diagramm (Abschluss)</a:t>
            </a:r>
          </a:p>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dirty="0">
                <a:latin typeface="Source Sans Pro" panose="020B0503030403020204" pitchFamily="34" charset="0"/>
              </a:rPr>
              <a:t>Schwache Entität</a:t>
            </a:r>
            <a:endParaRPr lang="de-DE" sz="1200" dirty="0">
              <a:latin typeface="Source Sans Pro" panose="020B0503030403020204" pitchFamily="34" charset="0"/>
            </a:endParaRPr>
          </a:p>
          <a:p>
            <a:pPr marL="1085850" lvl="2" indent="-171450">
              <a:buFont typeface="Courier New" panose="02070309020205020404" pitchFamily="49" charset="0"/>
              <a:buChar char="o"/>
            </a:pPr>
            <a:r>
              <a:rPr lang="de-DE" sz="1200" dirty="0">
                <a:latin typeface="Source Sans Pro" panose="020B0503030403020204" pitchFamily="34" charset="0"/>
              </a:rPr>
              <a:t>Definition</a:t>
            </a:r>
          </a:p>
          <a:p>
            <a:pPr marL="1085850" lvl="2" indent="-171450">
              <a:buFont typeface="Courier New" panose="02070309020205020404" pitchFamily="49" charset="0"/>
              <a:buChar char="o"/>
            </a:pPr>
            <a:r>
              <a:rPr lang="de-DE" sz="1200" dirty="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Symbol</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dirty="0">
                <a:latin typeface="Source Sans Pro" panose="020B0503030403020204" pitchFamily="34" charset="0"/>
              </a:rPr>
              <a:t>Attribut einer Relation</a:t>
            </a:r>
          </a:p>
          <a:p>
            <a:pPr marL="1085850" lvl="2" indent="-171450">
              <a:buFont typeface="Courier New" panose="02070309020205020404" pitchFamily="49" charset="0"/>
              <a:buChar char="o"/>
            </a:pPr>
            <a:r>
              <a:rPr lang="de-DE" sz="1200" dirty="0">
                <a:latin typeface="Source Sans Pro" panose="020B0503030403020204" pitchFamily="34" charset="0"/>
              </a:rPr>
              <a:t>Definition</a:t>
            </a:r>
          </a:p>
          <a:p>
            <a:pPr marL="1085850" lvl="2" indent="-171450">
              <a:buFont typeface="Courier New" panose="02070309020205020404" pitchFamily="49" charset="0"/>
              <a:buChar char="o"/>
            </a:pPr>
            <a:r>
              <a:rPr lang="de-DE" sz="1200" dirty="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Graphische Darstellung</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dirty="0">
                <a:latin typeface="Source Sans Pro" panose="020B0503030403020204" pitchFamily="34" charset="0"/>
              </a:rPr>
              <a:t>Reflexive Relation</a:t>
            </a:r>
          </a:p>
          <a:p>
            <a:pPr marL="1085850" lvl="2" indent="-171450">
              <a:buFont typeface="Courier New" panose="02070309020205020404" pitchFamily="49" charset="0"/>
              <a:buChar char="o"/>
            </a:pPr>
            <a:r>
              <a:rPr lang="de-DE" sz="1200" dirty="0">
                <a:latin typeface="Source Sans Pro" panose="020B0503030403020204" pitchFamily="34" charset="0"/>
              </a:rPr>
              <a:t>Definition</a:t>
            </a:r>
          </a:p>
          <a:p>
            <a:pPr marL="1085850" lvl="2" indent="-171450">
              <a:buFont typeface="Courier New" panose="02070309020205020404" pitchFamily="49" charset="0"/>
              <a:buChar char="o"/>
            </a:pPr>
            <a:r>
              <a:rPr lang="de-DE" sz="1200" dirty="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Graphische Darstellung</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dirty="0">
                <a:latin typeface="Source Sans Pro" panose="020B0503030403020204" pitchFamily="34" charset="0"/>
              </a:rPr>
              <a:t>Mehrstellige Relation</a:t>
            </a:r>
          </a:p>
          <a:p>
            <a:pPr marL="1085850" lvl="2" indent="-171450">
              <a:buFont typeface="Courier New" panose="02070309020205020404" pitchFamily="49" charset="0"/>
              <a:buChar char="o"/>
            </a:pPr>
            <a:r>
              <a:rPr lang="de-DE" sz="1200" dirty="0">
                <a:latin typeface="Source Sans Pro" panose="020B0503030403020204" pitchFamily="34" charset="0"/>
              </a:rPr>
              <a:t>Definition</a:t>
            </a:r>
          </a:p>
          <a:p>
            <a:pPr marL="1085850" lvl="2" indent="-171450">
              <a:buFont typeface="Courier New" panose="02070309020205020404" pitchFamily="49" charset="0"/>
              <a:buChar char="o"/>
            </a:pPr>
            <a:r>
              <a:rPr lang="de-DE" sz="1200" dirty="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Graphische Darstellung</a:t>
            </a:r>
          </a:p>
          <a:p>
            <a:pPr marL="1085850" lvl="2" indent="-171450">
              <a:buFont typeface="Courier New" panose="02070309020205020404" pitchFamily="49" charset="0"/>
              <a:buChar char="o"/>
            </a:pPr>
            <a:r>
              <a:rPr lang="de-DE" sz="1200" dirty="0">
                <a:latin typeface="Source Sans Pro" panose="020B0503030403020204" pitchFamily="34" charset="0"/>
              </a:rPr>
              <a:t>Kardinalitäten</a:t>
            </a:r>
          </a:p>
          <a:p>
            <a:pPr marL="1085850" lvl="2" indent="-171450">
              <a:buFont typeface="Courier New" panose="02070309020205020404" pitchFamily="49" charset="0"/>
              <a:buChar char="o"/>
            </a:pPr>
            <a:endParaRPr lang="de-DE" sz="800" dirty="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22" end="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Schwache Entität</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fontScale="90000"/>
          </a:bodyPr>
          <a:lstStyle/>
          <a:p>
            <a:r>
              <a:rPr lang="de-DE" dirty="0">
                <a:latin typeface="Source Sans Pro" panose="020B0503030403020204" pitchFamily="34" charset="0"/>
              </a:rPr>
              <a:t>Schwache Entität -&gt; Definition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9" y="2332095"/>
            <a:ext cx="10311289" cy="2554545"/>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Eine „Schwache Entität“ ist eine Entität, deren Existenz von einer anderen (übergeordneten) Entität des </a:t>
            </a:r>
            <a:r>
              <a:rPr lang="de-DE" sz="2400" u="sng" dirty="0">
                <a:latin typeface="Source Sans Pro" panose="020B0503030403020204" pitchFamily="34" charset="0"/>
              </a:rPr>
              <a:t>selben</a:t>
            </a:r>
            <a:r>
              <a:rPr lang="de-DE" sz="2400" dirty="0">
                <a:latin typeface="Source Sans Pro" panose="020B0503030403020204" pitchFamily="34" charset="0"/>
              </a:rPr>
              <a:t> Modells abhängig ist.</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Entsprechend werden Entitäten, für die eine solche Abhängigkeit nicht gilt, als „Starke Entitäten“ bezeichnet.</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Eine übergeordnete Entität muss nicht notwendigerweise eine Starke Entität sein, da ihre Existenz selbst von einer weiteren Entität abhängig sein könnte.</a:t>
            </a:r>
          </a:p>
        </p:txBody>
      </p:sp>
    </p:spTree>
    <p:extLst>
      <p:ext uri="{BB962C8B-B14F-4D97-AF65-F5344CB8AC3E}">
        <p14:creationId xmlns:p14="http://schemas.microsoft.com/office/powerpoint/2010/main" val="335707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fontScale="90000"/>
          </a:bodyPr>
          <a:lstStyle/>
          <a:p>
            <a:r>
              <a:rPr lang="de-DE" dirty="0">
                <a:latin typeface="Source Sans Pro" panose="020B0503030403020204" pitchFamily="34" charset="0"/>
              </a:rPr>
              <a:t>Schwache Entität -&gt;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9" y="2332095"/>
            <a:ext cx="11229444" cy="2185214"/>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Im Rahmen des Physikalischen Datenbankentwurfs sollte in der Regel dafür gesorgt werden, dass im Falle des Löschvorgangs einer übergeordneten Entität </a:t>
            </a:r>
            <a:r>
              <a:rPr lang="de-DE" sz="2400" b="1" dirty="0">
                <a:latin typeface="Source Sans Pro" panose="020B0503030403020204" pitchFamily="34" charset="0"/>
              </a:rPr>
              <a:t>auch deren zugeordnete Schwache Entität („automatisch“) mit gelöscht </a:t>
            </a:r>
            <a:r>
              <a:rPr lang="de-DE" sz="2400" dirty="0">
                <a:latin typeface="Source Sans Pro" panose="020B0503030403020204" pitchFamily="34" charset="0"/>
              </a:rPr>
              <a:t>wird.</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Also sollte </a:t>
            </a:r>
            <a:r>
              <a:rPr lang="de-DE" sz="2400" b="1" dirty="0">
                <a:latin typeface="Source Sans Pro" panose="020B0503030403020204" pitchFamily="34" charset="0"/>
              </a:rPr>
              <a:t>bereits während des Konzeptionellen Datenbankentwurfs </a:t>
            </a:r>
            <a:r>
              <a:rPr lang="de-DE" sz="2400" dirty="0">
                <a:latin typeface="Source Sans Pro" panose="020B0503030403020204" pitchFamily="34" charset="0"/>
              </a:rPr>
              <a:t>vom Auftraggeber erfragt werden, bei welchen Entitäten es sich um „schwache“ handelt.</a:t>
            </a:r>
          </a:p>
          <a:p>
            <a:pPr marL="342900" indent="-342900">
              <a:buFont typeface="Arial" panose="020B0604020202020204" pitchFamily="34" charset="0"/>
              <a:buChar char="•"/>
            </a:pPr>
            <a:endParaRPr lang="de-DE" sz="800" dirty="0">
              <a:latin typeface="Source Sans Pro" panose="020B0503030403020204" pitchFamily="34" charset="0"/>
            </a:endParaRPr>
          </a:p>
        </p:txBody>
      </p:sp>
    </p:spTree>
    <p:extLst>
      <p:ext uri="{BB962C8B-B14F-4D97-AF65-F5344CB8AC3E}">
        <p14:creationId xmlns:p14="http://schemas.microsoft.com/office/powerpoint/2010/main" val="104315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sz="4000" dirty="0">
                <a:latin typeface="Source Sans Pro" panose="020B0503030403020204" pitchFamily="34" charset="0"/>
              </a:rPr>
              <a:t>Schwache Entität -&gt; </a:t>
            </a:r>
            <a:r>
              <a:rPr lang="de-DE" sz="4000" dirty="0">
                <a:solidFill>
                  <a:schemeClr val="accent2"/>
                </a:solidFill>
                <a:latin typeface="Source Sans Pro" panose="020B0503030403020204" pitchFamily="34" charset="0"/>
              </a:rPr>
              <a:t>Symbol</a:t>
            </a:r>
            <a:endParaRPr lang="de-DE" sz="4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chemeClr val="tx1"/>
                </a:solidFill>
                <a:latin typeface="Source Sans Pro" panose="020B0503030403020204" pitchFamily="34" charset="0"/>
              </a:rPr>
              <a:t>Haus</a:t>
            </a:r>
          </a:p>
        </p:txBody>
      </p:sp>
      <p:sp>
        <p:nvSpPr>
          <p:cNvPr id="8" name="Rechteck 7"/>
          <p:cNvSpPr/>
          <p:nvPr/>
        </p:nvSpPr>
        <p:spPr>
          <a:xfrm>
            <a:off x="7940352" y="3331454"/>
            <a:ext cx="2687216" cy="129695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chemeClr val="accent2"/>
                </a:solidFill>
                <a:latin typeface="Source Sans Pro" panose="020B0503030403020204" pitchFamily="34" charset="0"/>
              </a:rPr>
              <a:t>Raum</a:t>
            </a:r>
          </a:p>
        </p:txBody>
      </p:sp>
      <p:sp>
        <p:nvSpPr>
          <p:cNvPr id="6" name="Rechteck 5"/>
          <p:cNvSpPr/>
          <p:nvPr/>
        </p:nvSpPr>
        <p:spPr>
          <a:xfrm>
            <a:off x="8025400" y="3406352"/>
            <a:ext cx="2517120" cy="114715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aute 12"/>
          <p:cNvSpPr/>
          <p:nvPr/>
        </p:nvSpPr>
        <p:spPr>
          <a:xfrm>
            <a:off x="4072924" y="3657167"/>
            <a:ext cx="324196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rgbClr val="0070C0"/>
                </a:solidFill>
                <a:latin typeface="Source Sans Pro" panose="020B0503030403020204" pitchFamily="34" charset="0"/>
              </a:rPr>
              <a:t>ist Teil von</a:t>
            </a:r>
          </a:p>
        </p:txBody>
      </p:sp>
      <p:cxnSp>
        <p:nvCxnSpPr>
          <p:cNvPr id="14" name="Gerader Verbinder 13"/>
          <p:cNvCxnSpPr>
            <a:stCxn id="13" idx="1"/>
          </p:cNvCxnSpPr>
          <p:nvPr/>
        </p:nvCxnSpPr>
        <p:spPr>
          <a:xfrm flipH="1" flipV="1">
            <a:off x="3536303" y="3979932"/>
            <a:ext cx="536621"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endCxn id="13" idx="3"/>
          </p:cNvCxnSpPr>
          <p:nvPr/>
        </p:nvCxnSpPr>
        <p:spPr>
          <a:xfrm flipH="1">
            <a:off x="7314887" y="3979932"/>
            <a:ext cx="625465"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68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6" y="2101561"/>
            <a:ext cx="6318809" cy="707704"/>
          </a:xfrm>
        </p:spPr>
        <p:txBody>
          <a:bodyPr>
            <a:noAutofit/>
          </a:bodyPr>
          <a:lstStyle/>
          <a:p>
            <a:r>
              <a:rPr lang="de-DE" dirty="0">
                <a:latin typeface="Source Sans Pro" panose="020B0503030403020204" pitchFamily="34" charset="0"/>
              </a:rPr>
              <a:t>Attribut einer Relation</a:t>
            </a:r>
          </a:p>
        </p:txBody>
      </p:sp>
    </p:spTree>
    <p:extLst>
      <p:ext uri="{BB962C8B-B14F-4D97-AF65-F5344CB8AC3E}">
        <p14:creationId xmlns:p14="http://schemas.microsoft.com/office/powerpoint/2010/main" val="39659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fontScale="90000"/>
          </a:bodyPr>
          <a:lstStyle/>
          <a:p>
            <a:r>
              <a:rPr lang="de-DE" dirty="0">
                <a:latin typeface="Source Sans Pro" panose="020B0503030403020204" pitchFamily="34" charset="0"/>
              </a:rPr>
              <a:t>Attribut einer Relation -&gt; Definition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2235982"/>
            <a:ext cx="10602234" cy="2062103"/>
          </a:xfrm>
          <a:prstGeom prst="rect">
            <a:avLst/>
          </a:prstGeom>
          <a:noFill/>
        </p:spPr>
        <p:txBody>
          <a:bodyPr wrap="square" rtlCol="0">
            <a:spAutoFit/>
          </a:bodyPr>
          <a:lstStyle/>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Im Rahmen des </a:t>
            </a:r>
            <a:r>
              <a:rPr lang="de-DE" sz="2400" dirty="0">
                <a:solidFill>
                  <a:srgbClr val="0071B2"/>
                </a:solidFill>
                <a:latin typeface="Source Sans Pro" panose="020B0503030403020204" pitchFamily="34" charset="0"/>
              </a:rPr>
              <a:t>K</a:t>
            </a:r>
            <a:r>
              <a:rPr kumimoji="0" lang="de-DE" sz="2400" b="0" u="none" strike="noStrike" kern="1200" cap="none" spc="0" normalizeH="0" baseline="0" noProof="0" dirty="0">
                <a:ln>
                  <a:noFill/>
                </a:ln>
                <a:solidFill>
                  <a:srgbClr val="0071B2"/>
                </a:solidFill>
                <a:effectLst/>
                <a:uLnTx/>
                <a:uFillTx/>
                <a:latin typeface="Source Sans Pro" panose="020B0503030403020204" pitchFamily="34" charset="0"/>
              </a:rPr>
              <a:t>onzeptionellen Datenbankentwurfs</a:t>
            </a:r>
            <a:r>
              <a:rPr kumimoji="0" lang="de-DE" sz="2400" b="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können wir seitens des </a:t>
            </a:r>
            <a:r>
              <a:rPr lang="de-DE" sz="2400" dirty="0">
                <a:solidFill>
                  <a:srgbClr val="0071B2"/>
                </a:solidFill>
                <a:latin typeface="Source Sans Pro" panose="020B0503030403020204" pitchFamily="34" charset="0"/>
              </a:rPr>
              <a:t>Auftraggebers gelegentlich von R</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elationen</a:t>
            </a:r>
            <a:r>
              <a:rPr lang="de-DE" sz="2400" dirty="0">
                <a:solidFill>
                  <a:srgbClr val="0071B2"/>
                </a:solidFill>
                <a:latin typeface="Source Sans Pro" panose="020B0503030403020204" pitchFamily="34" charset="0"/>
              </a:rPr>
              <a:t>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erfahren, zu denen uns</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 zusätzliche Informationen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mitgeteilt werden.</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Innerhalb eines ER-Diagramms können solche Informationen als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Attribute der entsprechenden Relation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dargestellt</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werden.</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137418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fontScale="90000"/>
          </a:bodyPr>
          <a:lstStyle/>
          <a:p>
            <a:r>
              <a:rPr lang="de-DE" dirty="0">
                <a:latin typeface="Source Sans Pro" panose="020B0503030403020204" pitchFamily="34" charset="0"/>
              </a:rPr>
              <a:t>Attribut einer Relation -&gt;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1" y="2235982"/>
            <a:ext cx="11100998" cy="2062103"/>
          </a:xfrm>
          <a:prstGeom prst="rect">
            <a:avLst/>
          </a:prstGeom>
          <a:noFill/>
        </p:spPr>
        <p:txBody>
          <a:bodyPr wrap="square" rtlCol="0">
            <a:spAutoFit/>
          </a:bodyPr>
          <a:lstStyle/>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Während eines </a:t>
            </a:r>
            <a:r>
              <a:rPr lang="de-DE" sz="2400" dirty="0">
                <a:solidFill>
                  <a:srgbClr val="0071B2"/>
                </a:solidFill>
                <a:latin typeface="Source Sans Pro" panose="020B0503030403020204" pitchFamily="34" charset="0"/>
              </a:rPr>
              <a:t>K</a:t>
            </a:r>
            <a:r>
              <a:rPr kumimoji="0" lang="de-DE" sz="2400" u="none" strike="noStrike" kern="1200" cap="none" spc="0" normalizeH="0" baseline="0" noProof="0" dirty="0">
                <a:ln>
                  <a:noFill/>
                </a:ln>
                <a:solidFill>
                  <a:srgbClr val="0071B2"/>
                </a:solidFill>
                <a:effectLst/>
                <a:uLnTx/>
                <a:uFillTx/>
                <a:latin typeface="Source Sans Pro" panose="020B0503030403020204" pitchFamily="34" charset="0"/>
              </a:rPr>
              <a:t>onzeptionellen Datenbankentwurfs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müssen </a:t>
            </a:r>
            <a:r>
              <a:rPr lang="de-DE" sz="2400" dirty="0">
                <a:solidFill>
                  <a:srgbClr val="0071B2"/>
                </a:solidFill>
                <a:latin typeface="Source Sans Pro" panose="020B0503030403020204" pitchFamily="34" charset="0"/>
              </a:rPr>
              <a:t>wir vom Auftraggeber </a:t>
            </a:r>
            <a:r>
              <a:rPr lang="de-DE" sz="2400" u="sng" dirty="0">
                <a:solidFill>
                  <a:srgbClr val="0071B2"/>
                </a:solidFill>
                <a:latin typeface="Source Sans Pro" panose="020B0503030403020204" pitchFamily="34" charset="0"/>
              </a:rPr>
              <a:t>alle </a:t>
            </a:r>
            <a:r>
              <a:rPr kumimoji="0" lang="de-DE" sz="2400" u="sng" strike="noStrike" kern="1200" cap="none" spc="0" normalizeH="0" baseline="0" noProof="0" dirty="0">
                <a:ln>
                  <a:noFill/>
                </a:ln>
                <a:solidFill>
                  <a:srgbClr val="0071B2"/>
                </a:solidFill>
                <a:effectLst/>
                <a:uLnTx/>
                <a:uFillTx/>
                <a:latin typeface="Source Sans Pro" panose="020B0503030403020204" pitchFamily="34" charset="0"/>
              </a:rPr>
              <a:t>relevanten</a:t>
            </a:r>
            <a:r>
              <a:rPr kumimoji="0" lang="de-DE" sz="2400" strike="noStrike" kern="1200" cap="none" spc="0" normalizeH="0" baseline="0" noProof="0" dirty="0">
                <a:ln>
                  <a:noFill/>
                </a:ln>
                <a:solidFill>
                  <a:srgbClr val="0071B2"/>
                </a:solidFill>
                <a:effectLst/>
                <a:uLnTx/>
                <a:uFillTx/>
                <a:latin typeface="Source Sans Pro" panose="020B0503030403020204" pitchFamily="34" charset="0"/>
              </a:rPr>
              <a:t> </a:t>
            </a:r>
            <a:r>
              <a:rPr kumimoji="0" lang="de-DE" sz="2400" u="none" strike="noStrike" kern="1200" cap="none" spc="0" normalizeH="0" baseline="0" noProof="0" dirty="0">
                <a:ln>
                  <a:noFill/>
                </a:ln>
                <a:solidFill>
                  <a:srgbClr val="0071B2"/>
                </a:solidFill>
                <a:effectLst/>
                <a:uLnTx/>
                <a:uFillTx/>
                <a:latin typeface="Source Sans Pro" panose="020B0503030403020204" pitchFamily="34" charset="0"/>
              </a:rPr>
              <a:t>Elemente des Datenbankaufbaus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erfragen.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Dazu zählen dann aber natürlich auch die gegebenenfalls mitgeteilten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Attribute einer Relation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Solche Informationen sind bedeutsam, da </a:t>
            </a:r>
            <a:r>
              <a:rPr kumimoji="0" lang="de-DE" sz="2400" b="0" u="none" strike="noStrike" kern="1200" cap="none" spc="0" normalizeH="0" baseline="0" noProof="0" dirty="0">
                <a:ln>
                  <a:noFill/>
                </a:ln>
                <a:solidFill>
                  <a:srgbClr val="0071B2"/>
                </a:solidFill>
                <a:effectLst/>
                <a:uLnTx/>
                <a:uFillTx/>
                <a:latin typeface="Source Sans Pro" panose="020B0503030403020204" pitchFamily="34" charset="0"/>
              </a:rPr>
              <a:t>Relationen mit Attributen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während des </a:t>
            </a:r>
            <a:r>
              <a:rPr lang="de-DE" sz="2400" dirty="0">
                <a:solidFill>
                  <a:srgbClr val="0071B2"/>
                </a:solidFill>
                <a:latin typeface="Source Sans Pro" panose="020B0503030403020204" pitchFamily="34" charset="0"/>
              </a:rPr>
              <a:t>L</a:t>
            </a:r>
            <a:r>
              <a:rPr kumimoji="0" lang="de-DE" sz="2400" b="0" u="none" strike="noStrike" kern="1200" cap="none" spc="0" normalizeH="0" baseline="0" noProof="0" dirty="0">
                <a:ln>
                  <a:noFill/>
                </a:ln>
                <a:solidFill>
                  <a:srgbClr val="0071B2"/>
                </a:solidFill>
                <a:effectLst/>
                <a:uLnTx/>
                <a:uFillTx/>
                <a:latin typeface="Source Sans Pro" panose="020B0503030403020204" pitchFamily="34" charset="0"/>
              </a:rPr>
              <a:t>ogischen Datenbankentwurfs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als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eigenständige </a:t>
            </a:r>
            <a:r>
              <a:rPr lang="de-DE" sz="2400" b="1" dirty="0">
                <a:solidFill>
                  <a:srgbClr val="0071B2"/>
                </a:solidFill>
                <a:latin typeface="Source Sans Pro" panose="020B0503030403020204" pitchFamily="34" charset="0"/>
              </a:rPr>
              <a:t>E</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ntitäten</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interpretiert werden.</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234518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fontScale="90000"/>
          </a:bodyPr>
          <a:lstStyle/>
          <a:p>
            <a:r>
              <a:rPr lang="de-DE" dirty="0"/>
              <a:t>Attribut einer Relation -&gt; </a:t>
            </a:r>
            <a:r>
              <a:rPr lang="de-DE" dirty="0">
                <a:solidFill>
                  <a:schemeClr val="accent2"/>
                </a:solidFill>
              </a:rPr>
              <a:t>Darstellung im ERD</a:t>
            </a:r>
            <a:endParaRPr lang="de-DE" sz="36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Verein</a:t>
            </a:r>
          </a:p>
        </p:txBody>
      </p:sp>
      <p:sp>
        <p:nvSpPr>
          <p:cNvPr id="3" name="Raute 2"/>
          <p:cNvSpPr/>
          <p:nvPr/>
        </p:nvSpPr>
        <p:spPr>
          <a:xfrm>
            <a:off x="4072924" y="3657167"/>
            <a:ext cx="324196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rgbClr val="0070C0"/>
                </a:solidFill>
                <a:latin typeface="Source Sans Pro" panose="020B0503030403020204" pitchFamily="34" charset="0"/>
              </a:rPr>
              <a:t>ist Mitglied von</a:t>
            </a:r>
          </a:p>
        </p:txBody>
      </p:sp>
      <p:cxnSp>
        <p:nvCxnSpPr>
          <p:cNvPr id="9" name="Gerader Verbinder 8"/>
          <p:cNvCxnSpPr>
            <a:stCxn id="3" idx="1"/>
            <a:endCxn id="2" idx="3"/>
          </p:cNvCxnSpPr>
          <p:nvPr/>
        </p:nvCxnSpPr>
        <p:spPr>
          <a:xfrm flipH="1" flipV="1">
            <a:off x="3536303" y="3979932"/>
            <a:ext cx="536621"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Gerader Verbinder 12"/>
          <p:cNvCxnSpPr>
            <a:stCxn id="8" idx="1"/>
            <a:endCxn id="3" idx="3"/>
          </p:cNvCxnSpPr>
          <p:nvPr/>
        </p:nvCxnSpPr>
        <p:spPr>
          <a:xfrm flipH="1">
            <a:off x="7314887" y="3979932"/>
            <a:ext cx="625465"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94812" y="200335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Source Sans Pro" panose="020B0503030403020204" pitchFamily="34" charset="0"/>
              </a:rPr>
              <a:t>…</a:t>
            </a:r>
          </a:p>
        </p:txBody>
      </p:sp>
      <p:sp>
        <p:nvSpPr>
          <p:cNvPr id="14" name="Ellipse 13"/>
          <p:cNvSpPr/>
          <p:nvPr/>
        </p:nvSpPr>
        <p:spPr>
          <a:xfrm>
            <a:off x="1991413" y="2346043"/>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t>
            </a:r>
          </a:p>
        </p:txBody>
      </p:sp>
      <p:cxnSp>
        <p:nvCxnSpPr>
          <p:cNvPr id="17" name="Gerader Verbinder 16"/>
          <p:cNvCxnSpPr>
            <a:stCxn id="10" idx="4"/>
          </p:cNvCxnSpPr>
          <p:nvPr/>
        </p:nvCxnSpPr>
        <p:spPr>
          <a:xfrm>
            <a:off x="1065196" y="2759138"/>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68288" y="2991141"/>
            <a:ext cx="207344" cy="34864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30" name="Ellipse 29"/>
          <p:cNvSpPr/>
          <p:nvPr/>
        </p:nvSpPr>
        <p:spPr>
          <a:xfrm>
            <a:off x="7843509" y="2363950"/>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t>
            </a:r>
          </a:p>
        </p:txBody>
      </p:sp>
      <p:sp>
        <p:nvSpPr>
          <p:cNvPr id="31" name="Ellipse 30"/>
          <p:cNvSpPr/>
          <p:nvPr/>
        </p:nvSpPr>
        <p:spPr>
          <a:xfrm>
            <a:off x="9817331" y="1900679"/>
            <a:ext cx="2226985"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t>
            </a:r>
          </a:p>
        </p:txBody>
      </p:sp>
      <p:cxnSp>
        <p:nvCxnSpPr>
          <p:cNvPr id="33" name="Gerader Verbinder 32"/>
          <p:cNvCxnSpPr/>
          <p:nvPr/>
        </p:nvCxnSpPr>
        <p:spPr>
          <a:xfrm>
            <a:off x="8620299" y="3119729"/>
            <a:ext cx="500781" cy="22005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690754" y="2545777"/>
            <a:ext cx="452711" cy="78567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extfeld 25"/>
          <p:cNvSpPr txBox="1"/>
          <p:nvPr/>
        </p:nvSpPr>
        <p:spPr>
          <a:xfrm>
            <a:off x="-58189" y="4976708"/>
            <a:ext cx="12192000" cy="892552"/>
          </a:xfrm>
          <a:prstGeom prst="rect">
            <a:avLst/>
          </a:prstGeom>
          <a:noFill/>
        </p:spPr>
        <p:txBody>
          <a:bodyPr wrap="square" rtlCol="0">
            <a:spAutoFit/>
          </a:bodyPr>
          <a:lstStyle/>
          <a:p>
            <a:pPr algn="ctr"/>
            <a:r>
              <a:rPr lang="de-DE" sz="1400" dirty="0">
                <a:solidFill>
                  <a:srgbClr val="0070C0"/>
                </a:solidFill>
                <a:latin typeface="Source Sans Pro" panose="020B0503030403020204" pitchFamily="34" charset="0"/>
              </a:rPr>
              <a:t>Wir erfahren vom Auftraggeber zunächst, dass wir uns bei den Entitätstypen „Person“ und „Verein“ für die Relation </a:t>
            </a:r>
            <a:r>
              <a:rPr lang="de-DE" sz="1400" b="1" dirty="0">
                <a:solidFill>
                  <a:srgbClr val="0070C0"/>
                </a:solidFill>
                <a:latin typeface="Source Sans Pro" panose="020B0503030403020204" pitchFamily="34" charset="0"/>
              </a:rPr>
              <a:t>„ist Mitglied von“ </a:t>
            </a:r>
            <a:r>
              <a:rPr lang="de-DE" sz="1400" dirty="0">
                <a:solidFill>
                  <a:srgbClr val="0070C0"/>
                </a:solidFill>
                <a:latin typeface="Source Sans Pro" panose="020B0503030403020204" pitchFamily="34" charset="0"/>
              </a:rPr>
              <a:t>interessieren …</a:t>
            </a:r>
          </a:p>
          <a:p>
            <a:pPr algn="ctr"/>
            <a:r>
              <a:rPr lang="de-DE" sz="1400" dirty="0">
                <a:latin typeface="Source Sans Pro" panose="020B0503030403020204" pitchFamily="34" charset="0"/>
              </a:rPr>
              <a:t>… anschließend erfahren wir aber auch, dass für diese Relation </a:t>
            </a:r>
            <a:r>
              <a:rPr lang="de-DE" sz="1400" b="1" dirty="0">
                <a:latin typeface="Source Sans Pro" panose="020B0503030403020204" pitchFamily="34" charset="0"/>
              </a:rPr>
              <a:t>zusätzlich</a:t>
            </a:r>
            <a:r>
              <a:rPr lang="de-DE" sz="1400" dirty="0">
                <a:latin typeface="Source Sans Pro" panose="020B0503030403020204" pitchFamily="34" charset="0"/>
              </a:rPr>
              <a:t> bekannt sein soll, </a:t>
            </a:r>
            <a:r>
              <a:rPr lang="de-DE" sz="1400" b="1" dirty="0">
                <a:latin typeface="Source Sans Pro" panose="020B0503030403020204" pitchFamily="34" charset="0"/>
              </a:rPr>
              <a:t>wann</a:t>
            </a:r>
            <a:r>
              <a:rPr lang="de-DE" sz="1400" dirty="0">
                <a:latin typeface="Source Sans Pro" panose="020B0503030403020204" pitchFamily="34" charset="0"/>
              </a:rPr>
              <a:t> diese Mitgliedschaft </a:t>
            </a:r>
            <a:r>
              <a:rPr lang="de-DE" sz="1400" b="1" dirty="0">
                <a:latin typeface="Source Sans Pro" panose="020B0503030403020204" pitchFamily="34" charset="0"/>
              </a:rPr>
              <a:t>begann</a:t>
            </a:r>
            <a:r>
              <a:rPr lang="de-DE" sz="1400" dirty="0">
                <a:latin typeface="Source Sans Pro" panose="020B0503030403020204" pitchFamily="34" charset="0"/>
              </a:rPr>
              <a:t> und wann sie (eventuell) </a:t>
            </a:r>
            <a:r>
              <a:rPr lang="de-DE" sz="1400" b="1" dirty="0">
                <a:latin typeface="Source Sans Pro" panose="020B0503030403020204" pitchFamily="34" charset="0"/>
              </a:rPr>
              <a:t>endete</a:t>
            </a:r>
            <a:r>
              <a:rPr lang="de-DE" sz="1400" dirty="0">
                <a:latin typeface="Source Sans Pro" panose="020B0503030403020204" pitchFamily="34" charset="0"/>
              </a:rPr>
              <a:t>.</a:t>
            </a:r>
          </a:p>
          <a:p>
            <a:pPr marL="285750" indent="-285750" algn="ctr">
              <a:buFont typeface="Symbol" panose="05050102010706020507" pitchFamily="18" charset="2"/>
              <a:buChar char="Þ"/>
            </a:pPr>
            <a:r>
              <a:rPr lang="de-DE" sz="1200" dirty="0">
                <a:latin typeface="Source Sans Pro" panose="020B0503030403020204" pitchFamily="34" charset="0"/>
              </a:rPr>
              <a:t>dann aber sprechen wir in diesem Fall „im Grunde“ von dem Entitätstypen </a:t>
            </a:r>
            <a:r>
              <a:rPr lang="de-DE" sz="1200" b="1" dirty="0">
                <a:solidFill>
                  <a:schemeClr val="accent2"/>
                </a:solidFill>
                <a:latin typeface="Source Sans Pro" panose="020B0503030403020204" pitchFamily="34" charset="0"/>
              </a:rPr>
              <a:t>„Mitgliedschaft“ </a:t>
            </a:r>
            <a:r>
              <a:rPr lang="de-DE" sz="1200" dirty="0">
                <a:latin typeface="Source Sans Pro" panose="020B0503030403020204" pitchFamily="34" charset="0"/>
              </a:rPr>
              <a:t>(ausgestattet mit den Attributen </a:t>
            </a:r>
            <a:r>
              <a:rPr lang="de-DE" sz="1200" dirty="0">
                <a:solidFill>
                  <a:schemeClr val="accent2"/>
                </a:solidFill>
                <a:latin typeface="Source Sans Pro" panose="020B0503030403020204" pitchFamily="34" charset="0"/>
              </a:rPr>
              <a:t>„Datum Beginn“ </a:t>
            </a:r>
            <a:r>
              <a:rPr lang="de-DE" sz="1200" dirty="0">
                <a:latin typeface="Source Sans Pro" panose="020B0503030403020204" pitchFamily="34" charset="0"/>
              </a:rPr>
              <a:t>und </a:t>
            </a:r>
            <a:r>
              <a:rPr lang="de-DE" sz="1200" dirty="0">
                <a:solidFill>
                  <a:schemeClr val="accent2"/>
                </a:solidFill>
                <a:latin typeface="Source Sans Pro" panose="020B0503030403020204" pitchFamily="34" charset="0"/>
              </a:rPr>
              <a:t>„Datum Ende“</a:t>
            </a:r>
            <a:r>
              <a:rPr lang="de-DE" sz="1200" dirty="0">
                <a:latin typeface="Source Sans Pro" panose="020B0503030403020204" pitchFamily="34" charset="0"/>
              </a:rPr>
              <a:t>).</a:t>
            </a:r>
          </a:p>
          <a:p>
            <a:pPr algn="ctr"/>
            <a:r>
              <a:rPr lang="de-DE" sz="1200" dirty="0">
                <a:latin typeface="Source Sans Pro" panose="020B0503030403020204" pitchFamily="34" charset="0"/>
              </a:rPr>
              <a:t>(Diesen Entitätstypen werden wir aber erst innerhalb des </a:t>
            </a:r>
            <a:r>
              <a:rPr lang="de-DE" sz="1200" b="1" dirty="0">
                <a:latin typeface="Source Sans Pro" panose="020B0503030403020204" pitchFamily="34" charset="0"/>
              </a:rPr>
              <a:t>logischen Datenbankentwurfs </a:t>
            </a:r>
            <a:r>
              <a:rPr lang="de-DE" sz="1200" dirty="0">
                <a:latin typeface="Source Sans Pro" panose="020B0503030403020204" pitchFamily="34" charset="0"/>
              </a:rPr>
              <a:t>zwingend als solchen notieren müssen – im ERD kann es bei obiger Notation bleiben)</a:t>
            </a:r>
          </a:p>
        </p:txBody>
      </p:sp>
      <p:sp>
        <p:nvSpPr>
          <p:cNvPr id="35" name="Ellipse 34"/>
          <p:cNvSpPr/>
          <p:nvPr/>
        </p:nvSpPr>
        <p:spPr>
          <a:xfrm>
            <a:off x="3745138" y="1508023"/>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Datum (Beginn)</a:t>
            </a:r>
          </a:p>
        </p:txBody>
      </p:sp>
      <p:sp>
        <p:nvSpPr>
          <p:cNvPr id="36" name="Ellipse 35"/>
          <p:cNvSpPr/>
          <p:nvPr/>
        </p:nvSpPr>
        <p:spPr>
          <a:xfrm>
            <a:off x="5416300" y="2093398"/>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Datum (Ende)</a:t>
            </a:r>
          </a:p>
        </p:txBody>
      </p:sp>
      <p:cxnSp>
        <p:nvCxnSpPr>
          <p:cNvPr id="37" name="Gerader Verbinder 36"/>
          <p:cNvCxnSpPr>
            <a:stCxn id="35" idx="4"/>
          </p:cNvCxnSpPr>
          <p:nvPr/>
        </p:nvCxnSpPr>
        <p:spPr>
          <a:xfrm>
            <a:off x="4715522" y="2263802"/>
            <a:ext cx="970384" cy="13911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a:endCxn id="3" idx="0"/>
          </p:cNvCxnSpPr>
          <p:nvPr/>
        </p:nvCxnSpPr>
        <p:spPr>
          <a:xfrm flipH="1">
            <a:off x="5693906" y="2852103"/>
            <a:ext cx="453298" cy="80506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08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6" y="2101561"/>
            <a:ext cx="6939494" cy="707704"/>
          </a:xfrm>
        </p:spPr>
        <p:txBody>
          <a:bodyPr>
            <a:noAutofit/>
          </a:bodyPr>
          <a:lstStyle/>
          <a:p>
            <a:r>
              <a:rPr lang="de-DE" sz="6600" dirty="0">
                <a:latin typeface="Source Sans Pro" panose="020B0503030403020204" pitchFamily="34" charset="0"/>
              </a:rPr>
              <a:t>Reflexive Relation</a:t>
            </a:r>
          </a:p>
        </p:txBody>
      </p:sp>
    </p:spTree>
    <p:extLst>
      <p:ext uri="{BB962C8B-B14F-4D97-AF65-F5344CB8AC3E}">
        <p14:creationId xmlns:p14="http://schemas.microsoft.com/office/powerpoint/2010/main" val="2466935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252931" cy="720725"/>
          </a:xfrm>
        </p:spPr>
        <p:txBody>
          <a:bodyPr>
            <a:normAutofit fontScale="90000"/>
          </a:bodyPr>
          <a:lstStyle/>
          <a:p>
            <a:r>
              <a:rPr lang="de-DE" dirty="0">
                <a:latin typeface="Source Sans Pro" panose="020B0503030403020204" pitchFamily="34" charset="0"/>
              </a:rPr>
              <a:t>Reflexive Relation -&gt; Definition +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2235982"/>
            <a:ext cx="10701986" cy="3293209"/>
          </a:xfrm>
          <a:prstGeom prst="rect">
            <a:avLst/>
          </a:prstGeom>
          <a:noFill/>
        </p:spPr>
        <p:txBody>
          <a:bodyPr wrap="square" rtlCol="0">
            <a:spAutoFit/>
          </a:bodyPr>
          <a:lstStyle/>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Falls Relationen zwischen Entitäten des </a:t>
            </a:r>
            <a:r>
              <a:rPr kumimoji="0" lang="de-DE" sz="2400" b="0" i="0" u="sng" strike="noStrike" kern="1200" cap="none" spc="0" normalizeH="0" baseline="0" noProof="0" dirty="0">
                <a:ln>
                  <a:noFill/>
                </a:ln>
                <a:solidFill>
                  <a:srgbClr val="0071B2"/>
                </a:solidFill>
                <a:effectLst/>
                <a:uLnTx/>
                <a:uFillTx/>
                <a:latin typeface="Source Sans Pro" panose="020B0503030403020204" pitchFamily="34" charset="0"/>
              </a:rPr>
              <a:t>selben</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Entitätstyps betrachtet werden, so werden diese als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Reflexive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a:t>
            </a: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rPr>
              <a:t>(= „</a:t>
            </a:r>
            <a:r>
              <a:rPr lang="de-DE" dirty="0">
                <a:solidFill>
                  <a:srgbClr val="0071B2"/>
                </a:solidFill>
                <a:latin typeface="Source Sans Pro" panose="020B0503030403020204" pitchFamily="34" charset="0"/>
              </a:rPr>
              <a:t>s</a:t>
            </a: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rPr>
              <a:t>elbstbezügliche“)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Relationen</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bezeichnet.</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Beispiele:</a:t>
            </a: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2 Entitäten des Entitätstyps „Person“ könnten verheiratet sein</a:t>
            </a: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2 Entitäten des Entitätstyps „Auto“ könnten in einen gemeinsamen Unfall verwickelt gewesen sein</a:t>
            </a: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2 Entitäten des Entitätstyps „Land“ könnten geographische Nachbarn sein</a:t>
            </a: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 …</a:t>
            </a:r>
          </a:p>
          <a:p>
            <a:pPr lvl="1"/>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lang="de-DE" sz="2400" dirty="0">
                <a:solidFill>
                  <a:srgbClr val="0071B2"/>
                </a:solidFill>
                <a:latin typeface="Source Sans Pro" panose="020B0503030403020204" pitchFamily="34" charset="0"/>
              </a:rPr>
              <a:t>Da jede vom Auftraggeber gewünschte Beziehung zu berücksichtigen ist, erklärt sich eine Motivation für diese Art von Relationen dann aber natürlich von selbst.</a:t>
            </a:r>
            <a:endParaRPr kumimoji="0" lang="de-DE"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173571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809884" cy="720725"/>
          </a:xfrm>
        </p:spPr>
        <p:txBody>
          <a:bodyPr>
            <a:normAutofit fontScale="90000"/>
          </a:bodyPr>
          <a:lstStyle/>
          <a:p>
            <a:r>
              <a:rPr lang="de-DE" dirty="0">
                <a:latin typeface="Source Sans Pro" panose="020B0503030403020204" pitchFamily="34" charset="0"/>
              </a:rPr>
              <a:t>Reflexive Relation </a:t>
            </a:r>
            <a:r>
              <a:rPr lang="de-DE" dirty="0"/>
              <a:t>-&gt; </a:t>
            </a:r>
            <a:r>
              <a:rPr lang="de-DE" dirty="0">
                <a:solidFill>
                  <a:schemeClr val="accent2"/>
                </a:solidFill>
              </a:rPr>
              <a:t>Darstellung im ERD </a:t>
            </a:r>
            <a:r>
              <a:rPr lang="de-DE" sz="2700" dirty="0"/>
              <a:t>(Beispiel 1)</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2676636" y="3264952"/>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Person</a:t>
            </a:r>
          </a:p>
        </p:txBody>
      </p:sp>
      <p:sp>
        <p:nvSpPr>
          <p:cNvPr id="3" name="Raute 2"/>
          <p:cNvSpPr/>
          <p:nvPr/>
        </p:nvSpPr>
        <p:spPr>
          <a:xfrm>
            <a:off x="5900472" y="3626822"/>
            <a:ext cx="3241963" cy="648478"/>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dirty="0">
                <a:solidFill>
                  <a:schemeClr val="accent2"/>
                </a:solidFill>
                <a:latin typeface="Source Sans Pro" panose="020B0503030403020204" pitchFamily="34" charset="0"/>
              </a:rPr>
              <a:t>a</a:t>
            </a:r>
            <a:r>
              <a:rPr kumimoji="0" lang="de-DE" sz="1400" b="0"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ktuell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verheiratet mit</a:t>
            </a:r>
          </a:p>
        </p:txBody>
      </p:sp>
      <p:cxnSp>
        <p:nvCxnSpPr>
          <p:cNvPr id="9" name="Gerader Verbinder 8"/>
          <p:cNvCxnSpPr>
            <a:stCxn id="3" idx="0"/>
          </p:cNvCxnSpPr>
          <p:nvPr/>
        </p:nvCxnSpPr>
        <p:spPr>
          <a:xfrm flipH="1">
            <a:off x="5352145" y="3626822"/>
            <a:ext cx="2169309" cy="2246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1922361" y="1936857"/>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p:txBody>
      </p:sp>
      <p:sp>
        <p:nvSpPr>
          <p:cNvPr id="14" name="Ellipse 13"/>
          <p:cNvSpPr/>
          <p:nvPr/>
        </p:nvSpPr>
        <p:spPr>
          <a:xfrm>
            <a:off x="3818962" y="2279541"/>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t>
            </a:r>
          </a:p>
        </p:txBody>
      </p:sp>
      <p:cxnSp>
        <p:nvCxnSpPr>
          <p:cNvPr id="17" name="Gerader Verbinder 16"/>
          <p:cNvCxnSpPr>
            <a:stCxn id="10" idx="4"/>
          </p:cNvCxnSpPr>
          <p:nvPr/>
        </p:nvCxnSpPr>
        <p:spPr>
          <a:xfrm>
            <a:off x="2892745" y="2692636"/>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3895837" y="2924639"/>
            <a:ext cx="207344" cy="34864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Gerader Verbinder 24"/>
          <p:cNvCxnSpPr>
            <a:stCxn id="3" idx="2"/>
          </p:cNvCxnSpPr>
          <p:nvPr/>
        </p:nvCxnSpPr>
        <p:spPr>
          <a:xfrm flipH="1">
            <a:off x="5363853" y="4275300"/>
            <a:ext cx="215760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5317329" y="3311757"/>
            <a:ext cx="301686" cy="369332"/>
          </a:xfrm>
          <a:prstGeom prst="rect">
            <a:avLst/>
          </a:prstGeom>
          <a:noFill/>
        </p:spPr>
        <p:txBody>
          <a:bodyPr wrap="none" rtlCol="0">
            <a:spAutoFit/>
          </a:bodyPr>
          <a:lstStyle/>
          <a:p>
            <a:r>
              <a:rPr lang="de-DE" b="1" dirty="0">
                <a:solidFill>
                  <a:schemeClr val="accent2"/>
                </a:solidFill>
              </a:rPr>
              <a:t>1</a:t>
            </a:r>
          </a:p>
        </p:txBody>
      </p:sp>
      <p:sp>
        <p:nvSpPr>
          <p:cNvPr id="29" name="Textfeld 28"/>
          <p:cNvSpPr txBox="1"/>
          <p:nvPr/>
        </p:nvSpPr>
        <p:spPr>
          <a:xfrm>
            <a:off x="5340591" y="3964352"/>
            <a:ext cx="301686" cy="369332"/>
          </a:xfrm>
          <a:prstGeom prst="rect">
            <a:avLst/>
          </a:prstGeom>
          <a:noFill/>
        </p:spPr>
        <p:txBody>
          <a:bodyPr wrap="none" rtlCol="0">
            <a:spAutoFit/>
          </a:bodyPr>
          <a:lstStyle/>
          <a:p>
            <a:r>
              <a:rPr lang="de-DE" b="1" dirty="0">
                <a:solidFill>
                  <a:schemeClr val="accent2"/>
                </a:solidFill>
              </a:rPr>
              <a:t>1</a:t>
            </a:r>
          </a:p>
        </p:txBody>
      </p:sp>
    </p:spTree>
    <p:extLst>
      <p:ext uri="{BB962C8B-B14F-4D97-AF65-F5344CB8AC3E}">
        <p14:creationId xmlns:p14="http://schemas.microsoft.com/office/powerpoint/2010/main" val="30889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735069" cy="720725"/>
          </a:xfrm>
        </p:spPr>
        <p:txBody>
          <a:bodyPr>
            <a:normAutofit fontScale="90000"/>
          </a:bodyPr>
          <a:lstStyle/>
          <a:p>
            <a:r>
              <a:rPr lang="de-DE" dirty="0">
                <a:latin typeface="Source Sans Pro" panose="020B0503030403020204" pitchFamily="34" charset="0"/>
              </a:rPr>
              <a:t>Reflexive Relation </a:t>
            </a:r>
            <a:r>
              <a:rPr lang="de-DE" dirty="0"/>
              <a:t>-&gt; </a:t>
            </a:r>
            <a:r>
              <a:rPr lang="de-DE" dirty="0">
                <a:solidFill>
                  <a:schemeClr val="accent2"/>
                </a:solidFill>
              </a:rPr>
              <a:t>Darstellung im ERD </a:t>
            </a:r>
            <a:r>
              <a:rPr lang="de-DE" sz="2700" dirty="0"/>
              <a:t>(Beispiel 2)</a:t>
            </a:r>
            <a:endParaRPr lang="de-DE" sz="36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2676636" y="3264952"/>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Land</a:t>
            </a:r>
          </a:p>
        </p:txBody>
      </p:sp>
      <p:sp>
        <p:nvSpPr>
          <p:cNvPr id="3" name="Raute 2"/>
          <p:cNvSpPr/>
          <p:nvPr/>
        </p:nvSpPr>
        <p:spPr>
          <a:xfrm>
            <a:off x="5900472" y="3626822"/>
            <a:ext cx="3241963" cy="648478"/>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dirty="0">
                <a:solidFill>
                  <a:schemeClr val="accent2"/>
                </a:solidFill>
                <a:latin typeface="Source Sans Pro" panose="020B0503030403020204" pitchFamily="34" charset="0"/>
              </a:rPr>
              <a:t>geographischer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Nachbar von</a:t>
            </a:r>
          </a:p>
        </p:txBody>
      </p:sp>
      <p:cxnSp>
        <p:nvCxnSpPr>
          <p:cNvPr id="9" name="Gerader Verbinder 8"/>
          <p:cNvCxnSpPr>
            <a:stCxn id="3" idx="0"/>
          </p:cNvCxnSpPr>
          <p:nvPr/>
        </p:nvCxnSpPr>
        <p:spPr>
          <a:xfrm flipH="1">
            <a:off x="5352145" y="3626822"/>
            <a:ext cx="2169309" cy="2246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1922361" y="1936857"/>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p:txBody>
      </p:sp>
      <p:sp>
        <p:nvSpPr>
          <p:cNvPr id="14" name="Ellipse 13"/>
          <p:cNvSpPr/>
          <p:nvPr/>
        </p:nvSpPr>
        <p:spPr>
          <a:xfrm>
            <a:off x="3818962" y="2279541"/>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t>
            </a:r>
          </a:p>
        </p:txBody>
      </p:sp>
      <p:cxnSp>
        <p:nvCxnSpPr>
          <p:cNvPr id="17" name="Gerader Verbinder 16"/>
          <p:cNvCxnSpPr>
            <a:stCxn id="10" idx="4"/>
          </p:cNvCxnSpPr>
          <p:nvPr/>
        </p:nvCxnSpPr>
        <p:spPr>
          <a:xfrm>
            <a:off x="2892745" y="2692636"/>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3895837" y="2924639"/>
            <a:ext cx="207344" cy="34864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Gerader Verbinder 24"/>
          <p:cNvCxnSpPr/>
          <p:nvPr/>
        </p:nvCxnSpPr>
        <p:spPr>
          <a:xfrm flipH="1">
            <a:off x="5363852" y="4261728"/>
            <a:ext cx="2157601" cy="1357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5317329" y="3311757"/>
            <a:ext cx="372218" cy="369332"/>
          </a:xfrm>
          <a:prstGeom prst="rect">
            <a:avLst/>
          </a:prstGeom>
          <a:noFill/>
        </p:spPr>
        <p:txBody>
          <a:bodyPr wrap="none" rtlCol="0">
            <a:spAutoFit/>
          </a:bodyPr>
          <a:lstStyle/>
          <a:p>
            <a:r>
              <a:rPr lang="de-DE" b="1" dirty="0">
                <a:solidFill>
                  <a:schemeClr val="accent2"/>
                </a:solidFill>
              </a:rPr>
              <a:t>m</a:t>
            </a:r>
          </a:p>
        </p:txBody>
      </p:sp>
      <p:sp>
        <p:nvSpPr>
          <p:cNvPr id="29" name="Textfeld 28"/>
          <p:cNvSpPr txBox="1"/>
          <p:nvPr/>
        </p:nvSpPr>
        <p:spPr>
          <a:xfrm>
            <a:off x="5340591" y="3964352"/>
            <a:ext cx="308098" cy="369332"/>
          </a:xfrm>
          <a:prstGeom prst="rect">
            <a:avLst/>
          </a:prstGeom>
          <a:noFill/>
        </p:spPr>
        <p:txBody>
          <a:bodyPr wrap="none" rtlCol="0">
            <a:spAutoFit/>
          </a:bodyPr>
          <a:lstStyle/>
          <a:p>
            <a:r>
              <a:rPr lang="de-DE" b="1" dirty="0">
                <a:solidFill>
                  <a:schemeClr val="accent2"/>
                </a:solidFill>
              </a:rPr>
              <a:t>n</a:t>
            </a:r>
          </a:p>
        </p:txBody>
      </p:sp>
    </p:spTree>
    <p:extLst>
      <p:ext uri="{BB962C8B-B14F-4D97-AF65-F5344CB8AC3E}">
        <p14:creationId xmlns:p14="http://schemas.microsoft.com/office/powerpoint/2010/main" val="2048836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6" y="2101561"/>
            <a:ext cx="6939494" cy="707704"/>
          </a:xfrm>
        </p:spPr>
        <p:txBody>
          <a:bodyPr>
            <a:noAutofit/>
          </a:bodyPr>
          <a:lstStyle/>
          <a:p>
            <a:r>
              <a:rPr lang="de-DE" dirty="0">
                <a:latin typeface="Source Sans Pro" panose="020B0503030403020204" pitchFamily="34" charset="0"/>
              </a:rPr>
              <a:t>Mehrstellige Relationen</a:t>
            </a:r>
          </a:p>
        </p:txBody>
      </p:sp>
    </p:spTree>
    <p:extLst>
      <p:ext uri="{BB962C8B-B14F-4D97-AF65-F5344CB8AC3E}">
        <p14:creationId xmlns:p14="http://schemas.microsoft.com/office/powerpoint/2010/main" val="4063133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859761" cy="720725"/>
          </a:xfrm>
        </p:spPr>
        <p:txBody>
          <a:bodyPr>
            <a:normAutofit fontScale="90000"/>
          </a:bodyPr>
          <a:lstStyle/>
          <a:p>
            <a:r>
              <a:rPr lang="de-DE" dirty="0">
                <a:latin typeface="Source Sans Pro" panose="020B0503030403020204" pitchFamily="34" charset="0"/>
              </a:rPr>
              <a:t>Mehrstellige Relation -&gt; Definition +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1" y="2235982"/>
            <a:ext cx="11192438" cy="304698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Bisher haben wir ausschließlich Relationen zwischen (höchstens) 2 Entitätstypen betrachtet. Diese werden auch als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„Binäre </a:t>
            </a:r>
            <a:r>
              <a:rPr lang="de-DE" sz="2400" b="1" dirty="0">
                <a:solidFill>
                  <a:srgbClr val="0071B2"/>
                </a:solidFill>
                <a:latin typeface="Source Sans Pro" panose="020B0503030403020204" pitchFamily="34" charset="0"/>
              </a:rPr>
              <a:t>R</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elationen“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bezeichnet.</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Relationen zwischen </a:t>
            </a:r>
            <a:r>
              <a:rPr kumimoji="0" lang="de-DE" sz="2400" b="0" i="0" u="sng"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mehr</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als zwei Entitätstypen werden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„mehrstellig“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genannt. </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Erneut erklärt sich unsere </a:t>
            </a:r>
            <a:r>
              <a:rPr lang="de-DE" sz="2400" dirty="0">
                <a:solidFill>
                  <a:srgbClr val="0071B2"/>
                </a:solidFill>
                <a:latin typeface="Source Sans Pro" panose="020B0503030403020204" pitchFamily="34" charset="0"/>
              </a:rPr>
              <a:t>M</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otivation für die Beschäftigung mit solchen Relationen von selbst. Dies gilt umso mehr, als dass mehrstellige Relationen </a:t>
            </a:r>
            <a:r>
              <a:rPr kumimoji="0" lang="de-DE" sz="2400" b="1"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nicht stets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in mehrere binäre Relationen transformiert werden können</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Wir werden mit der graphischen Darstellung für </a:t>
            </a:r>
            <a:r>
              <a:rPr lang="de-DE" sz="2400" b="1" dirty="0">
                <a:solidFill>
                  <a:schemeClr val="accent2"/>
                </a:solidFill>
                <a:latin typeface="Source Sans Pro" panose="020B0503030403020204" pitchFamily="34" charset="0"/>
              </a:rPr>
              <a:t>beide Fälle </a:t>
            </a:r>
            <a:r>
              <a:rPr lang="de-DE" sz="2400" dirty="0">
                <a:solidFill>
                  <a:srgbClr val="0071B2"/>
                </a:solidFill>
                <a:latin typeface="Source Sans Pro" panose="020B0503030403020204" pitchFamily="34" charset="0"/>
              </a:rPr>
              <a:t>ein Beispiel betrachten.</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4000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6" y="2101561"/>
            <a:ext cx="6939494" cy="707704"/>
          </a:xfrm>
        </p:spPr>
        <p:txBody>
          <a:bodyPr>
            <a:noAutofit/>
          </a:bodyPr>
          <a:lstStyle/>
          <a:p>
            <a:r>
              <a:rPr lang="de-DE" sz="6600" dirty="0">
                <a:latin typeface="Source Sans Pro" panose="020B0503030403020204" pitchFamily="34" charset="0"/>
              </a:rPr>
              <a:t>Beispiel 1</a:t>
            </a:r>
          </a:p>
        </p:txBody>
      </p:sp>
    </p:spTree>
    <p:extLst>
      <p:ext uri="{BB962C8B-B14F-4D97-AF65-F5344CB8AC3E}">
        <p14:creationId xmlns:p14="http://schemas.microsoft.com/office/powerpoint/2010/main" val="550609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1)</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Abteilungsleiter</a:t>
            </a:r>
          </a:p>
        </p:txBody>
      </p:sp>
      <p:sp>
        <p:nvSpPr>
          <p:cNvPr id="13" name="Rechteck 12"/>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Chef</a:t>
            </a:r>
          </a:p>
        </p:txBody>
      </p:sp>
      <p:sp>
        <p:nvSpPr>
          <p:cNvPr id="23" name="Rechteck 22"/>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24" name="Raute 23"/>
          <p:cNvSpPr/>
          <p:nvPr/>
        </p:nvSpPr>
        <p:spPr>
          <a:xfrm>
            <a:off x="3869388" y="2908812"/>
            <a:ext cx="3499971" cy="1347095"/>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accent2"/>
                </a:solidFill>
                <a:latin typeface="Source Sans Pro" panose="020B0503030403020204" pitchFamily="34" charset="0"/>
              </a:rPr>
              <a:t>stehen in einem gemeinsamen Arbeitsverhältnis</a:t>
            </a:r>
          </a:p>
        </p:txBody>
      </p:sp>
      <p:cxnSp>
        <p:nvCxnSpPr>
          <p:cNvPr id="25" name="Gerader Verbinder 24"/>
          <p:cNvCxnSpPr>
            <a:stCxn id="24" idx="1"/>
            <a:endCxn id="2" idx="0"/>
          </p:cNvCxnSpPr>
          <p:nvPr/>
        </p:nvCxnSpPr>
        <p:spPr>
          <a:xfrm flipH="1">
            <a:off x="2061530" y="3582360"/>
            <a:ext cx="1807858" cy="12433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a:stCxn id="23" idx="0"/>
            <a:endCxn id="24" idx="3"/>
          </p:cNvCxnSpPr>
          <p:nvPr/>
        </p:nvCxnSpPr>
        <p:spPr>
          <a:xfrm flipH="1" flipV="1">
            <a:off x="7369359" y="3582360"/>
            <a:ext cx="2125919" cy="12433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p:cNvCxnSpPr>
            <a:stCxn id="24" idx="0"/>
            <a:endCxn id="13" idx="2"/>
          </p:cNvCxnSpPr>
          <p:nvPr/>
        </p:nvCxnSpPr>
        <p:spPr>
          <a:xfrm flipH="1" flipV="1">
            <a:off x="5611091" y="2303819"/>
            <a:ext cx="8283" cy="60499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7527303" y="2539163"/>
            <a:ext cx="4385239" cy="923330"/>
          </a:xfrm>
          <a:prstGeom prst="rect">
            <a:avLst/>
          </a:prstGeom>
          <a:solidFill>
            <a:schemeClr val="bg2"/>
          </a:solidFill>
          <a:ln>
            <a:solidFill>
              <a:schemeClr val="tx1"/>
            </a:solidFill>
          </a:ln>
        </p:spPr>
        <p:txBody>
          <a:bodyPr wrap="none" rtlCol="0">
            <a:spAutoFit/>
          </a:bodyPr>
          <a:lstStyle/>
          <a:p>
            <a:pPr algn="ctr"/>
            <a:r>
              <a:rPr lang="de-DE" u="sng" dirty="0"/>
              <a:t>Diese</a:t>
            </a:r>
            <a:r>
              <a:rPr lang="de-DE" dirty="0"/>
              <a:t> mehrstellige Relation werden wir</a:t>
            </a:r>
          </a:p>
          <a:p>
            <a:pPr algn="ctr"/>
            <a:r>
              <a:rPr lang="de-DE" dirty="0"/>
              <a:t> „verlustfrei“(!) in mehrere </a:t>
            </a:r>
            <a:r>
              <a:rPr lang="de-DE" b="1" dirty="0"/>
              <a:t>binäre Relationen</a:t>
            </a:r>
          </a:p>
          <a:p>
            <a:pPr algn="ctr"/>
            <a:r>
              <a:rPr lang="de-DE" b="1" dirty="0"/>
              <a:t>transformieren </a:t>
            </a:r>
            <a:r>
              <a:rPr lang="de-DE" dirty="0"/>
              <a:t>können: </a:t>
            </a:r>
          </a:p>
        </p:txBody>
      </p:sp>
    </p:spTree>
    <p:extLst>
      <p:ext uri="{BB962C8B-B14F-4D97-AF65-F5344CB8AC3E}">
        <p14:creationId xmlns:p14="http://schemas.microsoft.com/office/powerpoint/2010/main" val="143654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1)</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32" name="Raute 31"/>
          <p:cNvSpPr/>
          <p:nvPr/>
        </p:nvSpPr>
        <p:spPr>
          <a:xfrm>
            <a:off x="2643419" y="2956951"/>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accent2"/>
                </a:solidFill>
                <a:latin typeface="Source Sans Pro" panose="020B0503030403020204" pitchFamily="34" charset="0"/>
              </a:rPr>
              <a:t>ist direkter Vorgesetzter von</a:t>
            </a:r>
          </a:p>
        </p:txBody>
      </p:sp>
      <p:sp>
        <p:nvSpPr>
          <p:cNvPr id="34" name="Rechteck 33"/>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Chef</a:t>
            </a:r>
          </a:p>
        </p:txBody>
      </p:sp>
      <p:cxnSp>
        <p:nvCxnSpPr>
          <p:cNvPr id="37" name="Gerader Verbinder 36"/>
          <p:cNvCxnSpPr>
            <a:stCxn id="32" idx="1"/>
            <a:endCxn id="58" idx="0"/>
          </p:cNvCxnSpPr>
          <p:nvPr/>
        </p:nvCxnSpPr>
        <p:spPr>
          <a:xfrm flipH="1">
            <a:off x="2061530" y="3557406"/>
            <a:ext cx="581889" cy="126832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a:stCxn id="62" idx="1"/>
            <a:endCxn id="50" idx="3"/>
          </p:cNvCxnSpPr>
          <p:nvPr/>
        </p:nvCxnSpPr>
        <p:spPr>
          <a:xfrm flipH="1">
            <a:off x="7265468"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Gerader Verbinder 38"/>
          <p:cNvCxnSpPr>
            <a:stCxn id="32" idx="3"/>
            <a:endCxn id="34" idx="2"/>
          </p:cNvCxnSpPr>
          <p:nvPr/>
        </p:nvCxnSpPr>
        <p:spPr>
          <a:xfrm flipV="1">
            <a:off x="5174831" y="2303819"/>
            <a:ext cx="436260" cy="125358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Raute 49"/>
          <p:cNvSpPr/>
          <p:nvPr/>
        </p:nvSpPr>
        <p:spPr>
          <a:xfrm>
            <a:off x="4734056" y="4695918"/>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accent2"/>
                </a:solidFill>
                <a:latin typeface="Source Sans Pro" panose="020B0503030403020204" pitchFamily="34" charset="0"/>
              </a:rPr>
              <a:t>ist direkter Vorgesetzter von</a:t>
            </a:r>
          </a:p>
        </p:txBody>
      </p:sp>
      <p:cxnSp>
        <p:nvCxnSpPr>
          <p:cNvPr id="53" name="Gerader Verbinder 52"/>
          <p:cNvCxnSpPr>
            <a:stCxn id="50" idx="1"/>
            <a:endCxn id="58" idx="3"/>
          </p:cNvCxnSpPr>
          <p:nvPr/>
        </p:nvCxnSpPr>
        <p:spPr>
          <a:xfrm flipH="1">
            <a:off x="3682511"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Abteilungsleiter</a:t>
            </a:r>
          </a:p>
        </p:txBody>
      </p:sp>
      <p:sp>
        <p:nvSpPr>
          <p:cNvPr id="62" name="Rechteck 61"/>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79" name="Textfeld 78"/>
          <p:cNvSpPr txBox="1"/>
          <p:nvPr/>
        </p:nvSpPr>
        <p:spPr>
          <a:xfrm>
            <a:off x="7418121" y="2539163"/>
            <a:ext cx="4603633" cy="923330"/>
          </a:xfrm>
          <a:prstGeom prst="rect">
            <a:avLst/>
          </a:prstGeom>
          <a:solidFill>
            <a:schemeClr val="bg2"/>
          </a:solidFill>
          <a:ln>
            <a:solidFill>
              <a:schemeClr val="tx1"/>
            </a:solidFill>
          </a:ln>
        </p:spPr>
        <p:txBody>
          <a:bodyPr wrap="none" rtlCol="0">
            <a:spAutoFit/>
          </a:bodyPr>
          <a:lstStyle/>
          <a:p>
            <a:pPr algn="ctr"/>
            <a:r>
              <a:rPr lang="de-DE" u="sng" dirty="0"/>
              <a:t>Weiterhin</a:t>
            </a:r>
            <a:r>
              <a:rPr lang="de-DE" dirty="0"/>
              <a:t> erfahren wir (zumindest indirekt)</a:t>
            </a:r>
          </a:p>
          <a:p>
            <a:pPr algn="ctr"/>
            <a:r>
              <a:rPr lang="de-DE" dirty="0"/>
              <a:t>welcher Chef mit welchem Mitarbeiter</a:t>
            </a:r>
          </a:p>
          <a:p>
            <a:pPr algn="ctr"/>
            <a:r>
              <a:rPr lang="de-DE" dirty="0"/>
              <a:t>in einem </a:t>
            </a:r>
            <a:r>
              <a:rPr lang="de-DE" b="1" dirty="0"/>
              <a:t>gemeinsamen Arbeitsverhältnis </a:t>
            </a:r>
            <a:r>
              <a:rPr lang="de-DE" dirty="0"/>
              <a:t>steht</a:t>
            </a:r>
          </a:p>
        </p:txBody>
      </p:sp>
    </p:spTree>
    <p:extLst>
      <p:ext uri="{BB962C8B-B14F-4D97-AF65-F5344CB8AC3E}">
        <p14:creationId xmlns:p14="http://schemas.microsoft.com/office/powerpoint/2010/main" val="168889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a:bodyPr>
          <a:lstStyle/>
          <a:p>
            <a:r>
              <a:rPr lang="de-DE" dirty="0">
                <a:latin typeface="Source Sans Pro" panose="020B0503030403020204" pitchFamily="34" charset="0"/>
              </a:rPr>
              <a:t>Mehrstellige Relation </a:t>
            </a:r>
            <a:r>
              <a:rPr lang="de-DE" dirty="0"/>
              <a:t>-&gt; </a:t>
            </a:r>
            <a:r>
              <a:rPr lang="de-DE" dirty="0">
                <a:solidFill>
                  <a:schemeClr val="accent2"/>
                </a:solidFill>
              </a:rPr>
              <a:t>Kardinalität </a:t>
            </a:r>
            <a:r>
              <a:rPr lang="de-DE" sz="2700" dirty="0"/>
              <a:t>(Beispiel 1)</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32" name="Raute 31"/>
          <p:cNvSpPr/>
          <p:nvPr/>
        </p:nvSpPr>
        <p:spPr>
          <a:xfrm>
            <a:off x="2643419" y="2956951"/>
            <a:ext cx="2531412" cy="1200909"/>
          </a:xfrm>
          <a:prstGeom prst="diamond">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latin typeface="Source Sans Pro" panose="020B0503030403020204" pitchFamily="34" charset="0"/>
              </a:rPr>
              <a:t>ist direkter Vorgesetzter von</a:t>
            </a:r>
          </a:p>
        </p:txBody>
      </p:sp>
      <p:sp>
        <p:nvSpPr>
          <p:cNvPr id="34" name="Rechteck 33"/>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Chef</a:t>
            </a:r>
          </a:p>
        </p:txBody>
      </p:sp>
      <p:cxnSp>
        <p:nvCxnSpPr>
          <p:cNvPr id="37" name="Gerader Verbinder 36"/>
          <p:cNvCxnSpPr>
            <a:stCxn id="32" idx="1"/>
            <a:endCxn id="58" idx="0"/>
          </p:cNvCxnSpPr>
          <p:nvPr/>
        </p:nvCxnSpPr>
        <p:spPr>
          <a:xfrm flipH="1">
            <a:off x="2061530" y="3557406"/>
            <a:ext cx="581889" cy="12683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a:stCxn id="62" idx="1"/>
            <a:endCxn id="50" idx="3"/>
          </p:cNvCxnSpPr>
          <p:nvPr/>
        </p:nvCxnSpPr>
        <p:spPr>
          <a:xfrm flipH="1">
            <a:off x="7265468" y="5296373"/>
            <a:ext cx="10515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p:cNvCxnSpPr>
            <a:stCxn id="32" idx="3"/>
            <a:endCxn id="34" idx="2"/>
          </p:cNvCxnSpPr>
          <p:nvPr/>
        </p:nvCxnSpPr>
        <p:spPr>
          <a:xfrm flipV="1">
            <a:off x="5174831" y="2303819"/>
            <a:ext cx="436260" cy="1253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aute 49"/>
          <p:cNvSpPr/>
          <p:nvPr/>
        </p:nvSpPr>
        <p:spPr>
          <a:xfrm>
            <a:off x="4734056" y="4695918"/>
            <a:ext cx="2531412" cy="1200909"/>
          </a:xfrm>
          <a:prstGeom prst="diamond">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latin typeface="Source Sans Pro" panose="020B0503030403020204" pitchFamily="34" charset="0"/>
              </a:rPr>
              <a:t>ist direkter Vorgesetzter von</a:t>
            </a:r>
          </a:p>
        </p:txBody>
      </p:sp>
      <p:cxnSp>
        <p:nvCxnSpPr>
          <p:cNvPr id="53" name="Gerader Verbinder 52"/>
          <p:cNvCxnSpPr>
            <a:stCxn id="50" idx="1"/>
            <a:endCxn id="58" idx="3"/>
          </p:cNvCxnSpPr>
          <p:nvPr/>
        </p:nvCxnSpPr>
        <p:spPr>
          <a:xfrm flipH="1">
            <a:off x="3682511" y="5296373"/>
            <a:ext cx="10515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Abteilungsleiter</a:t>
            </a:r>
          </a:p>
        </p:txBody>
      </p:sp>
      <p:sp>
        <p:nvSpPr>
          <p:cNvPr id="62" name="Rechteck 61"/>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79" name="Textfeld 78"/>
          <p:cNvSpPr txBox="1"/>
          <p:nvPr/>
        </p:nvSpPr>
        <p:spPr>
          <a:xfrm>
            <a:off x="6722760" y="1632060"/>
            <a:ext cx="4582985" cy="2862322"/>
          </a:xfrm>
          <a:prstGeom prst="rect">
            <a:avLst/>
          </a:prstGeom>
          <a:solidFill>
            <a:schemeClr val="bg2"/>
          </a:solidFill>
          <a:ln>
            <a:solidFill>
              <a:schemeClr val="tx1"/>
            </a:solidFill>
          </a:ln>
        </p:spPr>
        <p:txBody>
          <a:bodyPr wrap="square" rtlCol="0">
            <a:spAutoFit/>
          </a:bodyPr>
          <a:lstStyle/>
          <a:p>
            <a:pPr algn="ctr"/>
            <a:r>
              <a:rPr lang="de-DE" b="1" dirty="0"/>
              <a:t>Nun können wir auch die gültigen Kardinalitäten (bzw. Relationstypen) vom Auftraggeber erfragen, Beispiel:</a:t>
            </a:r>
          </a:p>
          <a:p>
            <a:pPr algn="ctr"/>
            <a:endParaRPr lang="de-DE" dirty="0"/>
          </a:p>
          <a:p>
            <a:pPr algn="ctr"/>
            <a:r>
              <a:rPr lang="de-DE" dirty="0"/>
              <a:t>Im vorliegenden Fall teilte uns der der Auftraggeber mit, dass jeder Mitarbeiter einen eindeutigen Abteilungsleiter und dieser einem eindeutigen Chef zugeordnet werden kann. </a:t>
            </a:r>
          </a:p>
          <a:p>
            <a:pPr algn="ctr"/>
            <a:endParaRPr lang="de-DE" dirty="0"/>
          </a:p>
          <a:p>
            <a:pPr algn="ctr"/>
            <a:r>
              <a:rPr lang="de-DE" dirty="0"/>
              <a:t>Dann ergeben sich folgende Relationstypen:</a:t>
            </a:r>
          </a:p>
        </p:txBody>
      </p:sp>
      <p:sp>
        <p:nvSpPr>
          <p:cNvPr id="2" name="Textfeld 1"/>
          <p:cNvSpPr txBox="1"/>
          <p:nvPr/>
        </p:nvSpPr>
        <p:spPr>
          <a:xfrm>
            <a:off x="5527847" y="2291261"/>
            <a:ext cx="301686" cy="369332"/>
          </a:xfrm>
          <a:prstGeom prst="rect">
            <a:avLst/>
          </a:prstGeom>
          <a:noFill/>
        </p:spPr>
        <p:txBody>
          <a:bodyPr wrap="none" rtlCol="0">
            <a:spAutoFit/>
          </a:bodyPr>
          <a:lstStyle/>
          <a:p>
            <a:r>
              <a:rPr lang="de-DE" b="1" dirty="0">
                <a:solidFill>
                  <a:schemeClr val="accent2"/>
                </a:solidFill>
              </a:rPr>
              <a:t>1</a:t>
            </a:r>
          </a:p>
        </p:txBody>
      </p:sp>
      <p:sp>
        <p:nvSpPr>
          <p:cNvPr id="17" name="Textfeld 16"/>
          <p:cNvSpPr txBox="1"/>
          <p:nvPr/>
        </p:nvSpPr>
        <p:spPr>
          <a:xfrm>
            <a:off x="3655764" y="4993626"/>
            <a:ext cx="301686" cy="369332"/>
          </a:xfrm>
          <a:prstGeom prst="rect">
            <a:avLst/>
          </a:prstGeom>
          <a:noFill/>
        </p:spPr>
        <p:txBody>
          <a:bodyPr wrap="none" rtlCol="0">
            <a:spAutoFit/>
          </a:bodyPr>
          <a:lstStyle/>
          <a:p>
            <a:r>
              <a:rPr lang="de-DE" b="1" dirty="0">
                <a:solidFill>
                  <a:schemeClr val="accent2"/>
                </a:solidFill>
              </a:rPr>
              <a:t>1</a:t>
            </a:r>
          </a:p>
        </p:txBody>
      </p:sp>
      <p:sp>
        <p:nvSpPr>
          <p:cNvPr id="18" name="Textfeld 17"/>
          <p:cNvSpPr txBox="1"/>
          <p:nvPr/>
        </p:nvSpPr>
        <p:spPr>
          <a:xfrm>
            <a:off x="2132714" y="4511252"/>
            <a:ext cx="308098" cy="369332"/>
          </a:xfrm>
          <a:prstGeom prst="rect">
            <a:avLst/>
          </a:prstGeom>
          <a:noFill/>
        </p:spPr>
        <p:txBody>
          <a:bodyPr wrap="none" rtlCol="0">
            <a:spAutoFit/>
          </a:bodyPr>
          <a:lstStyle/>
          <a:p>
            <a:r>
              <a:rPr lang="de-DE" b="1" dirty="0">
                <a:solidFill>
                  <a:schemeClr val="accent2"/>
                </a:solidFill>
              </a:rPr>
              <a:t>n</a:t>
            </a:r>
          </a:p>
        </p:txBody>
      </p:sp>
      <p:sp>
        <p:nvSpPr>
          <p:cNvPr id="19" name="Textfeld 18"/>
          <p:cNvSpPr txBox="1"/>
          <p:nvPr/>
        </p:nvSpPr>
        <p:spPr>
          <a:xfrm>
            <a:off x="8008915" y="4993626"/>
            <a:ext cx="308098" cy="369332"/>
          </a:xfrm>
          <a:prstGeom prst="rect">
            <a:avLst/>
          </a:prstGeom>
          <a:noFill/>
        </p:spPr>
        <p:txBody>
          <a:bodyPr wrap="none" rtlCol="0">
            <a:spAutoFit/>
          </a:bodyPr>
          <a:lstStyle/>
          <a:p>
            <a:r>
              <a:rPr lang="de-DE" b="1" dirty="0">
                <a:solidFill>
                  <a:schemeClr val="accent2"/>
                </a:solidFill>
              </a:rPr>
              <a:t>n</a:t>
            </a:r>
          </a:p>
        </p:txBody>
      </p:sp>
    </p:spTree>
    <p:extLst>
      <p:ext uri="{BB962C8B-B14F-4D97-AF65-F5344CB8AC3E}">
        <p14:creationId xmlns:p14="http://schemas.microsoft.com/office/powerpoint/2010/main" val="341664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2" grpId="0"/>
      <p:bldP spid="17" grpId="0"/>
      <p:bldP spid="18"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6" y="2101561"/>
            <a:ext cx="6939494" cy="707704"/>
          </a:xfrm>
        </p:spPr>
        <p:txBody>
          <a:bodyPr>
            <a:noAutofit/>
          </a:bodyPr>
          <a:lstStyle/>
          <a:p>
            <a:r>
              <a:rPr lang="de-DE" sz="6600" dirty="0">
                <a:latin typeface="Source Sans Pro" panose="020B0503030403020204" pitchFamily="34" charset="0"/>
              </a:rPr>
              <a:t>Beispiel 2</a:t>
            </a:r>
          </a:p>
        </p:txBody>
      </p:sp>
    </p:spTree>
    <p:extLst>
      <p:ext uri="{BB962C8B-B14F-4D97-AF65-F5344CB8AC3E}">
        <p14:creationId xmlns:p14="http://schemas.microsoft.com/office/powerpoint/2010/main" val="354251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2)</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Projektleiter</a:t>
            </a:r>
          </a:p>
        </p:txBody>
      </p:sp>
      <p:sp>
        <p:nvSpPr>
          <p:cNvPr id="13" name="Rechteck 12"/>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Kunde</a:t>
            </a:r>
          </a:p>
        </p:txBody>
      </p:sp>
      <p:sp>
        <p:nvSpPr>
          <p:cNvPr id="23" name="Rechteck 22"/>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24" name="Raute 23"/>
          <p:cNvSpPr/>
          <p:nvPr/>
        </p:nvSpPr>
        <p:spPr>
          <a:xfrm>
            <a:off x="3869388" y="2908812"/>
            <a:ext cx="3499971" cy="1347095"/>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noProof="0" dirty="0">
                <a:solidFill>
                  <a:srgbClr val="FE5000"/>
                </a:solidFill>
                <a:latin typeface="Source Sans Pro" panose="020B0503030403020204" pitchFamily="34" charset="0"/>
              </a:rPr>
              <a:t>S</a:t>
            </a: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rPr>
              <a:t>ind (oder waren) Stakeholder an einem </a:t>
            </a:r>
            <a:r>
              <a:rPr kumimoji="0" lang="de-DE" sz="1400" b="0" i="0" u="sng" strike="noStrike" kern="1200" cap="none" spc="0" normalizeH="0" baseline="0" noProof="0" dirty="0">
                <a:ln>
                  <a:noFill/>
                </a:ln>
                <a:solidFill>
                  <a:srgbClr val="FE5000"/>
                </a:solidFill>
                <a:effectLst/>
                <a:uLnTx/>
                <a:uFillTx/>
                <a:latin typeface="Source Sans Pro" panose="020B0503030403020204" pitchFamily="34" charset="0"/>
              </a:rPr>
              <a:t>gemeinsamen</a:t>
            </a: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rPr>
              <a:t> Projekt</a:t>
            </a:r>
          </a:p>
        </p:txBody>
      </p:sp>
      <p:cxnSp>
        <p:nvCxnSpPr>
          <p:cNvPr id="25" name="Gerader Verbinder 24"/>
          <p:cNvCxnSpPr>
            <a:stCxn id="24" idx="1"/>
            <a:endCxn id="2" idx="0"/>
          </p:cNvCxnSpPr>
          <p:nvPr/>
        </p:nvCxnSpPr>
        <p:spPr>
          <a:xfrm flipH="1">
            <a:off x="2061530" y="3582360"/>
            <a:ext cx="1807858" cy="12433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a:stCxn id="23" idx="0"/>
            <a:endCxn id="24" idx="3"/>
          </p:cNvCxnSpPr>
          <p:nvPr/>
        </p:nvCxnSpPr>
        <p:spPr>
          <a:xfrm flipH="1" flipV="1">
            <a:off x="7369359" y="3582360"/>
            <a:ext cx="2125919" cy="12433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p:cNvCxnSpPr>
            <a:stCxn id="24" idx="0"/>
            <a:endCxn id="13" idx="2"/>
          </p:cNvCxnSpPr>
          <p:nvPr/>
        </p:nvCxnSpPr>
        <p:spPr>
          <a:xfrm flipH="1" flipV="1">
            <a:off x="5611091" y="2303819"/>
            <a:ext cx="8283" cy="60499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7502200" y="2539163"/>
            <a:ext cx="4435446" cy="923330"/>
          </a:xfrm>
          <a:prstGeom prst="rect">
            <a:avLst/>
          </a:prstGeom>
          <a:solidFill>
            <a:schemeClr val="bg2"/>
          </a:solidFill>
          <a:ln>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sng" strike="noStrike" kern="1200" cap="none" spc="0" normalizeH="0" baseline="0" noProof="0" dirty="0">
                <a:ln>
                  <a:noFill/>
                </a:ln>
                <a:solidFill>
                  <a:srgbClr val="0071B2"/>
                </a:solidFill>
                <a:effectLst/>
                <a:uLnTx/>
                <a:uFillTx/>
                <a:latin typeface="Calibri" panose="020F0502020204030204"/>
                <a:ea typeface="+mn-ea"/>
                <a:cs typeface="+mn-cs"/>
              </a:rPr>
              <a:t>Diese</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mehrstellige Relation werden wir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nicht</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„verlustfrei“(!) in mehrere </a:t>
            </a: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binäre Relationen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transformieren </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können: </a:t>
            </a:r>
          </a:p>
        </p:txBody>
      </p:sp>
    </p:spTree>
    <p:extLst>
      <p:ext uri="{BB962C8B-B14F-4D97-AF65-F5344CB8AC3E}">
        <p14:creationId xmlns:p14="http://schemas.microsoft.com/office/powerpoint/2010/main" val="358770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2)</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32" name="Raute 31"/>
          <p:cNvSpPr/>
          <p:nvPr/>
        </p:nvSpPr>
        <p:spPr>
          <a:xfrm>
            <a:off x="2643419" y="2956951"/>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beauftragte</a:t>
            </a:r>
          </a:p>
        </p:txBody>
      </p:sp>
      <p:sp>
        <p:nvSpPr>
          <p:cNvPr id="34" name="Rechteck 33"/>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Kunde</a:t>
            </a:r>
          </a:p>
        </p:txBody>
      </p:sp>
      <p:cxnSp>
        <p:nvCxnSpPr>
          <p:cNvPr id="37" name="Gerader Verbinder 36"/>
          <p:cNvCxnSpPr>
            <a:stCxn id="32" idx="1"/>
            <a:endCxn id="58" idx="0"/>
          </p:cNvCxnSpPr>
          <p:nvPr/>
        </p:nvCxnSpPr>
        <p:spPr>
          <a:xfrm flipH="1">
            <a:off x="2061530" y="3557406"/>
            <a:ext cx="581889" cy="126832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a:stCxn id="62" idx="1"/>
            <a:endCxn id="50" idx="3"/>
          </p:cNvCxnSpPr>
          <p:nvPr/>
        </p:nvCxnSpPr>
        <p:spPr>
          <a:xfrm flipH="1">
            <a:off x="7265468"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Gerader Verbinder 38"/>
          <p:cNvCxnSpPr>
            <a:stCxn id="32" idx="3"/>
            <a:endCxn id="34" idx="2"/>
          </p:cNvCxnSpPr>
          <p:nvPr/>
        </p:nvCxnSpPr>
        <p:spPr>
          <a:xfrm flipV="1">
            <a:off x="5174831" y="2303819"/>
            <a:ext cx="436260" cy="125358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Raute 49"/>
          <p:cNvSpPr/>
          <p:nvPr/>
        </p:nvSpPr>
        <p:spPr>
          <a:xfrm>
            <a:off x="4734056" y="4695918"/>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dirty="0">
                <a:solidFill>
                  <a:srgbClr val="FE5000"/>
                </a:solidFill>
                <a:latin typeface="Source Sans Pro" panose="020B0503030403020204" pitchFamily="34" charset="0"/>
              </a:rPr>
              <a:t>w</a:t>
            </a:r>
            <a:r>
              <a:rPr kumimoji="0" lang="de-DE" sz="16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ählte aus</a:t>
            </a:r>
          </a:p>
        </p:txBody>
      </p:sp>
      <p:cxnSp>
        <p:nvCxnSpPr>
          <p:cNvPr id="53" name="Gerader Verbinder 52"/>
          <p:cNvCxnSpPr>
            <a:stCxn id="50" idx="1"/>
            <a:endCxn id="58" idx="3"/>
          </p:cNvCxnSpPr>
          <p:nvPr/>
        </p:nvCxnSpPr>
        <p:spPr>
          <a:xfrm flipH="1">
            <a:off x="3682511"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Projektleiter</a:t>
            </a:r>
          </a:p>
        </p:txBody>
      </p:sp>
      <p:sp>
        <p:nvSpPr>
          <p:cNvPr id="62" name="Rechteck 61"/>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Tree>
    <p:extLst>
      <p:ext uri="{BB962C8B-B14F-4D97-AF65-F5344CB8AC3E}">
        <p14:creationId xmlns:p14="http://schemas.microsoft.com/office/powerpoint/2010/main" val="3261740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2)</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32" name="Raute 31"/>
          <p:cNvSpPr/>
          <p:nvPr/>
        </p:nvSpPr>
        <p:spPr>
          <a:xfrm>
            <a:off x="2643419" y="2956951"/>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beauftragte</a:t>
            </a:r>
          </a:p>
        </p:txBody>
      </p:sp>
      <p:sp>
        <p:nvSpPr>
          <p:cNvPr id="34" name="Rechteck 33"/>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Kunde</a:t>
            </a:r>
          </a:p>
        </p:txBody>
      </p:sp>
      <p:cxnSp>
        <p:nvCxnSpPr>
          <p:cNvPr id="37" name="Gerader Verbinder 36"/>
          <p:cNvCxnSpPr>
            <a:stCxn id="32" idx="1"/>
            <a:endCxn id="58" idx="0"/>
          </p:cNvCxnSpPr>
          <p:nvPr/>
        </p:nvCxnSpPr>
        <p:spPr>
          <a:xfrm flipH="1">
            <a:off x="2061530" y="3557406"/>
            <a:ext cx="581889" cy="126832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a:stCxn id="62" idx="1"/>
            <a:endCxn id="50" idx="3"/>
          </p:cNvCxnSpPr>
          <p:nvPr/>
        </p:nvCxnSpPr>
        <p:spPr>
          <a:xfrm flipH="1">
            <a:off x="7265468"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Gerader Verbinder 38"/>
          <p:cNvCxnSpPr>
            <a:stCxn id="32" idx="3"/>
            <a:endCxn id="34" idx="2"/>
          </p:cNvCxnSpPr>
          <p:nvPr/>
        </p:nvCxnSpPr>
        <p:spPr>
          <a:xfrm flipV="1">
            <a:off x="5174831" y="2303819"/>
            <a:ext cx="436260" cy="125358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Raute 49"/>
          <p:cNvSpPr/>
          <p:nvPr/>
        </p:nvSpPr>
        <p:spPr>
          <a:xfrm>
            <a:off x="4734056" y="4695918"/>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dirty="0">
                <a:solidFill>
                  <a:srgbClr val="FE5000"/>
                </a:solidFill>
                <a:latin typeface="Source Sans Pro" panose="020B0503030403020204" pitchFamily="34" charset="0"/>
              </a:rPr>
              <a:t>w</a:t>
            </a:r>
            <a:r>
              <a:rPr kumimoji="0" lang="de-DE" sz="16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ählte aus</a:t>
            </a:r>
          </a:p>
        </p:txBody>
      </p:sp>
      <p:cxnSp>
        <p:nvCxnSpPr>
          <p:cNvPr id="53" name="Gerader Verbinder 52"/>
          <p:cNvCxnSpPr>
            <a:stCxn id="50" idx="1"/>
            <a:endCxn id="58" idx="3"/>
          </p:cNvCxnSpPr>
          <p:nvPr/>
        </p:nvCxnSpPr>
        <p:spPr>
          <a:xfrm flipH="1">
            <a:off x="3682511"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Projektleiter</a:t>
            </a:r>
          </a:p>
        </p:txBody>
      </p:sp>
      <p:sp>
        <p:nvSpPr>
          <p:cNvPr id="62" name="Rechteck 61"/>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79" name="Textfeld 78"/>
          <p:cNvSpPr txBox="1"/>
          <p:nvPr/>
        </p:nvSpPr>
        <p:spPr>
          <a:xfrm>
            <a:off x="6757834" y="1870784"/>
            <a:ext cx="5012988" cy="1246495"/>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strike="noStrike" kern="1200" cap="none" spc="0" normalizeH="0" baseline="0" noProof="0" dirty="0">
                <a:ln>
                  <a:noFill/>
                </a:ln>
                <a:solidFill>
                  <a:srgbClr val="0071B2"/>
                </a:solidFill>
                <a:effectLst/>
                <a:uLnTx/>
                <a:uFillTx/>
                <a:latin typeface="Calibri" panose="020F0502020204030204"/>
              </a:rPr>
              <a:t>In </a:t>
            </a:r>
            <a:r>
              <a:rPr kumimoji="0" lang="de-DE" sz="1800" b="0" i="0" u="sng" strike="noStrike" kern="1200" cap="none" spc="0" normalizeH="0" baseline="0" noProof="0" dirty="0">
                <a:ln>
                  <a:noFill/>
                </a:ln>
                <a:solidFill>
                  <a:srgbClr val="0071B2"/>
                </a:solidFill>
                <a:effectLst/>
                <a:uLnTx/>
                <a:uFillTx/>
                <a:latin typeface="Calibri" panose="020F0502020204030204"/>
              </a:rPr>
              <a:t>diesem Fall</a:t>
            </a:r>
            <a:r>
              <a:rPr kumimoji="0" lang="de-DE" sz="1800" b="0" i="0" strike="noStrike" kern="1200" cap="none" spc="0" normalizeH="0" baseline="0" noProof="0" dirty="0">
                <a:ln>
                  <a:noFill/>
                </a:ln>
                <a:solidFill>
                  <a:srgbClr val="0071B2"/>
                </a:solidFill>
                <a:effectLst/>
                <a:uLnTx/>
                <a:uFillTx/>
                <a:latin typeface="Calibri" panose="020F0502020204030204"/>
              </a:rPr>
              <a:t> gingen Informationen verloren,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denn wir können zwar zu jedem Kunden alle</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Projektleiter benennen, die er jemals beauftragte</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dirty="0">
                <a:solidFill>
                  <a:srgbClr val="0071B2"/>
                </a:solidFill>
                <a:latin typeface="Calibri" panose="020F0502020204030204"/>
              </a:rPr>
              <a:t>(so wie wir </a:t>
            </a:r>
            <a:r>
              <a:rPr kumimoji="0" lang="de-DE" sz="1050" b="0" i="0" strike="noStrike" kern="1200" cap="none" spc="0" normalizeH="0" noProof="0" dirty="0">
                <a:ln>
                  <a:noFill/>
                </a:ln>
                <a:solidFill>
                  <a:srgbClr val="0071B2"/>
                </a:solidFill>
                <a:effectLst/>
                <a:uLnTx/>
                <a:uFillTx/>
                <a:latin typeface="Calibri" panose="020F0502020204030204"/>
              </a:rPr>
              <a:t>für jeden Projektleiter erfahren, welche Mitarbeiter er jemals auswählte),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1050" dirty="0">
              <a:solidFill>
                <a:srgbClr val="0071B2"/>
              </a:solidFill>
              <a:latin typeface="Calibri" panose="020F0502020204030204"/>
            </a:endParaRPr>
          </a:p>
        </p:txBody>
      </p:sp>
    </p:spTree>
    <p:extLst>
      <p:ext uri="{BB962C8B-B14F-4D97-AF65-F5344CB8AC3E}">
        <p14:creationId xmlns:p14="http://schemas.microsoft.com/office/powerpoint/2010/main" val="2591218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2)</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32" name="Raute 31"/>
          <p:cNvSpPr/>
          <p:nvPr/>
        </p:nvSpPr>
        <p:spPr>
          <a:xfrm>
            <a:off x="2643419" y="2956951"/>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beauftragte</a:t>
            </a:r>
          </a:p>
        </p:txBody>
      </p:sp>
      <p:sp>
        <p:nvSpPr>
          <p:cNvPr id="34" name="Rechteck 33"/>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Kunde</a:t>
            </a:r>
          </a:p>
        </p:txBody>
      </p:sp>
      <p:cxnSp>
        <p:nvCxnSpPr>
          <p:cNvPr id="37" name="Gerader Verbinder 36"/>
          <p:cNvCxnSpPr>
            <a:stCxn id="32" idx="1"/>
            <a:endCxn id="58" idx="0"/>
          </p:cNvCxnSpPr>
          <p:nvPr/>
        </p:nvCxnSpPr>
        <p:spPr>
          <a:xfrm flipH="1">
            <a:off x="2061530" y="3557406"/>
            <a:ext cx="581889" cy="126832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a:stCxn id="62" idx="1"/>
            <a:endCxn id="50" idx="3"/>
          </p:cNvCxnSpPr>
          <p:nvPr/>
        </p:nvCxnSpPr>
        <p:spPr>
          <a:xfrm flipH="1">
            <a:off x="7265468"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Gerader Verbinder 38"/>
          <p:cNvCxnSpPr>
            <a:stCxn id="32" idx="3"/>
            <a:endCxn id="34" idx="2"/>
          </p:cNvCxnSpPr>
          <p:nvPr/>
        </p:nvCxnSpPr>
        <p:spPr>
          <a:xfrm flipV="1">
            <a:off x="5174831" y="2303819"/>
            <a:ext cx="436260" cy="125358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Raute 49"/>
          <p:cNvSpPr/>
          <p:nvPr/>
        </p:nvSpPr>
        <p:spPr>
          <a:xfrm>
            <a:off x="4734056" y="4695918"/>
            <a:ext cx="2531412" cy="1200909"/>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dirty="0">
                <a:solidFill>
                  <a:srgbClr val="FE5000"/>
                </a:solidFill>
                <a:latin typeface="Source Sans Pro" panose="020B0503030403020204" pitchFamily="34" charset="0"/>
              </a:rPr>
              <a:t>w</a:t>
            </a:r>
            <a:r>
              <a:rPr kumimoji="0" lang="de-DE" sz="16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ählte aus</a:t>
            </a:r>
          </a:p>
        </p:txBody>
      </p:sp>
      <p:cxnSp>
        <p:nvCxnSpPr>
          <p:cNvPr id="53" name="Gerader Verbinder 52"/>
          <p:cNvCxnSpPr>
            <a:stCxn id="50" idx="1"/>
            <a:endCxn id="58" idx="3"/>
          </p:cNvCxnSpPr>
          <p:nvPr/>
        </p:nvCxnSpPr>
        <p:spPr>
          <a:xfrm flipH="1">
            <a:off x="3682511" y="5296373"/>
            <a:ext cx="10515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Projektleiter</a:t>
            </a:r>
          </a:p>
        </p:txBody>
      </p:sp>
      <p:sp>
        <p:nvSpPr>
          <p:cNvPr id="62" name="Rechteck 61"/>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79" name="Textfeld 78"/>
          <p:cNvSpPr txBox="1"/>
          <p:nvPr/>
        </p:nvSpPr>
        <p:spPr>
          <a:xfrm>
            <a:off x="6757834" y="1870784"/>
            <a:ext cx="5012988" cy="2354491"/>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strike="noStrike" kern="1200" cap="none" spc="0" normalizeH="0" baseline="0" noProof="0" dirty="0">
                <a:ln>
                  <a:noFill/>
                </a:ln>
                <a:solidFill>
                  <a:srgbClr val="0071B2"/>
                </a:solidFill>
                <a:effectLst/>
                <a:uLnTx/>
                <a:uFillTx/>
                <a:latin typeface="Calibri" panose="020F0502020204030204"/>
              </a:rPr>
              <a:t>In </a:t>
            </a:r>
            <a:r>
              <a:rPr kumimoji="0" lang="de-DE" sz="1800" b="0" i="0" u="sng" strike="noStrike" kern="1200" cap="none" spc="0" normalizeH="0" baseline="0" noProof="0" dirty="0">
                <a:ln>
                  <a:noFill/>
                </a:ln>
                <a:solidFill>
                  <a:srgbClr val="0071B2"/>
                </a:solidFill>
                <a:effectLst/>
                <a:uLnTx/>
                <a:uFillTx/>
                <a:latin typeface="Calibri" panose="020F0502020204030204"/>
              </a:rPr>
              <a:t>diesem Fall</a:t>
            </a:r>
            <a:r>
              <a:rPr kumimoji="0" lang="de-DE" sz="1800" b="0" i="0" strike="noStrike" kern="1200" cap="none" spc="0" normalizeH="0" baseline="0" noProof="0" dirty="0">
                <a:ln>
                  <a:noFill/>
                </a:ln>
                <a:solidFill>
                  <a:srgbClr val="0071B2"/>
                </a:solidFill>
                <a:effectLst/>
                <a:uLnTx/>
                <a:uFillTx/>
                <a:latin typeface="Calibri" panose="020F0502020204030204"/>
              </a:rPr>
              <a:t> gingen Informationen verloren,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denn wir können zwar zu jedem Kunden alle</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Projektleiter benennen, die er jemals beauftragte</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dirty="0">
                <a:solidFill>
                  <a:srgbClr val="0071B2"/>
                </a:solidFill>
                <a:latin typeface="Calibri" panose="020F0502020204030204"/>
              </a:rPr>
              <a:t>(so wie wir </a:t>
            </a:r>
            <a:r>
              <a:rPr kumimoji="0" lang="de-DE" sz="1050" b="0" i="0" strike="noStrike" kern="1200" cap="none" spc="0" normalizeH="0" noProof="0" dirty="0">
                <a:ln>
                  <a:noFill/>
                </a:ln>
                <a:solidFill>
                  <a:srgbClr val="0071B2"/>
                </a:solidFill>
                <a:effectLst/>
                <a:uLnTx/>
                <a:uFillTx/>
                <a:latin typeface="Calibri" panose="020F0502020204030204"/>
              </a:rPr>
              <a:t>für jeden Projektleiter erfahren, welche Mitarbeiter er jemals auswählte),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1050" dirty="0">
              <a:solidFill>
                <a:srgbClr val="0071B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b="0" i="0" strike="noStrike" kern="1200" cap="none" spc="0" normalizeH="0" noProof="0" dirty="0">
                <a:ln>
                  <a:noFill/>
                </a:ln>
                <a:solidFill>
                  <a:srgbClr val="0071B2"/>
                </a:solidFill>
                <a:effectLst/>
                <a:uLnTx/>
                <a:uFillTx/>
                <a:latin typeface="Calibri" panose="020F0502020204030204"/>
              </a:rPr>
              <a:t>… aber die </a:t>
            </a:r>
            <a:r>
              <a:rPr kumimoji="0" lang="de-DE" sz="1800" b="0" i="0" strike="noStrike" kern="1200" cap="none" spc="0" normalizeH="0" noProof="0" dirty="0">
                <a:ln>
                  <a:noFill/>
                </a:ln>
                <a:solidFill>
                  <a:srgbClr val="0071B2"/>
                </a:solidFill>
                <a:effectLst/>
                <a:uLnTx/>
                <a:uFillTx/>
                <a:latin typeface="Calibri" panose="020F0502020204030204"/>
              </a:rPr>
              <a:t>Information, </a:t>
            </a:r>
            <a:r>
              <a:rPr kumimoji="0" lang="de-DE" sz="1800" b="1" i="0" strike="noStrike" kern="1200" cap="none" spc="0" normalizeH="0" noProof="0" dirty="0">
                <a:ln>
                  <a:noFill/>
                </a:ln>
                <a:solidFill>
                  <a:srgbClr val="0071B2"/>
                </a:solidFill>
                <a:effectLst/>
                <a:uLnTx/>
                <a:uFillTx/>
                <a:latin typeface="Calibri" panose="020F0502020204030204"/>
              </a:rPr>
              <a:t>welche „3er-Konstellation“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s</a:t>
            </a:r>
            <a:r>
              <a:rPr kumimoji="0" lang="de-DE" sz="1800" b="0" i="0" strike="noStrike" kern="1200" cap="none" spc="0" normalizeH="0" noProof="0" dirty="0">
                <a:ln>
                  <a:noFill/>
                </a:ln>
                <a:solidFill>
                  <a:srgbClr val="0071B2"/>
                </a:solidFill>
                <a:effectLst/>
                <a:uLnTx/>
                <a:uFillTx/>
                <a:latin typeface="Calibri" panose="020F0502020204030204"/>
              </a:rPr>
              <a:t>chon </a:t>
            </a:r>
            <a:r>
              <a:rPr lang="de-DE" dirty="0">
                <a:solidFill>
                  <a:srgbClr val="0071B2"/>
                </a:solidFill>
                <a:latin typeface="Calibri" panose="020F0502020204030204"/>
              </a:rPr>
              <a:t>einm</a:t>
            </a:r>
            <a:r>
              <a:rPr lang="de-DE" baseline="0" dirty="0">
                <a:solidFill>
                  <a:srgbClr val="0071B2"/>
                </a:solidFill>
                <a:latin typeface="Calibri" panose="020F0502020204030204"/>
              </a:rPr>
              <a:t>al an einem </a:t>
            </a:r>
            <a:r>
              <a:rPr lang="de-DE" b="1" baseline="0" dirty="0">
                <a:solidFill>
                  <a:srgbClr val="0071B2"/>
                </a:solidFill>
                <a:latin typeface="Calibri" panose="020F0502020204030204"/>
              </a:rPr>
              <a:t>gemeinsamen</a:t>
            </a:r>
            <a:r>
              <a:rPr lang="de-DE" b="1" dirty="0">
                <a:solidFill>
                  <a:srgbClr val="0071B2"/>
                </a:solidFill>
                <a:latin typeface="Calibri" panose="020F0502020204030204"/>
              </a:rPr>
              <a:t> Projekt </a:t>
            </a:r>
            <a:r>
              <a:rPr lang="de-DE" dirty="0">
                <a:solidFill>
                  <a:srgbClr val="0071B2"/>
                </a:solidFill>
                <a:latin typeface="Calibri" panose="020F0502020204030204"/>
              </a:rPr>
              <a:t>arbeitete, lässt sich</a:t>
            </a:r>
            <a:r>
              <a:rPr kumimoji="0" lang="de-DE" sz="1800" b="0" i="0" strike="noStrike" kern="1200" cap="none" spc="0" normalizeH="0" baseline="0" noProof="0" dirty="0">
                <a:ln>
                  <a:noFill/>
                </a:ln>
                <a:solidFill>
                  <a:srgbClr val="0071B2"/>
                </a:solidFill>
                <a:effectLst/>
                <a:uLnTx/>
                <a:uFillTx/>
                <a:latin typeface="Calibri" panose="020F0502020204030204"/>
              </a:rPr>
              <a:t> aus diesen beiden binären Relationen </a:t>
            </a:r>
            <a:r>
              <a:rPr kumimoji="0" lang="de-DE" sz="1800" b="0" i="0" u="sng" strike="noStrike" kern="1200" cap="none" spc="0" normalizeH="0" baseline="0" noProof="0" dirty="0">
                <a:ln>
                  <a:noFill/>
                </a:ln>
                <a:solidFill>
                  <a:srgbClr val="0071B2"/>
                </a:solidFill>
                <a:effectLst/>
                <a:uLnTx/>
                <a:uFillTx/>
                <a:latin typeface="Calibri" panose="020F0502020204030204"/>
              </a:rPr>
              <a:t>nicht</a:t>
            </a:r>
            <a:r>
              <a:rPr kumimoji="0" lang="de-DE" sz="1800" b="0" i="0" strike="noStrike" kern="1200" cap="none" spc="0" normalizeH="0" baseline="0" noProof="0" dirty="0">
                <a:ln>
                  <a:noFill/>
                </a:ln>
                <a:solidFill>
                  <a:srgbClr val="0071B2"/>
                </a:solidFill>
                <a:effectLst/>
                <a:uLnTx/>
                <a:uFillTx/>
                <a:latin typeface="Calibri" panose="020F0502020204030204"/>
              </a:rPr>
              <a:t> mehr ablesen.</a:t>
            </a:r>
          </a:p>
        </p:txBody>
      </p:sp>
    </p:spTree>
    <p:extLst>
      <p:ext uri="{BB962C8B-B14F-4D97-AF65-F5344CB8AC3E}">
        <p14:creationId xmlns:p14="http://schemas.microsoft.com/office/powerpoint/2010/main" val="3958744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2)</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Projektleiter</a:t>
            </a:r>
          </a:p>
        </p:txBody>
      </p:sp>
      <p:sp>
        <p:nvSpPr>
          <p:cNvPr id="13" name="Rechteck 12"/>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Kunde</a:t>
            </a:r>
          </a:p>
        </p:txBody>
      </p:sp>
      <p:sp>
        <p:nvSpPr>
          <p:cNvPr id="23" name="Rechteck 22"/>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sp>
        <p:nvSpPr>
          <p:cNvPr id="24" name="Raute 23"/>
          <p:cNvSpPr/>
          <p:nvPr/>
        </p:nvSpPr>
        <p:spPr>
          <a:xfrm>
            <a:off x="3869388" y="2908812"/>
            <a:ext cx="3499971" cy="1347095"/>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Sind (oder waren) Stakeholder an einem </a:t>
            </a:r>
            <a:r>
              <a:rPr kumimoji="0" lang="de-DE" sz="1400" b="0" i="0" u="sng"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gemeinsamen</a:t>
            </a: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 Projekt</a:t>
            </a:r>
          </a:p>
        </p:txBody>
      </p:sp>
      <p:cxnSp>
        <p:nvCxnSpPr>
          <p:cNvPr id="25" name="Gerader Verbinder 24"/>
          <p:cNvCxnSpPr>
            <a:stCxn id="24" idx="1"/>
            <a:endCxn id="2" idx="0"/>
          </p:cNvCxnSpPr>
          <p:nvPr/>
        </p:nvCxnSpPr>
        <p:spPr>
          <a:xfrm flipH="1">
            <a:off x="2061530" y="3582360"/>
            <a:ext cx="1807858" cy="12433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a:stCxn id="23" idx="0"/>
            <a:endCxn id="24" idx="3"/>
          </p:cNvCxnSpPr>
          <p:nvPr/>
        </p:nvCxnSpPr>
        <p:spPr>
          <a:xfrm flipH="1" flipV="1">
            <a:off x="7369359" y="3582360"/>
            <a:ext cx="2125919" cy="12433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p:cNvCxnSpPr>
            <a:stCxn id="24" idx="0"/>
            <a:endCxn id="13" idx="2"/>
          </p:cNvCxnSpPr>
          <p:nvPr/>
        </p:nvCxnSpPr>
        <p:spPr>
          <a:xfrm flipH="1" flipV="1">
            <a:off x="5611091" y="2303819"/>
            <a:ext cx="8283" cy="60499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7090757" y="1442878"/>
            <a:ext cx="4696567" cy="1569660"/>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strike="noStrike" kern="1200" cap="none" spc="0" normalizeH="0" baseline="0" noProof="0" dirty="0">
                <a:ln>
                  <a:noFill/>
                </a:ln>
                <a:solidFill>
                  <a:srgbClr val="0071B2"/>
                </a:solidFill>
                <a:effectLst/>
                <a:uLnTx/>
                <a:uFillTx/>
                <a:latin typeface="Calibri" panose="020F0502020204030204"/>
              </a:rPr>
              <a:t>Im Rahmen des </a:t>
            </a:r>
            <a:r>
              <a:rPr lang="de-DE" sz="1600" dirty="0">
                <a:solidFill>
                  <a:srgbClr val="0071B2"/>
                </a:solidFill>
                <a:latin typeface="Calibri" panose="020F0502020204030204"/>
              </a:rPr>
              <a:t>K</a:t>
            </a:r>
            <a:r>
              <a:rPr kumimoji="0" lang="de-DE" sz="1600" i="0" strike="noStrike" kern="1200" cap="none" spc="0" normalizeH="0" baseline="0" noProof="0" dirty="0" err="1">
                <a:ln>
                  <a:noFill/>
                </a:ln>
                <a:solidFill>
                  <a:srgbClr val="0071B2"/>
                </a:solidFill>
                <a:effectLst/>
                <a:uLnTx/>
                <a:uFillTx/>
                <a:latin typeface="Calibri" panose="020F0502020204030204"/>
              </a:rPr>
              <a:t>onzeptionellen</a:t>
            </a:r>
            <a:r>
              <a:rPr kumimoji="0" lang="de-DE" sz="1600" i="0" strike="noStrike" kern="1200" cap="none" spc="0" normalizeH="0" baseline="0" noProof="0" dirty="0">
                <a:ln>
                  <a:noFill/>
                </a:ln>
                <a:solidFill>
                  <a:srgbClr val="0071B2"/>
                </a:solidFill>
                <a:effectLst/>
                <a:uLnTx/>
                <a:uFillTx/>
                <a:latin typeface="Calibri" panose="020F0502020204030204"/>
              </a:rPr>
              <a:t> Datenbankentwurfs</a:t>
            </a:r>
            <a:r>
              <a:rPr kumimoji="0" lang="de-DE" sz="1600" i="0" strike="noStrike" kern="1200" cap="none" spc="0" normalizeH="0" noProof="0" dirty="0">
                <a:ln>
                  <a:noFill/>
                </a:ln>
                <a:solidFill>
                  <a:srgbClr val="0071B2"/>
                </a:solidFill>
                <a:effectLst/>
                <a:uLnTx/>
                <a:uFillTx/>
                <a:latin typeface="Calibri" panose="020F0502020204030204"/>
              </a:rPr>
              <a:t> </a:t>
            </a:r>
            <a:r>
              <a:rPr lang="de-DE" sz="1600" dirty="0">
                <a:solidFill>
                  <a:srgbClr val="0071B2"/>
                </a:solidFill>
                <a:latin typeface="Calibri" panose="020F0502020204030204"/>
              </a:rPr>
              <a:t>müssen wir in Fällen, in denen eine mehrstellige Relation nicht durch mehrere binäre Relationen aufgelöst werden kann, einen geeigneten </a:t>
            </a:r>
            <a:r>
              <a:rPr lang="de-DE" sz="1600" b="1" dirty="0">
                <a:solidFill>
                  <a:srgbClr val="0071B2"/>
                </a:solidFill>
                <a:latin typeface="Calibri" panose="020F0502020204030204"/>
              </a:rPr>
              <a:t>weiteren Entitätstypen </a:t>
            </a:r>
            <a:r>
              <a:rPr lang="de-DE" sz="1600" dirty="0">
                <a:solidFill>
                  <a:srgbClr val="0071B2"/>
                </a:solidFill>
                <a:latin typeface="Calibri" panose="020F0502020204030204"/>
              </a:rPr>
              <a:t>einführen, um darauf aufbauend die Kardinalitäten bestimmen zu können:</a:t>
            </a:r>
            <a:endParaRPr kumimoji="0" lang="de-DE" sz="1100" b="0" i="0" strike="noStrike" kern="1200" cap="none" spc="0" normalizeH="0" baseline="0" noProof="0" dirty="0">
              <a:ln>
                <a:noFill/>
              </a:ln>
              <a:solidFill>
                <a:srgbClr val="0071B2"/>
              </a:solidFill>
              <a:effectLst/>
              <a:uLnTx/>
              <a:uFillTx/>
              <a:latin typeface="Calibri" panose="020F0502020204030204"/>
            </a:endParaRPr>
          </a:p>
        </p:txBody>
      </p:sp>
    </p:spTree>
    <p:extLst>
      <p:ext uri="{BB962C8B-B14F-4D97-AF65-F5344CB8AC3E}">
        <p14:creationId xmlns:p14="http://schemas.microsoft.com/office/powerpoint/2010/main" val="762750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58771" cy="720725"/>
          </a:xfrm>
        </p:spPr>
        <p:txBody>
          <a:bodyPr>
            <a:normAutofit fontScale="90000"/>
          </a:bodyPr>
          <a:lstStyle/>
          <a:p>
            <a:r>
              <a:rPr lang="de-DE" dirty="0">
                <a:latin typeface="Source Sans Pro" panose="020B0503030403020204" pitchFamily="34" charset="0"/>
              </a:rPr>
              <a:t>Mehrstellige Relation </a:t>
            </a:r>
            <a:r>
              <a:rPr lang="de-DE" dirty="0"/>
              <a:t>-&gt; </a:t>
            </a:r>
            <a:r>
              <a:rPr lang="de-DE" dirty="0">
                <a:solidFill>
                  <a:schemeClr val="accent2"/>
                </a:solidFill>
              </a:rPr>
              <a:t>Darstellung im ERD </a:t>
            </a:r>
            <a:r>
              <a:rPr lang="de-DE" sz="2700" dirty="0"/>
              <a:t>(Beispiel 2)</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440548" y="4825729"/>
            <a:ext cx="3241963"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Projektleiter</a:t>
            </a:r>
          </a:p>
        </p:txBody>
      </p:sp>
      <p:sp>
        <p:nvSpPr>
          <p:cNvPr id="13" name="Rechteck 12"/>
          <p:cNvSpPr/>
          <p:nvPr/>
        </p:nvSpPr>
        <p:spPr>
          <a:xfrm>
            <a:off x="4871258" y="1362531"/>
            <a:ext cx="1479666"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Kunde</a:t>
            </a:r>
          </a:p>
        </p:txBody>
      </p:sp>
      <p:sp>
        <p:nvSpPr>
          <p:cNvPr id="23" name="Rechteck 22"/>
          <p:cNvSpPr/>
          <p:nvPr/>
        </p:nvSpPr>
        <p:spPr>
          <a:xfrm>
            <a:off x="8317013" y="4825729"/>
            <a:ext cx="2356530" cy="94128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Mitarbeiter</a:t>
            </a:r>
          </a:p>
        </p:txBody>
      </p:sp>
      <p:cxnSp>
        <p:nvCxnSpPr>
          <p:cNvPr id="25" name="Gerader Verbinder 24"/>
          <p:cNvCxnSpPr>
            <a:stCxn id="14" idx="1"/>
            <a:endCxn id="30" idx="3"/>
          </p:cNvCxnSpPr>
          <p:nvPr/>
        </p:nvCxnSpPr>
        <p:spPr>
          <a:xfrm flipH="1">
            <a:off x="4328435" y="3975426"/>
            <a:ext cx="491875" cy="35871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a:stCxn id="23" idx="0"/>
            <a:endCxn id="41" idx="3"/>
          </p:cNvCxnSpPr>
          <p:nvPr/>
        </p:nvCxnSpPr>
        <p:spPr>
          <a:xfrm flipH="1" flipV="1">
            <a:off x="9019921" y="4227441"/>
            <a:ext cx="475357" cy="59828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p:cNvCxnSpPr>
            <a:stCxn id="27" idx="0"/>
            <a:endCxn id="13" idx="2"/>
          </p:cNvCxnSpPr>
          <p:nvPr/>
        </p:nvCxnSpPr>
        <p:spPr>
          <a:xfrm flipV="1">
            <a:off x="5611091" y="2303819"/>
            <a:ext cx="0" cy="31483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echteck 13"/>
          <p:cNvSpPr/>
          <p:nvPr/>
        </p:nvSpPr>
        <p:spPr>
          <a:xfrm>
            <a:off x="4820310" y="3504782"/>
            <a:ext cx="1581562" cy="94128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Projekt</a:t>
            </a:r>
          </a:p>
        </p:txBody>
      </p:sp>
      <p:sp>
        <p:nvSpPr>
          <p:cNvPr id="17" name="Textfeld 16"/>
          <p:cNvSpPr txBox="1"/>
          <p:nvPr/>
        </p:nvSpPr>
        <p:spPr>
          <a:xfrm>
            <a:off x="6900307" y="1286103"/>
            <a:ext cx="5052208" cy="2154436"/>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1" i="0" strike="noStrike" kern="1200" cap="none" spc="0" normalizeH="0" baseline="0" noProof="0" dirty="0">
                <a:ln>
                  <a:noFill/>
                </a:ln>
                <a:solidFill>
                  <a:srgbClr val="0071B2"/>
                </a:solidFill>
                <a:effectLst/>
                <a:uLnTx/>
                <a:uFillTx/>
                <a:latin typeface="Calibri" panose="020F0502020204030204"/>
              </a:rPr>
              <a:t>Der Auftraggeber</a:t>
            </a:r>
            <a:r>
              <a:rPr kumimoji="0" lang="de-DE" sz="1600" b="1" i="0" strike="noStrike" kern="1200" cap="none" spc="0" normalizeH="0" noProof="0" dirty="0">
                <a:ln>
                  <a:noFill/>
                </a:ln>
                <a:solidFill>
                  <a:srgbClr val="0071B2"/>
                </a:solidFill>
                <a:effectLst/>
                <a:uLnTx/>
                <a:uFillTx/>
                <a:latin typeface="Calibri" panose="020F0502020204030204"/>
              </a:rPr>
              <a:t> teilte uns mit: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1600" baseline="0" dirty="0">
              <a:solidFill>
                <a:srgbClr val="0071B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strike="noStrike" kern="1200" cap="none" spc="0" normalizeH="0" noProof="0" dirty="0">
                <a:ln>
                  <a:noFill/>
                </a:ln>
                <a:solidFill>
                  <a:srgbClr val="0071B2"/>
                </a:solidFill>
                <a:effectLst/>
                <a:uLnTx/>
                <a:uFillTx/>
                <a:latin typeface="Calibri" panose="020F0502020204030204"/>
              </a:rPr>
              <a:t>Jeder Kunde kann </a:t>
            </a:r>
            <a:r>
              <a:rPr kumimoji="0" lang="de-DE" sz="1200" b="0" i="0" strike="noStrike" kern="1200" cap="none" spc="0" normalizeH="0" noProof="0" dirty="0">
                <a:ln>
                  <a:noFill/>
                </a:ln>
                <a:solidFill>
                  <a:schemeClr val="accent2"/>
                </a:solidFill>
                <a:effectLst/>
                <a:uLnTx/>
                <a:uFillTx/>
                <a:latin typeface="Calibri" panose="020F0502020204030204"/>
              </a:rPr>
              <a:t>mehrere</a:t>
            </a:r>
            <a:r>
              <a:rPr kumimoji="0" lang="de-DE" sz="1200" b="0" i="0" strike="noStrike" kern="1200" cap="none" spc="0" normalizeH="0" noProof="0" dirty="0">
                <a:ln>
                  <a:noFill/>
                </a:ln>
                <a:solidFill>
                  <a:srgbClr val="0071B2"/>
                </a:solidFill>
                <a:effectLst/>
                <a:uLnTx/>
                <a:uFillTx/>
                <a:latin typeface="Calibri" panose="020F0502020204030204"/>
              </a:rPr>
              <a:t> Projekte in Auftrag geben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aseline="0" dirty="0">
                <a:solidFill>
                  <a:srgbClr val="0071B2"/>
                </a:solidFill>
                <a:latin typeface="Calibri" panose="020F0502020204030204"/>
              </a:rPr>
              <a:t>Jedes</a:t>
            </a:r>
            <a:r>
              <a:rPr lang="de-DE" sz="1200" dirty="0">
                <a:solidFill>
                  <a:srgbClr val="0071B2"/>
                </a:solidFill>
                <a:latin typeface="Calibri" panose="020F0502020204030204"/>
              </a:rPr>
              <a:t> Projekt hat einen </a:t>
            </a:r>
            <a:r>
              <a:rPr lang="de-DE" sz="1200" dirty="0">
                <a:solidFill>
                  <a:schemeClr val="accent2"/>
                </a:solidFill>
                <a:latin typeface="Calibri" panose="020F0502020204030204"/>
              </a:rPr>
              <a:t>eindeutigen</a:t>
            </a:r>
            <a:r>
              <a:rPr lang="de-DE" sz="1200" dirty="0">
                <a:solidFill>
                  <a:srgbClr val="0071B2"/>
                </a:solidFill>
                <a:latin typeface="Calibri" panose="020F0502020204030204"/>
              </a:rPr>
              <a:t> Kunden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strike="noStrike" kern="1200" cap="none" spc="0" normalizeH="0" baseline="0" noProof="0" dirty="0">
                <a:ln>
                  <a:noFill/>
                </a:ln>
                <a:solidFill>
                  <a:srgbClr val="0071B2"/>
                </a:solidFill>
                <a:effectLst/>
                <a:uLnTx/>
                <a:uFillTx/>
                <a:latin typeface="Calibri" panose="020F0502020204030204"/>
              </a:rPr>
              <a:t>Jeder</a:t>
            </a:r>
            <a:r>
              <a:rPr kumimoji="0" lang="de-DE" sz="1200" b="0" i="0" strike="noStrike" kern="1200" cap="none" spc="0" normalizeH="0" noProof="0" dirty="0">
                <a:ln>
                  <a:noFill/>
                </a:ln>
                <a:solidFill>
                  <a:srgbClr val="0071B2"/>
                </a:solidFill>
                <a:effectLst/>
                <a:uLnTx/>
                <a:uFillTx/>
                <a:latin typeface="Calibri" panose="020F0502020204030204"/>
              </a:rPr>
              <a:t> Projektleiter kann (im Laufe der Zeit) </a:t>
            </a:r>
            <a:r>
              <a:rPr kumimoji="0" lang="de-DE" sz="1200" b="0" i="0" strike="noStrike" kern="1200" cap="none" spc="0" normalizeH="0" noProof="0" dirty="0">
                <a:ln>
                  <a:noFill/>
                </a:ln>
                <a:solidFill>
                  <a:schemeClr val="accent2"/>
                </a:solidFill>
                <a:effectLst/>
                <a:uLnTx/>
                <a:uFillTx/>
                <a:latin typeface="Calibri" panose="020F0502020204030204"/>
              </a:rPr>
              <a:t>mehrere</a:t>
            </a:r>
            <a:r>
              <a:rPr kumimoji="0" lang="de-DE" sz="1200" b="0" i="0" strike="noStrike" kern="1200" cap="none" spc="0" normalizeH="0" noProof="0" dirty="0">
                <a:ln>
                  <a:noFill/>
                </a:ln>
                <a:solidFill>
                  <a:srgbClr val="0071B2"/>
                </a:solidFill>
                <a:effectLst/>
                <a:uLnTx/>
                <a:uFillTx/>
                <a:latin typeface="Calibri" panose="020F0502020204030204"/>
              </a:rPr>
              <a:t> </a:t>
            </a:r>
            <a:r>
              <a:rPr lang="de-DE" sz="1200" dirty="0">
                <a:solidFill>
                  <a:srgbClr val="0071B2"/>
                </a:solidFill>
                <a:latin typeface="Calibri" panose="020F0502020204030204"/>
              </a:rPr>
              <a:t>P</a:t>
            </a:r>
            <a:r>
              <a:rPr kumimoji="0" lang="de-DE" sz="1200" b="0" i="0" strike="noStrike" kern="1200" cap="none" spc="0" normalizeH="0" noProof="0" dirty="0">
                <a:ln>
                  <a:noFill/>
                </a:ln>
                <a:solidFill>
                  <a:srgbClr val="0071B2"/>
                </a:solidFill>
                <a:effectLst/>
                <a:uLnTx/>
                <a:uFillTx/>
                <a:latin typeface="Calibri" panose="020F0502020204030204"/>
              </a:rPr>
              <a:t>rojekte betreuen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aseline="0" dirty="0">
                <a:solidFill>
                  <a:srgbClr val="0071B2"/>
                </a:solidFill>
                <a:latin typeface="Calibri" panose="020F0502020204030204"/>
              </a:rPr>
              <a:t>Jedes </a:t>
            </a:r>
            <a:r>
              <a:rPr lang="de-DE" sz="1200" dirty="0">
                <a:solidFill>
                  <a:srgbClr val="0071B2"/>
                </a:solidFill>
                <a:latin typeface="Calibri" panose="020F0502020204030204"/>
              </a:rPr>
              <a:t>P</a:t>
            </a:r>
            <a:r>
              <a:rPr lang="de-DE" sz="1200" baseline="0" dirty="0">
                <a:solidFill>
                  <a:srgbClr val="0071B2"/>
                </a:solidFill>
                <a:latin typeface="Calibri" panose="020F0502020204030204"/>
              </a:rPr>
              <a:t>rojekt hat einen </a:t>
            </a:r>
            <a:r>
              <a:rPr lang="de-DE" sz="1200" baseline="0" dirty="0">
                <a:solidFill>
                  <a:schemeClr val="accent2"/>
                </a:solidFill>
                <a:latin typeface="Calibri" panose="020F0502020204030204"/>
              </a:rPr>
              <a:t>eindeutigen</a:t>
            </a:r>
            <a:r>
              <a:rPr lang="de-DE" sz="1200" baseline="0" dirty="0">
                <a:solidFill>
                  <a:srgbClr val="0071B2"/>
                </a:solidFill>
                <a:latin typeface="Calibri" panose="020F0502020204030204"/>
              </a:rPr>
              <a:t> Projektleiter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strike="noStrike" kern="1200" cap="none" spc="0" normalizeH="0" noProof="0" dirty="0">
                <a:ln>
                  <a:noFill/>
                </a:ln>
                <a:solidFill>
                  <a:srgbClr val="0071B2"/>
                </a:solidFill>
                <a:effectLst/>
                <a:uLnTx/>
                <a:uFillTx/>
                <a:latin typeface="Calibri" panose="020F0502020204030204"/>
              </a:rPr>
              <a:t>Jeder Mitarbeiter kann (im Laufe der Zeit) an </a:t>
            </a:r>
            <a:r>
              <a:rPr kumimoji="0" lang="de-DE" sz="1200" b="0" i="0" strike="noStrike" kern="1200" cap="none" spc="0" normalizeH="0" noProof="0" dirty="0">
                <a:ln>
                  <a:noFill/>
                </a:ln>
                <a:solidFill>
                  <a:schemeClr val="accent2"/>
                </a:solidFill>
                <a:effectLst/>
                <a:uLnTx/>
                <a:uFillTx/>
                <a:latin typeface="Calibri" panose="020F0502020204030204"/>
              </a:rPr>
              <a:t>mehreren</a:t>
            </a:r>
            <a:r>
              <a:rPr kumimoji="0" lang="de-DE" sz="1200" b="0" i="0" strike="noStrike" kern="1200" cap="none" spc="0" normalizeH="0" noProof="0" dirty="0">
                <a:ln>
                  <a:noFill/>
                </a:ln>
                <a:solidFill>
                  <a:srgbClr val="0071B2"/>
                </a:solidFill>
                <a:effectLst/>
                <a:uLnTx/>
                <a:uFillTx/>
                <a:latin typeface="Calibri" panose="020F0502020204030204"/>
              </a:rPr>
              <a:t> </a:t>
            </a:r>
            <a:r>
              <a:rPr lang="de-DE" sz="1200" dirty="0">
                <a:solidFill>
                  <a:srgbClr val="0071B2"/>
                </a:solidFill>
                <a:latin typeface="Calibri" panose="020F0502020204030204"/>
              </a:rPr>
              <a:t>P</a:t>
            </a:r>
            <a:r>
              <a:rPr kumimoji="0" lang="de-DE" sz="1200" b="0" i="0" strike="noStrike" kern="1200" cap="none" spc="0" normalizeH="0" noProof="0" dirty="0">
                <a:ln>
                  <a:noFill/>
                </a:ln>
                <a:solidFill>
                  <a:srgbClr val="0071B2"/>
                </a:solidFill>
                <a:effectLst/>
                <a:uLnTx/>
                <a:uFillTx/>
                <a:latin typeface="Calibri" panose="020F0502020204030204"/>
              </a:rPr>
              <a:t>rojekten arbeiten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aseline="0" dirty="0">
                <a:solidFill>
                  <a:srgbClr val="0071B2"/>
                </a:solidFill>
                <a:latin typeface="Calibri" panose="020F0502020204030204"/>
              </a:rPr>
              <a:t>Jedes Projekt kann von </a:t>
            </a:r>
            <a:r>
              <a:rPr lang="de-DE" sz="1200" baseline="0" dirty="0">
                <a:solidFill>
                  <a:schemeClr val="accent2"/>
                </a:solidFill>
                <a:latin typeface="Calibri" panose="020F0502020204030204"/>
              </a:rPr>
              <a:t>mehreren</a:t>
            </a:r>
            <a:r>
              <a:rPr lang="de-DE" sz="1200" baseline="0" dirty="0">
                <a:solidFill>
                  <a:srgbClr val="0071B2"/>
                </a:solidFill>
                <a:latin typeface="Calibri" panose="020F0502020204030204"/>
              </a:rPr>
              <a:t> Mitarbeitern bearbeitet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strike="noStrike" kern="1200" cap="none" spc="0" normalizeH="0" noProof="0" dirty="0">
              <a:ln>
                <a:noFill/>
              </a:ln>
              <a:solidFill>
                <a:srgbClr val="0071B2"/>
              </a:solidFill>
              <a:effectLst/>
              <a:uLnTx/>
              <a:uFillTx/>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de-DE" b="1" baseline="0" dirty="0">
                <a:solidFill>
                  <a:srgbClr val="0071B2"/>
                </a:solidFill>
                <a:latin typeface="Calibri" panose="020F0502020204030204"/>
              </a:rPr>
              <a:t>Daraus</a:t>
            </a:r>
            <a:r>
              <a:rPr lang="de-DE" b="1" dirty="0">
                <a:solidFill>
                  <a:srgbClr val="0071B2"/>
                </a:solidFill>
                <a:latin typeface="Calibri" panose="020F0502020204030204"/>
              </a:rPr>
              <a:t> ergeben sich folgende Kardinalitäten:</a:t>
            </a:r>
            <a:endParaRPr kumimoji="0" lang="de-DE" b="1" i="0" strike="noStrike" kern="1200" cap="none" spc="0" normalizeH="0" baseline="0" noProof="0" dirty="0">
              <a:ln>
                <a:noFill/>
              </a:ln>
              <a:solidFill>
                <a:srgbClr val="0071B2"/>
              </a:solidFill>
              <a:effectLst/>
              <a:uLnTx/>
              <a:uFillTx/>
              <a:latin typeface="Calibri" panose="020F0502020204030204"/>
            </a:endParaRPr>
          </a:p>
        </p:txBody>
      </p:sp>
      <p:sp>
        <p:nvSpPr>
          <p:cNvPr id="18" name="Textfeld 17"/>
          <p:cNvSpPr txBox="1"/>
          <p:nvPr/>
        </p:nvSpPr>
        <p:spPr>
          <a:xfrm>
            <a:off x="5611091" y="2267039"/>
            <a:ext cx="301686" cy="369332"/>
          </a:xfrm>
          <a:prstGeom prst="rect">
            <a:avLst/>
          </a:prstGeom>
          <a:noFill/>
        </p:spPr>
        <p:txBody>
          <a:bodyPr wrap="none" rtlCol="0">
            <a:spAutoFit/>
          </a:bodyPr>
          <a:lstStyle/>
          <a:p>
            <a:r>
              <a:rPr lang="de-DE" b="1" dirty="0">
                <a:solidFill>
                  <a:schemeClr val="accent2"/>
                </a:solidFill>
              </a:rPr>
              <a:t>1</a:t>
            </a:r>
          </a:p>
        </p:txBody>
      </p:sp>
      <p:sp>
        <p:nvSpPr>
          <p:cNvPr id="19" name="Textfeld 18"/>
          <p:cNvSpPr txBox="1"/>
          <p:nvPr/>
        </p:nvSpPr>
        <p:spPr>
          <a:xfrm>
            <a:off x="1850268" y="4521609"/>
            <a:ext cx="384645" cy="369332"/>
          </a:xfrm>
          <a:prstGeom prst="rect">
            <a:avLst/>
          </a:prstGeom>
          <a:noFill/>
        </p:spPr>
        <p:txBody>
          <a:bodyPr wrap="square" rtlCol="0">
            <a:spAutoFit/>
          </a:bodyPr>
          <a:lstStyle/>
          <a:p>
            <a:r>
              <a:rPr lang="de-DE" b="1" dirty="0">
                <a:solidFill>
                  <a:schemeClr val="accent2"/>
                </a:solidFill>
              </a:rPr>
              <a:t>1</a:t>
            </a:r>
          </a:p>
        </p:txBody>
      </p:sp>
      <p:sp>
        <p:nvSpPr>
          <p:cNvPr id="20" name="Textfeld 19"/>
          <p:cNvSpPr txBox="1"/>
          <p:nvPr/>
        </p:nvSpPr>
        <p:spPr>
          <a:xfrm>
            <a:off x="9382656" y="4505133"/>
            <a:ext cx="308098" cy="369332"/>
          </a:xfrm>
          <a:prstGeom prst="rect">
            <a:avLst/>
          </a:prstGeom>
          <a:noFill/>
        </p:spPr>
        <p:txBody>
          <a:bodyPr wrap="none" rtlCol="0">
            <a:spAutoFit/>
          </a:bodyPr>
          <a:lstStyle/>
          <a:p>
            <a:r>
              <a:rPr lang="de-DE" b="1" dirty="0">
                <a:solidFill>
                  <a:schemeClr val="accent2"/>
                </a:solidFill>
              </a:rPr>
              <a:t>n</a:t>
            </a:r>
          </a:p>
        </p:txBody>
      </p:sp>
      <p:sp>
        <p:nvSpPr>
          <p:cNvPr id="21" name="Textfeld 20"/>
          <p:cNvSpPr txBox="1"/>
          <p:nvPr/>
        </p:nvSpPr>
        <p:spPr>
          <a:xfrm>
            <a:off x="4569673" y="3683394"/>
            <a:ext cx="308098" cy="369332"/>
          </a:xfrm>
          <a:prstGeom prst="rect">
            <a:avLst/>
          </a:prstGeom>
          <a:noFill/>
        </p:spPr>
        <p:txBody>
          <a:bodyPr wrap="none" rtlCol="0">
            <a:spAutoFit/>
          </a:bodyPr>
          <a:lstStyle/>
          <a:p>
            <a:r>
              <a:rPr lang="de-DE" b="1" dirty="0">
                <a:solidFill>
                  <a:schemeClr val="accent2"/>
                </a:solidFill>
              </a:rPr>
              <a:t>n</a:t>
            </a:r>
          </a:p>
        </p:txBody>
      </p:sp>
      <p:sp>
        <p:nvSpPr>
          <p:cNvPr id="22" name="Textfeld 21"/>
          <p:cNvSpPr txBox="1"/>
          <p:nvPr/>
        </p:nvSpPr>
        <p:spPr>
          <a:xfrm>
            <a:off x="5656429" y="3197418"/>
            <a:ext cx="308098" cy="369332"/>
          </a:xfrm>
          <a:prstGeom prst="rect">
            <a:avLst/>
          </a:prstGeom>
          <a:noFill/>
        </p:spPr>
        <p:txBody>
          <a:bodyPr wrap="none" rtlCol="0">
            <a:spAutoFit/>
          </a:bodyPr>
          <a:lstStyle/>
          <a:p>
            <a:r>
              <a:rPr lang="de-DE" b="1" dirty="0">
                <a:solidFill>
                  <a:schemeClr val="accent2"/>
                </a:solidFill>
              </a:rPr>
              <a:t>n</a:t>
            </a:r>
          </a:p>
        </p:txBody>
      </p:sp>
      <p:sp>
        <p:nvSpPr>
          <p:cNvPr id="26" name="Textfeld 25"/>
          <p:cNvSpPr txBox="1"/>
          <p:nvPr/>
        </p:nvSpPr>
        <p:spPr>
          <a:xfrm>
            <a:off x="6374837" y="3709092"/>
            <a:ext cx="372218" cy="369332"/>
          </a:xfrm>
          <a:prstGeom prst="rect">
            <a:avLst/>
          </a:prstGeom>
          <a:noFill/>
        </p:spPr>
        <p:txBody>
          <a:bodyPr wrap="none" rtlCol="0">
            <a:spAutoFit/>
          </a:bodyPr>
          <a:lstStyle/>
          <a:p>
            <a:r>
              <a:rPr lang="de-DE" b="1" dirty="0">
                <a:solidFill>
                  <a:schemeClr val="accent2"/>
                </a:solidFill>
              </a:rPr>
              <a:t>m</a:t>
            </a:r>
          </a:p>
        </p:txBody>
      </p:sp>
      <p:sp>
        <p:nvSpPr>
          <p:cNvPr id="27" name="Raute 26"/>
          <p:cNvSpPr/>
          <p:nvPr/>
        </p:nvSpPr>
        <p:spPr>
          <a:xfrm>
            <a:off x="4623720" y="2618658"/>
            <a:ext cx="1974741" cy="633752"/>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beauftragt</a:t>
            </a:r>
          </a:p>
        </p:txBody>
      </p:sp>
      <p:cxnSp>
        <p:nvCxnSpPr>
          <p:cNvPr id="29" name="Gerader Verbinder 28"/>
          <p:cNvCxnSpPr>
            <a:stCxn id="14" idx="0"/>
          </p:cNvCxnSpPr>
          <p:nvPr/>
        </p:nvCxnSpPr>
        <p:spPr>
          <a:xfrm flipH="1" flipV="1">
            <a:off x="5611090" y="3251912"/>
            <a:ext cx="1" cy="25287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Raute 29"/>
          <p:cNvSpPr/>
          <p:nvPr/>
        </p:nvSpPr>
        <p:spPr>
          <a:xfrm>
            <a:off x="2922276" y="4111356"/>
            <a:ext cx="1406159" cy="445567"/>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leitet</a:t>
            </a:r>
          </a:p>
        </p:txBody>
      </p:sp>
      <p:cxnSp>
        <p:nvCxnSpPr>
          <p:cNvPr id="32" name="Gerader Verbinder 31"/>
          <p:cNvCxnSpPr>
            <a:stCxn id="30" idx="1"/>
            <a:endCxn id="2" idx="0"/>
          </p:cNvCxnSpPr>
          <p:nvPr/>
        </p:nvCxnSpPr>
        <p:spPr>
          <a:xfrm flipH="1">
            <a:off x="2061530" y="4334140"/>
            <a:ext cx="860746" cy="49158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Raute 40"/>
          <p:cNvSpPr/>
          <p:nvPr/>
        </p:nvSpPr>
        <p:spPr>
          <a:xfrm>
            <a:off x="6850194" y="3871807"/>
            <a:ext cx="2169727" cy="711268"/>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dirty="0">
                <a:solidFill>
                  <a:srgbClr val="FE5000"/>
                </a:solidFill>
                <a:latin typeface="Source Sans Pro" panose="020B0503030403020204" pitchFamily="34" charset="0"/>
              </a:rPr>
              <a:t>bearbeitet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von</a:t>
            </a:r>
          </a:p>
        </p:txBody>
      </p:sp>
      <p:cxnSp>
        <p:nvCxnSpPr>
          <p:cNvPr id="43" name="Gerader Verbinder 42"/>
          <p:cNvCxnSpPr>
            <a:stCxn id="41" idx="1"/>
            <a:endCxn id="14" idx="3"/>
          </p:cNvCxnSpPr>
          <p:nvPr/>
        </p:nvCxnSpPr>
        <p:spPr>
          <a:xfrm flipH="1" flipV="1">
            <a:off x="6401872" y="3975426"/>
            <a:ext cx="448322" cy="25201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761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A_01_03_01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2" name="Grafik 1"/>
          <p:cNvPicPr>
            <a:picLocks noChangeAspect="1"/>
          </p:cNvPicPr>
          <p:nvPr/>
        </p:nvPicPr>
        <p:blipFill>
          <a:blip r:embed="rId2"/>
          <a:stretch>
            <a:fillRect/>
          </a:stretch>
        </p:blipFill>
        <p:spPr>
          <a:xfrm>
            <a:off x="4181706" y="1245140"/>
            <a:ext cx="3219764" cy="4548649"/>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1236</Words>
  <Application>Microsoft Office PowerPoint</Application>
  <PresentationFormat>Breitbild</PresentationFormat>
  <Paragraphs>254</Paragraphs>
  <Slides>29</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29</vt:i4>
      </vt:variant>
    </vt:vector>
  </HeadingPairs>
  <TitlesOfParts>
    <vt:vector size="35" baseType="lpstr">
      <vt:lpstr>Arial</vt:lpstr>
      <vt:lpstr>Calibri</vt:lpstr>
      <vt:lpstr>Courier New</vt:lpstr>
      <vt:lpstr>Source Sans Pro</vt:lpstr>
      <vt:lpstr>Symbol</vt:lpstr>
      <vt:lpstr>1_Office</vt:lpstr>
      <vt:lpstr>Datenbanken und SQL</vt:lpstr>
      <vt:lpstr>Agenda</vt:lpstr>
      <vt:lpstr>PowerPoint-Präsentation</vt:lpstr>
      <vt:lpstr>Schwache Entität -&gt; Definition</vt:lpstr>
      <vt:lpstr>Schwache Entität -&gt; Motivation</vt:lpstr>
      <vt:lpstr>Schwache Entität -&gt; Symbol</vt:lpstr>
      <vt:lpstr>PowerPoint-Präsentation</vt:lpstr>
      <vt:lpstr>Attribut einer Relation -&gt; Definition</vt:lpstr>
      <vt:lpstr>Attribut einer Relation -&gt; Motivation</vt:lpstr>
      <vt:lpstr>Attribut einer Relation -&gt; Darstellung im ERD</vt:lpstr>
      <vt:lpstr>PowerPoint-Präsentation</vt:lpstr>
      <vt:lpstr>Reflexive Relation -&gt; Definition + Motivation</vt:lpstr>
      <vt:lpstr>Reflexive Relation -&gt; Darstellung im ERD (Beispiel 1)</vt:lpstr>
      <vt:lpstr>Reflexive Relation -&gt; Darstellung im ERD (Beispiel 2)</vt:lpstr>
      <vt:lpstr>PowerPoint-Präsentation</vt:lpstr>
      <vt:lpstr>Mehrstellige Relation -&gt; Definition + Motivation</vt:lpstr>
      <vt:lpstr>PowerPoint-Präsentation</vt:lpstr>
      <vt:lpstr>Mehrstellige Relation -&gt; Darstellung im ERD (Beispiel 1)</vt:lpstr>
      <vt:lpstr>Mehrstellige Relation -&gt; Darstellung im ERD (Beispiel 1)</vt:lpstr>
      <vt:lpstr>Mehrstellige Relation -&gt; Kardinalität (Beispiel 1)</vt:lpstr>
      <vt:lpstr>PowerPoint-Präsentation</vt:lpstr>
      <vt:lpstr>Mehrstellige Relation -&gt; Darstellung im ERD (Beispiel 2)</vt:lpstr>
      <vt:lpstr>Mehrstellige Relation -&gt; Darstellung im ERD (Beispiel 2)</vt:lpstr>
      <vt:lpstr>Mehrstellige Relation -&gt; Darstellung im ERD (Beispiel 2)</vt:lpstr>
      <vt:lpstr>Mehrstellige Relation -&gt; Darstellung im ERD (Beispiel 2)</vt:lpstr>
      <vt:lpstr>Mehrstellige Relation -&gt; Darstellung im ERD (Beispiel 2)</vt:lpstr>
      <vt:lpstr>Mehrstellige Relation -&gt; Darstellung im ERD (Beispiel 2)</vt:lpstr>
      <vt:lpstr>Gemeinsame Übung („Live-Coding“) -&gt; A_01_03_01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Andreas Passon</cp:lastModifiedBy>
  <cp:revision>176</cp:revision>
  <dcterms:created xsi:type="dcterms:W3CDTF">2022-02-01T13:48:14Z</dcterms:created>
  <dcterms:modified xsi:type="dcterms:W3CDTF">2024-01-10T07:59:54Z</dcterms:modified>
</cp:coreProperties>
</file>