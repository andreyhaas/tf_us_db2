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8" r:id="rId5"/>
    <p:sldId id="322" r:id="rId6"/>
    <p:sldId id="270" r:id="rId7"/>
    <p:sldId id="282" r:id="rId8"/>
    <p:sldId id="284" r:id="rId9"/>
    <p:sldId id="323" r:id="rId10"/>
    <p:sldId id="285" r:id="rId11"/>
    <p:sldId id="286" r:id="rId12"/>
    <p:sldId id="287" r:id="rId13"/>
    <p:sldId id="288" r:id="rId14"/>
    <p:sldId id="324" r:id="rId15"/>
    <p:sldId id="289" r:id="rId16"/>
    <p:sldId id="290" r:id="rId17"/>
    <p:sldId id="291" r:id="rId18"/>
    <p:sldId id="292" r:id="rId19"/>
    <p:sldId id="293" r:id="rId20"/>
    <p:sldId id="294" r:id="rId21"/>
    <p:sldId id="278" r:id="rId22"/>
    <p:sldId id="279" r:id="rId23"/>
    <p:sldId id="280" r:id="rId24"/>
    <p:sldId id="295" r:id="rId25"/>
    <p:sldId id="296" r:id="rId26"/>
    <p:sldId id="297" r:id="rId27"/>
    <p:sldId id="298" r:id="rId28"/>
    <p:sldId id="300" r:id="rId29"/>
    <p:sldId id="325" r:id="rId30"/>
    <p:sldId id="301" r:id="rId31"/>
    <p:sldId id="302" r:id="rId32"/>
    <p:sldId id="303" r:id="rId33"/>
    <p:sldId id="304" r:id="rId34"/>
    <p:sldId id="305" r:id="rId35"/>
    <p:sldId id="306" r:id="rId36"/>
    <p:sldId id="307" r:id="rId37"/>
    <p:sldId id="327" r:id="rId38"/>
    <p:sldId id="308" r:id="rId39"/>
    <p:sldId id="309" r:id="rId40"/>
    <p:sldId id="310" r:id="rId41"/>
    <p:sldId id="311" r:id="rId42"/>
    <p:sldId id="312" r:id="rId43"/>
    <p:sldId id="313" r:id="rId44"/>
    <p:sldId id="314" r:id="rId45"/>
    <p:sldId id="328" r:id="rId46"/>
    <p:sldId id="315" r:id="rId47"/>
    <p:sldId id="316" r:id="rId48"/>
    <p:sldId id="317" r:id="rId49"/>
    <p:sldId id="318" r:id="rId50"/>
    <p:sldId id="319" r:id="rId51"/>
    <p:sldId id="320" r:id="rId52"/>
    <p:sldId id="321" r:id="rId53"/>
    <p:sldId id="326" r:id="rId54"/>
    <p:sldId id="334" r:id="rId55"/>
    <p:sldId id="335" r:id="rId56"/>
    <p:sldId id="336" r:id="rId57"/>
    <p:sldId id="337" r:id="rId58"/>
    <p:sldId id="339" r:id="rId59"/>
    <p:sldId id="355" r:id="rId60"/>
    <p:sldId id="341" r:id="rId61"/>
    <p:sldId id="342" r:id="rId62"/>
    <p:sldId id="343" r:id="rId63"/>
    <p:sldId id="344" r:id="rId64"/>
    <p:sldId id="345" r:id="rId65"/>
    <p:sldId id="346" r:id="rId66"/>
    <p:sldId id="347" r:id="rId67"/>
    <p:sldId id="348" r:id="rId68"/>
    <p:sldId id="349" r:id="rId69"/>
    <p:sldId id="350" r:id="rId70"/>
    <p:sldId id="340" r:id="rId71"/>
    <p:sldId id="329" r:id="rId72"/>
    <p:sldId id="330" r:id="rId73"/>
    <p:sldId id="331" r:id="rId74"/>
    <p:sldId id="332" r:id="rId75"/>
    <p:sldId id="333" r:id="rId76"/>
    <p:sldId id="351" r:id="rId77"/>
    <p:sldId id="352" r:id="rId78"/>
    <p:sldId id="353" r:id="rId79"/>
    <p:sldId id="354" r:id="rId80"/>
    <p:sldId id="277" r:id="rId81"/>
    <p:sldId id="259" r:id="rId8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89" autoAdjust="0"/>
    <p:restoredTop sz="94660"/>
  </p:normalViewPr>
  <p:slideViewPr>
    <p:cSldViewPr snapToGrid="0">
      <p:cViewPr varScale="1">
        <p:scale>
          <a:sx n="106" d="100"/>
          <a:sy n="106" d="100"/>
        </p:scale>
        <p:origin x="120"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13.10.2022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13.10.2022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40227508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13.10.2022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14567726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26284083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7921015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13.10.2022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4087183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13.10.2022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2786703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13.10.2022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13.10.2022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13.10.2022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13.10.2022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13.10.2022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13.10.2022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13.10.2022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13.10.2022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13.10.2022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13.10.2022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13.10.2022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13.10.2022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13.10.2022</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smtClean="0">
                <a:latin typeface="Source Sans Pro" panose="020B0503030403020204" pitchFamily="34" charset="0"/>
              </a:rPr>
              <a:t>Datenbanken und SQL</a:t>
            </a:r>
            <a:endParaRPr lang="de-DE" sz="7200" b="1" dirty="0">
              <a:latin typeface="Source Sans Pro" panose="020B0503030403020204" pitchFamily="34" charset="0"/>
            </a:endParaRPr>
          </a:p>
        </p:txBody>
      </p:sp>
      <p:sp>
        <p:nvSpPr>
          <p:cNvPr id="6" name="Untertitel 5"/>
          <p:cNvSpPr>
            <a:spLocks noGrp="1"/>
          </p:cNvSpPr>
          <p:nvPr>
            <p:ph type="subTitle" idx="1"/>
          </p:nvPr>
        </p:nvSpPr>
        <p:spPr/>
        <p:txBody>
          <a:bodyPr/>
          <a:lstStyle/>
          <a:p>
            <a:pPr algn="ctr"/>
            <a:r>
              <a:rPr lang="de-DE" dirty="0" smtClean="0">
                <a:latin typeface="Source Sans Pro" panose="020B0503030403020204" pitchFamily="34" charset="0"/>
              </a:rPr>
              <a:t>(Woche 1 - Tag 2)</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smtClean="0">
                <a:latin typeface="Source Sans Pro" panose="020B0503030403020204" pitchFamily="34" charset="0"/>
              </a:rPr>
              <a:t>Agenda</a:t>
            </a:r>
            <a:endParaRPr lang="de-DE"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271590"/>
            <a:ext cx="10713719" cy="5570756"/>
          </a:xfrm>
          <a:prstGeom prst="rect">
            <a:avLst/>
          </a:prstGeom>
          <a:noFill/>
        </p:spPr>
        <p:txBody>
          <a:bodyPr wrap="square" rtlCol="0">
            <a:spAutoFit/>
          </a:bodyPr>
          <a:lstStyle/>
          <a:p>
            <a:r>
              <a:rPr lang="de-DE" sz="2800" dirty="0" smtClean="0">
                <a:latin typeface="Source Sans Pro" panose="020B0503030403020204" pitchFamily="34" charset="0"/>
              </a:rPr>
              <a:t>ERM/ERD</a:t>
            </a:r>
            <a:r>
              <a:rPr lang="de-DE" sz="2800" b="1" dirty="0" smtClean="0">
                <a:latin typeface="Source Sans Pro" panose="020B0503030403020204" pitchFamily="34" charset="0"/>
              </a:rPr>
              <a:t> </a:t>
            </a:r>
            <a:r>
              <a:rPr lang="de-DE" i="1" dirty="0" smtClean="0">
                <a:latin typeface="Source Sans Pro" panose="020B0503030403020204" pitchFamily="34" charset="0"/>
              </a:rPr>
              <a:t>(Fortsetzung)</a:t>
            </a:r>
          </a:p>
          <a:p>
            <a:endParaRPr lang="de-DE" sz="800" b="1" dirty="0" smtClean="0">
              <a:latin typeface="Source Sans Pro" panose="020B0503030403020204" pitchFamily="34" charset="0"/>
            </a:endParaRPr>
          </a:p>
          <a:p>
            <a:pPr marL="800100" lvl="1" indent="-342900">
              <a:buFont typeface="Arial" panose="020B0604020202020204" pitchFamily="34" charset="0"/>
              <a:buChar char="•"/>
            </a:pPr>
            <a:r>
              <a:rPr lang="de-DE" sz="2000" b="1" dirty="0" smtClean="0">
                <a:latin typeface="Source Sans Pro" panose="020B0503030403020204" pitchFamily="34" charset="0"/>
              </a:rPr>
              <a:t>Relationstyp</a:t>
            </a:r>
          </a:p>
          <a:p>
            <a:pPr marL="1257300" lvl="2" indent="-342900">
              <a:buFont typeface="Courier New" panose="02070309020205020404" pitchFamily="49" charset="0"/>
              <a:buChar char="o"/>
            </a:pPr>
            <a:r>
              <a:rPr lang="de-DE" dirty="0" smtClean="0">
                <a:latin typeface="Source Sans Pro" panose="020B0503030403020204" pitchFamily="34" charset="0"/>
              </a:rPr>
              <a:t>Definition + Motivation</a:t>
            </a:r>
          </a:p>
          <a:p>
            <a:pPr marL="1257300" lvl="2" indent="-342900">
              <a:buFont typeface="Courier New" panose="02070309020205020404" pitchFamily="49" charset="0"/>
              <a:buChar char="o"/>
            </a:pPr>
            <a:r>
              <a:rPr lang="de-DE" dirty="0" smtClean="0">
                <a:latin typeface="Source Sans Pro" panose="020B0503030403020204" pitchFamily="34" charset="0"/>
              </a:rPr>
              <a:t>Erläuterung</a:t>
            </a:r>
          </a:p>
          <a:p>
            <a:pPr marL="1657350" lvl="3" indent="-285750">
              <a:buFont typeface="Wingdings" panose="05000000000000000000" pitchFamily="2" charset="2"/>
              <a:buChar char="Ø"/>
            </a:pPr>
            <a:r>
              <a:rPr lang="de-DE" sz="1200" dirty="0">
                <a:latin typeface="Source Sans Pro" panose="020B0503030403020204" pitchFamily="34" charset="0"/>
              </a:rPr>
              <a:t>1:1-Relation</a:t>
            </a:r>
          </a:p>
          <a:p>
            <a:pPr marL="1657350" lvl="3" indent="-285750">
              <a:buFont typeface="Wingdings" panose="05000000000000000000" pitchFamily="2" charset="2"/>
              <a:buChar char="Ø"/>
            </a:pPr>
            <a:r>
              <a:rPr lang="de-DE" sz="1200" dirty="0">
                <a:latin typeface="Source Sans Pro" panose="020B0503030403020204" pitchFamily="34" charset="0"/>
              </a:rPr>
              <a:t>1:n-Relation</a:t>
            </a:r>
          </a:p>
          <a:p>
            <a:pPr marL="1657350" lvl="3" indent="-285750">
              <a:buFont typeface="Wingdings" panose="05000000000000000000" pitchFamily="2" charset="2"/>
              <a:buChar char="Ø"/>
            </a:pPr>
            <a:r>
              <a:rPr lang="de-DE" sz="1200" dirty="0" smtClean="0">
                <a:latin typeface="Source Sans Pro" panose="020B0503030403020204" pitchFamily="34" charset="0"/>
              </a:rPr>
              <a:t>m:n-Relation</a:t>
            </a:r>
          </a:p>
          <a:p>
            <a:pPr marL="800100" lvl="1" indent="-342900">
              <a:buFont typeface="Arial" panose="020B0604020202020204" pitchFamily="34" charset="0"/>
              <a:buChar char="•"/>
            </a:pPr>
            <a:r>
              <a:rPr lang="de-DE" sz="2000" b="1" dirty="0" smtClean="0">
                <a:latin typeface="Source Sans Pro" panose="020B0503030403020204" pitchFamily="34" charset="0"/>
              </a:rPr>
              <a:t>Kardinalität</a:t>
            </a:r>
          </a:p>
          <a:p>
            <a:pPr marL="1257300" lvl="2" indent="-342900">
              <a:buFont typeface="Courier New" panose="02070309020205020404" pitchFamily="49" charset="0"/>
              <a:buChar char="o"/>
            </a:pPr>
            <a:r>
              <a:rPr lang="de-DE" dirty="0" smtClean="0">
                <a:latin typeface="Source Sans Pro" panose="020B0503030403020204" pitchFamily="34" charset="0"/>
              </a:rPr>
              <a:t>Definition + Motivation</a:t>
            </a:r>
          </a:p>
          <a:p>
            <a:pPr marL="1257300" lvl="2" indent="-342900">
              <a:buFont typeface="Courier New" panose="02070309020205020404" pitchFamily="49" charset="0"/>
              <a:buChar char="o"/>
            </a:pPr>
            <a:r>
              <a:rPr lang="de-DE" dirty="0" smtClean="0">
                <a:latin typeface="Source Sans Pro" panose="020B0503030403020204" pitchFamily="34" charset="0"/>
              </a:rPr>
              <a:t>Ermittlung der Kardinalitäten</a:t>
            </a:r>
          </a:p>
          <a:p>
            <a:pPr lvl="2"/>
            <a:r>
              <a:rPr lang="de-DE" sz="1200" dirty="0" smtClean="0">
                <a:latin typeface="Source Sans Pro" panose="020B0503030403020204" pitchFamily="34" charset="0"/>
              </a:rPr>
              <a:t>             =&gt; Ermittlung des Relationstyps</a:t>
            </a:r>
          </a:p>
          <a:p>
            <a:pPr marL="1257300" lvl="2" indent="-342900">
              <a:buFont typeface="Courier New" panose="02070309020205020404" pitchFamily="49" charset="0"/>
              <a:buChar char="o"/>
            </a:pPr>
            <a:r>
              <a:rPr lang="de-DE" dirty="0" smtClean="0">
                <a:latin typeface="Source Sans Pro" panose="020B0503030403020204" pitchFamily="34" charset="0"/>
              </a:rPr>
              <a:t>Beispiele</a:t>
            </a:r>
          </a:p>
          <a:p>
            <a:pPr lvl="2"/>
            <a:endParaRPr lang="de-DE" sz="800" dirty="0" smtClean="0">
              <a:latin typeface="Source Sans Pro" panose="020B0503030403020204" pitchFamily="34" charset="0"/>
            </a:endParaRPr>
          </a:p>
          <a:p>
            <a:pPr marL="800100" lvl="1" indent="-342900">
              <a:buFont typeface="Arial" panose="020B0604020202020204" pitchFamily="34" charset="0"/>
              <a:buChar char="•"/>
            </a:pPr>
            <a:r>
              <a:rPr lang="de-DE" sz="2000" b="1" dirty="0" smtClean="0">
                <a:latin typeface="Source Sans Pro" panose="020B0503030403020204" pitchFamily="34" charset="0"/>
              </a:rPr>
              <a:t>Achtung „Stolperfalle“</a:t>
            </a:r>
          </a:p>
          <a:p>
            <a:pPr marL="1200150" lvl="2" indent="-285750">
              <a:buFont typeface="Courier New" panose="02070309020205020404" pitchFamily="49" charset="0"/>
              <a:buChar char="o"/>
            </a:pPr>
            <a:r>
              <a:rPr lang="de-DE" dirty="0" smtClean="0">
                <a:latin typeface="Source Sans Pro" panose="020B0503030403020204" pitchFamily="34" charset="0"/>
              </a:rPr>
              <a:t>„Exemplar versus Typ“</a:t>
            </a:r>
          </a:p>
          <a:p>
            <a:pPr marL="1200150" lvl="2" indent="-285750">
              <a:buFont typeface="Courier New" panose="02070309020205020404" pitchFamily="49" charset="0"/>
              <a:buChar char="o"/>
            </a:pPr>
            <a:r>
              <a:rPr lang="de-DE" dirty="0" smtClean="0">
                <a:latin typeface="Source Sans Pro" panose="020B0503030403020204" pitchFamily="34" charset="0"/>
              </a:rPr>
              <a:t>„aktuell versus historisch“</a:t>
            </a:r>
          </a:p>
          <a:p>
            <a:pPr marL="1200150" lvl="2" indent="-285750">
              <a:buFont typeface="Courier New" panose="02070309020205020404" pitchFamily="49" charset="0"/>
              <a:buChar char="o"/>
            </a:pPr>
            <a:r>
              <a:rPr lang="de-DE" dirty="0">
                <a:latin typeface="Source Sans Pro" panose="020B0503030403020204" pitchFamily="34" charset="0"/>
              </a:rPr>
              <a:t>„Bloß nicht zu voreilig</a:t>
            </a:r>
            <a:r>
              <a:rPr lang="de-DE" dirty="0" smtClean="0">
                <a:latin typeface="Source Sans Pro" panose="020B0503030403020204" pitchFamily="34" charset="0"/>
              </a:rPr>
              <a:t>!“</a:t>
            </a:r>
          </a:p>
          <a:p>
            <a:pPr marL="800100" lvl="1" indent="-342900">
              <a:buFont typeface="Arial" panose="020B0604020202020204" pitchFamily="34" charset="0"/>
              <a:buChar char="•"/>
            </a:pPr>
            <a:endParaRPr lang="de-DE" sz="2400" dirty="0" smtClean="0"/>
          </a:p>
          <a:p>
            <a:pPr lvl="1"/>
            <a:endParaRPr lang="de-DE" dirty="0" smtClean="0"/>
          </a:p>
          <a:p>
            <a:pPr marL="742950" lvl="1" indent="-285750">
              <a:buFont typeface="Arial" panose="020B0604020202020204" pitchFamily="34" charset="0"/>
              <a:buChar char="•"/>
            </a:pPr>
            <a:endParaRPr lang="de-DE" dirty="0" smtClean="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169180" cy="707704"/>
          </a:xfrm>
        </p:spPr>
        <p:txBody>
          <a:bodyPr>
            <a:noAutofit/>
          </a:bodyPr>
          <a:lstStyle/>
          <a:p>
            <a:r>
              <a:rPr lang="de-DE" sz="6600" dirty="0" smtClean="0">
                <a:latin typeface="Source Sans Pro" panose="020B0503030403020204" pitchFamily="34" charset="0"/>
              </a:rPr>
              <a:t>Relationstyp</a:t>
            </a:r>
            <a:endParaRPr lang="de-DE" sz="66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9155651" cy="720725"/>
          </a:xfrm>
        </p:spPr>
        <p:txBody>
          <a:bodyPr>
            <a:normAutofit fontScale="90000"/>
          </a:bodyPr>
          <a:lstStyle/>
          <a:p>
            <a:r>
              <a:rPr lang="de-DE" dirty="0" smtClean="0">
                <a:latin typeface="Source Sans Pro" panose="020B0503030403020204" pitchFamily="34" charset="0"/>
              </a:rPr>
              <a:t>Relationstyp -&gt; Definition + Motivation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61758" y="1628776"/>
            <a:ext cx="11491697" cy="4247317"/>
          </a:xfrm>
          <a:prstGeom prst="rect">
            <a:avLst/>
          </a:prstGeom>
          <a:noFill/>
        </p:spPr>
        <p:txBody>
          <a:bodyPr wrap="square" rtlCol="0">
            <a:spAutoFit/>
          </a:bodyPr>
          <a:lstStyle/>
          <a:p>
            <a:pPr marL="342900" indent="-342900">
              <a:buFont typeface="Arial" panose="020B0604020202020204" pitchFamily="34" charset="0"/>
              <a:buChar char="•"/>
            </a:pPr>
            <a:r>
              <a:rPr lang="de-DE" sz="2400" dirty="0" smtClean="0">
                <a:latin typeface="Source Sans Pro" panose="020B0503030403020204" pitchFamily="34" charset="0"/>
              </a:rPr>
              <a:t>Wir haben die bisher betrachteten </a:t>
            </a:r>
            <a:r>
              <a:rPr lang="de-DE" sz="2400" dirty="0">
                <a:latin typeface="Source Sans Pro" panose="020B0503030403020204" pitchFamily="34" charset="0"/>
              </a:rPr>
              <a:t>Relationen </a:t>
            </a:r>
            <a:r>
              <a:rPr lang="de-DE" sz="2400" dirty="0" smtClean="0">
                <a:latin typeface="Source Sans Pro" panose="020B0503030403020204" pitchFamily="34" charset="0"/>
              </a:rPr>
              <a:t>lediglich </a:t>
            </a:r>
            <a:r>
              <a:rPr lang="de-DE" sz="2400" b="1" dirty="0" smtClean="0">
                <a:latin typeface="Source Sans Pro" panose="020B0503030403020204" pitchFamily="34" charset="0"/>
              </a:rPr>
              <a:t>sprachlich</a:t>
            </a:r>
            <a:r>
              <a:rPr lang="de-DE" sz="2400" dirty="0" smtClean="0">
                <a:latin typeface="Source Sans Pro" panose="020B0503030403020204" pitchFamily="34" charset="0"/>
              </a:rPr>
              <a:t> beschrieben.</a:t>
            </a:r>
            <a:endParaRPr lang="de-DE" sz="1400" dirty="0" smtClean="0">
              <a:latin typeface="Source Sans Pro" panose="020B0503030403020204" pitchFamily="34" charset="0"/>
            </a:endParaRPr>
          </a:p>
          <a:p>
            <a:pPr marL="342900" indent="-342900">
              <a:buFont typeface="Arial" panose="020B0604020202020204" pitchFamily="34" charset="0"/>
              <a:buChar char="•"/>
            </a:pPr>
            <a:endParaRPr lang="de-DE" sz="800" dirty="0" smtClean="0">
              <a:latin typeface="Source Sans Pro" panose="020B0503030403020204" pitchFamily="34" charset="0"/>
            </a:endParaRPr>
          </a:p>
          <a:p>
            <a:pPr marL="342900" indent="-342900">
              <a:buFont typeface="Arial" panose="020B0604020202020204" pitchFamily="34" charset="0"/>
              <a:buChar char="•"/>
            </a:pPr>
            <a:r>
              <a:rPr lang="de-DE" sz="2400" dirty="0" smtClean="0">
                <a:latin typeface="Source Sans Pro" panose="020B0503030403020204" pitchFamily="34" charset="0"/>
              </a:rPr>
              <a:t>Dies soll nun durch eine </a:t>
            </a:r>
            <a:r>
              <a:rPr lang="de-DE" sz="2400" b="1" dirty="0" smtClean="0">
                <a:latin typeface="Source Sans Pro" panose="020B0503030403020204" pitchFamily="34" charset="0"/>
              </a:rPr>
              <a:t>„quantitative“ </a:t>
            </a:r>
            <a:r>
              <a:rPr lang="de-DE" sz="2400" dirty="0">
                <a:latin typeface="Source Sans Pro" panose="020B0503030403020204" pitchFamily="34" charset="0"/>
              </a:rPr>
              <a:t>B</a:t>
            </a:r>
            <a:r>
              <a:rPr lang="de-DE" sz="2400" dirty="0" smtClean="0">
                <a:latin typeface="Source Sans Pro" panose="020B0503030403020204" pitchFamily="34" charset="0"/>
              </a:rPr>
              <a:t>eschreibung</a:t>
            </a:r>
            <a:r>
              <a:rPr lang="de-DE" sz="2400" b="1" dirty="0" smtClean="0">
                <a:latin typeface="Source Sans Pro" panose="020B0503030403020204" pitchFamily="34" charset="0"/>
              </a:rPr>
              <a:t> </a:t>
            </a:r>
            <a:r>
              <a:rPr lang="de-DE" sz="2400" dirty="0" smtClean="0">
                <a:latin typeface="Source Sans Pro" panose="020B0503030403020204" pitchFamily="34" charset="0"/>
              </a:rPr>
              <a:t>ergänzt werden.</a:t>
            </a:r>
          </a:p>
          <a:p>
            <a:pPr marL="342900" indent="-342900">
              <a:buFont typeface="Arial" panose="020B0604020202020204" pitchFamily="34" charset="0"/>
              <a:buChar char="•"/>
            </a:pPr>
            <a:endParaRPr lang="de-DE" sz="800" dirty="0" smtClean="0">
              <a:latin typeface="Source Sans Pro" panose="020B0503030403020204" pitchFamily="34" charset="0"/>
            </a:endParaRPr>
          </a:p>
          <a:p>
            <a:pPr marL="342900" indent="-342900">
              <a:buFont typeface="Arial" panose="020B0604020202020204" pitchFamily="34" charset="0"/>
              <a:buChar char="•"/>
            </a:pPr>
            <a:r>
              <a:rPr lang="de-DE" sz="2400" dirty="0" smtClean="0">
                <a:latin typeface="Source Sans Pro" panose="020B0503030403020204" pitchFamily="34" charset="0"/>
              </a:rPr>
              <a:t>Solche Beschreibungen werden uns erlauben, </a:t>
            </a:r>
            <a:r>
              <a:rPr lang="de-DE" sz="2400" b="1" dirty="0" smtClean="0">
                <a:latin typeface="Source Sans Pro" panose="020B0503030403020204" pitchFamily="34" charset="0"/>
              </a:rPr>
              <a:t>technische Entscheidungen </a:t>
            </a:r>
            <a:r>
              <a:rPr lang="de-DE" sz="2400" dirty="0" smtClean="0">
                <a:latin typeface="Source Sans Pro" panose="020B0503030403020204" pitchFamily="34" charset="0"/>
              </a:rPr>
              <a:t>zu treffen, die wir allerdings erst während des </a:t>
            </a:r>
            <a:r>
              <a:rPr lang="de-DE" sz="2400" i="1" dirty="0" smtClean="0">
                <a:latin typeface="Source Sans Pro" panose="020B0503030403020204" pitchFamily="34" charset="0"/>
              </a:rPr>
              <a:t>logischen Datenbankentwurfs </a:t>
            </a:r>
            <a:r>
              <a:rPr lang="de-DE" sz="2400" dirty="0" smtClean="0">
                <a:latin typeface="Source Sans Pro" panose="020B0503030403020204" pitchFamily="34" charset="0"/>
              </a:rPr>
              <a:t>umsetzen werden. </a:t>
            </a:r>
          </a:p>
          <a:p>
            <a:pPr marL="342900" indent="-342900">
              <a:buFont typeface="Arial" panose="020B0604020202020204" pitchFamily="34" charset="0"/>
              <a:buChar char="•"/>
            </a:pPr>
            <a:endParaRPr lang="de-DE" sz="800" dirty="0" smtClean="0">
              <a:latin typeface="Source Sans Pro" panose="020B0503030403020204" pitchFamily="34" charset="0"/>
            </a:endParaRPr>
          </a:p>
          <a:p>
            <a:pPr marL="342900" indent="-342900">
              <a:buFont typeface="Arial" panose="020B0604020202020204" pitchFamily="34" charset="0"/>
              <a:buChar char="•"/>
            </a:pPr>
            <a:r>
              <a:rPr lang="de-DE" sz="2400" dirty="0" smtClean="0">
                <a:latin typeface="Source Sans Pro" panose="020B0503030403020204" pitchFamily="34" charset="0"/>
              </a:rPr>
              <a:t>Dennoch werden wir auch diese quantitativen Informationen bereits während des </a:t>
            </a:r>
            <a:r>
              <a:rPr lang="de-DE" sz="2400" i="1" dirty="0" smtClean="0">
                <a:latin typeface="Source Sans Pro" panose="020B0503030403020204" pitchFamily="34" charset="0"/>
              </a:rPr>
              <a:t>konzeptionellen Datenbankentwurfs </a:t>
            </a:r>
            <a:r>
              <a:rPr lang="de-DE" sz="2400" dirty="0" smtClean="0">
                <a:latin typeface="Source Sans Pro" panose="020B0503030403020204" pitchFamily="34" charset="0"/>
              </a:rPr>
              <a:t>vom Auftraggeber erfahren müssen, weil diese </a:t>
            </a:r>
            <a:r>
              <a:rPr lang="de-DE" sz="2400" i="1" dirty="0" smtClean="0">
                <a:latin typeface="Source Sans Pro" panose="020B0503030403020204" pitchFamily="34" charset="0"/>
              </a:rPr>
              <a:t>(im Einzelfall</a:t>
            </a:r>
            <a:r>
              <a:rPr lang="de-DE" sz="2400" dirty="0" smtClean="0">
                <a:latin typeface="Source Sans Pro" panose="020B0503030403020204" pitchFamily="34" charset="0"/>
              </a:rPr>
              <a:t>) </a:t>
            </a:r>
            <a:r>
              <a:rPr lang="de-DE" sz="2400" b="1" dirty="0" smtClean="0">
                <a:latin typeface="Source Sans Pro" panose="020B0503030403020204" pitchFamily="34" charset="0"/>
              </a:rPr>
              <a:t>nicht aus der sprachlichen Beschreibung gefolgert </a:t>
            </a:r>
            <a:r>
              <a:rPr lang="de-DE" sz="2400" dirty="0" smtClean="0">
                <a:latin typeface="Source Sans Pro" panose="020B0503030403020204" pitchFamily="34" charset="0"/>
              </a:rPr>
              <a:t>werden können.</a:t>
            </a:r>
          </a:p>
          <a:p>
            <a:endParaRPr lang="de-DE" sz="800" dirty="0" smtClean="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I</a:t>
            </a:r>
            <a:r>
              <a:rPr lang="de-DE" sz="2400" dirty="0" smtClean="0">
                <a:latin typeface="Source Sans Pro" panose="020B0503030403020204" pitchFamily="34" charset="0"/>
              </a:rPr>
              <a:t>nsgesamt werden wir lernen, </a:t>
            </a:r>
            <a:r>
              <a:rPr lang="de-DE" sz="2400" b="1" dirty="0" smtClean="0">
                <a:latin typeface="Source Sans Pro" panose="020B0503030403020204" pitchFamily="34" charset="0"/>
              </a:rPr>
              <a:t>3 unterschiedliche Relationstypen </a:t>
            </a:r>
            <a:r>
              <a:rPr lang="de-DE" sz="2400" dirty="0" smtClean="0">
                <a:latin typeface="Source Sans Pro" panose="020B0503030403020204" pitchFamily="34" charset="0"/>
              </a:rPr>
              <a:t>zu</a:t>
            </a:r>
            <a:r>
              <a:rPr lang="de-DE" sz="2400" b="1" dirty="0" smtClean="0">
                <a:latin typeface="Source Sans Pro" panose="020B0503030403020204" pitchFamily="34" charset="0"/>
              </a:rPr>
              <a:t> </a:t>
            </a:r>
            <a:r>
              <a:rPr lang="de-DE" sz="2400" dirty="0" smtClean="0">
                <a:latin typeface="Source Sans Pro" panose="020B0503030403020204" pitchFamily="34" charset="0"/>
              </a:rPr>
              <a:t>unterscheiden. </a:t>
            </a:r>
          </a:p>
          <a:p>
            <a:pPr marL="342900" indent="-342900">
              <a:buFont typeface="Arial" panose="020B0604020202020204" pitchFamily="34" charset="0"/>
              <a:buChar char="•"/>
            </a:pPr>
            <a:endParaRPr lang="de-DE" sz="1200" dirty="0"/>
          </a:p>
          <a:p>
            <a:endParaRPr lang="de-DE" sz="1600" dirty="0">
              <a:solidFill>
                <a:srgbClr val="0071B2"/>
              </a:solidFill>
            </a:endParaRPr>
          </a:p>
          <a:p>
            <a:pPr lvl="1"/>
            <a:endParaRPr lang="de-DE" dirty="0"/>
          </a:p>
        </p:txBody>
      </p:sp>
    </p:spTree>
    <p:extLst>
      <p:ext uri="{BB962C8B-B14F-4D97-AF65-F5344CB8AC3E}">
        <p14:creationId xmlns:p14="http://schemas.microsoft.com/office/powerpoint/2010/main" val="335707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1:1-Relation </a:t>
            </a:r>
          </a:p>
          <a:p>
            <a:r>
              <a:rPr lang="de-DE" sz="4000" dirty="0"/>
              <a:t>	</a:t>
            </a:r>
          </a:p>
        </p:txBody>
      </p:sp>
    </p:spTree>
    <p:extLst>
      <p:ext uri="{BB962C8B-B14F-4D97-AF65-F5344CB8AC3E}">
        <p14:creationId xmlns:p14="http://schemas.microsoft.com/office/powerpoint/2010/main" val="25303068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smtClean="0">
                <a:solidFill>
                  <a:schemeClr val="accent2"/>
                </a:solidFill>
                <a:latin typeface="Source Sans Pro" panose="020B0503030403020204" pitchFamily="34" charset="0"/>
              </a:rPr>
              <a:t>1:1-Relation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600" dirty="0">
              <a:solidFill>
                <a:schemeClr val="accent2"/>
              </a:solidFill>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600" dirty="0">
              <a:solidFill>
                <a:schemeClr val="accent2"/>
              </a:solidFill>
            </a:endParaRPr>
          </a:p>
        </p:txBody>
      </p:sp>
      <p:sp>
        <p:nvSpPr>
          <p:cNvPr id="3" name="Textfeld 2"/>
          <p:cNvSpPr txBox="1"/>
          <p:nvPr/>
        </p:nvSpPr>
        <p:spPr>
          <a:xfrm>
            <a:off x="849087" y="1110334"/>
            <a:ext cx="896399" cy="369332"/>
          </a:xfrm>
          <a:prstGeom prst="rect">
            <a:avLst/>
          </a:prstGeom>
          <a:noFill/>
        </p:spPr>
        <p:txBody>
          <a:bodyPr wrap="none" rtlCol="0">
            <a:spAutoFit/>
          </a:bodyPr>
          <a:lstStyle/>
          <a:p>
            <a:r>
              <a:rPr lang="de-DE" b="1" dirty="0" smtClean="0">
                <a:latin typeface="Source Sans Pro" panose="020B0503030403020204" pitchFamily="34" charset="0"/>
              </a:rPr>
              <a:t>Person</a:t>
            </a:r>
            <a:endParaRPr lang="de-DE" b="1" dirty="0">
              <a:latin typeface="Source Sans Pro" panose="020B0503030403020204" pitchFamily="34" charset="0"/>
            </a:endParaRPr>
          </a:p>
        </p:txBody>
      </p:sp>
      <p:sp>
        <p:nvSpPr>
          <p:cNvPr id="9" name="Textfeld 8"/>
          <p:cNvSpPr txBox="1"/>
          <p:nvPr/>
        </p:nvSpPr>
        <p:spPr>
          <a:xfrm>
            <a:off x="7812467" y="1102768"/>
            <a:ext cx="2965877" cy="369332"/>
          </a:xfrm>
          <a:prstGeom prst="rect">
            <a:avLst/>
          </a:prstGeom>
          <a:noFill/>
        </p:spPr>
        <p:txBody>
          <a:bodyPr wrap="none" rtlCol="0">
            <a:spAutoFit/>
          </a:bodyPr>
          <a:lstStyle/>
          <a:p>
            <a:r>
              <a:rPr lang="de-DE" b="1" dirty="0" smtClean="0">
                <a:latin typeface="Source Sans Pro" panose="020B0503030403020204" pitchFamily="34" charset="0"/>
              </a:rPr>
              <a:t>Personalausweis </a:t>
            </a:r>
            <a:r>
              <a:rPr lang="de-DE" sz="1200" b="1" dirty="0" smtClean="0">
                <a:latin typeface="Source Sans Pro" panose="020B0503030403020204" pitchFamily="34" charset="0"/>
              </a:rPr>
              <a:t>(aktuell gültig)</a:t>
            </a:r>
            <a:endParaRPr lang="de-DE" sz="1200" b="1" dirty="0">
              <a:latin typeface="Source Sans Pro" panose="020B0503030403020204" pitchFamily="34" charset="0"/>
            </a:endParaRPr>
          </a:p>
        </p:txBody>
      </p:sp>
      <p:sp>
        <p:nvSpPr>
          <p:cNvPr id="10" name="Raute 9"/>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rgbClr val="0070C0"/>
                </a:solidFill>
                <a:latin typeface="Source Sans Pro" panose="020B0503030403020204" pitchFamily="34" charset="0"/>
              </a:rPr>
              <a:t>Eigentum</a:t>
            </a:r>
            <a:endParaRPr lang="de-DE" dirty="0">
              <a:solidFill>
                <a:srgbClr val="0070C0"/>
              </a:solidFill>
              <a:latin typeface="Source Sans Pro" panose="020B0503030403020204" pitchFamily="34" charset="0"/>
            </a:endParaRPr>
          </a:p>
        </p:txBody>
      </p:sp>
      <p:cxnSp>
        <p:nvCxnSpPr>
          <p:cNvPr id="13" name="Gerader Verbinder 12"/>
          <p:cNvCxnSpPr>
            <a:stCxn id="10" idx="1"/>
          </p:cNvCxnSpPr>
          <p:nvPr/>
        </p:nvCxnSpPr>
        <p:spPr>
          <a:xfrm flipH="1" flipV="1">
            <a:off x="3536303" y="3680039"/>
            <a:ext cx="102738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44" name="Grafik 142" descr="Adressbuch">
            <a:extLst>
              <a:ext uri="{FF2B5EF4-FFF2-40B4-BE49-F238E27FC236}">
                <a16:creationId xmlns:a16="http://schemas.microsoft.com/office/drawing/2014/main" id="{90550359-7185-4B61-88BA-ACE18AC22056}"/>
              </a:ext>
            </a:extLst>
          </p:cNvPr>
          <p:cNvGrpSpPr/>
          <p:nvPr/>
        </p:nvGrpSpPr>
        <p:grpSpPr>
          <a:xfrm>
            <a:off x="8368128" y="1734909"/>
            <a:ext cx="617930" cy="253345"/>
            <a:chOff x="7908112" y="1190873"/>
            <a:chExt cx="712148" cy="712148"/>
          </a:xfrm>
          <a:solidFill>
            <a:srgbClr val="0071B2"/>
          </a:solidFill>
        </p:grpSpPr>
        <p:sp>
          <p:nvSpPr>
            <p:cNvPr id="45"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46"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47" name="Grafik 142" descr="Adressbuch">
            <a:extLst>
              <a:ext uri="{FF2B5EF4-FFF2-40B4-BE49-F238E27FC236}">
                <a16:creationId xmlns:a16="http://schemas.microsoft.com/office/drawing/2014/main" id="{90550359-7185-4B61-88BA-ACE18AC22056}"/>
              </a:ext>
            </a:extLst>
          </p:cNvPr>
          <p:cNvGrpSpPr/>
          <p:nvPr/>
        </p:nvGrpSpPr>
        <p:grpSpPr>
          <a:xfrm>
            <a:off x="9006603" y="2149033"/>
            <a:ext cx="617930" cy="253345"/>
            <a:chOff x="7908112" y="1190873"/>
            <a:chExt cx="712148" cy="712148"/>
          </a:xfrm>
          <a:solidFill>
            <a:srgbClr val="0071B2"/>
          </a:solidFill>
        </p:grpSpPr>
        <p:sp>
          <p:nvSpPr>
            <p:cNvPr id="48"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49"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0" name="Grafik 142" descr="Adressbuch">
            <a:extLst>
              <a:ext uri="{FF2B5EF4-FFF2-40B4-BE49-F238E27FC236}">
                <a16:creationId xmlns:a16="http://schemas.microsoft.com/office/drawing/2014/main" id="{90550359-7185-4B61-88BA-ACE18AC22056}"/>
              </a:ext>
            </a:extLst>
          </p:cNvPr>
          <p:cNvGrpSpPr/>
          <p:nvPr/>
        </p:nvGrpSpPr>
        <p:grpSpPr>
          <a:xfrm>
            <a:off x="8449068" y="2573588"/>
            <a:ext cx="617930" cy="253345"/>
            <a:chOff x="7908112" y="1190873"/>
            <a:chExt cx="712148" cy="712148"/>
          </a:xfrm>
          <a:solidFill>
            <a:srgbClr val="0071B2"/>
          </a:solidFill>
        </p:grpSpPr>
        <p:sp>
          <p:nvSpPr>
            <p:cNvPr id="51"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52"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3" name="Grafik 142" descr="Adressbuch">
            <a:extLst>
              <a:ext uri="{FF2B5EF4-FFF2-40B4-BE49-F238E27FC236}">
                <a16:creationId xmlns:a16="http://schemas.microsoft.com/office/drawing/2014/main" id="{90550359-7185-4B61-88BA-ACE18AC22056}"/>
              </a:ext>
            </a:extLst>
          </p:cNvPr>
          <p:cNvGrpSpPr/>
          <p:nvPr/>
        </p:nvGrpSpPr>
        <p:grpSpPr>
          <a:xfrm>
            <a:off x="9315568" y="2970778"/>
            <a:ext cx="617930" cy="253345"/>
            <a:chOff x="7908112" y="1190873"/>
            <a:chExt cx="712148" cy="712148"/>
          </a:xfrm>
          <a:solidFill>
            <a:srgbClr val="0071B2"/>
          </a:solidFill>
        </p:grpSpPr>
        <p:sp>
          <p:nvSpPr>
            <p:cNvPr id="54"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55"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6" name="Grafik 142" descr="Adressbuch">
            <a:extLst>
              <a:ext uri="{FF2B5EF4-FFF2-40B4-BE49-F238E27FC236}">
                <a16:creationId xmlns:a16="http://schemas.microsoft.com/office/drawing/2014/main" id="{90550359-7185-4B61-88BA-ACE18AC22056}"/>
              </a:ext>
            </a:extLst>
          </p:cNvPr>
          <p:cNvGrpSpPr/>
          <p:nvPr/>
        </p:nvGrpSpPr>
        <p:grpSpPr>
          <a:xfrm>
            <a:off x="8857706" y="3341272"/>
            <a:ext cx="617930" cy="253345"/>
            <a:chOff x="7908112" y="1190873"/>
            <a:chExt cx="712148" cy="712148"/>
          </a:xfrm>
          <a:solidFill>
            <a:srgbClr val="0071B2"/>
          </a:solidFill>
        </p:grpSpPr>
        <p:sp>
          <p:nvSpPr>
            <p:cNvPr id="57"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58"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9" name="Grafik 142" descr="Adressbuch">
            <a:extLst>
              <a:ext uri="{FF2B5EF4-FFF2-40B4-BE49-F238E27FC236}">
                <a16:creationId xmlns:a16="http://schemas.microsoft.com/office/drawing/2014/main" id="{90550359-7185-4B61-88BA-ACE18AC22056}"/>
              </a:ext>
            </a:extLst>
          </p:cNvPr>
          <p:cNvGrpSpPr/>
          <p:nvPr/>
        </p:nvGrpSpPr>
        <p:grpSpPr>
          <a:xfrm>
            <a:off x="8413665" y="4044573"/>
            <a:ext cx="617930" cy="253345"/>
            <a:chOff x="7908112" y="1190873"/>
            <a:chExt cx="712148" cy="712148"/>
          </a:xfrm>
          <a:solidFill>
            <a:srgbClr val="0071B2"/>
          </a:solidFill>
        </p:grpSpPr>
        <p:sp>
          <p:nvSpPr>
            <p:cNvPr id="60"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61"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62" name="Grafik 142" descr="Adressbuch">
            <a:extLst>
              <a:ext uri="{FF2B5EF4-FFF2-40B4-BE49-F238E27FC236}">
                <a16:creationId xmlns:a16="http://schemas.microsoft.com/office/drawing/2014/main" id="{90550359-7185-4B61-88BA-ACE18AC22056}"/>
              </a:ext>
            </a:extLst>
          </p:cNvPr>
          <p:cNvGrpSpPr/>
          <p:nvPr/>
        </p:nvGrpSpPr>
        <p:grpSpPr>
          <a:xfrm>
            <a:off x="8741844" y="4540947"/>
            <a:ext cx="617930" cy="253345"/>
            <a:chOff x="7908112" y="1190873"/>
            <a:chExt cx="712148" cy="712148"/>
          </a:xfrm>
          <a:solidFill>
            <a:srgbClr val="0071B2"/>
          </a:solidFill>
        </p:grpSpPr>
        <p:sp>
          <p:nvSpPr>
            <p:cNvPr id="63"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64"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65" name="Grafik 142" descr="Adressbuch">
            <a:extLst>
              <a:ext uri="{FF2B5EF4-FFF2-40B4-BE49-F238E27FC236}">
                <a16:creationId xmlns:a16="http://schemas.microsoft.com/office/drawing/2014/main" id="{90550359-7185-4B61-88BA-ACE18AC22056}"/>
              </a:ext>
            </a:extLst>
          </p:cNvPr>
          <p:cNvGrpSpPr/>
          <p:nvPr/>
        </p:nvGrpSpPr>
        <p:grpSpPr>
          <a:xfrm>
            <a:off x="9508671" y="5010830"/>
            <a:ext cx="617930" cy="253345"/>
            <a:chOff x="7908112" y="1190873"/>
            <a:chExt cx="712148" cy="712148"/>
          </a:xfrm>
          <a:solidFill>
            <a:srgbClr val="0071B2"/>
          </a:solidFill>
        </p:grpSpPr>
        <p:sp>
          <p:nvSpPr>
            <p:cNvPr id="66"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67"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39476833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smtClean="0">
                <a:solidFill>
                  <a:schemeClr val="accent2"/>
                </a:solidFill>
                <a:latin typeface="Source Sans Pro" panose="020B0503030403020204" pitchFamily="34" charset="0"/>
              </a:rPr>
              <a:t>1:1-Relation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600" dirty="0">
              <a:solidFill>
                <a:schemeClr val="accent2"/>
              </a:solidFill>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600" dirty="0">
              <a:solidFill>
                <a:schemeClr val="accent2"/>
              </a:solidFill>
            </a:endParaRPr>
          </a:p>
        </p:txBody>
      </p:sp>
      <p:sp>
        <p:nvSpPr>
          <p:cNvPr id="3" name="Textfeld 2"/>
          <p:cNvSpPr txBox="1"/>
          <p:nvPr/>
        </p:nvSpPr>
        <p:spPr>
          <a:xfrm>
            <a:off x="849087" y="1110334"/>
            <a:ext cx="896399" cy="369332"/>
          </a:xfrm>
          <a:prstGeom prst="rect">
            <a:avLst/>
          </a:prstGeom>
          <a:noFill/>
        </p:spPr>
        <p:txBody>
          <a:bodyPr wrap="none" rtlCol="0">
            <a:spAutoFit/>
          </a:bodyPr>
          <a:lstStyle/>
          <a:p>
            <a:r>
              <a:rPr lang="de-DE" b="1" dirty="0" smtClean="0">
                <a:latin typeface="Source Sans Pro" panose="020B0503030403020204" pitchFamily="34" charset="0"/>
              </a:rPr>
              <a:t>Person</a:t>
            </a:r>
            <a:endParaRPr lang="de-DE" b="1" dirty="0">
              <a:latin typeface="Source Sans Pro" panose="020B0503030403020204" pitchFamily="34" charset="0"/>
            </a:endParaRPr>
          </a:p>
        </p:txBody>
      </p:sp>
      <p:sp>
        <p:nvSpPr>
          <p:cNvPr id="10" name="Raute 9"/>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rgbClr val="0070C0"/>
                </a:solidFill>
                <a:latin typeface="Source Sans Pro" panose="020B0503030403020204" pitchFamily="34" charset="0"/>
              </a:rPr>
              <a:t>Eigentum</a:t>
            </a:r>
            <a:endParaRPr lang="de-DE" dirty="0">
              <a:solidFill>
                <a:srgbClr val="0070C0"/>
              </a:solidFill>
              <a:latin typeface="Source Sans Pro" panose="020B0503030403020204" pitchFamily="34" charset="0"/>
            </a:endParaRPr>
          </a:p>
        </p:txBody>
      </p:sp>
      <p:cxnSp>
        <p:nvCxnSpPr>
          <p:cNvPr id="13" name="Gerader Verbinder 12"/>
          <p:cNvCxnSpPr>
            <a:stCxn id="10" idx="1"/>
          </p:cNvCxnSpPr>
          <p:nvPr/>
        </p:nvCxnSpPr>
        <p:spPr>
          <a:xfrm flipH="1" flipV="1">
            <a:off x="3536303" y="3680039"/>
            <a:ext cx="102738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44" name="Grafik 142" descr="Adressbuch">
            <a:extLst>
              <a:ext uri="{FF2B5EF4-FFF2-40B4-BE49-F238E27FC236}">
                <a16:creationId xmlns:a16="http://schemas.microsoft.com/office/drawing/2014/main" id="{90550359-7185-4B61-88BA-ACE18AC22056}"/>
              </a:ext>
            </a:extLst>
          </p:cNvPr>
          <p:cNvGrpSpPr/>
          <p:nvPr/>
        </p:nvGrpSpPr>
        <p:grpSpPr>
          <a:xfrm>
            <a:off x="8368128" y="1734909"/>
            <a:ext cx="617930" cy="253345"/>
            <a:chOff x="7908112" y="1190873"/>
            <a:chExt cx="712148" cy="712148"/>
          </a:xfrm>
          <a:solidFill>
            <a:srgbClr val="0071B2"/>
          </a:solidFill>
        </p:grpSpPr>
        <p:sp>
          <p:nvSpPr>
            <p:cNvPr id="45"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46"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47" name="Grafik 142" descr="Adressbuch">
            <a:extLst>
              <a:ext uri="{FF2B5EF4-FFF2-40B4-BE49-F238E27FC236}">
                <a16:creationId xmlns:a16="http://schemas.microsoft.com/office/drawing/2014/main" id="{90550359-7185-4B61-88BA-ACE18AC22056}"/>
              </a:ext>
            </a:extLst>
          </p:cNvPr>
          <p:cNvGrpSpPr/>
          <p:nvPr/>
        </p:nvGrpSpPr>
        <p:grpSpPr>
          <a:xfrm>
            <a:off x="9006603" y="2149033"/>
            <a:ext cx="617930" cy="253345"/>
            <a:chOff x="7908112" y="1190873"/>
            <a:chExt cx="712148" cy="712148"/>
          </a:xfrm>
          <a:solidFill>
            <a:srgbClr val="0071B2"/>
          </a:solidFill>
        </p:grpSpPr>
        <p:sp>
          <p:nvSpPr>
            <p:cNvPr id="48"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49"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0" name="Grafik 142" descr="Adressbuch">
            <a:extLst>
              <a:ext uri="{FF2B5EF4-FFF2-40B4-BE49-F238E27FC236}">
                <a16:creationId xmlns:a16="http://schemas.microsoft.com/office/drawing/2014/main" id="{90550359-7185-4B61-88BA-ACE18AC22056}"/>
              </a:ext>
            </a:extLst>
          </p:cNvPr>
          <p:cNvGrpSpPr/>
          <p:nvPr/>
        </p:nvGrpSpPr>
        <p:grpSpPr>
          <a:xfrm>
            <a:off x="8449068" y="2573588"/>
            <a:ext cx="617930" cy="253345"/>
            <a:chOff x="7908112" y="1190873"/>
            <a:chExt cx="712148" cy="712148"/>
          </a:xfrm>
          <a:solidFill>
            <a:srgbClr val="0071B2"/>
          </a:solidFill>
        </p:grpSpPr>
        <p:sp>
          <p:nvSpPr>
            <p:cNvPr id="51"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52"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3" name="Grafik 142" descr="Adressbuch">
            <a:extLst>
              <a:ext uri="{FF2B5EF4-FFF2-40B4-BE49-F238E27FC236}">
                <a16:creationId xmlns:a16="http://schemas.microsoft.com/office/drawing/2014/main" id="{90550359-7185-4B61-88BA-ACE18AC22056}"/>
              </a:ext>
            </a:extLst>
          </p:cNvPr>
          <p:cNvGrpSpPr/>
          <p:nvPr/>
        </p:nvGrpSpPr>
        <p:grpSpPr>
          <a:xfrm>
            <a:off x="9315568" y="2970778"/>
            <a:ext cx="617930" cy="253345"/>
            <a:chOff x="7908112" y="1190873"/>
            <a:chExt cx="712148" cy="712148"/>
          </a:xfrm>
          <a:solidFill>
            <a:srgbClr val="0071B2"/>
          </a:solidFill>
        </p:grpSpPr>
        <p:sp>
          <p:nvSpPr>
            <p:cNvPr id="54"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55"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6" name="Grafik 142" descr="Adressbuch">
            <a:extLst>
              <a:ext uri="{FF2B5EF4-FFF2-40B4-BE49-F238E27FC236}">
                <a16:creationId xmlns:a16="http://schemas.microsoft.com/office/drawing/2014/main" id="{90550359-7185-4B61-88BA-ACE18AC22056}"/>
              </a:ext>
            </a:extLst>
          </p:cNvPr>
          <p:cNvGrpSpPr/>
          <p:nvPr/>
        </p:nvGrpSpPr>
        <p:grpSpPr>
          <a:xfrm>
            <a:off x="8857706" y="3341272"/>
            <a:ext cx="617930" cy="253345"/>
            <a:chOff x="7908112" y="1190873"/>
            <a:chExt cx="712148" cy="712148"/>
          </a:xfrm>
          <a:solidFill>
            <a:srgbClr val="0071B2"/>
          </a:solidFill>
        </p:grpSpPr>
        <p:sp>
          <p:nvSpPr>
            <p:cNvPr id="57"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58"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9" name="Grafik 142" descr="Adressbuch">
            <a:extLst>
              <a:ext uri="{FF2B5EF4-FFF2-40B4-BE49-F238E27FC236}">
                <a16:creationId xmlns:a16="http://schemas.microsoft.com/office/drawing/2014/main" id="{90550359-7185-4B61-88BA-ACE18AC22056}"/>
              </a:ext>
            </a:extLst>
          </p:cNvPr>
          <p:cNvGrpSpPr/>
          <p:nvPr/>
        </p:nvGrpSpPr>
        <p:grpSpPr>
          <a:xfrm>
            <a:off x="8413665" y="4044573"/>
            <a:ext cx="617930" cy="253345"/>
            <a:chOff x="7908112" y="1190873"/>
            <a:chExt cx="712148" cy="712148"/>
          </a:xfrm>
          <a:solidFill>
            <a:srgbClr val="0071B2"/>
          </a:solidFill>
        </p:grpSpPr>
        <p:sp>
          <p:nvSpPr>
            <p:cNvPr id="60"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61"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62" name="Grafik 142" descr="Adressbuch">
            <a:extLst>
              <a:ext uri="{FF2B5EF4-FFF2-40B4-BE49-F238E27FC236}">
                <a16:creationId xmlns:a16="http://schemas.microsoft.com/office/drawing/2014/main" id="{90550359-7185-4B61-88BA-ACE18AC22056}"/>
              </a:ext>
            </a:extLst>
          </p:cNvPr>
          <p:cNvGrpSpPr/>
          <p:nvPr/>
        </p:nvGrpSpPr>
        <p:grpSpPr>
          <a:xfrm>
            <a:off x="8741844" y="4540947"/>
            <a:ext cx="617930" cy="253345"/>
            <a:chOff x="7908112" y="1190873"/>
            <a:chExt cx="712148" cy="712148"/>
          </a:xfrm>
          <a:solidFill>
            <a:srgbClr val="0071B2"/>
          </a:solidFill>
        </p:grpSpPr>
        <p:sp>
          <p:nvSpPr>
            <p:cNvPr id="63"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64"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65" name="Grafik 142" descr="Adressbuch">
            <a:extLst>
              <a:ext uri="{FF2B5EF4-FFF2-40B4-BE49-F238E27FC236}">
                <a16:creationId xmlns:a16="http://schemas.microsoft.com/office/drawing/2014/main" id="{90550359-7185-4B61-88BA-ACE18AC22056}"/>
              </a:ext>
            </a:extLst>
          </p:cNvPr>
          <p:cNvGrpSpPr/>
          <p:nvPr/>
        </p:nvGrpSpPr>
        <p:grpSpPr>
          <a:xfrm>
            <a:off x="9508671" y="5010830"/>
            <a:ext cx="617930" cy="253345"/>
            <a:chOff x="7908112" y="1190873"/>
            <a:chExt cx="712148" cy="712148"/>
          </a:xfrm>
          <a:solidFill>
            <a:srgbClr val="0071B2"/>
          </a:solidFill>
        </p:grpSpPr>
        <p:sp>
          <p:nvSpPr>
            <p:cNvPr id="66"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67"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cxnSp>
        <p:nvCxnSpPr>
          <p:cNvPr id="68" name="Gerader Verbinder 67"/>
          <p:cNvCxnSpPr/>
          <p:nvPr/>
        </p:nvCxnSpPr>
        <p:spPr>
          <a:xfrm flipH="1">
            <a:off x="2818765" y="1824790"/>
            <a:ext cx="5552151" cy="11255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Gerader Verbinder 69"/>
          <p:cNvCxnSpPr/>
          <p:nvPr/>
        </p:nvCxnSpPr>
        <p:spPr>
          <a:xfrm flipH="1">
            <a:off x="1922057" y="2255635"/>
            <a:ext cx="7093349" cy="425661"/>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2" name="Gerader Verbinder 71"/>
          <p:cNvCxnSpPr/>
          <p:nvPr/>
        </p:nvCxnSpPr>
        <p:spPr>
          <a:xfrm flipH="1">
            <a:off x="2853023" y="3106314"/>
            <a:ext cx="6462545" cy="4429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4" name="Gerader Verbinder 73"/>
          <p:cNvCxnSpPr/>
          <p:nvPr/>
        </p:nvCxnSpPr>
        <p:spPr>
          <a:xfrm flipH="1" flipV="1">
            <a:off x="2867469" y="4206110"/>
            <a:ext cx="5855161" cy="43838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7" name="Gerader Verbinder 76"/>
          <p:cNvCxnSpPr/>
          <p:nvPr/>
        </p:nvCxnSpPr>
        <p:spPr>
          <a:xfrm flipH="1" flipV="1">
            <a:off x="1768045" y="4680259"/>
            <a:ext cx="7740626" cy="48247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feld 5"/>
          <p:cNvSpPr txBox="1"/>
          <p:nvPr/>
        </p:nvSpPr>
        <p:spPr>
          <a:xfrm>
            <a:off x="6917223" y="5580357"/>
            <a:ext cx="5238935" cy="369332"/>
          </a:xfrm>
          <a:prstGeom prst="rect">
            <a:avLst/>
          </a:prstGeom>
          <a:noFill/>
        </p:spPr>
        <p:txBody>
          <a:bodyPr wrap="none" rtlCol="0">
            <a:spAutoFit/>
          </a:bodyPr>
          <a:lstStyle/>
          <a:p>
            <a:r>
              <a:rPr lang="de-DE" dirty="0" smtClean="0">
                <a:latin typeface="Source Sans Pro" panose="020B0503030403020204" pitchFamily="34" charset="0"/>
              </a:rPr>
              <a:t>Jeder Personalausweis hat  </a:t>
            </a:r>
            <a:r>
              <a:rPr lang="de-DE" b="1" dirty="0" smtClean="0">
                <a:solidFill>
                  <a:schemeClr val="accent2"/>
                </a:solidFill>
                <a:latin typeface="Source Sans Pro" panose="020B0503030403020204" pitchFamily="34" charset="0"/>
              </a:rPr>
              <a:t>höchstens 1 </a:t>
            </a:r>
            <a:r>
              <a:rPr lang="de-DE" dirty="0" smtClean="0">
                <a:latin typeface="Source Sans Pro" panose="020B0503030403020204" pitchFamily="34" charset="0"/>
              </a:rPr>
              <a:t>Eigentümer</a:t>
            </a:r>
            <a:endParaRPr lang="de-DE" dirty="0">
              <a:latin typeface="Source Sans Pro" panose="020B0503030403020204" pitchFamily="34" charset="0"/>
            </a:endParaRPr>
          </a:p>
        </p:txBody>
      </p:sp>
      <p:sp>
        <p:nvSpPr>
          <p:cNvPr id="69" name="Textfeld 68"/>
          <p:cNvSpPr txBox="1"/>
          <p:nvPr/>
        </p:nvSpPr>
        <p:spPr>
          <a:xfrm>
            <a:off x="117890" y="5586627"/>
            <a:ext cx="4990469" cy="369332"/>
          </a:xfrm>
          <a:prstGeom prst="rect">
            <a:avLst/>
          </a:prstGeom>
          <a:noFill/>
        </p:spPr>
        <p:txBody>
          <a:bodyPr wrap="none" rtlCol="0">
            <a:spAutoFit/>
          </a:bodyPr>
          <a:lstStyle/>
          <a:p>
            <a:r>
              <a:rPr lang="de-DE" dirty="0" smtClean="0">
                <a:latin typeface="Source Sans Pro" panose="020B0503030403020204" pitchFamily="34" charset="0"/>
              </a:rPr>
              <a:t>Jede Person besitzt </a:t>
            </a:r>
            <a:r>
              <a:rPr lang="de-DE" b="1" dirty="0" smtClean="0">
                <a:solidFill>
                  <a:schemeClr val="accent2"/>
                </a:solidFill>
                <a:latin typeface="Source Sans Pro" panose="020B0503030403020204" pitchFamily="34" charset="0"/>
              </a:rPr>
              <a:t>höchstens 1 </a:t>
            </a:r>
            <a:r>
              <a:rPr lang="de-DE" dirty="0" smtClean="0">
                <a:latin typeface="Source Sans Pro" panose="020B0503030403020204" pitchFamily="34" charset="0"/>
              </a:rPr>
              <a:t>Personalausweis</a:t>
            </a:r>
            <a:endParaRPr lang="de-DE" dirty="0">
              <a:latin typeface="Source Sans Pro" panose="020B0503030403020204" pitchFamily="34" charset="0"/>
            </a:endParaRPr>
          </a:p>
        </p:txBody>
      </p:sp>
      <p:sp>
        <p:nvSpPr>
          <p:cNvPr id="71" name="Textfeld 70"/>
          <p:cNvSpPr txBox="1"/>
          <p:nvPr/>
        </p:nvSpPr>
        <p:spPr>
          <a:xfrm>
            <a:off x="7812467" y="1102768"/>
            <a:ext cx="2965877" cy="369332"/>
          </a:xfrm>
          <a:prstGeom prst="rect">
            <a:avLst/>
          </a:prstGeom>
          <a:noFill/>
        </p:spPr>
        <p:txBody>
          <a:bodyPr wrap="none" rtlCol="0">
            <a:spAutoFit/>
          </a:bodyPr>
          <a:lstStyle/>
          <a:p>
            <a:r>
              <a:rPr lang="de-DE" b="1" dirty="0" smtClean="0">
                <a:latin typeface="Source Sans Pro" panose="020B0503030403020204" pitchFamily="34" charset="0"/>
              </a:rPr>
              <a:t>Personalausweis </a:t>
            </a:r>
            <a:r>
              <a:rPr lang="de-DE" sz="1200" b="1" dirty="0" smtClean="0">
                <a:latin typeface="Source Sans Pro" panose="020B0503030403020204" pitchFamily="34" charset="0"/>
              </a:rPr>
              <a:t>(aktuell gültig)</a:t>
            </a:r>
            <a:endParaRPr lang="de-DE" sz="1200" b="1" dirty="0">
              <a:latin typeface="Source Sans Pro" panose="020B0503030403020204" pitchFamily="34" charset="0"/>
            </a:endParaRPr>
          </a:p>
        </p:txBody>
      </p:sp>
    </p:spTree>
    <p:extLst>
      <p:ext uri="{BB962C8B-B14F-4D97-AF65-F5344CB8AC3E}">
        <p14:creationId xmlns:p14="http://schemas.microsoft.com/office/powerpoint/2010/main" val="27340805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smtClean="0">
                <a:solidFill>
                  <a:schemeClr val="accent2"/>
                </a:solidFill>
                <a:latin typeface="Source Sans Pro" panose="020B0503030403020204" pitchFamily="34" charset="0"/>
              </a:rPr>
              <a:t>1:1-Relation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600" dirty="0">
              <a:solidFill>
                <a:schemeClr val="accent2"/>
              </a:solidFill>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600" dirty="0">
              <a:solidFill>
                <a:schemeClr val="accent2"/>
              </a:solidFill>
            </a:endParaRPr>
          </a:p>
        </p:txBody>
      </p:sp>
      <p:sp>
        <p:nvSpPr>
          <p:cNvPr id="3" name="Textfeld 2"/>
          <p:cNvSpPr txBox="1"/>
          <p:nvPr/>
        </p:nvSpPr>
        <p:spPr>
          <a:xfrm>
            <a:off x="849087" y="1110334"/>
            <a:ext cx="896399" cy="369332"/>
          </a:xfrm>
          <a:prstGeom prst="rect">
            <a:avLst/>
          </a:prstGeom>
          <a:noFill/>
        </p:spPr>
        <p:txBody>
          <a:bodyPr wrap="none" rtlCol="0">
            <a:spAutoFit/>
          </a:bodyPr>
          <a:lstStyle/>
          <a:p>
            <a:r>
              <a:rPr lang="de-DE" b="1" dirty="0" smtClean="0">
                <a:latin typeface="Source Sans Pro" panose="020B0503030403020204" pitchFamily="34" charset="0"/>
              </a:rPr>
              <a:t>Person</a:t>
            </a:r>
            <a:endParaRPr lang="de-DE" b="1" dirty="0">
              <a:latin typeface="Source Sans Pro" panose="020B0503030403020204" pitchFamily="34" charset="0"/>
            </a:endParaRPr>
          </a:p>
        </p:txBody>
      </p:sp>
      <p:sp>
        <p:nvSpPr>
          <p:cNvPr id="10" name="Raute 9"/>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rgbClr val="0070C0"/>
                </a:solidFill>
                <a:latin typeface="Source Sans Pro" panose="020B0503030403020204" pitchFamily="34" charset="0"/>
              </a:rPr>
              <a:t>Eigentum</a:t>
            </a:r>
            <a:endParaRPr lang="de-DE" dirty="0">
              <a:solidFill>
                <a:srgbClr val="0070C0"/>
              </a:solidFill>
              <a:latin typeface="Source Sans Pro" panose="020B0503030403020204" pitchFamily="34" charset="0"/>
            </a:endParaRPr>
          </a:p>
        </p:txBody>
      </p:sp>
      <p:cxnSp>
        <p:nvCxnSpPr>
          <p:cNvPr id="13" name="Gerader Verbinder 12"/>
          <p:cNvCxnSpPr>
            <a:stCxn id="10" idx="1"/>
          </p:cNvCxnSpPr>
          <p:nvPr/>
        </p:nvCxnSpPr>
        <p:spPr>
          <a:xfrm flipH="1" flipV="1">
            <a:off x="3536303" y="3680039"/>
            <a:ext cx="102738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endParaRPr lang="de-DE" dirty="0"/>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endParaRPr lang="de-DE" dirty="0"/>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endParaRPr lang="de-DE" dirty="0"/>
            </a:p>
          </p:txBody>
        </p:sp>
      </p:grpSp>
      <p:grpSp>
        <p:nvGrpSpPr>
          <p:cNvPr id="44" name="Grafik 142" descr="Adressbuch">
            <a:extLst>
              <a:ext uri="{FF2B5EF4-FFF2-40B4-BE49-F238E27FC236}">
                <a16:creationId xmlns:a16="http://schemas.microsoft.com/office/drawing/2014/main" id="{90550359-7185-4B61-88BA-ACE18AC22056}"/>
              </a:ext>
            </a:extLst>
          </p:cNvPr>
          <p:cNvGrpSpPr/>
          <p:nvPr/>
        </p:nvGrpSpPr>
        <p:grpSpPr>
          <a:xfrm>
            <a:off x="8368128" y="1734909"/>
            <a:ext cx="617930" cy="253345"/>
            <a:chOff x="7908112" y="1190873"/>
            <a:chExt cx="712148" cy="712148"/>
          </a:xfrm>
          <a:solidFill>
            <a:srgbClr val="0071B2"/>
          </a:solidFill>
        </p:grpSpPr>
        <p:sp>
          <p:nvSpPr>
            <p:cNvPr id="45"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46"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47" name="Grafik 142" descr="Adressbuch">
            <a:extLst>
              <a:ext uri="{FF2B5EF4-FFF2-40B4-BE49-F238E27FC236}">
                <a16:creationId xmlns:a16="http://schemas.microsoft.com/office/drawing/2014/main" id="{90550359-7185-4B61-88BA-ACE18AC22056}"/>
              </a:ext>
            </a:extLst>
          </p:cNvPr>
          <p:cNvGrpSpPr/>
          <p:nvPr/>
        </p:nvGrpSpPr>
        <p:grpSpPr>
          <a:xfrm>
            <a:off x="9006603" y="2149033"/>
            <a:ext cx="617930" cy="253345"/>
            <a:chOff x="7908112" y="1190873"/>
            <a:chExt cx="712148" cy="712148"/>
          </a:xfrm>
          <a:solidFill>
            <a:srgbClr val="0071B2"/>
          </a:solidFill>
        </p:grpSpPr>
        <p:sp>
          <p:nvSpPr>
            <p:cNvPr id="48"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49"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0" name="Grafik 142" descr="Adressbuch">
            <a:extLst>
              <a:ext uri="{FF2B5EF4-FFF2-40B4-BE49-F238E27FC236}">
                <a16:creationId xmlns:a16="http://schemas.microsoft.com/office/drawing/2014/main" id="{90550359-7185-4B61-88BA-ACE18AC22056}"/>
              </a:ext>
            </a:extLst>
          </p:cNvPr>
          <p:cNvGrpSpPr/>
          <p:nvPr/>
        </p:nvGrpSpPr>
        <p:grpSpPr>
          <a:xfrm>
            <a:off x="8449068" y="2573588"/>
            <a:ext cx="617930" cy="253345"/>
            <a:chOff x="7908112" y="1190873"/>
            <a:chExt cx="712148" cy="712148"/>
          </a:xfrm>
          <a:solidFill>
            <a:srgbClr val="0071B2"/>
          </a:solidFill>
        </p:grpSpPr>
        <p:sp>
          <p:nvSpPr>
            <p:cNvPr id="51"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52"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3" name="Grafik 142" descr="Adressbuch">
            <a:extLst>
              <a:ext uri="{FF2B5EF4-FFF2-40B4-BE49-F238E27FC236}">
                <a16:creationId xmlns:a16="http://schemas.microsoft.com/office/drawing/2014/main" id="{90550359-7185-4B61-88BA-ACE18AC22056}"/>
              </a:ext>
            </a:extLst>
          </p:cNvPr>
          <p:cNvGrpSpPr/>
          <p:nvPr/>
        </p:nvGrpSpPr>
        <p:grpSpPr>
          <a:xfrm>
            <a:off x="9315568" y="2970778"/>
            <a:ext cx="617930" cy="253345"/>
            <a:chOff x="7908112" y="1190873"/>
            <a:chExt cx="712148" cy="712148"/>
          </a:xfrm>
          <a:solidFill>
            <a:srgbClr val="0071B2"/>
          </a:solidFill>
        </p:grpSpPr>
        <p:sp>
          <p:nvSpPr>
            <p:cNvPr id="54"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55"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6" name="Grafik 142" descr="Adressbuch">
            <a:extLst>
              <a:ext uri="{FF2B5EF4-FFF2-40B4-BE49-F238E27FC236}">
                <a16:creationId xmlns:a16="http://schemas.microsoft.com/office/drawing/2014/main" id="{90550359-7185-4B61-88BA-ACE18AC22056}"/>
              </a:ext>
            </a:extLst>
          </p:cNvPr>
          <p:cNvGrpSpPr/>
          <p:nvPr/>
        </p:nvGrpSpPr>
        <p:grpSpPr>
          <a:xfrm>
            <a:off x="8857706" y="3341272"/>
            <a:ext cx="617930" cy="253345"/>
            <a:chOff x="7908112" y="1190873"/>
            <a:chExt cx="712148" cy="712148"/>
          </a:xfrm>
          <a:solidFill>
            <a:srgbClr val="0071B2"/>
          </a:solidFill>
        </p:grpSpPr>
        <p:sp>
          <p:nvSpPr>
            <p:cNvPr id="57"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58"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59" name="Grafik 142" descr="Adressbuch">
            <a:extLst>
              <a:ext uri="{FF2B5EF4-FFF2-40B4-BE49-F238E27FC236}">
                <a16:creationId xmlns:a16="http://schemas.microsoft.com/office/drawing/2014/main" id="{90550359-7185-4B61-88BA-ACE18AC22056}"/>
              </a:ext>
            </a:extLst>
          </p:cNvPr>
          <p:cNvGrpSpPr/>
          <p:nvPr/>
        </p:nvGrpSpPr>
        <p:grpSpPr>
          <a:xfrm>
            <a:off x="8413665" y="4044573"/>
            <a:ext cx="617930" cy="253345"/>
            <a:chOff x="7908112" y="1190873"/>
            <a:chExt cx="712148" cy="712148"/>
          </a:xfrm>
          <a:solidFill>
            <a:srgbClr val="0071B2"/>
          </a:solidFill>
        </p:grpSpPr>
        <p:sp>
          <p:nvSpPr>
            <p:cNvPr id="60"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61"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62" name="Grafik 142" descr="Adressbuch">
            <a:extLst>
              <a:ext uri="{FF2B5EF4-FFF2-40B4-BE49-F238E27FC236}">
                <a16:creationId xmlns:a16="http://schemas.microsoft.com/office/drawing/2014/main" id="{90550359-7185-4B61-88BA-ACE18AC22056}"/>
              </a:ext>
            </a:extLst>
          </p:cNvPr>
          <p:cNvGrpSpPr/>
          <p:nvPr/>
        </p:nvGrpSpPr>
        <p:grpSpPr>
          <a:xfrm>
            <a:off x="8741844" y="4540947"/>
            <a:ext cx="617930" cy="253345"/>
            <a:chOff x="7908112" y="1190873"/>
            <a:chExt cx="712148" cy="712148"/>
          </a:xfrm>
          <a:solidFill>
            <a:srgbClr val="0071B2"/>
          </a:solidFill>
        </p:grpSpPr>
        <p:sp>
          <p:nvSpPr>
            <p:cNvPr id="63"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64"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grpSp>
        <p:nvGrpSpPr>
          <p:cNvPr id="65" name="Grafik 142" descr="Adressbuch">
            <a:extLst>
              <a:ext uri="{FF2B5EF4-FFF2-40B4-BE49-F238E27FC236}">
                <a16:creationId xmlns:a16="http://schemas.microsoft.com/office/drawing/2014/main" id="{90550359-7185-4B61-88BA-ACE18AC22056}"/>
              </a:ext>
            </a:extLst>
          </p:cNvPr>
          <p:cNvGrpSpPr/>
          <p:nvPr/>
        </p:nvGrpSpPr>
        <p:grpSpPr>
          <a:xfrm>
            <a:off x="9508671" y="5010830"/>
            <a:ext cx="617930" cy="253345"/>
            <a:chOff x="7908112" y="1190873"/>
            <a:chExt cx="712148" cy="712148"/>
          </a:xfrm>
          <a:solidFill>
            <a:srgbClr val="0071B2"/>
          </a:solidFill>
        </p:grpSpPr>
        <p:sp>
          <p:nvSpPr>
            <p:cNvPr id="66" name="Freihandform: Form 211">
              <a:extLst>
                <a:ext uri="{FF2B5EF4-FFF2-40B4-BE49-F238E27FC236}">
                  <a16:creationId xmlns:a16="http://schemas.microsoft.com/office/drawing/2014/main" id="{FFCF941A-60B1-4C9D-B3C0-9D4A84CA45F0}"/>
                </a:ext>
              </a:extLst>
            </p:cNvPr>
            <p:cNvSpPr/>
            <p:nvPr/>
          </p:nvSpPr>
          <p:spPr>
            <a:xfrm>
              <a:off x="8442223" y="1272473"/>
              <a:ext cx="44509" cy="548947"/>
            </a:xfrm>
            <a:custGeom>
              <a:avLst/>
              <a:gdLst>
                <a:gd name="connsiteX0" fmla="*/ 0 w 44509"/>
                <a:gd name="connsiteY0" fmla="*/ 0 h 548947"/>
                <a:gd name="connsiteX1" fmla="*/ 44509 w 44509"/>
                <a:gd name="connsiteY1" fmla="*/ 0 h 548947"/>
                <a:gd name="connsiteX2" fmla="*/ 44509 w 44509"/>
                <a:gd name="connsiteY2" fmla="*/ 548947 h 548947"/>
                <a:gd name="connsiteX3" fmla="*/ 0 w 44509"/>
                <a:gd name="connsiteY3" fmla="*/ 548947 h 548947"/>
              </a:gdLst>
              <a:ahLst/>
              <a:cxnLst>
                <a:cxn ang="0">
                  <a:pos x="connsiteX0" y="connsiteY0"/>
                </a:cxn>
                <a:cxn ang="0">
                  <a:pos x="connsiteX1" y="connsiteY1"/>
                </a:cxn>
                <a:cxn ang="0">
                  <a:pos x="connsiteX2" y="connsiteY2"/>
                </a:cxn>
                <a:cxn ang="0">
                  <a:pos x="connsiteX3" y="connsiteY3"/>
                </a:cxn>
              </a:cxnLst>
              <a:rect l="l" t="t" r="r" b="b"/>
              <a:pathLst>
                <a:path w="44509" h="548947">
                  <a:moveTo>
                    <a:pt x="0" y="0"/>
                  </a:moveTo>
                  <a:lnTo>
                    <a:pt x="44509" y="0"/>
                  </a:lnTo>
                  <a:lnTo>
                    <a:pt x="44509" y="548947"/>
                  </a:lnTo>
                  <a:lnTo>
                    <a:pt x="0" y="548947"/>
                  </a:lnTo>
                  <a:close/>
                </a:path>
              </a:pathLst>
            </a:custGeom>
            <a:grpFill/>
            <a:ln w="7342" cap="flat">
              <a:noFill/>
              <a:prstDash val="solid"/>
              <a:miter/>
            </a:ln>
          </p:spPr>
          <p:txBody>
            <a:bodyPr rtlCol="0" anchor="ctr"/>
            <a:lstStyle/>
            <a:p>
              <a:endParaRPr lang="de-DE" dirty="0"/>
            </a:p>
          </p:txBody>
        </p:sp>
        <p:sp>
          <p:nvSpPr>
            <p:cNvPr id="67" name="Freihandform: Form 212">
              <a:extLst>
                <a:ext uri="{FF2B5EF4-FFF2-40B4-BE49-F238E27FC236}">
                  <a16:creationId xmlns:a16="http://schemas.microsoft.com/office/drawing/2014/main" id="{A9AC6FB1-2D3B-461C-8843-7759FF768CE2}"/>
                </a:ext>
              </a:extLst>
            </p:cNvPr>
            <p:cNvSpPr/>
            <p:nvPr/>
          </p:nvSpPr>
          <p:spPr>
            <a:xfrm>
              <a:off x="8034221" y="1272473"/>
              <a:ext cx="378328" cy="548947"/>
            </a:xfrm>
            <a:custGeom>
              <a:avLst/>
              <a:gdLst>
                <a:gd name="connsiteX0" fmla="*/ 0 w 378328"/>
                <a:gd name="connsiteY0" fmla="*/ 29673 h 548947"/>
                <a:gd name="connsiteX1" fmla="*/ 0 w 378328"/>
                <a:gd name="connsiteY1" fmla="*/ 519275 h 548947"/>
                <a:gd name="connsiteX2" fmla="*/ 29673 w 378328"/>
                <a:gd name="connsiteY2" fmla="*/ 548947 h 548947"/>
                <a:gd name="connsiteX3" fmla="*/ 378329 w 378328"/>
                <a:gd name="connsiteY3" fmla="*/ 548947 h 548947"/>
                <a:gd name="connsiteX4" fmla="*/ 378329 w 378328"/>
                <a:gd name="connsiteY4" fmla="*/ 0 h 548947"/>
                <a:gd name="connsiteX5" fmla="*/ 29673 w 378328"/>
                <a:gd name="connsiteY5" fmla="*/ 0 h 548947"/>
                <a:gd name="connsiteX6" fmla="*/ 0 w 378328"/>
                <a:gd name="connsiteY6" fmla="*/ 29673 h 548947"/>
                <a:gd name="connsiteX7" fmla="*/ 195099 w 378328"/>
                <a:gd name="connsiteY7" fmla="*/ 264830 h 548947"/>
                <a:gd name="connsiteX8" fmla="*/ 138721 w 378328"/>
                <a:gd name="connsiteY8" fmla="*/ 208452 h 548947"/>
                <a:gd name="connsiteX9" fmla="*/ 195099 w 378328"/>
                <a:gd name="connsiteY9" fmla="*/ 152073 h 548947"/>
                <a:gd name="connsiteX10" fmla="*/ 251477 w 378328"/>
                <a:gd name="connsiteY10" fmla="*/ 208452 h 548947"/>
                <a:gd name="connsiteX11" fmla="*/ 195099 w 378328"/>
                <a:gd name="connsiteY11" fmla="*/ 264830 h 548947"/>
                <a:gd name="connsiteX12" fmla="*/ 81600 w 378328"/>
                <a:gd name="connsiteY12" fmla="*/ 336787 h 548947"/>
                <a:gd name="connsiteX13" fmla="*/ 92728 w 378328"/>
                <a:gd name="connsiteY13" fmla="*/ 313790 h 548947"/>
                <a:gd name="connsiteX14" fmla="*/ 148364 w 378328"/>
                <a:gd name="connsiteY14" fmla="*/ 287085 h 548947"/>
                <a:gd name="connsiteX15" fmla="*/ 195099 w 378328"/>
                <a:gd name="connsiteY15" fmla="*/ 279666 h 548947"/>
                <a:gd name="connsiteX16" fmla="*/ 241834 w 378328"/>
                <a:gd name="connsiteY16" fmla="*/ 287085 h 548947"/>
                <a:gd name="connsiteX17" fmla="*/ 297470 w 378328"/>
                <a:gd name="connsiteY17" fmla="*/ 313790 h 548947"/>
                <a:gd name="connsiteX18" fmla="*/ 308597 w 378328"/>
                <a:gd name="connsiteY18" fmla="*/ 336787 h 548947"/>
                <a:gd name="connsiteX19" fmla="*/ 308597 w 378328"/>
                <a:gd name="connsiteY19" fmla="*/ 393165 h 548947"/>
                <a:gd name="connsiteX20" fmla="*/ 81600 w 378328"/>
                <a:gd name="connsiteY20" fmla="*/ 393165 h 548947"/>
                <a:gd name="connsiteX21" fmla="*/ 81600 w 378328"/>
                <a:gd name="connsiteY21" fmla="*/ 336787 h 5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8328" h="548947">
                  <a:moveTo>
                    <a:pt x="0" y="29673"/>
                  </a:moveTo>
                  <a:lnTo>
                    <a:pt x="0" y="519275"/>
                  </a:lnTo>
                  <a:cubicBezTo>
                    <a:pt x="0" y="535595"/>
                    <a:pt x="13353" y="548947"/>
                    <a:pt x="29673" y="548947"/>
                  </a:cubicBezTo>
                  <a:lnTo>
                    <a:pt x="378329" y="548947"/>
                  </a:lnTo>
                  <a:lnTo>
                    <a:pt x="378329" y="0"/>
                  </a:lnTo>
                  <a:lnTo>
                    <a:pt x="29673" y="0"/>
                  </a:lnTo>
                  <a:cubicBezTo>
                    <a:pt x="13353" y="0"/>
                    <a:pt x="0" y="13353"/>
                    <a:pt x="0" y="29673"/>
                  </a:cubicBezTo>
                  <a:close/>
                  <a:moveTo>
                    <a:pt x="195099" y="264830"/>
                  </a:moveTo>
                  <a:cubicBezTo>
                    <a:pt x="163942" y="264830"/>
                    <a:pt x="138721" y="239608"/>
                    <a:pt x="138721" y="208452"/>
                  </a:cubicBezTo>
                  <a:cubicBezTo>
                    <a:pt x="138721" y="177295"/>
                    <a:pt x="163942" y="152073"/>
                    <a:pt x="195099" y="152073"/>
                  </a:cubicBezTo>
                  <a:cubicBezTo>
                    <a:pt x="226255" y="152073"/>
                    <a:pt x="251477" y="177295"/>
                    <a:pt x="251477" y="208452"/>
                  </a:cubicBezTo>
                  <a:cubicBezTo>
                    <a:pt x="251477" y="240350"/>
                    <a:pt x="226255" y="264830"/>
                    <a:pt x="195099" y="264830"/>
                  </a:cubicBezTo>
                  <a:close/>
                  <a:moveTo>
                    <a:pt x="81600" y="336787"/>
                  </a:moveTo>
                  <a:cubicBezTo>
                    <a:pt x="81600" y="327885"/>
                    <a:pt x="86051" y="318983"/>
                    <a:pt x="92728" y="313790"/>
                  </a:cubicBezTo>
                  <a:cubicBezTo>
                    <a:pt x="109789" y="301179"/>
                    <a:pt x="128335" y="292277"/>
                    <a:pt x="148364" y="287085"/>
                  </a:cubicBezTo>
                  <a:cubicBezTo>
                    <a:pt x="163201" y="281892"/>
                    <a:pt x="179521" y="279666"/>
                    <a:pt x="195099" y="279666"/>
                  </a:cubicBezTo>
                  <a:cubicBezTo>
                    <a:pt x="210677" y="280408"/>
                    <a:pt x="226255" y="282634"/>
                    <a:pt x="241834" y="287085"/>
                  </a:cubicBezTo>
                  <a:cubicBezTo>
                    <a:pt x="261863" y="292277"/>
                    <a:pt x="280408" y="301921"/>
                    <a:pt x="297470" y="313790"/>
                  </a:cubicBezTo>
                  <a:cubicBezTo>
                    <a:pt x="304147" y="319725"/>
                    <a:pt x="308597" y="327885"/>
                    <a:pt x="308597" y="336787"/>
                  </a:cubicBezTo>
                  <a:lnTo>
                    <a:pt x="308597" y="393165"/>
                  </a:lnTo>
                  <a:lnTo>
                    <a:pt x="81600" y="393165"/>
                  </a:lnTo>
                  <a:lnTo>
                    <a:pt x="81600" y="336787"/>
                  </a:lnTo>
                  <a:close/>
                </a:path>
              </a:pathLst>
            </a:custGeom>
            <a:grpFill/>
            <a:ln w="7342" cap="flat">
              <a:noFill/>
              <a:prstDash val="solid"/>
              <a:miter/>
            </a:ln>
          </p:spPr>
          <p:txBody>
            <a:bodyPr rtlCol="0" anchor="ctr"/>
            <a:lstStyle/>
            <a:p>
              <a:endParaRPr lang="de-DE" dirty="0"/>
            </a:p>
          </p:txBody>
        </p:sp>
      </p:grpSp>
      <p:cxnSp>
        <p:nvCxnSpPr>
          <p:cNvPr id="68" name="Gerader Verbinder 67"/>
          <p:cNvCxnSpPr/>
          <p:nvPr/>
        </p:nvCxnSpPr>
        <p:spPr>
          <a:xfrm flipH="1">
            <a:off x="2818765" y="1824790"/>
            <a:ext cx="5552151" cy="11255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Gerader Verbinder 69"/>
          <p:cNvCxnSpPr/>
          <p:nvPr/>
        </p:nvCxnSpPr>
        <p:spPr>
          <a:xfrm flipH="1">
            <a:off x="1922057" y="2255635"/>
            <a:ext cx="7093349" cy="4256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Gerader Verbinder 71"/>
          <p:cNvCxnSpPr/>
          <p:nvPr/>
        </p:nvCxnSpPr>
        <p:spPr>
          <a:xfrm flipH="1">
            <a:off x="2853023" y="3106314"/>
            <a:ext cx="6462545" cy="442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Gerader Verbinder 73"/>
          <p:cNvCxnSpPr/>
          <p:nvPr/>
        </p:nvCxnSpPr>
        <p:spPr>
          <a:xfrm flipH="1" flipV="1">
            <a:off x="2867469" y="4206110"/>
            <a:ext cx="5855161" cy="438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Gerader Verbinder 76"/>
          <p:cNvCxnSpPr/>
          <p:nvPr/>
        </p:nvCxnSpPr>
        <p:spPr>
          <a:xfrm flipH="1" flipV="1">
            <a:off x="1768045" y="4680259"/>
            <a:ext cx="7740626" cy="4824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feld 5"/>
          <p:cNvSpPr txBox="1"/>
          <p:nvPr/>
        </p:nvSpPr>
        <p:spPr>
          <a:xfrm>
            <a:off x="6412369" y="5580357"/>
            <a:ext cx="5806398" cy="369332"/>
          </a:xfrm>
          <a:prstGeom prst="rect">
            <a:avLst/>
          </a:prstGeom>
          <a:noFill/>
        </p:spPr>
        <p:txBody>
          <a:bodyPr wrap="none" rtlCol="0">
            <a:spAutoFit/>
          </a:bodyPr>
          <a:lstStyle/>
          <a:p>
            <a:r>
              <a:rPr lang="de-DE" dirty="0" smtClean="0">
                <a:latin typeface="Source Sans Pro" panose="020B0503030403020204" pitchFamily="34" charset="0"/>
              </a:rPr>
              <a:t>Es könnte auch Personalausweise </a:t>
            </a:r>
            <a:r>
              <a:rPr lang="de-DE" b="1" dirty="0" smtClean="0">
                <a:solidFill>
                  <a:schemeClr val="accent2"/>
                </a:solidFill>
                <a:latin typeface="Source Sans Pro" panose="020B0503030403020204" pitchFamily="34" charset="0"/>
              </a:rPr>
              <a:t>ohne</a:t>
            </a:r>
            <a:r>
              <a:rPr lang="de-DE" dirty="0" smtClean="0">
                <a:latin typeface="Source Sans Pro" panose="020B0503030403020204" pitchFamily="34" charset="0"/>
              </a:rPr>
              <a:t> Eigentümer geben</a:t>
            </a:r>
            <a:endParaRPr lang="de-DE" dirty="0">
              <a:latin typeface="Source Sans Pro" panose="020B0503030403020204" pitchFamily="34" charset="0"/>
            </a:endParaRPr>
          </a:p>
        </p:txBody>
      </p:sp>
      <p:sp>
        <p:nvSpPr>
          <p:cNvPr id="69" name="Textfeld 68"/>
          <p:cNvSpPr txBox="1"/>
          <p:nvPr/>
        </p:nvSpPr>
        <p:spPr>
          <a:xfrm>
            <a:off x="117890" y="5586627"/>
            <a:ext cx="5262338" cy="369332"/>
          </a:xfrm>
          <a:prstGeom prst="rect">
            <a:avLst/>
          </a:prstGeom>
          <a:noFill/>
        </p:spPr>
        <p:txBody>
          <a:bodyPr wrap="none" rtlCol="0">
            <a:spAutoFit/>
          </a:bodyPr>
          <a:lstStyle/>
          <a:p>
            <a:r>
              <a:rPr lang="de-DE" dirty="0" smtClean="0">
                <a:latin typeface="Source Sans Pro" panose="020B0503030403020204" pitchFamily="34" charset="0"/>
              </a:rPr>
              <a:t>Es kann auch Personen </a:t>
            </a:r>
            <a:r>
              <a:rPr lang="de-DE" b="1" dirty="0" smtClean="0">
                <a:solidFill>
                  <a:schemeClr val="accent2"/>
                </a:solidFill>
                <a:latin typeface="Source Sans Pro" panose="020B0503030403020204" pitchFamily="34" charset="0"/>
              </a:rPr>
              <a:t>ohne</a:t>
            </a:r>
            <a:r>
              <a:rPr lang="de-DE" dirty="0" smtClean="0">
                <a:latin typeface="Source Sans Pro" panose="020B0503030403020204" pitchFamily="34" charset="0"/>
              </a:rPr>
              <a:t> Personalausweis geben</a:t>
            </a:r>
            <a:endParaRPr lang="de-DE" dirty="0">
              <a:latin typeface="Source Sans Pro" panose="020B0503030403020204" pitchFamily="34" charset="0"/>
            </a:endParaRPr>
          </a:p>
        </p:txBody>
      </p:sp>
      <p:sp>
        <p:nvSpPr>
          <p:cNvPr id="7" name="Ellipse 6"/>
          <p:cNvSpPr/>
          <p:nvPr/>
        </p:nvSpPr>
        <p:spPr>
          <a:xfrm>
            <a:off x="8329578" y="3866675"/>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1" name="Ellipse 70"/>
          <p:cNvSpPr/>
          <p:nvPr/>
        </p:nvSpPr>
        <p:spPr>
          <a:xfrm>
            <a:off x="1164577" y="3319802"/>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3" name="Ellipse 72"/>
          <p:cNvSpPr/>
          <p:nvPr/>
        </p:nvSpPr>
        <p:spPr>
          <a:xfrm>
            <a:off x="2377552" y="4840987"/>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5" name="Ellipse 74"/>
          <p:cNvSpPr/>
          <p:nvPr/>
        </p:nvSpPr>
        <p:spPr>
          <a:xfrm>
            <a:off x="8370916" y="2406319"/>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6" name="Ellipse 75"/>
          <p:cNvSpPr/>
          <p:nvPr/>
        </p:nvSpPr>
        <p:spPr>
          <a:xfrm>
            <a:off x="8805340" y="3178244"/>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8" name="Ellipse 77"/>
          <p:cNvSpPr/>
          <p:nvPr/>
        </p:nvSpPr>
        <p:spPr>
          <a:xfrm>
            <a:off x="914302" y="1907153"/>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9" name="Textfeld 78"/>
          <p:cNvSpPr txBox="1"/>
          <p:nvPr/>
        </p:nvSpPr>
        <p:spPr>
          <a:xfrm>
            <a:off x="7812467" y="1102768"/>
            <a:ext cx="2965877" cy="369332"/>
          </a:xfrm>
          <a:prstGeom prst="rect">
            <a:avLst/>
          </a:prstGeom>
          <a:noFill/>
        </p:spPr>
        <p:txBody>
          <a:bodyPr wrap="none" rtlCol="0">
            <a:spAutoFit/>
          </a:bodyPr>
          <a:lstStyle/>
          <a:p>
            <a:r>
              <a:rPr lang="de-DE" b="1" dirty="0" smtClean="0">
                <a:latin typeface="Source Sans Pro" panose="020B0503030403020204" pitchFamily="34" charset="0"/>
              </a:rPr>
              <a:t>Personalausweis </a:t>
            </a:r>
            <a:r>
              <a:rPr lang="de-DE" sz="1200" b="1" dirty="0" smtClean="0">
                <a:latin typeface="Source Sans Pro" panose="020B0503030403020204" pitchFamily="34" charset="0"/>
              </a:rPr>
              <a:t>(aktuell gültig)</a:t>
            </a:r>
            <a:endParaRPr lang="de-DE" sz="1200" b="1" dirty="0">
              <a:latin typeface="Source Sans Pro" panose="020B0503030403020204" pitchFamily="34" charset="0"/>
            </a:endParaRPr>
          </a:p>
        </p:txBody>
      </p:sp>
    </p:spTree>
    <p:extLst>
      <p:ext uri="{BB962C8B-B14F-4D97-AF65-F5344CB8AC3E}">
        <p14:creationId xmlns:p14="http://schemas.microsoft.com/office/powerpoint/2010/main" val="909962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1:n-Relation </a:t>
            </a:r>
          </a:p>
          <a:p>
            <a:r>
              <a:rPr lang="de-DE" sz="4000" dirty="0"/>
              <a:t>	</a:t>
            </a:r>
          </a:p>
        </p:txBody>
      </p:sp>
    </p:spTree>
    <p:extLst>
      <p:ext uri="{BB962C8B-B14F-4D97-AF65-F5344CB8AC3E}">
        <p14:creationId xmlns:p14="http://schemas.microsoft.com/office/powerpoint/2010/main" val="8320482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smtClean="0">
                <a:solidFill>
                  <a:schemeClr val="accent2"/>
                </a:solidFill>
                <a:latin typeface="Source Sans Pro" panose="020B0503030403020204" pitchFamily="34" charset="0"/>
              </a:rPr>
              <a:t>1:n-Relation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655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Auto</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10" name="Raute 9"/>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0070C0"/>
                </a:solidFill>
                <a:effectLst/>
                <a:uLnTx/>
                <a:uFillTx/>
                <a:latin typeface="Source Sans Pro" panose="020B0503030403020204" pitchFamily="34" charset="0"/>
              </a:rPr>
              <a:t>Eigentum</a:t>
            </a:r>
            <a:endPar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stCxn id="10" idx="1"/>
          </p:cNvCxnSpPr>
          <p:nvPr/>
        </p:nvCxnSpPr>
        <p:spPr>
          <a:xfrm flipH="1" flipV="1">
            <a:off x="3536303" y="3680039"/>
            <a:ext cx="102738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68" name="Grafik 73" descr="Auto">
            <a:extLst>
              <a:ext uri="{FF2B5EF4-FFF2-40B4-BE49-F238E27FC236}">
                <a16:creationId xmlns:a16="http://schemas.microsoft.com/office/drawing/2014/main" id="{1AEFF017-8A38-40BE-A4E2-6EC89E547200}"/>
              </a:ext>
            </a:extLst>
          </p:cNvPr>
          <p:cNvGrpSpPr/>
          <p:nvPr/>
        </p:nvGrpSpPr>
        <p:grpSpPr>
          <a:xfrm>
            <a:off x="8444183" y="1646800"/>
            <a:ext cx="468333" cy="445345"/>
            <a:chOff x="1547117" y="2566864"/>
            <a:chExt cx="555469" cy="555469"/>
          </a:xfrm>
          <a:solidFill>
            <a:srgbClr val="0071B2"/>
          </a:solidFill>
        </p:grpSpPr>
        <p:sp>
          <p:nvSpPr>
            <p:cNvPr id="69"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0"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1"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72" name="Grafik 73" descr="Auto">
            <a:extLst>
              <a:ext uri="{FF2B5EF4-FFF2-40B4-BE49-F238E27FC236}">
                <a16:creationId xmlns:a16="http://schemas.microsoft.com/office/drawing/2014/main" id="{1AEFF017-8A38-40BE-A4E2-6EC89E547200}"/>
              </a:ext>
            </a:extLst>
          </p:cNvPr>
          <p:cNvGrpSpPr/>
          <p:nvPr/>
        </p:nvGrpSpPr>
        <p:grpSpPr>
          <a:xfrm>
            <a:off x="9190826" y="1999330"/>
            <a:ext cx="468333" cy="445345"/>
            <a:chOff x="1547117" y="2566864"/>
            <a:chExt cx="555469" cy="555469"/>
          </a:xfrm>
          <a:solidFill>
            <a:srgbClr val="0071B2"/>
          </a:solidFill>
        </p:grpSpPr>
        <p:sp>
          <p:nvSpPr>
            <p:cNvPr id="73"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4"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5"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76" name="Grafik 73" descr="Auto">
            <a:extLst>
              <a:ext uri="{FF2B5EF4-FFF2-40B4-BE49-F238E27FC236}">
                <a16:creationId xmlns:a16="http://schemas.microsoft.com/office/drawing/2014/main" id="{1AEFF017-8A38-40BE-A4E2-6EC89E547200}"/>
              </a:ext>
            </a:extLst>
          </p:cNvPr>
          <p:cNvGrpSpPr/>
          <p:nvPr/>
        </p:nvGrpSpPr>
        <p:grpSpPr>
          <a:xfrm>
            <a:off x="8503287" y="2386272"/>
            <a:ext cx="468333" cy="445345"/>
            <a:chOff x="1547117" y="2566864"/>
            <a:chExt cx="555469" cy="555469"/>
          </a:xfrm>
          <a:solidFill>
            <a:srgbClr val="0071B2"/>
          </a:solidFill>
        </p:grpSpPr>
        <p:sp>
          <p:nvSpPr>
            <p:cNvPr id="77"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8"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9"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0" name="Grafik 73" descr="Auto">
            <a:extLst>
              <a:ext uri="{FF2B5EF4-FFF2-40B4-BE49-F238E27FC236}">
                <a16:creationId xmlns:a16="http://schemas.microsoft.com/office/drawing/2014/main" id="{1AEFF017-8A38-40BE-A4E2-6EC89E547200}"/>
              </a:ext>
            </a:extLst>
          </p:cNvPr>
          <p:cNvGrpSpPr/>
          <p:nvPr/>
        </p:nvGrpSpPr>
        <p:grpSpPr>
          <a:xfrm>
            <a:off x="9478038" y="2784312"/>
            <a:ext cx="468333" cy="445345"/>
            <a:chOff x="1547117" y="2566864"/>
            <a:chExt cx="555469" cy="555469"/>
          </a:xfrm>
          <a:solidFill>
            <a:srgbClr val="0071B2"/>
          </a:solidFill>
        </p:grpSpPr>
        <p:sp>
          <p:nvSpPr>
            <p:cNvPr id="81"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2"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3"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4" name="Grafik 73" descr="Auto">
            <a:extLst>
              <a:ext uri="{FF2B5EF4-FFF2-40B4-BE49-F238E27FC236}">
                <a16:creationId xmlns:a16="http://schemas.microsoft.com/office/drawing/2014/main" id="{1AEFF017-8A38-40BE-A4E2-6EC89E547200}"/>
              </a:ext>
            </a:extLst>
          </p:cNvPr>
          <p:cNvGrpSpPr/>
          <p:nvPr/>
        </p:nvGrpSpPr>
        <p:grpSpPr>
          <a:xfrm>
            <a:off x="8982046" y="3281789"/>
            <a:ext cx="468333" cy="445345"/>
            <a:chOff x="1547117" y="2566864"/>
            <a:chExt cx="555469" cy="555469"/>
          </a:xfrm>
          <a:solidFill>
            <a:srgbClr val="0071B2"/>
          </a:solidFill>
        </p:grpSpPr>
        <p:sp>
          <p:nvSpPr>
            <p:cNvPr id="85"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6"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7"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8" name="Grafik 73" descr="Auto">
            <a:extLst>
              <a:ext uri="{FF2B5EF4-FFF2-40B4-BE49-F238E27FC236}">
                <a16:creationId xmlns:a16="http://schemas.microsoft.com/office/drawing/2014/main" id="{1AEFF017-8A38-40BE-A4E2-6EC89E547200}"/>
              </a:ext>
            </a:extLst>
          </p:cNvPr>
          <p:cNvGrpSpPr/>
          <p:nvPr/>
        </p:nvGrpSpPr>
        <p:grpSpPr>
          <a:xfrm>
            <a:off x="8425233" y="3717962"/>
            <a:ext cx="468333" cy="445345"/>
            <a:chOff x="1547117" y="2566864"/>
            <a:chExt cx="555469" cy="555469"/>
          </a:xfrm>
          <a:solidFill>
            <a:srgbClr val="0071B2"/>
          </a:solidFill>
        </p:grpSpPr>
        <p:sp>
          <p:nvSpPr>
            <p:cNvPr id="89"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0"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1"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92" name="Grafik 73" descr="Auto">
            <a:extLst>
              <a:ext uri="{FF2B5EF4-FFF2-40B4-BE49-F238E27FC236}">
                <a16:creationId xmlns:a16="http://schemas.microsoft.com/office/drawing/2014/main" id="{1AEFF017-8A38-40BE-A4E2-6EC89E547200}"/>
              </a:ext>
            </a:extLst>
          </p:cNvPr>
          <p:cNvGrpSpPr/>
          <p:nvPr/>
        </p:nvGrpSpPr>
        <p:grpSpPr>
          <a:xfrm>
            <a:off x="8874578" y="4279298"/>
            <a:ext cx="468333" cy="445345"/>
            <a:chOff x="1547117" y="2566864"/>
            <a:chExt cx="555469" cy="555469"/>
          </a:xfrm>
          <a:solidFill>
            <a:srgbClr val="0071B2"/>
          </a:solidFill>
        </p:grpSpPr>
        <p:sp>
          <p:nvSpPr>
            <p:cNvPr id="93"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4"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5"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96" name="Grafik 73" descr="Auto">
            <a:extLst>
              <a:ext uri="{FF2B5EF4-FFF2-40B4-BE49-F238E27FC236}">
                <a16:creationId xmlns:a16="http://schemas.microsoft.com/office/drawing/2014/main" id="{1AEFF017-8A38-40BE-A4E2-6EC89E547200}"/>
              </a:ext>
            </a:extLst>
          </p:cNvPr>
          <p:cNvGrpSpPr/>
          <p:nvPr/>
        </p:nvGrpSpPr>
        <p:grpSpPr>
          <a:xfrm>
            <a:off x="9688314" y="4833270"/>
            <a:ext cx="468333" cy="445345"/>
            <a:chOff x="1547117" y="2566864"/>
            <a:chExt cx="555469" cy="555469"/>
          </a:xfrm>
          <a:solidFill>
            <a:srgbClr val="0071B2"/>
          </a:solidFill>
        </p:grpSpPr>
        <p:sp>
          <p:nvSpPr>
            <p:cNvPr id="97"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8"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9"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34342207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smtClean="0">
                <a:solidFill>
                  <a:schemeClr val="accent2"/>
                </a:solidFill>
                <a:latin typeface="Source Sans Pro" panose="020B0503030403020204" pitchFamily="34" charset="0"/>
              </a:rPr>
              <a:t>1:n-Relation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655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Auto</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10" name="Raute 9"/>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0070C0"/>
                </a:solidFill>
                <a:effectLst/>
                <a:uLnTx/>
                <a:uFillTx/>
                <a:latin typeface="Source Sans Pro" panose="020B0503030403020204" pitchFamily="34" charset="0"/>
              </a:rPr>
              <a:t>Eigentum</a:t>
            </a:r>
            <a:endPar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stCxn id="10" idx="1"/>
          </p:cNvCxnSpPr>
          <p:nvPr/>
        </p:nvCxnSpPr>
        <p:spPr>
          <a:xfrm flipH="1" flipV="1">
            <a:off x="3536303" y="3680039"/>
            <a:ext cx="102738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68" name="Grafik 73" descr="Auto">
            <a:extLst>
              <a:ext uri="{FF2B5EF4-FFF2-40B4-BE49-F238E27FC236}">
                <a16:creationId xmlns:a16="http://schemas.microsoft.com/office/drawing/2014/main" id="{1AEFF017-8A38-40BE-A4E2-6EC89E547200}"/>
              </a:ext>
            </a:extLst>
          </p:cNvPr>
          <p:cNvGrpSpPr/>
          <p:nvPr/>
        </p:nvGrpSpPr>
        <p:grpSpPr>
          <a:xfrm>
            <a:off x="8444183" y="1646800"/>
            <a:ext cx="468333" cy="445345"/>
            <a:chOff x="1547117" y="2566864"/>
            <a:chExt cx="555469" cy="555469"/>
          </a:xfrm>
          <a:solidFill>
            <a:srgbClr val="0071B2"/>
          </a:solidFill>
        </p:grpSpPr>
        <p:sp>
          <p:nvSpPr>
            <p:cNvPr id="69"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0"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1"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72" name="Grafik 73" descr="Auto">
            <a:extLst>
              <a:ext uri="{FF2B5EF4-FFF2-40B4-BE49-F238E27FC236}">
                <a16:creationId xmlns:a16="http://schemas.microsoft.com/office/drawing/2014/main" id="{1AEFF017-8A38-40BE-A4E2-6EC89E547200}"/>
              </a:ext>
            </a:extLst>
          </p:cNvPr>
          <p:cNvGrpSpPr/>
          <p:nvPr/>
        </p:nvGrpSpPr>
        <p:grpSpPr>
          <a:xfrm>
            <a:off x="9190826" y="1999330"/>
            <a:ext cx="468333" cy="445345"/>
            <a:chOff x="1547117" y="2566864"/>
            <a:chExt cx="555469" cy="555469"/>
          </a:xfrm>
          <a:solidFill>
            <a:srgbClr val="0071B2"/>
          </a:solidFill>
        </p:grpSpPr>
        <p:sp>
          <p:nvSpPr>
            <p:cNvPr id="73"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4"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5"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76" name="Grafik 73" descr="Auto">
            <a:extLst>
              <a:ext uri="{FF2B5EF4-FFF2-40B4-BE49-F238E27FC236}">
                <a16:creationId xmlns:a16="http://schemas.microsoft.com/office/drawing/2014/main" id="{1AEFF017-8A38-40BE-A4E2-6EC89E547200}"/>
              </a:ext>
            </a:extLst>
          </p:cNvPr>
          <p:cNvGrpSpPr/>
          <p:nvPr/>
        </p:nvGrpSpPr>
        <p:grpSpPr>
          <a:xfrm>
            <a:off x="8497682" y="2462392"/>
            <a:ext cx="468333" cy="445345"/>
            <a:chOff x="1547117" y="2566864"/>
            <a:chExt cx="555469" cy="555469"/>
          </a:xfrm>
          <a:solidFill>
            <a:srgbClr val="0071B2"/>
          </a:solidFill>
        </p:grpSpPr>
        <p:sp>
          <p:nvSpPr>
            <p:cNvPr id="77"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8"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9"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0" name="Grafik 73" descr="Auto">
            <a:extLst>
              <a:ext uri="{FF2B5EF4-FFF2-40B4-BE49-F238E27FC236}">
                <a16:creationId xmlns:a16="http://schemas.microsoft.com/office/drawing/2014/main" id="{1AEFF017-8A38-40BE-A4E2-6EC89E547200}"/>
              </a:ext>
            </a:extLst>
          </p:cNvPr>
          <p:cNvGrpSpPr/>
          <p:nvPr/>
        </p:nvGrpSpPr>
        <p:grpSpPr>
          <a:xfrm>
            <a:off x="9478038" y="2784312"/>
            <a:ext cx="468333" cy="445345"/>
            <a:chOff x="1547117" y="2566864"/>
            <a:chExt cx="555469" cy="555469"/>
          </a:xfrm>
          <a:solidFill>
            <a:srgbClr val="0071B2"/>
          </a:solidFill>
        </p:grpSpPr>
        <p:sp>
          <p:nvSpPr>
            <p:cNvPr id="81"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2"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3"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4" name="Grafik 73" descr="Auto">
            <a:extLst>
              <a:ext uri="{FF2B5EF4-FFF2-40B4-BE49-F238E27FC236}">
                <a16:creationId xmlns:a16="http://schemas.microsoft.com/office/drawing/2014/main" id="{1AEFF017-8A38-40BE-A4E2-6EC89E547200}"/>
              </a:ext>
            </a:extLst>
          </p:cNvPr>
          <p:cNvGrpSpPr/>
          <p:nvPr/>
        </p:nvGrpSpPr>
        <p:grpSpPr>
          <a:xfrm>
            <a:off x="8982046" y="3281789"/>
            <a:ext cx="468333" cy="445345"/>
            <a:chOff x="1547117" y="2566864"/>
            <a:chExt cx="555469" cy="555469"/>
          </a:xfrm>
          <a:solidFill>
            <a:srgbClr val="0071B2"/>
          </a:solidFill>
        </p:grpSpPr>
        <p:sp>
          <p:nvSpPr>
            <p:cNvPr id="85"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6"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7"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8" name="Grafik 73" descr="Auto">
            <a:extLst>
              <a:ext uri="{FF2B5EF4-FFF2-40B4-BE49-F238E27FC236}">
                <a16:creationId xmlns:a16="http://schemas.microsoft.com/office/drawing/2014/main" id="{1AEFF017-8A38-40BE-A4E2-6EC89E547200}"/>
              </a:ext>
            </a:extLst>
          </p:cNvPr>
          <p:cNvGrpSpPr/>
          <p:nvPr/>
        </p:nvGrpSpPr>
        <p:grpSpPr>
          <a:xfrm>
            <a:off x="8425233" y="3717962"/>
            <a:ext cx="468333" cy="445345"/>
            <a:chOff x="1547117" y="2566864"/>
            <a:chExt cx="555469" cy="555469"/>
          </a:xfrm>
          <a:solidFill>
            <a:srgbClr val="0071B2"/>
          </a:solidFill>
        </p:grpSpPr>
        <p:sp>
          <p:nvSpPr>
            <p:cNvPr id="89"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0"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1"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92" name="Grafik 73" descr="Auto">
            <a:extLst>
              <a:ext uri="{FF2B5EF4-FFF2-40B4-BE49-F238E27FC236}">
                <a16:creationId xmlns:a16="http://schemas.microsoft.com/office/drawing/2014/main" id="{1AEFF017-8A38-40BE-A4E2-6EC89E547200}"/>
              </a:ext>
            </a:extLst>
          </p:cNvPr>
          <p:cNvGrpSpPr/>
          <p:nvPr/>
        </p:nvGrpSpPr>
        <p:grpSpPr>
          <a:xfrm>
            <a:off x="8874578" y="4279298"/>
            <a:ext cx="468333" cy="445345"/>
            <a:chOff x="1547117" y="2566864"/>
            <a:chExt cx="555469" cy="555469"/>
          </a:xfrm>
          <a:solidFill>
            <a:srgbClr val="0071B2"/>
          </a:solidFill>
        </p:grpSpPr>
        <p:sp>
          <p:nvSpPr>
            <p:cNvPr id="93"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4"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5"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96" name="Grafik 73" descr="Auto">
            <a:extLst>
              <a:ext uri="{FF2B5EF4-FFF2-40B4-BE49-F238E27FC236}">
                <a16:creationId xmlns:a16="http://schemas.microsoft.com/office/drawing/2014/main" id="{1AEFF017-8A38-40BE-A4E2-6EC89E547200}"/>
              </a:ext>
            </a:extLst>
          </p:cNvPr>
          <p:cNvGrpSpPr/>
          <p:nvPr/>
        </p:nvGrpSpPr>
        <p:grpSpPr>
          <a:xfrm>
            <a:off x="9688314" y="4833270"/>
            <a:ext cx="468333" cy="445345"/>
            <a:chOff x="1547117" y="2566864"/>
            <a:chExt cx="555469" cy="555469"/>
          </a:xfrm>
          <a:solidFill>
            <a:srgbClr val="0071B2"/>
          </a:solidFill>
        </p:grpSpPr>
        <p:sp>
          <p:nvSpPr>
            <p:cNvPr id="97"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8"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9"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cxnSp>
        <p:nvCxnSpPr>
          <p:cNvPr id="104" name="Gerader Verbinder 103"/>
          <p:cNvCxnSpPr/>
          <p:nvPr/>
        </p:nvCxnSpPr>
        <p:spPr>
          <a:xfrm flipH="1">
            <a:off x="2887437" y="1824790"/>
            <a:ext cx="5483480" cy="118503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 name="Gerader Verbinder 104"/>
          <p:cNvCxnSpPr/>
          <p:nvPr/>
        </p:nvCxnSpPr>
        <p:spPr>
          <a:xfrm flipH="1">
            <a:off x="2887437" y="2256155"/>
            <a:ext cx="6221308" cy="75367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6" name="Gerader Verbinder 105"/>
          <p:cNvCxnSpPr/>
          <p:nvPr/>
        </p:nvCxnSpPr>
        <p:spPr>
          <a:xfrm flipH="1" flipV="1">
            <a:off x="2887437" y="3009829"/>
            <a:ext cx="6512547" cy="1"/>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7" name="Gerader Verbinder 106"/>
          <p:cNvCxnSpPr/>
          <p:nvPr/>
        </p:nvCxnSpPr>
        <p:spPr>
          <a:xfrm flipH="1">
            <a:off x="3009900" y="4492768"/>
            <a:ext cx="5785532" cy="66523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8" name="Gerader Verbinder 107"/>
          <p:cNvCxnSpPr/>
          <p:nvPr/>
        </p:nvCxnSpPr>
        <p:spPr>
          <a:xfrm flipH="1">
            <a:off x="3009900" y="5047942"/>
            <a:ext cx="6585220" cy="11005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0" name="Textfeld 99"/>
          <p:cNvSpPr txBox="1"/>
          <p:nvPr/>
        </p:nvSpPr>
        <p:spPr>
          <a:xfrm>
            <a:off x="117890" y="5586627"/>
            <a:ext cx="4225837" cy="369332"/>
          </a:xfrm>
          <a:prstGeom prst="rect">
            <a:avLst/>
          </a:prstGeom>
          <a:noFill/>
        </p:spPr>
        <p:txBody>
          <a:bodyPr wrap="none" rtlCol="0">
            <a:spAutoFit/>
          </a:bodyPr>
          <a:lstStyle/>
          <a:p>
            <a:r>
              <a:rPr lang="de-DE" dirty="0" smtClean="0">
                <a:latin typeface="Source Sans Pro" panose="020B0503030403020204" pitchFamily="34" charset="0"/>
              </a:rPr>
              <a:t>Eine Person </a:t>
            </a:r>
            <a:r>
              <a:rPr lang="de-DE" u="sng" dirty="0" smtClean="0">
                <a:latin typeface="Source Sans Pro" panose="020B0503030403020204" pitchFamily="34" charset="0"/>
              </a:rPr>
              <a:t>kann</a:t>
            </a:r>
            <a:r>
              <a:rPr lang="de-DE" dirty="0" smtClean="0">
                <a:latin typeface="Source Sans Pro" panose="020B0503030403020204" pitchFamily="34" charset="0"/>
              </a:rPr>
              <a:t> </a:t>
            </a:r>
            <a:r>
              <a:rPr lang="de-DE" b="1" dirty="0" smtClean="0">
                <a:solidFill>
                  <a:schemeClr val="accent2"/>
                </a:solidFill>
                <a:latin typeface="Source Sans Pro" panose="020B0503030403020204" pitchFamily="34" charset="0"/>
              </a:rPr>
              <a:t>mehrere</a:t>
            </a:r>
            <a:r>
              <a:rPr lang="de-DE" dirty="0" smtClean="0">
                <a:latin typeface="Source Sans Pro" panose="020B0503030403020204" pitchFamily="34" charset="0"/>
              </a:rPr>
              <a:t> Autos besitzen</a:t>
            </a:r>
            <a:endParaRPr lang="de-DE" dirty="0">
              <a:latin typeface="Source Sans Pro" panose="020B0503030403020204" pitchFamily="34" charset="0"/>
            </a:endParaRPr>
          </a:p>
        </p:txBody>
      </p:sp>
      <p:sp>
        <p:nvSpPr>
          <p:cNvPr id="101" name="Textfeld 100"/>
          <p:cNvSpPr txBox="1"/>
          <p:nvPr/>
        </p:nvSpPr>
        <p:spPr>
          <a:xfrm>
            <a:off x="7502985" y="5589629"/>
            <a:ext cx="3785011" cy="369332"/>
          </a:xfrm>
          <a:prstGeom prst="rect">
            <a:avLst/>
          </a:prstGeom>
          <a:noFill/>
        </p:spPr>
        <p:txBody>
          <a:bodyPr wrap="none" rtlCol="0">
            <a:spAutoFit/>
          </a:bodyPr>
          <a:lstStyle/>
          <a:p>
            <a:r>
              <a:rPr lang="de-DE" dirty="0" smtClean="0">
                <a:latin typeface="Source Sans Pro" panose="020B0503030403020204" pitchFamily="34" charset="0"/>
              </a:rPr>
              <a:t>Ein Auto hat </a:t>
            </a:r>
            <a:r>
              <a:rPr lang="de-DE" b="1" dirty="0" smtClean="0">
                <a:solidFill>
                  <a:schemeClr val="accent2"/>
                </a:solidFill>
                <a:latin typeface="Source Sans Pro" panose="020B0503030403020204" pitchFamily="34" charset="0"/>
              </a:rPr>
              <a:t>höchstens 1</a:t>
            </a:r>
            <a:r>
              <a:rPr lang="de-DE" dirty="0" smtClean="0">
                <a:latin typeface="Source Sans Pro" panose="020B0503030403020204" pitchFamily="34" charset="0"/>
              </a:rPr>
              <a:t> Eigentümer</a:t>
            </a:r>
            <a:endParaRPr lang="de-DE" dirty="0">
              <a:latin typeface="Source Sans Pro" panose="020B0503030403020204" pitchFamily="34" charset="0"/>
            </a:endParaRPr>
          </a:p>
        </p:txBody>
      </p:sp>
    </p:spTree>
    <p:extLst>
      <p:ext uri="{BB962C8B-B14F-4D97-AF65-F5344CB8AC3E}">
        <p14:creationId xmlns:p14="http://schemas.microsoft.com/office/powerpoint/2010/main" val="7140714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smtClean="0">
                <a:solidFill>
                  <a:schemeClr val="accent2"/>
                </a:solidFill>
                <a:latin typeface="Source Sans Pro" panose="020B0503030403020204" pitchFamily="34" charset="0"/>
              </a:rPr>
              <a:t>1:n-Relation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655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Auto</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10" name="Raute 9"/>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0070C0"/>
                </a:solidFill>
                <a:effectLst/>
                <a:uLnTx/>
                <a:uFillTx/>
                <a:latin typeface="Source Sans Pro" panose="020B0503030403020204" pitchFamily="34" charset="0"/>
              </a:rPr>
              <a:t>Eigentum</a:t>
            </a:r>
            <a:endPar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stCxn id="10" idx="1"/>
          </p:cNvCxnSpPr>
          <p:nvPr/>
        </p:nvCxnSpPr>
        <p:spPr>
          <a:xfrm flipH="1" flipV="1">
            <a:off x="3536303" y="3680039"/>
            <a:ext cx="102738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68" name="Grafik 73" descr="Auto">
            <a:extLst>
              <a:ext uri="{FF2B5EF4-FFF2-40B4-BE49-F238E27FC236}">
                <a16:creationId xmlns:a16="http://schemas.microsoft.com/office/drawing/2014/main" id="{1AEFF017-8A38-40BE-A4E2-6EC89E547200}"/>
              </a:ext>
            </a:extLst>
          </p:cNvPr>
          <p:cNvGrpSpPr/>
          <p:nvPr/>
        </p:nvGrpSpPr>
        <p:grpSpPr>
          <a:xfrm>
            <a:off x="8444183" y="1646800"/>
            <a:ext cx="468333" cy="445345"/>
            <a:chOff x="1547117" y="2566864"/>
            <a:chExt cx="555469" cy="555469"/>
          </a:xfrm>
          <a:solidFill>
            <a:srgbClr val="0071B2"/>
          </a:solidFill>
        </p:grpSpPr>
        <p:sp>
          <p:nvSpPr>
            <p:cNvPr id="69"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0"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1"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72" name="Grafik 73" descr="Auto">
            <a:extLst>
              <a:ext uri="{FF2B5EF4-FFF2-40B4-BE49-F238E27FC236}">
                <a16:creationId xmlns:a16="http://schemas.microsoft.com/office/drawing/2014/main" id="{1AEFF017-8A38-40BE-A4E2-6EC89E547200}"/>
              </a:ext>
            </a:extLst>
          </p:cNvPr>
          <p:cNvGrpSpPr/>
          <p:nvPr/>
        </p:nvGrpSpPr>
        <p:grpSpPr>
          <a:xfrm>
            <a:off x="9190826" y="1999330"/>
            <a:ext cx="468333" cy="445345"/>
            <a:chOff x="1547117" y="2566864"/>
            <a:chExt cx="555469" cy="555469"/>
          </a:xfrm>
          <a:solidFill>
            <a:srgbClr val="0071B2"/>
          </a:solidFill>
        </p:grpSpPr>
        <p:sp>
          <p:nvSpPr>
            <p:cNvPr id="73"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4"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5"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76" name="Grafik 73" descr="Auto">
            <a:extLst>
              <a:ext uri="{FF2B5EF4-FFF2-40B4-BE49-F238E27FC236}">
                <a16:creationId xmlns:a16="http://schemas.microsoft.com/office/drawing/2014/main" id="{1AEFF017-8A38-40BE-A4E2-6EC89E547200}"/>
              </a:ext>
            </a:extLst>
          </p:cNvPr>
          <p:cNvGrpSpPr/>
          <p:nvPr/>
        </p:nvGrpSpPr>
        <p:grpSpPr>
          <a:xfrm>
            <a:off x="8497682" y="2462392"/>
            <a:ext cx="468333" cy="445345"/>
            <a:chOff x="1547117" y="2566864"/>
            <a:chExt cx="555469" cy="555469"/>
          </a:xfrm>
          <a:solidFill>
            <a:srgbClr val="0071B2"/>
          </a:solidFill>
        </p:grpSpPr>
        <p:sp>
          <p:nvSpPr>
            <p:cNvPr id="77"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8"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9"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0" name="Grafik 73" descr="Auto">
            <a:extLst>
              <a:ext uri="{FF2B5EF4-FFF2-40B4-BE49-F238E27FC236}">
                <a16:creationId xmlns:a16="http://schemas.microsoft.com/office/drawing/2014/main" id="{1AEFF017-8A38-40BE-A4E2-6EC89E547200}"/>
              </a:ext>
            </a:extLst>
          </p:cNvPr>
          <p:cNvGrpSpPr/>
          <p:nvPr/>
        </p:nvGrpSpPr>
        <p:grpSpPr>
          <a:xfrm>
            <a:off x="9478038" y="2784312"/>
            <a:ext cx="468333" cy="445345"/>
            <a:chOff x="1547117" y="2566864"/>
            <a:chExt cx="555469" cy="555469"/>
          </a:xfrm>
          <a:solidFill>
            <a:srgbClr val="0071B2"/>
          </a:solidFill>
        </p:grpSpPr>
        <p:sp>
          <p:nvSpPr>
            <p:cNvPr id="81"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2"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3"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4" name="Grafik 73" descr="Auto">
            <a:extLst>
              <a:ext uri="{FF2B5EF4-FFF2-40B4-BE49-F238E27FC236}">
                <a16:creationId xmlns:a16="http://schemas.microsoft.com/office/drawing/2014/main" id="{1AEFF017-8A38-40BE-A4E2-6EC89E547200}"/>
              </a:ext>
            </a:extLst>
          </p:cNvPr>
          <p:cNvGrpSpPr/>
          <p:nvPr/>
        </p:nvGrpSpPr>
        <p:grpSpPr>
          <a:xfrm>
            <a:off x="8982046" y="3281789"/>
            <a:ext cx="468333" cy="445345"/>
            <a:chOff x="1547117" y="2566864"/>
            <a:chExt cx="555469" cy="555469"/>
          </a:xfrm>
          <a:solidFill>
            <a:srgbClr val="0071B2"/>
          </a:solidFill>
        </p:grpSpPr>
        <p:sp>
          <p:nvSpPr>
            <p:cNvPr id="85"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6"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7"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8" name="Grafik 73" descr="Auto">
            <a:extLst>
              <a:ext uri="{FF2B5EF4-FFF2-40B4-BE49-F238E27FC236}">
                <a16:creationId xmlns:a16="http://schemas.microsoft.com/office/drawing/2014/main" id="{1AEFF017-8A38-40BE-A4E2-6EC89E547200}"/>
              </a:ext>
            </a:extLst>
          </p:cNvPr>
          <p:cNvGrpSpPr/>
          <p:nvPr/>
        </p:nvGrpSpPr>
        <p:grpSpPr>
          <a:xfrm>
            <a:off x="8425233" y="3717962"/>
            <a:ext cx="468333" cy="445345"/>
            <a:chOff x="1547117" y="2566864"/>
            <a:chExt cx="555469" cy="555469"/>
          </a:xfrm>
          <a:solidFill>
            <a:srgbClr val="0071B2"/>
          </a:solidFill>
        </p:grpSpPr>
        <p:sp>
          <p:nvSpPr>
            <p:cNvPr id="89"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0"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1"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92" name="Grafik 73" descr="Auto">
            <a:extLst>
              <a:ext uri="{FF2B5EF4-FFF2-40B4-BE49-F238E27FC236}">
                <a16:creationId xmlns:a16="http://schemas.microsoft.com/office/drawing/2014/main" id="{1AEFF017-8A38-40BE-A4E2-6EC89E547200}"/>
              </a:ext>
            </a:extLst>
          </p:cNvPr>
          <p:cNvGrpSpPr/>
          <p:nvPr/>
        </p:nvGrpSpPr>
        <p:grpSpPr>
          <a:xfrm>
            <a:off x="8874578" y="4279298"/>
            <a:ext cx="468333" cy="445345"/>
            <a:chOff x="1547117" y="2566864"/>
            <a:chExt cx="555469" cy="555469"/>
          </a:xfrm>
          <a:solidFill>
            <a:srgbClr val="0071B2"/>
          </a:solidFill>
        </p:grpSpPr>
        <p:sp>
          <p:nvSpPr>
            <p:cNvPr id="93"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4"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5"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96" name="Grafik 73" descr="Auto">
            <a:extLst>
              <a:ext uri="{FF2B5EF4-FFF2-40B4-BE49-F238E27FC236}">
                <a16:creationId xmlns:a16="http://schemas.microsoft.com/office/drawing/2014/main" id="{1AEFF017-8A38-40BE-A4E2-6EC89E547200}"/>
              </a:ext>
            </a:extLst>
          </p:cNvPr>
          <p:cNvGrpSpPr/>
          <p:nvPr/>
        </p:nvGrpSpPr>
        <p:grpSpPr>
          <a:xfrm>
            <a:off x="9688314" y="4833270"/>
            <a:ext cx="468333" cy="445345"/>
            <a:chOff x="1547117" y="2566864"/>
            <a:chExt cx="555469" cy="555469"/>
          </a:xfrm>
          <a:solidFill>
            <a:srgbClr val="0071B2"/>
          </a:solidFill>
        </p:grpSpPr>
        <p:sp>
          <p:nvSpPr>
            <p:cNvPr id="97"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8"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9"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cxnSp>
        <p:nvCxnSpPr>
          <p:cNvPr id="104" name="Gerader Verbinder 103"/>
          <p:cNvCxnSpPr/>
          <p:nvPr/>
        </p:nvCxnSpPr>
        <p:spPr>
          <a:xfrm flipH="1">
            <a:off x="2887437" y="1824790"/>
            <a:ext cx="5483480" cy="11850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Gerader Verbinder 104"/>
          <p:cNvCxnSpPr/>
          <p:nvPr/>
        </p:nvCxnSpPr>
        <p:spPr>
          <a:xfrm flipH="1">
            <a:off x="2887437" y="2256155"/>
            <a:ext cx="6221308" cy="753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Gerader Verbinder 105"/>
          <p:cNvCxnSpPr/>
          <p:nvPr/>
        </p:nvCxnSpPr>
        <p:spPr>
          <a:xfrm flipH="1" flipV="1">
            <a:off x="2887437" y="3009829"/>
            <a:ext cx="6512547"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Gerader Verbinder 106"/>
          <p:cNvCxnSpPr/>
          <p:nvPr/>
        </p:nvCxnSpPr>
        <p:spPr>
          <a:xfrm flipH="1">
            <a:off x="3009900" y="4492768"/>
            <a:ext cx="5785532" cy="6652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Gerader Verbinder 107"/>
          <p:cNvCxnSpPr/>
          <p:nvPr/>
        </p:nvCxnSpPr>
        <p:spPr>
          <a:xfrm flipH="1">
            <a:off x="3009900" y="5047942"/>
            <a:ext cx="6585220" cy="1100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Textfeld 99"/>
          <p:cNvSpPr txBox="1"/>
          <p:nvPr/>
        </p:nvSpPr>
        <p:spPr>
          <a:xfrm>
            <a:off x="117890" y="5586627"/>
            <a:ext cx="4910832" cy="369332"/>
          </a:xfrm>
          <a:prstGeom prst="rect">
            <a:avLst/>
          </a:prstGeom>
          <a:noFill/>
        </p:spPr>
        <p:txBody>
          <a:bodyPr wrap="none" rtlCol="0">
            <a:spAutoFit/>
          </a:bodyPr>
          <a:lstStyle/>
          <a:p>
            <a:r>
              <a:rPr lang="de-DE" dirty="0" smtClean="0">
                <a:latin typeface="Source Sans Pro" panose="020B0503030403020204" pitchFamily="34" charset="0"/>
              </a:rPr>
              <a:t>Es kann Personen geben, die </a:t>
            </a:r>
            <a:r>
              <a:rPr lang="de-DE" b="1" dirty="0" smtClean="0">
                <a:solidFill>
                  <a:schemeClr val="accent2"/>
                </a:solidFill>
                <a:latin typeface="Source Sans Pro" panose="020B0503030403020204" pitchFamily="34" charset="0"/>
              </a:rPr>
              <a:t>nur 1 </a:t>
            </a:r>
            <a:r>
              <a:rPr lang="de-DE" dirty="0" smtClean="0">
                <a:latin typeface="Source Sans Pro" panose="020B0503030403020204" pitchFamily="34" charset="0"/>
              </a:rPr>
              <a:t>Auto besitzen</a:t>
            </a:r>
            <a:endParaRPr lang="de-DE" dirty="0">
              <a:latin typeface="Source Sans Pro" panose="020B0503030403020204" pitchFamily="34" charset="0"/>
            </a:endParaRPr>
          </a:p>
        </p:txBody>
      </p:sp>
      <p:cxnSp>
        <p:nvCxnSpPr>
          <p:cNvPr id="102" name="Gerader Verbinder 101"/>
          <p:cNvCxnSpPr/>
          <p:nvPr/>
        </p:nvCxnSpPr>
        <p:spPr>
          <a:xfrm flipH="1">
            <a:off x="2829232" y="3944338"/>
            <a:ext cx="5541685" cy="308391"/>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06419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smtClean="0">
                <a:solidFill>
                  <a:schemeClr val="accent2"/>
                </a:solidFill>
                <a:latin typeface="Source Sans Pro" panose="020B0503030403020204" pitchFamily="34" charset="0"/>
              </a:rPr>
              <a:t>1:n-Relation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655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Auto</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10" name="Raute 9"/>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0070C0"/>
                </a:solidFill>
                <a:effectLst/>
                <a:uLnTx/>
                <a:uFillTx/>
                <a:latin typeface="Calibri" panose="020F0502020204030204"/>
                <a:ea typeface="+mn-ea"/>
                <a:cs typeface="+mn-cs"/>
              </a:rPr>
              <a:t>Eigentum</a:t>
            </a:r>
            <a:endParaRPr kumimoji="0" lang="de-DE" sz="18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p:cxnSp>
        <p:nvCxnSpPr>
          <p:cNvPr id="13" name="Gerader Verbinder 12"/>
          <p:cNvCxnSpPr>
            <a:stCxn id="10" idx="1"/>
          </p:cNvCxnSpPr>
          <p:nvPr/>
        </p:nvCxnSpPr>
        <p:spPr>
          <a:xfrm flipH="1" flipV="1">
            <a:off x="3536303" y="3680039"/>
            <a:ext cx="102738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68" name="Grafik 73" descr="Auto">
            <a:extLst>
              <a:ext uri="{FF2B5EF4-FFF2-40B4-BE49-F238E27FC236}">
                <a16:creationId xmlns:a16="http://schemas.microsoft.com/office/drawing/2014/main" id="{1AEFF017-8A38-40BE-A4E2-6EC89E547200}"/>
              </a:ext>
            </a:extLst>
          </p:cNvPr>
          <p:cNvGrpSpPr/>
          <p:nvPr/>
        </p:nvGrpSpPr>
        <p:grpSpPr>
          <a:xfrm>
            <a:off x="8444183" y="1646800"/>
            <a:ext cx="468333" cy="445345"/>
            <a:chOff x="1547117" y="2566864"/>
            <a:chExt cx="555469" cy="555469"/>
          </a:xfrm>
          <a:solidFill>
            <a:srgbClr val="0071B2"/>
          </a:solidFill>
        </p:grpSpPr>
        <p:sp>
          <p:nvSpPr>
            <p:cNvPr id="69"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0"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1"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72" name="Grafik 73" descr="Auto">
            <a:extLst>
              <a:ext uri="{FF2B5EF4-FFF2-40B4-BE49-F238E27FC236}">
                <a16:creationId xmlns:a16="http://schemas.microsoft.com/office/drawing/2014/main" id="{1AEFF017-8A38-40BE-A4E2-6EC89E547200}"/>
              </a:ext>
            </a:extLst>
          </p:cNvPr>
          <p:cNvGrpSpPr/>
          <p:nvPr/>
        </p:nvGrpSpPr>
        <p:grpSpPr>
          <a:xfrm>
            <a:off x="9190826" y="1999330"/>
            <a:ext cx="468333" cy="445345"/>
            <a:chOff x="1547117" y="2566864"/>
            <a:chExt cx="555469" cy="555469"/>
          </a:xfrm>
          <a:solidFill>
            <a:srgbClr val="0071B2"/>
          </a:solidFill>
        </p:grpSpPr>
        <p:sp>
          <p:nvSpPr>
            <p:cNvPr id="73"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4"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5"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76" name="Grafik 73" descr="Auto">
            <a:extLst>
              <a:ext uri="{FF2B5EF4-FFF2-40B4-BE49-F238E27FC236}">
                <a16:creationId xmlns:a16="http://schemas.microsoft.com/office/drawing/2014/main" id="{1AEFF017-8A38-40BE-A4E2-6EC89E547200}"/>
              </a:ext>
            </a:extLst>
          </p:cNvPr>
          <p:cNvGrpSpPr/>
          <p:nvPr/>
        </p:nvGrpSpPr>
        <p:grpSpPr>
          <a:xfrm>
            <a:off x="8497682" y="2462392"/>
            <a:ext cx="468333" cy="445345"/>
            <a:chOff x="1547117" y="2566864"/>
            <a:chExt cx="555469" cy="555469"/>
          </a:xfrm>
          <a:solidFill>
            <a:srgbClr val="0071B2"/>
          </a:solidFill>
        </p:grpSpPr>
        <p:sp>
          <p:nvSpPr>
            <p:cNvPr id="77"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8"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79"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0" name="Grafik 73" descr="Auto">
            <a:extLst>
              <a:ext uri="{FF2B5EF4-FFF2-40B4-BE49-F238E27FC236}">
                <a16:creationId xmlns:a16="http://schemas.microsoft.com/office/drawing/2014/main" id="{1AEFF017-8A38-40BE-A4E2-6EC89E547200}"/>
              </a:ext>
            </a:extLst>
          </p:cNvPr>
          <p:cNvGrpSpPr/>
          <p:nvPr/>
        </p:nvGrpSpPr>
        <p:grpSpPr>
          <a:xfrm>
            <a:off x="9478038" y="2784312"/>
            <a:ext cx="468333" cy="445345"/>
            <a:chOff x="1547117" y="2566864"/>
            <a:chExt cx="555469" cy="555469"/>
          </a:xfrm>
          <a:solidFill>
            <a:srgbClr val="0071B2"/>
          </a:solidFill>
        </p:grpSpPr>
        <p:sp>
          <p:nvSpPr>
            <p:cNvPr id="81"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2"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3"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4" name="Grafik 73" descr="Auto">
            <a:extLst>
              <a:ext uri="{FF2B5EF4-FFF2-40B4-BE49-F238E27FC236}">
                <a16:creationId xmlns:a16="http://schemas.microsoft.com/office/drawing/2014/main" id="{1AEFF017-8A38-40BE-A4E2-6EC89E547200}"/>
              </a:ext>
            </a:extLst>
          </p:cNvPr>
          <p:cNvGrpSpPr/>
          <p:nvPr/>
        </p:nvGrpSpPr>
        <p:grpSpPr>
          <a:xfrm>
            <a:off x="8982046" y="3281789"/>
            <a:ext cx="468333" cy="445345"/>
            <a:chOff x="1547117" y="2566864"/>
            <a:chExt cx="555469" cy="555469"/>
          </a:xfrm>
          <a:solidFill>
            <a:srgbClr val="0071B2"/>
          </a:solidFill>
        </p:grpSpPr>
        <p:sp>
          <p:nvSpPr>
            <p:cNvPr id="85"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6"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87"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88" name="Grafik 73" descr="Auto">
            <a:extLst>
              <a:ext uri="{FF2B5EF4-FFF2-40B4-BE49-F238E27FC236}">
                <a16:creationId xmlns:a16="http://schemas.microsoft.com/office/drawing/2014/main" id="{1AEFF017-8A38-40BE-A4E2-6EC89E547200}"/>
              </a:ext>
            </a:extLst>
          </p:cNvPr>
          <p:cNvGrpSpPr/>
          <p:nvPr/>
        </p:nvGrpSpPr>
        <p:grpSpPr>
          <a:xfrm>
            <a:off x="8425233" y="3717962"/>
            <a:ext cx="468333" cy="445345"/>
            <a:chOff x="1547117" y="2566864"/>
            <a:chExt cx="555469" cy="555469"/>
          </a:xfrm>
          <a:solidFill>
            <a:srgbClr val="0071B2"/>
          </a:solidFill>
        </p:grpSpPr>
        <p:sp>
          <p:nvSpPr>
            <p:cNvPr id="89"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0"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1"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92" name="Grafik 73" descr="Auto">
            <a:extLst>
              <a:ext uri="{FF2B5EF4-FFF2-40B4-BE49-F238E27FC236}">
                <a16:creationId xmlns:a16="http://schemas.microsoft.com/office/drawing/2014/main" id="{1AEFF017-8A38-40BE-A4E2-6EC89E547200}"/>
              </a:ext>
            </a:extLst>
          </p:cNvPr>
          <p:cNvGrpSpPr/>
          <p:nvPr/>
        </p:nvGrpSpPr>
        <p:grpSpPr>
          <a:xfrm>
            <a:off x="8874578" y="4279298"/>
            <a:ext cx="468333" cy="445345"/>
            <a:chOff x="1547117" y="2566864"/>
            <a:chExt cx="555469" cy="555469"/>
          </a:xfrm>
          <a:solidFill>
            <a:srgbClr val="0071B2"/>
          </a:solidFill>
        </p:grpSpPr>
        <p:sp>
          <p:nvSpPr>
            <p:cNvPr id="93"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4"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5"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grpSp>
        <p:nvGrpSpPr>
          <p:cNvPr id="96" name="Grafik 73" descr="Auto">
            <a:extLst>
              <a:ext uri="{FF2B5EF4-FFF2-40B4-BE49-F238E27FC236}">
                <a16:creationId xmlns:a16="http://schemas.microsoft.com/office/drawing/2014/main" id="{1AEFF017-8A38-40BE-A4E2-6EC89E547200}"/>
              </a:ext>
            </a:extLst>
          </p:cNvPr>
          <p:cNvGrpSpPr/>
          <p:nvPr/>
        </p:nvGrpSpPr>
        <p:grpSpPr>
          <a:xfrm>
            <a:off x="9688314" y="4833270"/>
            <a:ext cx="468333" cy="445345"/>
            <a:chOff x="1547117" y="2566864"/>
            <a:chExt cx="555469" cy="555469"/>
          </a:xfrm>
          <a:solidFill>
            <a:srgbClr val="0071B2"/>
          </a:solidFill>
        </p:grpSpPr>
        <p:sp>
          <p:nvSpPr>
            <p:cNvPr id="97" name="Freihandform: Form 216">
              <a:extLst>
                <a:ext uri="{FF2B5EF4-FFF2-40B4-BE49-F238E27FC236}">
                  <a16:creationId xmlns:a16="http://schemas.microsoft.com/office/drawing/2014/main" id="{155E8A96-91B0-440A-A62E-6CF98A1EDF18}"/>
                </a:ext>
              </a:extLst>
            </p:cNvPr>
            <p:cNvSpPr/>
            <p:nvPr/>
          </p:nvSpPr>
          <p:spPr>
            <a:xfrm>
              <a:off x="1639695"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8" name="Freihandform: Form 217">
              <a:extLst>
                <a:ext uri="{FF2B5EF4-FFF2-40B4-BE49-F238E27FC236}">
                  <a16:creationId xmlns:a16="http://schemas.microsoft.com/office/drawing/2014/main" id="{89C8EA75-CC0B-424B-A8A6-5BC564BDF667}"/>
                </a:ext>
              </a:extLst>
            </p:cNvPr>
            <p:cNvSpPr/>
            <p:nvPr/>
          </p:nvSpPr>
          <p:spPr>
            <a:xfrm>
              <a:off x="1917429" y="2879315"/>
              <a:ext cx="92578" cy="92578"/>
            </a:xfrm>
            <a:custGeom>
              <a:avLst/>
              <a:gdLst>
                <a:gd name="connsiteX0" fmla="*/ 92578 w 92578"/>
                <a:gd name="connsiteY0" fmla="*/ 46289 h 92578"/>
                <a:gd name="connsiteX1" fmla="*/ 46289 w 92578"/>
                <a:gd name="connsiteY1" fmla="*/ 92578 h 92578"/>
                <a:gd name="connsiteX2" fmla="*/ 0 w 92578"/>
                <a:gd name="connsiteY2" fmla="*/ 46289 h 92578"/>
                <a:gd name="connsiteX3" fmla="*/ 46289 w 92578"/>
                <a:gd name="connsiteY3" fmla="*/ 0 h 92578"/>
                <a:gd name="connsiteX4" fmla="*/ 92578 w 92578"/>
                <a:gd name="connsiteY4" fmla="*/ 46289 h 9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578" h="92578">
                  <a:moveTo>
                    <a:pt x="92578" y="46289"/>
                  </a:moveTo>
                  <a:cubicBezTo>
                    <a:pt x="92578" y="71854"/>
                    <a:pt x="71854" y="92578"/>
                    <a:pt x="46289" y="92578"/>
                  </a:cubicBezTo>
                  <a:cubicBezTo>
                    <a:pt x="20724" y="92578"/>
                    <a:pt x="0" y="71854"/>
                    <a:pt x="0" y="46289"/>
                  </a:cubicBezTo>
                  <a:cubicBezTo>
                    <a:pt x="0" y="20724"/>
                    <a:pt x="20724" y="0"/>
                    <a:pt x="46289" y="0"/>
                  </a:cubicBezTo>
                  <a:cubicBezTo>
                    <a:pt x="71854" y="0"/>
                    <a:pt x="92578" y="20724"/>
                    <a:pt x="92578" y="46289"/>
                  </a:cubicBezTo>
                  <a:close/>
                </a:path>
              </a:pathLst>
            </a:custGeom>
            <a:grpFill/>
            <a:ln w="5755" cap="flat">
              <a:noFill/>
              <a:prstDash val="solid"/>
              <a:miter/>
            </a:ln>
          </p:spPr>
          <p:txBody>
            <a:bodyPr rtlCol="0" anchor="ctr"/>
            <a:lstStyle/>
            <a:p>
              <a:endParaRPr lang="de-DE" dirty="0"/>
            </a:p>
          </p:txBody>
        </p:sp>
        <p:sp>
          <p:nvSpPr>
            <p:cNvPr id="99" name="Freihandform: Form 218">
              <a:extLst>
                <a:ext uri="{FF2B5EF4-FFF2-40B4-BE49-F238E27FC236}">
                  <a16:creationId xmlns:a16="http://schemas.microsoft.com/office/drawing/2014/main" id="{07A39D1D-60BE-4658-ACA3-1CFA46306B47}"/>
                </a:ext>
              </a:extLst>
            </p:cNvPr>
            <p:cNvSpPr/>
            <p:nvPr/>
          </p:nvSpPr>
          <p:spPr>
            <a:xfrm>
              <a:off x="1570261" y="2717303"/>
              <a:ext cx="509179" cy="208300"/>
            </a:xfrm>
            <a:custGeom>
              <a:avLst/>
              <a:gdLst>
                <a:gd name="connsiteX0" fmla="*/ 202515 w 509179"/>
                <a:gd name="connsiteY0" fmla="*/ 92578 h 208300"/>
                <a:gd name="connsiteX1" fmla="*/ 202515 w 509179"/>
                <a:gd name="connsiteY1" fmla="*/ 23145 h 208300"/>
                <a:gd name="connsiteX2" fmla="*/ 281785 w 509179"/>
                <a:gd name="connsiteY2" fmla="*/ 23145 h 208300"/>
                <a:gd name="connsiteX3" fmla="*/ 297986 w 509179"/>
                <a:gd name="connsiteY3" fmla="*/ 30088 h 208300"/>
                <a:gd name="connsiteX4" fmla="*/ 360476 w 509179"/>
                <a:gd name="connsiteY4" fmla="*/ 92578 h 208300"/>
                <a:gd name="connsiteX5" fmla="*/ 202515 w 509179"/>
                <a:gd name="connsiteY5" fmla="*/ 92578 h 208300"/>
                <a:gd name="connsiteX6" fmla="*/ 179370 w 509179"/>
                <a:gd name="connsiteY6" fmla="*/ 92578 h 208300"/>
                <a:gd name="connsiteX7" fmla="*/ 32981 w 509179"/>
                <a:gd name="connsiteY7" fmla="*/ 92578 h 208300"/>
                <a:gd name="connsiteX8" fmla="*/ 95471 w 509179"/>
                <a:gd name="connsiteY8" fmla="*/ 30088 h 208300"/>
                <a:gd name="connsiteX9" fmla="*/ 111672 w 509179"/>
                <a:gd name="connsiteY9" fmla="*/ 23145 h 208300"/>
                <a:gd name="connsiteX10" fmla="*/ 179370 w 509179"/>
                <a:gd name="connsiteY10" fmla="*/ 23145 h 208300"/>
                <a:gd name="connsiteX11" fmla="*/ 179370 w 509179"/>
                <a:gd name="connsiteY11" fmla="*/ 92578 h 208300"/>
                <a:gd name="connsiteX12" fmla="*/ 451319 w 509179"/>
                <a:gd name="connsiteY12" fmla="*/ 92578 h 208300"/>
                <a:gd name="connsiteX13" fmla="*/ 403294 w 509179"/>
                <a:gd name="connsiteY13" fmla="*/ 92578 h 208300"/>
                <a:gd name="connsiteX14" fmla="*/ 387092 w 509179"/>
                <a:gd name="connsiteY14" fmla="*/ 85635 h 208300"/>
                <a:gd name="connsiteX15" fmla="*/ 314187 w 509179"/>
                <a:gd name="connsiteY15" fmla="*/ 13308 h 208300"/>
                <a:gd name="connsiteX16" fmla="*/ 281206 w 509179"/>
                <a:gd name="connsiteY16" fmla="*/ 0 h 208300"/>
                <a:gd name="connsiteX17" fmla="*/ 111672 w 509179"/>
                <a:gd name="connsiteY17" fmla="*/ 0 h 208300"/>
                <a:gd name="connsiteX18" fmla="*/ 78691 w 509179"/>
                <a:gd name="connsiteY18" fmla="*/ 13308 h 208300"/>
                <a:gd name="connsiteX19" fmla="*/ 6943 w 509179"/>
                <a:gd name="connsiteY19" fmla="*/ 85635 h 208300"/>
                <a:gd name="connsiteX20" fmla="*/ 0 w 509179"/>
                <a:gd name="connsiteY20" fmla="*/ 102415 h 208300"/>
                <a:gd name="connsiteX21" fmla="*/ 0 w 509179"/>
                <a:gd name="connsiteY21" fmla="*/ 162012 h 208300"/>
                <a:gd name="connsiteX22" fmla="*/ 46289 w 509179"/>
                <a:gd name="connsiteY22" fmla="*/ 208301 h 208300"/>
                <a:gd name="connsiteX23" fmla="*/ 52075 w 509179"/>
                <a:gd name="connsiteY23" fmla="*/ 208301 h 208300"/>
                <a:gd name="connsiteX24" fmla="*/ 115723 w 509179"/>
                <a:gd name="connsiteY24" fmla="*/ 144653 h 208300"/>
                <a:gd name="connsiteX25" fmla="*/ 179370 w 509179"/>
                <a:gd name="connsiteY25" fmla="*/ 208301 h 208300"/>
                <a:gd name="connsiteX26" fmla="*/ 329810 w 509179"/>
                <a:gd name="connsiteY26" fmla="*/ 208301 h 208300"/>
                <a:gd name="connsiteX27" fmla="*/ 393457 w 509179"/>
                <a:gd name="connsiteY27" fmla="*/ 144653 h 208300"/>
                <a:gd name="connsiteX28" fmla="*/ 457105 w 509179"/>
                <a:gd name="connsiteY28" fmla="*/ 208301 h 208300"/>
                <a:gd name="connsiteX29" fmla="*/ 486035 w 509179"/>
                <a:gd name="connsiteY29" fmla="*/ 208301 h 208300"/>
                <a:gd name="connsiteX30" fmla="*/ 509180 w 509179"/>
                <a:gd name="connsiteY30" fmla="*/ 185156 h 208300"/>
                <a:gd name="connsiteX31" fmla="*/ 509180 w 509179"/>
                <a:gd name="connsiteY31" fmla="*/ 150440 h 208300"/>
                <a:gd name="connsiteX32" fmla="*/ 451319 w 509179"/>
                <a:gd name="connsiteY32" fmla="*/ 92578 h 2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179" h="208300">
                  <a:moveTo>
                    <a:pt x="202515" y="92578"/>
                  </a:moveTo>
                  <a:lnTo>
                    <a:pt x="202515" y="23145"/>
                  </a:lnTo>
                  <a:lnTo>
                    <a:pt x="281785" y="23145"/>
                  </a:lnTo>
                  <a:cubicBezTo>
                    <a:pt x="288150" y="23145"/>
                    <a:pt x="293936" y="25459"/>
                    <a:pt x="297986" y="30088"/>
                  </a:cubicBezTo>
                  <a:lnTo>
                    <a:pt x="360476" y="92578"/>
                  </a:lnTo>
                  <a:lnTo>
                    <a:pt x="202515" y="92578"/>
                  </a:lnTo>
                  <a:close/>
                  <a:moveTo>
                    <a:pt x="179370" y="92578"/>
                  </a:moveTo>
                  <a:lnTo>
                    <a:pt x="32981" y="92578"/>
                  </a:lnTo>
                  <a:lnTo>
                    <a:pt x="95471" y="30088"/>
                  </a:lnTo>
                  <a:cubicBezTo>
                    <a:pt x="100100" y="25459"/>
                    <a:pt x="105886" y="23145"/>
                    <a:pt x="111672" y="23145"/>
                  </a:cubicBezTo>
                  <a:lnTo>
                    <a:pt x="179370" y="23145"/>
                  </a:lnTo>
                  <a:lnTo>
                    <a:pt x="179370" y="92578"/>
                  </a:lnTo>
                  <a:close/>
                  <a:moveTo>
                    <a:pt x="451319" y="92578"/>
                  </a:moveTo>
                  <a:lnTo>
                    <a:pt x="403294" y="92578"/>
                  </a:lnTo>
                  <a:cubicBezTo>
                    <a:pt x="396929" y="92578"/>
                    <a:pt x="391143" y="90264"/>
                    <a:pt x="387092" y="85635"/>
                  </a:cubicBezTo>
                  <a:lnTo>
                    <a:pt x="314187" y="13308"/>
                  </a:lnTo>
                  <a:cubicBezTo>
                    <a:pt x="305508" y="4629"/>
                    <a:pt x="293936" y="0"/>
                    <a:pt x="281206" y="0"/>
                  </a:cubicBezTo>
                  <a:lnTo>
                    <a:pt x="111672" y="0"/>
                  </a:lnTo>
                  <a:cubicBezTo>
                    <a:pt x="99522" y="0"/>
                    <a:pt x="87371" y="4629"/>
                    <a:pt x="78691" y="13308"/>
                  </a:cubicBezTo>
                  <a:lnTo>
                    <a:pt x="6943" y="85635"/>
                  </a:lnTo>
                  <a:cubicBezTo>
                    <a:pt x="2314" y="90264"/>
                    <a:pt x="0" y="96050"/>
                    <a:pt x="0" y="102415"/>
                  </a:cubicBezTo>
                  <a:lnTo>
                    <a:pt x="0" y="162012"/>
                  </a:lnTo>
                  <a:cubicBezTo>
                    <a:pt x="0" y="187471"/>
                    <a:pt x="20830" y="208301"/>
                    <a:pt x="46289" y="208301"/>
                  </a:cubicBezTo>
                  <a:lnTo>
                    <a:pt x="52075" y="208301"/>
                  </a:lnTo>
                  <a:cubicBezTo>
                    <a:pt x="52075" y="173005"/>
                    <a:pt x="80427" y="144653"/>
                    <a:pt x="115723" y="144653"/>
                  </a:cubicBezTo>
                  <a:cubicBezTo>
                    <a:pt x="151018" y="144653"/>
                    <a:pt x="179370" y="173005"/>
                    <a:pt x="179370" y="208301"/>
                  </a:cubicBezTo>
                  <a:lnTo>
                    <a:pt x="329810" y="208301"/>
                  </a:lnTo>
                  <a:cubicBezTo>
                    <a:pt x="329810" y="173005"/>
                    <a:pt x="358162" y="144653"/>
                    <a:pt x="393457" y="144653"/>
                  </a:cubicBezTo>
                  <a:cubicBezTo>
                    <a:pt x="428753" y="144653"/>
                    <a:pt x="457105" y="173005"/>
                    <a:pt x="457105" y="208301"/>
                  </a:cubicBezTo>
                  <a:lnTo>
                    <a:pt x="486035" y="208301"/>
                  </a:lnTo>
                  <a:cubicBezTo>
                    <a:pt x="498765" y="208301"/>
                    <a:pt x="509180" y="197886"/>
                    <a:pt x="509180" y="185156"/>
                  </a:cubicBezTo>
                  <a:lnTo>
                    <a:pt x="509180" y="150440"/>
                  </a:lnTo>
                  <a:cubicBezTo>
                    <a:pt x="509180" y="118616"/>
                    <a:pt x="483142" y="92578"/>
                    <a:pt x="451319" y="92578"/>
                  </a:cubicBezTo>
                  <a:close/>
                </a:path>
              </a:pathLst>
            </a:custGeom>
            <a:grpFill/>
            <a:ln w="5755" cap="flat">
              <a:noFill/>
              <a:prstDash val="solid"/>
              <a:miter/>
            </a:ln>
          </p:spPr>
          <p:txBody>
            <a:bodyPr rtlCol="0" anchor="ctr"/>
            <a:lstStyle/>
            <a:p>
              <a:endParaRPr lang="de-DE" dirty="0"/>
            </a:p>
          </p:txBody>
        </p:sp>
      </p:grpSp>
      <p:cxnSp>
        <p:nvCxnSpPr>
          <p:cNvPr id="104" name="Gerader Verbinder 103"/>
          <p:cNvCxnSpPr/>
          <p:nvPr/>
        </p:nvCxnSpPr>
        <p:spPr>
          <a:xfrm flipH="1">
            <a:off x="2887437" y="1824790"/>
            <a:ext cx="5483480" cy="11850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Gerader Verbinder 104"/>
          <p:cNvCxnSpPr/>
          <p:nvPr/>
        </p:nvCxnSpPr>
        <p:spPr>
          <a:xfrm flipH="1">
            <a:off x="2887437" y="2256155"/>
            <a:ext cx="6221308" cy="753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Gerader Verbinder 105"/>
          <p:cNvCxnSpPr/>
          <p:nvPr/>
        </p:nvCxnSpPr>
        <p:spPr>
          <a:xfrm flipH="1" flipV="1">
            <a:off x="2887437" y="3009829"/>
            <a:ext cx="6512547"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Gerader Verbinder 106"/>
          <p:cNvCxnSpPr/>
          <p:nvPr/>
        </p:nvCxnSpPr>
        <p:spPr>
          <a:xfrm flipH="1">
            <a:off x="3009900" y="4492768"/>
            <a:ext cx="5785532" cy="6652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Gerader Verbinder 107"/>
          <p:cNvCxnSpPr/>
          <p:nvPr/>
        </p:nvCxnSpPr>
        <p:spPr>
          <a:xfrm flipH="1">
            <a:off x="3009900" y="5047942"/>
            <a:ext cx="6585220" cy="1100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Gerader Verbinder 101"/>
          <p:cNvCxnSpPr/>
          <p:nvPr/>
        </p:nvCxnSpPr>
        <p:spPr>
          <a:xfrm flipH="1">
            <a:off x="2829232" y="3944338"/>
            <a:ext cx="5541685" cy="3083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7532002" y="5596443"/>
            <a:ext cx="3903633" cy="369332"/>
          </a:xfrm>
          <a:prstGeom prst="rect">
            <a:avLst/>
          </a:prstGeom>
          <a:noFill/>
        </p:spPr>
        <p:txBody>
          <a:bodyPr wrap="none" rtlCol="0">
            <a:spAutoFit/>
          </a:bodyPr>
          <a:lstStyle/>
          <a:p>
            <a:r>
              <a:rPr lang="de-DE" dirty="0" smtClean="0">
                <a:latin typeface="Source Sans Pro" panose="020B0503030403020204" pitchFamily="34" charset="0"/>
              </a:rPr>
              <a:t>Es kann Autos </a:t>
            </a:r>
            <a:r>
              <a:rPr lang="de-DE" b="1" dirty="0" smtClean="0">
                <a:solidFill>
                  <a:schemeClr val="accent2"/>
                </a:solidFill>
                <a:latin typeface="Source Sans Pro" panose="020B0503030403020204" pitchFamily="34" charset="0"/>
              </a:rPr>
              <a:t>ohne </a:t>
            </a:r>
            <a:r>
              <a:rPr lang="de-DE" dirty="0" smtClean="0">
                <a:latin typeface="Source Sans Pro" panose="020B0503030403020204" pitchFamily="34" charset="0"/>
              </a:rPr>
              <a:t>Eigentümer geben</a:t>
            </a:r>
            <a:endParaRPr lang="de-DE" dirty="0">
              <a:latin typeface="Source Sans Pro" panose="020B0503030403020204" pitchFamily="34" charset="0"/>
            </a:endParaRPr>
          </a:p>
        </p:txBody>
      </p:sp>
      <p:sp>
        <p:nvSpPr>
          <p:cNvPr id="103" name="Textfeld 102"/>
          <p:cNvSpPr txBox="1"/>
          <p:nvPr/>
        </p:nvSpPr>
        <p:spPr>
          <a:xfrm>
            <a:off x="465509" y="5587695"/>
            <a:ext cx="3597460" cy="369332"/>
          </a:xfrm>
          <a:prstGeom prst="rect">
            <a:avLst/>
          </a:prstGeom>
          <a:noFill/>
        </p:spPr>
        <p:txBody>
          <a:bodyPr wrap="none" rtlCol="0">
            <a:spAutoFit/>
          </a:bodyPr>
          <a:lstStyle/>
          <a:p>
            <a:r>
              <a:rPr lang="de-DE" dirty="0" smtClean="0">
                <a:latin typeface="Source Sans Pro" panose="020B0503030403020204" pitchFamily="34" charset="0"/>
              </a:rPr>
              <a:t>Es kann Personen </a:t>
            </a:r>
            <a:r>
              <a:rPr lang="de-DE" b="1" dirty="0" smtClean="0">
                <a:solidFill>
                  <a:schemeClr val="accent2"/>
                </a:solidFill>
                <a:latin typeface="Source Sans Pro" panose="020B0503030403020204" pitchFamily="34" charset="0"/>
              </a:rPr>
              <a:t>ohne </a:t>
            </a:r>
            <a:r>
              <a:rPr lang="de-DE" dirty="0" smtClean="0">
                <a:latin typeface="Source Sans Pro" panose="020B0503030403020204" pitchFamily="34" charset="0"/>
              </a:rPr>
              <a:t>Auto geben</a:t>
            </a:r>
            <a:endParaRPr lang="de-DE" dirty="0">
              <a:latin typeface="Source Sans Pro" panose="020B0503030403020204" pitchFamily="34" charset="0"/>
            </a:endParaRPr>
          </a:p>
        </p:txBody>
      </p:sp>
      <p:sp>
        <p:nvSpPr>
          <p:cNvPr id="109" name="Ellipse 108"/>
          <p:cNvSpPr/>
          <p:nvPr/>
        </p:nvSpPr>
        <p:spPr>
          <a:xfrm>
            <a:off x="913263" y="1885488"/>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0" name="Ellipse 109"/>
          <p:cNvSpPr/>
          <p:nvPr/>
        </p:nvSpPr>
        <p:spPr>
          <a:xfrm>
            <a:off x="1352249" y="2430423"/>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1" name="Ellipse 110"/>
          <p:cNvSpPr/>
          <p:nvPr/>
        </p:nvSpPr>
        <p:spPr>
          <a:xfrm>
            <a:off x="2215796" y="1659780"/>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2" name="Ellipse 111"/>
          <p:cNvSpPr/>
          <p:nvPr/>
        </p:nvSpPr>
        <p:spPr>
          <a:xfrm>
            <a:off x="1164577" y="3304912"/>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3" name="Ellipse 112"/>
          <p:cNvSpPr/>
          <p:nvPr/>
        </p:nvSpPr>
        <p:spPr>
          <a:xfrm>
            <a:off x="1195210" y="4336718"/>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4" name="Ellipse 113"/>
          <p:cNvSpPr/>
          <p:nvPr/>
        </p:nvSpPr>
        <p:spPr>
          <a:xfrm>
            <a:off x="8311206" y="2363296"/>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5" name="Ellipse 114"/>
          <p:cNvSpPr/>
          <p:nvPr/>
        </p:nvSpPr>
        <p:spPr>
          <a:xfrm>
            <a:off x="8819657" y="3193442"/>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0312604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m:n-Relation </a:t>
            </a:r>
          </a:p>
          <a:p>
            <a:r>
              <a:rPr lang="de-DE" sz="4000" dirty="0"/>
              <a:t>	</a:t>
            </a:r>
          </a:p>
        </p:txBody>
      </p:sp>
    </p:spTree>
    <p:extLst>
      <p:ext uri="{BB962C8B-B14F-4D97-AF65-F5344CB8AC3E}">
        <p14:creationId xmlns:p14="http://schemas.microsoft.com/office/powerpoint/2010/main" val="25504762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a:solidFill>
                  <a:schemeClr val="accent2"/>
                </a:solidFill>
                <a:latin typeface="Source Sans Pro" panose="020B0503030403020204" pitchFamily="34" charset="0"/>
              </a:rPr>
              <a:t>m</a:t>
            </a:r>
            <a:r>
              <a:rPr lang="de-DE" dirty="0" smtClean="0">
                <a:solidFill>
                  <a:schemeClr val="accent2"/>
                </a:solidFill>
                <a:latin typeface="Source Sans Pro" panose="020B0503030403020204" pitchFamily="34" charset="0"/>
              </a:rPr>
              <a:t>:n-Relation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222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Lied</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10" name="Raute 9"/>
          <p:cNvSpPr/>
          <p:nvPr/>
        </p:nvSpPr>
        <p:spPr>
          <a:xfrm>
            <a:off x="4446529" y="3357274"/>
            <a:ext cx="2582921"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beherrscht</a:t>
            </a:r>
            <a:endPar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stCxn id="10" idx="1"/>
          </p:cNvCxnSpPr>
          <p:nvPr/>
        </p:nvCxnSpPr>
        <p:spPr>
          <a:xfrm flipH="1" flipV="1">
            <a:off x="3536303" y="3680039"/>
            <a:ext cx="91022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7029450" y="3680039"/>
            <a:ext cx="91090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
        <p:nvSpPr>
          <p:cNvPr id="100" name="Grafik 63" descr="Musiknote">
            <a:extLst>
              <a:ext uri="{FF2B5EF4-FFF2-40B4-BE49-F238E27FC236}">
                <a16:creationId xmlns:a16="http://schemas.microsoft.com/office/drawing/2014/main" id="{0E982C9F-526B-4A2F-9058-E288F77F8779}"/>
              </a:ext>
            </a:extLst>
          </p:cNvPr>
          <p:cNvSpPr/>
          <p:nvPr/>
        </p:nvSpPr>
        <p:spPr>
          <a:xfrm>
            <a:off x="8537811" y="1644934"/>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2" name="Grafik 63" descr="Musiknote">
            <a:extLst>
              <a:ext uri="{FF2B5EF4-FFF2-40B4-BE49-F238E27FC236}">
                <a16:creationId xmlns:a16="http://schemas.microsoft.com/office/drawing/2014/main" id="{0E982C9F-526B-4A2F-9058-E288F77F8779}"/>
              </a:ext>
            </a:extLst>
          </p:cNvPr>
          <p:cNvSpPr/>
          <p:nvPr/>
        </p:nvSpPr>
        <p:spPr>
          <a:xfrm>
            <a:off x="9365520" y="194505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3" name="Grafik 63" descr="Musiknote">
            <a:extLst>
              <a:ext uri="{FF2B5EF4-FFF2-40B4-BE49-F238E27FC236}">
                <a16:creationId xmlns:a16="http://schemas.microsoft.com/office/drawing/2014/main" id="{0E982C9F-526B-4A2F-9058-E288F77F8779}"/>
              </a:ext>
            </a:extLst>
          </p:cNvPr>
          <p:cNvSpPr/>
          <p:nvPr/>
        </p:nvSpPr>
        <p:spPr>
          <a:xfrm>
            <a:off x="8639336" y="236038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4" name="Grafik 63" descr="Musiknote">
            <a:extLst>
              <a:ext uri="{FF2B5EF4-FFF2-40B4-BE49-F238E27FC236}">
                <a16:creationId xmlns:a16="http://schemas.microsoft.com/office/drawing/2014/main" id="{0E982C9F-526B-4A2F-9058-E288F77F8779}"/>
              </a:ext>
            </a:extLst>
          </p:cNvPr>
          <p:cNvSpPr/>
          <p:nvPr/>
        </p:nvSpPr>
        <p:spPr>
          <a:xfrm>
            <a:off x="9598621" y="2757279"/>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5" name="Grafik 63" descr="Musiknote">
            <a:extLst>
              <a:ext uri="{FF2B5EF4-FFF2-40B4-BE49-F238E27FC236}">
                <a16:creationId xmlns:a16="http://schemas.microsoft.com/office/drawing/2014/main" id="{0E982C9F-526B-4A2F-9058-E288F77F8779}"/>
              </a:ext>
            </a:extLst>
          </p:cNvPr>
          <p:cNvSpPr/>
          <p:nvPr/>
        </p:nvSpPr>
        <p:spPr>
          <a:xfrm>
            <a:off x="9145519" y="3200202"/>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6" name="Grafik 63" descr="Musiknote">
            <a:extLst>
              <a:ext uri="{FF2B5EF4-FFF2-40B4-BE49-F238E27FC236}">
                <a16:creationId xmlns:a16="http://schemas.microsoft.com/office/drawing/2014/main" id="{0E982C9F-526B-4A2F-9058-E288F77F8779}"/>
              </a:ext>
            </a:extLst>
          </p:cNvPr>
          <p:cNvSpPr/>
          <p:nvPr/>
        </p:nvSpPr>
        <p:spPr>
          <a:xfrm>
            <a:off x="8582492" y="361771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7" name="Grafik 63" descr="Musiknote">
            <a:extLst>
              <a:ext uri="{FF2B5EF4-FFF2-40B4-BE49-F238E27FC236}">
                <a16:creationId xmlns:a16="http://schemas.microsoft.com/office/drawing/2014/main" id="{0E982C9F-526B-4A2F-9058-E288F77F8779}"/>
              </a:ext>
            </a:extLst>
          </p:cNvPr>
          <p:cNvSpPr/>
          <p:nvPr/>
        </p:nvSpPr>
        <p:spPr>
          <a:xfrm>
            <a:off x="9026184" y="408343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8" name="Grafik 63" descr="Musiknote">
            <a:extLst>
              <a:ext uri="{FF2B5EF4-FFF2-40B4-BE49-F238E27FC236}">
                <a16:creationId xmlns:a16="http://schemas.microsoft.com/office/drawing/2014/main" id="{0E982C9F-526B-4A2F-9058-E288F77F8779}"/>
              </a:ext>
            </a:extLst>
          </p:cNvPr>
          <p:cNvSpPr/>
          <p:nvPr/>
        </p:nvSpPr>
        <p:spPr>
          <a:xfrm>
            <a:off x="9811839" y="477885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Tree>
    <p:extLst>
      <p:ext uri="{BB962C8B-B14F-4D97-AF65-F5344CB8AC3E}">
        <p14:creationId xmlns:p14="http://schemas.microsoft.com/office/powerpoint/2010/main" val="21731447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a:solidFill>
                  <a:schemeClr val="accent2"/>
                </a:solidFill>
                <a:latin typeface="Source Sans Pro" panose="020B0503030403020204" pitchFamily="34" charset="0"/>
              </a:rPr>
              <a:t>m</a:t>
            </a:r>
            <a:r>
              <a:rPr lang="de-DE" dirty="0" smtClean="0">
                <a:solidFill>
                  <a:schemeClr val="accent2"/>
                </a:solidFill>
                <a:latin typeface="Source Sans Pro" panose="020B0503030403020204" pitchFamily="34" charset="0"/>
              </a:rPr>
              <a:t>:n-Relation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222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Lied</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10" name="Raute 9"/>
          <p:cNvSpPr/>
          <p:nvPr/>
        </p:nvSpPr>
        <p:spPr>
          <a:xfrm>
            <a:off x="4446529" y="3357274"/>
            <a:ext cx="2582921"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beherrscht</a:t>
            </a:r>
            <a:endPar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stCxn id="10" idx="1"/>
          </p:cNvCxnSpPr>
          <p:nvPr/>
        </p:nvCxnSpPr>
        <p:spPr>
          <a:xfrm flipH="1" flipV="1">
            <a:off x="3536303" y="3680039"/>
            <a:ext cx="91022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7029450" y="3680039"/>
            <a:ext cx="91090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
        <p:nvSpPr>
          <p:cNvPr id="100" name="Grafik 63" descr="Musiknote">
            <a:extLst>
              <a:ext uri="{FF2B5EF4-FFF2-40B4-BE49-F238E27FC236}">
                <a16:creationId xmlns:a16="http://schemas.microsoft.com/office/drawing/2014/main" id="{0E982C9F-526B-4A2F-9058-E288F77F8779}"/>
              </a:ext>
            </a:extLst>
          </p:cNvPr>
          <p:cNvSpPr/>
          <p:nvPr/>
        </p:nvSpPr>
        <p:spPr>
          <a:xfrm>
            <a:off x="8537811" y="1644934"/>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2" name="Grafik 63" descr="Musiknote">
            <a:extLst>
              <a:ext uri="{FF2B5EF4-FFF2-40B4-BE49-F238E27FC236}">
                <a16:creationId xmlns:a16="http://schemas.microsoft.com/office/drawing/2014/main" id="{0E982C9F-526B-4A2F-9058-E288F77F8779}"/>
              </a:ext>
            </a:extLst>
          </p:cNvPr>
          <p:cNvSpPr/>
          <p:nvPr/>
        </p:nvSpPr>
        <p:spPr>
          <a:xfrm>
            <a:off x="9365520" y="194505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3" name="Grafik 63" descr="Musiknote">
            <a:extLst>
              <a:ext uri="{FF2B5EF4-FFF2-40B4-BE49-F238E27FC236}">
                <a16:creationId xmlns:a16="http://schemas.microsoft.com/office/drawing/2014/main" id="{0E982C9F-526B-4A2F-9058-E288F77F8779}"/>
              </a:ext>
            </a:extLst>
          </p:cNvPr>
          <p:cNvSpPr/>
          <p:nvPr/>
        </p:nvSpPr>
        <p:spPr>
          <a:xfrm>
            <a:off x="8639336" y="236038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4" name="Grafik 63" descr="Musiknote">
            <a:extLst>
              <a:ext uri="{FF2B5EF4-FFF2-40B4-BE49-F238E27FC236}">
                <a16:creationId xmlns:a16="http://schemas.microsoft.com/office/drawing/2014/main" id="{0E982C9F-526B-4A2F-9058-E288F77F8779}"/>
              </a:ext>
            </a:extLst>
          </p:cNvPr>
          <p:cNvSpPr/>
          <p:nvPr/>
        </p:nvSpPr>
        <p:spPr>
          <a:xfrm>
            <a:off x="9598621" y="2757279"/>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5" name="Grafik 63" descr="Musiknote">
            <a:extLst>
              <a:ext uri="{FF2B5EF4-FFF2-40B4-BE49-F238E27FC236}">
                <a16:creationId xmlns:a16="http://schemas.microsoft.com/office/drawing/2014/main" id="{0E982C9F-526B-4A2F-9058-E288F77F8779}"/>
              </a:ext>
            </a:extLst>
          </p:cNvPr>
          <p:cNvSpPr/>
          <p:nvPr/>
        </p:nvSpPr>
        <p:spPr>
          <a:xfrm>
            <a:off x="9145519" y="3200202"/>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6" name="Grafik 63" descr="Musiknote">
            <a:extLst>
              <a:ext uri="{FF2B5EF4-FFF2-40B4-BE49-F238E27FC236}">
                <a16:creationId xmlns:a16="http://schemas.microsoft.com/office/drawing/2014/main" id="{0E982C9F-526B-4A2F-9058-E288F77F8779}"/>
              </a:ext>
            </a:extLst>
          </p:cNvPr>
          <p:cNvSpPr/>
          <p:nvPr/>
        </p:nvSpPr>
        <p:spPr>
          <a:xfrm>
            <a:off x="8582492" y="361771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7" name="Grafik 63" descr="Musiknote">
            <a:extLst>
              <a:ext uri="{FF2B5EF4-FFF2-40B4-BE49-F238E27FC236}">
                <a16:creationId xmlns:a16="http://schemas.microsoft.com/office/drawing/2014/main" id="{0E982C9F-526B-4A2F-9058-E288F77F8779}"/>
              </a:ext>
            </a:extLst>
          </p:cNvPr>
          <p:cNvSpPr/>
          <p:nvPr/>
        </p:nvSpPr>
        <p:spPr>
          <a:xfrm>
            <a:off x="9026184" y="408343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8" name="Grafik 63" descr="Musiknote">
            <a:extLst>
              <a:ext uri="{FF2B5EF4-FFF2-40B4-BE49-F238E27FC236}">
                <a16:creationId xmlns:a16="http://schemas.microsoft.com/office/drawing/2014/main" id="{0E982C9F-526B-4A2F-9058-E288F77F8779}"/>
              </a:ext>
            </a:extLst>
          </p:cNvPr>
          <p:cNvSpPr/>
          <p:nvPr/>
        </p:nvSpPr>
        <p:spPr>
          <a:xfrm>
            <a:off x="9811839" y="477885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cxnSp>
        <p:nvCxnSpPr>
          <p:cNvPr id="45" name="Gerader Verbinder 44"/>
          <p:cNvCxnSpPr/>
          <p:nvPr/>
        </p:nvCxnSpPr>
        <p:spPr>
          <a:xfrm flipH="1">
            <a:off x="2775760" y="1811845"/>
            <a:ext cx="5741994" cy="10580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7" name="Gerader Verbinder 46"/>
          <p:cNvCxnSpPr/>
          <p:nvPr/>
        </p:nvCxnSpPr>
        <p:spPr>
          <a:xfrm flipH="1" flipV="1">
            <a:off x="2790551" y="1913834"/>
            <a:ext cx="6493409" cy="30271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3" name="Gerader Verbinder 52"/>
          <p:cNvCxnSpPr/>
          <p:nvPr/>
        </p:nvCxnSpPr>
        <p:spPr>
          <a:xfrm flipH="1" flipV="1">
            <a:off x="2790552" y="1912902"/>
            <a:ext cx="5848784" cy="641606"/>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6" name="Textfeld 55"/>
          <p:cNvSpPr txBox="1"/>
          <p:nvPr/>
        </p:nvSpPr>
        <p:spPr>
          <a:xfrm>
            <a:off x="60793" y="5587483"/>
            <a:ext cx="4918334" cy="369332"/>
          </a:xfrm>
          <a:prstGeom prst="rect">
            <a:avLst/>
          </a:prstGeom>
          <a:noFill/>
        </p:spPr>
        <p:txBody>
          <a:bodyPr wrap="none" rtlCol="0">
            <a:spAutoFit/>
          </a:bodyPr>
          <a:lstStyle/>
          <a:p>
            <a:r>
              <a:rPr lang="de-DE" dirty="0" smtClean="0">
                <a:latin typeface="Source Sans Pro" panose="020B0503030403020204" pitchFamily="34" charset="0"/>
              </a:rPr>
              <a:t>Eine Personen kann </a:t>
            </a:r>
            <a:r>
              <a:rPr lang="de-DE" b="1" dirty="0" smtClean="0">
                <a:solidFill>
                  <a:schemeClr val="accent2"/>
                </a:solidFill>
                <a:latin typeface="Source Sans Pro" panose="020B0503030403020204" pitchFamily="34" charset="0"/>
              </a:rPr>
              <a:t>mehrere </a:t>
            </a:r>
            <a:r>
              <a:rPr lang="de-DE" dirty="0" smtClean="0">
                <a:latin typeface="Source Sans Pro" panose="020B0503030403020204" pitchFamily="34" charset="0"/>
              </a:rPr>
              <a:t>Lieder beherrschen</a:t>
            </a:r>
            <a:endParaRPr lang="de-DE" dirty="0">
              <a:latin typeface="Source Sans Pro" panose="020B0503030403020204" pitchFamily="34" charset="0"/>
            </a:endParaRPr>
          </a:p>
        </p:txBody>
      </p:sp>
    </p:spTree>
    <p:extLst>
      <p:ext uri="{BB962C8B-B14F-4D97-AF65-F5344CB8AC3E}">
        <p14:creationId xmlns:p14="http://schemas.microsoft.com/office/powerpoint/2010/main" val="19240732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a:solidFill>
                  <a:schemeClr val="accent2"/>
                </a:solidFill>
                <a:latin typeface="Source Sans Pro" panose="020B0503030403020204" pitchFamily="34" charset="0"/>
              </a:rPr>
              <a:t>m</a:t>
            </a:r>
            <a:r>
              <a:rPr lang="de-DE" dirty="0" smtClean="0">
                <a:solidFill>
                  <a:schemeClr val="accent2"/>
                </a:solidFill>
                <a:latin typeface="Source Sans Pro" panose="020B0503030403020204" pitchFamily="34" charset="0"/>
              </a:rPr>
              <a:t>:n-Relation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222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Lied</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10" name="Raute 9"/>
          <p:cNvSpPr/>
          <p:nvPr/>
        </p:nvSpPr>
        <p:spPr>
          <a:xfrm>
            <a:off x="4446529" y="3357274"/>
            <a:ext cx="2582921"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beherrscht</a:t>
            </a:r>
            <a:endPar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stCxn id="10" idx="1"/>
          </p:cNvCxnSpPr>
          <p:nvPr/>
        </p:nvCxnSpPr>
        <p:spPr>
          <a:xfrm flipH="1" flipV="1">
            <a:off x="3536303" y="3680039"/>
            <a:ext cx="91022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7029450" y="3680039"/>
            <a:ext cx="91090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
        <p:nvSpPr>
          <p:cNvPr id="100" name="Grafik 63" descr="Musiknote">
            <a:extLst>
              <a:ext uri="{FF2B5EF4-FFF2-40B4-BE49-F238E27FC236}">
                <a16:creationId xmlns:a16="http://schemas.microsoft.com/office/drawing/2014/main" id="{0E982C9F-526B-4A2F-9058-E288F77F8779}"/>
              </a:ext>
            </a:extLst>
          </p:cNvPr>
          <p:cNvSpPr/>
          <p:nvPr/>
        </p:nvSpPr>
        <p:spPr>
          <a:xfrm>
            <a:off x="8537811" y="1644934"/>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2" name="Grafik 63" descr="Musiknote">
            <a:extLst>
              <a:ext uri="{FF2B5EF4-FFF2-40B4-BE49-F238E27FC236}">
                <a16:creationId xmlns:a16="http://schemas.microsoft.com/office/drawing/2014/main" id="{0E982C9F-526B-4A2F-9058-E288F77F8779}"/>
              </a:ext>
            </a:extLst>
          </p:cNvPr>
          <p:cNvSpPr/>
          <p:nvPr/>
        </p:nvSpPr>
        <p:spPr>
          <a:xfrm>
            <a:off x="9365520" y="194505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3" name="Grafik 63" descr="Musiknote">
            <a:extLst>
              <a:ext uri="{FF2B5EF4-FFF2-40B4-BE49-F238E27FC236}">
                <a16:creationId xmlns:a16="http://schemas.microsoft.com/office/drawing/2014/main" id="{0E982C9F-526B-4A2F-9058-E288F77F8779}"/>
              </a:ext>
            </a:extLst>
          </p:cNvPr>
          <p:cNvSpPr/>
          <p:nvPr/>
        </p:nvSpPr>
        <p:spPr>
          <a:xfrm>
            <a:off x="8639336" y="236038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4" name="Grafik 63" descr="Musiknote">
            <a:extLst>
              <a:ext uri="{FF2B5EF4-FFF2-40B4-BE49-F238E27FC236}">
                <a16:creationId xmlns:a16="http://schemas.microsoft.com/office/drawing/2014/main" id="{0E982C9F-526B-4A2F-9058-E288F77F8779}"/>
              </a:ext>
            </a:extLst>
          </p:cNvPr>
          <p:cNvSpPr/>
          <p:nvPr/>
        </p:nvSpPr>
        <p:spPr>
          <a:xfrm>
            <a:off x="9598621" y="2757279"/>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5" name="Grafik 63" descr="Musiknote">
            <a:extLst>
              <a:ext uri="{FF2B5EF4-FFF2-40B4-BE49-F238E27FC236}">
                <a16:creationId xmlns:a16="http://schemas.microsoft.com/office/drawing/2014/main" id="{0E982C9F-526B-4A2F-9058-E288F77F8779}"/>
              </a:ext>
            </a:extLst>
          </p:cNvPr>
          <p:cNvSpPr/>
          <p:nvPr/>
        </p:nvSpPr>
        <p:spPr>
          <a:xfrm>
            <a:off x="9145519" y="3200202"/>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6" name="Grafik 63" descr="Musiknote">
            <a:extLst>
              <a:ext uri="{FF2B5EF4-FFF2-40B4-BE49-F238E27FC236}">
                <a16:creationId xmlns:a16="http://schemas.microsoft.com/office/drawing/2014/main" id="{0E982C9F-526B-4A2F-9058-E288F77F8779}"/>
              </a:ext>
            </a:extLst>
          </p:cNvPr>
          <p:cNvSpPr/>
          <p:nvPr/>
        </p:nvSpPr>
        <p:spPr>
          <a:xfrm>
            <a:off x="8582492" y="361771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7" name="Grafik 63" descr="Musiknote">
            <a:extLst>
              <a:ext uri="{FF2B5EF4-FFF2-40B4-BE49-F238E27FC236}">
                <a16:creationId xmlns:a16="http://schemas.microsoft.com/office/drawing/2014/main" id="{0E982C9F-526B-4A2F-9058-E288F77F8779}"/>
              </a:ext>
            </a:extLst>
          </p:cNvPr>
          <p:cNvSpPr/>
          <p:nvPr/>
        </p:nvSpPr>
        <p:spPr>
          <a:xfrm>
            <a:off x="9026184" y="408343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8" name="Grafik 63" descr="Musiknote">
            <a:extLst>
              <a:ext uri="{FF2B5EF4-FFF2-40B4-BE49-F238E27FC236}">
                <a16:creationId xmlns:a16="http://schemas.microsoft.com/office/drawing/2014/main" id="{0E982C9F-526B-4A2F-9058-E288F77F8779}"/>
              </a:ext>
            </a:extLst>
          </p:cNvPr>
          <p:cNvSpPr/>
          <p:nvPr/>
        </p:nvSpPr>
        <p:spPr>
          <a:xfrm>
            <a:off x="9811839" y="477885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cxnSp>
        <p:nvCxnSpPr>
          <p:cNvPr id="45" name="Gerader Verbinder 44"/>
          <p:cNvCxnSpPr/>
          <p:nvPr/>
        </p:nvCxnSpPr>
        <p:spPr>
          <a:xfrm flipH="1">
            <a:off x="2775760" y="1811845"/>
            <a:ext cx="5741994" cy="105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r Verbinder 46"/>
          <p:cNvCxnSpPr/>
          <p:nvPr/>
        </p:nvCxnSpPr>
        <p:spPr>
          <a:xfrm flipH="1" flipV="1">
            <a:off x="2790551" y="1913834"/>
            <a:ext cx="6493409" cy="3027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Gerader Verbinder 52"/>
          <p:cNvCxnSpPr/>
          <p:nvPr/>
        </p:nvCxnSpPr>
        <p:spPr>
          <a:xfrm flipH="1" flipV="1">
            <a:off x="2790552" y="1912902"/>
            <a:ext cx="5848784" cy="6416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feld 55"/>
          <p:cNvSpPr txBox="1"/>
          <p:nvPr/>
        </p:nvSpPr>
        <p:spPr>
          <a:xfrm>
            <a:off x="6432090" y="5616871"/>
            <a:ext cx="5759910" cy="369332"/>
          </a:xfrm>
          <a:prstGeom prst="rect">
            <a:avLst/>
          </a:prstGeom>
          <a:noFill/>
        </p:spPr>
        <p:txBody>
          <a:bodyPr wrap="none" rtlCol="0">
            <a:spAutoFit/>
          </a:bodyPr>
          <a:lstStyle/>
          <a:p>
            <a:r>
              <a:rPr lang="de-DE" dirty="0" smtClean="0">
                <a:latin typeface="Source Sans Pro" panose="020B0503030403020204" pitchFamily="34" charset="0"/>
              </a:rPr>
              <a:t>Ein Lied kann von </a:t>
            </a:r>
            <a:r>
              <a:rPr lang="de-DE" b="1" dirty="0" smtClean="0">
                <a:solidFill>
                  <a:schemeClr val="accent2"/>
                </a:solidFill>
                <a:latin typeface="Source Sans Pro" panose="020B0503030403020204" pitchFamily="34" charset="0"/>
              </a:rPr>
              <a:t>mehreren </a:t>
            </a:r>
            <a:r>
              <a:rPr lang="de-DE" dirty="0" smtClean="0">
                <a:latin typeface="Source Sans Pro" panose="020B0503030403020204" pitchFamily="34" charset="0"/>
              </a:rPr>
              <a:t>Personen beherrscht werden</a:t>
            </a:r>
            <a:endParaRPr lang="de-DE" dirty="0">
              <a:latin typeface="Source Sans Pro" panose="020B0503030403020204" pitchFamily="34" charset="0"/>
            </a:endParaRPr>
          </a:p>
        </p:txBody>
      </p:sp>
      <p:cxnSp>
        <p:nvCxnSpPr>
          <p:cNvPr id="49" name="Gerader Verbinder 48"/>
          <p:cNvCxnSpPr/>
          <p:nvPr/>
        </p:nvCxnSpPr>
        <p:spPr>
          <a:xfrm flipH="1" flipV="1">
            <a:off x="2909887" y="4191664"/>
            <a:ext cx="6043613" cy="18342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Gerader Verbinder 50"/>
          <p:cNvCxnSpPr/>
          <p:nvPr/>
        </p:nvCxnSpPr>
        <p:spPr>
          <a:xfrm flipH="1">
            <a:off x="1815489" y="4380449"/>
            <a:ext cx="7138011" cy="26081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Gerader Verbinder 53"/>
          <p:cNvCxnSpPr/>
          <p:nvPr/>
        </p:nvCxnSpPr>
        <p:spPr>
          <a:xfrm flipH="1">
            <a:off x="2981325" y="4369457"/>
            <a:ext cx="5972175" cy="761826"/>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25819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a:solidFill>
                  <a:schemeClr val="accent2"/>
                </a:solidFill>
                <a:latin typeface="Source Sans Pro" panose="020B0503030403020204" pitchFamily="34" charset="0"/>
              </a:rPr>
              <a:t>m</a:t>
            </a:r>
            <a:r>
              <a:rPr lang="de-DE" dirty="0" smtClean="0">
                <a:solidFill>
                  <a:schemeClr val="accent2"/>
                </a:solidFill>
                <a:latin typeface="Source Sans Pro" panose="020B0503030403020204" pitchFamily="34" charset="0"/>
              </a:rPr>
              <a:t>:n-Relation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222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Lied</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10" name="Raute 9"/>
          <p:cNvSpPr/>
          <p:nvPr/>
        </p:nvSpPr>
        <p:spPr>
          <a:xfrm>
            <a:off x="4446529" y="3357274"/>
            <a:ext cx="2582921"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beherrscht</a:t>
            </a:r>
            <a:endPar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stCxn id="10" idx="1"/>
          </p:cNvCxnSpPr>
          <p:nvPr/>
        </p:nvCxnSpPr>
        <p:spPr>
          <a:xfrm flipH="1" flipV="1">
            <a:off x="3536303" y="3680039"/>
            <a:ext cx="91022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7029450" y="3680039"/>
            <a:ext cx="910902"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
        <p:nvSpPr>
          <p:cNvPr id="100" name="Grafik 63" descr="Musiknote">
            <a:extLst>
              <a:ext uri="{FF2B5EF4-FFF2-40B4-BE49-F238E27FC236}">
                <a16:creationId xmlns:a16="http://schemas.microsoft.com/office/drawing/2014/main" id="{0E982C9F-526B-4A2F-9058-E288F77F8779}"/>
              </a:ext>
            </a:extLst>
          </p:cNvPr>
          <p:cNvSpPr/>
          <p:nvPr/>
        </p:nvSpPr>
        <p:spPr>
          <a:xfrm>
            <a:off x="8537811" y="1644934"/>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2" name="Grafik 63" descr="Musiknote">
            <a:extLst>
              <a:ext uri="{FF2B5EF4-FFF2-40B4-BE49-F238E27FC236}">
                <a16:creationId xmlns:a16="http://schemas.microsoft.com/office/drawing/2014/main" id="{0E982C9F-526B-4A2F-9058-E288F77F8779}"/>
              </a:ext>
            </a:extLst>
          </p:cNvPr>
          <p:cNvSpPr/>
          <p:nvPr/>
        </p:nvSpPr>
        <p:spPr>
          <a:xfrm>
            <a:off x="9365520" y="194505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3" name="Grafik 63" descr="Musiknote">
            <a:extLst>
              <a:ext uri="{FF2B5EF4-FFF2-40B4-BE49-F238E27FC236}">
                <a16:creationId xmlns:a16="http://schemas.microsoft.com/office/drawing/2014/main" id="{0E982C9F-526B-4A2F-9058-E288F77F8779}"/>
              </a:ext>
            </a:extLst>
          </p:cNvPr>
          <p:cNvSpPr/>
          <p:nvPr/>
        </p:nvSpPr>
        <p:spPr>
          <a:xfrm>
            <a:off x="8639336" y="236038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4" name="Grafik 63" descr="Musiknote">
            <a:extLst>
              <a:ext uri="{FF2B5EF4-FFF2-40B4-BE49-F238E27FC236}">
                <a16:creationId xmlns:a16="http://schemas.microsoft.com/office/drawing/2014/main" id="{0E982C9F-526B-4A2F-9058-E288F77F8779}"/>
              </a:ext>
            </a:extLst>
          </p:cNvPr>
          <p:cNvSpPr/>
          <p:nvPr/>
        </p:nvSpPr>
        <p:spPr>
          <a:xfrm>
            <a:off x="9598621" y="2757279"/>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5" name="Grafik 63" descr="Musiknote">
            <a:extLst>
              <a:ext uri="{FF2B5EF4-FFF2-40B4-BE49-F238E27FC236}">
                <a16:creationId xmlns:a16="http://schemas.microsoft.com/office/drawing/2014/main" id="{0E982C9F-526B-4A2F-9058-E288F77F8779}"/>
              </a:ext>
            </a:extLst>
          </p:cNvPr>
          <p:cNvSpPr/>
          <p:nvPr/>
        </p:nvSpPr>
        <p:spPr>
          <a:xfrm>
            <a:off x="9145519" y="3200202"/>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6" name="Grafik 63" descr="Musiknote">
            <a:extLst>
              <a:ext uri="{FF2B5EF4-FFF2-40B4-BE49-F238E27FC236}">
                <a16:creationId xmlns:a16="http://schemas.microsoft.com/office/drawing/2014/main" id="{0E982C9F-526B-4A2F-9058-E288F77F8779}"/>
              </a:ext>
            </a:extLst>
          </p:cNvPr>
          <p:cNvSpPr/>
          <p:nvPr/>
        </p:nvSpPr>
        <p:spPr>
          <a:xfrm>
            <a:off x="8582492" y="361771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7" name="Grafik 63" descr="Musiknote">
            <a:extLst>
              <a:ext uri="{FF2B5EF4-FFF2-40B4-BE49-F238E27FC236}">
                <a16:creationId xmlns:a16="http://schemas.microsoft.com/office/drawing/2014/main" id="{0E982C9F-526B-4A2F-9058-E288F77F8779}"/>
              </a:ext>
            </a:extLst>
          </p:cNvPr>
          <p:cNvSpPr/>
          <p:nvPr/>
        </p:nvSpPr>
        <p:spPr>
          <a:xfrm>
            <a:off x="9026184" y="408343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8" name="Grafik 63" descr="Musiknote">
            <a:extLst>
              <a:ext uri="{FF2B5EF4-FFF2-40B4-BE49-F238E27FC236}">
                <a16:creationId xmlns:a16="http://schemas.microsoft.com/office/drawing/2014/main" id="{0E982C9F-526B-4A2F-9058-E288F77F8779}"/>
              </a:ext>
            </a:extLst>
          </p:cNvPr>
          <p:cNvSpPr/>
          <p:nvPr/>
        </p:nvSpPr>
        <p:spPr>
          <a:xfrm>
            <a:off x="9811839" y="477885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cxnSp>
        <p:nvCxnSpPr>
          <p:cNvPr id="45" name="Gerader Verbinder 44"/>
          <p:cNvCxnSpPr/>
          <p:nvPr/>
        </p:nvCxnSpPr>
        <p:spPr>
          <a:xfrm flipH="1">
            <a:off x="2775760" y="1811845"/>
            <a:ext cx="5741994" cy="105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r Verbinder 46"/>
          <p:cNvCxnSpPr/>
          <p:nvPr/>
        </p:nvCxnSpPr>
        <p:spPr>
          <a:xfrm flipH="1" flipV="1">
            <a:off x="2790551" y="1913834"/>
            <a:ext cx="6493409" cy="3027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Gerader Verbinder 52"/>
          <p:cNvCxnSpPr/>
          <p:nvPr/>
        </p:nvCxnSpPr>
        <p:spPr>
          <a:xfrm flipH="1" flipV="1">
            <a:off x="2790552" y="1912902"/>
            <a:ext cx="5848784" cy="6416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feld 55"/>
          <p:cNvSpPr txBox="1"/>
          <p:nvPr/>
        </p:nvSpPr>
        <p:spPr>
          <a:xfrm>
            <a:off x="235257" y="5615251"/>
            <a:ext cx="5222905" cy="369332"/>
          </a:xfrm>
          <a:prstGeom prst="rect">
            <a:avLst/>
          </a:prstGeom>
          <a:noFill/>
        </p:spPr>
        <p:txBody>
          <a:bodyPr wrap="none" rtlCol="0">
            <a:spAutoFit/>
          </a:bodyPr>
          <a:lstStyle/>
          <a:p>
            <a:r>
              <a:rPr lang="de-DE" dirty="0" smtClean="0">
                <a:latin typeface="Source Sans Pro" panose="020B0503030403020204" pitchFamily="34" charset="0"/>
              </a:rPr>
              <a:t>Es kann Personen geben, die </a:t>
            </a:r>
            <a:r>
              <a:rPr lang="de-DE" b="1" dirty="0" smtClean="0">
                <a:solidFill>
                  <a:schemeClr val="accent2"/>
                </a:solidFill>
                <a:latin typeface="Source Sans Pro" panose="020B0503030403020204" pitchFamily="34" charset="0"/>
              </a:rPr>
              <a:t>nur 1 </a:t>
            </a:r>
            <a:r>
              <a:rPr lang="de-DE" dirty="0" smtClean="0">
                <a:latin typeface="Source Sans Pro" panose="020B0503030403020204" pitchFamily="34" charset="0"/>
              </a:rPr>
              <a:t>Lied beherrschen</a:t>
            </a:r>
            <a:endParaRPr lang="de-DE" dirty="0">
              <a:latin typeface="Source Sans Pro" panose="020B0503030403020204" pitchFamily="34" charset="0"/>
            </a:endParaRPr>
          </a:p>
        </p:txBody>
      </p:sp>
      <p:cxnSp>
        <p:nvCxnSpPr>
          <p:cNvPr id="49" name="Gerader Verbinder 48"/>
          <p:cNvCxnSpPr/>
          <p:nvPr/>
        </p:nvCxnSpPr>
        <p:spPr>
          <a:xfrm flipH="1" flipV="1">
            <a:off x="2909887" y="4191664"/>
            <a:ext cx="6043613" cy="1834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Gerader Verbinder 50"/>
          <p:cNvCxnSpPr/>
          <p:nvPr/>
        </p:nvCxnSpPr>
        <p:spPr>
          <a:xfrm flipH="1">
            <a:off x="1815489" y="4380449"/>
            <a:ext cx="7138011" cy="2608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Gerader Verbinder 53"/>
          <p:cNvCxnSpPr/>
          <p:nvPr/>
        </p:nvCxnSpPr>
        <p:spPr>
          <a:xfrm flipH="1">
            <a:off x="2981325" y="4369457"/>
            <a:ext cx="5972175" cy="7618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Gerader Verbinder 51"/>
          <p:cNvCxnSpPr/>
          <p:nvPr/>
        </p:nvCxnSpPr>
        <p:spPr>
          <a:xfrm flipH="1" flipV="1">
            <a:off x="1943100" y="2638425"/>
            <a:ext cx="7655521" cy="30782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Gerader Verbinder 56"/>
          <p:cNvCxnSpPr/>
          <p:nvPr/>
        </p:nvCxnSpPr>
        <p:spPr>
          <a:xfrm flipH="1">
            <a:off x="2964378" y="2950333"/>
            <a:ext cx="6634243" cy="15723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49652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aute 9"/>
          <p:cNvSpPr/>
          <p:nvPr/>
        </p:nvSpPr>
        <p:spPr>
          <a:xfrm>
            <a:off x="4446529" y="3357274"/>
            <a:ext cx="2582921" cy="648478"/>
          </a:xfrm>
          <a:prstGeom prst="diamond">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accent5"/>
                </a:solidFill>
                <a:latin typeface="Source Sans Pro" panose="020B0503030403020204" pitchFamily="34" charset="0"/>
              </a:rPr>
              <a:t>beherrscht</a:t>
            </a:r>
            <a:endParaRPr kumimoji="0" lang="de-DE" sz="1800" b="0" i="0" u="none" strike="noStrike" kern="1200" cap="none" spc="0" normalizeH="0" baseline="0" noProof="0" dirty="0">
              <a:ln>
                <a:noFill/>
              </a:ln>
              <a:solidFill>
                <a:schemeClr val="accent5"/>
              </a:solidFill>
              <a:effectLst/>
              <a:uLnTx/>
              <a:uFillTx/>
              <a:latin typeface="Source Sans Pro" panose="020B0503030403020204" pitchFamily="34" charset="0"/>
            </a:endParaRPr>
          </a:p>
        </p:txBody>
      </p:sp>
      <p:sp>
        <p:nvSpPr>
          <p:cNvPr id="11" name="Titel 10"/>
          <p:cNvSpPr>
            <a:spLocks noGrp="1"/>
          </p:cNvSpPr>
          <p:nvPr>
            <p:ph type="title"/>
          </p:nvPr>
        </p:nvSpPr>
        <p:spPr>
          <a:xfrm>
            <a:off x="420611" y="383340"/>
            <a:ext cx="10020344" cy="720725"/>
          </a:xfrm>
        </p:spPr>
        <p:txBody>
          <a:bodyPr>
            <a:normAutofit/>
          </a:bodyPr>
          <a:lstStyle/>
          <a:p>
            <a:r>
              <a:rPr lang="de-DE" dirty="0">
                <a:solidFill>
                  <a:schemeClr val="accent2"/>
                </a:solidFill>
                <a:latin typeface="Source Sans Pro" panose="020B0503030403020204" pitchFamily="34" charset="0"/>
              </a:rPr>
              <a:t>m</a:t>
            </a:r>
            <a:r>
              <a:rPr lang="de-DE" dirty="0" smtClean="0">
                <a:solidFill>
                  <a:schemeClr val="accent2"/>
                </a:solidFill>
                <a:latin typeface="Source Sans Pro" panose="020B0503030403020204" pitchFamily="34" charset="0"/>
              </a:rPr>
              <a:t>:n-Relation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222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Lied</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cxnSp>
        <p:nvCxnSpPr>
          <p:cNvPr id="13" name="Gerader Verbinder 12"/>
          <p:cNvCxnSpPr>
            <a:stCxn id="10" idx="1"/>
          </p:cNvCxnSpPr>
          <p:nvPr/>
        </p:nvCxnSpPr>
        <p:spPr>
          <a:xfrm flipH="1" flipV="1">
            <a:off x="3536303" y="3680039"/>
            <a:ext cx="910226" cy="14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7029450" y="3680039"/>
            <a:ext cx="910902" cy="14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
        <p:nvSpPr>
          <p:cNvPr id="100" name="Grafik 63" descr="Musiknote">
            <a:extLst>
              <a:ext uri="{FF2B5EF4-FFF2-40B4-BE49-F238E27FC236}">
                <a16:creationId xmlns:a16="http://schemas.microsoft.com/office/drawing/2014/main" id="{0E982C9F-526B-4A2F-9058-E288F77F8779}"/>
              </a:ext>
            </a:extLst>
          </p:cNvPr>
          <p:cNvSpPr/>
          <p:nvPr/>
        </p:nvSpPr>
        <p:spPr>
          <a:xfrm>
            <a:off x="8537811" y="1644934"/>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2" name="Grafik 63" descr="Musiknote">
            <a:extLst>
              <a:ext uri="{FF2B5EF4-FFF2-40B4-BE49-F238E27FC236}">
                <a16:creationId xmlns:a16="http://schemas.microsoft.com/office/drawing/2014/main" id="{0E982C9F-526B-4A2F-9058-E288F77F8779}"/>
              </a:ext>
            </a:extLst>
          </p:cNvPr>
          <p:cNvSpPr/>
          <p:nvPr/>
        </p:nvSpPr>
        <p:spPr>
          <a:xfrm>
            <a:off x="9365520" y="194505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3" name="Grafik 63" descr="Musiknote">
            <a:extLst>
              <a:ext uri="{FF2B5EF4-FFF2-40B4-BE49-F238E27FC236}">
                <a16:creationId xmlns:a16="http://schemas.microsoft.com/office/drawing/2014/main" id="{0E982C9F-526B-4A2F-9058-E288F77F8779}"/>
              </a:ext>
            </a:extLst>
          </p:cNvPr>
          <p:cNvSpPr/>
          <p:nvPr/>
        </p:nvSpPr>
        <p:spPr>
          <a:xfrm>
            <a:off x="8639336" y="236038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4" name="Grafik 63" descr="Musiknote">
            <a:extLst>
              <a:ext uri="{FF2B5EF4-FFF2-40B4-BE49-F238E27FC236}">
                <a16:creationId xmlns:a16="http://schemas.microsoft.com/office/drawing/2014/main" id="{0E982C9F-526B-4A2F-9058-E288F77F8779}"/>
              </a:ext>
            </a:extLst>
          </p:cNvPr>
          <p:cNvSpPr/>
          <p:nvPr/>
        </p:nvSpPr>
        <p:spPr>
          <a:xfrm>
            <a:off x="9598621" y="2757279"/>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5" name="Grafik 63" descr="Musiknote">
            <a:extLst>
              <a:ext uri="{FF2B5EF4-FFF2-40B4-BE49-F238E27FC236}">
                <a16:creationId xmlns:a16="http://schemas.microsoft.com/office/drawing/2014/main" id="{0E982C9F-526B-4A2F-9058-E288F77F8779}"/>
              </a:ext>
            </a:extLst>
          </p:cNvPr>
          <p:cNvSpPr/>
          <p:nvPr/>
        </p:nvSpPr>
        <p:spPr>
          <a:xfrm>
            <a:off x="9145519" y="3200202"/>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6" name="Grafik 63" descr="Musiknote">
            <a:extLst>
              <a:ext uri="{FF2B5EF4-FFF2-40B4-BE49-F238E27FC236}">
                <a16:creationId xmlns:a16="http://schemas.microsoft.com/office/drawing/2014/main" id="{0E982C9F-526B-4A2F-9058-E288F77F8779}"/>
              </a:ext>
            </a:extLst>
          </p:cNvPr>
          <p:cNvSpPr/>
          <p:nvPr/>
        </p:nvSpPr>
        <p:spPr>
          <a:xfrm>
            <a:off x="8582492" y="361771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7" name="Grafik 63" descr="Musiknote">
            <a:extLst>
              <a:ext uri="{FF2B5EF4-FFF2-40B4-BE49-F238E27FC236}">
                <a16:creationId xmlns:a16="http://schemas.microsoft.com/office/drawing/2014/main" id="{0E982C9F-526B-4A2F-9058-E288F77F8779}"/>
              </a:ext>
            </a:extLst>
          </p:cNvPr>
          <p:cNvSpPr/>
          <p:nvPr/>
        </p:nvSpPr>
        <p:spPr>
          <a:xfrm>
            <a:off x="9026184" y="408343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8" name="Grafik 63" descr="Musiknote">
            <a:extLst>
              <a:ext uri="{FF2B5EF4-FFF2-40B4-BE49-F238E27FC236}">
                <a16:creationId xmlns:a16="http://schemas.microsoft.com/office/drawing/2014/main" id="{0E982C9F-526B-4A2F-9058-E288F77F8779}"/>
              </a:ext>
            </a:extLst>
          </p:cNvPr>
          <p:cNvSpPr/>
          <p:nvPr/>
        </p:nvSpPr>
        <p:spPr>
          <a:xfrm>
            <a:off x="9811839" y="477885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cxnSp>
        <p:nvCxnSpPr>
          <p:cNvPr id="45" name="Gerader Verbinder 44"/>
          <p:cNvCxnSpPr/>
          <p:nvPr/>
        </p:nvCxnSpPr>
        <p:spPr>
          <a:xfrm flipH="1">
            <a:off x="2775760" y="1811845"/>
            <a:ext cx="5741994" cy="105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r Verbinder 46"/>
          <p:cNvCxnSpPr/>
          <p:nvPr/>
        </p:nvCxnSpPr>
        <p:spPr>
          <a:xfrm flipH="1" flipV="1">
            <a:off x="2790551" y="1913834"/>
            <a:ext cx="6493409" cy="3027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Gerader Verbinder 52"/>
          <p:cNvCxnSpPr/>
          <p:nvPr/>
        </p:nvCxnSpPr>
        <p:spPr>
          <a:xfrm flipH="1" flipV="1">
            <a:off x="2790552" y="1912902"/>
            <a:ext cx="5848784" cy="6416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feld 55"/>
          <p:cNvSpPr txBox="1"/>
          <p:nvPr/>
        </p:nvSpPr>
        <p:spPr>
          <a:xfrm>
            <a:off x="6037255" y="5635968"/>
            <a:ext cx="6215163" cy="369332"/>
          </a:xfrm>
          <a:prstGeom prst="rect">
            <a:avLst/>
          </a:prstGeom>
          <a:noFill/>
        </p:spPr>
        <p:txBody>
          <a:bodyPr wrap="none" rtlCol="0">
            <a:spAutoFit/>
          </a:bodyPr>
          <a:lstStyle/>
          <a:p>
            <a:r>
              <a:rPr lang="de-DE" dirty="0" smtClean="0">
                <a:latin typeface="Source Sans Pro" panose="020B0503030403020204" pitchFamily="34" charset="0"/>
              </a:rPr>
              <a:t>Es kann Lieder geben, die </a:t>
            </a:r>
            <a:r>
              <a:rPr lang="de-DE" b="1" dirty="0" smtClean="0">
                <a:solidFill>
                  <a:schemeClr val="accent2"/>
                </a:solidFill>
                <a:latin typeface="Source Sans Pro" panose="020B0503030403020204" pitchFamily="34" charset="0"/>
              </a:rPr>
              <a:t>nur von 1 </a:t>
            </a:r>
            <a:r>
              <a:rPr lang="de-DE" dirty="0" smtClean="0">
                <a:latin typeface="Source Sans Pro" panose="020B0503030403020204" pitchFamily="34" charset="0"/>
              </a:rPr>
              <a:t>Person beherrscht werden</a:t>
            </a:r>
            <a:endParaRPr lang="de-DE" dirty="0">
              <a:latin typeface="Source Sans Pro" panose="020B0503030403020204" pitchFamily="34" charset="0"/>
            </a:endParaRPr>
          </a:p>
        </p:txBody>
      </p:sp>
      <p:cxnSp>
        <p:nvCxnSpPr>
          <p:cNvPr id="49" name="Gerader Verbinder 48"/>
          <p:cNvCxnSpPr/>
          <p:nvPr/>
        </p:nvCxnSpPr>
        <p:spPr>
          <a:xfrm flipH="1" flipV="1">
            <a:off x="2909887" y="4191664"/>
            <a:ext cx="6043613" cy="1834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Gerader Verbinder 50"/>
          <p:cNvCxnSpPr/>
          <p:nvPr/>
        </p:nvCxnSpPr>
        <p:spPr>
          <a:xfrm flipH="1">
            <a:off x="1815489" y="4380449"/>
            <a:ext cx="7138011" cy="2608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Gerader Verbinder 53"/>
          <p:cNvCxnSpPr/>
          <p:nvPr/>
        </p:nvCxnSpPr>
        <p:spPr>
          <a:xfrm flipH="1">
            <a:off x="2981325" y="4369457"/>
            <a:ext cx="5972175" cy="7618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Gerader Verbinder 51"/>
          <p:cNvCxnSpPr/>
          <p:nvPr/>
        </p:nvCxnSpPr>
        <p:spPr>
          <a:xfrm flipH="1" flipV="1">
            <a:off x="1943100" y="2638425"/>
            <a:ext cx="7655521" cy="3078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Gerader Verbinder 56"/>
          <p:cNvCxnSpPr/>
          <p:nvPr/>
        </p:nvCxnSpPr>
        <p:spPr>
          <a:xfrm flipH="1">
            <a:off x="2964378" y="2950333"/>
            <a:ext cx="6634243" cy="1572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Gerader Verbinder 54"/>
          <p:cNvCxnSpPr/>
          <p:nvPr/>
        </p:nvCxnSpPr>
        <p:spPr>
          <a:xfrm flipH="1">
            <a:off x="1774837" y="3357274"/>
            <a:ext cx="7370682" cy="32276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Gerader Verbinder 57"/>
          <p:cNvCxnSpPr/>
          <p:nvPr/>
        </p:nvCxnSpPr>
        <p:spPr>
          <a:xfrm flipH="1" flipV="1">
            <a:off x="1774837" y="3680039"/>
            <a:ext cx="6742917" cy="21856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89783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aute 9"/>
          <p:cNvSpPr/>
          <p:nvPr/>
        </p:nvSpPr>
        <p:spPr>
          <a:xfrm>
            <a:off x="4446529" y="3357274"/>
            <a:ext cx="2582921" cy="648478"/>
          </a:xfrm>
          <a:prstGeom prst="diamond">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accent5"/>
                </a:solidFill>
                <a:latin typeface="Source Sans Pro" panose="020B0503030403020204" pitchFamily="34" charset="0"/>
              </a:rPr>
              <a:t>beherrscht</a:t>
            </a:r>
            <a:endParaRPr kumimoji="0" lang="de-DE" sz="1800" b="0" i="0" u="none" strike="noStrike" kern="1200" cap="none" spc="0" normalizeH="0" baseline="0" noProof="0" dirty="0">
              <a:ln>
                <a:noFill/>
              </a:ln>
              <a:solidFill>
                <a:schemeClr val="accent5"/>
              </a:solidFill>
              <a:effectLst/>
              <a:uLnTx/>
              <a:uFillTx/>
              <a:latin typeface="Source Sans Pro" panose="020B0503030403020204" pitchFamily="34" charset="0"/>
            </a:endParaRPr>
          </a:p>
        </p:txBody>
      </p:sp>
      <p:sp>
        <p:nvSpPr>
          <p:cNvPr id="11" name="Titel 10"/>
          <p:cNvSpPr>
            <a:spLocks noGrp="1"/>
          </p:cNvSpPr>
          <p:nvPr>
            <p:ph type="title"/>
          </p:nvPr>
        </p:nvSpPr>
        <p:spPr>
          <a:xfrm>
            <a:off x="420611" y="383340"/>
            <a:ext cx="10020344" cy="720725"/>
          </a:xfrm>
        </p:spPr>
        <p:txBody>
          <a:bodyPr>
            <a:normAutofit/>
          </a:bodyPr>
          <a:lstStyle/>
          <a:p>
            <a:r>
              <a:rPr lang="de-DE" dirty="0">
                <a:solidFill>
                  <a:schemeClr val="accent2"/>
                </a:solidFill>
                <a:latin typeface="Source Sans Pro" panose="020B0503030403020204" pitchFamily="34" charset="0"/>
              </a:rPr>
              <a:t>m</a:t>
            </a:r>
            <a:r>
              <a:rPr lang="de-DE" dirty="0" smtClean="0">
                <a:solidFill>
                  <a:schemeClr val="accent2"/>
                </a:solidFill>
                <a:latin typeface="Source Sans Pro" panose="020B0503030403020204" pitchFamily="34" charset="0"/>
              </a:rPr>
              <a:t>:n-Relation</a:t>
            </a:r>
            <a:r>
              <a:rPr lang="de-DE" dirty="0" smtClean="0">
                <a:latin typeface="Source Sans Pro" panose="020B0503030403020204" pitchFamily="34" charset="0"/>
              </a:rPr>
              <a:t> -&gt; Erläuterung</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sp>
        <p:nvSpPr>
          <p:cNvPr id="3" name="Textfeld 2"/>
          <p:cNvSpPr txBox="1"/>
          <p:nvPr/>
        </p:nvSpPr>
        <p:spPr>
          <a:xfrm>
            <a:off x="849087" y="1110334"/>
            <a:ext cx="8963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Textfeld 8"/>
          <p:cNvSpPr txBox="1"/>
          <p:nvPr/>
        </p:nvSpPr>
        <p:spPr>
          <a:xfrm>
            <a:off x="7940352" y="1104969"/>
            <a:ext cx="6222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0071B2"/>
                </a:solidFill>
                <a:effectLst/>
                <a:uLnTx/>
                <a:uFillTx/>
                <a:latin typeface="Source Sans Pro" panose="020B0503030403020204" pitchFamily="34" charset="0"/>
              </a:rPr>
              <a:t>Lied</a:t>
            </a:r>
            <a:endParaRPr kumimoji="0" lang="de-DE" sz="1200"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cxnSp>
        <p:nvCxnSpPr>
          <p:cNvPr id="13" name="Gerader Verbinder 12"/>
          <p:cNvCxnSpPr>
            <a:stCxn id="10" idx="1"/>
          </p:cNvCxnSpPr>
          <p:nvPr/>
        </p:nvCxnSpPr>
        <p:spPr>
          <a:xfrm flipH="1" flipV="1">
            <a:off x="3536303" y="3680039"/>
            <a:ext cx="910226" cy="14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endCxn id="10" idx="3"/>
          </p:cNvCxnSpPr>
          <p:nvPr/>
        </p:nvCxnSpPr>
        <p:spPr>
          <a:xfrm flipH="1">
            <a:off x="7029450" y="3680039"/>
            <a:ext cx="910902" cy="14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7" name="Grafik 30" descr="Mann">
            <a:extLst>
              <a:ext uri="{FF2B5EF4-FFF2-40B4-BE49-F238E27FC236}">
                <a16:creationId xmlns:a16="http://schemas.microsoft.com/office/drawing/2014/main" id="{53948E82-B373-489A-9F1E-E00778DFE3E3}"/>
              </a:ext>
            </a:extLst>
          </p:cNvPr>
          <p:cNvGrpSpPr/>
          <p:nvPr/>
        </p:nvGrpSpPr>
        <p:grpSpPr>
          <a:xfrm>
            <a:off x="1150228" y="1988254"/>
            <a:ext cx="304499" cy="414124"/>
            <a:chOff x="4923889" y="4774195"/>
            <a:chExt cx="206030" cy="421425"/>
          </a:xfrm>
          <a:solidFill>
            <a:srgbClr val="0071B2"/>
          </a:solidFill>
        </p:grpSpPr>
        <p:sp>
          <p:nvSpPr>
            <p:cNvPr id="18"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9"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0" name="Grafik 34" descr="Frau">
            <a:extLst>
              <a:ext uri="{FF2B5EF4-FFF2-40B4-BE49-F238E27FC236}">
                <a16:creationId xmlns:a16="http://schemas.microsoft.com/office/drawing/2014/main" id="{6AF9518C-4B45-464E-8C3C-7E1938270D00}"/>
              </a:ext>
            </a:extLst>
          </p:cNvPr>
          <p:cNvGrpSpPr/>
          <p:nvPr/>
        </p:nvGrpSpPr>
        <p:grpSpPr>
          <a:xfrm>
            <a:off x="1568418" y="2467850"/>
            <a:ext cx="301946" cy="433292"/>
            <a:chOff x="5453645" y="4774195"/>
            <a:chExt cx="206539" cy="421425"/>
          </a:xfrm>
          <a:solidFill>
            <a:srgbClr val="0071B2"/>
          </a:solidFill>
        </p:grpSpPr>
        <p:sp>
          <p:nvSpPr>
            <p:cNvPr id="21"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2"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3" name="Grafik 30" descr="Mann">
            <a:extLst>
              <a:ext uri="{FF2B5EF4-FFF2-40B4-BE49-F238E27FC236}">
                <a16:creationId xmlns:a16="http://schemas.microsoft.com/office/drawing/2014/main" id="{53948E82-B373-489A-9F1E-E00778DFE3E3}"/>
              </a:ext>
            </a:extLst>
          </p:cNvPr>
          <p:cNvGrpSpPr/>
          <p:nvPr/>
        </p:nvGrpSpPr>
        <p:grpSpPr>
          <a:xfrm>
            <a:off x="2440195" y="1729020"/>
            <a:ext cx="304499" cy="414124"/>
            <a:chOff x="4923889" y="4774195"/>
            <a:chExt cx="206030" cy="421425"/>
          </a:xfrm>
          <a:solidFill>
            <a:srgbClr val="0071B2"/>
          </a:solidFill>
        </p:grpSpPr>
        <p:sp>
          <p:nvSpPr>
            <p:cNvPr id="24"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6" name="Grafik 34" descr="Frau">
            <a:extLst>
              <a:ext uri="{FF2B5EF4-FFF2-40B4-BE49-F238E27FC236}">
                <a16:creationId xmlns:a16="http://schemas.microsoft.com/office/drawing/2014/main" id="{6AF9518C-4B45-464E-8C3C-7E1938270D00}"/>
              </a:ext>
            </a:extLst>
          </p:cNvPr>
          <p:cNvGrpSpPr/>
          <p:nvPr/>
        </p:nvGrpSpPr>
        <p:grpSpPr>
          <a:xfrm>
            <a:off x="2528769" y="2869222"/>
            <a:ext cx="301946" cy="433292"/>
            <a:chOff x="5453645" y="4774195"/>
            <a:chExt cx="206539" cy="421425"/>
          </a:xfrm>
          <a:solidFill>
            <a:srgbClr val="0071B2"/>
          </a:solidFill>
        </p:grpSpPr>
        <p:sp>
          <p:nvSpPr>
            <p:cNvPr id="27"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8"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29" name="Grafik 34" descr="Frau">
            <a:extLst>
              <a:ext uri="{FF2B5EF4-FFF2-40B4-BE49-F238E27FC236}">
                <a16:creationId xmlns:a16="http://schemas.microsoft.com/office/drawing/2014/main" id="{6AF9518C-4B45-464E-8C3C-7E1938270D00}"/>
              </a:ext>
            </a:extLst>
          </p:cNvPr>
          <p:cNvGrpSpPr/>
          <p:nvPr/>
        </p:nvGrpSpPr>
        <p:grpSpPr>
          <a:xfrm>
            <a:off x="1380746" y="3400169"/>
            <a:ext cx="301946" cy="433292"/>
            <a:chOff x="5453645" y="4774195"/>
            <a:chExt cx="206539" cy="421425"/>
          </a:xfrm>
          <a:solidFill>
            <a:srgbClr val="0071B2"/>
          </a:solidFill>
        </p:grpSpPr>
        <p:sp>
          <p:nvSpPr>
            <p:cNvPr id="30"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1"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2" name="Grafik 34" descr="Frau">
            <a:extLst>
              <a:ext uri="{FF2B5EF4-FFF2-40B4-BE49-F238E27FC236}">
                <a16:creationId xmlns:a16="http://schemas.microsoft.com/office/drawing/2014/main" id="{6AF9518C-4B45-464E-8C3C-7E1938270D00}"/>
              </a:ext>
            </a:extLst>
          </p:cNvPr>
          <p:cNvGrpSpPr/>
          <p:nvPr/>
        </p:nvGrpSpPr>
        <p:grpSpPr>
          <a:xfrm>
            <a:off x="2496835" y="3898604"/>
            <a:ext cx="301946" cy="433292"/>
            <a:chOff x="5453645" y="4774195"/>
            <a:chExt cx="206539" cy="421425"/>
          </a:xfrm>
          <a:solidFill>
            <a:srgbClr val="0071B2"/>
          </a:solidFill>
        </p:grpSpPr>
        <p:sp>
          <p:nvSpPr>
            <p:cNvPr id="33" name="Freihandform: Form 40">
              <a:extLst>
                <a:ext uri="{FF2B5EF4-FFF2-40B4-BE49-F238E27FC236}">
                  <a16:creationId xmlns:a16="http://schemas.microsoft.com/office/drawing/2014/main" id="{29D7A2E0-442E-4E10-820F-88C0F57B6182}"/>
                </a:ext>
              </a:extLst>
            </p:cNvPr>
            <p:cNvSpPr/>
            <p:nvPr/>
          </p:nvSpPr>
          <p:spPr>
            <a:xfrm>
              <a:off x="5519921"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4" name="Freihandform: Form 41">
              <a:extLst>
                <a:ext uri="{FF2B5EF4-FFF2-40B4-BE49-F238E27FC236}">
                  <a16:creationId xmlns:a16="http://schemas.microsoft.com/office/drawing/2014/main" id="{BDB455D1-A078-4585-A307-6CCACFE0586F}"/>
                </a:ext>
              </a:extLst>
            </p:cNvPr>
            <p:cNvSpPr/>
            <p:nvPr/>
          </p:nvSpPr>
          <p:spPr>
            <a:xfrm>
              <a:off x="5453645" y="4858480"/>
              <a:ext cx="206539" cy="337140"/>
            </a:xfrm>
            <a:custGeom>
              <a:avLst/>
              <a:gdLst>
                <a:gd name="connsiteX0" fmla="*/ 205814 w 206539"/>
                <a:gd name="connsiteY0" fmla="*/ 144221 h 337140"/>
                <a:gd name="connsiteX1" fmla="*/ 172100 w 206539"/>
                <a:gd name="connsiteY1" fmla="*/ 28095 h 337140"/>
                <a:gd name="connsiteX2" fmla="*/ 164608 w 206539"/>
                <a:gd name="connsiteY2" fmla="*/ 17793 h 337140"/>
                <a:gd name="connsiteX3" fmla="*/ 125275 w 206539"/>
                <a:gd name="connsiteY3" fmla="*/ 1873 h 337140"/>
                <a:gd name="connsiteX4" fmla="*/ 103736 w 206539"/>
                <a:gd name="connsiteY4" fmla="*/ 0 h 337140"/>
                <a:gd name="connsiteX5" fmla="*/ 82196 w 206539"/>
                <a:gd name="connsiteY5" fmla="*/ 1873 h 337140"/>
                <a:gd name="connsiteX6" fmla="*/ 42863 w 206539"/>
                <a:gd name="connsiteY6" fmla="*/ 17793 h 337140"/>
                <a:gd name="connsiteX7" fmla="*/ 35371 w 206539"/>
                <a:gd name="connsiteY7" fmla="*/ 28095 h 337140"/>
                <a:gd name="connsiteX8" fmla="*/ 721 w 206539"/>
                <a:gd name="connsiteY8" fmla="*/ 144221 h 337140"/>
                <a:gd name="connsiteX9" fmla="*/ 13832 w 206539"/>
                <a:gd name="connsiteY9" fmla="*/ 167634 h 337140"/>
                <a:gd name="connsiteX10" fmla="*/ 19451 w 206539"/>
                <a:gd name="connsiteY10" fmla="*/ 168570 h 337140"/>
                <a:gd name="connsiteX11" fmla="*/ 37244 w 206539"/>
                <a:gd name="connsiteY11" fmla="*/ 155459 h 337140"/>
                <a:gd name="connsiteX12" fmla="*/ 66276 w 206539"/>
                <a:gd name="connsiteY12" fmla="*/ 57127 h 337140"/>
                <a:gd name="connsiteX13" fmla="*/ 66276 w 206539"/>
                <a:gd name="connsiteY13" fmla="*/ 89904 h 337140"/>
                <a:gd name="connsiteX14" fmla="*/ 31625 w 206539"/>
                <a:gd name="connsiteY14" fmla="*/ 206030 h 337140"/>
                <a:gd name="connsiteX15" fmla="*/ 56911 w 206539"/>
                <a:gd name="connsiteY15" fmla="*/ 206030 h 337140"/>
                <a:gd name="connsiteX16" fmla="*/ 56911 w 206539"/>
                <a:gd name="connsiteY16" fmla="*/ 337140 h 337140"/>
                <a:gd name="connsiteX17" fmla="*/ 94371 w 206539"/>
                <a:gd name="connsiteY17" fmla="*/ 337140 h 337140"/>
                <a:gd name="connsiteX18" fmla="*/ 94371 w 206539"/>
                <a:gd name="connsiteY18" fmla="*/ 206030 h 337140"/>
                <a:gd name="connsiteX19" fmla="*/ 113101 w 206539"/>
                <a:gd name="connsiteY19" fmla="*/ 206030 h 337140"/>
                <a:gd name="connsiteX20" fmla="*/ 113101 w 206539"/>
                <a:gd name="connsiteY20" fmla="*/ 337140 h 337140"/>
                <a:gd name="connsiteX21" fmla="*/ 150561 w 206539"/>
                <a:gd name="connsiteY21" fmla="*/ 337140 h 337140"/>
                <a:gd name="connsiteX22" fmla="*/ 150561 w 206539"/>
                <a:gd name="connsiteY22" fmla="*/ 206030 h 337140"/>
                <a:gd name="connsiteX23" fmla="*/ 175846 w 206539"/>
                <a:gd name="connsiteY23" fmla="*/ 206030 h 337140"/>
                <a:gd name="connsiteX24" fmla="*/ 141196 w 206539"/>
                <a:gd name="connsiteY24" fmla="*/ 89904 h 337140"/>
                <a:gd name="connsiteX25" fmla="*/ 141196 w 206539"/>
                <a:gd name="connsiteY25" fmla="*/ 57127 h 337140"/>
                <a:gd name="connsiteX26" fmla="*/ 170227 w 206539"/>
                <a:gd name="connsiteY26" fmla="*/ 155459 h 337140"/>
                <a:gd name="connsiteX27" fmla="*/ 188021 w 206539"/>
                <a:gd name="connsiteY27" fmla="*/ 168570 h 337140"/>
                <a:gd name="connsiteX28" fmla="*/ 193640 w 206539"/>
                <a:gd name="connsiteY28" fmla="*/ 167634 h 337140"/>
                <a:gd name="connsiteX29" fmla="*/ 205814 w 206539"/>
                <a:gd name="connsiteY29" fmla="*/ 144221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6539" h="337140">
                  <a:moveTo>
                    <a:pt x="205814" y="144221"/>
                  </a:moveTo>
                  <a:lnTo>
                    <a:pt x="172100" y="28095"/>
                  </a:lnTo>
                  <a:cubicBezTo>
                    <a:pt x="171164" y="23413"/>
                    <a:pt x="168354" y="19667"/>
                    <a:pt x="164608" y="17793"/>
                  </a:cubicBezTo>
                  <a:cubicBezTo>
                    <a:pt x="153370" y="10302"/>
                    <a:pt x="140259" y="5619"/>
                    <a:pt x="125275" y="1873"/>
                  </a:cubicBezTo>
                  <a:cubicBezTo>
                    <a:pt x="117783" y="937"/>
                    <a:pt x="111228" y="0"/>
                    <a:pt x="103736" y="0"/>
                  </a:cubicBezTo>
                  <a:cubicBezTo>
                    <a:pt x="96244" y="0"/>
                    <a:pt x="89688" y="937"/>
                    <a:pt x="82196" y="1873"/>
                  </a:cubicBezTo>
                  <a:cubicBezTo>
                    <a:pt x="67212" y="4683"/>
                    <a:pt x="54101" y="10302"/>
                    <a:pt x="42863" y="17793"/>
                  </a:cubicBezTo>
                  <a:cubicBezTo>
                    <a:pt x="39117" y="20603"/>
                    <a:pt x="36308" y="23413"/>
                    <a:pt x="35371" y="28095"/>
                  </a:cubicBezTo>
                  <a:lnTo>
                    <a:pt x="721" y="144221"/>
                  </a:lnTo>
                  <a:cubicBezTo>
                    <a:pt x="-2089" y="154523"/>
                    <a:pt x="3530" y="164824"/>
                    <a:pt x="13832" y="167634"/>
                  </a:cubicBezTo>
                  <a:cubicBezTo>
                    <a:pt x="15705" y="168570"/>
                    <a:pt x="17578" y="168570"/>
                    <a:pt x="19451" y="168570"/>
                  </a:cubicBezTo>
                  <a:cubicBezTo>
                    <a:pt x="27879" y="168570"/>
                    <a:pt x="35371" y="162951"/>
                    <a:pt x="37244" y="155459"/>
                  </a:cubicBezTo>
                  <a:lnTo>
                    <a:pt x="66276" y="57127"/>
                  </a:lnTo>
                  <a:lnTo>
                    <a:pt x="66276" y="89904"/>
                  </a:lnTo>
                  <a:lnTo>
                    <a:pt x="31625" y="206030"/>
                  </a:lnTo>
                  <a:lnTo>
                    <a:pt x="56911" y="206030"/>
                  </a:lnTo>
                  <a:lnTo>
                    <a:pt x="56911" y="337140"/>
                  </a:lnTo>
                  <a:lnTo>
                    <a:pt x="94371" y="337140"/>
                  </a:lnTo>
                  <a:lnTo>
                    <a:pt x="94371" y="206030"/>
                  </a:lnTo>
                  <a:lnTo>
                    <a:pt x="113101" y="206030"/>
                  </a:lnTo>
                  <a:lnTo>
                    <a:pt x="113101" y="337140"/>
                  </a:lnTo>
                  <a:lnTo>
                    <a:pt x="150561" y="337140"/>
                  </a:lnTo>
                  <a:lnTo>
                    <a:pt x="150561" y="206030"/>
                  </a:lnTo>
                  <a:lnTo>
                    <a:pt x="175846" y="206030"/>
                  </a:lnTo>
                  <a:lnTo>
                    <a:pt x="141196" y="89904"/>
                  </a:lnTo>
                  <a:lnTo>
                    <a:pt x="141196" y="57127"/>
                  </a:lnTo>
                  <a:lnTo>
                    <a:pt x="170227" y="155459"/>
                  </a:lnTo>
                  <a:cubicBezTo>
                    <a:pt x="173037" y="163888"/>
                    <a:pt x="180529" y="168570"/>
                    <a:pt x="188021" y="168570"/>
                  </a:cubicBezTo>
                  <a:cubicBezTo>
                    <a:pt x="189894" y="168570"/>
                    <a:pt x="191767" y="168570"/>
                    <a:pt x="193640" y="167634"/>
                  </a:cubicBezTo>
                  <a:cubicBezTo>
                    <a:pt x="203005" y="164824"/>
                    <a:pt x="208624" y="154523"/>
                    <a:pt x="205814" y="144221"/>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5" name="Grafik 30" descr="Mann">
            <a:extLst>
              <a:ext uri="{FF2B5EF4-FFF2-40B4-BE49-F238E27FC236}">
                <a16:creationId xmlns:a16="http://schemas.microsoft.com/office/drawing/2014/main" id="{53948E82-B373-489A-9F1E-E00778DFE3E3}"/>
              </a:ext>
            </a:extLst>
          </p:cNvPr>
          <p:cNvGrpSpPr/>
          <p:nvPr/>
        </p:nvGrpSpPr>
        <p:grpSpPr>
          <a:xfrm>
            <a:off x="1399884" y="4419146"/>
            <a:ext cx="304499" cy="414124"/>
            <a:chOff x="4923889" y="4774195"/>
            <a:chExt cx="206030" cy="421425"/>
          </a:xfrm>
          <a:solidFill>
            <a:srgbClr val="0071B2"/>
          </a:solidFill>
        </p:grpSpPr>
        <p:sp>
          <p:nvSpPr>
            <p:cNvPr id="36"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37"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38" name="Grafik 30" descr="Mann">
            <a:extLst>
              <a:ext uri="{FF2B5EF4-FFF2-40B4-BE49-F238E27FC236}">
                <a16:creationId xmlns:a16="http://schemas.microsoft.com/office/drawing/2014/main" id="{53948E82-B373-489A-9F1E-E00778DFE3E3}"/>
              </a:ext>
            </a:extLst>
          </p:cNvPr>
          <p:cNvGrpSpPr/>
          <p:nvPr/>
        </p:nvGrpSpPr>
        <p:grpSpPr>
          <a:xfrm>
            <a:off x="2582938" y="4928005"/>
            <a:ext cx="304499" cy="414124"/>
            <a:chOff x="4923889" y="4774195"/>
            <a:chExt cx="206030" cy="421425"/>
          </a:xfrm>
          <a:solidFill>
            <a:srgbClr val="0071B2"/>
          </a:solidFill>
        </p:grpSpPr>
        <p:sp>
          <p:nvSpPr>
            <p:cNvPr id="39" name="Freihandform: Form 36">
              <a:extLst>
                <a:ext uri="{FF2B5EF4-FFF2-40B4-BE49-F238E27FC236}">
                  <a16:creationId xmlns:a16="http://schemas.microsoft.com/office/drawing/2014/main" id="{E66E5D8F-CC72-4D73-86FB-95BF21FD5A9A}"/>
                </a:ext>
              </a:extLst>
            </p:cNvPr>
            <p:cNvSpPr/>
            <p:nvPr/>
          </p:nvSpPr>
          <p:spPr>
            <a:xfrm>
              <a:off x="4989444" y="4774195"/>
              <a:ext cx="74920" cy="74920"/>
            </a:xfrm>
            <a:custGeom>
              <a:avLst/>
              <a:gdLst>
                <a:gd name="connsiteX0" fmla="*/ 74920 w 74920"/>
                <a:gd name="connsiteY0" fmla="*/ 37460 h 74920"/>
                <a:gd name="connsiteX1" fmla="*/ 37460 w 74920"/>
                <a:gd name="connsiteY1" fmla="*/ 74920 h 74920"/>
                <a:gd name="connsiteX2" fmla="*/ 0 w 74920"/>
                <a:gd name="connsiteY2" fmla="*/ 37460 h 74920"/>
                <a:gd name="connsiteX3" fmla="*/ 37460 w 74920"/>
                <a:gd name="connsiteY3" fmla="*/ 0 h 74920"/>
                <a:gd name="connsiteX4" fmla="*/ 74920 w 74920"/>
                <a:gd name="connsiteY4" fmla="*/ 37460 h 74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20" h="74920">
                  <a:moveTo>
                    <a:pt x="74920" y="37460"/>
                  </a:moveTo>
                  <a:cubicBezTo>
                    <a:pt x="74920" y="58149"/>
                    <a:pt x="58149" y="74920"/>
                    <a:pt x="37460" y="74920"/>
                  </a:cubicBezTo>
                  <a:cubicBezTo>
                    <a:pt x="16771" y="74920"/>
                    <a:pt x="0" y="58149"/>
                    <a:pt x="0" y="37460"/>
                  </a:cubicBezTo>
                  <a:cubicBezTo>
                    <a:pt x="0" y="16771"/>
                    <a:pt x="16771" y="0"/>
                    <a:pt x="37460" y="0"/>
                  </a:cubicBezTo>
                  <a:cubicBezTo>
                    <a:pt x="58149" y="0"/>
                    <a:pt x="74920" y="16771"/>
                    <a:pt x="74920" y="37460"/>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40" name="Freihandform: Form 37">
              <a:extLst>
                <a:ext uri="{FF2B5EF4-FFF2-40B4-BE49-F238E27FC236}">
                  <a16:creationId xmlns:a16="http://schemas.microsoft.com/office/drawing/2014/main" id="{D1249B7D-E51E-4235-8C85-076CD19A6965}"/>
                </a:ext>
              </a:extLst>
            </p:cNvPr>
            <p:cNvSpPr/>
            <p:nvPr/>
          </p:nvSpPr>
          <p:spPr>
            <a:xfrm>
              <a:off x="4923889" y="4858480"/>
              <a:ext cx="206030" cy="337140"/>
            </a:xfrm>
            <a:custGeom>
              <a:avLst/>
              <a:gdLst>
                <a:gd name="connsiteX0" fmla="*/ 205094 w 206030"/>
                <a:gd name="connsiteY0" fmla="*/ 146094 h 337140"/>
                <a:gd name="connsiteX1" fmla="*/ 178871 w 206030"/>
                <a:gd name="connsiteY1" fmla="*/ 34651 h 337140"/>
                <a:gd name="connsiteX2" fmla="*/ 173253 w 206030"/>
                <a:gd name="connsiteY2" fmla="*/ 24349 h 337140"/>
                <a:gd name="connsiteX3" fmla="*/ 133920 w 206030"/>
                <a:gd name="connsiteY3" fmla="*/ 3746 h 337140"/>
                <a:gd name="connsiteX4" fmla="*/ 103015 w 206030"/>
                <a:gd name="connsiteY4" fmla="*/ 0 h 337140"/>
                <a:gd name="connsiteX5" fmla="*/ 72111 w 206030"/>
                <a:gd name="connsiteY5" fmla="*/ 4683 h 337140"/>
                <a:gd name="connsiteX6" fmla="*/ 32778 w 206030"/>
                <a:gd name="connsiteY6" fmla="*/ 25285 h 337140"/>
                <a:gd name="connsiteX7" fmla="*/ 27158 w 206030"/>
                <a:gd name="connsiteY7" fmla="*/ 35587 h 337140"/>
                <a:gd name="connsiteX8" fmla="*/ 937 w 206030"/>
                <a:gd name="connsiteY8" fmla="*/ 147031 h 337140"/>
                <a:gd name="connsiteX9" fmla="*/ 0 w 206030"/>
                <a:gd name="connsiteY9" fmla="*/ 151713 h 337140"/>
                <a:gd name="connsiteX10" fmla="*/ 18730 w 206030"/>
                <a:gd name="connsiteY10" fmla="*/ 170443 h 337140"/>
                <a:gd name="connsiteX11" fmla="*/ 36523 w 206030"/>
                <a:gd name="connsiteY11" fmla="*/ 156396 h 337140"/>
                <a:gd name="connsiteX12" fmla="*/ 56190 w 206030"/>
                <a:gd name="connsiteY12" fmla="*/ 74920 h 337140"/>
                <a:gd name="connsiteX13" fmla="*/ 56190 w 206030"/>
                <a:gd name="connsiteY13" fmla="*/ 337140 h 337140"/>
                <a:gd name="connsiteX14" fmla="*/ 93650 w 206030"/>
                <a:gd name="connsiteY14" fmla="*/ 337140 h 337140"/>
                <a:gd name="connsiteX15" fmla="*/ 93650 w 206030"/>
                <a:gd name="connsiteY15" fmla="*/ 168570 h 337140"/>
                <a:gd name="connsiteX16" fmla="*/ 112380 w 206030"/>
                <a:gd name="connsiteY16" fmla="*/ 168570 h 337140"/>
                <a:gd name="connsiteX17" fmla="*/ 112380 w 206030"/>
                <a:gd name="connsiteY17" fmla="*/ 337140 h 337140"/>
                <a:gd name="connsiteX18" fmla="*/ 149840 w 206030"/>
                <a:gd name="connsiteY18" fmla="*/ 337140 h 337140"/>
                <a:gd name="connsiteX19" fmla="*/ 149840 w 206030"/>
                <a:gd name="connsiteY19" fmla="*/ 73984 h 337140"/>
                <a:gd name="connsiteX20" fmla="*/ 169507 w 206030"/>
                <a:gd name="connsiteY20" fmla="*/ 155459 h 337140"/>
                <a:gd name="connsiteX21" fmla="*/ 187300 w 206030"/>
                <a:gd name="connsiteY21" fmla="*/ 169507 h 337140"/>
                <a:gd name="connsiteX22" fmla="*/ 206030 w 206030"/>
                <a:gd name="connsiteY22" fmla="*/ 150777 h 337140"/>
                <a:gd name="connsiteX23" fmla="*/ 205094 w 206030"/>
                <a:gd name="connsiteY23" fmla="*/ 146094 h 33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6030" h="337140">
                  <a:moveTo>
                    <a:pt x="205094" y="146094"/>
                  </a:moveTo>
                  <a:lnTo>
                    <a:pt x="178871" y="34651"/>
                  </a:lnTo>
                  <a:cubicBezTo>
                    <a:pt x="177935" y="30905"/>
                    <a:pt x="176062" y="27158"/>
                    <a:pt x="173253" y="24349"/>
                  </a:cubicBezTo>
                  <a:cubicBezTo>
                    <a:pt x="162015" y="14984"/>
                    <a:pt x="148904" y="8428"/>
                    <a:pt x="133920" y="3746"/>
                  </a:cubicBezTo>
                  <a:cubicBezTo>
                    <a:pt x="123618" y="1873"/>
                    <a:pt x="113317" y="0"/>
                    <a:pt x="103015" y="0"/>
                  </a:cubicBezTo>
                  <a:cubicBezTo>
                    <a:pt x="92714" y="0"/>
                    <a:pt x="82412" y="1873"/>
                    <a:pt x="72111" y="4683"/>
                  </a:cubicBezTo>
                  <a:cubicBezTo>
                    <a:pt x="57127" y="8428"/>
                    <a:pt x="44016" y="15920"/>
                    <a:pt x="32778" y="25285"/>
                  </a:cubicBezTo>
                  <a:cubicBezTo>
                    <a:pt x="29968" y="28095"/>
                    <a:pt x="28095" y="31841"/>
                    <a:pt x="27158" y="35587"/>
                  </a:cubicBezTo>
                  <a:lnTo>
                    <a:pt x="937" y="147031"/>
                  </a:lnTo>
                  <a:cubicBezTo>
                    <a:pt x="937" y="147967"/>
                    <a:pt x="0" y="149840"/>
                    <a:pt x="0" y="151713"/>
                  </a:cubicBezTo>
                  <a:cubicBezTo>
                    <a:pt x="0" y="162015"/>
                    <a:pt x="8428" y="170443"/>
                    <a:pt x="18730" y="170443"/>
                  </a:cubicBezTo>
                  <a:cubicBezTo>
                    <a:pt x="27158" y="170443"/>
                    <a:pt x="34651" y="163888"/>
                    <a:pt x="36523" y="156396"/>
                  </a:cubicBezTo>
                  <a:lnTo>
                    <a:pt x="56190" y="74920"/>
                  </a:lnTo>
                  <a:lnTo>
                    <a:pt x="56190" y="337140"/>
                  </a:lnTo>
                  <a:lnTo>
                    <a:pt x="93650" y="337140"/>
                  </a:lnTo>
                  <a:lnTo>
                    <a:pt x="93650" y="168570"/>
                  </a:lnTo>
                  <a:lnTo>
                    <a:pt x="112380" y="168570"/>
                  </a:lnTo>
                  <a:lnTo>
                    <a:pt x="112380" y="337140"/>
                  </a:lnTo>
                  <a:lnTo>
                    <a:pt x="149840" y="337140"/>
                  </a:lnTo>
                  <a:lnTo>
                    <a:pt x="149840" y="73984"/>
                  </a:lnTo>
                  <a:lnTo>
                    <a:pt x="169507" y="155459"/>
                  </a:lnTo>
                  <a:cubicBezTo>
                    <a:pt x="171380" y="162951"/>
                    <a:pt x="178871" y="169507"/>
                    <a:pt x="187300" y="169507"/>
                  </a:cubicBezTo>
                  <a:cubicBezTo>
                    <a:pt x="197601" y="169507"/>
                    <a:pt x="206030" y="161078"/>
                    <a:pt x="206030" y="150777"/>
                  </a:cubicBezTo>
                  <a:cubicBezTo>
                    <a:pt x="206030" y="148904"/>
                    <a:pt x="205094" y="147031"/>
                    <a:pt x="205094" y="146094"/>
                  </a:cubicBezTo>
                  <a:close/>
                </a:path>
              </a:pathLst>
            </a:custGeom>
            <a:grpFill/>
            <a:ln w="4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
        <p:nvSpPr>
          <p:cNvPr id="100" name="Grafik 63" descr="Musiknote">
            <a:extLst>
              <a:ext uri="{FF2B5EF4-FFF2-40B4-BE49-F238E27FC236}">
                <a16:creationId xmlns:a16="http://schemas.microsoft.com/office/drawing/2014/main" id="{0E982C9F-526B-4A2F-9058-E288F77F8779}"/>
              </a:ext>
            </a:extLst>
          </p:cNvPr>
          <p:cNvSpPr/>
          <p:nvPr/>
        </p:nvSpPr>
        <p:spPr>
          <a:xfrm>
            <a:off x="8537811" y="1644934"/>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2" name="Grafik 63" descr="Musiknote">
            <a:extLst>
              <a:ext uri="{FF2B5EF4-FFF2-40B4-BE49-F238E27FC236}">
                <a16:creationId xmlns:a16="http://schemas.microsoft.com/office/drawing/2014/main" id="{0E982C9F-526B-4A2F-9058-E288F77F8779}"/>
              </a:ext>
            </a:extLst>
          </p:cNvPr>
          <p:cNvSpPr/>
          <p:nvPr/>
        </p:nvSpPr>
        <p:spPr>
          <a:xfrm>
            <a:off x="9365520" y="194505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3" name="Grafik 63" descr="Musiknote">
            <a:extLst>
              <a:ext uri="{FF2B5EF4-FFF2-40B4-BE49-F238E27FC236}">
                <a16:creationId xmlns:a16="http://schemas.microsoft.com/office/drawing/2014/main" id="{0E982C9F-526B-4A2F-9058-E288F77F8779}"/>
              </a:ext>
            </a:extLst>
          </p:cNvPr>
          <p:cNvSpPr/>
          <p:nvPr/>
        </p:nvSpPr>
        <p:spPr>
          <a:xfrm>
            <a:off x="8639336" y="236038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4" name="Grafik 63" descr="Musiknote">
            <a:extLst>
              <a:ext uri="{FF2B5EF4-FFF2-40B4-BE49-F238E27FC236}">
                <a16:creationId xmlns:a16="http://schemas.microsoft.com/office/drawing/2014/main" id="{0E982C9F-526B-4A2F-9058-E288F77F8779}"/>
              </a:ext>
            </a:extLst>
          </p:cNvPr>
          <p:cNvSpPr/>
          <p:nvPr/>
        </p:nvSpPr>
        <p:spPr>
          <a:xfrm>
            <a:off x="9598621" y="2757279"/>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5" name="Grafik 63" descr="Musiknote">
            <a:extLst>
              <a:ext uri="{FF2B5EF4-FFF2-40B4-BE49-F238E27FC236}">
                <a16:creationId xmlns:a16="http://schemas.microsoft.com/office/drawing/2014/main" id="{0E982C9F-526B-4A2F-9058-E288F77F8779}"/>
              </a:ext>
            </a:extLst>
          </p:cNvPr>
          <p:cNvSpPr/>
          <p:nvPr/>
        </p:nvSpPr>
        <p:spPr>
          <a:xfrm>
            <a:off x="9145519" y="3200202"/>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6" name="Grafik 63" descr="Musiknote">
            <a:extLst>
              <a:ext uri="{FF2B5EF4-FFF2-40B4-BE49-F238E27FC236}">
                <a16:creationId xmlns:a16="http://schemas.microsoft.com/office/drawing/2014/main" id="{0E982C9F-526B-4A2F-9058-E288F77F8779}"/>
              </a:ext>
            </a:extLst>
          </p:cNvPr>
          <p:cNvSpPr/>
          <p:nvPr/>
        </p:nvSpPr>
        <p:spPr>
          <a:xfrm>
            <a:off x="8582492" y="361771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7" name="Grafik 63" descr="Musiknote">
            <a:extLst>
              <a:ext uri="{FF2B5EF4-FFF2-40B4-BE49-F238E27FC236}">
                <a16:creationId xmlns:a16="http://schemas.microsoft.com/office/drawing/2014/main" id="{0E982C9F-526B-4A2F-9058-E288F77F8779}"/>
              </a:ext>
            </a:extLst>
          </p:cNvPr>
          <p:cNvSpPr/>
          <p:nvPr/>
        </p:nvSpPr>
        <p:spPr>
          <a:xfrm>
            <a:off x="9026184" y="4083433"/>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sp>
        <p:nvSpPr>
          <p:cNvPr id="108" name="Grafik 63" descr="Musiknote">
            <a:extLst>
              <a:ext uri="{FF2B5EF4-FFF2-40B4-BE49-F238E27FC236}">
                <a16:creationId xmlns:a16="http://schemas.microsoft.com/office/drawing/2014/main" id="{0E982C9F-526B-4A2F-9058-E288F77F8779}"/>
              </a:ext>
            </a:extLst>
          </p:cNvPr>
          <p:cNvSpPr/>
          <p:nvPr/>
        </p:nvSpPr>
        <p:spPr>
          <a:xfrm>
            <a:off x="9811839" y="4778857"/>
            <a:ext cx="238670" cy="371918"/>
          </a:xfrm>
          <a:custGeom>
            <a:avLst/>
            <a:gdLst>
              <a:gd name="connsiteX0" fmla="*/ 239265 w 338898"/>
              <a:gd name="connsiteY0" fmla="*/ 77539 h 572521"/>
              <a:gd name="connsiteX1" fmla="*/ 207037 w 338898"/>
              <a:gd name="connsiteY1" fmla="*/ 40063 h 572521"/>
              <a:gd name="connsiteX2" fmla="*/ 207037 w 338898"/>
              <a:gd name="connsiteY2" fmla="*/ 25871 h 572521"/>
              <a:gd name="connsiteX3" fmla="*/ 181166 w 338898"/>
              <a:gd name="connsiteY3" fmla="*/ 0 h 572521"/>
              <a:gd name="connsiteX4" fmla="*/ 155295 w 338898"/>
              <a:gd name="connsiteY4" fmla="*/ 25871 h 572521"/>
              <a:gd name="connsiteX5" fmla="*/ 155295 w 338898"/>
              <a:gd name="connsiteY5" fmla="*/ 419255 h 572521"/>
              <a:gd name="connsiteX6" fmla="*/ 80492 w 338898"/>
              <a:gd name="connsiteY6" fmla="*/ 426647 h 572521"/>
              <a:gd name="connsiteX7" fmla="*/ 2953 w 338898"/>
              <a:gd name="connsiteY7" fmla="*/ 531904 h 572521"/>
              <a:gd name="connsiteX8" fmla="*/ 129942 w 338898"/>
              <a:gd name="connsiteY8" fmla="*/ 563023 h 572521"/>
              <a:gd name="connsiteX9" fmla="*/ 207037 w 338898"/>
              <a:gd name="connsiteY9" fmla="*/ 493320 h 572521"/>
              <a:gd name="connsiteX10" fmla="*/ 207037 w 338898"/>
              <a:gd name="connsiteY10" fmla="*/ 213324 h 572521"/>
              <a:gd name="connsiteX11" fmla="*/ 222411 w 338898"/>
              <a:gd name="connsiteY11" fmla="*/ 224337 h 572521"/>
              <a:gd name="connsiteX12" fmla="*/ 303794 w 338898"/>
              <a:gd name="connsiteY12" fmla="*/ 358939 h 572521"/>
              <a:gd name="connsiteX13" fmla="*/ 239265 w 338898"/>
              <a:gd name="connsiteY13" fmla="*/ 77539 h 5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8898" h="572521">
                <a:moveTo>
                  <a:pt x="239265" y="77539"/>
                </a:moveTo>
                <a:cubicBezTo>
                  <a:pt x="225161" y="68384"/>
                  <a:pt x="213977" y="55378"/>
                  <a:pt x="207037" y="40063"/>
                </a:cubicBezTo>
                <a:lnTo>
                  <a:pt x="207037" y="25871"/>
                </a:lnTo>
                <a:cubicBezTo>
                  <a:pt x="207037" y="11583"/>
                  <a:pt x="195454" y="0"/>
                  <a:pt x="181166" y="0"/>
                </a:cubicBezTo>
                <a:cubicBezTo>
                  <a:pt x="166878" y="0"/>
                  <a:pt x="155295" y="11583"/>
                  <a:pt x="155295" y="25871"/>
                </a:cubicBezTo>
                <a:lnTo>
                  <a:pt x="155295" y="419255"/>
                </a:lnTo>
                <a:cubicBezTo>
                  <a:pt x="130149" y="414970"/>
                  <a:pt x="104313" y="417523"/>
                  <a:pt x="80492" y="426647"/>
                </a:cubicBezTo>
                <a:cubicBezTo>
                  <a:pt x="24019" y="447122"/>
                  <a:pt x="-10648" y="494281"/>
                  <a:pt x="2953" y="531904"/>
                </a:cubicBezTo>
                <a:cubicBezTo>
                  <a:pt x="16554" y="569528"/>
                  <a:pt x="73469" y="583646"/>
                  <a:pt x="129942" y="563023"/>
                </a:cubicBezTo>
                <a:cubicBezTo>
                  <a:pt x="169265" y="548462"/>
                  <a:pt x="197871" y="521556"/>
                  <a:pt x="207037" y="493320"/>
                </a:cubicBezTo>
                <a:lnTo>
                  <a:pt x="207037" y="213324"/>
                </a:lnTo>
                <a:cubicBezTo>
                  <a:pt x="211847" y="217415"/>
                  <a:pt x="216990" y="221099"/>
                  <a:pt x="222411" y="224337"/>
                </a:cubicBezTo>
                <a:cubicBezTo>
                  <a:pt x="309190" y="275635"/>
                  <a:pt x="261218" y="358939"/>
                  <a:pt x="303794" y="358939"/>
                </a:cubicBezTo>
                <a:cubicBezTo>
                  <a:pt x="357383" y="359383"/>
                  <a:pt x="359601" y="157738"/>
                  <a:pt x="239265" y="77539"/>
                </a:cubicBezTo>
                <a:close/>
              </a:path>
            </a:pathLst>
          </a:custGeom>
          <a:solidFill>
            <a:srgbClr val="0071B2"/>
          </a:solidFill>
          <a:ln w="7342" cap="flat">
            <a:noFill/>
            <a:prstDash val="solid"/>
            <a:miter/>
          </a:ln>
        </p:spPr>
        <p:txBody>
          <a:bodyPr rtlCol="0" anchor="ctr"/>
          <a:lstStyle/>
          <a:p>
            <a:endParaRPr lang="de-DE" dirty="0"/>
          </a:p>
        </p:txBody>
      </p:sp>
      <p:cxnSp>
        <p:nvCxnSpPr>
          <p:cNvPr id="45" name="Gerader Verbinder 44"/>
          <p:cNvCxnSpPr/>
          <p:nvPr/>
        </p:nvCxnSpPr>
        <p:spPr>
          <a:xfrm flipH="1">
            <a:off x="2775760" y="1811845"/>
            <a:ext cx="5741994" cy="105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r Verbinder 46"/>
          <p:cNvCxnSpPr/>
          <p:nvPr/>
        </p:nvCxnSpPr>
        <p:spPr>
          <a:xfrm flipH="1" flipV="1">
            <a:off x="2790551" y="1913834"/>
            <a:ext cx="6493409" cy="3027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Gerader Verbinder 52"/>
          <p:cNvCxnSpPr/>
          <p:nvPr/>
        </p:nvCxnSpPr>
        <p:spPr>
          <a:xfrm flipH="1" flipV="1">
            <a:off x="2790552" y="1912902"/>
            <a:ext cx="5848784" cy="6416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Gerader Verbinder 48"/>
          <p:cNvCxnSpPr/>
          <p:nvPr/>
        </p:nvCxnSpPr>
        <p:spPr>
          <a:xfrm flipH="1" flipV="1">
            <a:off x="2909887" y="4191664"/>
            <a:ext cx="6043613" cy="1834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Gerader Verbinder 50"/>
          <p:cNvCxnSpPr/>
          <p:nvPr/>
        </p:nvCxnSpPr>
        <p:spPr>
          <a:xfrm flipH="1">
            <a:off x="1815489" y="4380449"/>
            <a:ext cx="7138011" cy="2608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Gerader Verbinder 53"/>
          <p:cNvCxnSpPr/>
          <p:nvPr/>
        </p:nvCxnSpPr>
        <p:spPr>
          <a:xfrm flipH="1">
            <a:off x="2981325" y="4369457"/>
            <a:ext cx="5972175" cy="7618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Gerader Verbinder 51"/>
          <p:cNvCxnSpPr/>
          <p:nvPr/>
        </p:nvCxnSpPr>
        <p:spPr>
          <a:xfrm flipH="1" flipV="1">
            <a:off x="1943100" y="2638425"/>
            <a:ext cx="7655521" cy="3078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Gerader Verbinder 56"/>
          <p:cNvCxnSpPr/>
          <p:nvPr/>
        </p:nvCxnSpPr>
        <p:spPr>
          <a:xfrm flipH="1">
            <a:off x="2964378" y="2950333"/>
            <a:ext cx="6634243" cy="1572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Gerader Verbinder 54"/>
          <p:cNvCxnSpPr/>
          <p:nvPr/>
        </p:nvCxnSpPr>
        <p:spPr>
          <a:xfrm flipH="1">
            <a:off x="1774837" y="3357274"/>
            <a:ext cx="7370682" cy="3227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Gerader Verbinder 57"/>
          <p:cNvCxnSpPr/>
          <p:nvPr/>
        </p:nvCxnSpPr>
        <p:spPr>
          <a:xfrm flipH="1" flipV="1">
            <a:off x="1774837" y="3680039"/>
            <a:ext cx="6742917" cy="218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Ellipse 58"/>
          <p:cNvSpPr/>
          <p:nvPr/>
        </p:nvSpPr>
        <p:spPr>
          <a:xfrm>
            <a:off x="913263" y="1885488"/>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0" name="Ellipse 59"/>
          <p:cNvSpPr/>
          <p:nvPr/>
        </p:nvSpPr>
        <p:spPr>
          <a:xfrm>
            <a:off x="9564032" y="4667620"/>
            <a:ext cx="734284" cy="61716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1" name="Textfeld 60"/>
          <p:cNvSpPr txBox="1"/>
          <p:nvPr/>
        </p:nvSpPr>
        <p:spPr>
          <a:xfrm>
            <a:off x="7092920" y="5596443"/>
            <a:ext cx="4717958" cy="369332"/>
          </a:xfrm>
          <a:prstGeom prst="rect">
            <a:avLst/>
          </a:prstGeom>
          <a:noFill/>
        </p:spPr>
        <p:txBody>
          <a:bodyPr wrap="none" rtlCol="0">
            <a:spAutoFit/>
          </a:bodyPr>
          <a:lstStyle/>
          <a:p>
            <a:r>
              <a:rPr lang="de-DE" dirty="0" smtClean="0">
                <a:latin typeface="Source Sans Pro" panose="020B0503030403020204" pitchFamily="34" charset="0"/>
              </a:rPr>
              <a:t>Es kann Lieder geben, die </a:t>
            </a:r>
            <a:r>
              <a:rPr lang="de-DE" b="1" dirty="0" smtClean="0">
                <a:solidFill>
                  <a:schemeClr val="accent2"/>
                </a:solidFill>
                <a:latin typeface="Source Sans Pro" panose="020B0503030403020204" pitchFamily="34" charset="0"/>
              </a:rPr>
              <a:t>niemand  </a:t>
            </a:r>
            <a:r>
              <a:rPr lang="de-DE" dirty="0" smtClean="0">
                <a:latin typeface="Source Sans Pro" panose="020B0503030403020204" pitchFamily="34" charset="0"/>
              </a:rPr>
              <a:t>beherrscht</a:t>
            </a:r>
            <a:endParaRPr lang="de-DE" dirty="0">
              <a:latin typeface="Source Sans Pro" panose="020B0503030403020204" pitchFamily="34" charset="0"/>
            </a:endParaRPr>
          </a:p>
        </p:txBody>
      </p:sp>
      <p:sp>
        <p:nvSpPr>
          <p:cNvPr id="62" name="Textfeld 61"/>
          <p:cNvSpPr txBox="1"/>
          <p:nvPr/>
        </p:nvSpPr>
        <p:spPr>
          <a:xfrm>
            <a:off x="188868" y="5596443"/>
            <a:ext cx="5142755" cy="369332"/>
          </a:xfrm>
          <a:prstGeom prst="rect">
            <a:avLst/>
          </a:prstGeom>
          <a:noFill/>
        </p:spPr>
        <p:txBody>
          <a:bodyPr wrap="none" rtlCol="0">
            <a:spAutoFit/>
          </a:bodyPr>
          <a:lstStyle/>
          <a:p>
            <a:r>
              <a:rPr lang="de-DE" dirty="0" smtClean="0">
                <a:latin typeface="Source Sans Pro" panose="020B0503030403020204" pitchFamily="34" charset="0"/>
              </a:rPr>
              <a:t>Es kann Personen geben, die </a:t>
            </a:r>
            <a:r>
              <a:rPr lang="de-DE" b="1" dirty="0" smtClean="0">
                <a:solidFill>
                  <a:schemeClr val="accent2"/>
                </a:solidFill>
                <a:latin typeface="Source Sans Pro" panose="020B0503030403020204" pitchFamily="34" charset="0"/>
              </a:rPr>
              <a:t>kein </a:t>
            </a:r>
            <a:r>
              <a:rPr lang="de-DE" dirty="0" smtClean="0">
                <a:latin typeface="Source Sans Pro" panose="020B0503030403020204" pitchFamily="34" charset="0"/>
              </a:rPr>
              <a:t>Lied beherrschen</a:t>
            </a:r>
            <a:endParaRPr lang="de-DE" dirty="0">
              <a:latin typeface="Source Sans Pro" panose="020B0503030403020204" pitchFamily="34" charset="0"/>
            </a:endParaRPr>
          </a:p>
        </p:txBody>
      </p:sp>
    </p:spTree>
    <p:extLst>
      <p:ext uri="{BB962C8B-B14F-4D97-AF65-F5344CB8AC3E}">
        <p14:creationId xmlns:p14="http://schemas.microsoft.com/office/powerpoint/2010/main" val="11687250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Kardinalität </a:t>
            </a:r>
          </a:p>
          <a:p>
            <a:r>
              <a:rPr lang="de-DE" sz="4000" dirty="0"/>
              <a:t>	</a:t>
            </a:r>
          </a:p>
        </p:txBody>
      </p:sp>
    </p:spTree>
    <p:extLst>
      <p:ext uri="{BB962C8B-B14F-4D97-AF65-F5344CB8AC3E}">
        <p14:creationId xmlns:p14="http://schemas.microsoft.com/office/powerpoint/2010/main" val="3965997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9155651" cy="720725"/>
          </a:xfrm>
        </p:spPr>
        <p:txBody>
          <a:bodyPr>
            <a:normAutofit fontScale="90000"/>
          </a:bodyPr>
          <a:lstStyle/>
          <a:p>
            <a:r>
              <a:rPr lang="de-DE" dirty="0" smtClean="0">
                <a:latin typeface="Source Sans Pro" panose="020B0503030403020204" pitchFamily="34" charset="0"/>
              </a:rPr>
              <a:t>Kardinalität -&gt; Definition + Motivation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1" y="2235982"/>
            <a:ext cx="10876555" cy="3231654"/>
          </a:xfrm>
          <a:prstGeom prst="rect">
            <a:avLst/>
          </a:prstGeom>
          <a:noFill/>
        </p:spPr>
        <p:txBody>
          <a:bodyPr wrap="square" rtlCol="0">
            <a:spAutoFit/>
          </a:bodyPr>
          <a:lstStyle/>
          <a:p>
            <a:pPr marL="342900" lvl="0" indent="-342900">
              <a:buFont typeface="Arial" panose="020B0604020202020204" pitchFamily="34" charset="0"/>
              <a:buChar cha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rPr>
              <a:t>Wie wir gesehen haben, bestehen Relationstypen aus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2 Werten</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rPr>
              <a:t>.</a:t>
            </a:r>
            <a:endParaRPr kumimoji="0" lang="de-DE" sz="14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rPr>
              <a:t>Diese Werte werden als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a:t>
            </a:r>
            <a:r>
              <a:rPr lang="de-DE" sz="2400" b="1" dirty="0">
                <a:solidFill>
                  <a:srgbClr val="0071B2"/>
                </a:solidFill>
                <a:latin typeface="Source Sans Pro" panose="020B0503030403020204" pitchFamily="34" charset="0"/>
              </a:rPr>
              <a:t>K</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ardinalitäten“ </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rPr>
              <a:t>bezeichnet.</a:t>
            </a:r>
          </a:p>
          <a:p>
            <a:pPr lvl="0"/>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lang="de-DE" sz="2400" dirty="0" smtClean="0">
                <a:solidFill>
                  <a:srgbClr val="0071B2"/>
                </a:solidFill>
                <a:latin typeface="Source Sans Pro" panose="020B0503030403020204" pitchFamily="34" charset="0"/>
              </a:rPr>
              <a:t>Eine Kardinalität kann die beiden folgenden </a:t>
            </a:r>
            <a:r>
              <a:rPr lang="de-DE" sz="2400" b="1" dirty="0" smtClean="0">
                <a:solidFill>
                  <a:srgbClr val="0071B2"/>
                </a:solidFill>
                <a:latin typeface="Source Sans Pro" panose="020B0503030403020204" pitchFamily="34" charset="0"/>
              </a:rPr>
              <a:t>Werte</a:t>
            </a:r>
            <a:r>
              <a:rPr lang="de-DE" sz="2400" dirty="0" smtClean="0">
                <a:solidFill>
                  <a:srgbClr val="0071B2"/>
                </a:solidFill>
                <a:latin typeface="Source Sans Pro" panose="020B0503030403020204" pitchFamily="34" charset="0"/>
              </a:rPr>
              <a:t> annehmen:</a:t>
            </a:r>
          </a:p>
          <a:p>
            <a:pPr marL="342900" lvl="0" indent="-342900">
              <a:buFont typeface="Arial" panose="020B0604020202020204" pitchFamily="34" charset="0"/>
              <a:buChar char="•"/>
            </a:pPr>
            <a:endParaRPr lang="de-DE" sz="800" dirty="0" smtClean="0">
              <a:solidFill>
                <a:srgbClr val="0071B2"/>
              </a:solidFill>
              <a:latin typeface="Source Sans Pro" panose="020B0503030403020204" pitchFamily="34" charset="0"/>
            </a:endParaRPr>
          </a:p>
          <a:p>
            <a:pPr marL="800100" lvl="1" indent="-342900">
              <a:buFont typeface="Courier New" panose="02070309020205020404" pitchFamily="49" charset="0"/>
              <a:buChar char="o"/>
            </a:pPr>
            <a:r>
              <a:rPr lang="de-DE" b="1" dirty="0">
                <a:solidFill>
                  <a:srgbClr val="0071B2"/>
                </a:solidFill>
                <a:latin typeface="Source Sans Pro" panose="020B0503030403020204" pitchFamily="34" charset="0"/>
              </a:rPr>
              <a:t>„höchstens 1“ </a:t>
            </a:r>
            <a:r>
              <a:rPr lang="de-DE" dirty="0">
                <a:solidFill>
                  <a:srgbClr val="0071B2"/>
                </a:solidFill>
                <a:latin typeface="Source Sans Pro" panose="020B0503030403020204" pitchFamily="34" charset="0"/>
              </a:rPr>
              <a:t>(dargestellt durch eine </a:t>
            </a:r>
            <a:r>
              <a:rPr lang="de-DE" b="1" dirty="0">
                <a:solidFill>
                  <a:schemeClr val="accent2"/>
                </a:solidFill>
                <a:latin typeface="Source Sans Pro" panose="020B0503030403020204" pitchFamily="34" charset="0"/>
              </a:rPr>
              <a:t>1</a:t>
            </a:r>
            <a:r>
              <a:rPr lang="de-DE" dirty="0">
                <a:solidFill>
                  <a:srgbClr val="0071B2"/>
                </a:solidFill>
                <a:latin typeface="Source Sans Pro" panose="020B0503030403020204" pitchFamily="34" charset="0"/>
              </a:rPr>
              <a:t>)</a:t>
            </a:r>
          </a:p>
          <a:p>
            <a:pPr marL="800100" lvl="1" indent="-342900">
              <a:buFont typeface="Courier New" panose="02070309020205020404" pitchFamily="49" charset="0"/>
              <a:buChar char="o"/>
            </a:pPr>
            <a:r>
              <a:rPr lang="de-DE" b="1" dirty="0">
                <a:solidFill>
                  <a:srgbClr val="0071B2"/>
                </a:solidFill>
                <a:latin typeface="Source Sans Pro" panose="020B0503030403020204" pitchFamily="34" charset="0"/>
              </a:rPr>
              <a:t>„möglicherweise mehrere“ </a:t>
            </a:r>
            <a:r>
              <a:rPr lang="de-DE" dirty="0">
                <a:solidFill>
                  <a:srgbClr val="0071B2"/>
                </a:solidFill>
                <a:latin typeface="Source Sans Pro" panose="020B0503030403020204" pitchFamily="34" charset="0"/>
              </a:rPr>
              <a:t>(dargestellt durch ein </a:t>
            </a:r>
            <a:r>
              <a:rPr lang="de-DE" b="1" dirty="0">
                <a:solidFill>
                  <a:schemeClr val="accent2"/>
                </a:solidFill>
                <a:latin typeface="Source Sans Pro" panose="020B0503030403020204" pitchFamily="34" charset="0"/>
              </a:rPr>
              <a:t>n</a:t>
            </a:r>
            <a:r>
              <a:rPr lang="de-DE" dirty="0">
                <a:solidFill>
                  <a:srgbClr val="0071B2"/>
                </a:solidFill>
                <a:latin typeface="Source Sans Pro" panose="020B0503030403020204" pitchFamily="34" charset="0"/>
              </a:rPr>
              <a:t> </a:t>
            </a:r>
            <a:r>
              <a:rPr lang="de-DE" sz="1200" dirty="0">
                <a:solidFill>
                  <a:srgbClr val="0071B2"/>
                </a:solidFill>
                <a:latin typeface="Source Sans Pro" panose="020B0503030403020204" pitchFamily="34" charset="0"/>
              </a:rPr>
              <a:t>[oder </a:t>
            </a:r>
            <a:r>
              <a:rPr lang="de-DE" sz="1200" b="1" dirty="0">
                <a:solidFill>
                  <a:schemeClr val="accent2"/>
                </a:solidFill>
                <a:latin typeface="Source Sans Pro" panose="020B0503030403020204" pitchFamily="34" charset="0"/>
              </a:rPr>
              <a:t>m</a:t>
            </a:r>
            <a:r>
              <a:rPr lang="de-DE" sz="1200" dirty="0" smtClean="0">
                <a:solidFill>
                  <a:srgbClr val="0071B2"/>
                </a:solidFill>
                <a:latin typeface="Source Sans Pro" panose="020B0503030403020204" pitchFamily="34" charset="0"/>
              </a:rPr>
              <a:t>])</a:t>
            </a:r>
          </a:p>
          <a:p>
            <a:pPr marL="800100" lvl="1" indent="-342900">
              <a:buFont typeface="Courier New" panose="02070309020205020404" pitchFamily="49" charset="0"/>
              <a:buChar char="o"/>
            </a:pPr>
            <a:endParaRPr lang="de-DE" sz="800" dirty="0" smtClean="0">
              <a:solidFill>
                <a:srgbClr val="0071B2"/>
              </a:solidFill>
              <a:latin typeface="Source Sans Pro" panose="020B0503030403020204" pitchFamily="34" charset="0"/>
            </a:endParaRPr>
          </a:p>
          <a:p>
            <a:pPr marL="342900" lvl="0" indent="-342900">
              <a:buFont typeface="Arial" panose="020B0604020202020204" pitchFamily="34" charset="0"/>
              <a:buChar char="•"/>
            </a:pPr>
            <a:r>
              <a:rPr lang="de-DE" sz="2400" dirty="0" smtClean="0">
                <a:solidFill>
                  <a:srgbClr val="0071B2"/>
                </a:solidFill>
                <a:latin typeface="Source Sans Pro" panose="020B0503030403020204" pitchFamily="34" charset="0"/>
              </a:rPr>
              <a:t>Wir werden uns im Folgenden also für die beiden Kardinalitäten einer Relation interessieren, weil wir auf diese Weise den </a:t>
            </a:r>
            <a:r>
              <a:rPr lang="de-DE" sz="2400" b="1" dirty="0" smtClean="0">
                <a:solidFill>
                  <a:srgbClr val="0071B2"/>
                </a:solidFill>
                <a:latin typeface="Source Sans Pro" panose="020B0503030403020204" pitchFamily="34" charset="0"/>
              </a:rPr>
              <a:t>Relationstypen ermitteln </a:t>
            </a:r>
            <a:r>
              <a:rPr lang="de-DE" sz="2400" dirty="0" smtClean="0">
                <a:solidFill>
                  <a:srgbClr val="0071B2"/>
                </a:solidFill>
                <a:latin typeface="Source Sans Pro" panose="020B0503030403020204" pitchFamily="34" charset="0"/>
              </a:rPr>
              <a:t>können.</a:t>
            </a:r>
          </a:p>
          <a:p>
            <a:pPr lvl="0"/>
            <a:endParaRPr lang="de-DE" sz="800" dirty="0" smtClean="0">
              <a:solidFill>
                <a:srgbClr val="0071B2"/>
              </a:solidFill>
              <a:latin typeface="Calibri" panose="020F0502020204030204"/>
            </a:endParaRPr>
          </a:p>
          <a:p>
            <a:pPr marL="800100" lvl="1" indent="-342900">
              <a:buFont typeface="Courier New" panose="02070309020205020404" pitchFamily="49" charset="0"/>
              <a:buChar char="o"/>
            </a:pPr>
            <a:endParaRPr lang="de-DE" sz="800" dirty="0" smtClean="0">
              <a:solidFill>
                <a:srgbClr val="0071B2"/>
              </a:solidFill>
              <a:latin typeface="Calibri" panose="020F0502020204030204"/>
            </a:endParaRPr>
          </a:p>
        </p:txBody>
      </p:sp>
    </p:spTree>
    <p:extLst>
      <p:ext uri="{BB962C8B-B14F-4D97-AF65-F5344CB8AC3E}">
        <p14:creationId xmlns:p14="http://schemas.microsoft.com/office/powerpoint/2010/main" val="137418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fontScale="90000"/>
          </a:bodyPr>
          <a:lstStyle/>
          <a:p>
            <a:r>
              <a:rPr lang="de-DE" dirty="0" smtClean="0">
                <a:latin typeface="Source Sans Pro" panose="020B0503030403020204" pitchFamily="34" charset="0"/>
              </a:rPr>
              <a:t>Ermittlung der Kardinalitäten </a:t>
            </a:r>
            <a:r>
              <a:rPr lang="de-DE" sz="2700" b="0" i="1" dirty="0" smtClean="0">
                <a:latin typeface="Source Sans Pro" panose="020B0503030403020204" pitchFamily="34" charset="0"/>
              </a:rPr>
              <a:t>( =&gt; Ermittlung des </a:t>
            </a:r>
            <a:r>
              <a:rPr lang="de-DE" sz="2700" i="1" dirty="0" smtClean="0">
                <a:latin typeface="Source Sans Pro" panose="020B0503030403020204" pitchFamily="34" charset="0"/>
              </a:rPr>
              <a:t>Relationstyps</a:t>
            </a:r>
            <a:r>
              <a:rPr lang="de-DE" sz="2700" b="0" i="1" dirty="0" smtClean="0">
                <a:latin typeface="Source Sans Pro" panose="020B0503030403020204" pitchFamily="34" charset="0"/>
              </a:rPr>
              <a:t>)</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A</a:t>
            </a:r>
            <a:endParaRPr lang="de-DE" sz="3600" dirty="0">
              <a:solidFill>
                <a:schemeClr val="tx1"/>
              </a:solidFill>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B</a:t>
            </a:r>
            <a:endParaRPr lang="de-DE" sz="3600" dirty="0">
              <a:solidFill>
                <a:schemeClr val="tx1"/>
              </a:solidFill>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rgbClr val="0070C0"/>
                </a:solidFill>
                <a:latin typeface="Source Sans Pro" panose="020B0503030403020204" pitchFamily="34" charset="0"/>
              </a:rPr>
              <a:t>Relation</a:t>
            </a:r>
            <a:endParaRPr lang="de-DE"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accent2"/>
            </a:solidFill>
          </a:ln>
        </p:spPr>
        <p:txBody>
          <a:bodyPr wrap="square" rtlCol="0">
            <a:spAutoFit/>
          </a:bodyPr>
          <a:lstStyle/>
          <a:p>
            <a:pPr algn="ctr"/>
            <a:r>
              <a:rPr lang="de-DE" dirty="0" smtClean="0">
                <a:solidFill>
                  <a:schemeClr val="accent2"/>
                </a:solidFill>
                <a:latin typeface="Source Sans Pro" panose="020B0503030403020204" pitchFamily="34" charset="0"/>
              </a:rPr>
              <a:t>Angenommen wir </a:t>
            </a:r>
          </a:p>
          <a:p>
            <a:pPr algn="ctr"/>
            <a:r>
              <a:rPr lang="de-DE" dirty="0">
                <a:solidFill>
                  <a:schemeClr val="accent2"/>
                </a:solidFill>
                <a:latin typeface="Source Sans Pro" panose="020B0503030403020204" pitchFamily="34" charset="0"/>
              </a:rPr>
              <a:t>w</a:t>
            </a:r>
            <a:r>
              <a:rPr lang="de-DE" dirty="0" smtClean="0">
                <a:solidFill>
                  <a:schemeClr val="accent2"/>
                </a:solidFill>
                <a:latin typeface="Source Sans Pro" panose="020B0503030403020204" pitchFamily="34" charset="0"/>
              </a:rPr>
              <a:t>ählen uns eine </a:t>
            </a:r>
          </a:p>
          <a:p>
            <a:pPr algn="ctr"/>
            <a:r>
              <a:rPr lang="de-DE" b="1" dirty="0" smtClean="0">
                <a:solidFill>
                  <a:schemeClr val="accent2"/>
                </a:solidFill>
                <a:latin typeface="Source Sans Pro" panose="020B0503030403020204" pitchFamily="34" charset="0"/>
              </a:rPr>
              <a:t>beliebige</a:t>
            </a:r>
            <a:r>
              <a:rPr lang="de-DE" dirty="0" smtClean="0">
                <a:solidFill>
                  <a:schemeClr val="accent2"/>
                </a:solidFill>
                <a:latin typeface="Source Sans Pro" panose="020B0503030403020204" pitchFamily="34" charset="0"/>
              </a:rPr>
              <a:t> Entität </a:t>
            </a:r>
          </a:p>
          <a:p>
            <a:pPr algn="ctr"/>
            <a:r>
              <a:rPr lang="de-DE" dirty="0" smtClean="0">
                <a:solidFill>
                  <a:schemeClr val="accent2"/>
                </a:solidFill>
                <a:latin typeface="Source Sans Pro" panose="020B0503030403020204" pitchFamily="34" charset="0"/>
              </a:rPr>
              <a:t>vom Typ A …</a:t>
            </a:r>
            <a:endParaRPr lang="de-DE"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2345180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fontScale="90000"/>
          </a:bodyPr>
          <a:lstStyle/>
          <a:p>
            <a:r>
              <a:rPr lang="de-DE" dirty="0" smtClean="0">
                <a:latin typeface="Source Sans Pro" panose="020B0503030403020204" pitchFamily="34" charset="0"/>
              </a:rPr>
              <a:t>Ermittlung der Kardinalitäten </a:t>
            </a:r>
            <a:r>
              <a:rPr lang="de-DE" sz="2700" b="0" i="1" dirty="0" smtClean="0">
                <a:latin typeface="Source Sans Pro" panose="020B0503030403020204" pitchFamily="34" charset="0"/>
              </a:rPr>
              <a:t>( =&gt; Ermittlung des </a:t>
            </a:r>
            <a:r>
              <a:rPr lang="de-DE" sz="2700" i="1" dirty="0" smtClean="0">
                <a:latin typeface="Source Sans Pro" panose="020B0503030403020204" pitchFamily="34" charset="0"/>
              </a:rPr>
              <a:t>Relationstyps</a:t>
            </a:r>
            <a:r>
              <a:rPr lang="de-DE" sz="2700" b="0" i="1" dirty="0" smtClean="0">
                <a:latin typeface="Source Sans Pro" panose="020B0503030403020204" pitchFamily="34" charset="0"/>
              </a:rPr>
              <a:t>)</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A</a:t>
            </a:r>
            <a:endParaRPr lang="de-DE" sz="3600" dirty="0">
              <a:solidFill>
                <a:schemeClr val="tx1"/>
              </a:solidFill>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B</a:t>
            </a:r>
            <a:endParaRPr lang="de-DE" sz="3600" dirty="0">
              <a:solidFill>
                <a:schemeClr val="tx1"/>
              </a:solidFill>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rgbClr val="0070C0"/>
                </a:solidFill>
                <a:latin typeface="Source Sans Pro" panose="020B0503030403020204" pitchFamily="34" charset="0"/>
              </a:rPr>
              <a:t>Relation</a:t>
            </a:r>
            <a:endParaRPr lang="de-DE"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tx1"/>
            </a:solidFill>
          </a:ln>
        </p:spPr>
        <p:txBody>
          <a:bodyPr wrap="square" rtlCol="0">
            <a:spAutoFit/>
          </a:bodyPr>
          <a:lstStyle/>
          <a:p>
            <a:pPr algn="ctr"/>
            <a:r>
              <a:rPr lang="de-DE" dirty="0" smtClean="0">
                <a:latin typeface="Source Sans Pro" panose="020B0503030403020204" pitchFamily="34" charset="0"/>
              </a:rPr>
              <a:t>Angenommen wir </a:t>
            </a:r>
          </a:p>
          <a:p>
            <a:pPr algn="ctr"/>
            <a:r>
              <a:rPr lang="de-DE" dirty="0">
                <a:latin typeface="Source Sans Pro" panose="020B0503030403020204" pitchFamily="34" charset="0"/>
              </a:rPr>
              <a:t>w</a:t>
            </a:r>
            <a:r>
              <a:rPr lang="de-DE" dirty="0" smtClean="0">
                <a:latin typeface="Source Sans Pro" panose="020B0503030403020204" pitchFamily="34" charset="0"/>
              </a:rPr>
              <a:t>ählen uns eine </a:t>
            </a:r>
          </a:p>
          <a:p>
            <a:pPr algn="ctr"/>
            <a:r>
              <a:rPr lang="de-DE" b="1" dirty="0" smtClean="0">
                <a:latin typeface="Source Sans Pro" panose="020B0503030403020204" pitchFamily="34" charset="0"/>
              </a:rPr>
              <a:t>beliebige</a:t>
            </a:r>
            <a:r>
              <a:rPr lang="de-DE" dirty="0" smtClean="0">
                <a:latin typeface="Source Sans Pro" panose="020B0503030403020204" pitchFamily="34" charset="0"/>
              </a:rPr>
              <a:t> Entität </a:t>
            </a:r>
          </a:p>
          <a:p>
            <a:pPr algn="ctr"/>
            <a:r>
              <a:rPr lang="de-DE" dirty="0" smtClean="0">
                <a:latin typeface="Source Sans Pro" panose="020B0503030403020204" pitchFamily="34" charset="0"/>
              </a:rPr>
              <a:t>vom Typ A …</a:t>
            </a:r>
            <a:endParaRPr lang="de-DE" dirty="0">
              <a:latin typeface="Source Sans Pro" panose="020B0503030403020204" pitchFamily="34" charset="0"/>
            </a:endParaRPr>
          </a:p>
        </p:txBody>
      </p:sp>
      <p:sp>
        <p:nvSpPr>
          <p:cNvPr id="3" name="Nach unten gekrümmter Pfeil 2"/>
          <p:cNvSpPr/>
          <p:nvPr/>
        </p:nvSpPr>
        <p:spPr>
          <a:xfrm>
            <a:off x="3035657" y="1013678"/>
            <a:ext cx="4679593" cy="723900"/>
          </a:xfrm>
          <a:prstGeom prst="curved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4" name="Textfeld 13"/>
          <p:cNvSpPr txBox="1"/>
          <p:nvPr/>
        </p:nvSpPr>
        <p:spPr>
          <a:xfrm>
            <a:off x="3934584" y="1272738"/>
            <a:ext cx="2858536" cy="461665"/>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 können wir dieser Entität dann</a:t>
            </a:r>
          </a:p>
          <a:p>
            <a:pPr algn="ctr"/>
            <a:r>
              <a:rPr lang="de-DE" sz="1200" b="1" dirty="0" smtClean="0">
                <a:solidFill>
                  <a:schemeClr val="accent2"/>
                </a:solidFill>
                <a:latin typeface="Source Sans Pro" panose="020B0503030403020204" pitchFamily="34" charset="0"/>
              </a:rPr>
              <a:t>höchstens 1 </a:t>
            </a:r>
            <a:r>
              <a:rPr lang="de-DE" sz="1200" dirty="0" smtClean="0">
                <a:solidFill>
                  <a:schemeClr val="accent2"/>
                </a:solidFill>
                <a:latin typeface="Source Sans Pro" panose="020B0503030403020204" pitchFamily="34" charset="0"/>
              </a:rPr>
              <a:t>Entität vom Typ B zuordnen?</a:t>
            </a:r>
            <a:endParaRPr lang="de-DE" sz="1200"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16257924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fontScale="90000"/>
          </a:bodyPr>
          <a:lstStyle/>
          <a:p>
            <a:r>
              <a:rPr lang="de-DE" dirty="0" smtClean="0">
                <a:latin typeface="Source Sans Pro" panose="020B0503030403020204" pitchFamily="34" charset="0"/>
              </a:rPr>
              <a:t>Ermittlung der Kardinalitäten </a:t>
            </a:r>
            <a:r>
              <a:rPr lang="de-DE" sz="2700" b="0" i="1" dirty="0" smtClean="0">
                <a:latin typeface="Source Sans Pro" panose="020B0503030403020204" pitchFamily="34" charset="0"/>
              </a:rPr>
              <a:t>( =&gt; Ermittlung des </a:t>
            </a:r>
            <a:r>
              <a:rPr lang="de-DE" sz="2700" i="1" dirty="0" smtClean="0">
                <a:latin typeface="Source Sans Pro" panose="020B0503030403020204" pitchFamily="34" charset="0"/>
              </a:rPr>
              <a:t>Relationstyps</a:t>
            </a:r>
            <a:r>
              <a:rPr lang="de-DE" sz="2700" b="0" i="1" dirty="0" smtClean="0">
                <a:latin typeface="Source Sans Pro" panose="020B0503030403020204" pitchFamily="34" charset="0"/>
              </a:rPr>
              <a:t>)</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A</a:t>
            </a:r>
            <a:endParaRPr lang="de-DE" sz="3600" dirty="0">
              <a:solidFill>
                <a:schemeClr val="tx1"/>
              </a:solidFill>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B</a:t>
            </a:r>
            <a:endParaRPr lang="de-DE" sz="3600" dirty="0">
              <a:solidFill>
                <a:schemeClr val="tx1"/>
              </a:solidFill>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rgbClr val="0070C0"/>
                </a:solidFill>
                <a:latin typeface="Source Sans Pro" panose="020B0503030403020204" pitchFamily="34" charset="0"/>
              </a:rPr>
              <a:t>Relation</a:t>
            </a:r>
            <a:endParaRPr lang="de-DE"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tx1"/>
            </a:solidFill>
          </a:ln>
        </p:spPr>
        <p:txBody>
          <a:bodyPr wrap="square" rtlCol="0">
            <a:spAutoFit/>
          </a:bodyPr>
          <a:lstStyle/>
          <a:p>
            <a:pPr algn="ctr"/>
            <a:r>
              <a:rPr lang="de-DE" dirty="0" smtClean="0">
                <a:latin typeface="Source Sans Pro" panose="020B0503030403020204" pitchFamily="34" charset="0"/>
              </a:rPr>
              <a:t>Angenommen wir </a:t>
            </a:r>
          </a:p>
          <a:p>
            <a:pPr algn="ctr"/>
            <a:r>
              <a:rPr lang="de-DE" dirty="0">
                <a:latin typeface="Source Sans Pro" panose="020B0503030403020204" pitchFamily="34" charset="0"/>
              </a:rPr>
              <a:t>w</a:t>
            </a:r>
            <a:r>
              <a:rPr lang="de-DE" dirty="0" smtClean="0">
                <a:latin typeface="Source Sans Pro" panose="020B0503030403020204" pitchFamily="34" charset="0"/>
              </a:rPr>
              <a:t>ählen uns eine </a:t>
            </a:r>
          </a:p>
          <a:p>
            <a:pPr algn="ctr"/>
            <a:r>
              <a:rPr lang="de-DE" b="1" dirty="0" smtClean="0">
                <a:latin typeface="Source Sans Pro" panose="020B0503030403020204" pitchFamily="34" charset="0"/>
              </a:rPr>
              <a:t>beliebige</a:t>
            </a:r>
            <a:r>
              <a:rPr lang="de-DE" dirty="0" smtClean="0">
                <a:latin typeface="Source Sans Pro" panose="020B0503030403020204" pitchFamily="34" charset="0"/>
              </a:rPr>
              <a:t> Entität </a:t>
            </a:r>
          </a:p>
          <a:p>
            <a:pPr algn="ctr"/>
            <a:r>
              <a:rPr lang="de-DE" dirty="0" smtClean="0">
                <a:latin typeface="Source Sans Pro" panose="020B0503030403020204" pitchFamily="34" charset="0"/>
              </a:rPr>
              <a:t>vom Typ A …</a:t>
            </a:r>
            <a:endParaRPr lang="de-DE" dirty="0">
              <a:latin typeface="Source Sans Pro" panose="020B0503030403020204" pitchFamily="34" charset="0"/>
            </a:endParaRPr>
          </a:p>
        </p:txBody>
      </p:sp>
      <p:sp>
        <p:nvSpPr>
          <p:cNvPr id="3" name="Nach unten gekrümmter Pfeil 2"/>
          <p:cNvSpPr/>
          <p:nvPr/>
        </p:nvSpPr>
        <p:spPr>
          <a:xfrm>
            <a:off x="3035657" y="1013678"/>
            <a:ext cx="4679593" cy="723900"/>
          </a:xfrm>
          <a:prstGeom prst="curved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4" name="Textfeld 13"/>
          <p:cNvSpPr txBox="1"/>
          <p:nvPr/>
        </p:nvSpPr>
        <p:spPr>
          <a:xfrm>
            <a:off x="3934584" y="1272738"/>
            <a:ext cx="2858536" cy="461665"/>
          </a:xfrm>
          <a:prstGeom prst="rect">
            <a:avLst/>
          </a:prstGeom>
          <a:noFill/>
          <a:ln>
            <a:solidFill>
              <a:schemeClr val="tx1"/>
            </a:solidFill>
          </a:ln>
        </p:spPr>
        <p:txBody>
          <a:bodyPr wrap="square" rtlCol="0">
            <a:spAutoFit/>
          </a:bodyPr>
          <a:lstStyle/>
          <a:p>
            <a:pPr algn="ctr"/>
            <a:r>
              <a:rPr lang="de-DE" sz="1200" dirty="0" smtClean="0">
                <a:latin typeface="Source Sans Pro" panose="020B0503030403020204" pitchFamily="34" charset="0"/>
              </a:rPr>
              <a:t>… können wir dieser Entität dann</a:t>
            </a:r>
          </a:p>
          <a:p>
            <a:pPr algn="ctr"/>
            <a:r>
              <a:rPr lang="de-DE" sz="1200" b="1" dirty="0" smtClean="0">
                <a:latin typeface="Source Sans Pro" panose="020B0503030403020204" pitchFamily="34" charset="0"/>
              </a:rPr>
              <a:t>höchstens 1 </a:t>
            </a:r>
            <a:r>
              <a:rPr lang="de-DE" sz="1200" dirty="0" smtClean="0">
                <a:latin typeface="Source Sans Pro" panose="020B0503030403020204" pitchFamily="34" charset="0"/>
              </a:rPr>
              <a:t>Entität vom Typ B zuordnen?</a:t>
            </a:r>
            <a:endParaRPr lang="de-DE" sz="1200" dirty="0">
              <a:latin typeface="Source Sans Pro" panose="020B0503030403020204" pitchFamily="34" charset="0"/>
            </a:endParaRPr>
          </a:p>
        </p:txBody>
      </p:sp>
      <p:sp>
        <p:nvSpPr>
          <p:cNvPr id="15" name="Textfeld 14"/>
          <p:cNvSpPr txBox="1"/>
          <p:nvPr/>
        </p:nvSpPr>
        <p:spPr>
          <a:xfrm>
            <a:off x="3946185" y="1924119"/>
            <a:ext cx="2858536" cy="584775"/>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Wenn wir auf diese Frage mit </a:t>
            </a:r>
            <a:r>
              <a:rPr lang="de-DE" sz="1200" b="1" dirty="0" smtClean="0">
                <a:solidFill>
                  <a:schemeClr val="accent2"/>
                </a:solidFill>
                <a:latin typeface="Source Sans Pro" panose="020B0503030403020204" pitchFamily="34" charset="0"/>
              </a:rPr>
              <a:t>„ja“ </a:t>
            </a:r>
            <a:r>
              <a:rPr lang="de-DE" sz="1200" dirty="0" smtClean="0">
                <a:solidFill>
                  <a:schemeClr val="accent2"/>
                </a:solidFill>
                <a:latin typeface="Source Sans Pro" panose="020B0503030403020204" pitchFamily="34" charset="0"/>
              </a:rPr>
              <a:t>antworten, dann notieren wir ein </a:t>
            </a:r>
            <a:r>
              <a:rPr lang="de-DE" sz="1200" b="1" dirty="0" smtClean="0">
                <a:solidFill>
                  <a:schemeClr val="accent2"/>
                </a:solidFill>
                <a:latin typeface="Source Sans Pro" panose="020B0503030403020204" pitchFamily="34" charset="0"/>
              </a:rPr>
              <a:t>„1“</a:t>
            </a:r>
            <a:r>
              <a:rPr lang="de-DE" sz="1200" dirty="0" smtClean="0">
                <a:solidFill>
                  <a:schemeClr val="accent2"/>
                </a:solidFill>
                <a:latin typeface="Source Sans Pro" panose="020B0503030403020204" pitchFamily="34" charset="0"/>
              </a:rPr>
              <a:t>!</a:t>
            </a:r>
          </a:p>
          <a:p>
            <a:pPr algn="ctr"/>
            <a:r>
              <a:rPr lang="de-DE" sz="800" dirty="0" smtClean="0">
                <a:solidFill>
                  <a:schemeClr val="accent2"/>
                </a:solidFill>
                <a:latin typeface="Source Sans Pro" panose="020B0503030403020204" pitchFamily="34" charset="0"/>
              </a:rPr>
              <a:t>(sonst ein</a:t>
            </a:r>
            <a:r>
              <a:rPr lang="de-DE" sz="800" b="1" dirty="0" smtClean="0">
                <a:solidFill>
                  <a:schemeClr val="accent2"/>
                </a:solidFill>
                <a:latin typeface="Source Sans Pro" panose="020B0503030403020204" pitchFamily="34" charset="0"/>
              </a:rPr>
              <a:t> „n“)</a:t>
            </a:r>
            <a:endParaRPr lang="de-DE" sz="800" b="1" dirty="0">
              <a:solidFill>
                <a:schemeClr val="accent2"/>
              </a:solidFill>
              <a:latin typeface="Source Sans Pro" panose="020B0503030403020204" pitchFamily="34" charset="0"/>
            </a:endParaRPr>
          </a:p>
        </p:txBody>
      </p:sp>
      <p:sp>
        <p:nvSpPr>
          <p:cNvPr id="6" name="Ellipse 5"/>
          <p:cNvSpPr/>
          <p:nvPr/>
        </p:nvSpPr>
        <p:spPr>
          <a:xfrm>
            <a:off x="7342455" y="3186408"/>
            <a:ext cx="542925" cy="438150"/>
          </a:xfrm>
          <a:prstGeom prst="ellipse">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6" name="Gerade Verbindung mit Pfeil 15"/>
          <p:cNvCxnSpPr/>
          <p:nvPr/>
        </p:nvCxnSpPr>
        <p:spPr>
          <a:xfrm>
            <a:off x="6438900" y="2365340"/>
            <a:ext cx="903555" cy="82106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a:off x="5744894" y="2534743"/>
            <a:ext cx="1522986" cy="778247"/>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2937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fontScale="90000"/>
          </a:bodyPr>
          <a:lstStyle/>
          <a:p>
            <a:r>
              <a:rPr lang="de-DE" dirty="0" smtClean="0">
                <a:latin typeface="Source Sans Pro" panose="020B0503030403020204" pitchFamily="34" charset="0"/>
              </a:rPr>
              <a:t>Ermittlung der Kardinalitäten </a:t>
            </a:r>
            <a:r>
              <a:rPr lang="de-DE" sz="2700" b="0" i="1" dirty="0" smtClean="0">
                <a:latin typeface="Source Sans Pro" panose="020B0503030403020204" pitchFamily="34" charset="0"/>
              </a:rPr>
              <a:t>( =&gt; Ermittlung des </a:t>
            </a:r>
            <a:r>
              <a:rPr lang="de-DE" sz="2700" i="1" dirty="0" smtClean="0">
                <a:latin typeface="Source Sans Pro" panose="020B0503030403020204" pitchFamily="34" charset="0"/>
              </a:rPr>
              <a:t>Relationstyps</a:t>
            </a:r>
            <a:r>
              <a:rPr lang="de-DE" sz="2700" b="0" i="1" dirty="0" smtClean="0">
                <a:latin typeface="Source Sans Pro" panose="020B0503030403020204" pitchFamily="34" charset="0"/>
              </a:rPr>
              <a:t>)</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B</a:t>
            </a:r>
            <a:endParaRPr lang="de-DE" sz="3600" dirty="0">
              <a:solidFill>
                <a:schemeClr val="tx1"/>
              </a:solidFill>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rgbClr val="0070C0"/>
                </a:solidFill>
                <a:latin typeface="Source Sans Pro" panose="020B0503030403020204" pitchFamily="34" charset="0"/>
              </a:rPr>
              <a:t>Relation</a:t>
            </a:r>
            <a:endParaRPr lang="de-DE"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accent5"/>
            </a:solidFill>
          </a:ln>
        </p:spPr>
        <p:txBody>
          <a:bodyPr wrap="square" rtlCol="0">
            <a:spAutoFit/>
          </a:bodyPr>
          <a:lstStyle/>
          <a:p>
            <a:pPr algn="ctr"/>
            <a:r>
              <a:rPr lang="de-DE" dirty="0" smtClean="0">
                <a:solidFill>
                  <a:schemeClr val="accent5"/>
                </a:solidFill>
                <a:latin typeface="Source Sans Pro" panose="020B0503030403020204" pitchFamily="34" charset="0"/>
              </a:rPr>
              <a:t>Angenommen wir </a:t>
            </a:r>
          </a:p>
          <a:p>
            <a:pPr algn="ctr"/>
            <a:r>
              <a:rPr lang="de-DE" dirty="0">
                <a:solidFill>
                  <a:schemeClr val="accent5"/>
                </a:solidFill>
                <a:latin typeface="Source Sans Pro" panose="020B0503030403020204" pitchFamily="34" charset="0"/>
              </a:rPr>
              <a:t>w</a:t>
            </a:r>
            <a:r>
              <a:rPr lang="de-DE" dirty="0" smtClean="0">
                <a:solidFill>
                  <a:schemeClr val="accent5"/>
                </a:solidFill>
                <a:latin typeface="Source Sans Pro" panose="020B0503030403020204" pitchFamily="34" charset="0"/>
              </a:rPr>
              <a:t>ählen uns eine </a:t>
            </a:r>
          </a:p>
          <a:p>
            <a:pPr algn="ctr"/>
            <a:r>
              <a:rPr lang="de-DE" b="1" dirty="0" smtClean="0">
                <a:solidFill>
                  <a:schemeClr val="accent5"/>
                </a:solidFill>
                <a:latin typeface="Source Sans Pro" panose="020B0503030403020204" pitchFamily="34" charset="0"/>
              </a:rPr>
              <a:t>beliebige</a:t>
            </a:r>
            <a:r>
              <a:rPr lang="de-DE" dirty="0" smtClean="0">
                <a:solidFill>
                  <a:schemeClr val="accent5"/>
                </a:solidFill>
                <a:latin typeface="Source Sans Pro" panose="020B0503030403020204" pitchFamily="34" charset="0"/>
              </a:rPr>
              <a:t> Entität </a:t>
            </a:r>
          </a:p>
          <a:p>
            <a:pPr algn="ctr"/>
            <a:r>
              <a:rPr lang="de-DE" dirty="0" smtClean="0">
                <a:solidFill>
                  <a:schemeClr val="accent5"/>
                </a:solidFill>
                <a:latin typeface="Source Sans Pro" panose="020B0503030403020204" pitchFamily="34" charset="0"/>
              </a:rPr>
              <a:t>vom Typ A …</a:t>
            </a:r>
            <a:endParaRPr lang="de-DE" dirty="0">
              <a:solidFill>
                <a:schemeClr val="accent5"/>
              </a:solidFill>
              <a:latin typeface="Source Sans Pro" panose="020B0503030403020204" pitchFamily="34" charset="0"/>
            </a:endParaRPr>
          </a:p>
        </p:txBody>
      </p:sp>
      <p:sp>
        <p:nvSpPr>
          <p:cNvPr id="3" name="Nach unten gekrümmter Pfeil 2"/>
          <p:cNvSpPr/>
          <p:nvPr/>
        </p:nvSpPr>
        <p:spPr>
          <a:xfrm>
            <a:off x="3035657" y="1013678"/>
            <a:ext cx="4679593" cy="723900"/>
          </a:xfrm>
          <a:prstGeom prst="curvedDownArrow">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4" name="Textfeld 13"/>
          <p:cNvSpPr txBox="1"/>
          <p:nvPr/>
        </p:nvSpPr>
        <p:spPr>
          <a:xfrm>
            <a:off x="3934584" y="1272738"/>
            <a:ext cx="2858536" cy="461665"/>
          </a:xfrm>
          <a:prstGeom prst="rect">
            <a:avLst/>
          </a:prstGeom>
          <a:noFill/>
          <a:ln>
            <a:solidFill>
              <a:schemeClr val="accent5"/>
            </a:solidFill>
          </a:ln>
        </p:spPr>
        <p:txBody>
          <a:bodyPr wrap="square" rtlCol="0">
            <a:spAutoFit/>
          </a:bodyPr>
          <a:lstStyle/>
          <a:p>
            <a:pPr algn="ctr"/>
            <a:r>
              <a:rPr lang="de-DE" sz="1200" dirty="0" smtClean="0">
                <a:solidFill>
                  <a:schemeClr val="accent5"/>
                </a:solidFill>
                <a:latin typeface="Source Sans Pro" panose="020B0503030403020204" pitchFamily="34" charset="0"/>
              </a:rPr>
              <a:t>… können wir dieser Entität dann</a:t>
            </a:r>
          </a:p>
          <a:p>
            <a:pPr algn="ctr"/>
            <a:r>
              <a:rPr lang="de-DE" sz="1200" b="1" dirty="0" smtClean="0">
                <a:solidFill>
                  <a:schemeClr val="accent5"/>
                </a:solidFill>
                <a:latin typeface="Source Sans Pro" panose="020B0503030403020204" pitchFamily="34" charset="0"/>
              </a:rPr>
              <a:t>höchstens 1 </a:t>
            </a:r>
            <a:r>
              <a:rPr lang="de-DE" sz="1200" dirty="0" smtClean="0">
                <a:solidFill>
                  <a:schemeClr val="accent5"/>
                </a:solidFill>
                <a:latin typeface="Source Sans Pro" panose="020B0503030403020204" pitchFamily="34" charset="0"/>
              </a:rPr>
              <a:t>Entität vom Typ B zuordnen?</a:t>
            </a:r>
            <a:endParaRPr lang="de-DE" sz="1200" dirty="0">
              <a:solidFill>
                <a:schemeClr val="accent5"/>
              </a:solidFill>
              <a:latin typeface="Source Sans Pro" panose="020B0503030403020204" pitchFamily="34" charset="0"/>
            </a:endParaRPr>
          </a:p>
        </p:txBody>
      </p:sp>
      <p:sp>
        <p:nvSpPr>
          <p:cNvPr id="15" name="Textfeld 14"/>
          <p:cNvSpPr txBox="1"/>
          <p:nvPr/>
        </p:nvSpPr>
        <p:spPr>
          <a:xfrm>
            <a:off x="3946185" y="1924119"/>
            <a:ext cx="2858536" cy="584775"/>
          </a:xfrm>
          <a:prstGeom prst="rect">
            <a:avLst/>
          </a:prstGeom>
          <a:noFill/>
          <a:ln>
            <a:solidFill>
              <a:schemeClr val="accent5"/>
            </a:solidFill>
          </a:ln>
        </p:spPr>
        <p:txBody>
          <a:bodyPr wrap="square" rtlCol="0">
            <a:spAutoFit/>
          </a:bodyPr>
          <a:lstStyle/>
          <a:p>
            <a:pPr algn="ctr"/>
            <a:r>
              <a:rPr lang="de-DE" sz="1200" dirty="0" smtClean="0">
                <a:solidFill>
                  <a:schemeClr val="accent5"/>
                </a:solidFill>
                <a:latin typeface="Source Sans Pro" panose="020B0503030403020204" pitchFamily="34" charset="0"/>
              </a:rPr>
              <a:t>Wenn wir auf diese Frage mit </a:t>
            </a:r>
            <a:r>
              <a:rPr lang="de-DE" sz="1200" b="1" dirty="0" smtClean="0">
                <a:solidFill>
                  <a:schemeClr val="accent5"/>
                </a:solidFill>
                <a:latin typeface="Source Sans Pro" panose="020B0503030403020204" pitchFamily="34" charset="0"/>
              </a:rPr>
              <a:t>„ja“ </a:t>
            </a:r>
            <a:r>
              <a:rPr lang="de-DE" sz="1200" dirty="0" smtClean="0">
                <a:solidFill>
                  <a:schemeClr val="accent5"/>
                </a:solidFill>
                <a:latin typeface="Source Sans Pro" panose="020B0503030403020204" pitchFamily="34" charset="0"/>
              </a:rPr>
              <a:t>antworten, dann notieren wir ein </a:t>
            </a:r>
            <a:r>
              <a:rPr lang="de-DE" sz="1200" b="1" dirty="0" smtClean="0">
                <a:solidFill>
                  <a:schemeClr val="accent5"/>
                </a:solidFill>
                <a:latin typeface="Source Sans Pro" panose="020B0503030403020204" pitchFamily="34" charset="0"/>
              </a:rPr>
              <a:t>„1“</a:t>
            </a:r>
            <a:r>
              <a:rPr lang="de-DE" sz="1200" dirty="0" smtClean="0">
                <a:solidFill>
                  <a:schemeClr val="accent5"/>
                </a:solidFill>
                <a:latin typeface="Source Sans Pro" panose="020B0503030403020204" pitchFamily="34" charset="0"/>
              </a:rPr>
              <a:t>!</a:t>
            </a:r>
          </a:p>
          <a:p>
            <a:pPr algn="ctr"/>
            <a:r>
              <a:rPr lang="de-DE" sz="800" dirty="0" smtClean="0">
                <a:solidFill>
                  <a:schemeClr val="accent5"/>
                </a:solidFill>
                <a:latin typeface="Source Sans Pro" panose="020B0503030403020204" pitchFamily="34" charset="0"/>
              </a:rPr>
              <a:t>(sonst ein</a:t>
            </a:r>
            <a:r>
              <a:rPr lang="de-DE" sz="800" b="1" dirty="0" smtClean="0">
                <a:solidFill>
                  <a:schemeClr val="accent5"/>
                </a:solidFill>
                <a:latin typeface="Source Sans Pro" panose="020B0503030403020204" pitchFamily="34" charset="0"/>
              </a:rPr>
              <a:t> „n“)</a:t>
            </a:r>
            <a:endParaRPr lang="de-DE" sz="800" b="1" dirty="0">
              <a:solidFill>
                <a:schemeClr val="accent5"/>
              </a:solidFill>
              <a:latin typeface="Source Sans Pro" panose="020B0503030403020204" pitchFamily="34" charset="0"/>
            </a:endParaRPr>
          </a:p>
        </p:txBody>
      </p:sp>
      <p:sp>
        <p:nvSpPr>
          <p:cNvPr id="6" name="Ellipse 5"/>
          <p:cNvSpPr/>
          <p:nvPr/>
        </p:nvSpPr>
        <p:spPr>
          <a:xfrm>
            <a:off x="7342455" y="3186408"/>
            <a:ext cx="542925" cy="438150"/>
          </a:xfrm>
          <a:prstGeom prst="ellipse">
            <a:avLst/>
          </a:prstGeom>
          <a:noFill/>
          <a:ln>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dirty="0"/>
          </a:p>
        </p:txBody>
      </p:sp>
      <p:cxnSp>
        <p:nvCxnSpPr>
          <p:cNvPr id="16" name="Gerade Verbindung mit Pfeil 15"/>
          <p:cNvCxnSpPr/>
          <p:nvPr/>
        </p:nvCxnSpPr>
        <p:spPr>
          <a:xfrm>
            <a:off x="6438900" y="2365340"/>
            <a:ext cx="903555" cy="82106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a:off x="5744894" y="2534743"/>
            <a:ext cx="1522986" cy="77824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A</a:t>
            </a:r>
            <a:endParaRPr lang="de-DE" sz="3600" dirty="0">
              <a:solidFill>
                <a:schemeClr val="tx1"/>
              </a:solidFill>
              <a:latin typeface="Source Sans Pro" panose="020B0503030403020204" pitchFamily="34" charset="0"/>
            </a:endParaRPr>
          </a:p>
        </p:txBody>
      </p:sp>
      <p:sp>
        <p:nvSpPr>
          <p:cNvPr id="22" name="Textfeld 21"/>
          <p:cNvSpPr txBox="1"/>
          <p:nvPr/>
        </p:nvSpPr>
        <p:spPr>
          <a:xfrm>
            <a:off x="8164772" y="4005752"/>
            <a:ext cx="2238375" cy="1200329"/>
          </a:xfrm>
          <a:prstGeom prst="rect">
            <a:avLst/>
          </a:prstGeom>
          <a:noFill/>
          <a:ln>
            <a:solidFill>
              <a:schemeClr val="accent2"/>
            </a:solidFill>
          </a:ln>
        </p:spPr>
        <p:txBody>
          <a:bodyPr wrap="square" rtlCol="0">
            <a:spAutoFit/>
          </a:bodyPr>
          <a:lstStyle/>
          <a:p>
            <a:pPr algn="ctr"/>
            <a:r>
              <a:rPr lang="de-DE" dirty="0" smtClean="0">
                <a:solidFill>
                  <a:schemeClr val="accent2"/>
                </a:solidFill>
                <a:latin typeface="Source Sans Pro" panose="020B0503030403020204" pitchFamily="34" charset="0"/>
              </a:rPr>
              <a:t>Angenommen wir </a:t>
            </a:r>
          </a:p>
          <a:p>
            <a:pPr algn="ctr"/>
            <a:r>
              <a:rPr lang="de-DE" dirty="0">
                <a:solidFill>
                  <a:schemeClr val="accent2"/>
                </a:solidFill>
                <a:latin typeface="Source Sans Pro" panose="020B0503030403020204" pitchFamily="34" charset="0"/>
              </a:rPr>
              <a:t>w</a:t>
            </a:r>
            <a:r>
              <a:rPr lang="de-DE" dirty="0" smtClean="0">
                <a:solidFill>
                  <a:schemeClr val="accent2"/>
                </a:solidFill>
                <a:latin typeface="Source Sans Pro" panose="020B0503030403020204" pitchFamily="34" charset="0"/>
              </a:rPr>
              <a:t>ählen uns eine </a:t>
            </a:r>
          </a:p>
          <a:p>
            <a:pPr algn="ctr"/>
            <a:r>
              <a:rPr lang="de-DE" b="1" dirty="0" smtClean="0">
                <a:solidFill>
                  <a:schemeClr val="accent2"/>
                </a:solidFill>
                <a:latin typeface="Source Sans Pro" panose="020B0503030403020204" pitchFamily="34" charset="0"/>
              </a:rPr>
              <a:t>beliebige</a:t>
            </a:r>
            <a:r>
              <a:rPr lang="de-DE" dirty="0" smtClean="0">
                <a:solidFill>
                  <a:schemeClr val="accent2"/>
                </a:solidFill>
                <a:latin typeface="Source Sans Pro" panose="020B0503030403020204" pitchFamily="34" charset="0"/>
              </a:rPr>
              <a:t> Entität </a:t>
            </a:r>
          </a:p>
          <a:p>
            <a:pPr algn="ctr"/>
            <a:r>
              <a:rPr lang="de-DE" dirty="0" smtClean="0">
                <a:solidFill>
                  <a:schemeClr val="accent2"/>
                </a:solidFill>
                <a:latin typeface="Source Sans Pro" panose="020B0503030403020204" pitchFamily="34" charset="0"/>
              </a:rPr>
              <a:t>vom Typ B …</a:t>
            </a:r>
            <a:endParaRPr lang="de-DE"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34773559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fontScale="90000"/>
          </a:bodyPr>
          <a:lstStyle/>
          <a:p>
            <a:r>
              <a:rPr lang="de-DE" dirty="0" smtClean="0">
                <a:latin typeface="Source Sans Pro" panose="020B0503030403020204" pitchFamily="34" charset="0"/>
              </a:rPr>
              <a:t>Ermittlung der Kardinalitäten </a:t>
            </a:r>
            <a:r>
              <a:rPr lang="de-DE" sz="2700" b="0" i="1" dirty="0" smtClean="0">
                <a:latin typeface="Source Sans Pro" panose="020B0503030403020204" pitchFamily="34" charset="0"/>
              </a:rPr>
              <a:t>( =&gt; Ermittlung des </a:t>
            </a:r>
            <a:r>
              <a:rPr lang="de-DE" sz="2700" i="1" dirty="0" smtClean="0">
                <a:latin typeface="Source Sans Pro" panose="020B0503030403020204" pitchFamily="34" charset="0"/>
              </a:rPr>
              <a:t>Relationstyps</a:t>
            </a:r>
            <a:r>
              <a:rPr lang="de-DE" sz="2700" b="0" i="1" dirty="0" smtClean="0">
                <a:latin typeface="Source Sans Pro" panose="020B0503030403020204" pitchFamily="34" charset="0"/>
              </a:rPr>
              <a:t>)</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B</a:t>
            </a:r>
            <a:endParaRPr lang="de-DE" sz="3600" dirty="0">
              <a:solidFill>
                <a:schemeClr val="tx1"/>
              </a:solidFill>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rgbClr val="0070C0"/>
                </a:solidFill>
                <a:latin typeface="Source Sans Pro" panose="020B0503030403020204" pitchFamily="34" charset="0"/>
              </a:rPr>
              <a:t>Relation</a:t>
            </a:r>
            <a:endParaRPr lang="de-DE"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accent5"/>
            </a:solidFill>
          </a:ln>
        </p:spPr>
        <p:txBody>
          <a:bodyPr wrap="square" rtlCol="0">
            <a:spAutoFit/>
          </a:bodyPr>
          <a:lstStyle/>
          <a:p>
            <a:pPr algn="ctr"/>
            <a:r>
              <a:rPr lang="de-DE" dirty="0" smtClean="0">
                <a:solidFill>
                  <a:schemeClr val="accent5"/>
                </a:solidFill>
                <a:latin typeface="Source Sans Pro" panose="020B0503030403020204" pitchFamily="34" charset="0"/>
              </a:rPr>
              <a:t>Angenommen wir </a:t>
            </a:r>
          </a:p>
          <a:p>
            <a:pPr algn="ctr"/>
            <a:r>
              <a:rPr lang="de-DE" dirty="0">
                <a:solidFill>
                  <a:schemeClr val="accent5"/>
                </a:solidFill>
                <a:latin typeface="Source Sans Pro" panose="020B0503030403020204" pitchFamily="34" charset="0"/>
              </a:rPr>
              <a:t>w</a:t>
            </a:r>
            <a:r>
              <a:rPr lang="de-DE" dirty="0" smtClean="0">
                <a:solidFill>
                  <a:schemeClr val="accent5"/>
                </a:solidFill>
                <a:latin typeface="Source Sans Pro" panose="020B0503030403020204" pitchFamily="34" charset="0"/>
              </a:rPr>
              <a:t>ählen uns eine </a:t>
            </a:r>
          </a:p>
          <a:p>
            <a:pPr algn="ctr"/>
            <a:r>
              <a:rPr lang="de-DE" b="1" dirty="0" smtClean="0">
                <a:solidFill>
                  <a:schemeClr val="accent5"/>
                </a:solidFill>
                <a:latin typeface="Source Sans Pro" panose="020B0503030403020204" pitchFamily="34" charset="0"/>
              </a:rPr>
              <a:t>beliebige</a:t>
            </a:r>
            <a:r>
              <a:rPr lang="de-DE" dirty="0" smtClean="0">
                <a:solidFill>
                  <a:schemeClr val="accent5"/>
                </a:solidFill>
                <a:latin typeface="Source Sans Pro" panose="020B0503030403020204" pitchFamily="34" charset="0"/>
              </a:rPr>
              <a:t> Entität </a:t>
            </a:r>
          </a:p>
          <a:p>
            <a:pPr algn="ctr"/>
            <a:r>
              <a:rPr lang="de-DE" dirty="0" smtClean="0">
                <a:solidFill>
                  <a:schemeClr val="accent5"/>
                </a:solidFill>
                <a:latin typeface="Source Sans Pro" panose="020B0503030403020204" pitchFamily="34" charset="0"/>
              </a:rPr>
              <a:t>vom Typ A …</a:t>
            </a:r>
            <a:endParaRPr lang="de-DE" dirty="0">
              <a:solidFill>
                <a:schemeClr val="accent5"/>
              </a:solidFill>
              <a:latin typeface="Source Sans Pro" panose="020B0503030403020204" pitchFamily="34" charset="0"/>
            </a:endParaRPr>
          </a:p>
        </p:txBody>
      </p:sp>
      <p:sp>
        <p:nvSpPr>
          <p:cNvPr id="3" name="Nach unten gekrümmter Pfeil 2"/>
          <p:cNvSpPr/>
          <p:nvPr/>
        </p:nvSpPr>
        <p:spPr>
          <a:xfrm>
            <a:off x="3035657" y="1013678"/>
            <a:ext cx="4679593" cy="723900"/>
          </a:xfrm>
          <a:prstGeom prst="curvedDownArrow">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4" name="Textfeld 13"/>
          <p:cNvSpPr txBox="1"/>
          <p:nvPr/>
        </p:nvSpPr>
        <p:spPr>
          <a:xfrm>
            <a:off x="3934584" y="1272738"/>
            <a:ext cx="2858536" cy="461665"/>
          </a:xfrm>
          <a:prstGeom prst="rect">
            <a:avLst/>
          </a:prstGeom>
          <a:noFill/>
          <a:ln>
            <a:solidFill>
              <a:schemeClr val="accent5"/>
            </a:solidFill>
          </a:ln>
        </p:spPr>
        <p:txBody>
          <a:bodyPr wrap="square" rtlCol="0">
            <a:spAutoFit/>
          </a:bodyPr>
          <a:lstStyle/>
          <a:p>
            <a:pPr algn="ctr"/>
            <a:r>
              <a:rPr lang="de-DE" sz="1200" dirty="0" smtClean="0">
                <a:solidFill>
                  <a:schemeClr val="accent5"/>
                </a:solidFill>
                <a:latin typeface="Source Sans Pro" panose="020B0503030403020204" pitchFamily="34" charset="0"/>
              </a:rPr>
              <a:t>… können wir dieser Entität dann</a:t>
            </a:r>
          </a:p>
          <a:p>
            <a:pPr algn="ctr"/>
            <a:r>
              <a:rPr lang="de-DE" sz="1200" b="1" dirty="0" smtClean="0">
                <a:solidFill>
                  <a:schemeClr val="accent5"/>
                </a:solidFill>
                <a:latin typeface="Source Sans Pro" panose="020B0503030403020204" pitchFamily="34" charset="0"/>
              </a:rPr>
              <a:t>höchstens 1 </a:t>
            </a:r>
            <a:r>
              <a:rPr lang="de-DE" sz="1200" dirty="0" smtClean="0">
                <a:solidFill>
                  <a:schemeClr val="accent5"/>
                </a:solidFill>
                <a:latin typeface="Source Sans Pro" panose="020B0503030403020204" pitchFamily="34" charset="0"/>
              </a:rPr>
              <a:t>Entität vom Typ B zuordnen?</a:t>
            </a:r>
            <a:endParaRPr lang="de-DE" sz="1200" dirty="0">
              <a:solidFill>
                <a:schemeClr val="accent5"/>
              </a:solidFill>
              <a:latin typeface="Source Sans Pro" panose="020B0503030403020204" pitchFamily="34" charset="0"/>
            </a:endParaRPr>
          </a:p>
        </p:txBody>
      </p:sp>
      <p:sp>
        <p:nvSpPr>
          <p:cNvPr id="15" name="Textfeld 14"/>
          <p:cNvSpPr txBox="1"/>
          <p:nvPr/>
        </p:nvSpPr>
        <p:spPr>
          <a:xfrm>
            <a:off x="3946185" y="1924119"/>
            <a:ext cx="2858536" cy="584775"/>
          </a:xfrm>
          <a:prstGeom prst="rect">
            <a:avLst/>
          </a:prstGeom>
          <a:noFill/>
          <a:ln>
            <a:solidFill>
              <a:schemeClr val="accent5"/>
            </a:solidFill>
          </a:ln>
        </p:spPr>
        <p:txBody>
          <a:bodyPr wrap="square" rtlCol="0">
            <a:spAutoFit/>
          </a:bodyPr>
          <a:lstStyle/>
          <a:p>
            <a:pPr algn="ctr"/>
            <a:r>
              <a:rPr lang="de-DE" sz="1200" dirty="0" smtClean="0">
                <a:solidFill>
                  <a:schemeClr val="accent5"/>
                </a:solidFill>
                <a:latin typeface="Source Sans Pro" panose="020B0503030403020204" pitchFamily="34" charset="0"/>
              </a:rPr>
              <a:t>Wenn wir auf diese Frage mit </a:t>
            </a:r>
            <a:r>
              <a:rPr lang="de-DE" sz="1200" b="1" dirty="0" smtClean="0">
                <a:solidFill>
                  <a:schemeClr val="accent5"/>
                </a:solidFill>
                <a:latin typeface="Source Sans Pro" panose="020B0503030403020204" pitchFamily="34" charset="0"/>
              </a:rPr>
              <a:t>„ja“ </a:t>
            </a:r>
            <a:r>
              <a:rPr lang="de-DE" sz="1200" dirty="0" smtClean="0">
                <a:solidFill>
                  <a:schemeClr val="accent5"/>
                </a:solidFill>
                <a:latin typeface="Source Sans Pro" panose="020B0503030403020204" pitchFamily="34" charset="0"/>
              </a:rPr>
              <a:t>antworten, dann notieren wir ein </a:t>
            </a:r>
            <a:r>
              <a:rPr lang="de-DE" sz="1200" b="1" dirty="0" smtClean="0">
                <a:solidFill>
                  <a:schemeClr val="accent5"/>
                </a:solidFill>
                <a:latin typeface="Source Sans Pro" panose="020B0503030403020204" pitchFamily="34" charset="0"/>
              </a:rPr>
              <a:t>„1“</a:t>
            </a:r>
            <a:r>
              <a:rPr lang="de-DE" sz="1200" dirty="0" smtClean="0">
                <a:solidFill>
                  <a:schemeClr val="accent5"/>
                </a:solidFill>
                <a:latin typeface="Source Sans Pro" panose="020B0503030403020204" pitchFamily="34" charset="0"/>
              </a:rPr>
              <a:t>!</a:t>
            </a:r>
          </a:p>
          <a:p>
            <a:pPr algn="ctr"/>
            <a:r>
              <a:rPr lang="de-DE" sz="800" dirty="0" smtClean="0">
                <a:solidFill>
                  <a:schemeClr val="accent5"/>
                </a:solidFill>
                <a:latin typeface="Source Sans Pro" panose="020B0503030403020204" pitchFamily="34" charset="0"/>
              </a:rPr>
              <a:t>(sonst ein</a:t>
            </a:r>
            <a:r>
              <a:rPr lang="de-DE" sz="800" b="1" dirty="0" smtClean="0">
                <a:solidFill>
                  <a:schemeClr val="accent5"/>
                </a:solidFill>
                <a:latin typeface="Source Sans Pro" panose="020B0503030403020204" pitchFamily="34" charset="0"/>
              </a:rPr>
              <a:t> „n“)</a:t>
            </a:r>
            <a:endParaRPr lang="de-DE" sz="800" b="1" dirty="0">
              <a:solidFill>
                <a:schemeClr val="accent5"/>
              </a:solidFill>
              <a:latin typeface="Source Sans Pro" panose="020B0503030403020204" pitchFamily="34" charset="0"/>
            </a:endParaRPr>
          </a:p>
        </p:txBody>
      </p:sp>
      <p:sp>
        <p:nvSpPr>
          <p:cNvPr id="6" name="Ellipse 5"/>
          <p:cNvSpPr/>
          <p:nvPr/>
        </p:nvSpPr>
        <p:spPr>
          <a:xfrm>
            <a:off x="7342455" y="3186408"/>
            <a:ext cx="542925" cy="438150"/>
          </a:xfrm>
          <a:prstGeom prst="ellipse">
            <a:avLst/>
          </a:prstGeom>
          <a:noFill/>
          <a:ln>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dirty="0"/>
          </a:p>
        </p:txBody>
      </p:sp>
      <p:cxnSp>
        <p:nvCxnSpPr>
          <p:cNvPr id="16" name="Gerade Verbindung mit Pfeil 15"/>
          <p:cNvCxnSpPr/>
          <p:nvPr/>
        </p:nvCxnSpPr>
        <p:spPr>
          <a:xfrm>
            <a:off x="6438900" y="2365340"/>
            <a:ext cx="903555" cy="82106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a:off x="5744894" y="2534743"/>
            <a:ext cx="1522986" cy="77824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A</a:t>
            </a:r>
            <a:endParaRPr lang="de-DE" sz="3600" dirty="0">
              <a:solidFill>
                <a:schemeClr val="tx1"/>
              </a:solidFill>
              <a:latin typeface="Source Sans Pro" panose="020B0503030403020204" pitchFamily="34" charset="0"/>
            </a:endParaRPr>
          </a:p>
        </p:txBody>
      </p:sp>
      <p:sp>
        <p:nvSpPr>
          <p:cNvPr id="21" name="Textfeld 20"/>
          <p:cNvSpPr txBox="1"/>
          <p:nvPr/>
        </p:nvSpPr>
        <p:spPr>
          <a:xfrm>
            <a:off x="8164772" y="4005752"/>
            <a:ext cx="2238375" cy="1200329"/>
          </a:xfrm>
          <a:prstGeom prst="rect">
            <a:avLst/>
          </a:prstGeom>
          <a:noFill/>
          <a:ln>
            <a:solidFill>
              <a:schemeClr val="tx1"/>
            </a:solidFill>
          </a:ln>
        </p:spPr>
        <p:txBody>
          <a:bodyPr wrap="square" rtlCol="0">
            <a:spAutoFit/>
          </a:bodyPr>
          <a:lstStyle/>
          <a:p>
            <a:pPr algn="ctr"/>
            <a:r>
              <a:rPr lang="de-DE" dirty="0" smtClean="0">
                <a:latin typeface="Source Sans Pro" panose="020B0503030403020204" pitchFamily="34" charset="0"/>
              </a:rPr>
              <a:t>Angenommen wir </a:t>
            </a:r>
          </a:p>
          <a:p>
            <a:pPr algn="ctr"/>
            <a:r>
              <a:rPr lang="de-DE" dirty="0">
                <a:latin typeface="Source Sans Pro" panose="020B0503030403020204" pitchFamily="34" charset="0"/>
              </a:rPr>
              <a:t>w</a:t>
            </a:r>
            <a:r>
              <a:rPr lang="de-DE" dirty="0" smtClean="0">
                <a:latin typeface="Source Sans Pro" panose="020B0503030403020204" pitchFamily="34" charset="0"/>
              </a:rPr>
              <a:t>ählen uns eine </a:t>
            </a:r>
          </a:p>
          <a:p>
            <a:pPr algn="ctr"/>
            <a:r>
              <a:rPr lang="de-DE" b="1" dirty="0" smtClean="0">
                <a:latin typeface="Source Sans Pro" panose="020B0503030403020204" pitchFamily="34" charset="0"/>
              </a:rPr>
              <a:t>beliebige</a:t>
            </a:r>
            <a:r>
              <a:rPr lang="de-DE" dirty="0" smtClean="0">
                <a:latin typeface="Source Sans Pro" panose="020B0503030403020204" pitchFamily="34" charset="0"/>
              </a:rPr>
              <a:t> Entität </a:t>
            </a:r>
          </a:p>
          <a:p>
            <a:pPr algn="ctr"/>
            <a:r>
              <a:rPr lang="de-DE" dirty="0" smtClean="0">
                <a:latin typeface="Source Sans Pro" panose="020B0503030403020204" pitchFamily="34" charset="0"/>
              </a:rPr>
              <a:t>vom Typ B …</a:t>
            </a:r>
            <a:endParaRPr lang="de-DE" dirty="0">
              <a:latin typeface="Source Sans Pro" panose="020B0503030403020204" pitchFamily="34" charset="0"/>
            </a:endParaRPr>
          </a:p>
        </p:txBody>
      </p:sp>
      <p:sp>
        <p:nvSpPr>
          <p:cNvPr id="20" name="Nach unten gekrümmter Pfeil 19"/>
          <p:cNvSpPr/>
          <p:nvPr/>
        </p:nvSpPr>
        <p:spPr>
          <a:xfrm rot="10800000">
            <a:off x="3761405" y="5257188"/>
            <a:ext cx="4679593" cy="723900"/>
          </a:xfrm>
          <a:prstGeom prst="curved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22" name="Textfeld 21"/>
          <p:cNvSpPr txBox="1"/>
          <p:nvPr/>
        </p:nvSpPr>
        <p:spPr>
          <a:xfrm>
            <a:off x="4683535" y="5208389"/>
            <a:ext cx="2858536" cy="461665"/>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 können wir dieser Entität dann</a:t>
            </a:r>
          </a:p>
          <a:p>
            <a:pPr algn="ctr"/>
            <a:r>
              <a:rPr lang="de-DE" sz="1200" b="1" dirty="0" smtClean="0">
                <a:solidFill>
                  <a:schemeClr val="accent2"/>
                </a:solidFill>
                <a:latin typeface="Source Sans Pro" panose="020B0503030403020204" pitchFamily="34" charset="0"/>
              </a:rPr>
              <a:t>höchstens 1 </a:t>
            </a:r>
            <a:r>
              <a:rPr lang="de-DE" sz="1200" dirty="0" smtClean="0">
                <a:solidFill>
                  <a:schemeClr val="accent2"/>
                </a:solidFill>
                <a:latin typeface="Source Sans Pro" panose="020B0503030403020204" pitchFamily="34" charset="0"/>
              </a:rPr>
              <a:t>Entität vom Typ A zuordnen?</a:t>
            </a:r>
            <a:endParaRPr lang="de-DE" sz="1200"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25719139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fontScale="90000"/>
          </a:bodyPr>
          <a:lstStyle/>
          <a:p>
            <a:r>
              <a:rPr lang="de-DE" dirty="0" smtClean="0">
                <a:latin typeface="Source Sans Pro" panose="020B0503030403020204" pitchFamily="34" charset="0"/>
              </a:rPr>
              <a:t>Ermittlung der Kardinalitäten </a:t>
            </a:r>
            <a:r>
              <a:rPr lang="de-DE" sz="2700" b="0" i="1" dirty="0" smtClean="0">
                <a:latin typeface="Source Sans Pro" panose="020B0503030403020204" pitchFamily="34" charset="0"/>
              </a:rPr>
              <a:t>( =&gt; Ermittlung des </a:t>
            </a:r>
            <a:r>
              <a:rPr lang="de-DE" sz="2700" i="1" dirty="0" smtClean="0">
                <a:latin typeface="Source Sans Pro" panose="020B0503030403020204" pitchFamily="34" charset="0"/>
              </a:rPr>
              <a:t>Relationstyps</a:t>
            </a:r>
            <a:r>
              <a:rPr lang="de-DE" sz="2700" b="0" i="1" dirty="0" smtClean="0">
                <a:latin typeface="Source Sans Pro" panose="020B0503030403020204" pitchFamily="34" charset="0"/>
              </a:rPr>
              <a:t>)</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B</a:t>
            </a:r>
            <a:endParaRPr lang="de-DE" sz="3600" dirty="0">
              <a:solidFill>
                <a:schemeClr val="tx1"/>
              </a:solidFill>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rgbClr val="0070C0"/>
                </a:solidFill>
                <a:latin typeface="Source Sans Pro" panose="020B0503030403020204" pitchFamily="34" charset="0"/>
              </a:rPr>
              <a:t>Relation</a:t>
            </a:r>
            <a:endParaRPr lang="de-DE"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accent5"/>
            </a:solidFill>
          </a:ln>
        </p:spPr>
        <p:txBody>
          <a:bodyPr wrap="square" rtlCol="0">
            <a:spAutoFit/>
          </a:bodyPr>
          <a:lstStyle/>
          <a:p>
            <a:pPr algn="ctr"/>
            <a:r>
              <a:rPr lang="de-DE" dirty="0" smtClean="0">
                <a:solidFill>
                  <a:schemeClr val="accent5"/>
                </a:solidFill>
                <a:latin typeface="Source Sans Pro" panose="020B0503030403020204" pitchFamily="34" charset="0"/>
              </a:rPr>
              <a:t>Angenommen wir </a:t>
            </a:r>
          </a:p>
          <a:p>
            <a:pPr algn="ctr"/>
            <a:r>
              <a:rPr lang="de-DE" dirty="0">
                <a:solidFill>
                  <a:schemeClr val="accent5"/>
                </a:solidFill>
                <a:latin typeface="Source Sans Pro" panose="020B0503030403020204" pitchFamily="34" charset="0"/>
              </a:rPr>
              <a:t>w</a:t>
            </a:r>
            <a:r>
              <a:rPr lang="de-DE" dirty="0" smtClean="0">
                <a:solidFill>
                  <a:schemeClr val="accent5"/>
                </a:solidFill>
                <a:latin typeface="Source Sans Pro" panose="020B0503030403020204" pitchFamily="34" charset="0"/>
              </a:rPr>
              <a:t>ählen uns eine </a:t>
            </a:r>
          </a:p>
          <a:p>
            <a:pPr algn="ctr"/>
            <a:r>
              <a:rPr lang="de-DE" b="1" dirty="0" smtClean="0">
                <a:solidFill>
                  <a:schemeClr val="accent5"/>
                </a:solidFill>
                <a:latin typeface="Source Sans Pro" panose="020B0503030403020204" pitchFamily="34" charset="0"/>
              </a:rPr>
              <a:t>beliebige</a:t>
            </a:r>
            <a:r>
              <a:rPr lang="de-DE" dirty="0" smtClean="0">
                <a:solidFill>
                  <a:schemeClr val="accent5"/>
                </a:solidFill>
                <a:latin typeface="Source Sans Pro" panose="020B0503030403020204" pitchFamily="34" charset="0"/>
              </a:rPr>
              <a:t> Entität </a:t>
            </a:r>
          </a:p>
          <a:p>
            <a:pPr algn="ctr"/>
            <a:r>
              <a:rPr lang="de-DE" dirty="0" smtClean="0">
                <a:solidFill>
                  <a:schemeClr val="accent5"/>
                </a:solidFill>
                <a:latin typeface="Source Sans Pro" panose="020B0503030403020204" pitchFamily="34" charset="0"/>
              </a:rPr>
              <a:t>vom Typ A …</a:t>
            </a:r>
            <a:endParaRPr lang="de-DE" dirty="0">
              <a:solidFill>
                <a:schemeClr val="accent5"/>
              </a:solidFill>
              <a:latin typeface="Source Sans Pro" panose="020B0503030403020204" pitchFamily="34" charset="0"/>
            </a:endParaRPr>
          </a:p>
        </p:txBody>
      </p:sp>
      <p:sp>
        <p:nvSpPr>
          <p:cNvPr id="3" name="Nach unten gekrümmter Pfeil 2"/>
          <p:cNvSpPr/>
          <p:nvPr/>
        </p:nvSpPr>
        <p:spPr>
          <a:xfrm>
            <a:off x="3035657" y="1013678"/>
            <a:ext cx="4679593" cy="723900"/>
          </a:xfrm>
          <a:prstGeom prst="curvedDownArrow">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4" name="Textfeld 13"/>
          <p:cNvSpPr txBox="1"/>
          <p:nvPr/>
        </p:nvSpPr>
        <p:spPr>
          <a:xfrm>
            <a:off x="3934584" y="1272738"/>
            <a:ext cx="2858536" cy="461665"/>
          </a:xfrm>
          <a:prstGeom prst="rect">
            <a:avLst/>
          </a:prstGeom>
          <a:noFill/>
          <a:ln>
            <a:solidFill>
              <a:schemeClr val="accent5"/>
            </a:solidFill>
          </a:ln>
        </p:spPr>
        <p:txBody>
          <a:bodyPr wrap="square" rtlCol="0">
            <a:spAutoFit/>
          </a:bodyPr>
          <a:lstStyle/>
          <a:p>
            <a:pPr algn="ctr"/>
            <a:r>
              <a:rPr lang="de-DE" sz="1200" dirty="0" smtClean="0">
                <a:solidFill>
                  <a:schemeClr val="accent5"/>
                </a:solidFill>
                <a:latin typeface="Source Sans Pro" panose="020B0503030403020204" pitchFamily="34" charset="0"/>
              </a:rPr>
              <a:t>… können wir dieser Entität dann</a:t>
            </a:r>
          </a:p>
          <a:p>
            <a:pPr algn="ctr"/>
            <a:r>
              <a:rPr lang="de-DE" sz="1200" b="1" dirty="0" smtClean="0">
                <a:solidFill>
                  <a:schemeClr val="accent5"/>
                </a:solidFill>
                <a:latin typeface="Source Sans Pro" panose="020B0503030403020204" pitchFamily="34" charset="0"/>
              </a:rPr>
              <a:t>höchstens 1 </a:t>
            </a:r>
            <a:r>
              <a:rPr lang="de-DE" sz="1200" dirty="0" smtClean="0">
                <a:solidFill>
                  <a:schemeClr val="accent5"/>
                </a:solidFill>
                <a:latin typeface="Source Sans Pro" panose="020B0503030403020204" pitchFamily="34" charset="0"/>
              </a:rPr>
              <a:t>Entität vom Typ B zuordnen?</a:t>
            </a:r>
            <a:endParaRPr lang="de-DE" sz="1200" dirty="0">
              <a:solidFill>
                <a:schemeClr val="accent5"/>
              </a:solidFill>
              <a:latin typeface="Source Sans Pro" panose="020B0503030403020204" pitchFamily="34" charset="0"/>
            </a:endParaRPr>
          </a:p>
        </p:txBody>
      </p:sp>
      <p:sp>
        <p:nvSpPr>
          <p:cNvPr id="15" name="Textfeld 14"/>
          <p:cNvSpPr txBox="1"/>
          <p:nvPr/>
        </p:nvSpPr>
        <p:spPr>
          <a:xfrm>
            <a:off x="3946185" y="1924119"/>
            <a:ext cx="2858536" cy="584775"/>
          </a:xfrm>
          <a:prstGeom prst="rect">
            <a:avLst/>
          </a:prstGeom>
          <a:noFill/>
          <a:ln>
            <a:solidFill>
              <a:schemeClr val="accent5"/>
            </a:solidFill>
          </a:ln>
        </p:spPr>
        <p:txBody>
          <a:bodyPr wrap="square" rtlCol="0">
            <a:spAutoFit/>
          </a:bodyPr>
          <a:lstStyle/>
          <a:p>
            <a:pPr algn="ctr"/>
            <a:r>
              <a:rPr lang="de-DE" sz="1200" dirty="0" smtClean="0">
                <a:solidFill>
                  <a:schemeClr val="accent5"/>
                </a:solidFill>
                <a:latin typeface="Source Sans Pro" panose="020B0503030403020204" pitchFamily="34" charset="0"/>
              </a:rPr>
              <a:t>Wenn wir auf diese Frage mit </a:t>
            </a:r>
            <a:r>
              <a:rPr lang="de-DE" sz="1200" b="1" dirty="0" smtClean="0">
                <a:solidFill>
                  <a:schemeClr val="accent5"/>
                </a:solidFill>
                <a:latin typeface="Source Sans Pro" panose="020B0503030403020204" pitchFamily="34" charset="0"/>
              </a:rPr>
              <a:t>„ja“ </a:t>
            </a:r>
            <a:r>
              <a:rPr lang="de-DE" sz="1200" dirty="0" smtClean="0">
                <a:solidFill>
                  <a:schemeClr val="accent5"/>
                </a:solidFill>
                <a:latin typeface="Source Sans Pro" panose="020B0503030403020204" pitchFamily="34" charset="0"/>
              </a:rPr>
              <a:t>antworten, dann notieren wir ein </a:t>
            </a:r>
            <a:r>
              <a:rPr lang="de-DE" sz="1200" b="1" dirty="0" smtClean="0">
                <a:solidFill>
                  <a:schemeClr val="accent5"/>
                </a:solidFill>
                <a:latin typeface="Source Sans Pro" panose="020B0503030403020204" pitchFamily="34" charset="0"/>
              </a:rPr>
              <a:t>„1“</a:t>
            </a:r>
            <a:r>
              <a:rPr lang="de-DE" sz="1200" dirty="0" smtClean="0">
                <a:solidFill>
                  <a:schemeClr val="accent5"/>
                </a:solidFill>
                <a:latin typeface="Source Sans Pro" panose="020B0503030403020204" pitchFamily="34" charset="0"/>
              </a:rPr>
              <a:t>!</a:t>
            </a:r>
          </a:p>
          <a:p>
            <a:pPr algn="ctr"/>
            <a:r>
              <a:rPr lang="de-DE" sz="800" dirty="0" smtClean="0">
                <a:solidFill>
                  <a:schemeClr val="accent5"/>
                </a:solidFill>
                <a:latin typeface="Source Sans Pro" panose="020B0503030403020204" pitchFamily="34" charset="0"/>
              </a:rPr>
              <a:t>(sonst ein</a:t>
            </a:r>
            <a:r>
              <a:rPr lang="de-DE" sz="800" b="1" dirty="0" smtClean="0">
                <a:solidFill>
                  <a:schemeClr val="accent5"/>
                </a:solidFill>
                <a:latin typeface="Source Sans Pro" panose="020B0503030403020204" pitchFamily="34" charset="0"/>
              </a:rPr>
              <a:t> „n“)</a:t>
            </a:r>
            <a:endParaRPr lang="de-DE" sz="800" b="1" dirty="0">
              <a:solidFill>
                <a:schemeClr val="accent5"/>
              </a:solidFill>
              <a:latin typeface="Source Sans Pro" panose="020B0503030403020204" pitchFamily="34" charset="0"/>
            </a:endParaRPr>
          </a:p>
        </p:txBody>
      </p:sp>
      <p:sp>
        <p:nvSpPr>
          <p:cNvPr id="6" name="Ellipse 5"/>
          <p:cNvSpPr/>
          <p:nvPr/>
        </p:nvSpPr>
        <p:spPr>
          <a:xfrm>
            <a:off x="7342455" y="3186408"/>
            <a:ext cx="542925" cy="438150"/>
          </a:xfrm>
          <a:prstGeom prst="ellipse">
            <a:avLst/>
          </a:prstGeom>
          <a:noFill/>
          <a:ln>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dirty="0"/>
          </a:p>
        </p:txBody>
      </p:sp>
      <p:cxnSp>
        <p:nvCxnSpPr>
          <p:cNvPr id="16" name="Gerade Verbindung mit Pfeil 15"/>
          <p:cNvCxnSpPr/>
          <p:nvPr/>
        </p:nvCxnSpPr>
        <p:spPr>
          <a:xfrm>
            <a:off x="6438900" y="2365340"/>
            <a:ext cx="903555" cy="82106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a:off x="5744894" y="2534743"/>
            <a:ext cx="1522986" cy="77824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smtClean="0">
                <a:solidFill>
                  <a:schemeClr val="tx1"/>
                </a:solidFill>
                <a:latin typeface="Source Sans Pro" panose="020B0503030403020204" pitchFamily="34" charset="0"/>
              </a:rPr>
              <a:t>Entitätstyp A</a:t>
            </a:r>
            <a:endParaRPr lang="de-DE" sz="3600" dirty="0">
              <a:solidFill>
                <a:schemeClr val="tx1"/>
              </a:solidFill>
              <a:latin typeface="Source Sans Pro" panose="020B0503030403020204" pitchFamily="34" charset="0"/>
            </a:endParaRPr>
          </a:p>
        </p:txBody>
      </p:sp>
      <p:sp>
        <p:nvSpPr>
          <p:cNvPr id="21" name="Textfeld 20"/>
          <p:cNvSpPr txBox="1"/>
          <p:nvPr/>
        </p:nvSpPr>
        <p:spPr>
          <a:xfrm>
            <a:off x="8164772" y="4005752"/>
            <a:ext cx="2238375" cy="1200329"/>
          </a:xfrm>
          <a:prstGeom prst="rect">
            <a:avLst/>
          </a:prstGeom>
          <a:noFill/>
          <a:ln>
            <a:solidFill>
              <a:schemeClr val="tx1"/>
            </a:solidFill>
          </a:ln>
        </p:spPr>
        <p:txBody>
          <a:bodyPr wrap="square" rtlCol="0">
            <a:spAutoFit/>
          </a:bodyPr>
          <a:lstStyle/>
          <a:p>
            <a:pPr algn="ctr"/>
            <a:r>
              <a:rPr lang="de-DE" dirty="0" smtClean="0">
                <a:latin typeface="Source Sans Pro" panose="020B0503030403020204" pitchFamily="34" charset="0"/>
              </a:rPr>
              <a:t>Angenommen wir </a:t>
            </a:r>
          </a:p>
          <a:p>
            <a:pPr algn="ctr"/>
            <a:r>
              <a:rPr lang="de-DE" dirty="0">
                <a:latin typeface="Source Sans Pro" panose="020B0503030403020204" pitchFamily="34" charset="0"/>
              </a:rPr>
              <a:t>w</a:t>
            </a:r>
            <a:r>
              <a:rPr lang="de-DE" dirty="0" smtClean="0">
                <a:latin typeface="Source Sans Pro" panose="020B0503030403020204" pitchFamily="34" charset="0"/>
              </a:rPr>
              <a:t>ählen uns eine </a:t>
            </a:r>
          </a:p>
          <a:p>
            <a:pPr algn="ctr"/>
            <a:r>
              <a:rPr lang="de-DE" b="1" dirty="0" smtClean="0">
                <a:latin typeface="Source Sans Pro" panose="020B0503030403020204" pitchFamily="34" charset="0"/>
              </a:rPr>
              <a:t>beliebige</a:t>
            </a:r>
            <a:r>
              <a:rPr lang="de-DE" dirty="0" smtClean="0">
                <a:latin typeface="Source Sans Pro" panose="020B0503030403020204" pitchFamily="34" charset="0"/>
              </a:rPr>
              <a:t> Entität </a:t>
            </a:r>
          </a:p>
          <a:p>
            <a:pPr algn="ctr"/>
            <a:r>
              <a:rPr lang="de-DE" dirty="0" smtClean="0">
                <a:latin typeface="Source Sans Pro" panose="020B0503030403020204" pitchFamily="34" charset="0"/>
              </a:rPr>
              <a:t>vom Typ B …</a:t>
            </a:r>
            <a:endParaRPr lang="de-DE" dirty="0">
              <a:latin typeface="Source Sans Pro" panose="020B0503030403020204" pitchFamily="34" charset="0"/>
            </a:endParaRPr>
          </a:p>
        </p:txBody>
      </p:sp>
      <p:sp>
        <p:nvSpPr>
          <p:cNvPr id="20" name="Nach unten gekrümmter Pfeil 19"/>
          <p:cNvSpPr/>
          <p:nvPr/>
        </p:nvSpPr>
        <p:spPr>
          <a:xfrm rot="10800000">
            <a:off x="3761405" y="5257188"/>
            <a:ext cx="4679593" cy="723900"/>
          </a:xfrm>
          <a:prstGeom prst="curved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22" name="Textfeld 21"/>
          <p:cNvSpPr txBox="1"/>
          <p:nvPr/>
        </p:nvSpPr>
        <p:spPr>
          <a:xfrm>
            <a:off x="4683535" y="5208389"/>
            <a:ext cx="2858536" cy="461665"/>
          </a:xfrm>
          <a:prstGeom prst="rect">
            <a:avLst/>
          </a:prstGeom>
          <a:noFill/>
          <a:ln>
            <a:solidFill>
              <a:schemeClr val="tx1"/>
            </a:solidFill>
          </a:ln>
        </p:spPr>
        <p:txBody>
          <a:bodyPr wrap="square" rtlCol="0">
            <a:spAutoFit/>
          </a:bodyPr>
          <a:lstStyle/>
          <a:p>
            <a:pPr algn="ctr"/>
            <a:r>
              <a:rPr lang="de-DE" sz="1200" dirty="0" smtClean="0">
                <a:latin typeface="Source Sans Pro" panose="020B0503030403020204" pitchFamily="34" charset="0"/>
              </a:rPr>
              <a:t>… können wir dieser Entität dann</a:t>
            </a:r>
          </a:p>
          <a:p>
            <a:pPr algn="ctr"/>
            <a:r>
              <a:rPr lang="de-DE" sz="1200" b="1" dirty="0" smtClean="0">
                <a:latin typeface="Source Sans Pro" panose="020B0503030403020204" pitchFamily="34" charset="0"/>
              </a:rPr>
              <a:t>höchstens 1 </a:t>
            </a:r>
            <a:r>
              <a:rPr lang="de-DE" sz="1200" dirty="0" smtClean="0">
                <a:latin typeface="Source Sans Pro" panose="020B0503030403020204" pitchFamily="34" charset="0"/>
              </a:rPr>
              <a:t>Entität vom Typ A zuordnen?</a:t>
            </a:r>
            <a:endParaRPr lang="de-DE" sz="1200" dirty="0">
              <a:latin typeface="Source Sans Pro" panose="020B0503030403020204" pitchFamily="34" charset="0"/>
            </a:endParaRPr>
          </a:p>
        </p:txBody>
      </p:sp>
      <p:sp>
        <p:nvSpPr>
          <p:cNvPr id="23" name="Textfeld 22"/>
          <p:cNvSpPr txBox="1"/>
          <p:nvPr/>
        </p:nvSpPr>
        <p:spPr>
          <a:xfrm>
            <a:off x="4680558" y="4445626"/>
            <a:ext cx="2858536" cy="707886"/>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Wenn wir auf diese Frage mit </a:t>
            </a:r>
            <a:r>
              <a:rPr lang="de-DE" sz="1200" b="1" dirty="0" smtClean="0">
                <a:solidFill>
                  <a:schemeClr val="accent2"/>
                </a:solidFill>
                <a:latin typeface="Source Sans Pro" panose="020B0503030403020204" pitchFamily="34" charset="0"/>
              </a:rPr>
              <a:t>„ja“ </a:t>
            </a:r>
            <a:r>
              <a:rPr lang="de-DE" sz="1200" dirty="0" smtClean="0">
                <a:solidFill>
                  <a:schemeClr val="accent2"/>
                </a:solidFill>
                <a:latin typeface="Source Sans Pro" panose="020B0503030403020204" pitchFamily="34" charset="0"/>
              </a:rPr>
              <a:t>antworten, dann notieren wir ein </a:t>
            </a:r>
            <a:r>
              <a:rPr lang="de-DE" sz="1200" b="1" dirty="0" smtClean="0">
                <a:solidFill>
                  <a:schemeClr val="accent2"/>
                </a:solidFill>
                <a:latin typeface="Source Sans Pro" panose="020B0503030403020204" pitchFamily="34" charset="0"/>
              </a:rPr>
              <a:t>„1“</a:t>
            </a:r>
            <a:r>
              <a:rPr lang="de-DE" sz="1200" dirty="0" smtClean="0">
                <a:solidFill>
                  <a:schemeClr val="accent2"/>
                </a:solidFill>
                <a:latin typeface="Source Sans Pro" panose="020B0503030403020204" pitchFamily="34" charset="0"/>
              </a:rPr>
              <a:t>!</a:t>
            </a:r>
          </a:p>
          <a:p>
            <a:pPr algn="ctr"/>
            <a:r>
              <a:rPr lang="de-DE" sz="800" dirty="0" smtClean="0">
                <a:solidFill>
                  <a:schemeClr val="accent2"/>
                </a:solidFill>
                <a:latin typeface="Source Sans Pro" panose="020B0503030403020204" pitchFamily="34" charset="0"/>
              </a:rPr>
              <a:t>(sonst ein</a:t>
            </a:r>
            <a:r>
              <a:rPr lang="de-DE" sz="800" b="1" dirty="0" smtClean="0">
                <a:solidFill>
                  <a:schemeClr val="accent2"/>
                </a:solidFill>
                <a:latin typeface="Source Sans Pro" panose="020B0503030403020204" pitchFamily="34" charset="0"/>
              </a:rPr>
              <a:t> „n“</a:t>
            </a:r>
            <a:r>
              <a:rPr lang="de-DE" sz="800" dirty="0" smtClean="0">
                <a:solidFill>
                  <a:schemeClr val="accent2"/>
                </a:solidFill>
                <a:latin typeface="Source Sans Pro" panose="020B0503030403020204" pitchFamily="34" charset="0"/>
              </a:rPr>
              <a:t>)</a:t>
            </a:r>
            <a:r>
              <a:rPr lang="de-DE" sz="800" b="1" dirty="0" smtClean="0">
                <a:solidFill>
                  <a:schemeClr val="accent2"/>
                </a:solidFill>
                <a:latin typeface="Source Sans Pro" panose="020B0503030403020204" pitchFamily="34" charset="0"/>
              </a:rPr>
              <a:t> </a:t>
            </a:r>
          </a:p>
          <a:p>
            <a:pPr algn="ctr"/>
            <a:r>
              <a:rPr lang="de-DE" sz="800" dirty="0" smtClean="0">
                <a:solidFill>
                  <a:schemeClr val="accent2"/>
                </a:solidFill>
                <a:latin typeface="Source Sans Pro" panose="020B0503030403020204" pitchFamily="34" charset="0"/>
              </a:rPr>
              <a:t>[oder </a:t>
            </a:r>
            <a:r>
              <a:rPr lang="de-DE" sz="800" b="1" dirty="0" smtClean="0">
                <a:solidFill>
                  <a:schemeClr val="accent2"/>
                </a:solidFill>
                <a:latin typeface="Source Sans Pro" panose="020B0503030403020204" pitchFamily="34" charset="0"/>
              </a:rPr>
              <a:t>„m“</a:t>
            </a:r>
            <a:r>
              <a:rPr lang="de-DE" sz="800" dirty="0" smtClean="0">
                <a:solidFill>
                  <a:schemeClr val="accent2"/>
                </a:solidFill>
                <a:latin typeface="Source Sans Pro" panose="020B0503030403020204" pitchFamily="34" charset="0"/>
              </a:rPr>
              <a:t>,</a:t>
            </a:r>
            <a:r>
              <a:rPr lang="de-DE" sz="800" b="1" dirty="0" smtClean="0">
                <a:solidFill>
                  <a:schemeClr val="accent2"/>
                </a:solidFill>
                <a:latin typeface="Source Sans Pro" panose="020B0503030403020204" pitchFamily="34" charset="0"/>
              </a:rPr>
              <a:t> </a:t>
            </a:r>
            <a:r>
              <a:rPr lang="de-DE" sz="800" dirty="0" smtClean="0">
                <a:solidFill>
                  <a:schemeClr val="accent2"/>
                </a:solidFill>
                <a:latin typeface="Source Sans Pro" panose="020B0503030403020204" pitchFamily="34" charset="0"/>
              </a:rPr>
              <a:t>falls die erste Kardinalität bereits „n“ war ]</a:t>
            </a:r>
            <a:endParaRPr lang="de-DE" sz="800" dirty="0">
              <a:solidFill>
                <a:schemeClr val="accent2"/>
              </a:solidFill>
              <a:latin typeface="Source Sans Pro" panose="020B0503030403020204" pitchFamily="34" charset="0"/>
            </a:endParaRPr>
          </a:p>
        </p:txBody>
      </p:sp>
      <p:cxnSp>
        <p:nvCxnSpPr>
          <p:cNvPr id="24" name="Gerade Verbindung mit Pfeil 23"/>
          <p:cNvCxnSpPr/>
          <p:nvPr/>
        </p:nvCxnSpPr>
        <p:spPr>
          <a:xfrm flipH="1" flipV="1">
            <a:off x="4077481" y="3760330"/>
            <a:ext cx="541176" cy="61496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6" name="Ellipse 25"/>
          <p:cNvSpPr/>
          <p:nvPr/>
        </p:nvSpPr>
        <p:spPr>
          <a:xfrm>
            <a:off x="3591275" y="3186408"/>
            <a:ext cx="542925" cy="438150"/>
          </a:xfrm>
          <a:prstGeom prst="ellipse">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40577846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Beispiel (1) </a:t>
            </a:r>
          </a:p>
          <a:p>
            <a:r>
              <a:rPr lang="de-DE" sz="4000" dirty="0"/>
              <a:t>	</a:t>
            </a:r>
          </a:p>
        </p:txBody>
      </p:sp>
    </p:spTree>
    <p:extLst>
      <p:ext uri="{BB962C8B-B14F-4D97-AF65-F5344CB8AC3E}">
        <p14:creationId xmlns:p14="http://schemas.microsoft.com/office/powerpoint/2010/main" val="11446809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(1)</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Foto</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050" b="1" dirty="0">
                <a:solidFill>
                  <a:srgbClr val="0070C0"/>
                </a:solidFill>
                <a:latin typeface="Source Sans Pro" panose="020B0503030403020204" pitchFamily="34" charset="0"/>
              </a:rPr>
              <a:t>f</a:t>
            </a:r>
            <a:r>
              <a:rPr kumimoji="0" lang="de-DE" sz="1050" b="1" i="0" u="none" strike="noStrike" kern="1200" cap="none" spc="0" normalizeH="0" baseline="0" noProof="0" dirty="0" smtClean="0">
                <a:ln>
                  <a:noFill/>
                </a:ln>
                <a:solidFill>
                  <a:srgbClr val="0070C0"/>
                </a:solidFill>
                <a:effectLst/>
                <a:uLnTx/>
                <a:uFillTx/>
                <a:latin typeface="Source Sans Pro" panose="020B0503030403020204" pitchFamily="34" charset="0"/>
              </a:rPr>
              <a:t>otografiert von</a:t>
            </a:r>
            <a:endParaRPr kumimoji="0" lang="de-DE" sz="105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accent2"/>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Angenommen wir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E5000"/>
                </a:solidFill>
                <a:effectLst/>
                <a:uLnTx/>
                <a:uFillTx/>
                <a:latin typeface="Source Sans Pro" panose="020B0503030403020204" pitchFamily="34" charset="0"/>
              </a:rPr>
              <a:t>w</a:t>
            </a: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ählen uns eine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FE5000"/>
                </a:solidFill>
                <a:effectLst/>
                <a:uLnTx/>
                <a:uFillTx/>
                <a:latin typeface="Source Sans Pro" panose="020B0503030403020204" pitchFamily="34" charset="0"/>
              </a:rPr>
              <a:t>beliebige</a:t>
            </a: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 Entität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vom Typ Person …</a:t>
            </a:r>
            <a:endParaRPr kumimoji="0" lang="de-DE" sz="1800" b="0" i="0" u="none" strike="noStrike" kern="1200" cap="none" spc="0" normalizeH="0" baseline="0" noProof="0" dirty="0">
              <a:ln>
                <a:noFill/>
              </a:ln>
              <a:solidFill>
                <a:srgbClr val="FE5000"/>
              </a:solidFill>
              <a:effectLst/>
              <a:uLnTx/>
              <a:uFillTx/>
              <a:latin typeface="Source Sans Pro" panose="020B0503030403020204" pitchFamily="34" charset="0"/>
            </a:endParaRPr>
          </a:p>
        </p:txBody>
      </p:sp>
    </p:spTree>
    <p:extLst>
      <p:ext uri="{BB962C8B-B14F-4D97-AF65-F5344CB8AC3E}">
        <p14:creationId xmlns:p14="http://schemas.microsoft.com/office/powerpoint/2010/main" val="136466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a:t>
            </a:r>
            <a:r>
              <a:rPr lang="de-DE" dirty="0">
                <a:solidFill>
                  <a:srgbClr val="0071B2"/>
                </a:solidFill>
                <a:latin typeface="Source Sans Pro" panose="020B0503030403020204" pitchFamily="34" charset="0"/>
              </a:rPr>
              <a:t> (1)</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Foto</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1050" b="1" dirty="0">
                <a:solidFill>
                  <a:srgbClr val="0070C0"/>
                </a:solidFill>
                <a:latin typeface="Source Sans Pro" panose="020B0503030403020204" pitchFamily="34" charset="0"/>
              </a:rPr>
              <a:t>fotografiert </a:t>
            </a:r>
            <a:r>
              <a:rPr lang="de-DE" sz="1050" b="1" dirty="0" smtClean="0">
                <a:solidFill>
                  <a:srgbClr val="0070C0"/>
                </a:solidFill>
                <a:latin typeface="Source Sans Pro" panose="020B0503030403020204" pitchFamily="34" charset="0"/>
              </a:rPr>
              <a:t>von</a:t>
            </a:r>
            <a:endParaRPr lang="de-DE" sz="1050" b="1"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Angenommen wir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Source Sans Pro" panose="020B0503030403020204" pitchFamily="34" charset="0"/>
              </a:rPr>
              <a:t>w</a:t>
            </a:r>
            <a:r>
              <a:rPr kumimoji="0" lang="de-DE" sz="1800" b="0" i="0" u="none" strike="noStrike" kern="1200" cap="none" spc="0" normalizeH="0" baseline="0" noProof="0" dirty="0" smtClean="0">
                <a:ln>
                  <a:noFill/>
                </a:ln>
                <a:effectLst/>
                <a:uLnTx/>
                <a:uFillTx/>
                <a:latin typeface="Source Sans Pro" panose="020B0503030403020204" pitchFamily="34" charset="0"/>
              </a:rPr>
              <a:t>ählen uns eine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effectLst/>
                <a:uLnTx/>
                <a:uFillTx/>
                <a:latin typeface="Source Sans Pro" panose="020B0503030403020204" pitchFamily="34" charset="0"/>
              </a:rPr>
              <a:t>beliebige</a:t>
            </a:r>
            <a:r>
              <a:rPr kumimoji="0" lang="de-DE" sz="1800" b="0" i="0" u="none" strike="noStrike" kern="1200" cap="none" spc="0" normalizeH="0" baseline="0" noProof="0" dirty="0" smtClean="0">
                <a:ln>
                  <a:noFill/>
                </a:ln>
                <a:effectLst/>
                <a:uLnTx/>
                <a:uFillTx/>
                <a:latin typeface="Source Sans Pro" panose="020B0503030403020204" pitchFamily="34" charset="0"/>
              </a:rPr>
              <a:t> Entität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vom Typ Person …</a:t>
            </a:r>
            <a:endParaRPr kumimoji="0" lang="de-DE" sz="1800" b="0" i="0" u="none" strike="noStrike" kern="1200" cap="none" spc="0" normalizeH="0" baseline="0" noProof="0" dirty="0">
              <a:ln>
                <a:noFill/>
              </a:ln>
              <a:effectLst/>
              <a:uLnTx/>
              <a:uFillTx/>
              <a:latin typeface="Source Sans Pro" panose="020B0503030403020204" pitchFamily="34" charset="0"/>
            </a:endParaRPr>
          </a:p>
        </p:txBody>
      </p:sp>
      <p:sp>
        <p:nvSpPr>
          <p:cNvPr id="14" name="Nach unten gekrümmter Pfeil 13"/>
          <p:cNvSpPr/>
          <p:nvPr/>
        </p:nvSpPr>
        <p:spPr>
          <a:xfrm>
            <a:off x="3035657" y="1013678"/>
            <a:ext cx="4679593" cy="723900"/>
          </a:xfrm>
          <a:prstGeom prst="curved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3934584" y="1272738"/>
            <a:ext cx="2858536" cy="461665"/>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 kann diese </a:t>
            </a:r>
            <a:r>
              <a:rPr lang="de-DE" sz="1200" dirty="0">
                <a:solidFill>
                  <a:schemeClr val="accent2"/>
                </a:solidFill>
                <a:latin typeface="Source Sans Pro" panose="020B0503030403020204" pitchFamily="34" charset="0"/>
              </a:rPr>
              <a:t>P</a:t>
            </a:r>
            <a:r>
              <a:rPr lang="de-DE" sz="1200" dirty="0" smtClean="0">
                <a:solidFill>
                  <a:schemeClr val="accent2"/>
                </a:solidFill>
                <a:latin typeface="Source Sans Pro" panose="020B0503030403020204" pitchFamily="34" charset="0"/>
              </a:rPr>
              <a:t>erson dann</a:t>
            </a:r>
          </a:p>
          <a:p>
            <a:pPr algn="ctr"/>
            <a:r>
              <a:rPr lang="de-DE" sz="1200" b="1" dirty="0" smtClean="0">
                <a:solidFill>
                  <a:schemeClr val="accent2"/>
                </a:solidFill>
                <a:latin typeface="Source Sans Pro" panose="020B0503030403020204" pitchFamily="34" charset="0"/>
              </a:rPr>
              <a:t>höchstens 1 </a:t>
            </a:r>
            <a:r>
              <a:rPr lang="de-DE" sz="1200" dirty="0" smtClean="0">
                <a:solidFill>
                  <a:schemeClr val="accent2"/>
                </a:solidFill>
                <a:latin typeface="Source Sans Pro" panose="020B0503030403020204" pitchFamily="34" charset="0"/>
              </a:rPr>
              <a:t>Foto fotografiert haben?</a:t>
            </a:r>
            <a:endParaRPr lang="de-DE" sz="1200"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39692568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(1)</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Foto</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1050" b="1" dirty="0">
                <a:solidFill>
                  <a:srgbClr val="0070C0"/>
                </a:solidFill>
                <a:latin typeface="Source Sans Pro" panose="020B0503030403020204" pitchFamily="34" charset="0"/>
              </a:rPr>
              <a:t>fotografiert </a:t>
            </a:r>
            <a:r>
              <a:rPr lang="de-DE" sz="1050" b="1" dirty="0" smtClean="0">
                <a:solidFill>
                  <a:srgbClr val="0070C0"/>
                </a:solidFill>
                <a:latin typeface="Source Sans Pro" panose="020B0503030403020204" pitchFamily="34" charset="0"/>
              </a:rPr>
              <a:t>von</a:t>
            </a:r>
            <a:endParaRPr lang="de-DE" sz="1050" b="1"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Angenommen wir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Source Sans Pro" panose="020B0503030403020204" pitchFamily="34" charset="0"/>
              </a:rPr>
              <a:t>w</a:t>
            </a:r>
            <a:r>
              <a:rPr kumimoji="0" lang="de-DE" sz="1800" b="0" i="0" u="none" strike="noStrike" kern="1200" cap="none" spc="0" normalizeH="0" baseline="0" noProof="0" dirty="0" smtClean="0">
                <a:ln>
                  <a:noFill/>
                </a:ln>
                <a:effectLst/>
                <a:uLnTx/>
                <a:uFillTx/>
                <a:latin typeface="Source Sans Pro" panose="020B0503030403020204" pitchFamily="34" charset="0"/>
              </a:rPr>
              <a:t>ählen uns eine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effectLst/>
                <a:uLnTx/>
                <a:uFillTx/>
                <a:latin typeface="Source Sans Pro" panose="020B0503030403020204" pitchFamily="34" charset="0"/>
              </a:rPr>
              <a:t>beliebige</a:t>
            </a:r>
            <a:r>
              <a:rPr kumimoji="0" lang="de-DE" sz="1800" b="0" i="0" u="none" strike="noStrike" kern="1200" cap="none" spc="0" normalizeH="0" baseline="0" noProof="0" dirty="0" smtClean="0">
                <a:ln>
                  <a:noFill/>
                </a:ln>
                <a:effectLst/>
                <a:uLnTx/>
                <a:uFillTx/>
                <a:latin typeface="Source Sans Pro" panose="020B0503030403020204" pitchFamily="34" charset="0"/>
              </a:rPr>
              <a:t> Entität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vom Typ Person …</a:t>
            </a:r>
            <a:endParaRPr kumimoji="0" lang="de-DE" sz="1800" b="0" i="0" u="none" strike="noStrike" kern="1200" cap="none" spc="0" normalizeH="0" baseline="0" noProof="0" dirty="0">
              <a:ln>
                <a:noFill/>
              </a:ln>
              <a:effectLst/>
              <a:uLnTx/>
              <a:uFillTx/>
              <a:latin typeface="Source Sans Pro" panose="020B0503030403020204" pitchFamily="34" charset="0"/>
            </a:endParaRPr>
          </a:p>
        </p:txBody>
      </p:sp>
      <p:sp>
        <p:nvSpPr>
          <p:cNvPr id="14" name="Nach unten gekrümmter Pfeil 13"/>
          <p:cNvSpPr/>
          <p:nvPr/>
        </p:nvSpPr>
        <p:spPr>
          <a:xfrm>
            <a:off x="3035657" y="1013678"/>
            <a:ext cx="4679593" cy="723900"/>
          </a:xfrm>
          <a:prstGeom prst="curved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3934584" y="1272738"/>
            <a:ext cx="2858536" cy="461665"/>
          </a:xfrm>
          <a:prstGeom prst="rect">
            <a:avLst/>
          </a:prstGeom>
          <a:noFill/>
          <a:ln>
            <a:solidFill>
              <a:schemeClr val="tx1"/>
            </a:solidFill>
          </a:ln>
        </p:spPr>
        <p:txBody>
          <a:bodyPr wrap="square" rtlCol="0">
            <a:spAutoFit/>
          </a:bodyPr>
          <a:lstStyle/>
          <a:p>
            <a:pPr algn="ctr"/>
            <a:r>
              <a:rPr lang="de-DE" sz="1200" dirty="0" smtClean="0">
                <a:latin typeface="Source Sans Pro" panose="020B0503030403020204" pitchFamily="34" charset="0"/>
              </a:rPr>
              <a:t>… kann diese </a:t>
            </a:r>
            <a:r>
              <a:rPr lang="de-DE" sz="1200" dirty="0">
                <a:latin typeface="Source Sans Pro" panose="020B0503030403020204" pitchFamily="34" charset="0"/>
              </a:rPr>
              <a:t>P</a:t>
            </a:r>
            <a:r>
              <a:rPr lang="de-DE" sz="1200" dirty="0" smtClean="0">
                <a:latin typeface="Source Sans Pro" panose="020B0503030403020204" pitchFamily="34" charset="0"/>
              </a:rPr>
              <a:t>erson dann</a:t>
            </a:r>
          </a:p>
          <a:p>
            <a:pPr algn="ctr"/>
            <a:r>
              <a:rPr lang="de-DE" sz="1200" b="1" dirty="0" smtClean="0">
                <a:latin typeface="Source Sans Pro" panose="020B0503030403020204" pitchFamily="34" charset="0"/>
              </a:rPr>
              <a:t>höchstens 1 </a:t>
            </a:r>
            <a:r>
              <a:rPr lang="de-DE" sz="1200" dirty="0" smtClean="0">
                <a:latin typeface="Source Sans Pro" panose="020B0503030403020204" pitchFamily="34" charset="0"/>
              </a:rPr>
              <a:t>Foto fotografiert haben?</a:t>
            </a:r>
            <a:endParaRPr lang="de-DE" sz="1200" dirty="0">
              <a:latin typeface="Source Sans Pro" panose="020B0503030403020204" pitchFamily="34" charset="0"/>
            </a:endParaRPr>
          </a:p>
        </p:txBody>
      </p:sp>
      <p:sp>
        <p:nvSpPr>
          <p:cNvPr id="16" name="Textfeld 15"/>
          <p:cNvSpPr txBox="1"/>
          <p:nvPr/>
        </p:nvSpPr>
        <p:spPr>
          <a:xfrm>
            <a:off x="3946185" y="1924119"/>
            <a:ext cx="2858536" cy="769441"/>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Antwort: </a:t>
            </a:r>
            <a:r>
              <a:rPr lang="de-DE" sz="1200" b="1" dirty="0" smtClean="0">
                <a:solidFill>
                  <a:schemeClr val="accent2"/>
                </a:solidFill>
                <a:latin typeface="Source Sans Pro" panose="020B0503030403020204" pitchFamily="34" charset="0"/>
              </a:rPr>
              <a:t>„Nein“</a:t>
            </a:r>
          </a:p>
          <a:p>
            <a:pPr algn="ctr"/>
            <a:r>
              <a:rPr lang="de-DE" sz="800" dirty="0" smtClean="0">
                <a:solidFill>
                  <a:schemeClr val="accent2"/>
                </a:solidFill>
                <a:latin typeface="Source Sans Pro" panose="020B0503030403020204" pitchFamily="34" charset="0"/>
              </a:rPr>
              <a:t>(denn natürlich kann sie mehrere Fotos fotografiert haben)</a:t>
            </a:r>
          </a:p>
          <a:p>
            <a:pPr algn="ctr"/>
            <a:r>
              <a:rPr lang="de-DE" sz="1200" dirty="0" smtClean="0">
                <a:solidFill>
                  <a:schemeClr val="accent2"/>
                </a:solidFill>
                <a:latin typeface="Source Sans Pro" panose="020B0503030403020204" pitchFamily="34" charset="0"/>
              </a:rPr>
              <a:t>=&gt;</a:t>
            </a:r>
          </a:p>
          <a:p>
            <a:pPr algn="ctr"/>
            <a:r>
              <a:rPr lang="de-DE" sz="1200" dirty="0" smtClean="0">
                <a:solidFill>
                  <a:schemeClr val="accent2"/>
                </a:solidFill>
                <a:latin typeface="Source Sans Pro" panose="020B0503030403020204" pitchFamily="34" charset="0"/>
              </a:rPr>
              <a:t>Wir notieren ein </a:t>
            </a:r>
            <a:r>
              <a:rPr lang="de-DE" sz="1200" b="1" dirty="0" smtClean="0">
                <a:solidFill>
                  <a:schemeClr val="accent2"/>
                </a:solidFill>
                <a:latin typeface="Source Sans Pro" panose="020B0503030403020204" pitchFamily="34" charset="0"/>
              </a:rPr>
              <a:t>„n“</a:t>
            </a:r>
            <a:endParaRPr lang="de-DE" sz="1200" b="1" dirty="0">
              <a:solidFill>
                <a:schemeClr val="accent2"/>
              </a:solidFill>
              <a:latin typeface="Source Sans Pro" panose="020B0503030403020204" pitchFamily="34" charset="0"/>
            </a:endParaRPr>
          </a:p>
        </p:txBody>
      </p:sp>
      <p:cxnSp>
        <p:nvCxnSpPr>
          <p:cNvPr id="17" name="Gerade Verbindung mit Pfeil 16"/>
          <p:cNvCxnSpPr/>
          <p:nvPr/>
        </p:nvCxnSpPr>
        <p:spPr>
          <a:xfrm>
            <a:off x="6010275" y="2609850"/>
            <a:ext cx="1527024" cy="78171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60996"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n</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5017717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(1)</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Foto</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1050" b="1" dirty="0">
                <a:solidFill>
                  <a:srgbClr val="0070C0"/>
                </a:solidFill>
                <a:latin typeface="Source Sans Pro" panose="020B0503030403020204" pitchFamily="34" charset="0"/>
              </a:rPr>
              <a:t>fotografiert </a:t>
            </a:r>
            <a:r>
              <a:rPr lang="de-DE" sz="1050" b="1" dirty="0" smtClean="0">
                <a:solidFill>
                  <a:srgbClr val="0070C0"/>
                </a:solidFill>
                <a:latin typeface="Source Sans Pro" panose="020B0503030403020204" pitchFamily="34" charset="0"/>
              </a:rPr>
              <a:t>von</a:t>
            </a:r>
            <a:endParaRPr lang="de-DE" sz="1050" b="1"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8" name="Textfeld 17"/>
          <p:cNvSpPr txBox="1"/>
          <p:nvPr/>
        </p:nvSpPr>
        <p:spPr>
          <a:xfrm>
            <a:off x="8164772" y="4005752"/>
            <a:ext cx="2238375" cy="1200329"/>
          </a:xfrm>
          <a:prstGeom prst="rect">
            <a:avLst/>
          </a:prstGeom>
          <a:noFill/>
          <a:ln>
            <a:solidFill>
              <a:schemeClr val="accent2"/>
            </a:solidFill>
          </a:ln>
        </p:spPr>
        <p:txBody>
          <a:bodyPr wrap="square" rtlCol="0">
            <a:spAutoFit/>
          </a:bodyPr>
          <a:lstStyle/>
          <a:p>
            <a:pPr algn="ctr"/>
            <a:r>
              <a:rPr lang="de-DE" dirty="0" smtClean="0">
                <a:solidFill>
                  <a:schemeClr val="accent2"/>
                </a:solidFill>
                <a:latin typeface="Source Sans Pro" panose="020B0503030403020204" pitchFamily="34" charset="0"/>
              </a:rPr>
              <a:t>Angenommen wir </a:t>
            </a:r>
          </a:p>
          <a:p>
            <a:pPr algn="ctr"/>
            <a:r>
              <a:rPr lang="de-DE" dirty="0">
                <a:solidFill>
                  <a:schemeClr val="accent2"/>
                </a:solidFill>
                <a:latin typeface="Source Sans Pro" panose="020B0503030403020204" pitchFamily="34" charset="0"/>
              </a:rPr>
              <a:t>w</a:t>
            </a:r>
            <a:r>
              <a:rPr lang="de-DE" dirty="0" smtClean="0">
                <a:solidFill>
                  <a:schemeClr val="accent2"/>
                </a:solidFill>
                <a:latin typeface="Source Sans Pro" panose="020B0503030403020204" pitchFamily="34" charset="0"/>
              </a:rPr>
              <a:t>ählen uns eine </a:t>
            </a:r>
          </a:p>
          <a:p>
            <a:pPr algn="ctr"/>
            <a:r>
              <a:rPr lang="de-DE" b="1" dirty="0" smtClean="0">
                <a:solidFill>
                  <a:schemeClr val="accent2"/>
                </a:solidFill>
                <a:latin typeface="Source Sans Pro" panose="020B0503030403020204" pitchFamily="34" charset="0"/>
              </a:rPr>
              <a:t>beliebige</a:t>
            </a:r>
            <a:r>
              <a:rPr lang="de-DE" dirty="0" smtClean="0">
                <a:solidFill>
                  <a:schemeClr val="accent2"/>
                </a:solidFill>
                <a:latin typeface="Source Sans Pro" panose="020B0503030403020204" pitchFamily="34" charset="0"/>
              </a:rPr>
              <a:t> Entität </a:t>
            </a:r>
          </a:p>
          <a:p>
            <a:pPr algn="ctr"/>
            <a:r>
              <a:rPr lang="de-DE" dirty="0" smtClean="0">
                <a:solidFill>
                  <a:schemeClr val="accent2"/>
                </a:solidFill>
                <a:latin typeface="Source Sans Pro" panose="020B0503030403020204" pitchFamily="34" charset="0"/>
              </a:rPr>
              <a:t>vom Typ Foto …</a:t>
            </a:r>
            <a:endParaRPr lang="de-DE"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70921159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(1)</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Foto</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1050" b="1" dirty="0">
                <a:solidFill>
                  <a:srgbClr val="0070C0"/>
                </a:solidFill>
                <a:latin typeface="Source Sans Pro" panose="020B0503030403020204" pitchFamily="34" charset="0"/>
              </a:rPr>
              <a:t>fotografiert </a:t>
            </a:r>
            <a:r>
              <a:rPr lang="de-DE" sz="1050" b="1" dirty="0" smtClean="0">
                <a:solidFill>
                  <a:srgbClr val="0070C0"/>
                </a:solidFill>
                <a:latin typeface="Source Sans Pro" panose="020B0503030403020204" pitchFamily="34" charset="0"/>
              </a:rPr>
              <a:t>von</a:t>
            </a:r>
            <a:endParaRPr lang="de-DE" sz="1050" b="1"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49776" cy="461665"/>
          </a:xfrm>
          <a:prstGeom prst="rect">
            <a:avLst/>
          </a:prstGeom>
          <a:noFill/>
        </p:spPr>
        <p:txBody>
          <a:bodyPr wrap="none" rtlCol="0">
            <a:spAutoFit/>
          </a:bodyPr>
          <a:lstStyle/>
          <a:p>
            <a:r>
              <a:rPr lang="de-DE" sz="2400" b="1" dirty="0" smtClean="0"/>
              <a:t>n</a:t>
            </a:r>
            <a:endParaRPr lang="de-DE" sz="2400" b="1" dirty="0"/>
          </a:p>
        </p:txBody>
      </p:sp>
      <p:sp>
        <p:nvSpPr>
          <p:cNvPr id="18" name="Textfeld 17"/>
          <p:cNvSpPr txBox="1"/>
          <p:nvPr/>
        </p:nvSpPr>
        <p:spPr>
          <a:xfrm>
            <a:off x="8164772" y="4005752"/>
            <a:ext cx="2238375" cy="1200329"/>
          </a:xfrm>
          <a:prstGeom prst="rect">
            <a:avLst/>
          </a:prstGeom>
          <a:noFill/>
          <a:ln>
            <a:solidFill>
              <a:schemeClr val="tx1"/>
            </a:solidFill>
          </a:ln>
        </p:spPr>
        <p:txBody>
          <a:bodyPr wrap="square" rtlCol="0">
            <a:spAutoFit/>
          </a:bodyPr>
          <a:lstStyle/>
          <a:p>
            <a:pPr algn="ctr"/>
            <a:r>
              <a:rPr lang="de-DE" dirty="0" smtClean="0"/>
              <a:t>Angenommen wir </a:t>
            </a:r>
          </a:p>
          <a:p>
            <a:pPr algn="ctr"/>
            <a:r>
              <a:rPr lang="de-DE" dirty="0"/>
              <a:t>w</a:t>
            </a:r>
            <a:r>
              <a:rPr lang="de-DE" dirty="0" smtClean="0"/>
              <a:t>ählen uns eine </a:t>
            </a:r>
          </a:p>
          <a:p>
            <a:pPr algn="ctr"/>
            <a:r>
              <a:rPr lang="de-DE" b="1" dirty="0" smtClean="0"/>
              <a:t>beliebige</a:t>
            </a:r>
            <a:r>
              <a:rPr lang="de-DE" dirty="0" smtClean="0"/>
              <a:t> Entität </a:t>
            </a:r>
          </a:p>
          <a:p>
            <a:pPr algn="ctr"/>
            <a:r>
              <a:rPr lang="de-DE" dirty="0" smtClean="0"/>
              <a:t>vom Typ Foto …</a:t>
            </a:r>
            <a:endParaRPr lang="de-DE" dirty="0"/>
          </a:p>
        </p:txBody>
      </p:sp>
      <p:sp>
        <p:nvSpPr>
          <p:cNvPr id="14" name="Nach unten gekrümmter Pfeil 13"/>
          <p:cNvSpPr/>
          <p:nvPr/>
        </p:nvSpPr>
        <p:spPr>
          <a:xfrm rot="10800000">
            <a:off x="3761405" y="5257188"/>
            <a:ext cx="4679593" cy="723900"/>
          </a:xfrm>
          <a:prstGeom prst="curved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4683535" y="5208389"/>
            <a:ext cx="2858536" cy="461665"/>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 wurde dieses Foto dann von</a:t>
            </a:r>
          </a:p>
          <a:p>
            <a:pPr algn="ctr"/>
            <a:r>
              <a:rPr lang="de-DE" sz="1200" b="1" dirty="0" smtClean="0">
                <a:solidFill>
                  <a:schemeClr val="accent2"/>
                </a:solidFill>
                <a:latin typeface="Source Sans Pro" panose="020B0503030403020204" pitchFamily="34" charset="0"/>
              </a:rPr>
              <a:t>höchstens 1 </a:t>
            </a:r>
            <a:r>
              <a:rPr lang="de-DE" sz="1200" dirty="0" smtClean="0">
                <a:solidFill>
                  <a:schemeClr val="accent2"/>
                </a:solidFill>
                <a:latin typeface="Source Sans Pro" panose="020B0503030403020204" pitchFamily="34" charset="0"/>
              </a:rPr>
              <a:t>Person fotografiert?</a:t>
            </a:r>
            <a:endParaRPr lang="de-DE" sz="1200"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1066289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(1)</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Foto</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1050" b="1" dirty="0">
                <a:solidFill>
                  <a:srgbClr val="0070C0"/>
                </a:solidFill>
                <a:latin typeface="Source Sans Pro" panose="020B0503030403020204" pitchFamily="34" charset="0"/>
              </a:rPr>
              <a:t>fotografiert </a:t>
            </a:r>
            <a:r>
              <a:rPr lang="de-DE" sz="1050" b="1" dirty="0" smtClean="0">
                <a:solidFill>
                  <a:srgbClr val="0070C0"/>
                </a:solidFill>
                <a:latin typeface="Source Sans Pro" panose="020B0503030403020204" pitchFamily="34" charset="0"/>
              </a:rPr>
              <a:t>von</a:t>
            </a:r>
            <a:endParaRPr lang="de-DE" sz="1050" b="1"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8" name="Textfeld 17"/>
          <p:cNvSpPr txBox="1"/>
          <p:nvPr/>
        </p:nvSpPr>
        <p:spPr>
          <a:xfrm>
            <a:off x="8164772" y="4005752"/>
            <a:ext cx="2238375" cy="1200329"/>
          </a:xfrm>
          <a:prstGeom prst="rect">
            <a:avLst/>
          </a:prstGeom>
          <a:noFill/>
          <a:ln>
            <a:solidFill>
              <a:schemeClr val="tx1"/>
            </a:solidFill>
          </a:ln>
        </p:spPr>
        <p:txBody>
          <a:bodyPr wrap="square" rtlCol="0">
            <a:spAutoFit/>
          </a:bodyPr>
          <a:lstStyle/>
          <a:p>
            <a:pPr algn="ctr"/>
            <a:r>
              <a:rPr lang="de-DE" dirty="0" smtClean="0">
                <a:latin typeface="Source Sans Pro" panose="020B0503030403020204" pitchFamily="34" charset="0"/>
              </a:rPr>
              <a:t>Angenommen wir </a:t>
            </a:r>
          </a:p>
          <a:p>
            <a:pPr algn="ctr"/>
            <a:r>
              <a:rPr lang="de-DE" dirty="0">
                <a:latin typeface="Source Sans Pro" panose="020B0503030403020204" pitchFamily="34" charset="0"/>
              </a:rPr>
              <a:t>w</a:t>
            </a:r>
            <a:r>
              <a:rPr lang="de-DE" dirty="0" smtClean="0">
                <a:latin typeface="Source Sans Pro" panose="020B0503030403020204" pitchFamily="34" charset="0"/>
              </a:rPr>
              <a:t>ählen uns eine </a:t>
            </a:r>
          </a:p>
          <a:p>
            <a:pPr algn="ctr"/>
            <a:r>
              <a:rPr lang="de-DE" b="1" dirty="0" smtClean="0">
                <a:latin typeface="Source Sans Pro" panose="020B0503030403020204" pitchFamily="34" charset="0"/>
              </a:rPr>
              <a:t>beliebige</a:t>
            </a:r>
            <a:r>
              <a:rPr lang="de-DE" dirty="0" smtClean="0">
                <a:latin typeface="Source Sans Pro" panose="020B0503030403020204" pitchFamily="34" charset="0"/>
              </a:rPr>
              <a:t> Entität </a:t>
            </a:r>
          </a:p>
          <a:p>
            <a:pPr algn="ctr"/>
            <a:r>
              <a:rPr lang="de-DE" dirty="0" smtClean="0">
                <a:latin typeface="Source Sans Pro" panose="020B0503030403020204" pitchFamily="34" charset="0"/>
              </a:rPr>
              <a:t>vom Typ Foto …</a:t>
            </a:r>
            <a:endParaRPr lang="de-DE" dirty="0">
              <a:latin typeface="Source Sans Pro" panose="020B0503030403020204" pitchFamily="34" charset="0"/>
            </a:endParaRPr>
          </a:p>
        </p:txBody>
      </p:sp>
      <p:sp>
        <p:nvSpPr>
          <p:cNvPr id="14" name="Nach unten gekrümmter Pfeil 13"/>
          <p:cNvSpPr/>
          <p:nvPr/>
        </p:nvSpPr>
        <p:spPr>
          <a:xfrm rot="10800000">
            <a:off x="3761405" y="5257188"/>
            <a:ext cx="4679593" cy="723900"/>
          </a:xfrm>
          <a:prstGeom prst="curved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4683535" y="5208389"/>
            <a:ext cx="2858536" cy="461665"/>
          </a:xfrm>
          <a:prstGeom prst="rect">
            <a:avLst/>
          </a:prstGeom>
          <a:noFill/>
          <a:ln>
            <a:solidFill>
              <a:schemeClr val="tx1"/>
            </a:solidFill>
          </a:ln>
        </p:spPr>
        <p:txBody>
          <a:bodyPr wrap="square" rtlCol="0">
            <a:spAutoFit/>
          </a:bodyPr>
          <a:lstStyle/>
          <a:p>
            <a:pPr algn="ctr"/>
            <a:r>
              <a:rPr lang="de-DE" sz="1200" dirty="0" smtClean="0">
                <a:latin typeface="Source Sans Pro" panose="020B0503030403020204" pitchFamily="34" charset="0"/>
              </a:rPr>
              <a:t>… wurde dieses Foto dann von</a:t>
            </a:r>
          </a:p>
          <a:p>
            <a:pPr algn="ctr"/>
            <a:r>
              <a:rPr lang="de-DE" sz="1200" b="1" dirty="0" smtClean="0">
                <a:latin typeface="Source Sans Pro" panose="020B0503030403020204" pitchFamily="34" charset="0"/>
              </a:rPr>
              <a:t>höchstens 1 </a:t>
            </a:r>
            <a:r>
              <a:rPr lang="de-DE" sz="1200" dirty="0" smtClean="0">
                <a:latin typeface="Source Sans Pro" panose="020B0503030403020204" pitchFamily="34" charset="0"/>
              </a:rPr>
              <a:t>Person fotografiert?</a:t>
            </a:r>
            <a:endParaRPr lang="de-DE" sz="1200" dirty="0">
              <a:latin typeface="Source Sans Pro" panose="020B0503030403020204" pitchFamily="34" charset="0"/>
            </a:endParaRPr>
          </a:p>
        </p:txBody>
      </p:sp>
      <p:sp>
        <p:nvSpPr>
          <p:cNvPr id="16" name="Textfeld 15"/>
          <p:cNvSpPr txBox="1"/>
          <p:nvPr/>
        </p:nvSpPr>
        <p:spPr>
          <a:xfrm>
            <a:off x="4680558" y="4445626"/>
            <a:ext cx="2858536" cy="646331"/>
          </a:xfrm>
          <a:prstGeom prst="rect">
            <a:avLst/>
          </a:prstGeom>
          <a:noFill/>
          <a:ln>
            <a:solidFill>
              <a:schemeClr val="accent2"/>
            </a:solidFill>
          </a:ln>
        </p:spPr>
        <p:txBody>
          <a:bodyPr wrap="square" rtlCol="0">
            <a:spAutoFit/>
          </a:bodyPr>
          <a:lstStyle/>
          <a:p>
            <a:pPr lvl="0" algn="ctr"/>
            <a:r>
              <a:rPr lang="de-DE" sz="1200" dirty="0">
                <a:solidFill>
                  <a:srgbClr val="FE5000"/>
                </a:solidFill>
                <a:latin typeface="Source Sans Pro" panose="020B0503030403020204" pitchFamily="34" charset="0"/>
              </a:rPr>
              <a:t>Antwort: </a:t>
            </a:r>
            <a:r>
              <a:rPr lang="de-DE" sz="1200" b="1" dirty="0" smtClean="0">
                <a:solidFill>
                  <a:srgbClr val="FE5000"/>
                </a:solidFill>
                <a:latin typeface="Source Sans Pro" panose="020B0503030403020204" pitchFamily="34" charset="0"/>
              </a:rPr>
              <a:t>„Ja“</a:t>
            </a:r>
          </a:p>
          <a:p>
            <a:pPr lvl="0" algn="ctr"/>
            <a:r>
              <a:rPr lang="de-DE" sz="1200" dirty="0" smtClean="0">
                <a:solidFill>
                  <a:srgbClr val="FE5000"/>
                </a:solidFill>
                <a:latin typeface="Source Sans Pro" panose="020B0503030403020204" pitchFamily="34" charset="0"/>
              </a:rPr>
              <a:t>=&gt;</a:t>
            </a:r>
            <a:endParaRPr lang="de-DE" sz="1200" dirty="0">
              <a:solidFill>
                <a:srgbClr val="FE5000"/>
              </a:solidFill>
              <a:latin typeface="Source Sans Pro" panose="020B0503030403020204" pitchFamily="34" charset="0"/>
            </a:endParaRPr>
          </a:p>
          <a:p>
            <a:pPr lvl="0" algn="ctr"/>
            <a:r>
              <a:rPr lang="de-DE" sz="1200" dirty="0">
                <a:solidFill>
                  <a:srgbClr val="FE5000"/>
                </a:solidFill>
                <a:latin typeface="Source Sans Pro" panose="020B0503030403020204" pitchFamily="34" charset="0"/>
              </a:rPr>
              <a:t>Wir notieren </a:t>
            </a:r>
            <a:r>
              <a:rPr lang="de-DE" sz="1200" dirty="0" smtClean="0">
                <a:solidFill>
                  <a:srgbClr val="FE5000"/>
                </a:solidFill>
                <a:latin typeface="Source Sans Pro" panose="020B0503030403020204" pitchFamily="34" charset="0"/>
              </a:rPr>
              <a:t>eine </a:t>
            </a:r>
            <a:r>
              <a:rPr lang="de-DE" sz="1200" b="1" dirty="0" smtClean="0">
                <a:solidFill>
                  <a:srgbClr val="FE5000"/>
                </a:solidFill>
                <a:latin typeface="Source Sans Pro" panose="020B0503030403020204" pitchFamily="34" charset="0"/>
              </a:rPr>
              <a:t>„1“</a:t>
            </a:r>
            <a:endParaRPr lang="de-DE" sz="1200" b="1" dirty="0">
              <a:solidFill>
                <a:srgbClr val="FE5000"/>
              </a:solidFill>
              <a:latin typeface="Source Sans Pro" panose="020B0503030403020204" pitchFamily="34" charset="0"/>
            </a:endParaRPr>
          </a:p>
        </p:txBody>
      </p:sp>
      <p:cxnSp>
        <p:nvCxnSpPr>
          <p:cNvPr id="17" name="Gerade Verbindung mit Pfeil 16"/>
          <p:cNvCxnSpPr/>
          <p:nvPr/>
        </p:nvCxnSpPr>
        <p:spPr>
          <a:xfrm flipH="1" flipV="1">
            <a:off x="3876675" y="3734452"/>
            <a:ext cx="741982" cy="64083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49776"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1</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152561459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(1)</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Foto</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1050" b="1" dirty="0">
                <a:solidFill>
                  <a:srgbClr val="0070C0"/>
                </a:solidFill>
                <a:latin typeface="Source Sans Pro" panose="020B0503030403020204" pitchFamily="34" charset="0"/>
              </a:rPr>
              <a:t>fotografiert </a:t>
            </a:r>
            <a:r>
              <a:rPr lang="de-DE" sz="1050" b="1" dirty="0" smtClean="0">
                <a:solidFill>
                  <a:srgbClr val="0070C0"/>
                </a:solidFill>
                <a:latin typeface="Source Sans Pro" panose="020B0503030403020204" pitchFamily="34" charset="0"/>
              </a:rPr>
              <a:t>von</a:t>
            </a:r>
            <a:endParaRPr lang="de-DE" sz="1050" b="1" dirty="0">
              <a:solidFill>
                <a:srgbClr val="0070C0"/>
              </a:solidFill>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9" name="Textfeld 18"/>
          <p:cNvSpPr txBox="1"/>
          <p:nvPr/>
        </p:nvSpPr>
        <p:spPr>
          <a:xfrm>
            <a:off x="3536303" y="3281294"/>
            <a:ext cx="349776" cy="461665"/>
          </a:xfrm>
          <a:prstGeom prst="rect">
            <a:avLst/>
          </a:prstGeom>
          <a:noFill/>
        </p:spPr>
        <p:txBody>
          <a:bodyPr wrap="none" rtlCol="0">
            <a:spAutoFit/>
          </a:bodyPr>
          <a:lstStyle/>
          <a:p>
            <a:r>
              <a:rPr lang="de-DE" sz="2400" b="1" dirty="0" smtClean="0">
                <a:latin typeface="Source Sans Pro" panose="020B0503030403020204" pitchFamily="34" charset="0"/>
              </a:rPr>
              <a:t>1</a:t>
            </a:r>
            <a:endParaRPr lang="de-DE" sz="2400" b="1" dirty="0">
              <a:latin typeface="Source Sans Pro" panose="020B0503030403020204" pitchFamily="34" charset="0"/>
            </a:endParaRPr>
          </a:p>
        </p:txBody>
      </p:sp>
      <p:sp>
        <p:nvSpPr>
          <p:cNvPr id="2" name="Textfeld 1"/>
          <p:cNvSpPr txBox="1"/>
          <p:nvPr/>
        </p:nvSpPr>
        <p:spPr>
          <a:xfrm>
            <a:off x="3652179" y="4504154"/>
            <a:ext cx="4196983" cy="584775"/>
          </a:xfrm>
          <a:prstGeom prst="rect">
            <a:avLst/>
          </a:prstGeom>
          <a:noFill/>
        </p:spPr>
        <p:txBody>
          <a:bodyPr wrap="none" rtlCol="0">
            <a:spAutoFit/>
          </a:bodyPr>
          <a:lstStyle/>
          <a:p>
            <a:pPr algn="ctr"/>
            <a:r>
              <a:rPr lang="de-DE" dirty="0" smtClean="0">
                <a:latin typeface="Source Sans Pro" panose="020B0503030403020204" pitchFamily="34" charset="0"/>
              </a:rPr>
              <a:t>Es handelt sich also um eine </a:t>
            </a:r>
            <a:r>
              <a:rPr lang="de-DE" b="1" dirty="0" smtClean="0">
                <a:solidFill>
                  <a:schemeClr val="accent2"/>
                </a:solidFill>
                <a:latin typeface="Source Sans Pro" panose="020B0503030403020204" pitchFamily="34" charset="0"/>
              </a:rPr>
              <a:t>1:n</a:t>
            </a:r>
            <a:r>
              <a:rPr lang="de-DE" b="1" dirty="0" smtClean="0">
                <a:latin typeface="Source Sans Pro" panose="020B0503030403020204" pitchFamily="34" charset="0"/>
              </a:rPr>
              <a:t>-Relation</a:t>
            </a:r>
          </a:p>
          <a:p>
            <a:pPr algn="ctr"/>
            <a:r>
              <a:rPr lang="de-DE" sz="1400" dirty="0" smtClean="0">
                <a:latin typeface="Source Sans Pro" panose="020B0503030403020204" pitchFamily="34" charset="0"/>
              </a:rPr>
              <a:t>(Person hat die Kardinalität 1, Foto die Kardinalität n)</a:t>
            </a:r>
            <a:endParaRPr lang="de-DE" sz="1400" dirty="0">
              <a:latin typeface="Source Sans Pro" panose="020B0503030403020204" pitchFamily="34" charset="0"/>
            </a:endParaRPr>
          </a:p>
        </p:txBody>
      </p:sp>
    </p:spTree>
    <p:extLst>
      <p:ext uri="{BB962C8B-B14F-4D97-AF65-F5344CB8AC3E}">
        <p14:creationId xmlns:p14="http://schemas.microsoft.com/office/powerpoint/2010/main" val="36652065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Beispiel (2) </a:t>
            </a:r>
          </a:p>
          <a:p>
            <a:r>
              <a:rPr lang="de-DE" sz="4000" dirty="0"/>
              <a:t>	</a:t>
            </a:r>
          </a:p>
        </p:txBody>
      </p:sp>
    </p:spTree>
    <p:extLst>
      <p:ext uri="{BB962C8B-B14F-4D97-AF65-F5344CB8AC3E}">
        <p14:creationId xmlns:p14="http://schemas.microsoft.com/office/powerpoint/2010/main" val="6955864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(2)</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Stadt</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0C0"/>
                </a:solidFill>
                <a:latin typeface="Source Sans Pro" panose="020B0503030403020204" pitchFamily="34" charset="0"/>
              </a:rPr>
              <a:t>l</a:t>
            </a:r>
            <a:r>
              <a:rPr kumimoji="0" lang="de-DE" b="0" i="0" u="none" strike="noStrike" kern="1200" cap="none" spc="0" normalizeH="0" baseline="0" noProof="0" dirty="0" smtClean="0">
                <a:ln>
                  <a:noFill/>
                </a:ln>
                <a:solidFill>
                  <a:srgbClr val="0070C0"/>
                </a:solidFill>
                <a:effectLst/>
                <a:uLnTx/>
                <a:uFillTx/>
                <a:latin typeface="Source Sans Pro" panose="020B0503030403020204" pitchFamily="34" charset="0"/>
              </a:rPr>
              <a:t>iegt in</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accent2"/>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Angenommen wir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E5000"/>
                </a:solidFill>
                <a:effectLst/>
                <a:uLnTx/>
                <a:uFillTx/>
                <a:latin typeface="Source Sans Pro" panose="020B0503030403020204" pitchFamily="34" charset="0"/>
              </a:rPr>
              <a:t>w</a:t>
            </a: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ählen uns eine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FE5000"/>
                </a:solidFill>
                <a:effectLst/>
                <a:uLnTx/>
                <a:uFillTx/>
                <a:latin typeface="Source Sans Pro" panose="020B0503030403020204" pitchFamily="34" charset="0"/>
              </a:rPr>
              <a:t>beliebige</a:t>
            </a: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 Entität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vom Typ Stadt …</a:t>
            </a:r>
            <a:endParaRPr kumimoji="0" lang="de-DE" sz="1800" b="0" i="0" u="none" strike="noStrike" kern="1200" cap="none" spc="0" normalizeH="0" baseline="0" noProof="0" dirty="0">
              <a:ln>
                <a:noFill/>
              </a:ln>
              <a:solidFill>
                <a:srgbClr val="FE5000"/>
              </a:solidFill>
              <a:effectLst/>
              <a:uLnTx/>
              <a:uFillTx/>
              <a:latin typeface="Source Sans Pro" panose="020B0503030403020204" pitchFamily="34" charset="0"/>
            </a:endParaRPr>
          </a:p>
        </p:txBody>
      </p:sp>
    </p:spTree>
    <p:extLst>
      <p:ext uri="{BB962C8B-B14F-4D97-AF65-F5344CB8AC3E}">
        <p14:creationId xmlns:p14="http://schemas.microsoft.com/office/powerpoint/2010/main" val="3450782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(2)</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Stadt</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0C0"/>
                </a:solidFill>
                <a:latin typeface="Source Sans Pro" panose="020B0503030403020204" pitchFamily="34" charset="0"/>
              </a:rPr>
              <a:t>l</a:t>
            </a:r>
            <a:r>
              <a:rPr kumimoji="0" lang="de-DE" b="0" i="0" u="none" strike="noStrike" kern="1200" cap="none" spc="0" normalizeH="0" baseline="0" noProof="0" dirty="0" smtClean="0">
                <a:ln>
                  <a:noFill/>
                </a:ln>
                <a:solidFill>
                  <a:srgbClr val="0070C0"/>
                </a:solidFill>
                <a:effectLst/>
                <a:uLnTx/>
                <a:uFillTx/>
                <a:latin typeface="Source Sans Pro" panose="020B0503030403020204" pitchFamily="34" charset="0"/>
              </a:rPr>
              <a:t>iegt in</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Angenommen wir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Source Sans Pro" panose="020B0503030403020204" pitchFamily="34" charset="0"/>
              </a:rPr>
              <a:t>w</a:t>
            </a:r>
            <a:r>
              <a:rPr kumimoji="0" lang="de-DE" sz="1800" b="0" i="0" u="none" strike="noStrike" kern="1200" cap="none" spc="0" normalizeH="0" baseline="0" noProof="0" dirty="0" smtClean="0">
                <a:ln>
                  <a:noFill/>
                </a:ln>
                <a:effectLst/>
                <a:uLnTx/>
                <a:uFillTx/>
                <a:latin typeface="Source Sans Pro" panose="020B0503030403020204" pitchFamily="34" charset="0"/>
              </a:rPr>
              <a:t>ählen uns eine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effectLst/>
                <a:uLnTx/>
                <a:uFillTx/>
                <a:latin typeface="Source Sans Pro" panose="020B0503030403020204" pitchFamily="34" charset="0"/>
              </a:rPr>
              <a:t>beliebige</a:t>
            </a:r>
            <a:r>
              <a:rPr kumimoji="0" lang="de-DE" sz="1800" b="0" i="0" u="none" strike="noStrike" kern="1200" cap="none" spc="0" normalizeH="0" baseline="0" noProof="0" dirty="0" smtClean="0">
                <a:ln>
                  <a:noFill/>
                </a:ln>
                <a:effectLst/>
                <a:uLnTx/>
                <a:uFillTx/>
                <a:latin typeface="Source Sans Pro" panose="020B0503030403020204" pitchFamily="34" charset="0"/>
              </a:rPr>
              <a:t> Entität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vom Typ Stadt …</a:t>
            </a:r>
            <a:endParaRPr kumimoji="0" lang="de-DE" sz="1800" b="0" i="0" u="none" strike="noStrike" kern="1200" cap="none" spc="0" normalizeH="0" baseline="0" noProof="0" dirty="0">
              <a:ln>
                <a:noFill/>
              </a:ln>
              <a:effectLst/>
              <a:uLnTx/>
              <a:uFillTx/>
              <a:latin typeface="Source Sans Pro" panose="020B0503030403020204" pitchFamily="34" charset="0"/>
            </a:endParaRPr>
          </a:p>
        </p:txBody>
      </p:sp>
      <p:sp>
        <p:nvSpPr>
          <p:cNvPr id="14" name="Nach unten gekrümmter Pfeil 13"/>
          <p:cNvSpPr/>
          <p:nvPr/>
        </p:nvSpPr>
        <p:spPr>
          <a:xfrm>
            <a:off x="3035657" y="1013678"/>
            <a:ext cx="4679593" cy="723900"/>
          </a:xfrm>
          <a:prstGeom prst="curved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3934584" y="1272738"/>
            <a:ext cx="2858536" cy="461665"/>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 kann diese Stadt dann in</a:t>
            </a:r>
          </a:p>
          <a:p>
            <a:pPr algn="ctr"/>
            <a:r>
              <a:rPr lang="de-DE" sz="1200" b="1" dirty="0" smtClean="0">
                <a:solidFill>
                  <a:schemeClr val="accent2"/>
                </a:solidFill>
                <a:latin typeface="Source Sans Pro" panose="020B0503030403020204" pitchFamily="34" charset="0"/>
              </a:rPr>
              <a:t>höchstens 1 </a:t>
            </a:r>
            <a:r>
              <a:rPr lang="de-DE" sz="1200" dirty="0" smtClean="0">
                <a:solidFill>
                  <a:schemeClr val="accent2"/>
                </a:solidFill>
                <a:latin typeface="Source Sans Pro" panose="020B0503030403020204" pitchFamily="34" charset="0"/>
              </a:rPr>
              <a:t>Land liegen?</a:t>
            </a:r>
            <a:endParaRPr lang="de-DE" sz="1200"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2959483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(2)</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Stadt</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0C0"/>
                </a:solidFill>
                <a:latin typeface="Source Sans Pro" panose="020B0503030403020204" pitchFamily="34" charset="0"/>
              </a:rPr>
              <a:t>l</a:t>
            </a:r>
            <a:r>
              <a:rPr kumimoji="0" lang="de-DE" b="0" i="0" u="none" strike="noStrike" kern="1200" cap="none" spc="0" normalizeH="0" baseline="0" noProof="0" dirty="0" smtClean="0">
                <a:ln>
                  <a:noFill/>
                </a:ln>
                <a:solidFill>
                  <a:srgbClr val="0070C0"/>
                </a:solidFill>
                <a:effectLst/>
                <a:uLnTx/>
                <a:uFillTx/>
                <a:latin typeface="Source Sans Pro" panose="020B0503030403020204" pitchFamily="34" charset="0"/>
              </a:rPr>
              <a:t>iegt in</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Calibri" panose="020F0502020204030204"/>
                <a:ea typeface="+mn-ea"/>
                <a:cs typeface="+mn-cs"/>
              </a:rPr>
              <a:t>Angenommen wir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w</a:t>
            </a:r>
            <a:r>
              <a:rPr kumimoji="0" lang="de-DE" sz="1800" b="0" i="0" u="none" strike="noStrike" kern="1200" cap="none" spc="0" normalizeH="0" baseline="0" noProof="0" dirty="0" smtClean="0">
                <a:ln>
                  <a:noFill/>
                </a:ln>
                <a:effectLst/>
                <a:uLnTx/>
                <a:uFillTx/>
                <a:latin typeface="Calibri" panose="020F0502020204030204"/>
                <a:ea typeface="+mn-ea"/>
                <a:cs typeface="+mn-cs"/>
              </a:rPr>
              <a:t>ählen uns eine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effectLst/>
                <a:uLnTx/>
                <a:uFillTx/>
                <a:latin typeface="Calibri" panose="020F0502020204030204"/>
                <a:ea typeface="+mn-ea"/>
                <a:cs typeface="+mn-cs"/>
              </a:rPr>
              <a:t>beliebige</a:t>
            </a:r>
            <a:r>
              <a:rPr kumimoji="0" lang="de-DE" sz="1800" b="0" i="0" u="none" strike="noStrike" kern="1200" cap="none" spc="0" normalizeH="0" baseline="0" noProof="0" dirty="0" smtClean="0">
                <a:ln>
                  <a:noFill/>
                </a:ln>
                <a:effectLst/>
                <a:uLnTx/>
                <a:uFillTx/>
                <a:latin typeface="Calibri" panose="020F0502020204030204"/>
                <a:ea typeface="+mn-ea"/>
                <a:cs typeface="+mn-cs"/>
              </a:rPr>
              <a:t> Entität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Calibri" panose="020F0502020204030204"/>
                <a:ea typeface="+mn-ea"/>
                <a:cs typeface="+mn-cs"/>
              </a:rPr>
              <a:t>vom Typ Stadt …</a:t>
            </a:r>
            <a:endParaRPr kumimoji="0" lang="de-DE" sz="1800" b="0" i="0" u="none" strike="noStrike" kern="1200" cap="none" spc="0" normalizeH="0" baseline="0" noProof="0" dirty="0">
              <a:ln>
                <a:noFill/>
              </a:ln>
              <a:effectLst/>
              <a:uLnTx/>
              <a:uFillTx/>
              <a:latin typeface="Calibri" panose="020F0502020204030204"/>
              <a:ea typeface="+mn-ea"/>
              <a:cs typeface="+mn-cs"/>
            </a:endParaRPr>
          </a:p>
        </p:txBody>
      </p:sp>
      <p:sp>
        <p:nvSpPr>
          <p:cNvPr id="14" name="Nach unten gekrümmter Pfeil 13"/>
          <p:cNvSpPr/>
          <p:nvPr/>
        </p:nvSpPr>
        <p:spPr>
          <a:xfrm>
            <a:off x="3035657" y="1013678"/>
            <a:ext cx="4679593" cy="723900"/>
          </a:xfrm>
          <a:prstGeom prst="curved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3934584" y="1272738"/>
            <a:ext cx="2858536" cy="461665"/>
          </a:xfrm>
          <a:prstGeom prst="rect">
            <a:avLst/>
          </a:prstGeom>
          <a:noFill/>
          <a:ln>
            <a:solidFill>
              <a:schemeClr val="tx1"/>
            </a:solidFill>
          </a:ln>
        </p:spPr>
        <p:txBody>
          <a:bodyPr wrap="square" rtlCol="0">
            <a:spAutoFit/>
          </a:bodyPr>
          <a:lstStyle/>
          <a:p>
            <a:pPr algn="ctr"/>
            <a:r>
              <a:rPr lang="de-DE" sz="1200" dirty="0" smtClean="0">
                <a:latin typeface="Source Sans Pro" panose="020B0503030403020204" pitchFamily="34" charset="0"/>
              </a:rPr>
              <a:t>… kann diese Stadt dann in</a:t>
            </a:r>
          </a:p>
          <a:p>
            <a:pPr algn="ctr"/>
            <a:r>
              <a:rPr lang="de-DE" sz="1200" b="1" dirty="0" smtClean="0">
                <a:latin typeface="Source Sans Pro" panose="020B0503030403020204" pitchFamily="34" charset="0"/>
              </a:rPr>
              <a:t>höchstens 1 </a:t>
            </a:r>
            <a:r>
              <a:rPr lang="de-DE" sz="1200" dirty="0" smtClean="0">
                <a:latin typeface="Source Sans Pro" panose="020B0503030403020204" pitchFamily="34" charset="0"/>
              </a:rPr>
              <a:t>Land liegen?</a:t>
            </a:r>
            <a:endParaRPr lang="de-DE" sz="1200" dirty="0">
              <a:latin typeface="Source Sans Pro" panose="020B0503030403020204" pitchFamily="34" charset="0"/>
            </a:endParaRPr>
          </a:p>
        </p:txBody>
      </p:sp>
      <p:sp>
        <p:nvSpPr>
          <p:cNvPr id="16" name="Textfeld 15"/>
          <p:cNvSpPr txBox="1"/>
          <p:nvPr/>
        </p:nvSpPr>
        <p:spPr>
          <a:xfrm>
            <a:off x="3946185" y="1924119"/>
            <a:ext cx="2858536" cy="646331"/>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Antwort: </a:t>
            </a:r>
            <a:r>
              <a:rPr lang="de-DE" sz="1200" b="1" dirty="0" smtClean="0">
                <a:solidFill>
                  <a:schemeClr val="accent2"/>
                </a:solidFill>
                <a:latin typeface="Source Sans Pro" panose="020B0503030403020204" pitchFamily="34" charset="0"/>
              </a:rPr>
              <a:t>„Ja“</a:t>
            </a:r>
          </a:p>
          <a:p>
            <a:pPr algn="ctr"/>
            <a:r>
              <a:rPr lang="de-DE" sz="1200" dirty="0" smtClean="0">
                <a:solidFill>
                  <a:schemeClr val="accent2"/>
                </a:solidFill>
                <a:latin typeface="Source Sans Pro" panose="020B0503030403020204" pitchFamily="34" charset="0"/>
              </a:rPr>
              <a:t>=&gt;</a:t>
            </a:r>
          </a:p>
          <a:p>
            <a:pPr algn="ctr"/>
            <a:r>
              <a:rPr lang="de-DE" sz="1200" dirty="0" smtClean="0">
                <a:solidFill>
                  <a:schemeClr val="accent2"/>
                </a:solidFill>
                <a:latin typeface="Source Sans Pro" panose="020B0503030403020204" pitchFamily="34" charset="0"/>
              </a:rPr>
              <a:t>Wir notieren ein </a:t>
            </a:r>
            <a:r>
              <a:rPr lang="de-DE" sz="1200" b="1" dirty="0" smtClean="0">
                <a:solidFill>
                  <a:schemeClr val="accent2"/>
                </a:solidFill>
                <a:latin typeface="Source Sans Pro" panose="020B0503030403020204" pitchFamily="34" charset="0"/>
              </a:rPr>
              <a:t>„1“</a:t>
            </a:r>
            <a:endParaRPr lang="de-DE" sz="1200" b="1" dirty="0">
              <a:solidFill>
                <a:schemeClr val="accent2"/>
              </a:solidFill>
              <a:latin typeface="Source Sans Pro" panose="020B0503030403020204" pitchFamily="34" charset="0"/>
            </a:endParaRPr>
          </a:p>
        </p:txBody>
      </p:sp>
      <p:cxnSp>
        <p:nvCxnSpPr>
          <p:cNvPr id="17" name="Gerade Verbindung mit Pfeil 16"/>
          <p:cNvCxnSpPr/>
          <p:nvPr/>
        </p:nvCxnSpPr>
        <p:spPr>
          <a:xfrm>
            <a:off x="6010275" y="2609850"/>
            <a:ext cx="1527024" cy="78171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49776"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1</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5443670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(2)</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Stadt</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0C0"/>
                </a:solidFill>
                <a:latin typeface="Calibri" panose="020F0502020204030204"/>
              </a:rPr>
              <a:t>l</a:t>
            </a:r>
            <a:r>
              <a:rPr kumimoji="0" lang="de-DE" b="0" i="0" u="none" strike="noStrike" kern="1200" cap="none" spc="0" normalizeH="0" baseline="0" noProof="0" dirty="0" smtClean="0">
                <a:ln>
                  <a:noFill/>
                </a:ln>
                <a:solidFill>
                  <a:srgbClr val="0070C0"/>
                </a:solidFill>
                <a:effectLst/>
                <a:uLnTx/>
                <a:uFillTx/>
                <a:latin typeface="Calibri" panose="020F0502020204030204"/>
              </a:rPr>
              <a:t>iegt in</a:t>
            </a:r>
            <a:endParaRPr kumimoji="0" lang="de-DE" b="0" i="0" u="none" strike="noStrike" kern="1200" cap="none" spc="0" normalizeH="0" baseline="0" noProof="0" dirty="0">
              <a:ln>
                <a:noFill/>
              </a:ln>
              <a:solidFill>
                <a:srgbClr val="0070C0"/>
              </a:solidFill>
              <a:effectLst/>
              <a:uLnTx/>
              <a:uFillTx/>
              <a:latin typeface="Calibri" panose="020F0502020204030204"/>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46570" cy="461665"/>
          </a:xfrm>
          <a:prstGeom prst="rect">
            <a:avLst/>
          </a:prstGeom>
          <a:noFill/>
        </p:spPr>
        <p:txBody>
          <a:bodyPr wrap="none" rtlCol="0">
            <a:spAutoFit/>
          </a:bodyPr>
          <a:lstStyle/>
          <a:p>
            <a:r>
              <a:rPr lang="de-DE" sz="2400" b="1" dirty="0">
                <a:latin typeface="Source Sans Pro" panose="020B0503030403020204" pitchFamily="34" charset="0"/>
              </a:rPr>
              <a:t>1</a:t>
            </a:r>
          </a:p>
        </p:txBody>
      </p:sp>
      <p:sp>
        <p:nvSpPr>
          <p:cNvPr id="18" name="Textfeld 17"/>
          <p:cNvSpPr txBox="1"/>
          <p:nvPr/>
        </p:nvSpPr>
        <p:spPr>
          <a:xfrm>
            <a:off x="8164772" y="4005752"/>
            <a:ext cx="2238375" cy="1200329"/>
          </a:xfrm>
          <a:prstGeom prst="rect">
            <a:avLst/>
          </a:prstGeom>
          <a:noFill/>
          <a:ln>
            <a:solidFill>
              <a:schemeClr val="accent2"/>
            </a:solidFill>
          </a:ln>
        </p:spPr>
        <p:txBody>
          <a:bodyPr wrap="square" rtlCol="0">
            <a:spAutoFit/>
          </a:bodyPr>
          <a:lstStyle/>
          <a:p>
            <a:pPr algn="ctr"/>
            <a:r>
              <a:rPr lang="de-DE" dirty="0" smtClean="0">
                <a:solidFill>
                  <a:schemeClr val="accent2"/>
                </a:solidFill>
                <a:latin typeface="Source Sans Pro" panose="020B0503030403020204" pitchFamily="34" charset="0"/>
              </a:rPr>
              <a:t>Angenommen wir </a:t>
            </a:r>
          </a:p>
          <a:p>
            <a:pPr algn="ctr"/>
            <a:r>
              <a:rPr lang="de-DE" dirty="0">
                <a:solidFill>
                  <a:schemeClr val="accent2"/>
                </a:solidFill>
                <a:latin typeface="Source Sans Pro" panose="020B0503030403020204" pitchFamily="34" charset="0"/>
              </a:rPr>
              <a:t>w</a:t>
            </a:r>
            <a:r>
              <a:rPr lang="de-DE" dirty="0" smtClean="0">
                <a:solidFill>
                  <a:schemeClr val="accent2"/>
                </a:solidFill>
                <a:latin typeface="Source Sans Pro" panose="020B0503030403020204" pitchFamily="34" charset="0"/>
              </a:rPr>
              <a:t>ählen uns eine </a:t>
            </a:r>
          </a:p>
          <a:p>
            <a:pPr algn="ctr"/>
            <a:r>
              <a:rPr lang="de-DE" b="1" dirty="0" smtClean="0">
                <a:solidFill>
                  <a:schemeClr val="accent2"/>
                </a:solidFill>
                <a:latin typeface="Source Sans Pro" panose="020B0503030403020204" pitchFamily="34" charset="0"/>
              </a:rPr>
              <a:t>beliebige</a:t>
            </a:r>
            <a:r>
              <a:rPr lang="de-DE" dirty="0" smtClean="0">
                <a:solidFill>
                  <a:schemeClr val="accent2"/>
                </a:solidFill>
                <a:latin typeface="Source Sans Pro" panose="020B0503030403020204" pitchFamily="34" charset="0"/>
              </a:rPr>
              <a:t> Entität </a:t>
            </a:r>
          </a:p>
          <a:p>
            <a:pPr algn="ctr"/>
            <a:r>
              <a:rPr lang="de-DE" dirty="0" smtClean="0">
                <a:solidFill>
                  <a:schemeClr val="accent2"/>
                </a:solidFill>
                <a:latin typeface="Source Sans Pro" panose="020B0503030403020204" pitchFamily="34" charset="0"/>
              </a:rPr>
              <a:t>vom Typ Land …</a:t>
            </a:r>
            <a:endParaRPr lang="de-DE"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40491764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(2)</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Stadt</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0C0"/>
                </a:solidFill>
                <a:latin typeface="Calibri" panose="020F0502020204030204"/>
              </a:rPr>
              <a:t>l</a:t>
            </a:r>
            <a:r>
              <a:rPr kumimoji="0" lang="de-DE" b="0" i="0" u="none" strike="noStrike" kern="1200" cap="none" spc="0" normalizeH="0" baseline="0" noProof="0" dirty="0" smtClean="0">
                <a:ln>
                  <a:noFill/>
                </a:ln>
                <a:solidFill>
                  <a:srgbClr val="0070C0"/>
                </a:solidFill>
                <a:effectLst/>
                <a:uLnTx/>
                <a:uFillTx/>
                <a:latin typeface="Calibri" panose="020F0502020204030204"/>
              </a:rPr>
              <a:t>ie</a:t>
            </a:r>
            <a:r>
              <a:rPr kumimoji="0" lang="de-DE" b="0" i="0" u="none" strike="noStrike" kern="1200" cap="none" spc="0" normalizeH="0" baseline="0" noProof="0" dirty="0" smtClean="0">
                <a:ln>
                  <a:noFill/>
                </a:ln>
                <a:solidFill>
                  <a:srgbClr val="0070C0"/>
                </a:solidFill>
                <a:effectLst/>
                <a:uLnTx/>
                <a:uFillTx/>
                <a:latin typeface="Source Sans Pro" panose="020B0503030403020204" pitchFamily="34" charset="0"/>
              </a:rPr>
              <a:t>g</a:t>
            </a:r>
            <a:r>
              <a:rPr kumimoji="0" lang="de-DE" b="0" i="0" u="none" strike="noStrike" kern="1200" cap="none" spc="0" normalizeH="0" baseline="0" noProof="0" dirty="0" smtClean="0">
                <a:ln>
                  <a:noFill/>
                </a:ln>
                <a:solidFill>
                  <a:srgbClr val="0070C0"/>
                </a:solidFill>
                <a:effectLst/>
                <a:uLnTx/>
                <a:uFillTx/>
                <a:latin typeface="Calibri" panose="020F0502020204030204"/>
              </a:rPr>
              <a:t>t in</a:t>
            </a:r>
            <a:endParaRPr kumimoji="0" lang="de-DE" b="0" i="0" u="none" strike="noStrike" kern="1200" cap="none" spc="0" normalizeH="0" baseline="0" noProof="0" dirty="0">
              <a:ln>
                <a:noFill/>
              </a:ln>
              <a:solidFill>
                <a:srgbClr val="0070C0"/>
              </a:solidFill>
              <a:effectLst/>
              <a:uLnTx/>
              <a:uFillTx/>
              <a:latin typeface="Calibri" panose="020F0502020204030204"/>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46570" cy="461665"/>
          </a:xfrm>
          <a:prstGeom prst="rect">
            <a:avLst/>
          </a:prstGeom>
          <a:noFill/>
        </p:spPr>
        <p:txBody>
          <a:bodyPr wrap="none" rtlCol="0">
            <a:spAutoFit/>
          </a:bodyPr>
          <a:lstStyle/>
          <a:p>
            <a:r>
              <a:rPr lang="de-DE" sz="2400" b="1" dirty="0">
                <a:latin typeface="Source Sans Pro" panose="020B0503030403020204" pitchFamily="34" charset="0"/>
              </a:rPr>
              <a:t>1</a:t>
            </a:r>
          </a:p>
        </p:txBody>
      </p:sp>
      <p:sp>
        <p:nvSpPr>
          <p:cNvPr id="18" name="Textfeld 17"/>
          <p:cNvSpPr txBox="1"/>
          <p:nvPr/>
        </p:nvSpPr>
        <p:spPr>
          <a:xfrm>
            <a:off x="8164772" y="4005752"/>
            <a:ext cx="2238375" cy="1200329"/>
          </a:xfrm>
          <a:prstGeom prst="rect">
            <a:avLst/>
          </a:prstGeom>
          <a:noFill/>
          <a:ln>
            <a:solidFill>
              <a:schemeClr val="tx1"/>
            </a:solidFill>
          </a:ln>
        </p:spPr>
        <p:txBody>
          <a:bodyPr wrap="square" rtlCol="0">
            <a:spAutoFit/>
          </a:bodyPr>
          <a:lstStyle/>
          <a:p>
            <a:pPr algn="ctr"/>
            <a:r>
              <a:rPr lang="de-DE" dirty="0" smtClean="0">
                <a:latin typeface="Source Sans Pro" panose="020B0503030403020204" pitchFamily="34" charset="0"/>
              </a:rPr>
              <a:t>Angenommen wir </a:t>
            </a:r>
          </a:p>
          <a:p>
            <a:pPr algn="ctr"/>
            <a:r>
              <a:rPr lang="de-DE" dirty="0">
                <a:latin typeface="Source Sans Pro" panose="020B0503030403020204" pitchFamily="34" charset="0"/>
              </a:rPr>
              <a:t>w</a:t>
            </a:r>
            <a:r>
              <a:rPr lang="de-DE" dirty="0" smtClean="0">
                <a:latin typeface="Source Sans Pro" panose="020B0503030403020204" pitchFamily="34" charset="0"/>
              </a:rPr>
              <a:t>ählen uns eine </a:t>
            </a:r>
          </a:p>
          <a:p>
            <a:pPr algn="ctr"/>
            <a:r>
              <a:rPr lang="de-DE" b="1" dirty="0" smtClean="0">
                <a:latin typeface="Source Sans Pro" panose="020B0503030403020204" pitchFamily="34" charset="0"/>
              </a:rPr>
              <a:t>beliebige</a:t>
            </a:r>
            <a:r>
              <a:rPr lang="de-DE" dirty="0" smtClean="0">
                <a:latin typeface="Source Sans Pro" panose="020B0503030403020204" pitchFamily="34" charset="0"/>
              </a:rPr>
              <a:t> Entität </a:t>
            </a:r>
          </a:p>
          <a:p>
            <a:pPr algn="ctr"/>
            <a:r>
              <a:rPr lang="de-DE" dirty="0" smtClean="0">
                <a:latin typeface="Source Sans Pro" panose="020B0503030403020204" pitchFamily="34" charset="0"/>
              </a:rPr>
              <a:t>vom Typ Land …</a:t>
            </a:r>
            <a:endParaRPr lang="de-DE" dirty="0">
              <a:latin typeface="Source Sans Pro" panose="020B0503030403020204" pitchFamily="34" charset="0"/>
            </a:endParaRPr>
          </a:p>
        </p:txBody>
      </p:sp>
      <p:sp>
        <p:nvSpPr>
          <p:cNvPr id="14" name="Nach unten gekrümmter Pfeil 13"/>
          <p:cNvSpPr/>
          <p:nvPr/>
        </p:nvSpPr>
        <p:spPr>
          <a:xfrm rot="10800000">
            <a:off x="3761405" y="5257188"/>
            <a:ext cx="4679593" cy="723900"/>
          </a:xfrm>
          <a:prstGeom prst="curved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4683535" y="5208389"/>
            <a:ext cx="2858536" cy="461665"/>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 kann in diesem Land dann</a:t>
            </a:r>
          </a:p>
          <a:p>
            <a:pPr algn="ctr"/>
            <a:r>
              <a:rPr lang="de-DE" sz="1200" b="1" dirty="0" smtClean="0">
                <a:solidFill>
                  <a:schemeClr val="accent2"/>
                </a:solidFill>
                <a:latin typeface="Source Sans Pro" panose="020B0503030403020204" pitchFamily="34" charset="0"/>
              </a:rPr>
              <a:t>höchstens 1 </a:t>
            </a:r>
            <a:r>
              <a:rPr lang="de-DE" sz="1200" dirty="0" smtClean="0">
                <a:solidFill>
                  <a:schemeClr val="accent2"/>
                </a:solidFill>
                <a:latin typeface="Source Sans Pro" panose="020B0503030403020204" pitchFamily="34" charset="0"/>
              </a:rPr>
              <a:t>Stadt liegen?</a:t>
            </a:r>
            <a:endParaRPr lang="de-DE" sz="1200"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4377569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(2)</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Stadt</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0C0"/>
                </a:solidFill>
                <a:latin typeface="Source Sans Pro" panose="020B0503030403020204" pitchFamily="34" charset="0"/>
              </a:rPr>
              <a:t>l</a:t>
            </a:r>
            <a:r>
              <a:rPr kumimoji="0" lang="de-DE" b="0" i="0" u="none" strike="noStrike" kern="1200" cap="none" spc="0" normalizeH="0" baseline="0" noProof="0" dirty="0" smtClean="0">
                <a:ln>
                  <a:noFill/>
                </a:ln>
                <a:solidFill>
                  <a:srgbClr val="0070C0"/>
                </a:solidFill>
                <a:effectLst/>
                <a:uLnTx/>
                <a:uFillTx/>
                <a:latin typeface="Source Sans Pro" panose="020B0503030403020204" pitchFamily="34" charset="0"/>
              </a:rPr>
              <a:t>iegt in</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46570" cy="461665"/>
          </a:xfrm>
          <a:prstGeom prst="rect">
            <a:avLst/>
          </a:prstGeom>
          <a:noFill/>
        </p:spPr>
        <p:txBody>
          <a:bodyPr wrap="none" rtlCol="0">
            <a:spAutoFit/>
          </a:bodyPr>
          <a:lstStyle/>
          <a:p>
            <a:r>
              <a:rPr lang="de-DE" sz="2400" b="1" dirty="0" smtClean="0">
                <a:latin typeface="Source Sans Pro" panose="020B0503030403020204" pitchFamily="34" charset="0"/>
              </a:rPr>
              <a:t>1</a:t>
            </a:r>
            <a:endParaRPr lang="de-DE" sz="2400" b="1" dirty="0">
              <a:latin typeface="Source Sans Pro" panose="020B0503030403020204" pitchFamily="34" charset="0"/>
            </a:endParaRPr>
          </a:p>
        </p:txBody>
      </p:sp>
      <p:sp>
        <p:nvSpPr>
          <p:cNvPr id="18" name="Textfeld 17"/>
          <p:cNvSpPr txBox="1"/>
          <p:nvPr/>
        </p:nvSpPr>
        <p:spPr>
          <a:xfrm>
            <a:off x="8164772" y="4005752"/>
            <a:ext cx="2238375" cy="1200329"/>
          </a:xfrm>
          <a:prstGeom prst="rect">
            <a:avLst/>
          </a:prstGeom>
          <a:noFill/>
          <a:ln>
            <a:solidFill>
              <a:schemeClr val="tx1"/>
            </a:solidFill>
          </a:ln>
        </p:spPr>
        <p:txBody>
          <a:bodyPr wrap="square" rtlCol="0">
            <a:spAutoFit/>
          </a:bodyPr>
          <a:lstStyle/>
          <a:p>
            <a:pPr algn="ctr"/>
            <a:r>
              <a:rPr lang="de-DE" dirty="0" smtClean="0">
                <a:latin typeface="Source Sans Pro" panose="020B0503030403020204" pitchFamily="34" charset="0"/>
              </a:rPr>
              <a:t>Angenommen wir </a:t>
            </a:r>
          </a:p>
          <a:p>
            <a:pPr algn="ctr"/>
            <a:r>
              <a:rPr lang="de-DE" dirty="0">
                <a:latin typeface="Source Sans Pro" panose="020B0503030403020204" pitchFamily="34" charset="0"/>
              </a:rPr>
              <a:t>w</a:t>
            </a:r>
            <a:r>
              <a:rPr lang="de-DE" dirty="0" smtClean="0">
                <a:latin typeface="Source Sans Pro" panose="020B0503030403020204" pitchFamily="34" charset="0"/>
              </a:rPr>
              <a:t>ählen uns eine </a:t>
            </a:r>
          </a:p>
          <a:p>
            <a:pPr algn="ctr"/>
            <a:r>
              <a:rPr lang="de-DE" b="1" dirty="0" smtClean="0">
                <a:latin typeface="Source Sans Pro" panose="020B0503030403020204" pitchFamily="34" charset="0"/>
              </a:rPr>
              <a:t>beliebige</a:t>
            </a:r>
            <a:r>
              <a:rPr lang="de-DE" dirty="0" smtClean="0">
                <a:latin typeface="Source Sans Pro" panose="020B0503030403020204" pitchFamily="34" charset="0"/>
              </a:rPr>
              <a:t> Entität </a:t>
            </a:r>
          </a:p>
          <a:p>
            <a:pPr algn="ctr"/>
            <a:r>
              <a:rPr lang="de-DE" dirty="0" smtClean="0">
                <a:latin typeface="Source Sans Pro" panose="020B0503030403020204" pitchFamily="34" charset="0"/>
              </a:rPr>
              <a:t>vom Typ Land …</a:t>
            </a:r>
            <a:endParaRPr lang="de-DE" dirty="0">
              <a:latin typeface="Source Sans Pro" panose="020B0503030403020204" pitchFamily="34" charset="0"/>
            </a:endParaRPr>
          </a:p>
        </p:txBody>
      </p:sp>
      <p:sp>
        <p:nvSpPr>
          <p:cNvPr id="14" name="Nach unten gekrümmter Pfeil 13"/>
          <p:cNvSpPr/>
          <p:nvPr/>
        </p:nvSpPr>
        <p:spPr>
          <a:xfrm rot="10800000">
            <a:off x="3761405" y="5257188"/>
            <a:ext cx="4679593" cy="723900"/>
          </a:xfrm>
          <a:prstGeom prst="curved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4683535" y="5208389"/>
            <a:ext cx="2858536" cy="461665"/>
          </a:xfrm>
          <a:prstGeom prst="rect">
            <a:avLst/>
          </a:prstGeom>
          <a:noFill/>
          <a:ln>
            <a:solidFill>
              <a:schemeClr val="tx1"/>
            </a:solidFill>
          </a:ln>
        </p:spPr>
        <p:txBody>
          <a:bodyPr wrap="square" rtlCol="0">
            <a:spAutoFit/>
          </a:bodyPr>
          <a:lstStyle/>
          <a:p>
            <a:pPr algn="ctr"/>
            <a:r>
              <a:rPr lang="de-DE" sz="1200" dirty="0" smtClean="0">
                <a:latin typeface="Source Sans Pro" panose="020B0503030403020204" pitchFamily="34" charset="0"/>
              </a:rPr>
              <a:t>… kann in diesem Land dann</a:t>
            </a:r>
          </a:p>
          <a:p>
            <a:pPr algn="ctr"/>
            <a:r>
              <a:rPr lang="de-DE" sz="1200" b="1" dirty="0" smtClean="0">
                <a:latin typeface="Source Sans Pro" panose="020B0503030403020204" pitchFamily="34" charset="0"/>
              </a:rPr>
              <a:t>höchstens 1 </a:t>
            </a:r>
            <a:r>
              <a:rPr lang="de-DE" sz="1200" dirty="0" smtClean="0">
                <a:latin typeface="Source Sans Pro" panose="020B0503030403020204" pitchFamily="34" charset="0"/>
              </a:rPr>
              <a:t>Stadt liegen?</a:t>
            </a:r>
            <a:endParaRPr lang="de-DE" sz="1200" dirty="0">
              <a:latin typeface="Source Sans Pro" panose="020B0503030403020204" pitchFamily="34" charset="0"/>
            </a:endParaRPr>
          </a:p>
        </p:txBody>
      </p:sp>
      <p:sp>
        <p:nvSpPr>
          <p:cNvPr id="16" name="Textfeld 15"/>
          <p:cNvSpPr txBox="1"/>
          <p:nvPr/>
        </p:nvSpPr>
        <p:spPr>
          <a:xfrm>
            <a:off x="4680558" y="4445626"/>
            <a:ext cx="2858536" cy="769441"/>
          </a:xfrm>
          <a:prstGeom prst="rect">
            <a:avLst/>
          </a:prstGeom>
          <a:noFill/>
          <a:ln>
            <a:solidFill>
              <a:schemeClr val="accent2"/>
            </a:solidFill>
          </a:ln>
        </p:spPr>
        <p:txBody>
          <a:bodyPr wrap="square" rtlCol="0">
            <a:spAutoFit/>
          </a:bodyPr>
          <a:lstStyle/>
          <a:p>
            <a:pPr lvl="0" algn="ctr"/>
            <a:r>
              <a:rPr lang="de-DE" sz="1200" dirty="0">
                <a:solidFill>
                  <a:srgbClr val="FE5000"/>
                </a:solidFill>
                <a:latin typeface="Source Sans Pro" panose="020B0503030403020204" pitchFamily="34" charset="0"/>
              </a:rPr>
              <a:t>Antwort: </a:t>
            </a:r>
            <a:r>
              <a:rPr lang="de-DE" sz="1200" b="1" dirty="0" smtClean="0">
                <a:solidFill>
                  <a:srgbClr val="FE5000"/>
                </a:solidFill>
                <a:latin typeface="Source Sans Pro" panose="020B0503030403020204" pitchFamily="34" charset="0"/>
              </a:rPr>
              <a:t>„Nein“</a:t>
            </a:r>
          </a:p>
          <a:p>
            <a:pPr lvl="0" algn="ctr"/>
            <a:r>
              <a:rPr lang="de-DE" sz="800" dirty="0" smtClean="0">
                <a:solidFill>
                  <a:srgbClr val="FE5000"/>
                </a:solidFill>
                <a:latin typeface="Source Sans Pro" panose="020B0503030403020204" pitchFamily="34" charset="0"/>
              </a:rPr>
              <a:t>(denn natürlich können mehrere Städte in einem Land liegen)</a:t>
            </a:r>
          </a:p>
          <a:p>
            <a:pPr lvl="0" algn="ctr"/>
            <a:r>
              <a:rPr lang="de-DE" sz="1200" dirty="0" smtClean="0">
                <a:solidFill>
                  <a:srgbClr val="FE5000"/>
                </a:solidFill>
                <a:latin typeface="Source Sans Pro" panose="020B0503030403020204" pitchFamily="34" charset="0"/>
              </a:rPr>
              <a:t>=&gt;</a:t>
            </a:r>
            <a:endParaRPr lang="de-DE" sz="1200" dirty="0">
              <a:solidFill>
                <a:srgbClr val="FE5000"/>
              </a:solidFill>
              <a:latin typeface="Source Sans Pro" panose="020B0503030403020204" pitchFamily="34" charset="0"/>
            </a:endParaRPr>
          </a:p>
          <a:p>
            <a:pPr lvl="0" algn="ctr"/>
            <a:r>
              <a:rPr lang="de-DE" sz="1200" dirty="0">
                <a:solidFill>
                  <a:srgbClr val="FE5000"/>
                </a:solidFill>
                <a:latin typeface="Source Sans Pro" panose="020B0503030403020204" pitchFamily="34" charset="0"/>
              </a:rPr>
              <a:t>Wir notieren </a:t>
            </a:r>
            <a:r>
              <a:rPr lang="de-DE" sz="1200" dirty="0" smtClean="0">
                <a:solidFill>
                  <a:srgbClr val="FE5000"/>
                </a:solidFill>
                <a:latin typeface="Source Sans Pro" panose="020B0503030403020204" pitchFamily="34" charset="0"/>
              </a:rPr>
              <a:t>ein </a:t>
            </a:r>
            <a:r>
              <a:rPr lang="de-DE" sz="1200" b="1" dirty="0" smtClean="0">
                <a:solidFill>
                  <a:srgbClr val="FE5000"/>
                </a:solidFill>
                <a:latin typeface="Source Sans Pro" panose="020B0503030403020204" pitchFamily="34" charset="0"/>
              </a:rPr>
              <a:t>„n“</a:t>
            </a:r>
            <a:endParaRPr lang="de-DE" sz="1200" b="1" dirty="0">
              <a:solidFill>
                <a:srgbClr val="FE5000"/>
              </a:solidFill>
              <a:latin typeface="Source Sans Pro" panose="020B0503030403020204" pitchFamily="34" charset="0"/>
            </a:endParaRPr>
          </a:p>
        </p:txBody>
      </p:sp>
      <p:cxnSp>
        <p:nvCxnSpPr>
          <p:cNvPr id="17" name="Gerade Verbindung mit Pfeil 16"/>
          <p:cNvCxnSpPr/>
          <p:nvPr/>
        </p:nvCxnSpPr>
        <p:spPr>
          <a:xfrm flipH="1" flipV="1">
            <a:off x="3876675" y="3734452"/>
            <a:ext cx="741982" cy="64083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60996" cy="461665"/>
          </a:xfrm>
          <a:prstGeom prst="rect">
            <a:avLst/>
          </a:prstGeom>
          <a:noFill/>
        </p:spPr>
        <p:txBody>
          <a:bodyPr wrap="none" rtlCol="0">
            <a:spAutoFit/>
          </a:bodyPr>
          <a:lstStyle/>
          <a:p>
            <a:r>
              <a:rPr lang="de-DE" sz="2400" b="1" dirty="0">
                <a:solidFill>
                  <a:schemeClr val="accent2"/>
                </a:solidFill>
                <a:latin typeface="Source Sans Pro" panose="020B0503030403020204" pitchFamily="34" charset="0"/>
              </a:rPr>
              <a:t>n</a:t>
            </a:r>
          </a:p>
        </p:txBody>
      </p:sp>
    </p:spTree>
    <p:extLst>
      <p:ext uri="{BB962C8B-B14F-4D97-AF65-F5344CB8AC3E}">
        <p14:creationId xmlns:p14="http://schemas.microsoft.com/office/powerpoint/2010/main" val="162455928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(2)</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Stadt</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0C0"/>
                </a:solidFill>
                <a:latin typeface="Source Sans Pro" panose="020B0503030403020204" pitchFamily="34" charset="0"/>
              </a:rPr>
              <a:t>l</a:t>
            </a:r>
            <a:r>
              <a:rPr kumimoji="0" lang="de-DE" b="0" i="0" u="none" strike="noStrike" kern="1200" cap="none" spc="0" normalizeH="0" baseline="0" noProof="0" dirty="0" smtClean="0">
                <a:ln>
                  <a:noFill/>
                </a:ln>
                <a:solidFill>
                  <a:srgbClr val="0070C0"/>
                </a:solidFill>
                <a:effectLst/>
                <a:uLnTx/>
                <a:uFillTx/>
                <a:latin typeface="Source Sans Pro" panose="020B0503030403020204" pitchFamily="34" charset="0"/>
              </a:rPr>
              <a:t>iegt in</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46570" cy="461665"/>
          </a:xfrm>
          <a:prstGeom prst="rect">
            <a:avLst/>
          </a:prstGeom>
          <a:noFill/>
        </p:spPr>
        <p:txBody>
          <a:bodyPr wrap="none" rtlCol="0">
            <a:spAutoFit/>
          </a:bodyPr>
          <a:lstStyle/>
          <a:p>
            <a:r>
              <a:rPr lang="de-DE" sz="2400" b="1" dirty="0">
                <a:latin typeface="Source Sans Pro" panose="020B0503030403020204" pitchFamily="34" charset="0"/>
              </a:rPr>
              <a:t>1</a:t>
            </a:r>
          </a:p>
        </p:txBody>
      </p:sp>
      <p:sp>
        <p:nvSpPr>
          <p:cNvPr id="19" name="Textfeld 18"/>
          <p:cNvSpPr txBox="1"/>
          <p:nvPr/>
        </p:nvSpPr>
        <p:spPr>
          <a:xfrm>
            <a:off x="3536303" y="3281294"/>
            <a:ext cx="360996" cy="461665"/>
          </a:xfrm>
          <a:prstGeom prst="rect">
            <a:avLst/>
          </a:prstGeom>
          <a:noFill/>
        </p:spPr>
        <p:txBody>
          <a:bodyPr wrap="none" rtlCol="0">
            <a:spAutoFit/>
          </a:bodyPr>
          <a:lstStyle/>
          <a:p>
            <a:r>
              <a:rPr lang="de-DE" sz="2400" b="1" dirty="0">
                <a:latin typeface="Source Sans Pro" panose="020B0503030403020204" pitchFamily="34" charset="0"/>
              </a:rPr>
              <a:t>n</a:t>
            </a:r>
          </a:p>
        </p:txBody>
      </p:sp>
      <p:sp>
        <p:nvSpPr>
          <p:cNvPr id="14" name="Textfeld 13"/>
          <p:cNvSpPr txBox="1"/>
          <p:nvPr/>
        </p:nvSpPr>
        <p:spPr>
          <a:xfrm>
            <a:off x="3652179" y="4504154"/>
            <a:ext cx="4196983" cy="584775"/>
          </a:xfrm>
          <a:prstGeom prst="rect">
            <a:avLst/>
          </a:prstGeom>
          <a:noFill/>
        </p:spPr>
        <p:txBody>
          <a:bodyPr wrap="none" rtlCol="0">
            <a:spAutoFit/>
          </a:bodyPr>
          <a:lstStyle/>
          <a:p>
            <a:pPr algn="ctr"/>
            <a:r>
              <a:rPr lang="de-DE" dirty="0" smtClean="0">
                <a:latin typeface="Source Sans Pro" panose="020B0503030403020204" pitchFamily="34" charset="0"/>
              </a:rPr>
              <a:t>Es handelt sich also um eine </a:t>
            </a:r>
            <a:r>
              <a:rPr lang="de-DE" b="1" dirty="0" smtClean="0">
                <a:solidFill>
                  <a:schemeClr val="accent2"/>
                </a:solidFill>
                <a:latin typeface="Source Sans Pro" panose="020B0503030403020204" pitchFamily="34" charset="0"/>
              </a:rPr>
              <a:t>1:n</a:t>
            </a:r>
            <a:r>
              <a:rPr lang="de-DE" b="1" dirty="0" smtClean="0">
                <a:latin typeface="Source Sans Pro" panose="020B0503030403020204" pitchFamily="34" charset="0"/>
              </a:rPr>
              <a:t>-Relation</a:t>
            </a:r>
          </a:p>
          <a:p>
            <a:pPr algn="ctr"/>
            <a:r>
              <a:rPr lang="de-DE" sz="1400" dirty="0" smtClean="0">
                <a:latin typeface="Source Sans Pro" panose="020B0503030403020204" pitchFamily="34" charset="0"/>
              </a:rPr>
              <a:t>(Stadt hat die Kardinalität n, Land die Kardinalität 1)</a:t>
            </a:r>
            <a:endParaRPr lang="de-DE" sz="1400" dirty="0">
              <a:latin typeface="Source Sans Pro" panose="020B0503030403020204" pitchFamily="34" charset="0"/>
            </a:endParaRPr>
          </a:p>
        </p:txBody>
      </p:sp>
    </p:spTree>
    <p:extLst>
      <p:ext uri="{BB962C8B-B14F-4D97-AF65-F5344CB8AC3E}">
        <p14:creationId xmlns:p14="http://schemas.microsoft.com/office/powerpoint/2010/main" val="408387406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Beispiel (3) </a:t>
            </a:r>
          </a:p>
          <a:p>
            <a:r>
              <a:rPr lang="de-DE" sz="4000" dirty="0"/>
              <a:t>	</a:t>
            </a:r>
          </a:p>
        </p:txBody>
      </p:sp>
    </p:spTree>
    <p:extLst>
      <p:ext uri="{BB962C8B-B14F-4D97-AF65-F5344CB8AC3E}">
        <p14:creationId xmlns:p14="http://schemas.microsoft.com/office/powerpoint/2010/main" val="28457829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(3)</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Verein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Mitglied</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accent2"/>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Angenommen wir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E5000"/>
                </a:solidFill>
                <a:effectLst/>
                <a:uLnTx/>
                <a:uFillTx/>
                <a:latin typeface="Source Sans Pro" panose="020B0503030403020204" pitchFamily="34" charset="0"/>
              </a:rPr>
              <a:t>w</a:t>
            </a: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ählen uns eine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solidFill>
                  <a:srgbClr val="FE5000"/>
                </a:solidFill>
                <a:effectLst/>
                <a:uLnTx/>
                <a:uFillTx/>
                <a:latin typeface="Source Sans Pro" panose="020B0503030403020204" pitchFamily="34" charset="0"/>
              </a:rPr>
              <a:t>beliebige</a:t>
            </a: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 Entität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solidFill>
                  <a:srgbClr val="FE5000"/>
                </a:solidFill>
                <a:effectLst/>
                <a:uLnTx/>
                <a:uFillTx/>
                <a:latin typeface="Source Sans Pro" panose="020B0503030403020204" pitchFamily="34" charset="0"/>
              </a:rPr>
              <a:t>vom Typ Person …</a:t>
            </a:r>
            <a:endParaRPr kumimoji="0" lang="de-DE" sz="1800" b="0" i="0" u="none" strike="noStrike" kern="1200" cap="none" spc="0" normalizeH="0" baseline="0" noProof="0" dirty="0">
              <a:ln>
                <a:noFill/>
              </a:ln>
              <a:solidFill>
                <a:srgbClr val="FE5000"/>
              </a:solidFill>
              <a:effectLst/>
              <a:uLnTx/>
              <a:uFillTx/>
              <a:latin typeface="Source Sans Pro" panose="020B0503030403020204" pitchFamily="34" charset="0"/>
            </a:endParaRPr>
          </a:p>
        </p:txBody>
      </p:sp>
    </p:spTree>
    <p:extLst>
      <p:ext uri="{BB962C8B-B14F-4D97-AF65-F5344CB8AC3E}">
        <p14:creationId xmlns:p14="http://schemas.microsoft.com/office/powerpoint/2010/main" val="423890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(3)</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Verein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Mitglied</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Angenommen wir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Source Sans Pro" panose="020B0503030403020204" pitchFamily="34" charset="0"/>
              </a:rPr>
              <a:t>w</a:t>
            </a:r>
            <a:r>
              <a:rPr kumimoji="0" lang="de-DE" sz="1800" b="0" i="0" u="none" strike="noStrike" kern="1200" cap="none" spc="0" normalizeH="0" baseline="0" noProof="0" dirty="0" smtClean="0">
                <a:ln>
                  <a:noFill/>
                </a:ln>
                <a:effectLst/>
                <a:uLnTx/>
                <a:uFillTx/>
                <a:latin typeface="Source Sans Pro" panose="020B0503030403020204" pitchFamily="34" charset="0"/>
              </a:rPr>
              <a:t>ählen uns eine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effectLst/>
                <a:uLnTx/>
                <a:uFillTx/>
                <a:latin typeface="Source Sans Pro" panose="020B0503030403020204" pitchFamily="34" charset="0"/>
              </a:rPr>
              <a:t>beliebige</a:t>
            </a:r>
            <a:r>
              <a:rPr kumimoji="0" lang="de-DE" sz="1800" b="0" i="0" u="none" strike="noStrike" kern="1200" cap="none" spc="0" normalizeH="0" baseline="0" noProof="0" dirty="0" smtClean="0">
                <a:ln>
                  <a:noFill/>
                </a:ln>
                <a:effectLst/>
                <a:uLnTx/>
                <a:uFillTx/>
                <a:latin typeface="Source Sans Pro" panose="020B0503030403020204" pitchFamily="34" charset="0"/>
              </a:rPr>
              <a:t> Entität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vom Typ Person …</a:t>
            </a:r>
            <a:endParaRPr kumimoji="0" lang="de-DE" sz="1800" b="0" i="0" u="none" strike="noStrike" kern="1200" cap="none" spc="0" normalizeH="0" baseline="0" noProof="0" dirty="0">
              <a:ln>
                <a:noFill/>
              </a:ln>
              <a:effectLst/>
              <a:uLnTx/>
              <a:uFillTx/>
              <a:latin typeface="Source Sans Pro" panose="020B0503030403020204" pitchFamily="34" charset="0"/>
            </a:endParaRPr>
          </a:p>
        </p:txBody>
      </p:sp>
      <p:sp>
        <p:nvSpPr>
          <p:cNvPr id="14" name="Nach unten gekrümmter Pfeil 13"/>
          <p:cNvSpPr/>
          <p:nvPr/>
        </p:nvSpPr>
        <p:spPr>
          <a:xfrm>
            <a:off x="3035657" y="1013678"/>
            <a:ext cx="4679593" cy="723900"/>
          </a:xfrm>
          <a:prstGeom prst="curved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3934584" y="1272738"/>
            <a:ext cx="2858536" cy="461665"/>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 kann diese Person dann in</a:t>
            </a:r>
          </a:p>
          <a:p>
            <a:pPr algn="ctr"/>
            <a:r>
              <a:rPr lang="de-DE" sz="1200" b="1" dirty="0" smtClean="0">
                <a:solidFill>
                  <a:schemeClr val="accent2"/>
                </a:solidFill>
                <a:latin typeface="Source Sans Pro" panose="020B0503030403020204" pitchFamily="34" charset="0"/>
              </a:rPr>
              <a:t>höchstens 1 </a:t>
            </a:r>
            <a:r>
              <a:rPr lang="de-DE" sz="1200" dirty="0" smtClean="0">
                <a:solidFill>
                  <a:schemeClr val="accent2"/>
                </a:solidFill>
                <a:latin typeface="Source Sans Pro" panose="020B0503030403020204" pitchFamily="34" charset="0"/>
              </a:rPr>
              <a:t>Verein Mitglied sein?</a:t>
            </a:r>
            <a:endParaRPr lang="de-DE" sz="1200"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923996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(3)</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Verein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Mitglied</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p:nvSpPr>
        <p:spPr>
          <a:xfrm>
            <a:off x="1073507" y="1851784"/>
            <a:ext cx="2238375" cy="120032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Angenommen wir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Source Sans Pro" panose="020B0503030403020204" pitchFamily="34" charset="0"/>
              </a:rPr>
              <a:t>w</a:t>
            </a:r>
            <a:r>
              <a:rPr kumimoji="0" lang="de-DE" sz="1800" b="0" i="0" u="none" strike="noStrike" kern="1200" cap="none" spc="0" normalizeH="0" baseline="0" noProof="0" dirty="0" smtClean="0">
                <a:ln>
                  <a:noFill/>
                </a:ln>
                <a:effectLst/>
                <a:uLnTx/>
                <a:uFillTx/>
                <a:latin typeface="Source Sans Pro" panose="020B0503030403020204" pitchFamily="34" charset="0"/>
              </a:rPr>
              <a:t>ählen uns eine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effectLst/>
                <a:uLnTx/>
                <a:uFillTx/>
                <a:latin typeface="Source Sans Pro" panose="020B0503030403020204" pitchFamily="34" charset="0"/>
              </a:rPr>
              <a:t>beliebige</a:t>
            </a:r>
            <a:r>
              <a:rPr kumimoji="0" lang="de-DE" sz="1800" b="0" i="0" u="none" strike="noStrike" kern="1200" cap="none" spc="0" normalizeH="0" baseline="0" noProof="0" dirty="0" smtClean="0">
                <a:ln>
                  <a:noFill/>
                </a:ln>
                <a:effectLst/>
                <a:uLnTx/>
                <a:uFillTx/>
                <a:latin typeface="Source Sans Pro" panose="020B0503030403020204" pitchFamily="34" charset="0"/>
              </a:rPr>
              <a:t> Entität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smtClean="0">
                <a:ln>
                  <a:noFill/>
                </a:ln>
                <a:effectLst/>
                <a:uLnTx/>
                <a:uFillTx/>
                <a:latin typeface="Source Sans Pro" panose="020B0503030403020204" pitchFamily="34" charset="0"/>
              </a:rPr>
              <a:t>vom Typ Person …</a:t>
            </a:r>
            <a:endParaRPr kumimoji="0" lang="de-DE" sz="1800" b="0" i="0" u="none" strike="noStrike" kern="1200" cap="none" spc="0" normalizeH="0" baseline="0" noProof="0" dirty="0">
              <a:ln>
                <a:noFill/>
              </a:ln>
              <a:effectLst/>
              <a:uLnTx/>
              <a:uFillTx/>
              <a:latin typeface="Source Sans Pro" panose="020B0503030403020204" pitchFamily="34" charset="0"/>
            </a:endParaRPr>
          </a:p>
        </p:txBody>
      </p:sp>
      <p:sp>
        <p:nvSpPr>
          <p:cNvPr id="14" name="Nach unten gekrümmter Pfeil 13"/>
          <p:cNvSpPr/>
          <p:nvPr/>
        </p:nvSpPr>
        <p:spPr>
          <a:xfrm>
            <a:off x="3035657" y="1013678"/>
            <a:ext cx="4679593" cy="723900"/>
          </a:xfrm>
          <a:prstGeom prst="curved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3934584" y="1272738"/>
            <a:ext cx="2858536" cy="461665"/>
          </a:xfrm>
          <a:prstGeom prst="rect">
            <a:avLst/>
          </a:prstGeom>
          <a:noFill/>
          <a:ln>
            <a:solidFill>
              <a:schemeClr val="tx1"/>
            </a:solidFill>
          </a:ln>
        </p:spPr>
        <p:txBody>
          <a:bodyPr wrap="square" rtlCol="0">
            <a:spAutoFit/>
          </a:bodyPr>
          <a:lstStyle/>
          <a:p>
            <a:pPr algn="ctr"/>
            <a:r>
              <a:rPr lang="de-DE" sz="1200" dirty="0" smtClean="0">
                <a:latin typeface="Source Sans Pro" panose="020B0503030403020204" pitchFamily="34" charset="0"/>
              </a:rPr>
              <a:t>… kann diese Person dann in</a:t>
            </a:r>
          </a:p>
          <a:p>
            <a:pPr algn="ctr"/>
            <a:r>
              <a:rPr lang="de-DE" sz="1200" b="1" dirty="0" smtClean="0">
                <a:latin typeface="Source Sans Pro" panose="020B0503030403020204" pitchFamily="34" charset="0"/>
              </a:rPr>
              <a:t>höchstens 1 </a:t>
            </a:r>
            <a:r>
              <a:rPr lang="de-DE" sz="1200" dirty="0" smtClean="0">
                <a:latin typeface="Source Sans Pro" panose="020B0503030403020204" pitchFamily="34" charset="0"/>
              </a:rPr>
              <a:t>Verein Mitglied sein?</a:t>
            </a:r>
            <a:endParaRPr lang="de-DE" sz="1200" dirty="0">
              <a:latin typeface="Source Sans Pro" panose="020B0503030403020204" pitchFamily="34" charset="0"/>
            </a:endParaRPr>
          </a:p>
        </p:txBody>
      </p:sp>
      <p:sp>
        <p:nvSpPr>
          <p:cNvPr id="16" name="Textfeld 15"/>
          <p:cNvSpPr txBox="1"/>
          <p:nvPr/>
        </p:nvSpPr>
        <p:spPr>
          <a:xfrm>
            <a:off x="3946185" y="1924119"/>
            <a:ext cx="2858536" cy="769441"/>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Antwort: </a:t>
            </a:r>
            <a:r>
              <a:rPr lang="de-DE" sz="1200" b="1" dirty="0" smtClean="0">
                <a:solidFill>
                  <a:schemeClr val="accent2"/>
                </a:solidFill>
                <a:latin typeface="Source Sans Pro" panose="020B0503030403020204" pitchFamily="34" charset="0"/>
              </a:rPr>
              <a:t>„Nein“</a:t>
            </a:r>
          </a:p>
          <a:p>
            <a:pPr algn="ctr"/>
            <a:r>
              <a:rPr lang="de-DE" sz="800" dirty="0" smtClean="0">
                <a:solidFill>
                  <a:schemeClr val="accent2"/>
                </a:solidFill>
                <a:latin typeface="Source Sans Pro" panose="020B0503030403020204" pitchFamily="34" charset="0"/>
              </a:rPr>
              <a:t>(denn natürlich kann sie in mehreren Vereinen Mitglied sein)</a:t>
            </a:r>
          </a:p>
          <a:p>
            <a:pPr algn="ctr"/>
            <a:r>
              <a:rPr lang="de-DE" sz="1200" dirty="0" smtClean="0">
                <a:solidFill>
                  <a:schemeClr val="accent2"/>
                </a:solidFill>
                <a:latin typeface="Source Sans Pro" panose="020B0503030403020204" pitchFamily="34" charset="0"/>
              </a:rPr>
              <a:t>=&gt;</a:t>
            </a:r>
          </a:p>
          <a:p>
            <a:pPr algn="ctr"/>
            <a:r>
              <a:rPr lang="de-DE" sz="1200" dirty="0" smtClean="0">
                <a:solidFill>
                  <a:schemeClr val="accent2"/>
                </a:solidFill>
                <a:latin typeface="Source Sans Pro" panose="020B0503030403020204" pitchFamily="34" charset="0"/>
              </a:rPr>
              <a:t>Wir notieren ein </a:t>
            </a:r>
            <a:r>
              <a:rPr lang="de-DE" sz="1200" b="1" dirty="0" smtClean="0">
                <a:solidFill>
                  <a:schemeClr val="accent2"/>
                </a:solidFill>
                <a:latin typeface="Source Sans Pro" panose="020B0503030403020204" pitchFamily="34" charset="0"/>
              </a:rPr>
              <a:t>„n“</a:t>
            </a:r>
            <a:endParaRPr lang="de-DE" sz="1200" b="1" dirty="0">
              <a:solidFill>
                <a:schemeClr val="accent2"/>
              </a:solidFill>
              <a:latin typeface="Source Sans Pro" panose="020B0503030403020204" pitchFamily="34" charset="0"/>
            </a:endParaRPr>
          </a:p>
        </p:txBody>
      </p:sp>
      <p:cxnSp>
        <p:nvCxnSpPr>
          <p:cNvPr id="17" name="Gerade Verbindung mit Pfeil 16"/>
          <p:cNvCxnSpPr/>
          <p:nvPr/>
        </p:nvCxnSpPr>
        <p:spPr>
          <a:xfrm>
            <a:off x="6010275" y="2609850"/>
            <a:ext cx="1527024" cy="78171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60996" cy="461665"/>
          </a:xfrm>
          <a:prstGeom prst="rect">
            <a:avLst/>
          </a:prstGeom>
          <a:noFill/>
        </p:spPr>
        <p:txBody>
          <a:bodyPr wrap="none" rtlCol="0">
            <a:spAutoFit/>
          </a:bodyPr>
          <a:lstStyle/>
          <a:p>
            <a:r>
              <a:rPr lang="de-DE" sz="2400" b="1" dirty="0">
                <a:solidFill>
                  <a:schemeClr val="accent2"/>
                </a:solidFill>
                <a:latin typeface="Source Sans Pro" panose="020B0503030403020204" pitchFamily="34" charset="0"/>
              </a:rPr>
              <a:t>n</a:t>
            </a:r>
          </a:p>
        </p:txBody>
      </p:sp>
    </p:spTree>
    <p:extLst>
      <p:ext uri="{BB962C8B-B14F-4D97-AF65-F5344CB8AC3E}">
        <p14:creationId xmlns:p14="http://schemas.microsoft.com/office/powerpoint/2010/main" val="328462240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(3)</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Verein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Mitglied</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8" name="Textfeld 17"/>
          <p:cNvSpPr txBox="1"/>
          <p:nvPr/>
        </p:nvSpPr>
        <p:spPr>
          <a:xfrm>
            <a:off x="8164772" y="4005752"/>
            <a:ext cx="2238375" cy="1200329"/>
          </a:xfrm>
          <a:prstGeom prst="rect">
            <a:avLst/>
          </a:prstGeom>
          <a:noFill/>
          <a:ln>
            <a:solidFill>
              <a:schemeClr val="accent2"/>
            </a:solidFill>
          </a:ln>
        </p:spPr>
        <p:txBody>
          <a:bodyPr wrap="square" rtlCol="0">
            <a:spAutoFit/>
          </a:bodyPr>
          <a:lstStyle/>
          <a:p>
            <a:pPr algn="ctr"/>
            <a:r>
              <a:rPr lang="de-DE" dirty="0" smtClean="0">
                <a:solidFill>
                  <a:schemeClr val="accent2"/>
                </a:solidFill>
                <a:latin typeface="Source Sans Pro" panose="020B0503030403020204" pitchFamily="34" charset="0"/>
              </a:rPr>
              <a:t>Angenommen wir </a:t>
            </a:r>
          </a:p>
          <a:p>
            <a:pPr algn="ctr"/>
            <a:r>
              <a:rPr lang="de-DE" dirty="0">
                <a:solidFill>
                  <a:schemeClr val="accent2"/>
                </a:solidFill>
                <a:latin typeface="Source Sans Pro" panose="020B0503030403020204" pitchFamily="34" charset="0"/>
              </a:rPr>
              <a:t>w</a:t>
            </a:r>
            <a:r>
              <a:rPr lang="de-DE" dirty="0" smtClean="0">
                <a:solidFill>
                  <a:schemeClr val="accent2"/>
                </a:solidFill>
                <a:latin typeface="Source Sans Pro" panose="020B0503030403020204" pitchFamily="34" charset="0"/>
              </a:rPr>
              <a:t>ählen uns eine </a:t>
            </a:r>
          </a:p>
          <a:p>
            <a:pPr algn="ctr"/>
            <a:r>
              <a:rPr lang="de-DE" b="1" dirty="0" smtClean="0">
                <a:solidFill>
                  <a:schemeClr val="accent2"/>
                </a:solidFill>
                <a:latin typeface="Source Sans Pro" panose="020B0503030403020204" pitchFamily="34" charset="0"/>
              </a:rPr>
              <a:t>beliebige</a:t>
            </a:r>
            <a:r>
              <a:rPr lang="de-DE" dirty="0" smtClean="0">
                <a:solidFill>
                  <a:schemeClr val="accent2"/>
                </a:solidFill>
                <a:latin typeface="Source Sans Pro" panose="020B0503030403020204" pitchFamily="34" charset="0"/>
              </a:rPr>
              <a:t> Entität </a:t>
            </a:r>
          </a:p>
          <a:p>
            <a:pPr algn="ctr"/>
            <a:r>
              <a:rPr lang="de-DE" dirty="0" smtClean="0">
                <a:solidFill>
                  <a:schemeClr val="accent2"/>
                </a:solidFill>
                <a:latin typeface="Source Sans Pro" panose="020B0503030403020204" pitchFamily="34" charset="0"/>
              </a:rPr>
              <a:t>vom Typ Verein …</a:t>
            </a:r>
            <a:endParaRPr lang="de-DE"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84113758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(3)</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Verein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Mitglied</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8" name="Textfeld 17"/>
          <p:cNvSpPr txBox="1"/>
          <p:nvPr/>
        </p:nvSpPr>
        <p:spPr>
          <a:xfrm>
            <a:off x="8164772" y="4005752"/>
            <a:ext cx="2238375" cy="1200329"/>
          </a:xfrm>
          <a:prstGeom prst="rect">
            <a:avLst/>
          </a:prstGeom>
          <a:noFill/>
          <a:ln>
            <a:solidFill>
              <a:schemeClr val="tx1"/>
            </a:solidFill>
          </a:ln>
        </p:spPr>
        <p:txBody>
          <a:bodyPr wrap="square" rtlCol="0">
            <a:spAutoFit/>
          </a:bodyPr>
          <a:lstStyle/>
          <a:p>
            <a:pPr algn="ctr"/>
            <a:r>
              <a:rPr lang="de-DE" dirty="0" smtClean="0">
                <a:latin typeface="Source Sans Pro" panose="020B0503030403020204" pitchFamily="34" charset="0"/>
              </a:rPr>
              <a:t>Angenommen wir </a:t>
            </a:r>
          </a:p>
          <a:p>
            <a:pPr algn="ctr"/>
            <a:r>
              <a:rPr lang="de-DE" dirty="0">
                <a:latin typeface="Source Sans Pro" panose="020B0503030403020204" pitchFamily="34" charset="0"/>
              </a:rPr>
              <a:t>w</a:t>
            </a:r>
            <a:r>
              <a:rPr lang="de-DE" dirty="0" smtClean="0">
                <a:latin typeface="Source Sans Pro" panose="020B0503030403020204" pitchFamily="34" charset="0"/>
              </a:rPr>
              <a:t>ählen uns eine </a:t>
            </a:r>
          </a:p>
          <a:p>
            <a:pPr algn="ctr"/>
            <a:r>
              <a:rPr lang="de-DE" b="1" dirty="0" smtClean="0">
                <a:latin typeface="Source Sans Pro" panose="020B0503030403020204" pitchFamily="34" charset="0"/>
              </a:rPr>
              <a:t>beliebige</a:t>
            </a:r>
            <a:r>
              <a:rPr lang="de-DE" dirty="0" smtClean="0">
                <a:latin typeface="Source Sans Pro" panose="020B0503030403020204" pitchFamily="34" charset="0"/>
              </a:rPr>
              <a:t> Entität </a:t>
            </a:r>
          </a:p>
          <a:p>
            <a:pPr algn="ctr"/>
            <a:r>
              <a:rPr lang="de-DE" dirty="0" smtClean="0">
                <a:latin typeface="Source Sans Pro" panose="020B0503030403020204" pitchFamily="34" charset="0"/>
              </a:rPr>
              <a:t>vom Typ Verein …</a:t>
            </a:r>
            <a:endParaRPr lang="de-DE" dirty="0">
              <a:latin typeface="Source Sans Pro" panose="020B0503030403020204" pitchFamily="34" charset="0"/>
            </a:endParaRPr>
          </a:p>
        </p:txBody>
      </p:sp>
      <p:sp>
        <p:nvSpPr>
          <p:cNvPr id="14" name="Nach unten gekrümmter Pfeil 13"/>
          <p:cNvSpPr/>
          <p:nvPr/>
        </p:nvSpPr>
        <p:spPr>
          <a:xfrm rot="10800000">
            <a:off x="3761405" y="5257188"/>
            <a:ext cx="4679593" cy="723900"/>
          </a:xfrm>
          <a:prstGeom prst="curved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4683535" y="5208389"/>
            <a:ext cx="2858536" cy="461665"/>
          </a:xfrm>
          <a:prstGeom prst="rect">
            <a:avLst/>
          </a:prstGeom>
          <a:noFill/>
          <a:ln>
            <a:solidFill>
              <a:schemeClr val="accent2"/>
            </a:solidFill>
          </a:ln>
        </p:spPr>
        <p:txBody>
          <a:bodyPr wrap="square" rtlCol="0">
            <a:spAutoFit/>
          </a:bodyPr>
          <a:lstStyle/>
          <a:p>
            <a:pPr algn="ctr"/>
            <a:r>
              <a:rPr lang="de-DE" sz="1200" dirty="0" smtClean="0">
                <a:solidFill>
                  <a:schemeClr val="accent2"/>
                </a:solidFill>
                <a:latin typeface="Source Sans Pro" panose="020B0503030403020204" pitchFamily="34" charset="0"/>
              </a:rPr>
              <a:t>… kann in diesem Verein dann</a:t>
            </a:r>
          </a:p>
          <a:p>
            <a:pPr algn="ctr"/>
            <a:r>
              <a:rPr lang="de-DE" sz="1200" b="1" dirty="0" smtClean="0">
                <a:solidFill>
                  <a:schemeClr val="accent2"/>
                </a:solidFill>
                <a:latin typeface="Source Sans Pro" panose="020B0503030403020204" pitchFamily="34" charset="0"/>
              </a:rPr>
              <a:t>höchstens 1 </a:t>
            </a:r>
            <a:r>
              <a:rPr lang="de-DE" sz="1200" dirty="0" smtClean="0">
                <a:solidFill>
                  <a:schemeClr val="accent2"/>
                </a:solidFill>
                <a:latin typeface="Source Sans Pro" panose="020B0503030403020204" pitchFamily="34" charset="0"/>
              </a:rPr>
              <a:t>Person Mitglied sein?</a:t>
            </a:r>
            <a:endParaRPr lang="de-DE" sz="1200"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93814850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 der Kardinalitäten -&gt; Beispiel (3)</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Verein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Mitglied</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8" name="Textfeld 17"/>
          <p:cNvSpPr txBox="1"/>
          <p:nvPr/>
        </p:nvSpPr>
        <p:spPr>
          <a:xfrm>
            <a:off x="8164772" y="4005752"/>
            <a:ext cx="2238375" cy="1200329"/>
          </a:xfrm>
          <a:prstGeom prst="rect">
            <a:avLst/>
          </a:prstGeom>
          <a:noFill/>
          <a:ln>
            <a:solidFill>
              <a:schemeClr val="tx1"/>
            </a:solidFill>
          </a:ln>
        </p:spPr>
        <p:txBody>
          <a:bodyPr wrap="square" rtlCol="0">
            <a:spAutoFit/>
          </a:bodyPr>
          <a:lstStyle/>
          <a:p>
            <a:pPr algn="ctr"/>
            <a:r>
              <a:rPr lang="de-DE" dirty="0" smtClean="0"/>
              <a:t>Angenommen wir </a:t>
            </a:r>
          </a:p>
          <a:p>
            <a:pPr algn="ctr"/>
            <a:r>
              <a:rPr lang="de-DE" dirty="0"/>
              <a:t>w</a:t>
            </a:r>
            <a:r>
              <a:rPr lang="de-DE" dirty="0" smtClean="0"/>
              <a:t>ählen uns eine </a:t>
            </a:r>
          </a:p>
          <a:p>
            <a:pPr algn="ctr"/>
            <a:r>
              <a:rPr lang="de-DE" b="1" dirty="0" smtClean="0"/>
              <a:t>beliebige</a:t>
            </a:r>
            <a:r>
              <a:rPr lang="de-DE" dirty="0" smtClean="0"/>
              <a:t> Entität </a:t>
            </a:r>
          </a:p>
          <a:p>
            <a:pPr algn="ctr"/>
            <a:r>
              <a:rPr lang="de-DE" dirty="0" smtClean="0"/>
              <a:t>vom Typ Verein …</a:t>
            </a:r>
            <a:endParaRPr lang="de-DE" dirty="0"/>
          </a:p>
        </p:txBody>
      </p:sp>
      <p:sp>
        <p:nvSpPr>
          <p:cNvPr id="14" name="Nach unten gekrümmter Pfeil 13"/>
          <p:cNvSpPr/>
          <p:nvPr/>
        </p:nvSpPr>
        <p:spPr>
          <a:xfrm rot="10800000">
            <a:off x="3761405" y="5257188"/>
            <a:ext cx="4679593" cy="723900"/>
          </a:xfrm>
          <a:prstGeom prst="curved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p:cNvSpPr txBox="1"/>
          <p:nvPr/>
        </p:nvSpPr>
        <p:spPr>
          <a:xfrm>
            <a:off x="4683535" y="5208389"/>
            <a:ext cx="2858536" cy="461665"/>
          </a:xfrm>
          <a:prstGeom prst="rect">
            <a:avLst/>
          </a:prstGeom>
          <a:noFill/>
          <a:ln>
            <a:solidFill>
              <a:schemeClr val="tx1"/>
            </a:solidFill>
          </a:ln>
        </p:spPr>
        <p:txBody>
          <a:bodyPr wrap="square" rtlCol="0">
            <a:spAutoFit/>
          </a:bodyPr>
          <a:lstStyle/>
          <a:p>
            <a:pPr algn="ctr"/>
            <a:r>
              <a:rPr lang="de-DE" sz="1200" dirty="0" smtClean="0">
                <a:latin typeface="Source Sans Pro" panose="020B0503030403020204" pitchFamily="34" charset="0"/>
              </a:rPr>
              <a:t>… kann in diesem Verein dann</a:t>
            </a:r>
          </a:p>
          <a:p>
            <a:pPr algn="ctr"/>
            <a:r>
              <a:rPr lang="de-DE" sz="1200" b="1" dirty="0" smtClean="0">
                <a:latin typeface="Source Sans Pro" panose="020B0503030403020204" pitchFamily="34" charset="0"/>
              </a:rPr>
              <a:t>höchstens 1 </a:t>
            </a:r>
            <a:r>
              <a:rPr lang="de-DE" sz="1200" dirty="0" smtClean="0">
                <a:latin typeface="Source Sans Pro" panose="020B0503030403020204" pitchFamily="34" charset="0"/>
              </a:rPr>
              <a:t>Person Mitglied sein?</a:t>
            </a:r>
            <a:endParaRPr lang="de-DE" sz="1200" dirty="0">
              <a:latin typeface="Source Sans Pro" panose="020B0503030403020204" pitchFamily="34" charset="0"/>
            </a:endParaRPr>
          </a:p>
        </p:txBody>
      </p:sp>
      <p:sp>
        <p:nvSpPr>
          <p:cNvPr id="16" name="Textfeld 15"/>
          <p:cNvSpPr txBox="1"/>
          <p:nvPr/>
        </p:nvSpPr>
        <p:spPr>
          <a:xfrm>
            <a:off x="4683535" y="4213211"/>
            <a:ext cx="2858536" cy="892552"/>
          </a:xfrm>
          <a:prstGeom prst="rect">
            <a:avLst/>
          </a:prstGeom>
          <a:noFill/>
          <a:ln>
            <a:solidFill>
              <a:schemeClr val="accent2"/>
            </a:solidFill>
          </a:ln>
        </p:spPr>
        <p:txBody>
          <a:bodyPr wrap="square" rtlCol="0">
            <a:spAutoFit/>
          </a:bodyPr>
          <a:lstStyle/>
          <a:p>
            <a:pPr lvl="0" algn="ctr"/>
            <a:r>
              <a:rPr lang="de-DE" sz="1200" dirty="0">
                <a:solidFill>
                  <a:srgbClr val="FE5000"/>
                </a:solidFill>
                <a:latin typeface="Source Sans Pro" panose="020B0503030403020204" pitchFamily="34" charset="0"/>
              </a:rPr>
              <a:t>Antwort: </a:t>
            </a:r>
            <a:r>
              <a:rPr lang="de-DE" sz="1200" b="1" dirty="0" smtClean="0">
                <a:solidFill>
                  <a:srgbClr val="FE5000"/>
                </a:solidFill>
                <a:latin typeface="Source Sans Pro" panose="020B0503030403020204" pitchFamily="34" charset="0"/>
              </a:rPr>
              <a:t>„Nein“</a:t>
            </a:r>
          </a:p>
          <a:p>
            <a:pPr lvl="0" algn="ctr"/>
            <a:r>
              <a:rPr lang="de-DE" sz="800" dirty="0" smtClean="0">
                <a:solidFill>
                  <a:srgbClr val="FE5000"/>
                </a:solidFill>
                <a:latin typeface="Source Sans Pro" panose="020B0503030403020204" pitchFamily="34" charset="0"/>
              </a:rPr>
              <a:t>(denn natürlich können mehrere Personen Mitglied sein)</a:t>
            </a:r>
          </a:p>
          <a:p>
            <a:pPr lvl="0" algn="ctr"/>
            <a:r>
              <a:rPr lang="de-DE" sz="1200" dirty="0" smtClean="0">
                <a:solidFill>
                  <a:srgbClr val="FE5000"/>
                </a:solidFill>
                <a:latin typeface="Source Sans Pro" panose="020B0503030403020204" pitchFamily="34" charset="0"/>
              </a:rPr>
              <a:t>=&gt;</a:t>
            </a:r>
            <a:endParaRPr lang="de-DE" sz="1200" dirty="0">
              <a:solidFill>
                <a:srgbClr val="FE5000"/>
              </a:solidFill>
              <a:latin typeface="Source Sans Pro" panose="020B0503030403020204" pitchFamily="34" charset="0"/>
            </a:endParaRPr>
          </a:p>
          <a:p>
            <a:pPr lvl="0" algn="ctr"/>
            <a:r>
              <a:rPr lang="de-DE" sz="1200" dirty="0">
                <a:solidFill>
                  <a:srgbClr val="FE5000"/>
                </a:solidFill>
                <a:latin typeface="Source Sans Pro" panose="020B0503030403020204" pitchFamily="34" charset="0"/>
              </a:rPr>
              <a:t>Wir notieren </a:t>
            </a:r>
            <a:r>
              <a:rPr lang="de-DE" sz="1200" dirty="0" smtClean="0">
                <a:solidFill>
                  <a:srgbClr val="FE5000"/>
                </a:solidFill>
                <a:latin typeface="Source Sans Pro" panose="020B0503030403020204" pitchFamily="34" charset="0"/>
              </a:rPr>
              <a:t>ein </a:t>
            </a:r>
            <a:r>
              <a:rPr lang="de-DE" sz="1200" b="1" dirty="0" smtClean="0">
                <a:solidFill>
                  <a:srgbClr val="FE5000"/>
                </a:solidFill>
                <a:latin typeface="Source Sans Pro" panose="020B0503030403020204" pitchFamily="34" charset="0"/>
              </a:rPr>
              <a:t>„m“ </a:t>
            </a:r>
          </a:p>
          <a:p>
            <a:pPr lvl="0" algn="ctr"/>
            <a:r>
              <a:rPr lang="de-DE" sz="800" dirty="0" smtClean="0">
                <a:solidFill>
                  <a:srgbClr val="FE5000"/>
                </a:solidFill>
                <a:latin typeface="Source Sans Pro" panose="020B0503030403020204" pitchFamily="34" charset="0"/>
              </a:rPr>
              <a:t>(denn die andere Entität ist schon „n“)</a:t>
            </a:r>
            <a:endParaRPr lang="de-DE" sz="800" dirty="0">
              <a:solidFill>
                <a:srgbClr val="FE5000"/>
              </a:solidFill>
              <a:latin typeface="Source Sans Pro" panose="020B0503030403020204" pitchFamily="34" charset="0"/>
            </a:endParaRPr>
          </a:p>
        </p:txBody>
      </p:sp>
      <p:cxnSp>
        <p:nvCxnSpPr>
          <p:cNvPr id="17" name="Gerade Verbindung mit Pfeil 16"/>
          <p:cNvCxnSpPr/>
          <p:nvPr/>
        </p:nvCxnSpPr>
        <p:spPr>
          <a:xfrm flipH="1" flipV="1">
            <a:off x="3876675" y="3734452"/>
            <a:ext cx="741982" cy="440949"/>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449162"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m</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286409884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Ermittlung</a:t>
            </a:r>
            <a:r>
              <a:rPr lang="de-DE" dirty="0" smtClean="0"/>
              <a:t> der Kardinalitäten -&gt; Beispiel (3)</a:t>
            </a:r>
            <a:endParaRPr lang="de-DE" sz="2700" b="0" i="1" dirty="0"/>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Verein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Mitglied</a:t>
            </a:r>
            <a:endParaRPr kumimoji="0" lang="de-DE" b="0"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9" name="Textfeld 18"/>
          <p:cNvSpPr txBox="1"/>
          <p:nvPr/>
        </p:nvSpPr>
        <p:spPr>
          <a:xfrm>
            <a:off x="3536303" y="3281294"/>
            <a:ext cx="449162" cy="461665"/>
          </a:xfrm>
          <a:prstGeom prst="rect">
            <a:avLst/>
          </a:prstGeom>
          <a:noFill/>
        </p:spPr>
        <p:txBody>
          <a:bodyPr wrap="none" rtlCol="0">
            <a:spAutoFit/>
          </a:bodyPr>
          <a:lstStyle/>
          <a:p>
            <a:r>
              <a:rPr lang="de-DE" sz="2400" b="1" dirty="0" smtClean="0">
                <a:latin typeface="Source Sans Pro" panose="020B0503030403020204" pitchFamily="34" charset="0"/>
              </a:rPr>
              <a:t>m</a:t>
            </a:r>
            <a:endParaRPr lang="de-DE" sz="2400" b="1" dirty="0">
              <a:latin typeface="Source Sans Pro" panose="020B0503030403020204" pitchFamily="34" charset="0"/>
            </a:endParaRPr>
          </a:p>
        </p:txBody>
      </p:sp>
      <p:sp>
        <p:nvSpPr>
          <p:cNvPr id="14" name="Textfeld 13"/>
          <p:cNvSpPr txBox="1"/>
          <p:nvPr/>
        </p:nvSpPr>
        <p:spPr>
          <a:xfrm>
            <a:off x="3614510" y="4504154"/>
            <a:ext cx="4272324" cy="553998"/>
          </a:xfrm>
          <a:prstGeom prst="rect">
            <a:avLst/>
          </a:prstGeom>
          <a:noFill/>
        </p:spPr>
        <p:txBody>
          <a:bodyPr wrap="none" rtlCol="0">
            <a:spAutoFit/>
          </a:bodyPr>
          <a:lstStyle/>
          <a:p>
            <a:pPr algn="ctr"/>
            <a:r>
              <a:rPr lang="de-DE" dirty="0" smtClean="0">
                <a:latin typeface="Source Sans Pro" panose="020B0503030403020204" pitchFamily="34" charset="0"/>
              </a:rPr>
              <a:t>Es handelt sich also um eine </a:t>
            </a:r>
            <a:r>
              <a:rPr lang="de-DE" b="1" dirty="0">
                <a:solidFill>
                  <a:schemeClr val="accent2"/>
                </a:solidFill>
                <a:latin typeface="Source Sans Pro" panose="020B0503030403020204" pitchFamily="34" charset="0"/>
              </a:rPr>
              <a:t>m</a:t>
            </a:r>
            <a:r>
              <a:rPr lang="de-DE" b="1" dirty="0" smtClean="0">
                <a:solidFill>
                  <a:schemeClr val="accent2"/>
                </a:solidFill>
                <a:latin typeface="Source Sans Pro" panose="020B0503030403020204" pitchFamily="34" charset="0"/>
              </a:rPr>
              <a:t>:n</a:t>
            </a:r>
            <a:r>
              <a:rPr lang="de-DE" b="1" dirty="0" smtClean="0">
                <a:latin typeface="Source Sans Pro" panose="020B0503030403020204" pitchFamily="34" charset="0"/>
              </a:rPr>
              <a:t>-Relation</a:t>
            </a:r>
          </a:p>
          <a:p>
            <a:pPr algn="ctr"/>
            <a:r>
              <a:rPr lang="de-DE" sz="1200" dirty="0" smtClean="0">
                <a:latin typeface="Source Sans Pro" panose="020B0503030403020204" pitchFamily="34" charset="0"/>
              </a:rPr>
              <a:t>(Person und Verein haben beide eine Kardinalität </a:t>
            </a:r>
            <a:r>
              <a:rPr lang="de-DE" sz="1200" b="1" dirty="0" smtClean="0">
                <a:latin typeface="Source Sans Pro" panose="020B0503030403020204" pitchFamily="34" charset="0"/>
              </a:rPr>
              <a:t>ungleich 1</a:t>
            </a:r>
            <a:r>
              <a:rPr lang="de-DE" sz="1200" dirty="0" smtClean="0">
                <a:latin typeface="Source Sans Pro" panose="020B0503030403020204" pitchFamily="34" charset="0"/>
              </a:rPr>
              <a:t>)</a:t>
            </a:r>
            <a:endParaRPr lang="de-DE" sz="1200" dirty="0">
              <a:latin typeface="Source Sans Pro" panose="020B0503030403020204" pitchFamily="34" charset="0"/>
            </a:endParaRPr>
          </a:p>
        </p:txBody>
      </p:sp>
    </p:spTree>
    <p:extLst>
      <p:ext uri="{BB962C8B-B14F-4D97-AF65-F5344CB8AC3E}">
        <p14:creationId xmlns:p14="http://schemas.microsoft.com/office/powerpoint/2010/main" val="169419320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„Stolperfallen“</a:t>
            </a:r>
          </a:p>
          <a:p>
            <a:r>
              <a:rPr lang="de-DE" sz="3200" dirty="0" smtClean="0">
                <a:latin typeface="Source Sans Pro" panose="020B0503030403020204" pitchFamily="34" charset="0"/>
              </a:rPr>
              <a:t>	Exemplar versus Typ </a:t>
            </a:r>
          </a:p>
          <a:p>
            <a:r>
              <a:rPr lang="de-DE" sz="4000" dirty="0"/>
              <a:t>	</a:t>
            </a:r>
          </a:p>
        </p:txBody>
      </p:sp>
    </p:spTree>
    <p:extLst>
      <p:ext uri="{BB962C8B-B14F-4D97-AF65-F5344CB8AC3E}">
        <p14:creationId xmlns:p14="http://schemas.microsoft.com/office/powerpoint/2010/main" val="177915251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„Exemplar versus Typ“</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Buch</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0C0"/>
                </a:solidFill>
                <a:latin typeface="Source Sans Pro" panose="020B0503030403020204" pitchFamily="34" charset="0"/>
              </a:rPr>
              <a:t>kaufen</a:t>
            </a:r>
            <a:endParaRPr kumimoji="0" lang="de-DE"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3548482" y="1430065"/>
            <a:ext cx="4379725" cy="646331"/>
          </a:xfrm>
          <a:prstGeom prst="rect">
            <a:avLst/>
          </a:prstGeom>
          <a:noFill/>
        </p:spPr>
        <p:txBody>
          <a:bodyPr wrap="none" rtlCol="0">
            <a:spAutoFit/>
          </a:bodyPr>
          <a:lstStyle/>
          <a:p>
            <a:pPr algn="ctr"/>
            <a:r>
              <a:rPr lang="de-DE" dirty="0" smtClean="0">
                <a:latin typeface="Source Sans Pro" panose="020B0503030403020204" pitchFamily="34" charset="0"/>
              </a:rPr>
              <a:t>Sicherlich unbestritten ist, dass eine Person</a:t>
            </a:r>
          </a:p>
          <a:p>
            <a:pPr algn="ctr"/>
            <a:r>
              <a:rPr lang="de-DE" b="1" dirty="0" smtClean="0">
                <a:solidFill>
                  <a:schemeClr val="accent2"/>
                </a:solidFill>
                <a:latin typeface="Source Sans Pro" panose="020B0503030403020204" pitchFamily="34" charset="0"/>
              </a:rPr>
              <a:t>mehrere</a:t>
            </a:r>
            <a:r>
              <a:rPr lang="de-DE" dirty="0" smtClean="0">
                <a:latin typeface="Source Sans Pro" panose="020B0503030403020204" pitchFamily="34" charset="0"/>
              </a:rPr>
              <a:t> Bücher kaufen kann.</a:t>
            </a:r>
            <a:endParaRPr lang="de-DE" sz="1200" dirty="0">
              <a:latin typeface="Source Sans Pro" panose="020B0503030403020204" pitchFamily="34" charset="0"/>
            </a:endParaRPr>
          </a:p>
        </p:txBody>
      </p:sp>
      <p:sp>
        <p:nvSpPr>
          <p:cNvPr id="15" name="Textfeld 14"/>
          <p:cNvSpPr txBox="1"/>
          <p:nvPr/>
        </p:nvSpPr>
        <p:spPr>
          <a:xfrm>
            <a:off x="7590576" y="3272787"/>
            <a:ext cx="360996"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n</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27475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a:latin typeface="Source Sans Pro" panose="020B0503030403020204" pitchFamily="34" charset="0"/>
              </a:rPr>
              <a:t>„Exemplar versus Typ“</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600" dirty="0">
                <a:solidFill>
                  <a:srgbClr val="0071B2"/>
                </a:solidFill>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600" dirty="0" smtClean="0">
                <a:solidFill>
                  <a:srgbClr val="0071B2"/>
                </a:solidFill>
                <a:latin typeface="Source Sans Pro" panose="020B0503030403020204" pitchFamily="34" charset="0"/>
              </a:rPr>
              <a:t>Buch</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dirty="0" smtClean="0">
                <a:solidFill>
                  <a:srgbClr val="0070C0"/>
                </a:solidFill>
                <a:latin typeface="Source Sans Pro" panose="020B0503030403020204" pitchFamily="34" charset="0"/>
              </a:rPr>
              <a:t>kaufen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734496" cy="461665"/>
          </a:xfrm>
          <a:prstGeom prst="rect">
            <a:avLst/>
          </a:prstGeom>
          <a:noFill/>
        </p:spPr>
        <p:txBody>
          <a:bodyPr wrap="none" rtlCol="0">
            <a:spAutoFit/>
          </a:bodyPr>
          <a:lstStyle/>
          <a:p>
            <a:r>
              <a:rPr lang="de-DE" sz="2400" b="1" dirty="0" smtClean="0">
                <a:latin typeface="Source Sans Pro" panose="020B0503030403020204" pitchFamily="34" charset="0"/>
              </a:rPr>
              <a:t>?</a:t>
            </a:r>
            <a:r>
              <a:rPr lang="de-DE" sz="2400" b="1" dirty="0" smtClean="0">
                <a:solidFill>
                  <a:schemeClr val="accent2"/>
                </a:solidFill>
                <a:latin typeface="Source Sans Pro" panose="020B0503030403020204" pitchFamily="34" charset="0"/>
              </a:rPr>
              <a:t>m</a:t>
            </a:r>
            <a:r>
              <a:rPr lang="de-DE" sz="2400" b="1" dirty="0" smtClean="0">
                <a:latin typeface="Source Sans Pro" panose="020B0503030403020204" pitchFamily="34" charset="0"/>
              </a:rPr>
              <a:t>?</a:t>
            </a:r>
            <a:endParaRPr lang="de-DE" sz="2400" b="1" dirty="0">
              <a:latin typeface="Source Sans Pro" panose="020B0503030403020204" pitchFamily="34" charset="0"/>
            </a:endParaRPr>
          </a:p>
        </p:txBody>
      </p:sp>
      <p:sp>
        <p:nvSpPr>
          <p:cNvPr id="14" name="Textfeld 13"/>
          <p:cNvSpPr txBox="1"/>
          <p:nvPr/>
        </p:nvSpPr>
        <p:spPr>
          <a:xfrm>
            <a:off x="3838649" y="1430065"/>
            <a:ext cx="3799438" cy="646331"/>
          </a:xfrm>
          <a:prstGeom prst="rect">
            <a:avLst/>
          </a:prstGeom>
          <a:noFill/>
        </p:spPr>
        <p:txBody>
          <a:bodyPr wrap="none" rtlCol="0">
            <a:spAutoFit/>
          </a:bodyPr>
          <a:lstStyle/>
          <a:p>
            <a:pPr algn="ctr"/>
            <a:r>
              <a:rPr lang="de-DE" dirty="0" smtClean="0">
                <a:latin typeface="Source Sans Pro" panose="020B0503030403020204" pitchFamily="34" charset="0"/>
              </a:rPr>
              <a:t>Aber kann ein Buch von</a:t>
            </a:r>
          </a:p>
          <a:p>
            <a:pPr algn="ctr"/>
            <a:r>
              <a:rPr lang="de-DE" b="1" dirty="0">
                <a:solidFill>
                  <a:schemeClr val="accent2"/>
                </a:solidFill>
                <a:latin typeface="Source Sans Pro" panose="020B0503030403020204" pitchFamily="34" charset="0"/>
              </a:rPr>
              <a:t>m</a:t>
            </a:r>
            <a:r>
              <a:rPr lang="de-DE" b="1" dirty="0" smtClean="0">
                <a:solidFill>
                  <a:schemeClr val="accent2"/>
                </a:solidFill>
                <a:latin typeface="Source Sans Pro" panose="020B0503030403020204" pitchFamily="34" charset="0"/>
              </a:rPr>
              <a:t>ehreren</a:t>
            </a:r>
            <a:r>
              <a:rPr lang="de-DE" dirty="0" smtClean="0">
                <a:latin typeface="Source Sans Pro" panose="020B0503030403020204" pitchFamily="34" charset="0"/>
              </a:rPr>
              <a:t> Personen gekauft werden?</a:t>
            </a:r>
            <a:endParaRPr lang="de-DE" dirty="0">
              <a:latin typeface="Source Sans Pro" panose="020B0503030403020204" pitchFamily="34" charset="0"/>
            </a:endParaRPr>
          </a:p>
        </p:txBody>
      </p:sp>
      <p:sp>
        <p:nvSpPr>
          <p:cNvPr id="15" name="Textfeld 14"/>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Tree>
    <p:extLst>
      <p:ext uri="{BB962C8B-B14F-4D97-AF65-F5344CB8AC3E}">
        <p14:creationId xmlns:p14="http://schemas.microsoft.com/office/powerpoint/2010/main" val="207640385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a:latin typeface="Source Sans Pro" panose="020B0503030403020204" pitchFamily="34" charset="0"/>
              </a:rPr>
              <a:t>„Exemplar versus Typ“</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600" dirty="0">
                <a:solidFill>
                  <a:srgbClr val="0071B2"/>
                </a:solidFill>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600" dirty="0" smtClean="0">
                <a:solidFill>
                  <a:srgbClr val="0071B2"/>
                </a:solidFill>
                <a:latin typeface="Source Sans Pro" panose="020B0503030403020204" pitchFamily="34" charset="0"/>
              </a:rPr>
              <a:t>Buch</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dirty="0" smtClean="0">
                <a:solidFill>
                  <a:srgbClr val="0070C0"/>
                </a:solidFill>
                <a:latin typeface="Source Sans Pro" panose="020B0503030403020204" pitchFamily="34" charset="0"/>
              </a:rPr>
              <a:t>kaufen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734496" cy="830997"/>
          </a:xfrm>
          <a:prstGeom prst="rect">
            <a:avLst/>
          </a:prstGeom>
          <a:noFill/>
        </p:spPr>
        <p:txBody>
          <a:bodyPr wrap="none" rtlCol="0">
            <a:spAutoFit/>
          </a:bodyPr>
          <a:lstStyle/>
          <a:p>
            <a:r>
              <a:rPr lang="de-DE" sz="2400" b="1" dirty="0">
                <a:latin typeface="Source Sans Pro" panose="020B0503030403020204" pitchFamily="34" charset="0"/>
              </a:rPr>
              <a:t>?</a:t>
            </a:r>
            <a:r>
              <a:rPr lang="de-DE" sz="2400" b="1" dirty="0">
                <a:solidFill>
                  <a:schemeClr val="accent2"/>
                </a:solidFill>
                <a:latin typeface="Source Sans Pro" panose="020B0503030403020204" pitchFamily="34" charset="0"/>
              </a:rPr>
              <a:t>m</a:t>
            </a:r>
            <a:r>
              <a:rPr lang="de-DE" sz="2400" b="1" dirty="0">
                <a:latin typeface="Source Sans Pro" panose="020B0503030403020204" pitchFamily="34" charset="0"/>
              </a:rPr>
              <a:t>?</a:t>
            </a:r>
          </a:p>
          <a:p>
            <a:endParaRPr lang="de-DE" sz="2400" b="1" dirty="0"/>
          </a:p>
        </p:txBody>
      </p:sp>
      <p:sp>
        <p:nvSpPr>
          <p:cNvPr id="14" name="Textfeld 13"/>
          <p:cNvSpPr txBox="1"/>
          <p:nvPr/>
        </p:nvSpPr>
        <p:spPr>
          <a:xfrm>
            <a:off x="3735267" y="1430065"/>
            <a:ext cx="4006225" cy="923330"/>
          </a:xfrm>
          <a:prstGeom prst="rect">
            <a:avLst/>
          </a:prstGeom>
          <a:noFill/>
        </p:spPr>
        <p:txBody>
          <a:bodyPr wrap="none" rtlCol="0">
            <a:spAutoFit/>
          </a:bodyPr>
          <a:lstStyle/>
          <a:p>
            <a:pPr algn="ctr"/>
            <a:r>
              <a:rPr lang="de-DE" dirty="0" smtClean="0">
                <a:latin typeface="Source Sans Pro" panose="020B0503030403020204" pitchFamily="34" charset="0"/>
              </a:rPr>
              <a:t>Dies hängt davon ab, was der</a:t>
            </a:r>
          </a:p>
          <a:p>
            <a:pPr algn="ctr"/>
            <a:r>
              <a:rPr lang="de-DE" b="1" dirty="0" smtClean="0">
                <a:latin typeface="Source Sans Pro" panose="020B0503030403020204" pitchFamily="34" charset="0"/>
              </a:rPr>
              <a:t>Auftraggeber</a:t>
            </a:r>
            <a:r>
              <a:rPr lang="de-DE" dirty="0" smtClean="0">
                <a:latin typeface="Source Sans Pro" panose="020B0503030403020204" pitchFamily="34" charset="0"/>
              </a:rPr>
              <a:t> mit dem Entitätstyp </a:t>
            </a:r>
          </a:p>
          <a:p>
            <a:pPr algn="ctr"/>
            <a:r>
              <a:rPr lang="de-DE" dirty="0" smtClean="0">
                <a:latin typeface="Source Sans Pro" panose="020B0503030403020204" pitchFamily="34" charset="0"/>
              </a:rPr>
              <a:t>„</a:t>
            </a:r>
            <a:r>
              <a:rPr lang="de-DE" dirty="0">
                <a:latin typeface="Source Sans Pro" panose="020B0503030403020204" pitchFamily="34" charset="0"/>
              </a:rPr>
              <a:t>B</a:t>
            </a:r>
            <a:r>
              <a:rPr lang="de-DE" dirty="0" smtClean="0">
                <a:latin typeface="Source Sans Pro" panose="020B0503030403020204" pitchFamily="34" charset="0"/>
              </a:rPr>
              <a:t>uch“ tatsächlich ansprechen möchte:</a:t>
            </a:r>
            <a:endParaRPr lang="de-DE" dirty="0">
              <a:latin typeface="Source Sans Pro" panose="020B0503030403020204" pitchFamily="34" charset="0"/>
            </a:endParaRPr>
          </a:p>
        </p:txBody>
      </p:sp>
      <p:sp>
        <p:nvSpPr>
          <p:cNvPr id="15" name="Textfeld 14"/>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Tree>
    <p:extLst>
      <p:ext uri="{BB962C8B-B14F-4D97-AF65-F5344CB8AC3E}">
        <p14:creationId xmlns:p14="http://schemas.microsoft.com/office/powerpoint/2010/main" val="159034123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a:latin typeface="Source Sans Pro" panose="020B0503030403020204" pitchFamily="34" charset="0"/>
              </a:rPr>
              <a:t>„Exemplar versus Typ“</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600" dirty="0">
                <a:solidFill>
                  <a:srgbClr val="0071B2"/>
                </a:solidFill>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200" dirty="0" smtClean="0">
                <a:solidFill>
                  <a:srgbClr val="0071B2"/>
                </a:solidFill>
                <a:latin typeface="Source Sans Pro" panose="020B0503030403020204" pitchFamily="34" charset="0"/>
              </a:rPr>
              <a:t>Buch</a:t>
            </a:r>
            <a:r>
              <a:rPr lang="de-DE" sz="3200" dirty="0" smtClean="0">
                <a:solidFill>
                  <a:schemeClr val="accent2"/>
                </a:solidFill>
                <a:latin typeface="Source Sans Pro" panose="020B0503030403020204" pitchFamily="34" charset="0"/>
              </a:rPr>
              <a:t>exemplar</a:t>
            </a:r>
            <a:endParaRPr kumimoji="0" lang="de-DE" sz="3200" b="0" i="0" u="none" strike="noStrike" kern="1200" cap="none" spc="0" normalizeH="0" baseline="0" noProof="0" dirty="0">
              <a:ln>
                <a:noFill/>
              </a:ln>
              <a:solidFill>
                <a:schemeClr val="accent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dirty="0" smtClean="0">
                <a:solidFill>
                  <a:srgbClr val="0070C0"/>
                </a:solidFill>
                <a:latin typeface="Source Sans Pro" panose="020B0503030403020204" pitchFamily="34" charset="0"/>
              </a:rPr>
              <a:t>kaufen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46570" cy="830997"/>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1</a:t>
            </a:r>
            <a:endParaRPr lang="de-DE" sz="2400" b="1" dirty="0">
              <a:latin typeface="Source Sans Pro" panose="020B0503030403020204" pitchFamily="34" charset="0"/>
            </a:endParaRPr>
          </a:p>
          <a:p>
            <a:endParaRPr lang="de-DE" sz="2400" b="1" dirty="0"/>
          </a:p>
        </p:txBody>
      </p:sp>
      <p:sp>
        <p:nvSpPr>
          <p:cNvPr id="14" name="Textfeld 13"/>
          <p:cNvSpPr txBox="1"/>
          <p:nvPr/>
        </p:nvSpPr>
        <p:spPr>
          <a:xfrm>
            <a:off x="3540493" y="1430065"/>
            <a:ext cx="4395755" cy="1292662"/>
          </a:xfrm>
          <a:prstGeom prst="rect">
            <a:avLst/>
          </a:prstGeom>
          <a:noFill/>
        </p:spPr>
        <p:txBody>
          <a:bodyPr wrap="none" rtlCol="0">
            <a:spAutoFit/>
          </a:bodyPr>
          <a:lstStyle/>
          <a:p>
            <a:pPr algn="ctr"/>
            <a:r>
              <a:rPr lang="de-DE" dirty="0" smtClean="0">
                <a:latin typeface="Source Sans Pro" panose="020B0503030403020204" pitchFamily="34" charset="0"/>
              </a:rPr>
              <a:t>Natürlich kann jedes einzelne </a:t>
            </a:r>
            <a:r>
              <a:rPr lang="de-DE" b="1" dirty="0" smtClean="0">
                <a:solidFill>
                  <a:schemeClr val="accent2"/>
                </a:solidFill>
                <a:latin typeface="Source Sans Pro" panose="020B0503030403020204" pitchFamily="34" charset="0"/>
              </a:rPr>
              <a:t>Exemplar</a:t>
            </a:r>
          </a:p>
          <a:p>
            <a:pPr algn="ctr"/>
            <a:r>
              <a:rPr lang="de-DE" dirty="0" smtClean="0">
                <a:latin typeface="Source Sans Pro" panose="020B0503030403020204" pitchFamily="34" charset="0"/>
              </a:rPr>
              <a:t>auch nur von </a:t>
            </a:r>
            <a:r>
              <a:rPr lang="de-DE" b="1" dirty="0" smtClean="0">
                <a:solidFill>
                  <a:schemeClr val="accent2"/>
                </a:solidFill>
                <a:latin typeface="Source Sans Pro" panose="020B0503030403020204" pitchFamily="34" charset="0"/>
              </a:rPr>
              <a:t>1 </a:t>
            </a:r>
            <a:r>
              <a:rPr lang="de-DE" b="1" dirty="0">
                <a:solidFill>
                  <a:schemeClr val="accent2"/>
                </a:solidFill>
                <a:latin typeface="Source Sans Pro" panose="020B0503030403020204" pitchFamily="34" charset="0"/>
              </a:rPr>
              <a:t>P</a:t>
            </a:r>
            <a:r>
              <a:rPr lang="de-DE" b="1" dirty="0" smtClean="0">
                <a:solidFill>
                  <a:schemeClr val="accent2"/>
                </a:solidFill>
                <a:latin typeface="Source Sans Pro" panose="020B0503030403020204" pitchFamily="34" charset="0"/>
              </a:rPr>
              <a:t>erson </a:t>
            </a:r>
            <a:r>
              <a:rPr lang="de-DE" dirty="0" smtClean="0">
                <a:latin typeface="Source Sans Pro" panose="020B0503030403020204" pitchFamily="34" charset="0"/>
              </a:rPr>
              <a:t>gekauft werden.</a:t>
            </a:r>
          </a:p>
          <a:p>
            <a:pPr algn="ctr"/>
            <a:endParaRPr lang="de-DE" sz="1400" dirty="0"/>
          </a:p>
          <a:p>
            <a:pPr algn="ctr"/>
            <a:r>
              <a:rPr lang="de-DE" sz="1400" dirty="0" smtClean="0">
                <a:latin typeface="Source Sans Pro" panose="020B0503030403020204" pitchFamily="34" charset="0"/>
              </a:rPr>
              <a:t>(das </a:t>
            </a:r>
            <a:r>
              <a:rPr lang="de-DE" sz="1400" b="1" dirty="0" smtClean="0">
                <a:latin typeface="Source Sans Pro" panose="020B0503030403020204" pitchFamily="34" charset="0"/>
              </a:rPr>
              <a:t>konkrete</a:t>
            </a:r>
            <a:r>
              <a:rPr lang="de-DE" sz="1400" dirty="0" smtClean="0">
                <a:latin typeface="Source Sans Pro" panose="020B0503030403020204" pitchFamily="34" charset="0"/>
              </a:rPr>
              <a:t> Buch, das man in die Hand nehmen kann,</a:t>
            </a:r>
          </a:p>
          <a:p>
            <a:pPr algn="ctr"/>
            <a:r>
              <a:rPr lang="de-DE" sz="1400" dirty="0">
                <a:latin typeface="Source Sans Pro" panose="020B0503030403020204" pitchFamily="34" charset="0"/>
              </a:rPr>
              <a:t>d</a:t>
            </a:r>
            <a:r>
              <a:rPr lang="de-DE" sz="1400" dirty="0" smtClean="0">
                <a:latin typeface="Source Sans Pro" panose="020B0503030403020204" pitchFamily="34" charset="0"/>
              </a:rPr>
              <a:t>as kann auch nur 1-mal verkauft werden)</a:t>
            </a:r>
          </a:p>
        </p:txBody>
      </p:sp>
      <p:sp>
        <p:nvSpPr>
          <p:cNvPr id="15" name="Textfeld 14"/>
          <p:cNvSpPr txBox="1"/>
          <p:nvPr/>
        </p:nvSpPr>
        <p:spPr>
          <a:xfrm>
            <a:off x="7590576" y="3272787"/>
            <a:ext cx="360996" cy="461665"/>
          </a:xfrm>
          <a:prstGeom prst="rect">
            <a:avLst/>
          </a:prstGeom>
          <a:noFill/>
        </p:spPr>
        <p:txBody>
          <a:bodyPr wrap="none" rtlCol="0">
            <a:spAutoFit/>
          </a:bodyPr>
          <a:lstStyle/>
          <a:p>
            <a:r>
              <a:rPr lang="de-DE" sz="2400" b="1" dirty="0">
                <a:latin typeface="Source Sans Pro" panose="020B0503030403020204" pitchFamily="34" charset="0"/>
              </a:rPr>
              <a:t>n</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4189994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a:latin typeface="Source Sans Pro" panose="020B0503030403020204" pitchFamily="34" charset="0"/>
              </a:rPr>
              <a:t>„Exemplar versus Typ“</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600" dirty="0">
                <a:solidFill>
                  <a:srgbClr val="0071B2"/>
                </a:solidFill>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200" dirty="0" smtClean="0">
                <a:solidFill>
                  <a:srgbClr val="0071B2"/>
                </a:solidFill>
                <a:latin typeface="Source Sans Pro" panose="020B0503030403020204" pitchFamily="34" charset="0"/>
              </a:rPr>
              <a:t>Buch</a:t>
            </a:r>
            <a:r>
              <a:rPr lang="de-DE" sz="3200" dirty="0" smtClean="0">
                <a:solidFill>
                  <a:schemeClr val="accent2"/>
                </a:solidFill>
                <a:latin typeface="Source Sans Pro" panose="020B0503030403020204" pitchFamily="34" charset="0"/>
              </a:rPr>
              <a:t>typ</a:t>
            </a:r>
            <a:endParaRPr kumimoji="0" lang="de-DE" sz="3200" b="0" i="0" u="none" strike="noStrike" kern="1200" cap="none" spc="0" normalizeH="0" baseline="0" noProof="0" dirty="0">
              <a:ln>
                <a:noFill/>
              </a:ln>
              <a:solidFill>
                <a:schemeClr val="accent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dirty="0" smtClean="0">
                <a:solidFill>
                  <a:srgbClr val="0070C0"/>
                </a:solidFill>
                <a:latin typeface="Source Sans Pro" panose="020B0503030403020204" pitchFamily="34" charset="0"/>
              </a:rPr>
              <a:t>kaufen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449162" cy="830997"/>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m</a:t>
            </a:r>
            <a:endParaRPr lang="de-DE" sz="2400" b="1" dirty="0">
              <a:latin typeface="Source Sans Pro" panose="020B0503030403020204" pitchFamily="34" charset="0"/>
            </a:endParaRPr>
          </a:p>
          <a:p>
            <a:endParaRPr lang="de-DE" sz="2400" b="1" dirty="0"/>
          </a:p>
        </p:txBody>
      </p:sp>
      <p:sp>
        <p:nvSpPr>
          <p:cNvPr id="14" name="Textfeld 13"/>
          <p:cNvSpPr txBox="1"/>
          <p:nvPr/>
        </p:nvSpPr>
        <p:spPr>
          <a:xfrm>
            <a:off x="3655932" y="1430065"/>
            <a:ext cx="4164923" cy="1723549"/>
          </a:xfrm>
          <a:prstGeom prst="rect">
            <a:avLst/>
          </a:prstGeom>
          <a:noFill/>
        </p:spPr>
        <p:txBody>
          <a:bodyPr wrap="none" rtlCol="0">
            <a:spAutoFit/>
          </a:bodyPr>
          <a:lstStyle/>
          <a:p>
            <a:pPr algn="ctr"/>
            <a:r>
              <a:rPr lang="de-DE" dirty="0" smtClean="0">
                <a:latin typeface="Source Sans Pro" panose="020B0503030403020204" pitchFamily="34" charset="0"/>
              </a:rPr>
              <a:t>Aber natürlich kann der selbe </a:t>
            </a:r>
            <a:r>
              <a:rPr lang="de-DE" b="1" dirty="0" smtClean="0">
                <a:solidFill>
                  <a:schemeClr val="accent2"/>
                </a:solidFill>
                <a:latin typeface="Source Sans Pro" panose="020B0503030403020204" pitchFamily="34" charset="0"/>
              </a:rPr>
              <a:t>Buchtyp</a:t>
            </a:r>
          </a:p>
          <a:p>
            <a:pPr algn="ctr"/>
            <a:r>
              <a:rPr lang="de-DE" dirty="0" smtClean="0">
                <a:latin typeface="Source Sans Pro" panose="020B0503030403020204" pitchFamily="34" charset="0"/>
              </a:rPr>
              <a:t>von </a:t>
            </a:r>
            <a:r>
              <a:rPr lang="de-DE" b="1" dirty="0" smtClean="0">
                <a:solidFill>
                  <a:schemeClr val="accent2"/>
                </a:solidFill>
                <a:latin typeface="Source Sans Pro" panose="020B0503030403020204" pitchFamily="34" charset="0"/>
              </a:rPr>
              <a:t>mehreren </a:t>
            </a:r>
            <a:r>
              <a:rPr lang="de-DE" dirty="0" smtClean="0">
                <a:latin typeface="Source Sans Pro" panose="020B0503030403020204" pitchFamily="34" charset="0"/>
              </a:rPr>
              <a:t>Personen gekauft werden.</a:t>
            </a:r>
          </a:p>
          <a:p>
            <a:pPr algn="ctr"/>
            <a:endParaRPr lang="de-DE" sz="800" dirty="0">
              <a:latin typeface="Source Sans Pro" panose="020B0503030403020204" pitchFamily="34" charset="0"/>
            </a:endParaRPr>
          </a:p>
          <a:p>
            <a:pPr algn="ctr"/>
            <a:r>
              <a:rPr lang="de-DE" sz="1200" dirty="0" smtClean="0">
                <a:latin typeface="Source Sans Pro" panose="020B0503030403020204" pitchFamily="34" charset="0"/>
              </a:rPr>
              <a:t>(Selbstverständlich können mehrere Personen den </a:t>
            </a:r>
            <a:r>
              <a:rPr lang="de-DE" sz="1200" b="1" dirty="0" smtClean="0">
                <a:latin typeface="Source Sans Pro" panose="020B0503030403020204" pitchFamily="34" charset="0"/>
              </a:rPr>
              <a:t>selben</a:t>
            </a:r>
          </a:p>
          <a:p>
            <a:pPr algn="ctr"/>
            <a:r>
              <a:rPr lang="de-DE" sz="1200" b="1" dirty="0" smtClean="0">
                <a:latin typeface="Source Sans Pro" panose="020B0503030403020204" pitchFamily="34" charset="0"/>
              </a:rPr>
              <a:t>Buchtitel/Buchtyp </a:t>
            </a:r>
            <a:r>
              <a:rPr lang="de-DE" sz="1200" dirty="0" smtClean="0">
                <a:latin typeface="Source Sans Pro" panose="020B0503030403020204" pitchFamily="34" charset="0"/>
              </a:rPr>
              <a:t>kaufen. Jeder bekommt zwar ein</a:t>
            </a:r>
          </a:p>
          <a:p>
            <a:pPr algn="ctr"/>
            <a:r>
              <a:rPr lang="de-DE" sz="1200" dirty="0" smtClean="0">
                <a:latin typeface="Source Sans Pro" panose="020B0503030403020204" pitchFamily="34" charset="0"/>
              </a:rPr>
              <a:t>eigenes Exemplar, aber alle haben nun „das selbe Buch“,</a:t>
            </a:r>
          </a:p>
          <a:p>
            <a:pPr algn="ctr"/>
            <a:r>
              <a:rPr lang="de-DE" sz="1200" dirty="0" smtClean="0">
                <a:latin typeface="Source Sans Pro" panose="020B0503030403020204" pitchFamily="34" charset="0"/>
              </a:rPr>
              <a:t>nämlich „</a:t>
            </a:r>
            <a:r>
              <a:rPr lang="de-DE" sz="1200" i="1" dirty="0" smtClean="0">
                <a:latin typeface="Source Sans Pro" panose="020B0503030403020204" pitchFamily="34" charset="0"/>
              </a:rPr>
              <a:t>Datenbanken sind toll“ </a:t>
            </a:r>
            <a:r>
              <a:rPr lang="de-DE" sz="1200" dirty="0" smtClean="0">
                <a:latin typeface="Source Sans Pro" panose="020B0503030403020204" pitchFamily="34" charset="0"/>
              </a:rPr>
              <a:t>im Bücherschrank stehen</a:t>
            </a:r>
            <a:r>
              <a:rPr lang="de-DE" sz="1200" dirty="0" smtClean="0">
                <a:latin typeface="Source Sans Pro" panose="020B0503030403020204" pitchFamily="34" charset="0"/>
                <a:sym typeface="Wingdings" panose="05000000000000000000" pitchFamily="2" charset="2"/>
              </a:rPr>
              <a:t>)</a:t>
            </a:r>
          </a:p>
          <a:p>
            <a:pPr algn="ctr"/>
            <a:r>
              <a:rPr lang="de-DE" sz="1400" dirty="0" smtClean="0">
                <a:sym typeface="Wingdings" panose="05000000000000000000" pitchFamily="2" charset="2"/>
              </a:rPr>
              <a:t></a:t>
            </a:r>
            <a:endParaRPr lang="de-DE" sz="1400" dirty="0" smtClean="0"/>
          </a:p>
        </p:txBody>
      </p:sp>
      <p:sp>
        <p:nvSpPr>
          <p:cNvPr id="15" name="Textfeld 14"/>
          <p:cNvSpPr txBox="1"/>
          <p:nvPr/>
        </p:nvSpPr>
        <p:spPr>
          <a:xfrm>
            <a:off x="7590576" y="3272787"/>
            <a:ext cx="360996" cy="461665"/>
          </a:xfrm>
          <a:prstGeom prst="rect">
            <a:avLst/>
          </a:prstGeom>
          <a:noFill/>
        </p:spPr>
        <p:txBody>
          <a:bodyPr wrap="none" rtlCol="0">
            <a:spAutoFit/>
          </a:bodyPr>
          <a:lstStyle/>
          <a:p>
            <a:r>
              <a:rPr lang="de-DE" sz="2400" b="1" dirty="0">
                <a:latin typeface="Source Sans Pro" panose="020B0503030403020204" pitchFamily="34" charset="0"/>
              </a:rPr>
              <a:t>n</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186757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a:latin typeface="Source Sans Pro" panose="020B0503030403020204" pitchFamily="34" charset="0"/>
              </a:rPr>
              <a:t>„Exemplar versus Typ“</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600" dirty="0">
                <a:solidFill>
                  <a:srgbClr val="0071B2"/>
                </a:solidFill>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sz="3200" dirty="0" smtClean="0">
                <a:solidFill>
                  <a:schemeClr val="accent2"/>
                </a:solidFill>
                <a:latin typeface="Source Sans Pro" panose="020B0503030403020204" pitchFamily="34" charset="0"/>
              </a:rPr>
              <a:t>?</a:t>
            </a:r>
            <a:r>
              <a:rPr lang="de-DE" sz="3200" dirty="0" smtClean="0">
                <a:solidFill>
                  <a:srgbClr val="0071B2"/>
                </a:solidFill>
                <a:latin typeface="Source Sans Pro" panose="020B0503030403020204" pitchFamily="34" charset="0"/>
              </a:rPr>
              <a:t>Buch</a:t>
            </a:r>
            <a:r>
              <a:rPr lang="de-DE" sz="3200" dirty="0" smtClean="0">
                <a:solidFill>
                  <a:schemeClr val="accent2"/>
                </a:solidFill>
                <a:latin typeface="Source Sans Pro" panose="020B0503030403020204" pitchFamily="34" charset="0"/>
              </a:rPr>
              <a:t>?</a:t>
            </a:r>
            <a:endParaRPr kumimoji="0" lang="de-DE" sz="3200" b="0" i="0" u="none" strike="noStrike" kern="1200" cap="none" spc="0" normalizeH="0" baseline="0" noProof="0" dirty="0">
              <a:ln>
                <a:noFill/>
              </a:ln>
              <a:solidFill>
                <a:schemeClr val="accent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de-DE" dirty="0" smtClean="0">
                <a:solidFill>
                  <a:srgbClr val="0070C0"/>
                </a:solidFill>
                <a:latin typeface="Source Sans Pro" panose="020B0503030403020204" pitchFamily="34" charset="0"/>
              </a:rPr>
              <a:t>kaufen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3663080" y="2804341"/>
            <a:ext cx="4150495" cy="307777"/>
          </a:xfrm>
          <a:prstGeom prst="rect">
            <a:avLst/>
          </a:prstGeom>
          <a:noFill/>
        </p:spPr>
        <p:txBody>
          <a:bodyPr wrap="none" rtlCol="0">
            <a:spAutoFit/>
          </a:bodyPr>
          <a:lstStyle/>
          <a:p>
            <a:pPr algn="ctr"/>
            <a:r>
              <a:rPr lang="de-DE" sz="1400" dirty="0" smtClean="0">
                <a:latin typeface="Source Sans Pro" panose="020B0503030403020204" pitchFamily="34" charset="0"/>
              </a:rPr>
              <a:t>Person kauft Buchexemplar ist also eine </a:t>
            </a:r>
            <a:r>
              <a:rPr lang="de-DE" sz="1400" b="1" dirty="0" smtClean="0">
                <a:solidFill>
                  <a:schemeClr val="accent2"/>
                </a:solidFill>
                <a:latin typeface="Source Sans Pro" panose="020B0503030403020204" pitchFamily="34" charset="0"/>
              </a:rPr>
              <a:t>1:n</a:t>
            </a:r>
            <a:r>
              <a:rPr lang="de-DE" sz="1400" dirty="0" smtClean="0">
                <a:latin typeface="Source Sans Pro" panose="020B0503030403020204" pitchFamily="34" charset="0"/>
              </a:rPr>
              <a:t>-Relation</a:t>
            </a:r>
          </a:p>
        </p:txBody>
      </p:sp>
      <p:sp>
        <p:nvSpPr>
          <p:cNvPr id="16" name="Textfeld 15"/>
          <p:cNvSpPr txBox="1"/>
          <p:nvPr/>
        </p:nvSpPr>
        <p:spPr>
          <a:xfrm>
            <a:off x="3671096" y="4181568"/>
            <a:ext cx="4134465" cy="307777"/>
          </a:xfrm>
          <a:prstGeom prst="rect">
            <a:avLst/>
          </a:prstGeom>
          <a:noFill/>
        </p:spPr>
        <p:txBody>
          <a:bodyPr wrap="none" rtlCol="0">
            <a:spAutoFit/>
          </a:bodyPr>
          <a:lstStyle/>
          <a:p>
            <a:pPr algn="ctr"/>
            <a:r>
              <a:rPr lang="de-DE" sz="1400" dirty="0" smtClean="0">
                <a:latin typeface="Source Sans Pro" panose="020B0503030403020204" pitchFamily="34" charset="0"/>
              </a:rPr>
              <a:t>Person kauft Buchtyp ist hingegen eine </a:t>
            </a:r>
            <a:r>
              <a:rPr lang="de-DE" sz="1400" b="1" dirty="0">
                <a:solidFill>
                  <a:schemeClr val="accent2"/>
                </a:solidFill>
                <a:latin typeface="Source Sans Pro" panose="020B0503030403020204" pitchFamily="34" charset="0"/>
              </a:rPr>
              <a:t>m</a:t>
            </a:r>
            <a:r>
              <a:rPr lang="de-DE" sz="1400" b="1" dirty="0" smtClean="0">
                <a:solidFill>
                  <a:schemeClr val="accent2"/>
                </a:solidFill>
                <a:latin typeface="Source Sans Pro" panose="020B0503030403020204" pitchFamily="34" charset="0"/>
              </a:rPr>
              <a:t>:n</a:t>
            </a:r>
            <a:r>
              <a:rPr lang="de-DE" sz="1400" dirty="0" smtClean="0">
                <a:latin typeface="Source Sans Pro" panose="020B0503030403020204" pitchFamily="34" charset="0"/>
              </a:rPr>
              <a:t>-Relation</a:t>
            </a:r>
          </a:p>
        </p:txBody>
      </p:sp>
    </p:spTree>
    <p:extLst>
      <p:ext uri="{BB962C8B-B14F-4D97-AF65-F5344CB8AC3E}">
        <p14:creationId xmlns:p14="http://schemas.microsoft.com/office/powerpoint/2010/main" val="259171944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„Stolperfallen“</a:t>
            </a:r>
          </a:p>
          <a:p>
            <a:r>
              <a:rPr lang="de-DE" sz="3200" dirty="0" smtClean="0">
                <a:latin typeface="Source Sans Pro" panose="020B0503030403020204" pitchFamily="34" charset="0"/>
              </a:rPr>
              <a:t>	aktuell versus historisch </a:t>
            </a:r>
          </a:p>
          <a:p>
            <a:r>
              <a:rPr lang="de-DE" sz="4000" dirty="0"/>
              <a:t>	</a:t>
            </a:r>
          </a:p>
        </p:txBody>
      </p:sp>
    </p:spTree>
    <p:extLst>
      <p:ext uri="{BB962C8B-B14F-4D97-AF65-F5344CB8AC3E}">
        <p14:creationId xmlns:p14="http://schemas.microsoft.com/office/powerpoint/2010/main" val="171045494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„aktuell versus historisch“</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483223" y="3357274"/>
            <a:ext cx="246799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b="1" dirty="0" smtClean="0">
                <a:solidFill>
                  <a:srgbClr val="0070C0"/>
                </a:solidFill>
                <a:latin typeface="Source Sans Pro" panose="020B0503030403020204" pitchFamily="34" charset="0"/>
              </a:rPr>
              <a:t>Präsidentschaft</a:t>
            </a:r>
            <a:endParaRPr kumimoji="0" lang="de-DE" sz="11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951216" y="3680039"/>
            <a:ext cx="98913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a:stCxn id="9" idx="1"/>
          </p:cNvCxnSpPr>
          <p:nvPr/>
        </p:nvCxnSpPr>
        <p:spPr>
          <a:xfrm flipH="1" flipV="1">
            <a:off x="3536303" y="3680039"/>
            <a:ext cx="946920"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3447323" y="1426830"/>
            <a:ext cx="4582009" cy="584775"/>
          </a:xfrm>
          <a:prstGeom prst="rect">
            <a:avLst/>
          </a:prstGeom>
          <a:noFill/>
        </p:spPr>
        <p:txBody>
          <a:bodyPr wrap="square" rtlCol="0">
            <a:spAutoFit/>
          </a:bodyPr>
          <a:lstStyle/>
          <a:p>
            <a:pPr algn="ctr"/>
            <a:r>
              <a:rPr lang="de-DE" sz="1600" dirty="0" smtClean="0">
                <a:latin typeface="Source Sans Pro" panose="020B0503030403020204" pitchFamily="34" charset="0"/>
              </a:rPr>
              <a:t>Hier hängt es davon ab, was der Auftraggeber unter </a:t>
            </a:r>
          </a:p>
          <a:p>
            <a:pPr algn="ctr"/>
            <a:r>
              <a:rPr lang="de-DE" sz="1600" dirty="0" smtClean="0">
                <a:latin typeface="Source Sans Pro" panose="020B0503030403020204" pitchFamily="34" charset="0"/>
              </a:rPr>
              <a:t>der Relation </a:t>
            </a:r>
            <a:r>
              <a:rPr lang="de-DE" sz="1600" b="1" dirty="0" smtClean="0">
                <a:latin typeface="Source Sans Pro" panose="020B0503030403020204" pitchFamily="34" charset="0"/>
              </a:rPr>
              <a:t>„Präsidentschaft“ </a:t>
            </a:r>
            <a:r>
              <a:rPr lang="de-DE" sz="1600" dirty="0">
                <a:latin typeface="Source Sans Pro" panose="020B0503030403020204" pitchFamily="34" charset="0"/>
              </a:rPr>
              <a:t>v</a:t>
            </a:r>
            <a:r>
              <a:rPr lang="de-DE" sz="1600" dirty="0" smtClean="0">
                <a:latin typeface="Source Sans Pro" panose="020B0503030403020204" pitchFamily="34" charset="0"/>
              </a:rPr>
              <a:t>erstehen will.</a:t>
            </a:r>
            <a:endParaRPr lang="de-DE" sz="1600" dirty="0">
              <a:latin typeface="Source Sans Pro" panose="020B0503030403020204" pitchFamily="34" charset="0"/>
            </a:endParaRPr>
          </a:p>
        </p:txBody>
      </p:sp>
    </p:spTree>
    <p:extLst>
      <p:ext uri="{BB962C8B-B14F-4D97-AF65-F5344CB8AC3E}">
        <p14:creationId xmlns:p14="http://schemas.microsoft.com/office/powerpoint/2010/main" val="108106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„aktuell versus historisch“</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483223" y="3357274"/>
            <a:ext cx="246799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b="1" dirty="0" smtClean="0">
                <a:solidFill>
                  <a:srgbClr val="0070C0"/>
                </a:solidFill>
                <a:latin typeface="Source Sans Pro" panose="020B0503030403020204" pitchFamily="34" charset="0"/>
              </a:rPr>
              <a:t>Präsidentschaft</a:t>
            </a:r>
            <a:endParaRPr kumimoji="0" lang="de-DE" sz="11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951216" y="3680039"/>
            <a:ext cx="98913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a:stCxn id="9" idx="1"/>
          </p:cNvCxnSpPr>
          <p:nvPr/>
        </p:nvCxnSpPr>
        <p:spPr>
          <a:xfrm flipH="1" flipV="1">
            <a:off x="3536303" y="3680039"/>
            <a:ext cx="946920"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3535674" y="1430065"/>
            <a:ext cx="4405373" cy="584775"/>
          </a:xfrm>
          <a:prstGeom prst="rect">
            <a:avLst/>
          </a:prstGeom>
          <a:noFill/>
        </p:spPr>
        <p:txBody>
          <a:bodyPr wrap="none" rtlCol="0">
            <a:spAutoFit/>
          </a:bodyPr>
          <a:lstStyle/>
          <a:p>
            <a:pPr algn="ctr"/>
            <a:r>
              <a:rPr lang="de-DE" sz="1600" dirty="0" smtClean="0">
                <a:latin typeface="Source Sans Pro" panose="020B0503030403020204" pitchFamily="34" charset="0"/>
              </a:rPr>
              <a:t>Wenn er an eine </a:t>
            </a:r>
            <a:r>
              <a:rPr lang="de-DE" sz="1600" b="1" dirty="0" smtClean="0">
                <a:solidFill>
                  <a:schemeClr val="accent2"/>
                </a:solidFill>
                <a:latin typeface="Source Sans Pro" panose="020B0503030403020204" pitchFamily="34" charset="0"/>
              </a:rPr>
              <a:t>aktuelle</a:t>
            </a:r>
            <a:r>
              <a:rPr lang="de-DE" sz="1600" b="1" dirty="0" smtClean="0">
                <a:latin typeface="Source Sans Pro" panose="020B0503030403020204" pitchFamily="34" charset="0"/>
              </a:rPr>
              <a:t> Präsidentschaft </a:t>
            </a:r>
            <a:r>
              <a:rPr lang="de-DE" sz="1600" dirty="0" smtClean="0">
                <a:latin typeface="Source Sans Pro" panose="020B0503030403020204" pitchFamily="34" charset="0"/>
              </a:rPr>
              <a:t>denkt,</a:t>
            </a:r>
          </a:p>
          <a:p>
            <a:pPr algn="ctr"/>
            <a:r>
              <a:rPr lang="de-DE" sz="1600" dirty="0">
                <a:latin typeface="Source Sans Pro" panose="020B0503030403020204" pitchFamily="34" charset="0"/>
              </a:rPr>
              <a:t>d</a:t>
            </a:r>
            <a:r>
              <a:rPr lang="de-DE" sz="1600" dirty="0" smtClean="0">
                <a:latin typeface="Source Sans Pro" panose="020B0503030403020204" pitchFamily="34" charset="0"/>
              </a:rPr>
              <a:t>ann gilt sicherlich:</a:t>
            </a:r>
            <a:endParaRPr lang="de-DE" sz="1600" dirty="0">
              <a:latin typeface="Source Sans Pro" panose="020B0503030403020204" pitchFamily="34" charset="0"/>
            </a:endParaRPr>
          </a:p>
        </p:txBody>
      </p:sp>
      <p:sp>
        <p:nvSpPr>
          <p:cNvPr id="2" name="Textfeld 1"/>
          <p:cNvSpPr txBox="1"/>
          <p:nvPr/>
        </p:nvSpPr>
        <p:spPr>
          <a:xfrm>
            <a:off x="5388296" y="3423130"/>
            <a:ext cx="697627" cy="261610"/>
          </a:xfrm>
          <a:prstGeom prst="rect">
            <a:avLst/>
          </a:prstGeom>
          <a:noFill/>
        </p:spPr>
        <p:txBody>
          <a:bodyPr wrap="none" rtlCol="0">
            <a:spAutoFit/>
          </a:bodyPr>
          <a:lstStyle/>
          <a:p>
            <a:r>
              <a:rPr lang="de-DE" sz="1100" b="1" dirty="0" smtClean="0">
                <a:solidFill>
                  <a:schemeClr val="accent2"/>
                </a:solidFill>
                <a:latin typeface="Source Sans Pro" panose="020B0503030403020204" pitchFamily="34" charset="0"/>
              </a:rPr>
              <a:t>aktuelle</a:t>
            </a:r>
            <a:endParaRPr lang="de-DE" sz="11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421775961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„aktuell versus historisch“</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483223" y="3357274"/>
            <a:ext cx="246799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b="1" dirty="0" smtClean="0">
                <a:solidFill>
                  <a:srgbClr val="0070C0"/>
                </a:solidFill>
                <a:latin typeface="Source Sans Pro" panose="020B0503030403020204" pitchFamily="34" charset="0"/>
              </a:rPr>
              <a:t>Präsidentschaft</a:t>
            </a:r>
            <a:endParaRPr kumimoji="0" lang="de-DE" sz="11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951216" y="3680039"/>
            <a:ext cx="98913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a:stCxn id="9" idx="1"/>
          </p:cNvCxnSpPr>
          <p:nvPr/>
        </p:nvCxnSpPr>
        <p:spPr>
          <a:xfrm flipH="1" flipV="1">
            <a:off x="3536303" y="3680039"/>
            <a:ext cx="946920"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4243408" y="1430065"/>
            <a:ext cx="2989922" cy="584775"/>
          </a:xfrm>
          <a:prstGeom prst="rect">
            <a:avLst/>
          </a:prstGeom>
          <a:noFill/>
        </p:spPr>
        <p:txBody>
          <a:bodyPr wrap="none" rtlCol="0">
            <a:spAutoFit/>
          </a:bodyPr>
          <a:lstStyle/>
          <a:p>
            <a:pPr algn="ctr"/>
            <a:r>
              <a:rPr lang="de-DE" sz="1600" dirty="0" smtClean="0">
                <a:latin typeface="Source Sans Pro" panose="020B0503030403020204" pitchFamily="34" charset="0"/>
              </a:rPr>
              <a:t>Eine </a:t>
            </a:r>
            <a:r>
              <a:rPr lang="de-DE" sz="1600" dirty="0">
                <a:latin typeface="Source Sans Pro" panose="020B0503030403020204" pitchFamily="34" charset="0"/>
              </a:rPr>
              <a:t>P</a:t>
            </a:r>
            <a:r>
              <a:rPr lang="de-DE" sz="1600" dirty="0" smtClean="0">
                <a:latin typeface="Source Sans Pro" panose="020B0503030403020204" pitchFamily="34" charset="0"/>
              </a:rPr>
              <a:t>erson kann aktuell nur in </a:t>
            </a:r>
          </a:p>
          <a:p>
            <a:pPr algn="ctr"/>
            <a:r>
              <a:rPr lang="de-DE" sz="1600" b="1" dirty="0" smtClean="0">
                <a:solidFill>
                  <a:schemeClr val="accent2"/>
                </a:solidFill>
                <a:latin typeface="Source Sans Pro" panose="020B0503030403020204" pitchFamily="34" charset="0"/>
              </a:rPr>
              <a:t>höchstens 1 </a:t>
            </a:r>
            <a:r>
              <a:rPr lang="de-DE" sz="1600" dirty="0" smtClean="0">
                <a:latin typeface="Source Sans Pro" panose="020B0503030403020204" pitchFamily="34" charset="0"/>
              </a:rPr>
              <a:t>Land Präsident sein</a:t>
            </a:r>
            <a:endParaRPr lang="de-DE" sz="1600" dirty="0">
              <a:latin typeface="Source Sans Pro" panose="020B0503030403020204" pitchFamily="34" charset="0"/>
            </a:endParaRPr>
          </a:p>
        </p:txBody>
      </p:sp>
      <p:sp>
        <p:nvSpPr>
          <p:cNvPr id="2" name="Textfeld 1"/>
          <p:cNvSpPr txBox="1"/>
          <p:nvPr/>
        </p:nvSpPr>
        <p:spPr>
          <a:xfrm>
            <a:off x="5388296" y="3423130"/>
            <a:ext cx="697627" cy="261610"/>
          </a:xfrm>
          <a:prstGeom prst="rect">
            <a:avLst/>
          </a:prstGeom>
          <a:noFill/>
        </p:spPr>
        <p:txBody>
          <a:bodyPr wrap="none" rtlCol="0">
            <a:spAutoFit/>
          </a:bodyPr>
          <a:lstStyle/>
          <a:p>
            <a:r>
              <a:rPr lang="de-DE" sz="1100" b="1" dirty="0" smtClean="0">
                <a:latin typeface="Source Sans Pro" panose="020B0503030403020204" pitchFamily="34" charset="0"/>
              </a:rPr>
              <a:t>aktuelle</a:t>
            </a:r>
            <a:endParaRPr lang="de-DE" sz="1100" b="1" dirty="0">
              <a:latin typeface="Source Sans Pro" panose="020B0503030403020204" pitchFamily="34" charset="0"/>
            </a:endParaRPr>
          </a:p>
        </p:txBody>
      </p:sp>
      <p:sp>
        <p:nvSpPr>
          <p:cNvPr id="16" name="Textfeld 15"/>
          <p:cNvSpPr txBox="1"/>
          <p:nvPr/>
        </p:nvSpPr>
        <p:spPr>
          <a:xfrm>
            <a:off x="7590576" y="3272787"/>
            <a:ext cx="349776"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1</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402365033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„aktuell versus historisch“</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483223" y="3357274"/>
            <a:ext cx="246799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b="1" dirty="0" smtClean="0">
                <a:solidFill>
                  <a:srgbClr val="0070C0"/>
                </a:solidFill>
                <a:latin typeface="Source Sans Pro" panose="020B0503030403020204" pitchFamily="34" charset="0"/>
              </a:rPr>
              <a:t>Präsidentschaft</a:t>
            </a:r>
            <a:endParaRPr kumimoji="0" lang="de-DE" sz="11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951216" y="3680039"/>
            <a:ext cx="98913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a:stCxn id="9" idx="1"/>
          </p:cNvCxnSpPr>
          <p:nvPr/>
        </p:nvCxnSpPr>
        <p:spPr>
          <a:xfrm flipH="1" flipV="1">
            <a:off x="3536303" y="3680039"/>
            <a:ext cx="946920"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4568015" y="1430065"/>
            <a:ext cx="2340705" cy="584775"/>
          </a:xfrm>
          <a:prstGeom prst="rect">
            <a:avLst/>
          </a:prstGeom>
          <a:noFill/>
        </p:spPr>
        <p:txBody>
          <a:bodyPr wrap="none" rtlCol="0">
            <a:spAutoFit/>
          </a:bodyPr>
          <a:lstStyle/>
          <a:p>
            <a:pPr algn="ctr"/>
            <a:r>
              <a:rPr lang="de-DE" sz="1600" dirty="0" smtClean="0">
                <a:latin typeface="Source Sans Pro" panose="020B0503030403020204" pitchFamily="34" charset="0"/>
              </a:rPr>
              <a:t>Ein Land besitzt aktuell </a:t>
            </a:r>
          </a:p>
          <a:p>
            <a:pPr algn="ctr"/>
            <a:r>
              <a:rPr lang="de-DE" sz="1600" b="1" dirty="0" smtClean="0">
                <a:solidFill>
                  <a:schemeClr val="accent2"/>
                </a:solidFill>
                <a:latin typeface="Source Sans Pro" panose="020B0503030403020204" pitchFamily="34" charset="0"/>
              </a:rPr>
              <a:t>höchstens 1 </a:t>
            </a:r>
            <a:r>
              <a:rPr lang="de-DE" sz="1600" dirty="0" smtClean="0">
                <a:latin typeface="Source Sans Pro" panose="020B0503030403020204" pitchFamily="34" charset="0"/>
              </a:rPr>
              <a:t>Präsidenten</a:t>
            </a:r>
            <a:endParaRPr lang="de-DE" sz="1600" dirty="0">
              <a:latin typeface="Source Sans Pro" panose="020B0503030403020204" pitchFamily="34" charset="0"/>
            </a:endParaRPr>
          </a:p>
        </p:txBody>
      </p:sp>
      <p:sp>
        <p:nvSpPr>
          <p:cNvPr id="2" name="Textfeld 1"/>
          <p:cNvSpPr txBox="1"/>
          <p:nvPr/>
        </p:nvSpPr>
        <p:spPr>
          <a:xfrm>
            <a:off x="5388296" y="3423130"/>
            <a:ext cx="697627" cy="261610"/>
          </a:xfrm>
          <a:prstGeom prst="rect">
            <a:avLst/>
          </a:prstGeom>
          <a:noFill/>
        </p:spPr>
        <p:txBody>
          <a:bodyPr wrap="none" rtlCol="0">
            <a:spAutoFit/>
          </a:bodyPr>
          <a:lstStyle/>
          <a:p>
            <a:r>
              <a:rPr lang="de-DE" sz="1100" b="1" dirty="0" smtClean="0">
                <a:latin typeface="Source Sans Pro" panose="020B0503030403020204" pitchFamily="34" charset="0"/>
              </a:rPr>
              <a:t>aktuelle</a:t>
            </a:r>
            <a:endParaRPr lang="de-DE" sz="1100" b="1" dirty="0">
              <a:latin typeface="Source Sans Pro" panose="020B0503030403020204" pitchFamily="34" charset="0"/>
            </a:endParaRPr>
          </a:p>
        </p:txBody>
      </p:sp>
      <p:sp>
        <p:nvSpPr>
          <p:cNvPr id="16" name="Textfeld 15"/>
          <p:cNvSpPr txBox="1"/>
          <p:nvPr/>
        </p:nvSpPr>
        <p:spPr>
          <a:xfrm>
            <a:off x="7590576" y="3272787"/>
            <a:ext cx="349776" cy="461665"/>
          </a:xfrm>
          <a:prstGeom prst="rect">
            <a:avLst/>
          </a:prstGeom>
          <a:noFill/>
        </p:spPr>
        <p:txBody>
          <a:bodyPr wrap="none" rtlCol="0">
            <a:spAutoFit/>
          </a:bodyPr>
          <a:lstStyle/>
          <a:p>
            <a:r>
              <a:rPr lang="de-DE" sz="2400" b="1" dirty="0" smtClean="0">
                <a:latin typeface="Source Sans Pro" panose="020B0503030403020204" pitchFamily="34" charset="0"/>
              </a:rPr>
              <a:t>1</a:t>
            </a:r>
            <a:endParaRPr lang="de-DE" sz="2400" b="1" dirty="0">
              <a:latin typeface="Source Sans Pro" panose="020B0503030403020204" pitchFamily="34" charset="0"/>
            </a:endParaRPr>
          </a:p>
        </p:txBody>
      </p:sp>
      <p:sp>
        <p:nvSpPr>
          <p:cNvPr id="15" name="Textfeld 14"/>
          <p:cNvSpPr txBox="1"/>
          <p:nvPr/>
        </p:nvSpPr>
        <p:spPr>
          <a:xfrm>
            <a:off x="3536303" y="3281294"/>
            <a:ext cx="346570" cy="830997"/>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1</a:t>
            </a:r>
            <a:endParaRPr lang="de-DE" sz="2400" b="1" dirty="0">
              <a:latin typeface="Source Sans Pro" panose="020B0503030403020204" pitchFamily="34" charset="0"/>
            </a:endParaRPr>
          </a:p>
          <a:p>
            <a:endParaRPr lang="de-DE" sz="2400" b="1" dirty="0"/>
          </a:p>
        </p:txBody>
      </p:sp>
    </p:spTree>
    <p:extLst>
      <p:ext uri="{BB962C8B-B14F-4D97-AF65-F5344CB8AC3E}">
        <p14:creationId xmlns:p14="http://schemas.microsoft.com/office/powerpoint/2010/main" val="59455215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„aktuell versus historisch“</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483223" y="3357274"/>
            <a:ext cx="246799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b="1" dirty="0" smtClean="0">
                <a:solidFill>
                  <a:srgbClr val="0070C0"/>
                </a:solidFill>
                <a:latin typeface="Source Sans Pro" panose="020B0503030403020204" pitchFamily="34" charset="0"/>
              </a:rPr>
              <a:t>Präsidentschaft</a:t>
            </a:r>
            <a:endParaRPr kumimoji="0" lang="de-DE" sz="11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951216" y="3680039"/>
            <a:ext cx="98913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a:stCxn id="9" idx="1"/>
          </p:cNvCxnSpPr>
          <p:nvPr/>
        </p:nvCxnSpPr>
        <p:spPr>
          <a:xfrm flipH="1" flipV="1">
            <a:off x="3536303" y="3680039"/>
            <a:ext cx="946920"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3499577" y="4866438"/>
            <a:ext cx="4477508" cy="338554"/>
          </a:xfrm>
          <a:prstGeom prst="rect">
            <a:avLst/>
          </a:prstGeom>
          <a:noFill/>
        </p:spPr>
        <p:txBody>
          <a:bodyPr wrap="none" rtlCol="0">
            <a:spAutoFit/>
          </a:bodyPr>
          <a:lstStyle/>
          <a:p>
            <a:pPr algn="ctr"/>
            <a:r>
              <a:rPr lang="de-DE" sz="1600" b="1" dirty="0" smtClean="0">
                <a:solidFill>
                  <a:schemeClr val="accent2"/>
                </a:solidFill>
                <a:latin typeface="Source Sans Pro" panose="020B0503030403020204" pitchFamily="34" charset="0"/>
              </a:rPr>
              <a:t>Aktuelle</a:t>
            </a:r>
            <a:r>
              <a:rPr lang="de-DE" sz="1600" dirty="0" smtClean="0">
                <a:latin typeface="Source Sans Pro" panose="020B0503030403020204" pitchFamily="34" charset="0"/>
              </a:rPr>
              <a:t> Präsidentschaft ist also eine </a:t>
            </a:r>
            <a:r>
              <a:rPr lang="de-DE" sz="1600" b="1" dirty="0" smtClean="0">
                <a:solidFill>
                  <a:schemeClr val="accent2"/>
                </a:solidFill>
                <a:latin typeface="Source Sans Pro" panose="020B0503030403020204" pitchFamily="34" charset="0"/>
              </a:rPr>
              <a:t>1:1</a:t>
            </a:r>
            <a:r>
              <a:rPr lang="de-DE" sz="1600" dirty="0" smtClean="0">
                <a:latin typeface="Source Sans Pro" panose="020B0503030403020204" pitchFamily="34" charset="0"/>
              </a:rPr>
              <a:t>-Relation</a:t>
            </a:r>
          </a:p>
        </p:txBody>
      </p:sp>
      <p:sp>
        <p:nvSpPr>
          <p:cNvPr id="2" name="Textfeld 1"/>
          <p:cNvSpPr txBox="1"/>
          <p:nvPr/>
        </p:nvSpPr>
        <p:spPr>
          <a:xfrm>
            <a:off x="5388296" y="3423130"/>
            <a:ext cx="697627" cy="261610"/>
          </a:xfrm>
          <a:prstGeom prst="rect">
            <a:avLst/>
          </a:prstGeom>
          <a:noFill/>
        </p:spPr>
        <p:txBody>
          <a:bodyPr wrap="none" rtlCol="0">
            <a:spAutoFit/>
          </a:bodyPr>
          <a:lstStyle/>
          <a:p>
            <a:r>
              <a:rPr lang="de-DE" sz="1100" b="1" dirty="0" smtClean="0">
                <a:latin typeface="Source Sans Pro" panose="020B0503030403020204" pitchFamily="34" charset="0"/>
              </a:rPr>
              <a:t>aktuelle</a:t>
            </a:r>
            <a:endParaRPr lang="de-DE" sz="1100" b="1" dirty="0">
              <a:latin typeface="Source Sans Pro" panose="020B0503030403020204" pitchFamily="34" charset="0"/>
            </a:endParaRPr>
          </a:p>
        </p:txBody>
      </p:sp>
      <p:sp>
        <p:nvSpPr>
          <p:cNvPr id="16" name="Textfeld 15"/>
          <p:cNvSpPr txBox="1"/>
          <p:nvPr/>
        </p:nvSpPr>
        <p:spPr>
          <a:xfrm>
            <a:off x="7590576" y="3272787"/>
            <a:ext cx="349776" cy="461665"/>
          </a:xfrm>
          <a:prstGeom prst="rect">
            <a:avLst/>
          </a:prstGeom>
          <a:noFill/>
        </p:spPr>
        <p:txBody>
          <a:bodyPr wrap="none" rtlCol="0">
            <a:spAutoFit/>
          </a:bodyPr>
          <a:lstStyle/>
          <a:p>
            <a:r>
              <a:rPr lang="de-DE" sz="2400" b="1" dirty="0" smtClean="0">
                <a:latin typeface="Source Sans Pro" panose="020B0503030403020204" pitchFamily="34" charset="0"/>
              </a:rPr>
              <a:t>1</a:t>
            </a:r>
            <a:endParaRPr lang="de-DE" sz="2400" b="1" dirty="0">
              <a:latin typeface="Source Sans Pro" panose="020B0503030403020204" pitchFamily="34" charset="0"/>
            </a:endParaRPr>
          </a:p>
        </p:txBody>
      </p:sp>
      <p:sp>
        <p:nvSpPr>
          <p:cNvPr id="15" name="Textfeld 14"/>
          <p:cNvSpPr txBox="1"/>
          <p:nvPr/>
        </p:nvSpPr>
        <p:spPr>
          <a:xfrm>
            <a:off x="3536303" y="3281294"/>
            <a:ext cx="346570" cy="830997"/>
          </a:xfrm>
          <a:prstGeom prst="rect">
            <a:avLst/>
          </a:prstGeom>
          <a:noFill/>
        </p:spPr>
        <p:txBody>
          <a:bodyPr wrap="none" rtlCol="0">
            <a:spAutoFit/>
          </a:bodyPr>
          <a:lstStyle/>
          <a:p>
            <a:r>
              <a:rPr lang="de-DE" sz="2400" b="1" dirty="0" smtClean="0">
                <a:latin typeface="Source Sans Pro" panose="020B0503030403020204" pitchFamily="34" charset="0"/>
              </a:rPr>
              <a:t>1</a:t>
            </a:r>
            <a:endParaRPr lang="de-DE" sz="2400" b="1" dirty="0">
              <a:latin typeface="Source Sans Pro" panose="020B0503030403020204" pitchFamily="34" charset="0"/>
            </a:endParaRPr>
          </a:p>
          <a:p>
            <a:endParaRPr lang="de-DE" sz="2400" b="1" dirty="0"/>
          </a:p>
        </p:txBody>
      </p:sp>
    </p:spTree>
    <p:extLst>
      <p:ext uri="{BB962C8B-B14F-4D97-AF65-F5344CB8AC3E}">
        <p14:creationId xmlns:p14="http://schemas.microsoft.com/office/powerpoint/2010/main" val="90760072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„aktuell versus historisch“</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483223" y="3357274"/>
            <a:ext cx="246799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b="1" dirty="0" smtClean="0">
                <a:solidFill>
                  <a:srgbClr val="0070C0"/>
                </a:solidFill>
                <a:latin typeface="Source Sans Pro" panose="020B0503030403020204" pitchFamily="34" charset="0"/>
              </a:rPr>
              <a:t>Präsidentschaft</a:t>
            </a:r>
            <a:endParaRPr kumimoji="0" lang="de-DE" sz="11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951216" y="3680039"/>
            <a:ext cx="98913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a:stCxn id="9" idx="1"/>
          </p:cNvCxnSpPr>
          <p:nvPr/>
        </p:nvCxnSpPr>
        <p:spPr>
          <a:xfrm flipH="1" flipV="1">
            <a:off x="3536303" y="3680039"/>
            <a:ext cx="946920"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4110366" y="1430065"/>
            <a:ext cx="3256021" cy="584775"/>
          </a:xfrm>
          <a:prstGeom prst="rect">
            <a:avLst/>
          </a:prstGeom>
          <a:noFill/>
        </p:spPr>
        <p:txBody>
          <a:bodyPr wrap="none" rtlCol="0">
            <a:spAutoFit/>
          </a:bodyPr>
          <a:lstStyle/>
          <a:p>
            <a:pPr algn="ctr"/>
            <a:r>
              <a:rPr lang="de-DE" sz="1600" dirty="0" smtClean="0">
                <a:latin typeface="Source Sans Pro" panose="020B0503030403020204" pitchFamily="34" charset="0"/>
              </a:rPr>
              <a:t>Betrachten wir nun stattdessen </a:t>
            </a:r>
          </a:p>
          <a:p>
            <a:pPr algn="ctr"/>
            <a:r>
              <a:rPr lang="de-DE" sz="1600" dirty="0" smtClean="0">
                <a:latin typeface="Source Sans Pro" panose="020B0503030403020204" pitchFamily="34" charset="0"/>
              </a:rPr>
              <a:t>eine </a:t>
            </a:r>
            <a:r>
              <a:rPr lang="de-DE" sz="1600" b="1" dirty="0" smtClean="0">
                <a:solidFill>
                  <a:schemeClr val="accent2"/>
                </a:solidFill>
                <a:latin typeface="Source Sans Pro" panose="020B0503030403020204" pitchFamily="34" charset="0"/>
              </a:rPr>
              <a:t>„historische“ </a:t>
            </a:r>
            <a:r>
              <a:rPr lang="de-DE" sz="1600" dirty="0" smtClean="0">
                <a:latin typeface="Source Sans Pro" panose="020B0503030403020204" pitchFamily="34" charset="0"/>
              </a:rPr>
              <a:t>Präsidentschaft.</a:t>
            </a:r>
            <a:endParaRPr lang="de-DE" sz="1600" dirty="0">
              <a:latin typeface="Source Sans Pro" panose="020B0503030403020204" pitchFamily="34" charset="0"/>
            </a:endParaRPr>
          </a:p>
        </p:txBody>
      </p:sp>
      <p:sp>
        <p:nvSpPr>
          <p:cNvPr id="15" name="Textfeld 14"/>
          <p:cNvSpPr txBox="1"/>
          <p:nvPr/>
        </p:nvSpPr>
        <p:spPr>
          <a:xfrm>
            <a:off x="5277835" y="3410213"/>
            <a:ext cx="875561" cy="261610"/>
          </a:xfrm>
          <a:prstGeom prst="rect">
            <a:avLst/>
          </a:prstGeom>
          <a:noFill/>
        </p:spPr>
        <p:txBody>
          <a:bodyPr wrap="none" rtlCol="0">
            <a:spAutoFit/>
          </a:bodyPr>
          <a:lstStyle/>
          <a:p>
            <a:r>
              <a:rPr lang="de-DE" sz="1100" b="1" dirty="0" smtClean="0">
                <a:solidFill>
                  <a:schemeClr val="accent2"/>
                </a:solidFill>
                <a:latin typeface="Source Sans Pro" panose="020B0503030403020204" pitchFamily="34" charset="0"/>
              </a:rPr>
              <a:t>historische</a:t>
            </a:r>
            <a:endParaRPr lang="de-DE" sz="11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59550451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„aktuell versus historisch“</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483223" y="3357274"/>
            <a:ext cx="246799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b="1" dirty="0" smtClean="0">
                <a:solidFill>
                  <a:srgbClr val="0070C0"/>
                </a:solidFill>
                <a:latin typeface="Source Sans Pro" panose="020B0503030403020204" pitchFamily="34" charset="0"/>
              </a:rPr>
              <a:t>Präsidentschaft</a:t>
            </a:r>
            <a:endParaRPr kumimoji="0" lang="de-DE" sz="11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951216" y="3680039"/>
            <a:ext cx="98913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a:stCxn id="9" idx="1"/>
          </p:cNvCxnSpPr>
          <p:nvPr/>
        </p:nvCxnSpPr>
        <p:spPr>
          <a:xfrm flipH="1" flipV="1">
            <a:off x="3536303" y="3680039"/>
            <a:ext cx="946920"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3591807" y="1430065"/>
            <a:ext cx="4293163" cy="830997"/>
          </a:xfrm>
          <a:prstGeom prst="rect">
            <a:avLst/>
          </a:prstGeom>
          <a:noFill/>
        </p:spPr>
        <p:txBody>
          <a:bodyPr wrap="none" rtlCol="0">
            <a:spAutoFit/>
          </a:bodyPr>
          <a:lstStyle/>
          <a:p>
            <a:pPr algn="ctr"/>
            <a:r>
              <a:rPr lang="de-DE" sz="1600" dirty="0" smtClean="0">
                <a:latin typeface="Source Sans Pro" panose="020B0503030403020204" pitchFamily="34" charset="0"/>
              </a:rPr>
              <a:t>Eine </a:t>
            </a:r>
            <a:r>
              <a:rPr lang="de-DE" sz="1600" dirty="0">
                <a:latin typeface="Source Sans Pro" panose="020B0503030403020204" pitchFamily="34" charset="0"/>
              </a:rPr>
              <a:t>P</a:t>
            </a:r>
            <a:r>
              <a:rPr lang="de-DE" sz="1600" dirty="0" smtClean="0">
                <a:latin typeface="Source Sans Pro" panose="020B0503030403020204" pitchFamily="34" charset="0"/>
              </a:rPr>
              <a:t>erson könnte im Laufe ihres Lebens schon</a:t>
            </a:r>
          </a:p>
          <a:p>
            <a:pPr algn="ctr"/>
            <a:r>
              <a:rPr lang="de-DE" sz="1600" dirty="0" smtClean="0">
                <a:latin typeface="Source Sans Pro" panose="020B0503030403020204" pitchFamily="34" charset="0"/>
              </a:rPr>
              <a:t>in </a:t>
            </a:r>
            <a:r>
              <a:rPr lang="de-DE" sz="1600" b="1" dirty="0" smtClean="0">
                <a:solidFill>
                  <a:schemeClr val="accent2"/>
                </a:solidFill>
                <a:latin typeface="Source Sans Pro" panose="020B0503030403020204" pitchFamily="34" charset="0"/>
              </a:rPr>
              <a:t>mehreren </a:t>
            </a:r>
            <a:r>
              <a:rPr lang="de-DE" sz="1600" dirty="0" smtClean="0">
                <a:latin typeface="Source Sans Pro" panose="020B0503030403020204" pitchFamily="34" charset="0"/>
              </a:rPr>
              <a:t>Ländern Präsident gewesen sein.</a:t>
            </a:r>
          </a:p>
          <a:p>
            <a:pPr algn="ctr"/>
            <a:r>
              <a:rPr lang="de-DE" sz="1200" dirty="0" smtClean="0">
                <a:latin typeface="Source Sans Pro" panose="020B0503030403020204" pitchFamily="34" charset="0"/>
              </a:rPr>
              <a:t>(Zum Beispiel nach Wechsel der Staatsangehörigkeit</a:t>
            </a:r>
            <a:r>
              <a:rPr lang="de-DE" sz="1600" dirty="0" smtClean="0">
                <a:latin typeface="Source Sans Pro" panose="020B0503030403020204" pitchFamily="34" charset="0"/>
              </a:rPr>
              <a:t>)</a:t>
            </a:r>
            <a:endParaRPr lang="de-DE" sz="1600" dirty="0">
              <a:latin typeface="Source Sans Pro" panose="020B0503030403020204" pitchFamily="34" charset="0"/>
            </a:endParaRPr>
          </a:p>
        </p:txBody>
      </p:sp>
      <p:sp>
        <p:nvSpPr>
          <p:cNvPr id="15" name="Textfeld 14"/>
          <p:cNvSpPr txBox="1"/>
          <p:nvPr/>
        </p:nvSpPr>
        <p:spPr>
          <a:xfrm>
            <a:off x="5277835" y="3410213"/>
            <a:ext cx="875561" cy="261610"/>
          </a:xfrm>
          <a:prstGeom prst="rect">
            <a:avLst/>
          </a:prstGeom>
          <a:noFill/>
        </p:spPr>
        <p:txBody>
          <a:bodyPr wrap="none" rtlCol="0">
            <a:spAutoFit/>
          </a:bodyPr>
          <a:lstStyle/>
          <a:p>
            <a:r>
              <a:rPr lang="de-DE" sz="1100" b="1" dirty="0" smtClean="0">
                <a:latin typeface="Source Sans Pro" panose="020B0503030403020204" pitchFamily="34" charset="0"/>
              </a:rPr>
              <a:t>historische</a:t>
            </a:r>
            <a:endParaRPr lang="de-DE" sz="1100" b="1" dirty="0">
              <a:latin typeface="Source Sans Pro" panose="020B0503030403020204" pitchFamily="34" charset="0"/>
            </a:endParaRPr>
          </a:p>
        </p:txBody>
      </p:sp>
      <p:sp>
        <p:nvSpPr>
          <p:cNvPr id="16" name="Textfeld 15"/>
          <p:cNvSpPr txBox="1"/>
          <p:nvPr/>
        </p:nvSpPr>
        <p:spPr>
          <a:xfrm>
            <a:off x="7590576" y="3272787"/>
            <a:ext cx="360996"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n</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17392361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„aktuell versus historisch“</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483223" y="3357274"/>
            <a:ext cx="246799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b="1" dirty="0" smtClean="0">
                <a:solidFill>
                  <a:srgbClr val="0070C0"/>
                </a:solidFill>
                <a:latin typeface="Source Sans Pro" panose="020B0503030403020204" pitchFamily="34" charset="0"/>
              </a:rPr>
              <a:t>Präsidentschaft</a:t>
            </a:r>
            <a:endParaRPr kumimoji="0" lang="de-DE" sz="11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951216" y="3680039"/>
            <a:ext cx="98913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a:stCxn id="9" idx="1"/>
          </p:cNvCxnSpPr>
          <p:nvPr/>
        </p:nvCxnSpPr>
        <p:spPr>
          <a:xfrm flipH="1" flipV="1">
            <a:off x="3536303" y="3680039"/>
            <a:ext cx="946920"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3525286" y="1430065"/>
            <a:ext cx="4426212" cy="830997"/>
          </a:xfrm>
          <a:prstGeom prst="rect">
            <a:avLst/>
          </a:prstGeom>
          <a:noFill/>
        </p:spPr>
        <p:txBody>
          <a:bodyPr wrap="none" rtlCol="0">
            <a:spAutoFit/>
          </a:bodyPr>
          <a:lstStyle/>
          <a:p>
            <a:pPr algn="ctr"/>
            <a:r>
              <a:rPr lang="de-DE" sz="1600" dirty="0" smtClean="0">
                <a:latin typeface="Source Sans Pro" panose="020B0503030403020204" pitchFamily="34" charset="0"/>
              </a:rPr>
              <a:t>In einem Land kann es im Laufe seiner Geschichte</a:t>
            </a:r>
          </a:p>
          <a:p>
            <a:pPr algn="ctr"/>
            <a:r>
              <a:rPr lang="de-DE" sz="1600" dirty="0" smtClean="0">
                <a:latin typeface="Source Sans Pro" panose="020B0503030403020204" pitchFamily="34" charset="0"/>
              </a:rPr>
              <a:t>schon </a:t>
            </a:r>
            <a:r>
              <a:rPr lang="de-DE" sz="1600" b="1" dirty="0" smtClean="0">
                <a:solidFill>
                  <a:schemeClr val="accent2"/>
                </a:solidFill>
                <a:latin typeface="Source Sans Pro" panose="020B0503030403020204" pitchFamily="34" charset="0"/>
              </a:rPr>
              <a:t>mehrere </a:t>
            </a:r>
            <a:r>
              <a:rPr lang="de-DE" sz="1600" dirty="0" smtClean="0">
                <a:latin typeface="Source Sans Pro" panose="020B0503030403020204" pitchFamily="34" charset="0"/>
              </a:rPr>
              <a:t>Präsidenten gegeben haben.</a:t>
            </a:r>
          </a:p>
          <a:p>
            <a:pPr algn="ctr"/>
            <a:r>
              <a:rPr lang="de-DE" sz="1200" dirty="0" smtClean="0">
                <a:latin typeface="Source Sans Pro" panose="020B0503030403020204" pitchFamily="34" charset="0"/>
              </a:rPr>
              <a:t>(in sehr jungen Ländern muss dies aber noch nicht gelten</a:t>
            </a:r>
            <a:r>
              <a:rPr lang="de-DE" sz="1600" dirty="0" smtClean="0">
                <a:latin typeface="Source Sans Pro" panose="020B0503030403020204" pitchFamily="34" charset="0"/>
              </a:rPr>
              <a:t>)</a:t>
            </a:r>
            <a:endParaRPr lang="de-DE" sz="1600" dirty="0">
              <a:latin typeface="Source Sans Pro" panose="020B0503030403020204" pitchFamily="34" charset="0"/>
            </a:endParaRPr>
          </a:p>
        </p:txBody>
      </p:sp>
      <p:sp>
        <p:nvSpPr>
          <p:cNvPr id="15" name="Textfeld 14"/>
          <p:cNvSpPr txBox="1"/>
          <p:nvPr/>
        </p:nvSpPr>
        <p:spPr>
          <a:xfrm>
            <a:off x="5277835" y="3410213"/>
            <a:ext cx="875561" cy="261610"/>
          </a:xfrm>
          <a:prstGeom prst="rect">
            <a:avLst/>
          </a:prstGeom>
          <a:noFill/>
        </p:spPr>
        <p:txBody>
          <a:bodyPr wrap="none" rtlCol="0">
            <a:spAutoFit/>
          </a:bodyPr>
          <a:lstStyle/>
          <a:p>
            <a:r>
              <a:rPr lang="de-DE" sz="1100" b="1" dirty="0" smtClean="0">
                <a:latin typeface="Source Sans Pro" panose="020B0503030403020204" pitchFamily="34" charset="0"/>
              </a:rPr>
              <a:t>historische</a:t>
            </a:r>
            <a:endParaRPr lang="de-DE" sz="1100" b="1" dirty="0">
              <a:latin typeface="Source Sans Pro" panose="020B0503030403020204" pitchFamily="34" charset="0"/>
            </a:endParaRPr>
          </a:p>
        </p:txBody>
      </p:sp>
      <p:sp>
        <p:nvSpPr>
          <p:cNvPr id="16" name="Textfeld 15"/>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7" name="Textfeld 16"/>
          <p:cNvSpPr txBox="1"/>
          <p:nvPr/>
        </p:nvSpPr>
        <p:spPr>
          <a:xfrm>
            <a:off x="3536303" y="3281294"/>
            <a:ext cx="449162" cy="830997"/>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m</a:t>
            </a:r>
            <a:endParaRPr lang="de-DE" sz="2400" b="1" dirty="0">
              <a:solidFill>
                <a:schemeClr val="accent2"/>
              </a:solidFill>
              <a:latin typeface="Source Sans Pro" panose="020B0503030403020204" pitchFamily="34" charset="0"/>
            </a:endParaRPr>
          </a:p>
          <a:p>
            <a:endParaRPr lang="de-DE" sz="2400" b="1" dirty="0"/>
          </a:p>
        </p:txBody>
      </p:sp>
    </p:spTree>
    <p:extLst>
      <p:ext uri="{BB962C8B-B14F-4D97-AF65-F5344CB8AC3E}">
        <p14:creationId xmlns:p14="http://schemas.microsoft.com/office/powerpoint/2010/main" val="284708592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„aktuell versus historisch“</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Land</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483223" y="3357274"/>
            <a:ext cx="246799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b="1" dirty="0" smtClean="0">
                <a:solidFill>
                  <a:srgbClr val="0070C0"/>
                </a:solidFill>
                <a:latin typeface="Source Sans Pro" panose="020B0503030403020204" pitchFamily="34" charset="0"/>
              </a:rPr>
              <a:t>Präsidentschaft</a:t>
            </a:r>
            <a:endParaRPr kumimoji="0" lang="de-DE" sz="11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951216" y="3680039"/>
            <a:ext cx="989136"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a:stCxn id="9" idx="1"/>
          </p:cNvCxnSpPr>
          <p:nvPr/>
        </p:nvCxnSpPr>
        <p:spPr>
          <a:xfrm flipH="1" flipV="1">
            <a:off x="3536303" y="3680039"/>
            <a:ext cx="946920"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feld 14"/>
          <p:cNvSpPr txBox="1"/>
          <p:nvPr/>
        </p:nvSpPr>
        <p:spPr>
          <a:xfrm>
            <a:off x="5277835" y="3410213"/>
            <a:ext cx="875561" cy="261610"/>
          </a:xfrm>
          <a:prstGeom prst="rect">
            <a:avLst/>
          </a:prstGeom>
          <a:noFill/>
        </p:spPr>
        <p:txBody>
          <a:bodyPr wrap="none" rtlCol="0">
            <a:spAutoFit/>
          </a:bodyPr>
          <a:lstStyle/>
          <a:p>
            <a:r>
              <a:rPr lang="de-DE" sz="1100" b="1" dirty="0" smtClean="0">
                <a:latin typeface="Source Sans Pro" panose="020B0503030403020204" pitchFamily="34" charset="0"/>
              </a:rPr>
              <a:t>historische</a:t>
            </a:r>
            <a:endParaRPr lang="de-DE" sz="1100" b="1" dirty="0">
              <a:latin typeface="Source Sans Pro" panose="020B0503030403020204" pitchFamily="34" charset="0"/>
            </a:endParaRPr>
          </a:p>
        </p:txBody>
      </p:sp>
      <p:sp>
        <p:nvSpPr>
          <p:cNvPr id="16" name="Textfeld 15"/>
          <p:cNvSpPr txBox="1"/>
          <p:nvPr/>
        </p:nvSpPr>
        <p:spPr>
          <a:xfrm>
            <a:off x="7590576" y="3272787"/>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7" name="Textfeld 16"/>
          <p:cNvSpPr txBox="1"/>
          <p:nvPr/>
        </p:nvSpPr>
        <p:spPr>
          <a:xfrm>
            <a:off x="3536303" y="3281294"/>
            <a:ext cx="449162" cy="830997"/>
          </a:xfrm>
          <a:prstGeom prst="rect">
            <a:avLst/>
          </a:prstGeom>
          <a:noFill/>
        </p:spPr>
        <p:txBody>
          <a:bodyPr wrap="none" rtlCol="0">
            <a:spAutoFit/>
          </a:bodyPr>
          <a:lstStyle/>
          <a:p>
            <a:r>
              <a:rPr lang="de-DE" sz="2400" b="1" dirty="0" smtClean="0">
                <a:latin typeface="Source Sans Pro" panose="020B0503030403020204" pitchFamily="34" charset="0"/>
              </a:rPr>
              <a:t>m</a:t>
            </a:r>
            <a:endParaRPr lang="de-DE" sz="2400" b="1" dirty="0">
              <a:latin typeface="Source Sans Pro" panose="020B0503030403020204" pitchFamily="34" charset="0"/>
            </a:endParaRPr>
          </a:p>
          <a:p>
            <a:endParaRPr lang="de-DE" sz="2400" b="1" dirty="0"/>
          </a:p>
        </p:txBody>
      </p:sp>
      <p:sp>
        <p:nvSpPr>
          <p:cNvPr id="18" name="Textfeld 17"/>
          <p:cNvSpPr txBox="1"/>
          <p:nvPr/>
        </p:nvSpPr>
        <p:spPr>
          <a:xfrm>
            <a:off x="3613391" y="4866438"/>
            <a:ext cx="4249882" cy="307777"/>
          </a:xfrm>
          <a:prstGeom prst="rect">
            <a:avLst/>
          </a:prstGeom>
          <a:noFill/>
        </p:spPr>
        <p:txBody>
          <a:bodyPr wrap="none" rtlCol="0">
            <a:spAutoFit/>
          </a:bodyPr>
          <a:lstStyle/>
          <a:p>
            <a:pPr algn="ctr"/>
            <a:r>
              <a:rPr lang="de-DE" sz="1400" b="1" dirty="0" smtClean="0">
                <a:solidFill>
                  <a:schemeClr val="accent2"/>
                </a:solidFill>
                <a:latin typeface="Source Sans Pro" panose="020B0503030403020204" pitchFamily="34" charset="0"/>
              </a:rPr>
              <a:t>Historische</a:t>
            </a:r>
            <a:r>
              <a:rPr lang="de-DE" sz="1400" dirty="0" smtClean="0">
                <a:latin typeface="Source Sans Pro" panose="020B0503030403020204" pitchFamily="34" charset="0"/>
              </a:rPr>
              <a:t> Präsidentschaft ist also eine </a:t>
            </a:r>
            <a:r>
              <a:rPr lang="de-DE" sz="1400" b="1" dirty="0" smtClean="0">
                <a:solidFill>
                  <a:schemeClr val="accent2"/>
                </a:solidFill>
                <a:latin typeface="Source Sans Pro" panose="020B0503030403020204" pitchFamily="34" charset="0"/>
              </a:rPr>
              <a:t>m:n</a:t>
            </a:r>
            <a:r>
              <a:rPr lang="de-DE" sz="1400" dirty="0" smtClean="0">
                <a:latin typeface="Source Sans Pro" panose="020B0503030403020204" pitchFamily="34" charset="0"/>
              </a:rPr>
              <a:t>-Relation</a:t>
            </a:r>
          </a:p>
        </p:txBody>
      </p:sp>
    </p:spTree>
    <p:extLst>
      <p:ext uri="{BB962C8B-B14F-4D97-AF65-F5344CB8AC3E}">
        <p14:creationId xmlns:p14="http://schemas.microsoft.com/office/powerpoint/2010/main" val="14815010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„Stolperfallen“</a:t>
            </a:r>
          </a:p>
          <a:p>
            <a:r>
              <a:rPr lang="de-DE" sz="3200" dirty="0" smtClean="0">
                <a:latin typeface="Source Sans Pro" panose="020B0503030403020204" pitchFamily="34" charset="0"/>
              </a:rPr>
              <a:t>	Bloß nicht zu voreilig!</a:t>
            </a:r>
          </a:p>
          <a:p>
            <a:r>
              <a:rPr lang="de-DE" sz="4000" dirty="0"/>
              <a:t>	</a:t>
            </a:r>
          </a:p>
        </p:txBody>
      </p:sp>
    </p:spTree>
    <p:extLst>
      <p:ext uri="{BB962C8B-B14F-4D97-AF65-F5344CB8AC3E}">
        <p14:creationId xmlns:p14="http://schemas.microsoft.com/office/powerpoint/2010/main" val="404440288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„Bloß nicht zu voreilig!“</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Gemälde</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1" dirty="0">
                <a:solidFill>
                  <a:srgbClr val="0070C0"/>
                </a:solidFill>
                <a:latin typeface="Source Sans Pro" panose="020B0503030403020204" pitchFamily="34" charset="0"/>
              </a:rPr>
              <a:t>e</a:t>
            </a:r>
            <a:r>
              <a:rPr lang="de-DE" sz="1200" b="1" dirty="0" smtClean="0">
                <a:solidFill>
                  <a:srgbClr val="0070C0"/>
                </a:solidFill>
                <a:latin typeface="Source Sans Pro" panose="020B0503030403020204" pitchFamily="34" charset="0"/>
              </a:rPr>
              <a:t>rschaffen von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60996"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n</a:t>
            </a:r>
            <a:endParaRPr lang="de-DE" sz="2400" b="1" dirty="0">
              <a:solidFill>
                <a:schemeClr val="accent2"/>
              </a:solidFill>
              <a:latin typeface="Source Sans Pro" panose="020B0503030403020204" pitchFamily="34" charset="0"/>
            </a:endParaRPr>
          </a:p>
        </p:txBody>
      </p:sp>
      <p:sp>
        <p:nvSpPr>
          <p:cNvPr id="14" name="Textfeld 13"/>
          <p:cNvSpPr txBox="1"/>
          <p:nvPr/>
        </p:nvSpPr>
        <p:spPr>
          <a:xfrm>
            <a:off x="3548482" y="1430065"/>
            <a:ext cx="4379725" cy="646331"/>
          </a:xfrm>
          <a:prstGeom prst="rect">
            <a:avLst/>
          </a:prstGeom>
          <a:noFill/>
        </p:spPr>
        <p:txBody>
          <a:bodyPr wrap="none" rtlCol="0">
            <a:spAutoFit/>
          </a:bodyPr>
          <a:lstStyle/>
          <a:p>
            <a:pPr algn="ctr"/>
            <a:r>
              <a:rPr lang="de-DE" dirty="0" smtClean="0">
                <a:latin typeface="Source Sans Pro" panose="020B0503030403020204" pitchFamily="34" charset="0"/>
              </a:rPr>
              <a:t>Sicherlich unbestritten ist, dass eine Person</a:t>
            </a:r>
          </a:p>
          <a:p>
            <a:pPr algn="ctr"/>
            <a:r>
              <a:rPr lang="de-DE" b="1" dirty="0" smtClean="0">
                <a:solidFill>
                  <a:schemeClr val="accent2"/>
                </a:solidFill>
                <a:latin typeface="Source Sans Pro" panose="020B0503030403020204" pitchFamily="34" charset="0"/>
              </a:rPr>
              <a:t>mehrere</a:t>
            </a:r>
            <a:r>
              <a:rPr lang="de-DE" dirty="0" smtClean="0">
                <a:latin typeface="Source Sans Pro" panose="020B0503030403020204" pitchFamily="34" charset="0"/>
              </a:rPr>
              <a:t> Gemälde erschaffen kann.</a:t>
            </a:r>
            <a:endParaRPr lang="de-DE" sz="1200" dirty="0">
              <a:latin typeface="Source Sans Pro" panose="020B0503030403020204" pitchFamily="34" charset="0"/>
            </a:endParaRPr>
          </a:p>
        </p:txBody>
      </p:sp>
    </p:spTree>
    <p:extLst>
      <p:ext uri="{BB962C8B-B14F-4D97-AF65-F5344CB8AC3E}">
        <p14:creationId xmlns:p14="http://schemas.microsoft.com/office/powerpoint/2010/main" val="353078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„Bloß nicht zu voreilig!“</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Gemälde</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1" dirty="0">
                <a:solidFill>
                  <a:srgbClr val="0070C0"/>
                </a:solidFill>
                <a:latin typeface="Source Sans Pro" panose="020B0503030403020204" pitchFamily="34" charset="0"/>
              </a:rPr>
              <a:t>e</a:t>
            </a:r>
            <a:r>
              <a:rPr lang="de-DE" sz="1200" b="1" dirty="0" smtClean="0">
                <a:solidFill>
                  <a:srgbClr val="0070C0"/>
                </a:solidFill>
                <a:latin typeface="Source Sans Pro" panose="020B0503030403020204" pitchFamily="34" charset="0"/>
              </a:rPr>
              <a:t>rschaffen von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4" name="Textfeld 13"/>
          <p:cNvSpPr txBox="1"/>
          <p:nvPr/>
        </p:nvSpPr>
        <p:spPr>
          <a:xfrm>
            <a:off x="4057445" y="1430065"/>
            <a:ext cx="3361819" cy="923330"/>
          </a:xfrm>
          <a:prstGeom prst="rect">
            <a:avLst/>
          </a:prstGeom>
          <a:noFill/>
        </p:spPr>
        <p:txBody>
          <a:bodyPr wrap="none" rtlCol="0">
            <a:spAutoFit/>
          </a:bodyPr>
          <a:lstStyle/>
          <a:p>
            <a:pPr algn="ctr"/>
            <a:r>
              <a:rPr lang="de-DE" b="1" dirty="0" smtClean="0">
                <a:latin typeface="Source Sans Pro" panose="020B0503030403020204" pitchFamily="34" charset="0"/>
              </a:rPr>
              <a:t>Ferner </a:t>
            </a:r>
            <a:r>
              <a:rPr lang="de-DE" b="1" u="sng" dirty="0" smtClean="0">
                <a:latin typeface="Source Sans Pro" panose="020B0503030403020204" pitchFamily="34" charset="0"/>
              </a:rPr>
              <a:t>scheint</a:t>
            </a:r>
            <a:r>
              <a:rPr lang="de-DE" b="1" dirty="0" smtClean="0">
                <a:latin typeface="Source Sans Pro" panose="020B0503030403020204" pitchFamily="34" charset="0"/>
              </a:rPr>
              <a:t> ebenfalls klar: </a:t>
            </a:r>
          </a:p>
          <a:p>
            <a:pPr algn="ctr"/>
            <a:r>
              <a:rPr lang="de-DE" dirty="0" smtClean="0">
                <a:latin typeface="Source Sans Pro" panose="020B0503030403020204" pitchFamily="34" charset="0"/>
              </a:rPr>
              <a:t>Jedes Gemälde wurde von</a:t>
            </a:r>
          </a:p>
          <a:p>
            <a:pPr algn="ctr"/>
            <a:r>
              <a:rPr lang="de-DE" dirty="0" smtClean="0">
                <a:latin typeface="Source Sans Pro" panose="020B0503030403020204" pitchFamily="34" charset="0"/>
              </a:rPr>
              <a:t>(höchstens) </a:t>
            </a:r>
            <a:r>
              <a:rPr lang="de-DE" b="1" dirty="0" smtClean="0">
                <a:solidFill>
                  <a:schemeClr val="accent2"/>
                </a:solidFill>
                <a:latin typeface="Source Sans Pro" panose="020B0503030403020204" pitchFamily="34" charset="0"/>
              </a:rPr>
              <a:t>1 Person </a:t>
            </a:r>
            <a:r>
              <a:rPr lang="de-DE" dirty="0" smtClean="0">
                <a:latin typeface="Source Sans Pro" panose="020B0503030403020204" pitchFamily="34" charset="0"/>
              </a:rPr>
              <a:t>erschaffen.</a:t>
            </a:r>
            <a:endParaRPr lang="de-DE" dirty="0">
              <a:latin typeface="Source Sans Pro" panose="020B0503030403020204" pitchFamily="34" charset="0"/>
            </a:endParaRPr>
          </a:p>
        </p:txBody>
      </p:sp>
      <p:sp>
        <p:nvSpPr>
          <p:cNvPr id="15" name="Textfeld 14"/>
          <p:cNvSpPr txBox="1"/>
          <p:nvPr/>
        </p:nvSpPr>
        <p:spPr>
          <a:xfrm>
            <a:off x="7590576" y="3272787"/>
            <a:ext cx="349776"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1</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95742371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„Bloß nicht zu voreilig!“</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Gemälde</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1" dirty="0">
                <a:solidFill>
                  <a:srgbClr val="0070C0"/>
                </a:solidFill>
                <a:latin typeface="Source Sans Pro" panose="020B0503030403020204" pitchFamily="34" charset="0"/>
              </a:rPr>
              <a:t>e</a:t>
            </a:r>
            <a:r>
              <a:rPr lang="de-DE" sz="1200" b="1" dirty="0" smtClean="0">
                <a:solidFill>
                  <a:srgbClr val="0070C0"/>
                </a:solidFill>
                <a:latin typeface="Source Sans Pro" panose="020B0503030403020204" pitchFamily="34" charset="0"/>
              </a:rPr>
              <a:t>rschaffen von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4" name="Textfeld 13"/>
          <p:cNvSpPr txBox="1"/>
          <p:nvPr/>
        </p:nvSpPr>
        <p:spPr>
          <a:xfrm>
            <a:off x="3510824" y="1430065"/>
            <a:ext cx="4455067" cy="646331"/>
          </a:xfrm>
          <a:prstGeom prst="rect">
            <a:avLst/>
          </a:prstGeom>
          <a:noFill/>
        </p:spPr>
        <p:txBody>
          <a:bodyPr wrap="none" rtlCol="0">
            <a:spAutoFit/>
          </a:bodyPr>
          <a:lstStyle/>
          <a:p>
            <a:pPr algn="ctr"/>
            <a:r>
              <a:rPr lang="de-DE" b="1" dirty="0" smtClean="0">
                <a:latin typeface="Source Sans Pro" panose="020B0503030403020204" pitchFamily="34" charset="0"/>
              </a:rPr>
              <a:t>Aber gilt dies wirklich?</a:t>
            </a:r>
          </a:p>
          <a:p>
            <a:pPr algn="ctr"/>
            <a:r>
              <a:rPr lang="de-DE" dirty="0" smtClean="0">
                <a:latin typeface="Source Sans Pro" panose="020B0503030403020204" pitchFamily="34" charset="0"/>
              </a:rPr>
              <a:t>Fragen wir am besten mal den Auftraggeber:</a:t>
            </a:r>
            <a:endParaRPr lang="de-DE" dirty="0">
              <a:latin typeface="Source Sans Pro" panose="020B0503030403020204" pitchFamily="34" charset="0"/>
            </a:endParaRPr>
          </a:p>
        </p:txBody>
      </p:sp>
      <p:sp>
        <p:nvSpPr>
          <p:cNvPr id="15" name="Textfeld 14"/>
          <p:cNvSpPr txBox="1"/>
          <p:nvPr/>
        </p:nvSpPr>
        <p:spPr>
          <a:xfrm>
            <a:off x="7590576" y="3272787"/>
            <a:ext cx="327334" cy="461665"/>
          </a:xfrm>
          <a:prstGeom prst="rect">
            <a:avLst/>
          </a:prstGeom>
          <a:noFill/>
        </p:spPr>
        <p:txBody>
          <a:bodyPr wrap="none" rtlCol="0">
            <a:spAutoFit/>
          </a:bodyPr>
          <a:lstStyle/>
          <a:p>
            <a:r>
              <a:rPr lang="de-DE" sz="2400" b="1" dirty="0">
                <a:solidFill>
                  <a:schemeClr val="accent2"/>
                </a:solidFill>
                <a:latin typeface="Source Sans Pro" panose="020B0503030403020204" pitchFamily="34" charset="0"/>
              </a:rPr>
              <a:t>?</a:t>
            </a:r>
          </a:p>
        </p:txBody>
      </p:sp>
    </p:spTree>
    <p:extLst>
      <p:ext uri="{BB962C8B-B14F-4D97-AF65-F5344CB8AC3E}">
        <p14:creationId xmlns:p14="http://schemas.microsoft.com/office/powerpoint/2010/main" val="381133675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„Bloß nicht zu voreilig!“</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Gemälde</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1" dirty="0">
                <a:solidFill>
                  <a:srgbClr val="0070C0"/>
                </a:solidFill>
                <a:latin typeface="Source Sans Pro" panose="020B0503030403020204" pitchFamily="34" charset="0"/>
              </a:rPr>
              <a:t>e</a:t>
            </a:r>
            <a:r>
              <a:rPr lang="de-DE" sz="1200" b="1" dirty="0" smtClean="0">
                <a:solidFill>
                  <a:srgbClr val="0070C0"/>
                </a:solidFill>
                <a:latin typeface="Source Sans Pro" panose="020B0503030403020204" pitchFamily="34" charset="0"/>
              </a:rPr>
              <a:t>rschaffen von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4" name="Textfeld 13"/>
          <p:cNvSpPr txBox="1"/>
          <p:nvPr/>
        </p:nvSpPr>
        <p:spPr>
          <a:xfrm>
            <a:off x="3640676" y="1430065"/>
            <a:ext cx="4195380" cy="1354217"/>
          </a:xfrm>
          <a:prstGeom prst="rect">
            <a:avLst/>
          </a:prstGeom>
          <a:noFill/>
        </p:spPr>
        <p:txBody>
          <a:bodyPr wrap="none" rtlCol="0">
            <a:spAutoFit/>
          </a:bodyPr>
          <a:lstStyle/>
          <a:p>
            <a:pPr algn="ctr"/>
            <a:r>
              <a:rPr lang="de-DE" b="1" u="sng" dirty="0" smtClean="0">
                <a:latin typeface="Source Sans Pro" panose="020B0503030403020204" pitchFamily="34" charset="0"/>
              </a:rPr>
              <a:t>Mögliche</a:t>
            </a:r>
            <a:r>
              <a:rPr lang="de-DE" b="1" dirty="0" smtClean="0">
                <a:latin typeface="Source Sans Pro" panose="020B0503030403020204" pitchFamily="34" charset="0"/>
              </a:rPr>
              <a:t> Antwort des Auftraggebers:</a:t>
            </a:r>
          </a:p>
          <a:p>
            <a:pPr algn="ctr"/>
            <a:r>
              <a:rPr lang="de-DE" dirty="0" smtClean="0">
                <a:latin typeface="Source Sans Pro" panose="020B0503030403020204" pitchFamily="34" charset="0"/>
              </a:rPr>
              <a:t>„Große Maler erschaffen gelegentlich nur</a:t>
            </a:r>
          </a:p>
          <a:p>
            <a:pPr algn="ctr"/>
            <a:r>
              <a:rPr lang="de-DE" dirty="0">
                <a:latin typeface="Source Sans Pro" panose="020B0503030403020204" pitchFamily="34" charset="0"/>
              </a:rPr>
              <a:t>d</a:t>
            </a:r>
            <a:r>
              <a:rPr lang="de-DE" dirty="0" smtClean="0">
                <a:latin typeface="Source Sans Pro" panose="020B0503030403020204" pitchFamily="34" charset="0"/>
              </a:rPr>
              <a:t>ie anspruchsvollen Teile eines Gemäldes</a:t>
            </a:r>
          </a:p>
          <a:p>
            <a:pPr algn="ctr"/>
            <a:r>
              <a:rPr lang="de-DE" sz="1400" dirty="0" smtClean="0">
                <a:latin typeface="Source Sans Pro" panose="020B0503030403020204" pitchFamily="34" charset="0"/>
              </a:rPr>
              <a:t>(und lassen den </a:t>
            </a:r>
            <a:r>
              <a:rPr lang="de-DE" sz="1400" dirty="0">
                <a:latin typeface="Source Sans Pro" panose="020B0503030403020204" pitchFamily="34" charset="0"/>
              </a:rPr>
              <a:t>R</a:t>
            </a:r>
            <a:r>
              <a:rPr lang="de-DE" sz="1400" dirty="0" smtClean="0">
                <a:latin typeface="Source Sans Pro" panose="020B0503030403020204" pitchFamily="34" charset="0"/>
              </a:rPr>
              <a:t>est von Mitarbeitern malen)“</a:t>
            </a:r>
          </a:p>
          <a:p>
            <a:pPr algn="ctr"/>
            <a:r>
              <a:rPr lang="de-DE" sz="1400" dirty="0" smtClean="0">
                <a:latin typeface="Source Sans Pro" panose="020B0503030403020204" pitchFamily="34" charset="0"/>
              </a:rPr>
              <a:t>…</a:t>
            </a:r>
            <a:endParaRPr lang="de-DE" sz="1400" dirty="0">
              <a:latin typeface="Source Sans Pro" panose="020B0503030403020204" pitchFamily="34" charset="0"/>
            </a:endParaRPr>
          </a:p>
        </p:txBody>
      </p:sp>
      <p:sp>
        <p:nvSpPr>
          <p:cNvPr id="15" name="Textfeld 14"/>
          <p:cNvSpPr txBox="1"/>
          <p:nvPr/>
        </p:nvSpPr>
        <p:spPr>
          <a:xfrm>
            <a:off x="7590576" y="3272787"/>
            <a:ext cx="327334"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109510488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„Bloß nicht zu voreilig!“</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Gemälde</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1" dirty="0">
                <a:solidFill>
                  <a:srgbClr val="0070C0"/>
                </a:solidFill>
                <a:latin typeface="Source Sans Pro" panose="020B0503030403020204" pitchFamily="34" charset="0"/>
              </a:rPr>
              <a:t>e</a:t>
            </a:r>
            <a:r>
              <a:rPr lang="de-DE" sz="1200" b="1" dirty="0" smtClean="0">
                <a:solidFill>
                  <a:srgbClr val="0070C0"/>
                </a:solidFill>
                <a:latin typeface="Source Sans Pro" panose="020B0503030403020204" pitchFamily="34" charset="0"/>
              </a:rPr>
              <a:t>rschaffen von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4" name="Textfeld 13"/>
          <p:cNvSpPr txBox="1"/>
          <p:nvPr/>
        </p:nvSpPr>
        <p:spPr>
          <a:xfrm>
            <a:off x="3640676" y="1430065"/>
            <a:ext cx="4195380" cy="1908215"/>
          </a:xfrm>
          <a:prstGeom prst="rect">
            <a:avLst/>
          </a:prstGeom>
          <a:noFill/>
        </p:spPr>
        <p:txBody>
          <a:bodyPr wrap="none" rtlCol="0">
            <a:spAutoFit/>
          </a:bodyPr>
          <a:lstStyle/>
          <a:p>
            <a:pPr algn="ctr"/>
            <a:r>
              <a:rPr lang="de-DE" b="1" u="sng" dirty="0" smtClean="0">
                <a:latin typeface="Source Sans Pro" panose="020B0503030403020204" pitchFamily="34" charset="0"/>
              </a:rPr>
              <a:t>Mögliche</a:t>
            </a:r>
            <a:r>
              <a:rPr lang="de-DE" b="1" dirty="0" smtClean="0">
                <a:latin typeface="Source Sans Pro" panose="020B0503030403020204" pitchFamily="34" charset="0"/>
              </a:rPr>
              <a:t> Antwort des Auftraggebers:</a:t>
            </a:r>
          </a:p>
          <a:p>
            <a:pPr algn="ctr"/>
            <a:r>
              <a:rPr lang="de-DE" dirty="0" smtClean="0">
                <a:latin typeface="Source Sans Pro" panose="020B0503030403020204" pitchFamily="34" charset="0"/>
              </a:rPr>
              <a:t>„Große Maler erschaffen gelegentlich nur</a:t>
            </a:r>
          </a:p>
          <a:p>
            <a:pPr algn="ctr"/>
            <a:r>
              <a:rPr lang="de-DE" dirty="0">
                <a:latin typeface="Source Sans Pro" panose="020B0503030403020204" pitchFamily="34" charset="0"/>
              </a:rPr>
              <a:t>d</a:t>
            </a:r>
            <a:r>
              <a:rPr lang="de-DE" dirty="0" smtClean="0">
                <a:latin typeface="Source Sans Pro" panose="020B0503030403020204" pitchFamily="34" charset="0"/>
              </a:rPr>
              <a:t>ie anspruchsvollen Teile eines Gemäldes</a:t>
            </a:r>
          </a:p>
          <a:p>
            <a:pPr algn="ctr"/>
            <a:r>
              <a:rPr lang="de-DE" sz="1400" dirty="0" smtClean="0">
                <a:latin typeface="Source Sans Pro" panose="020B0503030403020204" pitchFamily="34" charset="0"/>
              </a:rPr>
              <a:t>(und lassen den </a:t>
            </a:r>
            <a:r>
              <a:rPr lang="de-DE" sz="1400" dirty="0">
                <a:latin typeface="Source Sans Pro" panose="020B0503030403020204" pitchFamily="34" charset="0"/>
              </a:rPr>
              <a:t>R</a:t>
            </a:r>
            <a:r>
              <a:rPr lang="de-DE" sz="1400" dirty="0" smtClean="0">
                <a:latin typeface="Source Sans Pro" panose="020B0503030403020204" pitchFamily="34" charset="0"/>
              </a:rPr>
              <a:t>est von Mitarbeitern malen)“</a:t>
            </a:r>
          </a:p>
          <a:p>
            <a:pPr algn="ctr"/>
            <a:r>
              <a:rPr lang="de-DE" sz="1400" dirty="0" smtClean="0">
                <a:latin typeface="Source Sans Pro" panose="020B0503030403020204" pitchFamily="34" charset="0"/>
              </a:rPr>
              <a:t>…</a:t>
            </a:r>
            <a:endParaRPr lang="de-DE" sz="1400" dirty="0">
              <a:latin typeface="Source Sans Pro" panose="020B0503030403020204" pitchFamily="34" charset="0"/>
            </a:endParaRPr>
          </a:p>
          <a:p>
            <a:pPr algn="ctr"/>
            <a:r>
              <a:rPr lang="de-DE" dirty="0" smtClean="0">
                <a:latin typeface="Source Sans Pro" panose="020B0503030403020204" pitchFamily="34" charset="0"/>
              </a:rPr>
              <a:t>Gemälde können also von </a:t>
            </a:r>
            <a:r>
              <a:rPr lang="de-DE" b="1" dirty="0" smtClean="0">
                <a:solidFill>
                  <a:schemeClr val="accent2"/>
                </a:solidFill>
                <a:latin typeface="Source Sans Pro" panose="020B0503030403020204" pitchFamily="34" charset="0"/>
              </a:rPr>
              <a:t>mehreren</a:t>
            </a:r>
            <a:r>
              <a:rPr lang="de-DE" dirty="0" smtClean="0">
                <a:latin typeface="Source Sans Pro" panose="020B0503030403020204" pitchFamily="34" charset="0"/>
              </a:rPr>
              <a:t> </a:t>
            </a:r>
          </a:p>
          <a:p>
            <a:pPr algn="ctr"/>
            <a:r>
              <a:rPr lang="de-DE" dirty="0" smtClean="0">
                <a:latin typeface="Source Sans Pro" panose="020B0503030403020204" pitchFamily="34" charset="0"/>
              </a:rPr>
              <a:t>Personen</a:t>
            </a:r>
            <a:r>
              <a:rPr lang="de-DE" dirty="0">
                <a:latin typeface="Source Sans Pro" panose="020B0503030403020204" pitchFamily="34" charset="0"/>
              </a:rPr>
              <a:t> </a:t>
            </a:r>
            <a:r>
              <a:rPr lang="de-DE" dirty="0" smtClean="0">
                <a:latin typeface="Source Sans Pro" panose="020B0503030403020204" pitchFamily="34" charset="0"/>
              </a:rPr>
              <a:t>erschaffen worden sein!</a:t>
            </a:r>
            <a:endParaRPr lang="de-DE" dirty="0">
              <a:latin typeface="Source Sans Pro" panose="020B0503030403020204" pitchFamily="34" charset="0"/>
            </a:endParaRPr>
          </a:p>
        </p:txBody>
      </p:sp>
      <p:sp>
        <p:nvSpPr>
          <p:cNvPr id="15" name="Textfeld 14"/>
          <p:cNvSpPr txBox="1"/>
          <p:nvPr/>
        </p:nvSpPr>
        <p:spPr>
          <a:xfrm>
            <a:off x="7535604" y="3272787"/>
            <a:ext cx="449162" cy="461665"/>
          </a:xfrm>
          <a:prstGeom prst="rect">
            <a:avLst/>
          </a:prstGeom>
          <a:noFill/>
        </p:spPr>
        <p:txBody>
          <a:bodyPr wrap="none" rtlCol="0">
            <a:spAutoFit/>
          </a:bodyPr>
          <a:lstStyle/>
          <a:p>
            <a:r>
              <a:rPr lang="de-DE" sz="2400" b="1" dirty="0" smtClean="0">
                <a:solidFill>
                  <a:schemeClr val="accent2"/>
                </a:solidFill>
                <a:latin typeface="Source Sans Pro" panose="020B0503030403020204" pitchFamily="34" charset="0"/>
              </a:rPr>
              <a:t>m</a:t>
            </a:r>
            <a:endParaRPr lang="de-DE" sz="2400" b="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67988370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„Bloß nicht zu voreilig!“</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Gemälde</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1" dirty="0">
                <a:solidFill>
                  <a:srgbClr val="0070C0"/>
                </a:solidFill>
                <a:latin typeface="Source Sans Pro" panose="020B0503030403020204" pitchFamily="34" charset="0"/>
              </a:rPr>
              <a:t>e</a:t>
            </a:r>
            <a:r>
              <a:rPr lang="de-DE" sz="1200" b="1" dirty="0" smtClean="0">
                <a:solidFill>
                  <a:srgbClr val="0070C0"/>
                </a:solidFill>
                <a:latin typeface="Source Sans Pro" panose="020B0503030403020204" pitchFamily="34" charset="0"/>
              </a:rPr>
              <a:t>rschaffen von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4" name="Textfeld 13"/>
          <p:cNvSpPr txBox="1"/>
          <p:nvPr/>
        </p:nvSpPr>
        <p:spPr>
          <a:xfrm>
            <a:off x="3473264" y="4698771"/>
            <a:ext cx="4533613" cy="830997"/>
          </a:xfrm>
          <a:prstGeom prst="rect">
            <a:avLst/>
          </a:prstGeom>
          <a:noFill/>
        </p:spPr>
        <p:txBody>
          <a:bodyPr wrap="none" rtlCol="0">
            <a:spAutoFit/>
          </a:bodyPr>
          <a:lstStyle/>
          <a:p>
            <a:pPr algn="ctr"/>
            <a:r>
              <a:rPr lang="de-DE" sz="1600" dirty="0" smtClean="0">
                <a:latin typeface="Source Sans Pro" panose="020B0503030403020204" pitchFamily="34" charset="0"/>
              </a:rPr>
              <a:t>Falls </a:t>
            </a:r>
            <a:r>
              <a:rPr lang="de-DE" sz="1600" dirty="0" smtClean="0">
                <a:latin typeface="Source Sans Pro" panose="020B0503030403020204" pitchFamily="34" charset="0"/>
              </a:rPr>
              <a:t>also </a:t>
            </a:r>
            <a:r>
              <a:rPr lang="de-DE" sz="1600" dirty="0" smtClean="0">
                <a:latin typeface="Source Sans Pro" panose="020B0503030403020204" pitchFamily="34" charset="0"/>
              </a:rPr>
              <a:t>der Auftraggeber pro Gemälde </a:t>
            </a:r>
          </a:p>
          <a:p>
            <a:pPr algn="ctr"/>
            <a:r>
              <a:rPr lang="de-DE" sz="1600" dirty="0" smtClean="0">
                <a:latin typeface="Source Sans Pro" panose="020B0503030403020204" pitchFamily="34" charset="0"/>
              </a:rPr>
              <a:t>immer nur den </a:t>
            </a:r>
            <a:r>
              <a:rPr lang="de-DE" sz="1600" b="1" dirty="0" smtClean="0">
                <a:latin typeface="Source Sans Pro" panose="020B0503030403020204" pitchFamily="34" charset="0"/>
              </a:rPr>
              <a:t>„Hauptmaler“ </a:t>
            </a:r>
            <a:r>
              <a:rPr lang="de-DE" sz="1600" dirty="0" smtClean="0">
                <a:latin typeface="Source Sans Pro" panose="020B0503030403020204" pitchFamily="34" charset="0"/>
              </a:rPr>
              <a:t>abspeichern</a:t>
            </a:r>
          </a:p>
          <a:p>
            <a:pPr algn="ctr"/>
            <a:r>
              <a:rPr lang="de-DE" sz="1600" dirty="0">
                <a:latin typeface="Source Sans Pro" panose="020B0503030403020204" pitchFamily="34" charset="0"/>
              </a:rPr>
              <a:t>m</a:t>
            </a:r>
            <a:r>
              <a:rPr lang="de-DE" sz="1600" dirty="0" smtClean="0">
                <a:latin typeface="Source Sans Pro" panose="020B0503030403020204" pitchFamily="34" charset="0"/>
              </a:rPr>
              <a:t>öchte, dann handelt es sich um eine </a:t>
            </a:r>
            <a:r>
              <a:rPr lang="de-DE" sz="1600" b="1" dirty="0" smtClean="0">
                <a:solidFill>
                  <a:schemeClr val="accent2"/>
                </a:solidFill>
                <a:latin typeface="Source Sans Pro" panose="020B0503030403020204" pitchFamily="34" charset="0"/>
              </a:rPr>
              <a:t>1:n</a:t>
            </a:r>
            <a:r>
              <a:rPr lang="de-DE" sz="1600" dirty="0" smtClean="0">
                <a:latin typeface="Source Sans Pro" panose="020B0503030403020204" pitchFamily="34" charset="0"/>
              </a:rPr>
              <a:t>-Relation</a:t>
            </a:r>
            <a:endParaRPr lang="de-DE" sz="1600" dirty="0">
              <a:latin typeface="Source Sans Pro" panose="020B0503030403020204" pitchFamily="34" charset="0"/>
            </a:endParaRPr>
          </a:p>
        </p:txBody>
      </p:sp>
      <p:sp>
        <p:nvSpPr>
          <p:cNvPr id="15" name="Textfeld 14"/>
          <p:cNvSpPr txBox="1"/>
          <p:nvPr/>
        </p:nvSpPr>
        <p:spPr>
          <a:xfrm>
            <a:off x="7535604" y="3272787"/>
            <a:ext cx="346570" cy="461665"/>
          </a:xfrm>
          <a:prstGeom prst="rect">
            <a:avLst/>
          </a:prstGeom>
          <a:noFill/>
        </p:spPr>
        <p:txBody>
          <a:bodyPr wrap="none" rtlCol="0">
            <a:spAutoFit/>
          </a:bodyPr>
          <a:lstStyle/>
          <a:p>
            <a:r>
              <a:rPr lang="de-DE" sz="2400" b="1" dirty="0" smtClean="0">
                <a:latin typeface="Source Sans Pro" panose="020B0503030403020204" pitchFamily="34" charset="0"/>
              </a:rPr>
              <a:t>1</a:t>
            </a:r>
            <a:endParaRPr lang="de-DE" sz="2400" b="1" dirty="0">
              <a:latin typeface="Source Sans Pro" panose="020B0503030403020204" pitchFamily="34" charset="0"/>
            </a:endParaRPr>
          </a:p>
        </p:txBody>
      </p:sp>
    </p:spTree>
    <p:extLst>
      <p:ext uri="{BB962C8B-B14F-4D97-AF65-F5344CB8AC3E}">
        <p14:creationId xmlns:p14="http://schemas.microsoft.com/office/powerpoint/2010/main" val="136544079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25767" cy="720725"/>
          </a:xfrm>
        </p:spPr>
        <p:txBody>
          <a:bodyPr>
            <a:normAutofit/>
          </a:bodyPr>
          <a:lstStyle/>
          <a:p>
            <a:r>
              <a:rPr lang="de-DE" dirty="0" smtClean="0">
                <a:latin typeface="Source Sans Pro" panose="020B0503030403020204" pitchFamily="34" charset="0"/>
              </a:rPr>
              <a:t>„Bloß nicht zu voreilig!“</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849087" y="1479666"/>
            <a:ext cx="2687216" cy="40649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Gemälde</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8" name="Rechteck 7"/>
          <p:cNvSpPr/>
          <p:nvPr/>
        </p:nvSpPr>
        <p:spPr>
          <a:xfrm>
            <a:off x="7940352" y="1479666"/>
            <a:ext cx="2687216" cy="406492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smtClean="0">
                <a:ln>
                  <a:noFill/>
                </a:ln>
                <a:solidFill>
                  <a:srgbClr val="0071B2"/>
                </a:solidFill>
                <a:effectLst/>
                <a:uLnTx/>
                <a:uFillTx/>
                <a:latin typeface="Source Sans Pro" panose="020B0503030403020204" pitchFamily="34" charset="0"/>
              </a:rPr>
              <a:t>Person</a:t>
            </a:r>
            <a:endParaRPr kumimoji="0" lang="de-DE" sz="36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
        <p:nvSpPr>
          <p:cNvPr id="9" name="Raute 8"/>
          <p:cNvSpPr/>
          <p:nvPr/>
        </p:nvSpPr>
        <p:spPr>
          <a:xfrm>
            <a:off x="4563685" y="3357274"/>
            <a:ext cx="229431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200" b="1" dirty="0">
                <a:solidFill>
                  <a:srgbClr val="0070C0"/>
                </a:solidFill>
                <a:latin typeface="Source Sans Pro" panose="020B0503030403020204" pitchFamily="34" charset="0"/>
              </a:rPr>
              <a:t>e</a:t>
            </a:r>
            <a:r>
              <a:rPr lang="de-DE" sz="1200" b="1" dirty="0" smtClean="0">
                <a:solidFill>
                  <a:srgbClr val="0070C0"/>
                </a:solidFill>
                <a:latin typeface="Source Sans Pro" panose="020B0503030403020204" pitchFamily="34" charset="0"/>
              </a:rPr>
              <a:t>rschaffen von</a:t>
            </a:r>
            <a:endParaRPr kumimoji="0" lang="de-DE" sz="1200" b="1" i="0" u="none" strike="noStrike" kern="1200" cap="none" spc="0" normalizeH="0" baseline="0" noProof="0" dirty="0">
              <a:ln>
                <a:noFill/>
              </a:ln>
              <a:solidFill>
                <a:srgbClr val="0070C0"/>
              </a:solidFill>
              <a:effectLst/>
              <a:uLnTx/>
              <a:uFillTx/>
              <a:latin typeface="Source Sans Pro" panose="020B0503030403020204" pitchFamily="34" charset="0"/>
            </a:endParaRPr>
          </a:p>
        </p:txBody>
      </p:sp>
      <p:cxnSp>
        <p:nvCxnSpPr>
          <p:cNvPr id="13" name="Gerader Verbinder 12"/>
          <p:cNvCxnSpPr>
            <a:endCxn id="9" idx="3"/>
          </p:cNvCxnSpPr>
          <p:nvPr/>
        </p:nvCxnSpPr>
        <p:spPr>
          <a:xfrm flipH="1">
            <a:off x="6857998" y="3680039"/>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Gerader Verbinder 61"/>
          <p:cNvCxnSpPr/>
          <p:nvPr/>
        </p:nvCxnSpPr>
        <p:spPr>
          <a:xfrm flipH="1">
            <a:off x="3536303" y="3678565"/>
            <a:ext cx="1082354"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3536303" y="3281294"/>
            <a:ext cx="360996" cy="461665"/>
          </a:xfrm>
          <a:prstGeom prst="rect">
            <a:avLst/>
          </a:prstGeom>
          <a:noFill/>
        </p:spPr>
        <p:txBody>
          <a:bodyPr wrap="none" rtlCol="0">
            <a:spAutoFit/>
          </a:bodyPr>
          <a:lstStyle/>
          <a:p>
            <a:r>
              <a:rPr lang="de-DE" sz="2400" b="1" dirty="0" smtClean="0">
                <a:latin typeface="Source Sans Pro" panose="020B0503030403020204" pitchFamily="34" charset="0"/>
              </a:rPr>
              <a:t>n</a:t>
            </a:r>
            <a:endParaRPr lang="de-DE" sz="2400" b="1" dirty="0">
              <a:latin typeface="Source Sans Pro" panose="020B0503030403020204" pitchFamily="34" charset="0"/>
            </a:endParaRPr>
          </a:p>
        </p:txBody>
      </p:sp>
      <p:sp>
        <p:nvSpPr>
          <p:cNvPr id="14" name="Textfeld 13"/>
          <p:cNvSpPr txBox="1"/>
          <p:nvPr/>
        </p:nvSpPr>
        <p:spPr>
          <a:xfrm>
            <a:off x="3661479" y="4698771"/>
            <a:ext cx="4153701" cy="830997"/>
          </a:xfrm>
          <a:prstGeom prst="rect">
            <a:avLst/>
          </a:prstGeom>
          <a:noFill/>
        </p:spPr>
        <p:txBody>
          <a:bodyPr wrap="none" rtlCol="0">
            <a:spAutoFit/>
          </a:bodyPr>
          <a:lstStyle/>
          <a:p>
            <a:pPr algn="ctr"/>
            <a:r>
              <a:rPr lang="de-DE" sz="1600" dirty="0" smtClean="0">
                <a:latin typeface="Source Sans Pro" panose="020B0503030403020204" pitchFamily="34" charset="0"/>
              </a:rPr>
              <a:t>Falls hingegen laut Auftraggeber pro Gemälde </a:t>
            </a:r>
          </a:p>
          <a:p>
            <a:pPr algn="ctr"/>
            <a:r>
              <a:rPr lang="de-DE" sz="1600" b="1" dirty="0" smtClean="0">
                <a:latin typeface="Source Sans Pro" panose="020B0503030403020204" pitchFamily="34" charset="0"/>
              </a:rPr>
              <a:t>alle</a:t>
            </a:r>
            <a:r>
              <a:rPr lang="de-DE" sz="1600" dirty="0" smtClean="0">
                <a:latin typeface="Source Sans Pro" panose="020B0503030403020204" pitchFamily="34" charset="0"/>
              </a:rPr>
              <a:t> </a:t>
            </a:r>
            <a:r>
              <a:rPr lang="de-DE" sz="1600" b="1" dirty="0" smtClean="0">
                <a:latin typeface="Source Sans Pro" panose="020B0503030403020204" pitchFamily="34" charset="0"/>
              </a:rPr>
              <a:t>Maler </a:t>
            </a:r>
            <a:r>
              <a:rPr lang="de-DE" sz="1600" dirty="0" smtClean="0">
                <a:latin typeface="Source Sans Pro" panose="020B0503030403020204" pitchFamily="34" charset="0"/>
              </a:rPr>
              <a:t>abgespeichert werden sollen,</a:t>
            </a:r>
          </a:p>
          <a:p>
            <a:pPr algn="ctr"/>
            <a:r>
              <a:rPr lang="de-DE" sz="1600" dirty="0" smtClean="0">
                <a:latin typeface="Source Sans Pro" panose="020B0503030403020204" pitchFamily="34" charset="0"/>
              </a:rPr>
              <a:t>dann handelt es sich um eine </a:t>
            </a:r>
            <a:r>
              <a:rPr lang="de-DE" sz="1600" b="1" dirty="0">
                <a:solidFill>
                  <a:schemeClr val="accent2"/>
                </a:solidFill>
                <a:latin typeface="Source Sans Pro" panose="020B0503030403020204" pitchFamily="34" charset="0"/>
              </a:rPr>
              <a:t>m</a:t>
            </a:r>
            <a:r>
              <a:rPr lang="de-DE" sz="1600" b="1" dirty="0" smtClean="0">
                <a:solidFill>
                  <a:schemeClr val="accent2"/>
                </a:solidFill>
                <a:latin typeface="Source Sans Pro" panose="020B0503030403020204" pitchFamily="34" charset="0"/>
              </a:rPr>
              <a:t>:n</a:t>
            </a:r>
            <a:r>
              <a:rPr lang="de-DE" sz="1600" dirty="0" smtClean="0">
                <a:latin typeface="Source Sans Pro" panose="020B0503030403020204" pitchFamily="34" charset="0"/>
              </a:rPr>
              <a:t>-Relation</a:t>
            </a:r>
            <a:endParaRPr lang="de-DE" sz="1600" dirty="0">
              <a:latin typeface="Source Sans Pro" panose="020B0503030403020204" pitchFamily="34" charset="0"/>
            </a:endParaRPr>
          </a:p>
        </p:txBody>
      </p:sp>
      <p:sp>
        <p:nvSpPr>
          <p:cNvPr id="15" name="Textfeld 14"/>
          <p:cNvSpPr txBox="1"/>
          <p:nvPr/>
        </p:nvSpPr>
        <p:spPr>
          <a:xfrm>
            <a:off x="7535604" y="3272787"/>
            <a:ext cx="449162" cy="461665"/>
          </a:xfrm>
          <a:prstGeom prst="rect">
            <a:avLst/>
          </a:prstGeom>
          <a:noFill/>
        </p:spPr>
        <p:txBody>
          <a:bodyPr wrap="none" rtlCol="0">
            <a:spAutoFit/>
          </a:bodyPr>
          <a:lstStyle/>
          <a:p>
            <a:r>
              <a:rPr lang="de-DE" sz="2400" b="1" dirty="0">
                <a:latin typeface="Source Sans Pro" panose="020B0503030403020204" pitchFamily="34" charset="0"/>
              </a:rPr>
              <a:t>m</a:t>
            </a:r>
          </a:p>
        </p:txBody>
      </p:sp>
    </p:spTree>
    <p:extLst>
      <p:ext uri="{BB962C8B-B14F-4D97-AF65-F5344CB8AC3E}">
        <p14:creationId xmlns:p14="http://schemas.microsoft.com/office/powerpoint/2010/main" val="260518030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7901518" cy="707704"/>
          </a:xfrm>
        </p:spPr>
        <p:txBody>
          <a:bodyPr>
            <a:noAutofit/>
          </a:bodyPr>
          <a:lstStyle/>
          <a:p>
            <a:r>
              <a:rPr lang="de-DE" sz="6600" dirty="0" smtClean="0">
                <a:latin typeface="Source Sans Pro" panose="020B0503030403020204" pitchFamily="34" charset="0"/>
              </a:rPr>
              <a:t>„Stolperfallen“</a:t>
            </a:r>
          </a:p>
          <a:p>
            <a:r>
              <a:rPr lang="de-DE" sz="3200" dirty="0" smtClean="0"/>
              <a:t>	</a:t>
            </a:r>
            <a:r>
              <a:rPr lang="de-DE" sz="3200" dirty="0" smtClean="0">
                <a:latin typeface="Source Sans Pro" panose="020B0503030403020204" pitchFamily="34" charset="0"/>
              </a:rPr>
              <a:t>Quintessenz</a:t>
            </a:r>
          </a:p>
          <a:p>
            <a:r>
              <a:rPr lang="de-DE" sz="4000" dirty="0"/>
              <a:t>	</a:t>
            </a:r>
          </a:p>
        </p:txBody>
      </p:sp>
    </p:spTree>
    <p:extLst>
      <p:ext uri="{BB962C8B-B14F-4D97-AF65-F5344CB8AC3E}">
        <p14:creationId xmlns:p14="http://schemas.microsoft.com/office/powerpoint/2010/main" val="291674710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smtClean="0"/>
              <a:t>Stolperfallen -&gt; </a:t>
            </a:r>
            <a:r>
              <a:rPr lang="de-DE" dirty="0" smtClean="0">
                <a:solidFill>
                  <a:schemeClr val="accent2"/>
                </a:solidFill>
              </a:rPr>
              <a:t>Quintessenz</a:t>
            </a:r>
            <a:endParaRPr lang="de-DE" sz="2000" b="0" i="1" dirty="0">
              <a:solidFill>
                <a:schemeClr val="accent2"/>
              </a:solidFill>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88359" y="1628776"/>
            <a:ext cx="11783473" cy="418576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rPr>
              <a:t>Im Rahmen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 des </a:t>
            </a:r>
            <a:r>
              <a:rPr kumimoji="0" lang="de-DE" sz="2400" b="0" i="1" u="none" strike="noStrike" kern="1200" cap="none" spc="0" normalizeH="0" noProof="0" dirty="0" smtClean="0">
                <a:ln>
                  <a:noFill/>
                </a:ln>
                <a:solidFill>
                  <a:srgbClr val="0071B2"/>
                </a:solidFill>
                <a:effectLst/>
                <a:uLnTx/>
                <a:uFillTx/>
                <a:latin typeface="Source Sans Pro" panose="020B0503030403020204" pitchFamily="34" charset="0"/>
              </a:rPr>
              <a:t>konzeptionellen Datenbankentwurfs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wird es oft unverzichtbar sein,     einen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regen Austausch mit dem Auftraggeber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zu pflegen.</a:t>
            </a:r>
            <a:endParaRPr kumimoji="0" lang="de-DE" sz="14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Nur auf diese Weise wird es gelingen, zu einem exakten Verständnis der seitens des Auftraggebers gewünschten </a:t>
            </a:r>
            <a:r>
              <a:rPr lang="de-DE" sz="2400" b="1" dirty="0" smtClean="0">
                <a:solidFill>
                  <a:srgbClr val="0071B2"/>
                </a:solidFill>
                <a:latin typeface="Source Sans Pro" panose="020B0503030403020204" pitchFamily="34" charset="0"/>
              </a:rPr>
              <a:t>Entitäten</a:t>
            </a:r>
            <a:r>
              <a:rPr lang="de-DE" sz="2400" dirty="0" smtClean="0">
                <a:solidFill>
                  <a:srgbClr val="0071B2"/>
                </a:solidFill>
                <a:latin typeface="Source Sans Pro" panose="020B0503030403020204" pitchFamily="34" charset="0"/>
              </a:rPr>
              <a:t> und </a:t>
            </a:r>
            <a:r>
              <a:rPr lang="de-DE" sz="2400" b="1" dirty="0" smtClean="0">
                <a:solidFill>
                  <a:srgbClr val="0071B2"/>
                </a:solidFill>
                <a:latin typeface="Source Sans Pro" panose="020B0503030403020204" pitchFamily="34" charset="0"/>
              </a:rPr>
              <a:t>Relationen</a:t>
            </a:r>
            <a:r>
              <a:rPr lang="de-DE" sz="2400" dirty="0" smtClean="0">
                <a:solidFill>
                  <a:srgbClr val="0071B2"/>
                </a:solidFill>
                <a:latin typeface="Source Sans Pro" panose="020B0503030403020204" pitchFamily="34" charset="0"/>
              </a:rPr>
              <a:t> zu gelangen. </a:t>
            </a:r>
            <a:endPar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rPr>
              <a:t>Zudem wird man von Regelungen erfahren, die sich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nicht aus dem Zusammenhang erschließen lassen</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rPr>
              <a:t>, denn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smtClean="0">
              <a:ln>
                <a:noFill/>
              </a:ln>
              <a:solidFill>
                <a:srgbClr val="0071B2"/>
              </a:solidFill>
              <a:effectLst/>
              <a:uLnTx/>
              <a:uFillTx/>
              <a:latin typeface="Calibri" panose="020F0502020204030204"/>
              <a:ea typeface="+mn-ea"/>
              <a:cs typeface="+mn-cs"/>
            </a:endParaRPr>
          </a:p>
          <a:p>
            <a:pPr marL="742950" lvl="1" indent="-285750">
              <a:buFont typeface="Symbol" panose="05050102010706020507" pitchFamily="18" charset="2"/>
              <a:buChar char="-"/>
            </a:pPr>
            <a:r>
              <a:rPr lang="de-DE" dirty="0" smtClean="0">
                <a:solidFill>
                  <a:srgbClr val="0071B2"/>
                </a:solidFill>
                <a:latin typeface="Source Sans Pro" panose="020B0503030403020204" pitchFamily="34" charset="0"/>
              </a:rPr>
              <a:t>ob (z.B.) jeder Polizist </a:t>
            </a:r>
            <a:r>
              <a:rPr lang="de-DE" b="1" dirty="0" smtClean="0">
                <a:solidFill>
                  <a:srgbClr val="0071B2"/>
                </a:solidFill>
                <a:latin typeface="Source Sans Pro" panose="020B0503030403020204" pitchFamily="34" charset="0"/>
              </a:rPr>
              <a:t>höchstens 1 </a:t>
            </a:r>
            <a:r>
              <a:rPr lang="de-DE" dirty="0" smtClean="0">
                <a:solidFill>
                  <a:srgbClr val="0071B2"/>
                </a:solidFill>
                <a:latin typeface="Source Sans Pro" panose="020B0503030403020204" pitchFamily="34" charset="0"/>
              </a:rPr>
              <a:t>Streifenwagen zugeordnet ist </a:t>
            </a:r>
            <a:r>
              <a:rPr lang="de-DE" sz="1600" i="1" dirty="0" smtClean="0">
                <a:solidFill>
                  <a:srgbClr val="0071B2"/>
                </a:solidFill>
                <a:latin typeface="Source Sans Pro" panose="020B0503030403020204" pitchFamily="34" charset="0"/>
              </a:rPr>
              <a:t>(oder </a:t>
            </a:r>
            <a:r>
              <a:rPr lang="de-DE" sz="1600" b="1" i="1" dirty="0" smtClean="0">
                <a:solidFill>
                  <a:srgbClr val="0071B2"/>
                </a:solidFill>
                <a:latin typeface="Source Sans Pro" panose="020B0503030403020204" pitchFamily="34" charset="0"/>
              </a:rPr>
              <a:t>mehrere</a:t>
            </a:r>
            <a:r>
              <a:rPr lang="de-DE" sz="1600" i="1" dirty="0" smtClean="0">
                <a:solidFill>
                  <a:srgbClr val="0071B2"/>
                </a:solidFill>
                <a:latin typeface="Source Sans Pro" panose="020B0503030403020204" pitchFamily="34" charset="0"/>
              </a:rPr>
              <a:t> Fahrzeuge benutzen darf)</a:t>
            </a:r>
          </a:p>
          <a:p>
            <a:pPr marL="742950" lvl="1" indent="-285750">
              <a:buFont typeface="Symbol" panose="05050102010706020507" pitchFamily="18" charset="2"/>
              <a:buChar char="-"/>
            </a:pPr>
            <a:r>
              <a:rPr lang="de-DE" dirty="0">
                <a:solidFill>
                  <a:srgbClr val="0071B2"/>
                </a:solidFill>
                <a:latin typeface="Source Sans Pro" panose="020B0503030403020204" pitchFamily="34" charset="0"/>
              </a:rPr>
              <a:t>o</a:t>
            </a:r>
            <a:r>
              <a:rPr lang="de-DE" dirty="0" smtClean="0">
                <a:solidFill>
                  <a:srgbClr val="0071B2"/>
                </a:solidFill>
                <a:latin typeface="Source Sans Pro" panose="020B0503030403020204" pitchFamily="34" charset="0"/>
              </a:rPr>
              <a:t>b jeder Mitarbeiter </a:t>
            </a:r>
            <a:r>
              <a:rPr lang="de-DE" b="1" dirty="0" smtClean="0">
                <a:solidFill>
                  <a:srgbClr val="0071B2"/>
                </a:solidFill>
                <a:latin typeface="Source Sans Pro" panose="020B0503030403020204" pitchFamily="34" charset="0"/>
              </a:rPr>
              <a:t>höchstens 1 </a:t>
            </a:r>
            <a:r>
              <a:rPr lang="de-DE" dirty="0" smtClean="0">
                <a:solidFill>
                  <a:srgbClr val="0071B2"/>
                </a:solidFill>
                <a:latin typeface="Source Sans Pro" panose="020B0503030403020204" pitchFamily="34" charset="0"/>
              </a:rPr>
              <a:t>Filiale zugeordnet ist </a:t>
            </a:r>
            <a:r>
              <a:rPr lang="de-DE" sz="1600" i="1" dirty="0" smtClean="0">
                <a:solidFill>
                  <a:srgbClr val="0071B2"/>
                </a:solidFill>
                <a:latin typeface="Source Sans Pro" panose="020B0503030403020204" pitchFamily="34" charset="0"/>
              </a:rPr>
              <a:t>(oder als Springer in </a:t>
            </a:r>
            <a:r>
              <a:rPr lang="de-DE" sz="1600" b="1" i="1" dirty="0" smtClean="0">
                <a:solidFill>
                  <a:srgbClr val="0071B2"/>
                </a:solidFill>
                <a:latin typeface="Source Sans Pro" panose="020B0503030403020204" pitchFamily="34" charset="0"/>
              </a:rPr>
              <a:t>mehreren</a:t>
            </a:r>
            <a:r>
              <a:rPr lang="de-DE" sz="1600" i="1" dirty="0" smtClean="0">
                <a:solidFill>
                  <a:srgbClr val="0071B2"/>
                </a:solidFill>
                <a:latin typeface="Source Sans Pro" panose="020B0503030403020204" pitchFamily="34" charset="0"/>
              </a:rPr>
              <a:t> eingesetzt werden kann)</a:t>
            </a:r>
          </a:p>
          <a:p>
            <a:pPr marL="742950" lvl="1" indent="-285750">
              <a:buFont typeface="Symbol" panose="05050102010706020507" pitchFamily="18" charset="2"/>
              <a:buChar char="-"/>
            </a:pPr>
            <a:r>
              <a:rPr lang="de-DE" dirty="0" smtClean="0">
                <a:solidFill>
                  <a:srgbClr val="0071B2"/>
                </a:solidFill>
                <a:latin typeface="Source Sans Pro" panose="020B0503030403020204" pitchFamily="34" charset="0"/>
              </a:rPr>
              <a:t>ob jeder Spieler zeitgleich nur in </a:t>
            </a:r>
            <a:r>
              <a:rPr lang="de-DE" b="1" dirty="0" smtClean="0">
                <a:solidFill>
                  <a:srgbClr val="0071B2"/>
                </a:solidFill>
                <a:latin typeface="Source Sans Pro" panose="020B0503030403020204" pitchFamily="34" charset="0"/>
              </a:rPr>
              <a:t>höchstens 1 </a:t>
            </a:r>
            <a:r>
              <a:rPr lang="de-DE" dirty="0" smtClean="0">
                <a:solidFill>
                  <a:srgbClr val="0071B2"/>
                </a:solidFill>
                <a:latin typeface="Source Sans Pro" panose="020B0503030403020204" pitchFamily="34" charset="0"/>
              </a:rPr>
              <a:t>Verein aktives Mitglied sein kann </a:t>
            </a:r>
            <a:r>
              <a:rPr lang="de-DE" sz="1200" i="1" dirty="0" smtClean="0">
                <a:solidFill>
                  <a:srgbClr val="0071B2"/>
                </a:solidFill>
                <a:latin typeface="Source Sans Pro" panose="020B0503030403020204" pitchFamily="34" charset="0"/>
              </a:rPr>
              <a:t>(oder – wie im Schach – in </a:t>
            </a:r>
            <a:r>
              <a:rPr lang="de-DE" sz="1200" b="1" i="1" dirty="0" smtClean="0">
                <a:solidFill>
                  <a:srgbClr val="0071B2"/>
                </a:solidFill>
                <a:latin typeface="Source Sans Pro" panose="020B0503030403020204" pitchFamily="34" charset="0"/>
              </a:rPr>
              <a:t>mehreren</a:t>
            </a:r>
            <a:r>
              <a:rPr lang="de-DE" sz="1200" i="1" dirty="0" smtClean="0">
                <a:solidFill>
                  <a:srgbClr val="0071B2"/>
                </a:solidFill>
                <a:latin typeface="Source Sans Pro" panose="020B0503030403020204" pitchFamily="34" charset="0"/>
              </a:rPr>
              <a:t>) </a:t>
            </a:r>
          </a:p>
          <a:p>
            <a:pPr marL="742950" lvl="1" indent="-285750">
              <a:buFont typeface="Symbol" panose="05050102010706020507" pitchFamily="18" charset="2"/>
              <a:buChar char="-"/>
            </a:pPr>
            <a:endParaRPr lang="de-DE" sz="800" i="1" dirty="0" smtClean="0">
              <a:solidFill>
                <a:srgbClr val="0071B2"/>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rPr>
              <a:t>	… stets handelt es sich um eine </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rPr>
              <a:t>„Firmenpolitik“</a:t>
            </a:r>
            <a:r>
              <a:rPr kumimoji="0" lang="de-DE" sz="2000" i="0" u="none" strike="noStrike" kern="1200" cap="none" spc="0" normalizeH="0" baseline="0" noProof="0" dirty="0" smtClean="0">
                <a:ln>
                  <a:noFill/>
                </a:ln>
                <a:solidFill>
                  <a:srgbClr val="0071B2"/>
                </a:solidFill>
                <a:effectLst/>
                <a:uLnTx/>
                <a:uFillTx/>
                <a:latin typeface="Source Sans Pro" panose="020B0503030403020204" pitchFamily="34" charset="0"/>
              </a:rPr>
              <a:t>,</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rPr>
              <a:t> </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rPr>
              <a:t>die wir vom</a:t>
            </a:r>
            <a:r>
              <a:rPr kumimoji="0" lang="de-DE" sz="2000" b="0" i="0" u="none" strike="noStrike" kern="1200" cap="none" spc="0" normalizeH="0" noProof="0" dirty="0" smtClean="0">
                <a:ln>
                  <a:noFill/>
                </a:ln>
                <a:solidFill>
                  <a:srgbClr val="0071B2"/>
                </a:solidFill>
                <a:effectLst/>
                <a:uLnTx/>
                <a:uFillTx/>
                <a:latin typeface="Source Sans Pro" panose="020B0503030403020204" pitchFamily="34" charset="0"/>
              </a:rPr>
              <a:t> Auftraggeber</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rPr>
              <a:t> erfragen müssen.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de-DE" sz="800" b="0" i="0" u="none" strike="noStrike" kern="1200" cap="none" spc="0" normalizeH="0" baseline="0" noProof="0" dirty="0" smtClean="0">
              <a:ln>
                <a:noFill/>
              </a:ln>
              <a:solidFill>
                <a:srgbClr val="0071B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944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851448" cy="720725"/>
          </a:xfrm>
        </p:spPr>
        <p:txBody>
          <a:bodyPr>
            <a:normAutofit fontScale="90000"/>
          </a:bodyPr>
          <a:lstStyle/>
          <a:p>
            <a:r>
              <a:rPr lang="de-DE" dirty="0" smtClean="0">
                <a:latin typeface="Source Sans Pro" panose="020B0503030403020204" pitchFamily="34" charset="0"/>
              </a:rPr>
              <a:t>Gemeinsame Übung </a:t>
            </a:r>
            <a:r>
              <a:rPr lang="de-DE" sz="3100" dirty="0" smtClean="0">
                <a:latin typeface="Source Sans Pro" panose="020B0503030403020204" pitchFamily="34" charset="0"/>
              </a:rPr>
              <a:t>(„Live-Coding“) </a:t>
            </a:r>
            <a:r>
              <a:rPr lang="de-DE" dirty="0" smtClean="0">
                <a:latin typeface="Source Sans Pro" panose="020B0503030403020204" pitchFamily="34" charset="0"/>
              </a:rPr>
              <a:t>-&gt; </a:t>
            </a:r>
            <a:r>
              <a:rPr lang="de-DE" dirty="0" smtClean="0">
                <a:solidFill>
                  <a:schemeClr val="accent2"/>
                </a:solidFill>
                <a:latin typeface="Source Sans Pro" panose="020B0503030403020204" pitchFamily="34" charset="0"/>
              </a:rPr>
              <a:t>A_01_02_01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3" name="Grafik 2"/>
          <p:cNvPicPr>
            <a:picLocks noChangeAspect="1"/>
          </p:cNvPicPr>
          <p:nvPr/>
        </p:nvPicPr>
        <p:blipFill>
          <a:blip r:embed="rId2"/>
          <a:stretch>
            <a:fillRect/>
          </a:stretch>
        </p:blipFill>
        <p:spPr>
          <a:xfrm>
            <a:off x="4763193" y="1289104"/>
            <a:ext cx="3033085" cy="4308423"/>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smtClean="0">
                <a:latin typeface="Source Sans Pro" panose="020B0503030403020204" pitchFamily="34" charset="0"/>
              </a:rPr>
              <a:t>Vielen Dank für Ihre Aufmerksamkeit!</a:t>
            </a:r>
            <a:endParaRPr lang="de-DE" dirty="0">
              <a:latin typeface="Source Sans Pro" panose="020B0503030403020204" pitchFamily="34" charset="0"/>
            </a:endParaRP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2711</Words>
  <Application>Microsoft Office PowerPoint</Application>
  <PresentationFormat>Breitbild</PresentationFormat>
  <Paragraphs>808</Paragraphs>
  <Slides>81</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81</vt:i4>
      </vt:variant>
    </vt:vector>
  </HeadingPairs>
  <TitlesOfParts>
    <vt:vector size="88" baseType="lpstr">
      <vt:lpstr>Arial</vt:lpstr>
      <vt:lpstr>Calibri</vt:lpstr>
      <vt:lpstr>Courier New</vt:lpstr>
      <vt:lpstr>Source Sans Pro</vt:lpstr>
      <vt:lpstr>Symbol</vt:lpstr>
      <vt:lpstr>Wingdings</vt:lpstr>
      <vt:lpstr>1_Office</vt:lpstr>
      <vt:lpstr>Datenbanken und SQL</vt:lpstr>
      <vt:lpstr>Agenda</vt:lpstr>
      <vt:lpstr>PowerPoint-Präsentation</vt:lpstr>
      <vt:lpstr>Relationstyp -&gt; Definition + Motivation</vt:lpstr>
      <vt:lpstr>PowerPoint-Präsentation</vt:lpstr>
      <vt:lpstr>1:1-Relation -&gt; Erläuterung</vt:lpstr>
      <vt:lpstr>1:1-Relation -&gt; Erläuterung</vt:lpstr>
      <vt:lpstr>1:1-Relation -&gt; Erläuterung</vt:lpstr>
      <vt:lpstr>PowerPoint-Präsentation</vt:lpstr>
      <vt:lpstr>1:n-Relation -&gt; Erläuterung</vt:lpstr>
      <vt:lpstr>1:n-Relation -&gt; Erläuterung</vt:lpstr>
      <vt:lpstr>1:n-Relation -&gt; Erläuterung</vt:lpstr>
      <vt:lpstr>1:n-Relation -&gt; Erläuterung</vt:lpstr>
      <vt:lpstr>PowerPoint-Präsentation</vt:lpstr>
      <vt:lpstr>m:n-Relation -&gt; Erläuterung</vt:lpstr>
      <vt:lpstr>m:n-Relation -&gt; Erläuterung</vt:lpstr>
      <vt:lpstr>m:n-Relation -&gt; Erläuterung</vt:lpstr>
      <vt:lpstr>m:n-Relation -&gt; Erläuterung</vt:lpstr>
      <vt:lpstr>m:n-Relation -&gt; Erläuterung</vt:lpstr>
      <vt:lpstr>m:n-Relation -&gt; Erläuterung</vt:lpstr>
      <vt:lpstr>PowerPoint-Präsentation</vt:lpstr>
      <vt:lpstr>Kardinalität -&gt; Definition + Motivation</vt:lpstr>
      <vt:lpstr>Ermittlung der Kardinalitäten ( =&gt; Ermittlung des Relationstyps)</vt:lpstr>
      <vt:lpstr>Ermittlung der Kardinalitäten ( =&gt; Ermittlung des Relationstyps)</vt:lpstr>
      <vt:lpstr>Ermittlung der Kardinalitäten ( =&gt; Ermittlung des Relationstyps)</vt:lpstr>
      <vt:lpstr>Ermittlung der Kardinalitäten ( =&gt; Ermittlung des Relationstyps)</vt:lpstr>
      <vt:lpstr>Ermittlung der Kardinalitäten ( =&gt; Ermittlung des Relationstyps)</vt:lpstr>
      <vt:lpstr>Ermittlung der Kardinalitäten ( =&gt; Ermittlung des Relationstyps)</vt:lpstr>
      <vt:lpstr>PowerPoint-Präsentation</vt:lpstr>
      <vt:lpstr>Ermittlung der Kardinalitäten -&gt; Beispiel (1)</vt:lpstr>
      <vt:lpstr>Ermittlung der Kardinalitäten -&gt; Beispiel (1)</vt:lpstr>
      <vt:lpstr>Ermittlung der Kardinalitäten -&gt; Beispiel (1)</vt:lpstr>
      <vt:lpstr>Ermittlung der Kardinalitäten -&gt; Beispiel (1)</vt:lpstr>
      <vt:lpstr>Ermittlung der Kardinalitäten -&gt; Beispiel (1)</vt:lpstr>
      <vt:lpstr>Ermittlung der Kardinalitäten -&gt; Beispiel (1)</vt:lpstr>
      <vt:lpstr>Ermittlung der Kardinalitäten -&gt; Beispiel (1)</vt:lpstr>
      <vt:lpstr>PowerPoint-Präsentation</vt:lpstr>
      <vt:lpstr>Ermittlung der Kardinalitäten -&gt; Beispiel (2)</vt:lpstr>
      <vt:lpstr>Ermittlung der Kardinalitäten -&gt; Beispiel (2)</vt:lpstr>
      <vt:lpstr>Ermittlung der Kardinalitäten -&gt; Beispiel (2)</vt:lpstr>
      <vt:lpstr>Ermittlung der Kardinalitäten -&gt; Beispiel (2)</vt:lpstr>
      <vt:lpstr>Ermittlung der Kardinalitäten -&gt; Beispiel (2)</vt:lpstr>
      <vt:lpstr>Ermittlung der Kardinalitäten -&gt; Beispiel (2)</vt:lpstr>
      <vt:lpstr>Ermittlung der Kardinalitäten -&gt; Beispiel (2)</vt:lpstr>
      <vt:lpstr>PowerPoint-Präsentation</vt:lpstr>
      <vt:lpstr>Ermittlung der Kardinalitäten -&gt; Beispiel (3)</vt:lpstr>
      <vt:lpstr>Ermittlung der Kardinalitäten -&gt; Beispiel (3)</vt:lpstr>
      <vt:lpstr>Ermittlung der Kardinalitäten -&gt; Beispiel (3)</vt:lpstr>
      <vt:lpstr>Ermittlung der Kardinalitäten -&gt; Beispiel (3)</vt:lpstr>
      <vt:lpstr>Ermittlung der Kardinalitäten -&gt; Beispiel (3)</vt:lpstr>
      <vt:lpstr>Ermittlung der Kardinalitäten -&gt; Beispiel (3)</vt:lpstr>
      <vt:lpstr>Ermittlung der Kardinalitäten -&gt; Beispiel (3)</vt:lpstr>
      <vt:lpstr>PowerPoint-Präsentation</vt:lpstr>
      <vt:lpstr>„Exemplar versus Typ“</vt:lpstr>
      <vt:lpstr>„Exemplar versus Typ“</vt:lpstr>
      <vt:lpstr>„Exemplar versus Typ“</vt:lpstr>
      <vt:lpstr>„Exemplar versus Typ“</vt:lpstr>
      <vt:lpstr>„Exemplar versus Typ“</vt:lpstr>
      <vt:lpstr>„Exemplar versus Typ“</vt:lpstr>
      <vt:lpstr>PowerPoint-Präsentation</vt:lpstr>
      <vt:lpstr>„aktuell versus historisch“</vt:lpstr>
      <vt:lpstr>„aktuell versus historisch“</vt:lpstr>
      <vt:lpstr>„aktuell versus historisch“</vt:lpstr>
      <vt:lpstr>„aktuell versus historisch“</vt:lpstr>
      <vt:lpstr>„aktuell versus historisch“</vt:lpstr>
      <vt:lpstr>„aktuell versus historisch“</vt:lpstr>
      <vt:lpstr>„aktuell versus historisch“</vt:lpstr>
      <vt:lpstr>„aktuell versus historisch“</vt:lpstr>
      <vt:lpstr>„aktuell versus historisch“</vt:lpstr>
      <vt:lpstr>PowerPoint-Präsentation</vt:lpstr>
      <vt:lpstr>„Bloß nicht zu voreilig!“</vt:lpstr>
      <vt:lpstr>„Bloß nicht zu voreilig!“</vt:lpstr>
      <vt:lpstr>„Bloß nicht zu voreilig!“</vt:lpstr>
      <vt:lpstr>„Bloß nicht zu voreilig!“</vt:lpstr>
      <vt:lpstr>„Bloß nicht zu voreilig!“</vt:lpstr>
      <vt:lpstr>„Bloß nicht zu voreilig!“</vt:lpstr>
      <vt:lpstr>„Bloß nicht zu voreilig!“</vt:lpstr>
      <vt:lpstr>PowerPoint-Präsentation</vt:lpstr>
      <vt:lpstr>Stolperfallen -&gt; Quintessenz</vt:lpstr>
      <vt:lpstr>Gemeinsame Übung („Live-Coding“) -&gt; A_01_02_01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cdMax Muster01</cp:lastModifiedBy>
  <cp:revision>234</cp:revision>
  <dcterms:created xsi:type="dcterms:W3CDTF">2022-02-01T13:48:14Z</dcterms:created>
  <dcterms:modified xsi:type="dcterms:W3CDTF">2022-10-13T07:33:12Z</dcterms:modified>
</cp:coreProperties>
</file>