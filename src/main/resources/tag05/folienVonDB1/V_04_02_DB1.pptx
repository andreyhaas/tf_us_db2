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63" r:id="rId5"/>
    <p:sldId id="369" r:id="rId6"/>
    <p:sldId id="370" r:id="rId7"/>
    <p:sldId id="371" r:id="rId8"/>
    <p:sldId id="372" r:id="rId9"/>
    <p:sldId id="373" r:id="rId10"/>
    <p:sldId id="378" r:id="rId11"/>
    <p:sldId id="379" r:id="rId12"/>
    <p:sldId id="380" r:id="rId13"/>
    <p:sldId id="392" r:id="rId14"/>
    <p:sldId id="374" r:id="rId15"/>
    <p:sldId id="375" r:id="rId16"/>
    <p:sldId id="376" r:id="rId17"/>
    <p:sldId id="377" r:id="rId18"/>
    <p:sldId id="389" r:id="rId19"/>
    <p:sldId id="382" r:id="rId20"/>
    <p:sldId id="383" r:id="rId21"/>
    <p:sldId id="384" r:id="rId22"/>
    <p:sldId id="385" r:id="rId23"/>
    <p:sldId id="277" r:id="rId24"/>
    <p:sldId id="259"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5" d="100"/>
          <a:sy n="105" d="100"/>
        </p:scale>
        <p:origin x="7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18.02.2026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18.02.2026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18.02.2026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18.02.2026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18.02.2026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18.02.2026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18.02.2026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18.02.2026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18.02.2026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18.02.2026</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(Woche 4 - Tag 2)</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943208"/>
            <a:ext cx="10713719" cy="3447098"/>
          </a:xfrm>
          <a:prstGeom prst="rect">
            <a:avLst/>
          </a:prstGeom>
          <a:noFill/>
        </p:spPr>
        <p:txBody>
          <a:bodyPr wrap="square" rtlCol="0">
            <a:spAutoFit/>
          </a:bodyPr>
          <a:lstStyle/>
          <a:p>
            <a:endParaRPr lang="de-DE" b="1" dirty="0">
              <a:latin typeface="Source Sans Pro" panose="020B0503030403020204" pitchFamily="34" charset="0"/>
            </a:endParaRPr>
          </a:p>
          <a:p>
            <a:endParaRPr lang="de-DE" sz="800" b="1" dirty="0">
              <a:latin typeface="Source Sans Pro" panose="020B0503030403020204" pitchFamily="34" charset="0"/>
            </a:endParaRPr>
          </a:p>
          <a:p>
            <a:pPr lvl="1"/>
            <a:r>
              <a:rPr lang="de-DE" b="1" dirty="0">
                <a:latin typeface="Source Sans Pro" panose="020B0503030403020204" pitchFamily="34" charset="0"/>
              </a:rPr>
              <a:t>Spezielle JOINs</a:t>
            </a:r>
          </a:p>
          <a:p>
            <a:pPr lvl="1"/>
            <a:endParaRPr lang="de-DE" sz="800" b="1" dirty="0">
              <a:latin typeface="Source Sans Pro" panose="020B0503030403020204" pitchFamily="34" charset="0"/>
            </a:endParaRPr>
          </a:p>
          <a:p>
            <a:pPr marL="1257300" lvl="2" indent="-342900">
              <a:buFont typeface="Courier New" panose="02070309020205020404" pitchFamily="49" charset="0"/>
              <a:buChar char="o"/>
            </a:pPr>
            <a:r>
              <a:rPr lang="de-DE" sz="1600" dirty="0">
                <a:solidFill>
                  <a:srgbClr val="0071B2"/>
                </a:solidFill>
                <a:latin typeface="Source Sans Pro" panose="020B0503030403020204" pitchFamily="34" charset="0"/>
              </a:rPr>
              <a:t>STRAIGHT_JOIN</a:t>
            </a:r>
          </a:p>
          <a:p>
            <a:pPr marL="1257300" lvl="2" indent="-342900">
              <a:buFont typeface="Courier New" panose="02070309020205020404" pitchFamily="49" charset="0"/>
              <a:buChar char="o"/>
            </a:pPr>
            <a:r>
              <a:rPr lang="de-DE" sz="1600" dirty="0">
                <a:solidFill>
                  <a:srgbClr val="0071B2"/>
                </a:solidFill>
                <a:latin typeface="Source Sans Pro" panose="020B0503030403020204" pitchFamily="34" charset="0"/>
              </a:rPr>
              <a:t>NATURAL </a:t>
            </a:r>
            <a:r>
              <a:rPr lang="de-DE" sz="1200" dirty="0">
                <a:solidFill>
                  <a:srgbClr val="0071B2"/>
                </a:solidFill>
                <a:latin typeface="Source Sans Pro" panose="020B0503030403020204" pitchFamily="34" charset="0"/>
              </a:rPr>
              <a:t>[LEFT, RIGHT] </a:t>
            </a:r>
            <a:r>
              <a:rPr lang="de-DE" sz="1600" dirty="0">
                <a:solidFill>
                  <a:srgbClr val="0071B2"/>
                </a:solidFill>
                <a:latin typeface="Source Sans Pro" panose="020B0503030403020204" pitchFamily="34" charset="0"/>
              </a:rPr>
              <a:t>JOIN</a:t>
            </a:r>
          </a:p>
          <a:p>
            <a:pPr lvl="3"/>
            <a:endParaRPr lang="de-DE" dirty="0">
              <a:latin typeface="Source Sans Pro" panose="020B0503030403020204" pitchFamily="34" charset="0"/>
            </a:endParaRPr>
          </a:p>
          <a:p>
            <a:pPr lvl="1"/>
            <a:r>
              <a:rPr lang="de-DE" b="1" dirty="0">
                <a:latin typeface="Source Sans Pro" panose="020B0503030403020204" pitchFamily="34" charset="0"/>
              </a:rPr>
              <a:t>String-Funktionen</a:t>
            </a:r>
          </a:p>
          <a:p>
            <a:pPr lvl="1"/>
            <a:endParaRPr lang="de-DE" sz="800" b="1" dirty="0">
              <a:latin typeface="Source Sans Pro" panose="020B0503030403020204" pitchFamily="34" charset="0"/>
            </a:endParaRPr>
          </a:p>
          <a:p>
            <a:pPr marL="1257300" lvl="2" indent="-342900">
              <a:buFont typeface="Courier New" panose="02070309020205020404" pitchFamily="49" charset="0"/>
              <a:buChar char="o"/>
            </a:pPr>
            <a:r>
              <a:rPr lang="de-DE" sz="1600" dirty="0">
                <a:solidFill>
                  <a:srgbClr val="0071B2"/>
                </a:solidFill>
                <a:latin typeface="Source Sans Pro" panose="020B0503030403020204" pitchFamily="34" charset="0"/>
              </a:rPr>
              <a:t>CONCAT()</a:t>
            </a:r>
          </a:p>
          <a:p>
            <a:pPr marL="1257300" lvl="2" indent="-342900">
              <a:buFont typeface="Courier New" panose="02070309020205020404" pitchFamily="49" charset="0"/>
              <a:buChar char="o"/>
            </a:pPr>
            <a:r>
              <a:rPr lang="de-DE" sz="1600" dirty="0">
                <a:solidFill>
                  <a:srgbClr val="0071B2"/>
                </a:solidFill>
                <a:latin typeface="Source Sans Pro" panose="020B0503030403020204" pitchFamily="34" charset="0"/>
              </a:rPr>
              <a:t>LEFT() </a:t>
            </a:r>
          </a:p>
          <a:p>
            <a:pPr marL="1257300" lvl="2" indent="-342900">
              <a:buFont typeface="Courier New" panose="02070309020205020404" pitchFamily="49" charset="0"/>
              <a:buChar char="o"/>
            </a:pPr>
            <a:r>
              <a:rPr lang="de-DE" sz="1600" dirty="0">
                <a:solidFill>
                  <a:srgbClr val="0071B2"/>
                </a:solidFill>
                <a:latin typeface="Source Sans Pro" panose="020B0503030403020204" pitchFamily="34" charset="0"/>
              </a:rPr>
              <a:t>RIGHT() </a:t>
            </a:r>
          </a:p>
          <a:p>
            <a:pPr marL="1257300" lvl="2" indent="-342900">
              <a:buFont typeface="Courier New" panose="02070309020205020404" pitchFamily="49" charset="0"/>
              <a:buChar char="o"/>
            </a:pPr>
            <a:r>
              <a:rPr lang="de-DE" sz="1600" dirty="0">
                <a:solidFill>
                  <a:srgbClr val="0071B2"/>
                </a:solidFill>
                <a:latin typeface="Source Sans Pro" panose="020B0503030403020204" pitchFamily="34" charset="0"/>
              </a:rPr>
              <a:t> LENGTH()</a:t>
            </a:r>
          </a:p>
          <a:p>
            <a:pPr lvl="2"/>
            <a:endParaRPr lang="de-DE" dirty="0">
              <a:latin typeface="Source Sans Pro" panose="020B0503030403020204" pitchFamily="34" charset="0"/>
            </a:endParaRPr>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STRAIGHT JOIN</a:t>
            </a: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03071" y="1004312"/>
            <a:ext cx="11154632" cy="46474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rPr>
              <a:t>Der </a:t>
            </a:r>
            <a:r>
              <a:rPr kumimoji="0" lang="de-DE" sz="2000" b="1" u="none" strike="noStrike" kern="1200" cap="none" spc="0" normalizeH="0" baseline="0" noProof="0" dirty="0">
                <a:ln>
                  <a:noFill/>
                </a:ln>
                <a:solidFill>
                  <a:srgbClr val="0071B2"/>
                </a:solidFill>
                <a:effectLst/>
                <a:uLnTx/>
                <a:uFillTx/>
                <a:latin typeface="Source Sans Pro" panose="020B0503030403020204" pitchFamily="34" charset="0"/>
              </a:rPr>
              <a:t>STRAIGHT_JOIN</a:t>
            </a:r>
            <a:r>
              <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rPr>
              <a:t> arbeitet </a:t>
            </a:r>
            <a:r>
              <a:rPr kumimoji="0" lang="de-DE" b="0" u="none" strike="noStrike" kern="1200" cap="none" spc="0" normalizeH="0" baseline="0" noProof="0" dirty="0">
                <a:ln>
                  <a:noFill/>
                </a:ln>
                <a:solidFill>
                  <a:srgbClr val="0071B2"/>
                </a:solidFill>
                <a:effectLst/>
                <a:uLnTx/>
                <a:uFillTx/>
                <a:latin typeface="Source Sans Pro" panose="020B0503030403020204" pitchFamily="34" charset="0"/>
              </a:rPr>
              <a:t>(zusammen mit der entsprechenden ON-Bedingung) </a:t>
            </a:r>
            <a:r>
              <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rPr>
              <a:t>wie ein INNER JOIN, durchläuft</a:t>
            </a:r>
            <a:r>
              <a:rPr kumimoji="0" lang="de-DE" sz="2000" b="0" u="none" strike="noStrike" kern="1200" cap="none" spc="0" normalizeH="0" noProof="0" dirty="0">
                <a:ln>
                  <a:noFill/>
                </a:ln>
                <a:solidFill>
                  <a:srgbClr val="0071B2"/>
                </a:solidFill>
                <a:effectLst/>
                <a:uLnTx/>
                <a:uFillTx/>
                <a:latin typeface="Source Sans Pro" panose="020B0503030403020204" pitchFamily="34" charset="0"/>
              </a:rPr>
              <a:t> aber </a:t>
            </a:r>
            <a:r>
              <a:rPr kumimoji="0" lang="de-DE" b="0" u="none" strike="noStrike" kern="1200" cap="none" spc="0" normalizeH="0" noProof="0" dirty="0">
                <a:ln>
                  <a:noFill/>
                </a:ln>
                <a:solidFill>
                  <a:srgbClr val="0071B2"/>
                </a:solidFill>
                <a:effectLst/>
                <a:uLnTx/>
                <a:uFillTx/>
                <a:latin typeface="Source Sans Pro" panose="020B0503030403020204" pitchFamily="34" charset="0"/>
              </a:rPr>
              <a:t>(im Rahmen einer äußeren Schleife) </a:t>
            </a:r>
            <a:r>
              <a:rPr kumimoji="0" lang="de-DE" sz="2000" b="0" u="none" strike="noStrike" kern="1200" cap="none" spc="0" normalizeH="0" noProof="0" dirty="0">
                <a:ln>
                  <a:noFill/>
                </a:ln>
                <a:solidFill>
                  <a:srgbClr val="0071B2"/>
                </a:solidFill>
                <a:effectLst/>
                <a:uLnTx/>
                <a:uFillTx/>
                <a:latin typeface="Source Sans Pro" panose="020B0503030403020204" pitchFamily="34" charset="0"/>
              </a:rPr>
              <a:t>alle Datensätze der linken Tabelle, um </a:t>
            </a:r>
            <a:r>
              <a:rPr kumimoji="0" lang="de-DE" b="0" u="none" strike="noStrike" kern="1200" cap="none" spc="0" normalizeH="0" noProof="0" dirty="0">
                <a:ln>
                  <a:noFill/>
                </a:ln>
                <a:solidFill>
                  <a:srgbClr val="0071B2"/>
                </a:solidFill>
                <a:effectLst/>
                <a:uLnTx/>
                <a:uFillTx/>
                <a:latin typeface="Source Sans Pro" panose="020B0503030403020204" pitchFamily="34" charset="0"/>
              </a:rPr>
              <a:t>(mittels einer inneren Schleife) </a:t>
            </a:r>
            <a:r>
              <a:rPr kumimoji="0" lang="de-DE" sz="2000" b="0" u="none" strike="noStrike" kern="1200" cap="none" spc="0" normalizeH="0" noProof="0" dirty="0">
                <a:ln>
                  <a:noFill/>
                </a:ln>
                <a:solidFill>
                  <a:srgbClr val="0071B2"/>
                </a:solidFill>
                <a:effectLst/>
                <a:uLnTx/>
                <a:uFillTx/>
                <a:latin typeface="Source Sans Pro" panose="020B0503030403020204" pitchFamily="34" charset="0"/>
              </a:rPr>
              <a:t>den </a:t>
            </a:r>
            <a:r>
              <a:rPr kumimoji="0" lang="de-DE" sz="2000" b="1" u="none" strike="noStrike" kern="1200" cap="none" spc="0" normalizeH="0" noProof="0" dirty="0">
                <a:ln>
                  <a:noFill/>
                </a:ln>
                <a:solidFill>
                  <a:schemeClr val="accent2"/>
                </a:solidFill>
                <a:effectLst/>
                <a:uLnTx/>
                <a:uFillTx/>
                <a:latin typeface="Source Sans Pro" panose="020B0503030403020204" pitchFamily="34" charset="0"/>
              </a:rPr>
              <a:t>einzigen</a:t>
            </a:r>
            <a:r>
              <a:rPr kumimoji="0" lang="de-DE" sz="2000" b="1" u="none" strike="noStrike" kern="1200" cap="none" spc="0" normalizeH="0" noProof="0" dirty="0">
                <a:ln>
                  <a:noFill/>
                </a:ln>
                <a:solidFill>
                  <a:srgbClr val="0071B2"/>
                </a:solidFill>
                <a:effectLst/>
                <a:uLnTx/>
                <a:uFillTx/>
                <a:latin typeface="Source Sans Pro" panose="020B0503030403020204" pitchFamily="34" charset="0"/>
              </a:rPr>
              <a:t> verknüpfbaren Datensatz</a:t>
            </a:r>
            <a:r>
              <a:rPr kumimoji="0" lang="de-DE" sz="2000" b="0" u="none" strike="noStrike" kern="1200" cap="none" spc="0" normalizeH="0" noProof="0" dirty="0">
                <a:ln>
                  <a:noFill/>
                </a:ln>
                <a:solidFill>
                  <a:srgbClr val="0071B2"/>
                </a:solidFill>
                <a:effectLst/>
                <a:uLnTx/>
                <a:uFillTx/>
                <a:latin typeface="Source Sans Pro" panose="020B0503030403020204" pitchFamily="34" charset="0"/>
              </a:rPr>
              <a:t> der rechten Tabelle zu suchen.</a:t>
            </a:r>
          </a:p>
          <a:p>
            <a:pPr marR="0" lvl="0" algn="l" defTabSz="914400" rtl="0" eaLnBrk="1" fontAlgn="auto" latinLnBrk="0" hangingPunct="1">
              <a:lnSpc>
                <a:spcPct val="100000"/>
              </a:lnSpc>
              <a:spcBef>
                <a:spcPts val="0"/>
              </a:spcBef>
              <a:spcAft>
                <a:spcPts val="0"/>
              </a:spcAft>
              <a:buClrTx/>
              <a:buSzTx/>
              <a:tabLst/>
              <a:defRPr/>
            </a:pPr>
            <a:endParaRPr kumimoji="0" lang="de-DE" sz="2000" b="0" u="none" strike="noStrike" kern="1200" cap="none" spc="0" normalizeH="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a:solidFill>
                  <a:srgbClr val="0071B2"/>
                </a:solidFill>
                <a:latin typeface="Source Sans Pro" panose="020B0503030403020204" pitchFamily="34" charset="0"/>
              </a:rPr>
              <a:t>Entsprechend kann der STRAIGHT_JOIN nur sinnvoll bei Beziehungstypen genutzt werden, bei denen mindestens eine der beiden Kardinalitäten den Wert </a:t>
            </a:r>
            <a:r>
              <a:rPr lang="de-DE" sz="2000" b="1" dirty="0">
                <a:solidFill>
                  <a:schemeClr val="accent2"/>
                </a:solidFill>
                <a:latin typeface="Source Sans Pro" panose="020B0503030403020204" pitchFamily="34" charset="0"/>
              </a:rPr>
              <a:t>1</a:t>
            </a:r>
            <a:r>
              <a:rPr lang="de-DE" sz="2000" b="1" dirty="0">
                <a:solidFill>
                  <a:srgbClr val="0071B2"/>
                </a:solidFill>
                <a:latin typeface="Source Sans Pro" panose="020B0503030403020204" pitchFamily="34" charset="0"/>
              </a:rPr>
              <a:t> </a:t>
            </a:r>
            <a:r>
              <a:rPr lang="de-DE" sz="2000" dirty="0">
                <a:solidFill>
                  <a:srgbClr val="0071B2"/>
                </a:solidFill>
                <a:latin typeface="Source Sans Pro" panose="020B0503030403020204" pitchFamily="34" charset="0"/>
              </a:rPr>
              <a:t>hat. Dies ist allerdings stets gegeben, da m:n-Beziehungen ja mittels Hilfstabelle in zwei 1:n Beziehungen aufgelöst werden.</a:t>
            </a:r>
            <a:endParaRPr kumimoji="0" lang="de-DE" sz="2000" b="0" u="none" strike="noStrike" kern="1200" cap="none" spc="0" normalizeH="0" noProof="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2000" b="0" u="none" strike="noStrike" kern="1200" cap="none" spc="0" normalizeH="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baseline="0" dirty="0">
                <a:solidFill>
                  <a:srgbClr val="0071B2"/>
                </a:solidFill>
                <a:latin typeface="Source Sans Pro" panose="020B0503030403020204" pitchFamily="34" charset="0"/>
              </a:rPr>
              <a:t>Aus dem selben Grund ist der Einsatz des STRAIGHT_JOINs daher nur sinnvoll, wenn die Kardinalität der rechten Tabelle den</a:t>
            </a:r>
            <a:r>
              <a:rPr lang="de-DE" sz="2000" dirty="0">
                <a:solidFill>
                  <a:srgbClr val="0071B2"/>
                </a:solidFill>
                <a:latin typeface="Source Sans Pro" panose="020B0503030403020204" pitchFamily="34" charset="0"/>
              </a:rPr>
              <a:t> Wert</a:t>
            </a:r>
            <a:r>
              <a:rPr lang="de-DE" sz="2000" baseline="0" dirty="0">
                <a:solidFill>
                  <a:srgbClr val="0071B2"/>
                </a:solidFill>
                <a:latin typeface="Source Sans Pro" panose="020B0503030403020204" pitchFamily="34" charset="0"/>
              </a:rPr>
              <a:t> </a:t>
            </a:r>
            <a:r>
              <a:rPr lang="de-DE" sz="2000" b="1" baseline="0" dirty="0">
                <a:solidFill>
                  <a:schemeClr val="accent2"/>
                </a:solidFill>
                <a:latin typeface="Source Sans Pro" panose="020B0503030403020204" pitchFamily="34" charset="0"/>
              </a:rPr>
              <a:t>1</a:t>
            </a:r>
            <a:r>
              <a:rPr lang="de-DE" sz="2000" baseline="0" dirty="0">
                <a:solidFill>
                  <a:srgbClr val="0071B2"/>
                </a:solidFill>
                <a:latin typeface="Source Sans Pro" panose="020B0503030403020204" pitchFamily="34" charset="0"/>
              </a:rPr>
              <a:t> hat.</a:t>
            </a:r>
            <a:endPar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defRPr/>
            </a:pPr>
            <a:r>
              <a:rPr lang="de-DE" sz="2000" dirty="0">
                <a:solidFill>
                  <a:srgbClr val="0071B2"/>
                </a:solidFill>
                <a:latin typeface="Source Sans Pro" panose="020B0503030403020204" pitchFamily="34" charset="0"/>
              </a:rPr>
              <a:t>Motivation für den Einsatz des STRAIGHT_JOINs ist eine verbesserte </a:t>
            </a:r>
            <a:r>
              <a:rPr lang="de-DE" sz="2000" b="1" dirty="0">
                <a:solidFill>
                  <a:srgbClr val="0071B2"/>
                </a:solidFill>
                <a:latin typeface="Source Sans Pro" panose="020B0503030403020204" pitchFamily="34" charset="0"/>
              </a:rPr>
              <a:t>Performance</a:t>
            </a:r>
            <a:r>
              <a:rPr lang="de-DE" sz="2000" dirty="0">
                <a:solidFill>
                  <a:srgbClr val="0071B2"/>
                </a:solidFill>
                <a:latin typeface="Source Sans Pro" panose="020B0503030403020204" pitchFamily="34" charset="0"/>
              </a:rPr>
              <a:t>, da die Existenz </a:t>
            </a:r>
            <a:r>
              <a:rPr lang="de-DE" sz="2000" dirty="0">
                <a:latin typeface="Source Sans Pro" panose="020B0503030403020204" pitchFamily="34" charset="0"/>
              </a:rPr>
              <a:t>eindeutiger Verknüpfungen </a:t>
            </a:r>
            <a:r>
              <a:rPr lang="de-DE" sz="2000" dirty="0">
                <a:solidFill>
                  <a:srgbClr val="0071B2"/>
                </a:solidFill>
                <a:latin typeface="Source Sans Pro" panose="020B0503030403020204" pitchFamily="34" charset="0"/>
              </a:rPr>
              <a:t>bedeutet, dass stets mit dem Auffinden des </a:t>
            </a:r>
            <a:r>
              <a:rPr lang="de-DE" sz="2000" b="1" dirty="0">
                <a:solidFill>
                  <a:schemeClr val="accent2"/>
                </a:solidFill>
                <a:latin typeface="Source Sans Pro" panose="020B0503030403020204" pitchFamily="34" charset="0"/>
              </a:rPr>
              <a:t>einzigen</a:t>
            </a:r>
            <a:r>
              <a:rPr lang="de-DE" sz="2000" dirty="0">
                <a:solidFill>
                  <a:srgbClr val="0071B2"/>
                </a:solidFill>
                <a:latin typeface="Source Sans Pro" panose="020B0503030403020204" pitchFamily="34" charset="0"/>
              </a:rPr>
              <a:t> möglichen Treffers </a:t>
            </a:r>
            <a:r>
              <a:rPr lang="de-DE" dirty="0">
                <a:solidFill>
                  <a:srgbClr val="0071B2"/>
                </a:solidFill>
                <a:latin typeface="Source Sans Pro" panose="020B0503030403020204" pitchFamily="34" charset="0"/>
              </a:rPr>
              <a:t>(innerhalb der rechten Tabelle) </a:t>
            </a:r>
            <a:r>
              <a:rPr lang="de-DE" sz="2000" dirty="0">
                <a:solidFill>
                  <a:srgbClr val="0071B2"/>
                </a:solidFill>
                <a:latin typeface="Source Sans Pro" panose="020B0503030403020204" pitchFamily="34" charset="0"/>
              </a:rPr>
              <a:t>der jeweilige Such-Prozess abgebrochen werden kann.</a:t>
            </a:r>
            <a:endPar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Definition </a:t>
            </a:r>
            <a:r>
              <a:rPr lang="de-DE" sz="4000" dirty="0">
                <a:solidFill>
                  <a:srgbClr val="0071B2"/>
                </a:solidFill>
                <a:latin typeface="Source Sans Pro" panose="020B0503030403020204" pitchFamily="34" charset="0"/>
              </a:rPr>
              <a:t>+</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212439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 name="Rechteck 1"/>
          <p:cNvSpPr/>
          <p:nvPr/>
        </p:nvSpPr>
        <p:spPr>
          <a:xfrm>
            <a:off x="3778964" y="1276816"/>
            <a:ext cx="1354975" cy="6899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Person_ID (PK)</a:t>
            </a:r>
          </a:p>
          <a:p>
            <a:pPr algn="ctr"/>
            <a:r>
              <a:rPr lang="de-DE" sz="1200" dirty="0">
                <a:solidFill>
                  <a:schemeClr val="tx1"/>
                </a:solidFill>
              </a:rPr>
              <a:t>Ort_ID (FK)</a:t>
            </a:r>
          </a:p>
          <a:p>
            <a:pPr algn="ctr"/>
            <a:r>
              <a:rPr lang="de-DE" sz="1200" dirty="0">
                <a:solidFill>
                  <a:schemeClr val="tx1"/>
                </a:solidFill>
              </a:rPr>
              <a:t>…</a:t>
            </a:r>
          </a:p>
        </p:txBody>
      </p:sp>
      <p:sp>
        <p:nvSpPr>
          <p:cNvPr id="9" name="Rechteck 8"/>
          <p:cNvSpPr/>
          <p:nvPr/>
        </p:nvSpPr>
        <p:spPr>
          <a:xfrm>
            <a:off x="6092673" y="1276816"/>
            <a:ext cx="1354975" cy="6899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Ort_ID (PK)</a:t>
            </a:r>
          </a:p>
          <a:p>
            <a:pPr algn="ctr"/>
            <a:r>
              <a:rPr lang="de-DE" sz="1200" dirty="0">
                <a:solidFill>
                  <a:schemeClr val="tx1"/>
                </a:solidFill>
              </a:rPr>
              <a:t>…</a:t>
            </a:r>
          </a:p>
          <a:p>
            <a:pPr algn="ctr"/>
            <a:r>
              <a:rPr lang="de-DE" sz="1200" dirty="0">
                <a:solidFill>
                  <a:schemeClr val="tx1"/>
                </a:solidFill>
              </a:rPr>
              <a:t>…</a:t>
            </a:r>
          </a:p>
        </p:txBody>
      </p:sp>
      <p:cxnSp>
        <p:nvCxnSpPr>
          <p:cNvPr id="7" name="Gerader Verbinder 6"/>
          <p:cNvCxnSpPr>
            <a:stCxn id="2" idx="3"/>
            <a:endCxn id="9" idx="1"/>
          </p:cNvCxnSpPr>
          <p:nvPr/>
        </p:nvCxnSpPr>
        <p:spPr>
          <a:xfrm>
            <a:off x="5133939" y="1621794"/>
            <a:ext cx="958734"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5130775" y="1351419"/>
            <a:ext cx="979051" cy="307777"/>
          </a:xfrm>
          <a:prstGeom prst="rect">
            <a:avLst/>
          </a:prstGeom>
          <a:noFill/>
        </p:spPr>
        <p:txBody>
          <a:bodyPr wrap="none" rtlCol="0">
            <a:spAutoFit/>
          </a:bodyPr>
          <a:lstStyle/>
          <a:p>
            <a:r>
              <a:rPr lang="de-DE" sz="1400" dirty="0"/>
              <a:t>geboren in</a:t>
            </a:r>
          </a:p>
        </p:txBody>
      </p:sp>
      <p:sp>
        <p:nvSpPr>
          <p:cNvPr id="11" name="Textfeld 10"/>
          <p:cNvSpPr txBox="1"/>
          <p:nvPr/>
        </p:nvSpPr>
        <p:spPr>
          <a:xfrm>
            <a:off x="5853065" y="1589070"/>
            <a:ext cx="263214" cy="276999"/>
          </a:xfrm>
          <a:prstGeom prst="rect">
            <a:avLst/>
          </a:prstGeom>
          <a:noFill/>
        </p:spPr>
        <p:txBody>
          <a:bodyPr wrap="none" rtlCol="0">
            <a:spAutoFit/>
          </a:bodyPr>
          <a:lstStyle/>
          <a:p>
            <a:r>
              <a:rPr lang="de-DE" sz="1200" b="1" dirty="0"/>
              <a:t>1</a:t>
            </a:r>
          </a:p>
        </p:txBody>
      </p:sp>
      <p:sp>
        <p:nvSpPr>
          <p:cNvPr id="13" name="Textfeld 12"/>
          <p:cNvSpPr txBox="1"/>
          <p:nvPr/>
        </p:nvSpPr>
        <p:spPr>
          <a:xfrm>
            <a:off x="5124322" y="1575487"/>
            <a:ext cx="268022" cy="276999"/>
          </a:xfrm>
          <a:prstGeom prst="rect">
            <a:avLst/>
          </a:prstGeom>
          <a:noFill/>
        </p:spPr>
        <p:txBody>
          <a:bodyPr wrap="none" rtlCol="0">
            <a:spAutoFit/>
          </a:bodyPr>
          <a:lstStyle/>
          <a:p>
            <a:r>
              <a:rPr lang="de-DE" sz="1200" b="1" dirty="0"/>
              <a:t>n</a:t>
            </a:r>
          </a:p>
        </p:txBody>
      </p:sp>
      <p:sp>
        <p:nvSpPr>
          <p:cNvPr id="14" name="Textfeld 13"/>
          <p:cNvSpPr txBox="1"/>
          <p:nvPr/>
        </p:nvSpPr>
        <p:spPr>
          <a:xfrm>
            <a:off x="191193" y="2278198"/>
            <a:ext cx="11729258" cy="523220"/>
          </a:xfrm>
          <a:prstGeom prst="rect">
            <a:avLst/>
          </a:prstGeom>
          <a:noFill/>
        </p:spPr>
        <p:txBody>
          <a:bodyPr wrap="square" rtlCol="0">
            <a:spAutoFit/>
          </a:bodyPr>
          <a:lstStyle/>
          <a:p>
            <a:pPr algn="ctr"/>
            <a:r>
              <a:rPr lang="de-DE" sz="2800" b="1" dirty="0"/>
              <a:t>SELECT</a:t>
            </a:r>
            <a:r>
              <a:rPr lang="de-DE" sz="2800" dirty="0"/>
              <a:t> * </a:t>
            </a:r>
            <a:r>
              <a:rPr lang="de-DE" sz="2800" b="1" dirty="0"/>
              <a:t>FROM</a:t>
            </a:r>
            <a:r>
              <a:rPr lang="de-DE" sz="2800" dirty="0"/>
              <a:t> </a:t>
            </a:r>
            <a:r>
              <a:rPr lang="de-DE" sz="2800" dirty="0">
                <a:solidFill>
                  <a:schemeClr val="accent2"/>
                </a:solidFill>
              </a:rPr>
              <a:t>Person</a:t>
            </a:r>
            <a:r>
              <a:rPr lang="de-DE" sz="2800" dirty="0"/>
              <a:t> </a:t>
            </a:r>
            <a:r>
              <a:rPr lang="de-DE" sz="2800" b="1" dirty="0"/>
              <a:t>STRAIGHT_JOIN</a:t>
            </a:r>
            <a:r>
              <a:rPr lang="de-DE" sz="2800" dirty="0"/>
              <a:t> </a:t>
            </a:r>
            <a:r>
              <a:rPr lang="de-DE" sz="2800" dirty="0">
                <a:solidFill>
                  <a:schemeClr val="accent2">
                    <a:lumMod val="50000"/>
                  </a:schemeClr>
                </a:solidFill>
              </a:rPr>
              <a:t>Ort </a:t>
            </a:r>
            <a:r>
              <a:rPr lang="de-DE" sz="2800" b="1" dirty="0"/>
              <a:t>ON</a:t>
            </a:r>
            <a:r>
              <a:rPr lang="de-DE" sz="2800" dirty="0"/>
              <a:t> Person.Ort_ID </a:t>
            </a:r>
            <a:r>
              <a:rPr lang="de-DE" sz="2800" b="1" dirty="0"/>
              <a:t>=</a:t>
            </a:r>
            <a:r>
              <a:rPr lang="de-DE" sz="2800" dirty="0"/>
              <a:t> Ort.Ort_ID</a:t>
            </a:r>
            <a:r>
              <a:rPr lang="de-DE" sz="2800" b="1" dirty="0"/>
              <a:t>;</a:t>
            </a:r>
          </a:p>
        </p:txBody>
      </p:sp>
      <p:cxnSp>
        <p:nvCxnSpPr>
          <p:cNvPr id="17" name="Gerader Verbinder 16"/>
          <p:cNvCxnSpPr>
            <a:endCxn id="10" idx="1"/>
          </p:cNvCxnSpPr>
          <p:nvPr/>
        </p:nvCxnSpPr>
        <p:spPr>
          <a:xfrm>
            <a:off x="3778964" y="1501517"/>
            <a:ext cx="1351811" cy="3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p:nvCxnSpPr>
        <p:spPr>
          <a:xfrm>
            <a:off x="3775738" y="1712090"/>
            <a:ext cx="1351811" cy="3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Gerader Verbinder 20"/>
          <p:cNvCxnSpPr/>
          <p:nvPr/>
        </p:nvCxnSpPr>
        <p:spPr>
          <a:xfrm>
            <a:off x="6092673" y="1532345"/>
            <a:ext cx="1351811" cy="3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Gerader Verbinder 21"/>
          <p:cNvCxnSpPr/>
          <p:nvPr/>
        </p:nvCxnSpPr>
        <p:spPr>
          <a:xfrm>
            <a:off x="6092672" y="1728169"/>
            <a:ext cx="1351811" cy="3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feld 23"/>
          <p:cNvSpPr txBox="1"/>
          <p:nvPr/>
        </p:nvSpPr>
        <p:spPr>
          <a:xfrm>
            <a:off x="3703757" y="986958"/>
            <a:ext cx="682944" cy="307777"/>
          </a:xfrm>
          <a:prstGeom prst="rect">
            <a:avLst/>
          </a:prstGeom>
          <a:noFill/>
        </p:spPr>
        <p:txBody>
          <a:bodyPr wrap="none" rtlCol="0">
            <a:spAutoFit/>
          </a:bodyPr>
          <a:lstStyle/>
          <a:p>
            <a:r>
              <a:rPr lang="de-DE" sz="1400" dirty="0">
                <a:solidFill>
                  <a:schemeClr val="accent2"/>
                </a:solidFill>
              </a:rPr>
              <a:t>Person</a:t>
            </a:r>
          </a:p>
        </p:txBody>
      </p:sp>
      <p:sp>
        <p:nvSpPr>
          <p:cNvPr id="25" name="Textfeld 24"/>
          <p:cNvSpPr txBox="1"/>
          <p:nvPr/>
        </p:nvSpPr>
        <p:spPr>
          <a:xfrm>
            <a:off x="6032462" y="996011"/>
            <a:ext cx="426720" cy="307777"/>
          </a:xfrm>
          <a:prstGeom prst="rect">
            <a:avLst/>
          </a:prstGeom>
          <a:noFill/>
        </p:spPr>
        <p:txBody>
          <a:bodyPr wrap="none" rtlCol="0">
            <a:spAutoFit/>
          </a:bodyPr>
          <a:lstStyle/>
          <a:p>
            <a:r>
              <a:rPr lang="de-DE" sz="1400" dirty="0">
                <a:solidFill>
                  <a:schemeClr val="accent2">
                    <a:lumMod val="50000"/>
                  </a:schemeClr>
                </a:solidFill>
              </a:rPr>
              <a:t>Ort</a:t>
            </a:r>
          </a:p>
        </p:txBody>
      </p:sp>
      <p:sp>
        <p:nvSpPr>
          <p:cNvPr id="28" name="Textfeld 27"/>
          <p:cNvSpPr txBox="1"/>
          <p:nvPr/>
        </p:nvSpPr>
        <p:spPr>
          <a:xfrm>
            <a:off x="502505" y="2937153"/>
            <a:ext cx="4384726" cy="646331"/>
          </a:xfrm>
          <a:prstGeom prst="rect">
            <a:avLst/>
          </a:prstGeom>
          <a:noFill/>
          <a:ln>
            <a:solidFill>
              <a:schemeClr val="accent2"/>
            </a:solidFill>
          </a:ln>
        </p:spPr>
        <p:txBody>
          <a:bodyPr wrap="none" rtlCol="0">
            <a:spAutoFit/>
          </a:bodyPr>
          <a:lstStyle/>
          <a:p>
            <a:r>
              <a:rPr lang="de-DE" dirty="0">
                <a:solidFill>
                  <a:schemeClr val="accent2"/>
                </a:solidFill>
              </a:rPr>
              <a:t>In einer äußeren Schleife wird pro Durchlauf </a:t>
            </a:r>
          </a:p>
          <a:p>
            <a:r>
              <a:rPr lang="de-DE" dirty="0">
                <a:solidFill>
                  <a:schemeClr val="accent2"/>
                </a:solidFill>
              </a:rPr>
              <a:t>die jeweils „nächste“ Person ausgewählt.</a:t>
            </a:r>
          </a:p>
        </p:txBody>
      </p:sp>
      <p:sp>
        <p:nvSpPr>
          <p:cNvPr id="33" name="Textfeld 32"/>
          <p:cNvSpPr txBox="1"/>
          <p:nvPr/>
        </p:nvSpPr>
        <p:spPr>
          <a:xfrm>
            <a:off x="5003630" y="2937152"/>
            <a:ext cx="6624442" cy="646331"/>
          </a:xfrm>
          <a:prstGeom prst="rect">
            <a:avLst/>
          </a:prstGeom>
          <a:noFill/>
          <a:ln>
            <a:solidFill>
              <a:schemeClr val="accent2">
                <a:lumMod val="50000"/>
              </a:schemeClr>
            </a:solidFill>
          </a:ln>
        </p:spPr>
        <p:txBody>
          <a:bodyPr wrap="none" rtlCol="0">
            <a:spAutoFit/>
          </a:bodyPr>
          <a:lstStyle/>
          <a:p>
            <a:r>
              <a:rPr lang="de-DE" dirty="0">
                <a:solidFill>
                  <a:schemeClr val="accent2">
                    <a:lumMod val="50000"/>
                  </a:schemeClr>
                </a:solidFill>
              </a:rPr>
              <a:t>Pro Person startet eine innere Schleife, die den Geburtsort sucht.</a:t>
            </a:r>
          </a:p>
          <a:p>
            <a:r>
              <a:rPr lang="de-DE" dirty="0">
                <a:solidFill>
                  <a:schemeClr val="accent2">
                    <a:lumMod val="50000"/>
                  </a:schemeClr>
                </a:solidFill>
              </a:rPr>
              <a:t>Sobald dieser gefunden wurde, kann die Suche abgebrochen werden.</a:t>
            </a:r>
          </a:p>
        </p:txBody>
      </p:sp>
      <p:sp>
        <p:nvSpPr>
          <p:cNvPr id="35" name="Rechteck 34"/>
          <p:cNvSpPr/>
          <p:nvPr/>
        </p:nvSpPr>
        <p:spPr>
          <a:xfrm>
            <a:off x="689913" y="4259327"/>
            <a:ext cx="10839826" cy="11512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a:solidFill>
                <a:schemeClr val="accent2"/>
              </a:solidFill>
              <a:latin typeface="Source Sans Pro" panose="020B0503030403020204" pitchFamily="34" charset="0"/>
            </a:endParaRPr>
          </a:p>
          <a:p>
            <a:pPr lvl="0" algn="ctr"/>
            <a:endParaRPr lang="de-DE" b="1" dirty="0">
              <a:solidFill>
                <a:srgbClr val="0071B2"/>
              </a:solidFill>
            </a:endParaRPr>
          </a:p>
          <a:p>
            <a:pPr lvl="0" algn="ctr"/>
            <a:r>
              <a:rPr lang="de-DE" b="1" dirty="0">
                <a:solidFill>
                  <a:srgbClr val="0071B2"/>
                </a:solidFill>
              </a:rPr>
              <a:t>Hinweis: </a:t>
            </a:r>
          </a:p>
          <a:p>
            <a:pPr lvl="0" algn="ctr"/>
            <a:r>
              <a:rPr lang="de-DE" dirty="0">
                <a:solidFill>
                  <a:srgbClr val="0071B2"/>
                </a:solidFill>
              </a:rPr>
              <a:t>Der STRAIGHT_JOIN ist nur in solchen Fällen notwendig, in dem das Datenbank-Management-System (DBMS)</a:t>
            </a:r>
          </a:p>
          <a:p>
            <a:pPr lvl="0" algn="ctr"/>
            <a:r>
              <a:rPr lang="de-DE" dirty="0">
                <a:solidFill>
                  <a:srgbClr val="0071B2"/>
                </a:solidFill>
              </a:rPr>
              <a:t>nicht bereits selbstständig (mittels „</a:t>
            </a:r>
            <a:r>
              <a:rPr lang="de-DE" b="1" dirty="0">
                <a:solidFill>
                  <a:srgbClr val="0071B2"/>
                </a:solidFill>
              </a:rPr>
              <a:t>Optimizer</a:t>
            </a:r>
            <a:r>
              <a:rPr lang="de-DE" dirty="0">
                <a:solidFill>
                  <a:srgbClr val="0071B2"/>
                </a:solidFill>
              </a:rPr>
              <a:t>“) die optimale Reihenfolge der Tabellen-Abarbeitung vornimmt. </a:t>
            </a:r>
          </a:p>
          <a:p>
            <a:pPr algn="ctr"/>
            <a:endParaRPr lang="de-DE" sz="800" b="1" dirty="0">
              <a:solidFill>
                <a:schemeClr val="tx1"/>
              </a:solidFill>
              <a:latin typeface="Source Sans Pro" panose="020B0503030403020204" pitchFamily="34" charset="0"/>
            </a:endParaRPr>
          </a:p>
          <a:p>
            <a:pPr algn="ctr"/>
            <a:endParaRPr lang="de-DE" sz="800" dirty="0">
              <a:solidFill>
                <a:schemeClr val="bg2"/>
              </a:solidFill>
              <a:latin typeface="Source Sans Pro" panose="020B0503030403020204" pitchFamily="34" charset="0"/>
            </a:endParaRPr>
          </a:p>
          <a:p>
            <a:pPr algn="ctr"/>
            <a:r>
              <a:rPr lang="de-DE" sz="1200" dirty="0">
                <a:solidFill>
                  <a:schemeClr val="bg2"/>
                </a:solidFill>
              </a:rPr>
              <a:t>.</a:t>
            </a:r>
          </a:p>
        </p:txBody>
      </p:sp>
    </p:spTree>
    <p:extLst>
      <p:ext uri="{BB962C8B-B14F-4D97-AF65-F5344CB8AC3E}">
        <p14:creationId xmlns:p14="http://schemas.microsoft.com/office/powerpoint/2010/main" val="972967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p:bldP spid="11" grpId="0"/>
      <p:bldP spid="13" grpId="0"/>
      <p:bldP spid="14" grpId="0"/>
      <p:bldP spid="24" grpId="0"/>
      <p:bldP spid="25" grpId="0"/>
      <p:bldP spid="28" grpId="0" animBg="1"/>
      <p:bldP spid="33" grpId="0" animBg="1"/>
      <p:bldP spid="3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NATURAL JOIN</a:t>
            </a:r>
          </a:p>
        </p:txBody>
      </p:sp>
    </p:spTree>
    <p:extLst>
      <p:ext uri="{BB962C8B-B14F-4D97-AF65-F5344CB8AC3E}">
        <p14:creationId xmlns:p14="http://schemas.microsoft.com/office/powerpoint/2010/main" val="4012531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03071" y="1213463"/>
            <a:ext cx="11154632" cy="42165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rPr>
              <a:t>Der </a:t>
            </a:r>
            <a:r>
              <a:rPr kumimoji="0" lang="de-DE" sz="2000" b="1" u="none" strike="noStrike" kern="1200" cap="none" spc="0" normalizeH="0" baseline="0" noProof="0" dirty="0">
                <a:ln>
                  <a:noFill/>
                </a:ln>
                <a:solidFill>
                  <a:srgbClr val="0071B2"/>
                </a:solidFill>
                <a:effectLst/>
                <a:uLnTx/>
                <a:uFillTx/>
                <a:latin typeface="Source Sans Pro" panose="020B0503030403020204" pitchFamily="34" charset="0"/>
              </a:rPr>
              <a:t>NATURAL</a:t>
            </a:r>
            <a:r>
              <a:rPr kumimoji="0" lang="de-DE" sz="2000" b="1" u="none" strike="noStrike" kern="1200" cap="none" spc="0" normalizeH="0" noProof="0" dirty="0">
                <a:ln>
                  <a:noFill/>
                </a:ln>
                <a:solidFill>
                  <a:srgbClr val="0071B2"/>
                </a:solidFill>
                <a:effectLst/>
                <a:uLnTx/>
                <a:uFillTx/>
                <a:latin typeface="Source Sans Pro" panose="020B0503030403020204" pitchFamily="34" charset="0"/>
              </a:rPr>
              <a:t> </a:t>
            </a:r>
            <a:r>
              <a:rPr kumimoji="0" lang="de-DE" sz="2000" b="1" u="none" strike="noStrike" kern="1200" cap="none" spc="0" normalizeH="0" baseline="0" noProof="0" dirty="0">
                <a:ln>
                  <a:noFill/>
                </a:ln>
                <a:solidFill>
                  <a:srgbClr val="0071B2"/>
                </a:solidFill>
                <a:effectLst/>
                <a:uLnTx/>
                <a:uFillTx/>
                <a:latin typeface="Source Sans Pro" panose="020B0503030403020204" pitchFamily="34" charset="0"/>
              </a:rPr>
              <a:t>JOIN</a:t>
            </a:r>
            <a:r>
              <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rPr>
              <a:t> arbeitet wie ein INNER JOIN, benötigt allerdings keine ON-Bedingung,</a:t>
            </a:r>
            <a:r>
              <a:rPr kumimoji="0" lang="de-DE" sz="2000" b="0" u="none" strike="noStrike" kern="1200" cap="none" spc="0" normalizeH="0" noProof="0" dirty="0">
                <a:ln>
                  <a:noFill/>
                </a:ln>
                <a:solidFill>
                  <a:srgbClr val="0071B2"/>
                </a:solidFill>
                <a:effectLst/>
                <a:uLnTx/>
                <a:uFillTx/>
                <a:latin typeface="Source Sans Pro" panose="020B0503030403020204" pitchFamily="34" charset="0"/>
              </a:rPr>
              <a:t> wobei für die beiden zu verknüpfenden Tabellen jedoch die folgenden Voraussetzungen erfüllt sein müssen:</a:t>
            </a:r>
          </a:p>
          <a:p>
            <a:pPr marR="0" lvl="0" algn="l" defTabSz="914400" rtl="0" eaLnBrk="1" fontAlgn="auto" latinLnBrk="0" hangingPunct="1">
              <a:lnSpc>
                <a:spcPct val="100000"/>
              </a:lnSpc>
              <a:spcBef>
                <a:spcPts val="0"/>
              </a:spcBef>
              <a:spcAft>
                <a:spcPts val="0"/>
              </a:spcAft>
              <a:buClrTx/>
              <a:buSzTx/>
              <a:tabLst/>
              <a:defRPr/>
            </a:pPr>
            <a:endParaRPr kumimoji="0" lang="de-DE" sz="800" b="0" u="none" strike="noStrike" kern="1200" cap="none" spc="0" normalizeH="0" noProof="0" dirty="0">
              <a:ln>
                <a:noFill/>
              </a:ln>
              <a:solidFill>
                <a:srgbClr val="0071B2"/>
              </a:solidFill>
              <a:effectLst/>
              <a:uLnTx/>
              <a:uFillTx/>
              <a:latin typeface="Source Sans Pro" panose="020B0503030403020204" pitchFamily="34" charset="0"/>
            </a:endParaRPr>
          </a:p>
          <a:p>
            <a:pPr marL="800100" lvl="1" indent="-342900">
              <a:buFont typeface="Wingdings" panose="05000000000000000000" pitchFamily="2" charset="2"/>
              <a:buChar char="Ø"/>
              <a:defRPr/>
            </a:pPr>
            <a:r>
              <a:rPr lang="de-DE" sz="1600" dirty="0">
                <a:solidFill>
                  <a:srgbClr val="0071B2"/>
                </a:solidFill>
                <a:latin typeface="Source Sans Pro" panose="020B0503030403020204" pitchFamily="34" charset="0"/>
              </a:rPr>
              <a:t>Die Verknüpfung soll bezüglich der Bedingung </a:t>
            </a:r>
            <a:r>
              <a:rPr lang="de-DE" sz="1600" b="1" dirty="0">
                <a:solidFill>
                  <a:srgbClr val="0071B2"/>
                </a:solidFill>
                <a:latin typeface="Source Sans Pro" panose="020B0503030403020204" pitchFamily="34" charset="0"/>
              </a:rPr>
              <a:t>Tabelle_1.Primärschlüssel = Tabelle_2.Fremdschlüssel </a:t>
            </a:r>
            <a:r>
              <a:rPr lang="de-DE" sz="1600" dirty="0">
                <a:solidFill>
                  <a:srgbClr val="0071B2"/>
                </a:solidFill>
                <a:latin typeface="Source Sans Pro" panose="020B0503030403020204" pitchFamily="34" charset="0"/>
              </a:rPr>
              <a:t>stattfinden.</a:t>
            </a:r>
          </a:p>
          <a:p>
            <a:pPr marL="800100" lvl="1" indent="-342900">
              <a:buFont typeface="Wingdings" panose="05000000000000000000" pitchFamily="2" charset="2"/>
              <a:buChar char="Ø"/>
              <a:defRPr/>
            </a:pPr>
            <a:r>
              <a:rPr lang="de-DE" sz="1600" dirty="0">
                <a:solidFill>
                  <a:srgbClr val="0071B2"/>
                </a:solidFill>
                <a:latin typeface="Source Sans Pro" panose="020B0503030403020204" pitchFamily="34" charset="0"/>
              </a:rPr>
              <a:t>Die </a:t>
            </a:r>
            <a:r>
              <a:rPr lang="de-DE" sz="1600" b="1" dirty="0">
                <a:solidFill>
                  <a:srgbClr val="0071B2"/>
                </a:solidFill>
                <a:latin typeface="Source Sans Pro" panose="020B0503030403020204" pitchFamily="34" charset="0"/>
              </a:rPr>
              <a:t>Bezeichnung</a:t>
            </a:r>
            <a:r>
              <a:rPr lang="de-DE" sz="1600" dirty="0">
                <a:solidFill>
                  <a:srgbClr val="0071B2"/>
                </a:solidFill>
                <a:latin typeface="Source Sans Pro" panose="020B0503030403020204" pitchFamily="34" charset="0"/>
              </a:rPr>
              <a:t> von Primärschlüssel und Fremdschlüssel muss </a:t>
            </a:r>
            <a:r>
              <a:rPr lang="de-DE" sz="1600" b="1" dirty="0">
                <a:solidFill>
                  <a:srgbClr val="0071B2"/>
                </a:solidFill>
                <a:latin typeface="Source Sans Pro" panose="020B0503030403020204" pitchFamily="34" charset="0"/>
              </a:rPr>
              <a:t>identisch</a:t>
            </a:r>
            <a:r>
              <a:rPr lang="de-DE" sz="1600" dirty="0">
                <a:solidFill>
                  <a:srgbClr val="0071B2"/>
                </a:solidFill>
                <a:latin typeface="Source Sans Pro" panose="020B0503030403020204" pitchFamily="34" charset="0"/>
              </a:rPr>
              <a:t> sein.</a:t>
            </a:r>
          </a:p>
          <a:p>
            <a:pPr marL="800100" lvl="1" indent="-342900">
              <a:buFont typeface="Wingdings" panose="05000000000000000000" pitchFamily="2" charset="2"/>
              <a:buChar char="Ø"/>
              <a:defRPr/>
            </a:pPr>
            <a:r>
              <a:rPr kumimoji="0" lang="de-DE" sz="1600" b="0" u="none" strike="noStrike" kern="1200" cap="none" spc="0" normalizeH="0" noProof="0" dirty="0">
                <a:ln>
                  <a:noFill/>
                </a:ln>
                <a:solidFill>
                  <a:srgbClr val="0071B2"/>
                </a:solidFill>
                <a:effectLst/>
                <a:uLnTx/>
                <a:uFillTx/>
                <a:latin typeface="Source Sans Pro" panose="020B0503030403020204" pitchFamily="34" charset="0"/>
              </a:rPr>
              <a:t>Die Bezeichnungen </a:t>
            </a:r>
            <a:r>
              <a:rPr kumimoji="0" lang="de-DE" sz="1600" b="1" u="none" strike="noStrike" kern="1200" cap="none" spc="0" normalizeH="0" noProof="0" dirty="0">
                <a:ln>
                  <a:noFill/>
                </a:ln>
                <a:solidFill>
                  <a:srgbClr val="0071B2"/>
                </a:solidFill>
                <a:effectLst/>
                <a:uLnTx/>
                <a:uFillTx/>
                <a:latin typeface="Source Sans Pro" panose="020B0503030403020204" pitchFamily="34" charset="0"/>
              </a:rPr>
              <a:t>aller anderen Attribute </a:t>
            </a:r>
            <a:r>
              <a:rPr kumimoji="0" lang="de-DE" sz="1600" b="0" u="none" strike="noStrike" kern="1200" cap="none" spc="0" normalizeH="0" noProof="0" dirty="0">
                <a:ln>
                  <a:noFill/>
                </a:ln>
                <a:solidFill>
                  <a:srgbClr val="0071B2"/>
                </a:solidFill>
                <a:effectLst/>
                <a:uLnTx/>
                <a:uFillTx/>
                <a:latin typeface="Source Sans Pro" panose="020B0503030403020204" pitchFamily="34" charset="0"/>
              </a:rPr>
              <a:t>müssen </a:t>
            </a:r>
            <a:r>
              <a:rPr kumimoji="0" lang="de-DE" sz="1600" b="1" u="none" strike="noStrike" kern="1200" cap="none" spc="0" normalizeH="0" noProof="0" dirty="0">
                <a:ln>
                  <a:noFill/>
                </a:ln>
                <a:solidFill>
                  <a:srgbClr val="0071B2"/>
                </a:solidFill>
                <a:effectLst/>
                <a:uLnTx/>
                <a:uFillTx/>
                <a:latin typeface="Source Sans Pro" panose="020B0503030403020204" pitchFamily="34" charset="0"/>
              </a:rPr>
              <a:t>unterschiedlich</a:t>
            </a:r>
            <a:r>
              <a:rPr kumimoji="0" lang="de-DE" sz="1600" b="0" u="none" strike="noStrike" kern="1200" cap="none" spc="0" normalizeH="0" noProof="0" dirty="0">
                <a:ln>
                  <a:noFill/>
                </a:ln>
                <a:solidFill>
                  <a:srgbClr val="0071B2"/>
                </a:solidFill>
                <a:effectLst/>
                <a:uLnTx/>
                <a:uFillTx/>
                <a:latin typeface="Source Sans Pro" panose="020B0503030403020204" pitchFamily="34" charset="0"/>
              </a:rPr>
              <a:t> sein.</a:t>
            </a:r>
          </a:p>
          <a:p>
            <a:pPr marR="0" lvl="0" algn="l" defTabSz="914400" rtl="0" eaLnBrk="1" fontAlgn="auto" latinLnBrk="0" hangingPunct="1">
              <a:lnSpc>
                <a:spcPct val="100000"/>
              </a:lnSpc>
              <a:spcBef>
                <a:spcPts val="0"/>
              </a:spcBef>
              <a:spcAft>
                <a:spcPts val="0"/>
              </a:spcAft>
              <a:buClrTx/>
              <a:buSzTx/>
              <a:tabLst/>
              <a:defRPr/>
            </a:pPr>
            <a:endParaRPr kumimoji="0" lang="de-DE" sz="2000" b="0" u="none" strike="noStrike" kern="1200" cap="none" spc="0" normalizeH="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a:solidFill>
                  <a:srgbClr val="0071B2"/>
                </a:solidFill>
                <a:latin typeface="Source Sans Pro" panose="020B0503030403020204" pitchFamily="34" charset="0"/>
              </a:rPr>
              <a:t>Für die Verwendung des NATURAL JOINs spricht ein </a:t>
            </a:r>
            <a:r>
              <a:rPr lang="de-DE" sz="2000" b="1" dirty="0">
                <a:solidFill>
                  <a:srgbClr val="0071B2"/>
                </a:solidFill>
                <a:latin typeface="Source Sans Pro" panose="020B0503030403020204" pitchFamily="34" charset="0"/>
              </a:rPr>
              <a:t>geringerer Schreibaufwand</a:t>
            </a:r>
            <a:r>
              <a:rPr lang="de-DE" sz="2000" dirty="0">
                <a:solidFill>
                  <a:srgbClr val="0071B2"/>
                </a:solidFill>
                <a:latin typeface="Source Sans Pro" panose="020B0503030403020204" pitchFamily="34" charset="0"/>
              </a:rPr>
              <a:t>, wie auch die </a:t>
            </a:r>
            <a:r>
              <a:rPr lang="de-DE" sz="2000" b="1" dirty="0">
                <a:solidFill>
                  <a:srgbClr val="0071B2"/>
                </a:solidFill>
                <a:latin typeface="Source Sans Pro" panose="020B0503030403020204" pitchFamily="34" charset="0"/>
              </a:rPr>
              <a:t>verbesserte Lesbarkeit </a:t>
            </a:r>
            <a:r>
              <a:rPr lang="de-DE" sz="2000" dirty="0">
                <a:solidFill>
                  <a:srgbClr val="0071B2"/>
                </a:solidFill>
                <a:latin typeface="Source Sans Pro" panose="020B0503030403020204" pitchFamily="34" charset="0"/>
              </a:rPr>
              <a:t>des Codes </a:t>
            </a:r>
            <a:r>
              <a:rPr lang="de-DE" sz="1600" dirty="0">
                <a:solidFill>
                  <a:srgbClr val="0071B2"/>
                </a:solidFill>
                <a:latin typeface="Source Sans Pro" panose="020B0503030403020204" pitchFamily="34" charset="0"/>
              </a:rPr>
              <a:t>(insbesondere bei einer größeren Anzahl von zu verknüpfenden Tabellen)</a:t>
            </a:r>
            <a:r>
              <a:rPr lang="de-DE" sz="2000" dirty="0">
                <a:solidFill>
                  <a:srgbClr val="0071B2"/>
                </a:solidFill>
                <a:latin typeface="Source Sans Pro" panose="020B0503030403020204" pitchFamily="34" charset="0"/>
              </a:rPr>
              <a:t>.</a:t>
            </a:r>
            <a:endParaRPr kumimoji="0" lang="de-DE" sz="2000" b="0" u="none" strike="noStrike" kern="1200" cap="none" spc="0" normalizeH="0" noProof="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0" u="none" strike="noStrike" kern="1200" cap="none" spc="0" normalizeH="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baseline="0" dirty="0">
                <a:solidFill>
                  <a:srgbClr val="0071B2"/>
                </a:solidFill>
                <a:latin typeface="Source Sans Pro" panose="020B0503030403020204" pitchFamily="34" charset="0"/>
              </a:rPr>
              <a:t>Gegner des NATURAL JOINS wenden jedoch ein, dass die </a:t>
            </a:r>
            <a:r>
              <a:rPr lang="de-DE" sz="1600" baseline="0" dirty="0">
                <a:solidFill>
                  <a:srgbClr val="0071B2"/>
                </a:solidFill>
                <a:latin typeface="Source Sans Pro" panose="020B0503030403020204" pitchFamily="34" charset="0"/>
              </a:rPr>
              <a:t>(oben bereits angesprochenen)</a:t>
            </a:r>
            <a:r>
              <a:rPr lang="de-DE" sz="1600" dirty="0">
                <a:solidFill>
                  <a:srgbClr val="0071B2"/>
                </a:solidFill>
                <a:latin typeface="Source Sans Pro" panose="020B0503030403020204" pitchFamily="34" charset="0"/>
              </a:rPr>
              <a:t> </a:t>
            </a:r>
            <a:r>
              <a:rPr lang="de-DE" sz="2000" baseline="0" dirty="0">
                <a:solidFill>
                  <a:srgbClr val="0071B2"/>
                </a:solidFill>
                <a:latin typeface="Source Sans Pro" panose="020B0503030403020204" pitchFamily="34" charset="0"/>
              </a:rPr>
              <a:t>Voraussetzungen problematisch</a:t>
            </a:r>
            <a:r>
              <a:rPr lang="de-DE" sz="2000" dirty="0">
                <a:solidFill>
                  <a:srgbClr val="0071B2"/>
                </a:solidFill>
                <a:latin typeface="Source Sans Pro" panose="020B0503030403020204" pitchFamily="34" charset="0"/>
              </a:rPr>
              <a:t> seien</a:t>
            </a:r>
            <a:r>
              <a:rPr lang="de-DE" sz="2000" baseline="0" dirty="0">
                <a:solidFill>
                  <a:srgbClr val="0071B2"/>
                </a:solidFill>
                <a:latin typeface="Source Sans Pro" panose="020B0503030403020204" pitchFamily="34" charset="0"/>
              </a:rPr>
              <a:t>, da ehemals korrekte Abfragen mit einem NATURAL JOIN zukünftig zu </a:t>
            </a:r>
            <a:r>
              <a:rPr lang="de-DE" sz="2000" b="1" baseline="0" dirty="0">
                <a:solidFill>
                  <a:srgbClr val="0071B2"/>
                </a:solidFill>
                <a:latin typeface="Source Sans Pro" panose="020B0503030403020204" pitchFamily="34" charset="0"/>
              </a:rPr>
              <a:t>Fehlern</a:t>
            </a:r>
            <a:r>
              <a:rPr lang="de-DE" sz="2000" baseline="0" dirty="0">
                <a:solidFill>
                  <a:srgbClr val="0071B2"/>
                </a:solidFill>
                <a:latin typeface="Source Sans Pro" panose="020B0503030403020204" pitchFamily="34" charset="0"/>
              </a:rPr>
              <a:t> führen könnten, falls die Attribut-Bezeichnungen der zu verknüpfenden Tabellen geändert</a:t>
            </a:r>
            <a:r>
              <a:rPr lang="de-DE" sz="2000" dirty="0">
                <a:solidFill>
                  <a:srgbClr val="0071B2"/>
                </a:solidFill>
                <a:latin typeface="Source Sans Pro" panose="020B0503030403020204" pitchFamily="34" charset="0"/>
              </a:rPr>
              <a:t> wurden.</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rPr>
              <a:t>Der NATURAL JOIN ist daher das Bayern München der JOINs. Man liebt, oder hasst ihn </a:t>
            </a:r>
            <a:r>
              <a:rPr kumimoji="0" lang="de-DE" sz="2000" b="1" u="none" strike="noStrike" kern="1200" cap="none" spc="0" normalizeH="0" baseline="0" noProof="0" dirty="0">
                <a:ln>
                  <a:noFill/>
                </a:ln>
                <a:solidFill>
                  <a:srgbClr val="0071B2"/>
                </a:solidFill>
                <a:effectLst/>
                <a:uLnTx/>
                <a:uFillTx/>
                <a:latin typeface="Source Sans Pro" panose="020B0503030403020204" pitchFamily="34" charset="0"/>
              </a:rPr>
              <a:t>;-)</a:t>
            </a:r>
            <a:r>
              <a:rPr kumimoji="0" lang="de-DE" sz="2000" b="0" u="none" strike="noStrike" kern="1200" cap="none" spc="0" normalizeH="0" baseline="0" noProof="0" dirty="0">
                <a:ln>
                  <a:noFill/>
                </a:ln>
                <a:solidFill>
                  <a:srgbClr val="0071B2"/>
                </a:solidFill>
                <a:effectLst/>
                <a:uLnTx/>
                <a:uFillTx/>
                <a:latin typeface="Source Sans Pro" panose="020B0503030403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Definition </a:t>
            </a:r>
            <a:r>
              <a:rPr lang="de-DE" sz="4000" dirty="0">
                <a:solidFill>
                  <a:srgbClr val="0071B2"/>
                </a:solidFill>
                <a:latin typeface="Source Sans Pro" panose="020B0503030403020204" pitchFamily="34" charset="0"/>
              </a:rPr>
              <a:t>+</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 Motivation + Kritik</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1613390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3" name="Rechteck 22"/>
          <p:cNvSpPr/>
          <p:nvPr/>
        </p:nvSpPr>
        <p:spPr>
          <a:xfrm>
            <a:off x="556952" y="1104065"/>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a:solidFill>
                <a:schemeClr val="accent2"/>
              </a:solidFill>
              <a:latin typeface="Source Sans Pro" panose="020B0503030403020204" pitchFamily="34" charset="0"/>
            </a:endParaRPr>
          </a:p>
          <a:p>
            <a:pPr lvl="0" algn="ctr"/>
            <a:endParaRPr lang="de-DE" b="1" dirty="0">
              <a:solidFill>
                <a:srgbClr val="0071B2"/>
              </a:solidFill>
            </a:endParaRPr>
          </a:p>
          <a:p>
            <a:pPr lvl="0" algn="ctr"/>
            <a:r>
              <a:rPr lang="de-DE" b="1" dirty="0">
                <a:solidFill>
                  <a:srgbClr val="0071B2"/>
                </a:solidFill>
              </a:rPr>
              <a:t>Aufgabenstellung:</a:t>
            </a:r>
          </a:p>
          <a:p>
            <a:pPr lvl="0" algn="ctr"/>
            <a:r>
              <a:rPr lang="de-DE" sz="1600" dirty="0">
                <a:solidFill>
                  <a:srgbClr val="0071B2"/>
                </a:solidFill>
              </a:rPr>
              <a:t>Es sollen </a:t>
            </a:r>
            <a:r>
              <a:rPr lang="de-DE" sz="1600" b="1" dirty="0">
                <a:solidFill>
                  <a:srgbClr val="0071B2"/>
                </a:solidFill>
              </a:rPr>
              <a:t>Vor-</a:t>
            </a:r>
            <a:r>
              <a:rPr lang="de-DE" sz="1600" dirty="0">
                <a:solidFill>
                  <a:srgbClr val="0071B2"/>
                </a:solidFill>
              </a:rPr>
              <a:t> und </a:t>
            </a:r>
            <a:r>
              <a:rPr lang="de-DE" sz="1600" b="1" dirty="0">
                <a:solidFill>
                  <a:srgbClr val="0071B2"/>
                </a:solidFill>
              </a:rPr>
              <a:t>Nachname</a:t>
            </a:r>
            <a:r>
              <a:rPr lang="de-DE" sz="1600" dirty="0">
                <a:solidFill>
                  <a:srgbClr val="0071B2"/>
                </a:solidFill>
              </a:rPr>
              <a:t> aller Kunden ausgegeben werden, die mindestens einmal von der </a:t>
            </a:r>
            <a:r>
              <a:rPr lang="de-DE" sz="1600" b="1" dirty="0">
                <a:solidFill>
                  <a:srgbClr val="0071B2"/>
                </a:solidFill>
              </a:rPr>
              <a:t>RocketLogistic AG </a:t>
            </a:r>
            <a:r>
              <a:rPr lang="de-DE" sz="1600" dirty="0">
                <a:solidFill>
                  <a:srgbClr val="0071B2"/>
                </a:solidFill>
              </a:rPr>
              <a:t>beliefert wurden.</a:t>
            </a:r>
          </a:p>
          <a:p>
            <a:pPr algn="ctr"/>
            <a:endParaRPr lang="de-DE" sz="800" b="1" dirty="0">
              <a:solidFill>
                <a:schemeClr val="tx1"/>
              </a:solidFill>
              <a:latin typeface="Source Sans Pro" panose="020B0503030403020204" pitchFamily="34" charset="0"/>
            </a:endParaRPr>
          </a:p>
          <a:p>
            <a:pPr algn="ctr"/>
            <a:endParaRPr lang="de-DE" sz="800" dirty="0">
              <a:solidFill>
                <a:schemeClr val="bg2"/>
              </a:solidFill>
              <a:latin typeface="Source Sans Pro" panose="020B0503030403020204" pitchFamily="34" charset="0"/>
            </a:endParaRPr>
          </a:p>
          <a:p>
            <a:pPr algn="ctr"/>
            <a:r>
              <a:rPr lang="de-DE" sz="1200" dirty="0">
                <a:solidFill>
                  <a:schemeClr val="bg2"/>
                </a:solidFill>
              </a:rPr>
              <a:t>.</a:t>
            </a:r>
          </a:p>
        </p:txBody>
      </p:sp>
      <p:sp>
        <p:nvSpPr>
          <p:cNvPr id="6" name="Textfeld 5"/>
          <p:cNvSpPr txBox="1"/>
          <p:nvPr/>
        </p:nvSpPr>
        <p:spPr>
          <a:xfrm>
            <a:off x="2492180" y="2533738"/>
            <a:ext cx="8030096" cy="3416320"/>
          </a:xfrm>
          <a:prstGeom prst="rect">
            <a:avLst/>
          </a:prstGeom>
          <a:noFill/>
        </p:spPr>
        <p:txBody>
          <a:bodyPr wrap="square" rtlCol="0">
            <a:spAutoFit/>
          </a:bodyPr>
          <a:lstStyle/>
          <a:p>
            <a:r>
              <a:rPr lang="de-DE" b="1" dirty="0"/>
              <a:t>SELECT DISTINCT </a:t>
            </a:r>
            <a:r>
              <a:rPr lang="de-DE" dirty="0"/>
              <a:t>Vorname, Nachname</a:t>
            </a:r>
          </a:p>
          <a:p>
            <a:r>
              <a:rPr lang="de-DE" b="1" dirty="0"/>
              <a:t>FROM</a:t>
            </a:r>
            <a:r>
              <a:rPr lang="de-DE" dirty="0"/>
              <a:t> Kunde </a:t>
            </a:r>
            <a:r>
              <a:rPr lang="de-DE" b="1" dirty="0"/>
              <a:t>INNER JOIN </a:t>
            </a:r>
            <a:r>
              <a:rPr lang="de-DE" dirty="0"/>
              <a:t>Abrechnung </a:t>
            </a:r>
          </a:p>
          <a:p>
            <a:r>
              <a:rPr lang="de-DE" dirty="0"/>
              <a:t>                 </a:t>
            </a:r>
            <a:r>
              <a:rPr lang="de-DE" b="1" dirty="0">
                <a:solidFill>
                  <a:schemeClr val="accent2"/>
                </a:solidFill>
              </a:rPr>
              <a:t>ON</a:t>
            </a:r>
            <a:r>
              <a:rPr lang="de-DE" dirty="0">
                <a:solidFill>
                  <a:schemeClr val="accent2"/>
                </a:solidFill>
              </a:rPr>
              <a:t> Kunde.Kunde_ID=Abrechnung.Kunde_ID</a:t>
            </a:r>
          </a:p>
          <a:p>
            <a:r>
              <a:rPr lang="de-DE" dirty="0"/>
              <a:t>             </a:t>
            </a:r>
            <a:r>
              <a:rPr lang="de-DE" b="1" dirty="0"/>
              <a:t>INNER JOIN </a:t>
            </a:r>
            <a:r>
              <a:rPr lang="de-DE" dirty="0"/>
              <a:t>Abrechnung_Produkt</a:t>
            </a:r>
          </a:p>
          <a:p>
            <a:r>
              <a:rPr lang="de-DE" dirty="0"/>
              <a:t>                  </a:t>
            </a:r>
            <a:r>
              <a:rPr lang="de-DE" b="1" dirty="0">
                <a:solidFill>
                  <a:schemeClr val="accent2"/>
                </a:solidFill>
              </a:rPr>
              <a:t>ON</a:t>
            </a:r>
            <a:r>
              <a:rPr lang="de-DE" dirty="0">
                <a:solidFill>
                  <a:schemeClr val="accent2"/>
                </a:solidFill>
              </a:rPr>
              <a:t> Abrechnung.Abrechnung_ID=Abrechnung_Produkt.Abrechnung_ID</a:t>
            </a:r>
          </a:p>
          <a:p>
            <a:r>
              <a:rPr lang="de-DE" dirty="0"/>
              <a:t>             </a:t>
            </a:r>
            <a:r>
              <a:rPr lang="de-DE" b="1" dirty="0"/>
              <a:t>INNER JOIN </a:t>
            </a:r>
            <a:r>
              <a:rPr lang="de-DE" dirty="0"/>
              <a:t>Produkt</a:t>
            </a:r>
          </a:p>
          <a:p>
            <a:r>
              <a:rPr lang="de-DE" dirty="0">
                <a:solidFill>
                  <a:schemeClr val="accent2"/>
                </a:solidFill>
              </a:rPr>
              <a:t>                   </a:t>
            </a:r>
            <a:r>
              <a:rPr lang="de-DE" b="1" dirty="0">
                <a:solidFill>
                  <a:schemeClr val="accent2"/>
                </a:solidFill>
              </a:rPr>
              <a:t>ON</a:t>
            </a:r>
            <a:r>
              <a:rPr lang="de-DE" dirty="0">
                <a:solidFill>
                  <a:schemeClr val="accent2"/>
                </a:solidFill>
              </a:rPr>
              <a:t> Abrechnung_Produkt.Produkt_ID=Produkt.Produkt_id</a:t>
            </a:r>
          </a:p>
          <a:p>
            <a:r>
              <a:rPr lang="de-DE" dirty="0"/>
              <a:t>             </a:t>
            </a:r>
            <a:r>
              <a:rPr lang="de-DE" b="1" dirty="0"/>
              <a:t>INNER JOIN </a:t>
            </a:r>
            <a:r>
              <a:rPr lang="de-DE" dirty="0"/>
              <a:t>Hersteller</a:t>
            </a:r>
          </a:p>
          <a:p>
            <a:r>
              <a:rPr lang="de-DE" dirty="0">
                <a:solidFill>
                  <a:schemeClr val="accent2"/>
                </a:solidFill>
              </a:rPr>
              <a:t>                    </a:t>
            </a:r>
            <a:r>
              <a:rPr lang="de-DE" b="1" dirty="0">
                <a:solidFill>
                  <a:schemeClr val="accent2"/>
                </a:solidFill>
              </a:rPr>
              <a:t>ON</a:t>
            </a:r>
            <a:r>
              <a:rPr lang="de-DE" dirty="0">
                <a:solidFill>
                  <a:schemeClr val="accent2"/>
                </a:solidFill>
              </a:rPr>
              <a:t> Produkt.Hersteller_ID=Hersteller.Hersteller_ID</a:t>
            </a:r>
          </a:p>
          <a:p>
            <a:r>
              <a:rPr lang="de-DE" dirty="0"/>
              <a:t>             </a:t>
            </a:r>
            <a:r>
              <a:rPr lang="de-DE" b="1" dirty="0"/>
              <a:t>INNER JOIN </a:t>
            </a:r>
            <a:r>
              <a:rPr lang="de-DE" dirty="0"/>
              <a:t>Spedition</a:t>
            </a:r>
          </a:p>
          <a:p>
            <a:r>
              <a:rPr lang="de-DE" dirty="0">
                <a:solidFill>
                  <a:schemeClr val="accent2"/>
                </a:solidFill>
              </a:rPr>
              <a:t>                    </a:t>
            </a:r>
            <a:r>
              <a:rPr lang="de-DE" b="1" dirty="0">
                <a:solidFill>
                  <a:schemeClr val="accent2"/>
                </a:solidFill>
              </a:rPr>
              <a:t>ON</a:t>
            </a:r>
            <a:r>
              <a:rPr lang="de-DE" dirty="0">
                <a:solidFill>
                  <a:schemeClr val="accent2"/>
                </a:solidFill>
              </a:rPr>
              <a:t> Hersteller.Spedition_ID=Spedition.Spedition_ID </a:t>
            </a:r>
          </a:p>
          <a:p>
            <a:r>
              <a:rPr lang="de-DE" dirty="0"/>
              <a:t>                           </a:t>
            </a:r>
            <a:r>
              <a:rPr lang="de-DE" b="1" dirty="0"/>
              <a:t>AND</a:t>
            </a:r>
            <a:r>
              <a:rPr lang="de-DE" dirty="0"/>
              <a:t> Spedition_Name="RocketLogistic AG"</a:t>
            </a:r>
            <a:r>
              <a:rPr lang="de-DE" b="1" dirty="0"/>
              <a:t>;</a:t>
            </a:r>
          </a:p>
        </p:txBody>
      </p:sp>
      <p:sp>
        <p:nvSpPr>
          <p:cNvPr id="15" name="Textfeld 14"/>
          <p:cNvSpPr txBox="1"/>
          <p:nvPr/>
        </p:nvSpPr>
        <p:spPr>
          <a:xfrm>
            <a:off x="556952" y="2046890"/>
            <a:ext cx="6783973" cy="369332"/>
          </a:xfrm>
          <a:prstGeom prst="rect">
            <a:avLst/>
          </a:prstGeom>
          <a:noFill/>
        </p:spPr>
        <p:txBody>
          <a:bodyPr wrap="none" rtlCol="0">
            <a:spAutoFit/>
          </a:bodyPr>
          <a:lstStyle/>
          <a:p>
            <a:r>
              <a:rPr lang="de-DE" b="1" dirty="0"/>
              <a:t>Wir betrachten zunächst die bisherige – </a:t>
            </a:r>
            <a:r>
              <a:rPr lang="de-DE" b="1" dirty="0">
                <a:solidFill>
                  <a:schemeClr val="accent2"/>
                </a:solidFill>
              </a:rPr>
              <a:t>„schreib-intensive“ </a:t>
            </a:r>
            <a:r>
              <a:rPr lang="de-DE" b="1" dirty="0"/>
              <a:t>– Lösung:</a:t>
            </a:r>
          </a:p>
        </p:txBody>
      </p:sp>
    </p:spTree>
    <p:extLst>
      <p:ext uri="{BB962C8B-B14F-4D97-AF65-F5344CB8AC3E}">
        <p14:creationId xmlns:p14="http://schemas.microsoft.com/office/powerpoint/2010/main" val="385706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6"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3" name="Rechteck 22"/>
          <p:cNvSpPr/>
          <p:nvPr/>
        </p:nvSpPr>
        <p:spPr>
          <a:xfrm>
            <a:off x="556952" y="1104065"/>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a:solidFill>
                <a:schemeClr val="accent2"/>
              </a:solidFill>
              <a:latin typeface="Source Sans Pro" panose="020B0503030403020204" pitchFamily="34" charset="0"/>
            </a:endParaRPr>
          </a:p>
          <a:p>
            <a:pPr lvl="0" algn="ctr"/>
            <a:endParaRPr lang="de-DE" b="1" dirty="0">
              <a:solidFill>
                <a:srgbClr val="0071B2"/>
              </a:solidFill>
            </a:endParaRPr>
          </a:p>
          <a:p>
            <a:pPr lvl="0" algn="ctr"/>
            <a:r>
              <a:rPr lang="de-DE" b="1" dirty="0">
                <a:solidFill>
                  <a:srgbClr val="0071B2"/>
                </a:solidFill>
              </a:rPr>
              <a:t>Aufgabenstellung:</a:t>
            </a:r>
          </a:p>
          <a:p>
            <a:pPr lvl="0" algn="ctr"/>
            <a:r>
              <a:rPr lang="de-DE" sz="1600" dirty="0">
                <a:solidFill>
                  <a:srgbClr val="0071B2"/>
                </a:solidFill>
              </a:rPr>
              <a:t>Es sollen </a:t>
            </a:r>
            <a:r>
              <a:rPr lang="de-DE" sz="1600" b="1" dirty="0">
                <a:solidFill>
                  <a:srgbClr val="0071B2"/>
                </a:solidFill>
              </a:rPr>
              <a:t>Vor-</a:t>
            </a:r>
            <a:r>
              <a:rPr lang="de-DE" sz="1600" dirty="0">
                <a:solidFill>
                  <a:srgbClr val="0071B2"/>
                </a:solidFill>
              </a:rPr>
              <a:t> und </a:t>
            </a:r>
            <a:r>
              <a:rPr lang="de-DE" sz="1600" b="1" dirty="0">
                <a:solidFill>
                  <a:srgbClr val="0071B2"/>
                </a:solidFill>
              </a:rPr>
              <a:t>Nachname</a:t>
            </a:r>
            <a:r>
              <a:rPr lang="de-DE" sz="1600" dirty="0">
                <a:solidFill>
                  <a:srgbClr val="0071B2"/>
                </a:solidFill>
              </a:rPr>
              <a:t> aller Kunden ausgegeben werden, die mindestens einmal von der </a:t>
            </a:r>
            <a:r>
              <a:rPr lang="de-DE" sz="1600" b="1" dirty="0">
                <a:solidFill>
                  <a:srgbClr val="0071B2"/>
                </a:solidFill>
              </a:rPr>
              <a:t>RocketLogistic AG </a:t>
            </a:r>
            <a:r>
              <a:rPr lang="de-DE" sz="1600" dirty="0">
                <a:solidFill>
                  <a:srgbClr val="0071B2"/>
                </a:solidFill>
              </a:rPr>
              <a:t>beliefert wurden.</a:t>
            </a:r>
          </a:p>
          <a:p>
            <a:pPr algn="ctr"/>
            <a:endParaRPr lang="de-DE" sz="800" b="1" dirty="0">
              <a:solidFill>
                <a:schemeClr val="tx1"/>
              </a:solidFill>
              <a:latin typeface="Source Sans Pro" panose="020B0503030403020204" pitchFamily="34" charset="0"/>
            </a:endParaRPr>
          </a:p>
          <a:p>
            <a:pPr algn="ctr"/>
            <a:endParaRPr lang="de-DE" sz="800" dirty="0">
              <a:solidFill>
                <a:schemeClr val="bg2"/>
              </a:solidFill>
              <a:latin typeface="Source Sans Pro" panose="020B0503030403020204" pitchFamily="34" charset="0"/>
            </a:endParaRPr>
          </a:p>
          <a:p>
            <a:pPr algn="ctr"/>
            <a:r>
              <a:rPr lang="de-DE" sz="1200" dirty="0">
                <a:solidFill>
                  <a:schemeClr val="bg2"/>
                </a:solidFill>
              </a:rPr>
              <a:t>.</a:t>
            </a:r>
          </a:p>
        </p:txBody>
      </p:sp>
      <p:sp>
        <p:nvSpPr>
          <p:cNvPr id="6" name="Textfeld 5"/>
          <p:cNvSpPr txBox="1"/>
          <p:nvPr/>
        </p:nvSpPr>
        <p:spPr>
          <a:xfrm>
            <a:off x="2492180" y="2533738"/>
            <a:ext cx="8030096" cy="2031325"/>
          </a:xfrm>
          <a:prstGeom prst="rect">
            <a:avLst/>
          </a:prstGeom>
          <a:noFill/>
        </p:spPr>
        <p:txBody>
          <a:bodyPr wrap="square" rtlCol="0">
            <a:spAutoFit/>
          </a:bodyPr>
          <a:lstStyle/>
          <a:p>
            <a:r>
              <a:rPr lang="de-DE" b="1" dirty="0"/>
              <a:t>SELECT DISTINCT </a:t>
            </a:r>
            <a:r>
              <a:rPr lang="de-DE" dirty="0"/>
              <a:t>Vorname, Nachname</a:t>
            </a:r>
          </a:p>
          <a:p>
            <a:r>
              <a:rPr lang="de-DE" b="1" dirty="0"/>
              <a:t>FROM</a:t>
            </a:r>
            <a:r>
              <a:rPr lang="de-DE" dirty="0"/>
              <a:t> Kunde </a:t>
            </a:r>
            <a:r>
              <a:rPr lang="de-DE" b="1" dirty="0"/>
              <a:t>NATURAL JOIN </a:t>
            </a:r>
            <a:r>
              <a:rPr lang="de-DE" dirty="0"/>
              <a:t>Abrechnung </a:t>
            </a:r>
          </a:p>
          <a:p>
            <a:r>
              <a:rPr lang="de-DE" b="1" dirty="0"/>
              <a:t>            NATURAL JOIN </a:t>
            </a:r>
            <a:r>
              <a:rPr lang="de-DE" dirty="0"/>
              <a:t>Abrechnung_Produkt </a:t>
            </a:r>
          </a:p>
          <a:p>
            <a:r>
              <a:rPr lang="de-DE" b="1" dirty="0"/>
              <a:t>            NATURAL JOIN </a:t>
            </a:r>
            <a:r>
              <a:rPr lang="de-DE" dirty="0"/>
              <a:t>Produkt </a:t>
            </a:r>
          </a:p>
          <a:p>
            <a:r>
              <a:rPr lang="de-DE" b="1" dirty="0"/>
              <a:t>            NATURAL JOIN </a:t>
            </a:r>
            <a:r>
              <a:rPr lang="de-DE" dirty="0"/>
              <a:t>Hersteller </a:t>
            </a:r>
          </a:p>
          <a:p>
            <a:r>
              <a:rPr lang="de-DE" b="1" dirty="0"/>
              <a:t>            NATURAL JOIN </a:t>
            </a:r>
            <a:r>
              <a:rPr lang="de-DE" dirty="0"/>
              <a:t>Spedition                           </a:t>
            </a:r>
            <a:endParaRPr lang="de-DE" b="1" dirty="0"/>
          </a:p>
          <a:p>
            <a:r>
              <a:rPr lang="de-DE" b="1" dirty="0"/>
              <a:t>WHERE </a:t>
            </a:r>
            <a:r>
              <a:rPr lang="de-DE" dirty="0"/>
              <a:t>Spedition_Name="RocketLogistic AG"</a:t>
            </a:r>
            <a:r>
              <a:rPr lang="de-DE" b="1" dirty="0"/>
              <a:t>;</a:t>
            </a:r>
          </a:p>
        </p:txBody>
      </p:sp>
      <p:sp>
        <p:nvSpPr>
          <p:cNvPr id="15" name="Textfeld 14"/>
          <p:cNvSpPr txBox="1"/>
          <p:nvPr/>
        </p:nvSpPr>
        <p:spPr>
          <a:xfrm>
            <a:off x="556952" y="2046890"/>
            <a:ext cx="4511684" cy="369332"/>
          </a:xfrm>
          <a:prstGeom prst="rect">
            <a:avLst/>
          </a:prstGeom>
          <a:noFill/>
        </p:spPr>
        <p:txBody>
          <a:bodyPr wrap="none" rtlCol="0">
            <a:spAutoFit/>
          </a:bodyPr>
          <a:lstStyle/>
          <a:p>
            <a:r>
              <a:rPr lang="de-DE" b="1" dirty="0"/>
              <a:t>Wir betrachten nun die </a:t>
            </a:r>
            <a:r>
              <a:rPr lang="de-DE" b="1" dirty="0">
                <a:solidFill>
                  <a:schemeClr val="accent2"/>
                </a:solidFill>
              </a:rPr>
              <a:t>komfortable </a:t>
            </a:r>
            <a:r>
              <a:rPr lang="de-DE" b="1" dirty="0"/>
              <a:t>Lösung:</a:t>
            </a:r>
          </a:p>
        </p:txBody>
      </p:sp>
    </p:spTree>
    <p:extLst>
      <p:ext uri="{BB962C8B-B14F-4D97-AF65-F5344CB8AC3E}">
        <p14:creationId xmlns:p14="http://schemas.microsoft.com/office/powerpoint/2010/main" val="1624824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Hinweis</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3" name="Rechteck 22"/>
          <p:cNvSpPr/>
          <p:nvPr/>
        </p:nvSpPr>
        <p:spPr>
          <a:xfrm>
            <a:off x="556952" y="1688527"/>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a:solidFill>
                <a:schemeClr val="accent2"/>
              </a:solidFill>
              <a:latin typeface="Source Sans Pro" panose="020B0503030403020204" pitchFamily="34" charset="0"/>
            </a:endParaRPr>
          </a:p>
          <a:p>
            <a:pPr lvl="0" algn="ctr"/>
            <a:endParaRPr lang="de-DE" b="1" dirty="0">
              <a:solidFill>
                <a:srgbClr val="0071B2"/>
              </a:solidFill>
            </a:endParaRPr>
          </a:p>
          <a:p>
            <a:pPr lvl="0" algn="ctr"/>
            <a:r>
              <a:rPr lang="de-DE" b="1" dirty="0">
                <a:solidFill>
                  <a:srgbClr val="0071B2"/>
                </a:solidFill>
              </a:rPr>
              <a:t>Aufgabenstellung:</a:t>
            </a:r>
          </a:p>
          <a:p>
            <a:pPr lvl="0" algn="ctr"/>
            <a:r>
              <a:rPr lang="de-DE" sz="1600" dirty="0">
                <a:solidFill>
                  <a:srgbClr val="0071B2"/>
                </a:solidFill>
              </a:rPr>
              <a:t>Für jede Abrechnung soll </a:t>
            </a:r>
            <a:r>
              <a:rPr lang="de-DE" sz="1600" b="1" dirty="0">
                <a:solidFill>
                  <a:srgbClr val="0071B2"/>
                </a:solidFill>
              </a:rPr>
              <a:t>Datum</a:t>
            </a:r>
            <a:r>
              <a:rPr lang="de-DE" sz="1600" dirty="0">
                <a:solidFill>
                  <a:srgbClr val="0071B2"/>
                </a:solidFill>
              </a:rPr>
              <a:t> und </a:t>
            </a:r>
            <a:r>
              <a:rPr lang="de-DE" sz="1600" b="1" dirty="0">
                <a:solidFill>
                  <a:srgbClr val="0071B2"/>
                </a:solidFill>
              </a:rPr>
              <a:t>Email-Adresse</a:t>
            </a:r>
            <a:r>
              <a:rPr lang="de-DE" sz="1600" dirty="0">
                <a:solidFill>
                  <a:srgbClr val="0071B2"/>
                </a:solidFill>
              </a:rPr>
              <a:t> des Kunden ausgegeben werden.</a:t>
            </a:r>
          </a:p>
          <a:p>
            <a:pPr lvl="0" algn="ctr"/>
            <a:r>
              <a:rPr lang="de-DE" sz="1600" dirty="0">
                <a:solidFill>
                  <a:srgbClr val="0071B2"/>
                </a:solidFill>
              </a:rPr>
              <a:t>Allerdings sollen nur Kunden mit einer </a:t>
            </a:r>
            <a:r>
              <a:rPr lang="de-DE" sz="1600" b="1" dirty="0">
                <a:solidFill>
                  <a:srgbClr val="0071B2"/>
                </a:solidFill>
              </a:rPr>
              <a:t>ID &gt; 3 </a:t>
            </a:r>
            <a:r>
              <a:rPr lang="de-DE" sz="1600" dirty="0">
                <a:solidFill>
                  <a:srgbClr val="0071B2"/>
                </a:solidFill>
              </a:rPr>
              <a:t>berücksichtigt werden.</a:t>
            </a:r>
          </a:p>
          <a:p>
            <a:pPr algn="ctr"/>
            <a:endParaRPr lang="de-DE" sz="800" b="1" dirty="0">
              <a:solidFill>
                <a:schemeClr val="tx1"/>
              </a:solidFill>
              <a:latin typeface="Source Sans Pro" panose="020B0503030403020204" pitchFamily="34" charset="0"/>
            </a:endParaRPr>
          </a:p>
          <a:p>
            <a:pPr algn="ctr"/>
            <a:endParaRPr lang="de-DE" sz="800" dirty="0">
              <a:solidFill>
                <a:schemeClr val="bg2"/>
              </a:solidFill>
              <a:latin typeface="Source Sans Pro" panose="020B0503030403020204" pitchFamily="34" charset="0"/>
            </a:endParaRPr>
          </a:p>
          <a:p>
            <a:pPr algn="ctr"/>
            <a:r>
              <a:rPr lang="de-DE" sz="1200" dirty="0">
                <a:solidFill>
                  <a:schemeClr val="bg2"/>
                </a:solidFill>
              </a:rPr>
              <a:t>.</a:t>
            </a:r>
          </a:p>
        </p:txBody>
      </p:sp>
      <p:sp>
        <p:nvSpPr>
          <p:cNvPr id="6" name="Textfeld 5"/>
          <p:cNvSpPr txBox="1"/>
          <p:nvPr/>
        </p:nvSpPr>
        <p:spPr>
          <a:xfrm>
            <a:off x="1843787" y="2928082"/>
            <a:ext cx="8030096" cy="1200329"/>
          </a:xfrm>
          <a:prstGeom prst="rect">
            <a:avLst/>
          </a:prstGeom>
          <a:noFill/>
        </p:spPr>
        <p:txBody>
          <a:bodyPr wrap="square" rtlCol="0">
            <a:spAutoFit/>
          </a:bodyPr>
          <a:lstStyle/>
          <a:p>
            <a:r>
              <a:rPr lang="de-DE" b="1" dirty="0"/>
              <a:t>SELECT </a:t>
            </a:r>
            <a:r>
              <a:rPr lang="de-DE" dirty="0"/>
              <a:t>Datum</a:t>
            </a:r>
            <a:r>
              <a:rPr lang="de-DE" b="1" dirty="0"/>
              <a:t>, </a:t>
            </a:r>
            <a:r>
              <a:rPr lang="de-DE" dirty="0"/>
              <a:t>Email</a:t>
            </a:r>
            <a:r>
              <a:rPr lang="de-DE" b="1" dirty="0"/>
              <a:t> </a:t>
            </a:r>
          </a:p>
          <a:p>
            <a:r>
              <a:rPr lang="de-DE" b="1" dirty="0"/>
              <a:t>FROM </a:t>
            </a:r>
            <a:r>
              <a:rPr lang="de-DE" dirty="0"/>
              <a:t>Kunde</a:t>
            </a:r>
            <a:r>
              <a:rPr lang="de-DE" b="1" dirty="0"/>
              <a:t> INNER JOIN </a:t>
            </a:r>
            <a:r>
              <a:rPr lang="de-DE" dirty="0"/>
              <a:t>Abrechnung</a:t>
            </a:r>
            <a:r>
              <a:rPr lang="de-DE" b="1" dirty="0"/>
              <a:t> </a:t>
            </a:r>
          </a:p>
          <a:p>
            <a:r>
              <a:rPr lang="de-DE" b="1" dirty="0"/>
              <a:t>ON </a:t>
            </a:r>
            <a:r>
              <a:rPr lang="de-DE" dirty="0"/>
              <a:t>Kunde.Kunde_ID=Abrechnung.Kunde_ID</a:t>
            </a:r>
          </a:p>
          <a:p>
            <a:r>
              <a:rPr lang="de-DE" b="1" dirty="0"/>
              <a:t>WHERE </a:t>
            </a:r>
            <a:r>
              <a:rPr lang="de-DE" dirty="0">
                <a:solidFill>
                  <a:schemeClr val="accent2"/>
                </a:solidFill>
              </a:rPr>
              <a:t>Kunde_ID</a:t>
            </a:r>
            <a:r>
              <a:rPr lang="de-DE" dirty="0"/>
              <a:t>&gt;3</a:t>
            </a:r>
            <a:r>
              <a:rPr lang="de-DE" b="1" dirty="0"/>
              <a:t>;</a:t>
            </a:r>
          </a:p>
        </p:txBody>
      </p:sp>
      <p:sp>
        <p:nvSpPr>
          <p:cNvPr id="15" name="Textfeld 14"/>
          <p:cNvSpPr txBox="1"/>
          <p:nvPr/>
        </p:nvSpPr>
        <p:spPr>
          <a:xfrm>
            <a:off x="580252" y="2521327"/>
            <a:ext cx="7475380" cy="369332"/>
          </a:xfrm>
          <a:prstGeom prst="rect">
            <a:avLst/>
          </a:prstGeom>
          <a:noFill/>
        </p:spPr>
        <p:txBody>
          <a:bodyPr wrap="none" rtlCol="0">
            <a:spAutoFit/>
          </a:bodyPr>
          <a:lstStyle/>
          <a:p>
            <a:r>
              <a:rPr lang="de-DE" b="1" dirty="0"/>
              <a:t>Wir betrachten erneut zunächst einen </a:t>
            </a:r>
            <a:r>
              <a:rPr lang="de-DE" b="1" dirty="0">
                <a:solidFill>
                  <a:schemeClr val="accent2"/>
                </a:solidFill>
              </a:rPr>
              <a:t>Lösungsversuch</a:t>
            </a:r>
            <a:r>
              <a:rPr lang="de-DE" b="1" dirty="0"/>
              <a:t> </a:t>
            </a:r>
            <a:r>
              <a:rPr lang="de-DE" b="1" u="sng" dirty="0"/>
              <a:t>ohne</a:t>
            </a:r>
            <a:r>
              <a:rPr lang="de-DE" b="1" dirty="0"/>
              <a:t> NATURAL JOIN:</a:t>
            </a:r>
          </a:p>
        </p:txBody>
      </p:sp>
      <p:sp>
        <p:nvSpPr>
          <p:cNvPr id="9" name="Textfeld 8"/>
          <p:cNvSpPr txBox="1"/>
          <p:nvPr/>
        </p:nvSpPr>
        <p:spPr>
          <a:xfrm>
            <a:off x="420609" y="1258698"/>
            <a:ext cx="11445569" cy="369332"/>
          </a:xfrm>
          <a:prstGeom prst="rect">
            <a:avLst/>
          </a:prstGeom>
          <a:noFill/>
        </p:spPr>
        <p:txBody>
          <a:bodyPr wrap="none" rtlCol="0">
            <a:spAutoFit/>
          </a:bodyPr>
          <a:lstStyle/>
          <a:p>
            <a:r>
              <a:rPr lang="de-DE" b="1" dirty="0"/>
              <a:t>Der NATURAL JOIN besitzt noch eine weitere komfortable Eigenschaft, die wir am folgenden Beispiel erläutern wollen:</a:t>
            </a:r>
          </a:p>
        </p:txBody>
      </p:sp>
      <p:pic>
        <p:nvPicPr>
          <p:cNvPr id="2" name="Grafik 1"/>
          <p:cNvPicPr>
            <a:picLocks noChangeAspect="1"/>
          </p:cNvPicPr>
          <p:nvPr/>
        </p:nvPicPr>
        <p:blipFill>
          <a:blip r:embed="rId2"/>
          <a:stretch>
            <a:fillRect/>
          </a:stretch>
        </p:blipFill>
        <p:spPr>
          <a:xfrm>
            <a:off x="1477528" y="4323983"/>
            <a:ext cx="5048250" cy="771525"/>
          </a:xfrm>
          <a:prstGeom prst="rect">
            <a:avLst/>
          </a:prstGeom>
          <a:effectLst>
            <a:innerShdw blurRad="114300">
              <a:prstClr val="black"/>
            </a:innerShdw>
          </a:effectLst>
        </p:spPr>
      </p:pic>
    </p:spTree>
    <p:extLst>
      <p:ext uri="{BB962C8B-B14F-4D97-AF65-F5344CB8AC3E}">
        <p14:creationId xmlns:p14="http://schemas.microsoft.com/office/powerpoint/2010/main" val="217382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6" grpId="0"/>
      <p:bldP spid="15"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Hinweis</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3" name="Rechteck 22"/>
          <p:cNvSpPr/>
          <p:nvPr/>
        </p:nvSpPr>
        <p:spPr>
          <a:xfrm>
            <a:off x="556952" y="1688527"/>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a:solidFill>
                <a:schemeClr val="accent2"/>
              </a:solidFill>
              <a:latin typeface="Source Sans Pro" panose="020B0503030403020204" pitchFamily="34" charset="0"/>
            </a:endParaRPr>
          </a:p>
          <a:p>
            <a:pPr lvl="0" algn="ctr"/>
            <a:endParaRPr lang="de-DE" b="1" dirty="0">
              <a:solidFill>
                <a:srgbClr val="0071B2"/>
              </a:solidFill>
            </a:endParaRPr>
          </a:p>
          <a:p>
            <a:pPr lvl="0" algn="ctr"/>
            <a:r>
              <a:rPr lang="de-DE" b="1" dirty="0">
                <a:solidFill>
                  <a:srgbClr val="0071B2"/>
                </a:solidFill>
              </a:rPr>
              <a:t>Aufgabenstellung:</a:t>
            </a:r>
          </a:p>
          <a:p>
            <a:pPr lvl="0" algn="ctr"/>
            <a:r>
              <a:rPr lang="de-DE" sz="1600" dirty="0">
                <a:solidFill>
                  <a:srgbClr val="0071B2"/>
                </a:solidFill>
              </a:rPr>
              <a:t>Für jede Abrechnung soll </a:t>
            </a:r>
            <a:r>
              <a:rPr lang="de-DE" sz="1600" b="1" dirty="0">
                <a:solidFill>
                  <a:srgbClr val="0071B2"/>
                </a:solidFill>
              </a:rPr>
              <a:t>Datum</a:t>
            </a:r>
            <a:r>
              <a:rPr lang="de-DE" sz="1600" dirty="0">
                <a:solidFill>
                  <a:srgbClr val="0071B2"/>
                </a:solidFill>
              </a:rPr>
              <a:t> und </a:t>
            </a:r>
            <a:r>
              <a:rPr lang="de-DE" sz="1600" b="1" dirty="0">
                <a:solidFill>
                  <a:srgbClr val="0071B2"/>
                </a:solidFill>
              </a:rPr>
              <a:t>Email-Adresse</a:t>
            </a:r>
            <a:r>
              <a:rPr lang="de-DE" sz="1600" dirty="0">
                <a:solidFill>
                  <a:srgbClr val="0071B2"/>
                </a:solidFill>
              </a:rPr>
              <a:t> des Kunden ausgegeben werden.</a:t>
            </a:r>
          </a:p>
          <a:p>
            <a:pPr lvl="0" algn="ctr"/>
            <a:r>
              <a:rPr lang="de-DE" sz="1600" dirty="0">
                <a:solidFill>
                  <a:srgbClr val="0071B2"/>
                </a:solidFill>
              </a:rPr>
              <a:t>Allerdings sollen nur Kunden mit einer </a:t>
            </a:r>
            <a:r>
              <a:rPr lang="de-DE" sz="1600" b="1" dirty="0">
                <a:solidFill>
                  <a:srgbClr val="0071B2"/>
                </a:solidFill>
              </a:rPr>
              <a:t>ID &gt; 3 </a:t>
            </a:r>
            <a:r>
              <a:rPr lang="de-DE" sz="1600" dirty="0">
                <a:solidFill>
                  <a:srgbClr val="0071B2"/>
                </a:solidFill>
              </a:rPr>
              <a:t>berücksichtigt werden.</a:t>
            </a:r>
          </a:p>
          <a:p>
            <a:pPr algn="ctr"/>
            <a:endParaRPr lang="de-DE" sz="800" b="1" dirty="0">
              <a:solidFill>
                <a:schemeClr val="tx1"/>
              </a:solidFill>
              <a:latin typeface="Source Sans Pro" panose="020B0503030403020204" pitchFamily="34" charset="0"/>
            </a:endParaRPr>
          </a:p>
          <a:p>
            <a:pPr algn="ctr"/>
            <a:endParaRPr lang="de-DE" sz="800" dirty="0">
              <a:solidFill>
                <a:schemeClr val="bg2"/>
              </a:solidFill>
              <a:latin typeface="Source Sans Pro" panose="020B0503030403020204" pitchFamily="34" charset="0"/>
            </a:endParaRPr>
          </a:p>
          <a:p>
            <a:pPr algn="ctr"/>
            <a:r>
              <a:rPr lang="de-DE" sz="1200" dirty="0">
                <a:solidFill>
                  <a:schemeClr val="bg2"/>
                </a:solidFill>
              </a:rPr>
              <a:t>.</a:t>
            </a:r>
          </a:p>
        </p:txBody>
      </p:sp>
      <p:sp>
        <p:nvSpPr>
          <p:cNvPr id="6" name="Textfeld 5"/>
          <p:cNvSpPr txBox="1"/>
          <p:nvPr/>
        </p:nvSpPr>
        <p:spPr>
          <a:xfrm>
            <a:off x="1843787" y="2928082"/>
            <a:ext cx="8030096" cy="1200329"/>
          </a:xfrm>
          <a:prstGeom prst="rect">
            <a:avLst/>
          </a:prstGeom>
          <a:noFill/>
        </p:spPr>
        <p:txBody>
          <a:bodyPr wrap="square" rtlCol="0">
            <a:spAutoFit/>
          </a:bodyPr>
          <a:lstStyle/>
          <a:p>
            <a:r>
              <a:rPr lang="de-DE" b="1" dirty="0"/>
              <a:t>SELECT </a:t>
            </a:r>
            <a:r>
              <a:rPr lang="de-DE" dirty="0"/>
              <a:t>Datum</a:t>
            </a:r>
            <a:r>
              <a:rPr lang="de-DE" b="1" dirty="0"/>
              <a:t>, </a:t>
            </a:r>
            <a:r>
              <a:rPr lang="de-DE" dirty="0"/>
              <a:t>Email</a:t>
            </a:r>
            <a:r>
              <a:rPr lang="de-DE" b="1" dirty="0"/>
              <a:t> </a:t>
            </a:r>
          </a:p>
          <a:p>
            <a:r>
              <a:rPr lang="de-DE" b="1" dirty="0"/>
              <a:t>FROM </a:t>
            </a:r>
            <a:r>
              <a:rPr lang="de-DE" dirty="0"/>
              <a:t>Kunde</a:t>
            </a:r>
            <a:r>
              <a:rPr lang="de-DE" b="1" dirty="0"/>
              <a:t> INNER JOIN </a:t>
            </a:r>
            <a:r>
              <a:rPr lang="de-DE" dirty="0"/>
              <a:t>Abrechnung</a:t>
            </a:r>
            <a:r>
              <a:rPr lang="de-DE" b="1" dirty="0"/>
              <a:t> </a:t>
            </a:r>
          </a:p>
          <a:p>
            <a:r>
              <a:rPr lang="de-DE" b="1" dirty="0"/>
              <a:t>ON </a:t>
            </a:r>
            <a:r>
              <a:rPr lang="de-DE" dirty="0"/>
              <a:t>Kunde.Kunde_ID=Abrechnung.Kunde_ID</a:t>
            </a:r>
          </a:p>
          <a:p>
            <a:r>
              <a:rPr lang="de-DE" b="1" dirty="0"/>
              <a:t>WHERE </a:t>
            </a:r>
            <a:r>
              <a:rPr lang="de-DE" b="1" dirty="0">
                <a:solidFill>
                  <a:schemeClr val="accent2"/>
                </a:solidFill>
              </a:rPr>
              <a:t>Kunde.</a:t>
            </a:r>
            <a:r>
              <a:rPr lang="de-DE" dirty="0"/>
              <a:t>Kunde_ID&gt;3</a:t>
            </a:r>
            <a:r>
              <a:rPr lang="de-DE" b="1" dirty="0"/>
              <a:t>;</a:t>
            </a:r>
          </a:p>
        </p:txBody>
      </p:sp>
      <p:sp>
        <p:nvSpPr>
          <p:cNvPr id="15" name="Textfeld 14"/>
          <p:cNvSpPr txBox="1"/>
          <p:nvPr/>
        </p:nvSpPr>
        <p:spPr>
          <a:xfrm>
            <a:off x="580252" y="2521327"/>
            <a:ext cx="1166281" cy="369332"/>
          </a:xfrm>
          <a:prstGeom prst="rect">
            <a:avLst/>
          </a:prstGeom>
          <a:noFill/>
        </p:spPr>
        <p:txBody>
          <a:bodyPr wrap="none" rtlCol="0">
            <a:spAutoFit/>
          </a:bodyPr>
          <a:lstStyle/>
          <a:p>
            <a:r>
              <a:rPr lang="de-DE" b="1" dirty="0">
                <a:solidFill>
                  <a:schemeClr val="accent2"/>
                </a:solidFill>
              </a:rPr>
              <a:t>Korrektur:</a:t>
            </a:r>
          </a:p>
        </p:txBody>
      </p:sp>
      <p:sp>
        <p:nvSpPr>
          <p:cNvPr id="9" name="Textfeld 8"/>
          <p:cNvSpPr txBox="1"/>
          <p:nvPr/>
        </p:nvSpPr>
        <p:spPr>
          <a:xfrm>
            <a:off x="420609" y="1258698"/>
            <a:ext cx="11445569" cy="369332"/>
          </a:xfrm>
          <a:prstGeom prst="rect">
            <a:avLst/>
          </a:prstGeom>
          <a:noFill/>
        </p:spPr>
        <p:txBody>
          <a:bodyPr wrap="none" rtlCol="0">
            <a:spAutoFit/>
          </a:bodyPr>
          <a:lstStyle/>
          <a:p>
            <a:r>
              <a:rPr lang="de-DE" b="1" dirty="0"/>
              <a:t>Der NATURAL JOIN besitzt noch eine weitere komfortable Eigenschaft, die wir am folgenden Beispiel erläutern wollen:</a:t>
            </a:r>
          </a:p>
        </p:txBody>
      </p:sp>
      <p:pic>
        <p:nvPicPr>
          <p:cNvPr id="3" name="Grafik 2"/>
          <p:cNvPicPr>
            <a:picLocks noChangeAspect="1"/>
          </p:cNvPicPr>
          <p:nvPr/>
        </p:nvPicPr>
        <p:blipFill>
          <a:blip r:embed="rId2"/>
          <a:stretch>
            <a:fillRect/>
          </a:stretch>
        </p:blipFill>
        <p:spPr>
          <a:xfrm>
            <a:off x="2344122" y="4258130"/>
            <a:ext cx="1924050" cy="962025"/>
          </a:xfrm>
          <a:prstGeom prst="rect">
            <a:avLst/>
          </a:prstGeom>
          <a:effectLst>
            <a:innerShdw blurRad="114300">
              <a:prstClr val="black"/>
            </a:innerShdw>
          </a:effectLst>
        </p:spPr>
      </p:pic>
    </p:spTree>
    <p:extLst>
      <p:ext uri="{BB962C8B-B14F-4D97-AF65-F5344CB8AC3E}">
        <p14:creationId xmlns:p14="http://schemas.microsoft.com/office/powerpoint/2010/main" val="4020994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Hinweis</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3" name="Rechteck 22"/>
          <p:cNvSpPr/>
          <p:nvPr/>
        </p:nvSpPr>
        <p:spPr>
          <a:xfrm>
            <a:off x="556952" y="1688527"/>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a:solidFill>
                <a:schemeClr val="accent2"/>
              </a:solidFill>
              <a:latin typeface="Source Sans Pro" panose="020B0503030403020204" pitchFamily="34" charset="0"/>
            </a:endParaRPr>
          </a:p>
          <a:p>
            <a:pPr lvl="0" algn="ctr"/>
            <a:endParaRPr lang="de-DE" b="1" dirty="0">
              <a:solidFill>
                <a:srgbClr val="0071B2"/>
              </a:solidFill>
            </a:endParaRPr>
          </a:p>
          <a:p>
            <a:pPr lvl="0" algn="ctr"/>
            <a:r>
              <a:rPr lang="de-DE" b="1" dirty="0">
                <a:solidFill>
                  <a:srgbClr val="0071B2"/>
                </a:solidFill>
              </a:rPr>
              <a:t>Aufgabenstellung:</a:t>
            </a:r>
          </a:p>
          <a:p>
            <a:pPr lvl="0" algn="ctr"/>
            <a:r>
              <a:rPr lang="de-DE" sz="1600" dirty="0">
                <a:solidFill>
                  <a:srgbClr val="0071B2"/>
                </a:solidFill>
              </a:rPr>
              <a:t>Für jede Abrechnung soll </a:t>
            </a:r>
            <a:r>
              <a:rPr lang="de-DE" sz="1600" b="1" dirty="0">
                <a:solidFill>
                  <a:srgbClr val="0071B2"/>
                </a:solidFill>
              </a:rPr>
              <a:t>Datum</a:t>
            </a:r>
            <a:r>
              <a:rPr lang="de-DE" sz="1600" dirty="0">
                <a:solidFill>
                  <a:srgbClr val="0071B2"/>
                </a:solidFill>
              </a:rPr>
              <a:t> und </a:t>
            </a:r>
            <a:r>
              <a:rPr lang="de-DE" sz="1600" b="1" dirty="0">
                <a:solidFill>
                  <a:srgbClr val="0071B2"/>
                </a:solidFill>
              </a:rPr>
              <a:t>Email-Adresse</a:t>
            </a:r>
            <a:r>
              <a:rPr lang="de-DE" sz="1600" dirty="0">
                <a:solidFill>
                  <a:srgbClr val="0071B2"/>
                </a:solidFill>
              </a:rPr>
              <a:t> des Kunden ausgegeben werden.</a:t>
            </a:r>
          </a:p>
          <a:p>
            <a:pPr lvl="0" algn="ctr"/>
            <a:r>
              <a:rPr lang="de-DE" sz="1600" dirty="0">
                <a:solidFill>
                  <a:srgbClr val="0071B2"/>
                </a:solidFill>
              </a:rPr>
              <a:t>Allerdings sollen nur Kunden mit einer </a:t>
            </a:r>
            <a:r>
              <a:rPr lang="de-DE" sz="1600" b="1" dirty="0">
                <a:solidFill>
                  <a:srgbClr val="0071B2"/>
                </a:solidFill>
              </a:rPr>
              <a:t>ID &gt; 3 </a:t>
            </a:r>
            <a:r>
              <a:rPr lang="de-DE" sz="1600" dirty="0">
                <a:solidFill>
                  <a:srgbClr val="0071B2"/>
                </a:solidFill>
              </a:rPr>
              <a:t>berücksichtigt werden.</a:t>
            </a:r>
          </a:p>
          <a:p>
            <a:pPr algn="ctr"/>
            <a:endParaRPr lang="de-DE" sz="800" b="1" dirty="0">
              <a:solidFill>
                <a:schemeClr val="tx1"/>
              </a:solidFill>
              <a:latin typeface="Source Sans Pro" panose="020B0503030403020204" pitchFamily="34" charset="0"/>
            </a:endParaRPr>
          </a:p>
          <a:p>
            <a:pPr algn="ctr"/>
            <a:endParaRPr lang="de-DE" sz="800" dirty="0">
              <a:solidFill>
                <a:schemeClr val="bg2"/>
              </a:solidFill>
              <a:latin typeface="Source Sans Pro" panose="020B0503030403020204" pitchFamily="34" charset="0"/>
            </a:endParaRPr>
          </a:p>
          <a:p>
            <a:pPr algn="ctr"/>
            <a:r>
              <a:rPr lang="de-DE" sz="1200" dirty="0">
                <a:solidFill>
                  <a:schemeClr val="bg2"/>
                </a:solidFill>
              </a:rPr>
              <a:t>.</a:t>
            </a:r>
          </a:p>
        </p:txBody>
      </p:sp>
      <p:sp>
        <p:nvSpPr>
          <p:cNvPr id="6" name="Textfeld 5"/>
          <p:cNvSpPr txBox="1"/>
          <p:nvPr/>
        </p:nvSpPr>
        <p:spPr>
          <a:xfrm>
            <a:off x="1843787" y="2928082"/>
            <a:ext cx="8030096" cy="923330"/>
          </a:xfrm>
          <a:prstGeom prst="rect">
            <a:avLst/>
          </a:prstGeom>
          <a:noFill/>
        </p:spPr>
        <p:txBody>
          <a:bodyPr wrap="square" rtlCol="0">
            <a:spAutoFit/>
          </a:bodyPr>
          <a:lstStyle/>
          <a:p>
            <a:r>
              <a:rPr lang="de-DE" b="1" dirty="0"/>
              <a:t>SELECT </a:t>
            </a:r>
            <a:r>
              <a:rPr lang="de-DE" dirty="0"/>
              <a:t>Datum</a:t>
            </a:r>
            <a:r>
              <a:rPr lang="de-DE" b="1" dirty="0"/>
              <a:t>, </a:t>
            </a:r>
            <a:r>
              <a:rPr lang="de-DE" dirty="0"/>
              <a:t>Email</a:t>
            </a:r>
            <a:r>
              <a:rPr lang="de-DE" b="1" dirty="0"/>
              <a:t> </a:t>
            </a:r>
          </a:p>
          <a:p>
            <a:r>
              <a:rPr lang="de-DE" b="1" dirty="0"/>
              <a:t>FROM </a:t>
            </a:r>
            <a:r>
              <a:rPr lang="de-DE" dirty="0"/>
              <a:t>Kunde</a:t>
            </a:r>
            <a:r>
              <a:rPr lang="de-DE" b="1" dirty="0"/>
              <a:t> NATURAL JOIN </a:t>
            </a:r>
            <a:r>
              <a:rPr lang="de-DE" dirty="0"/>
              <a:t>Abrechnung</a:t>
            </a:r>
            <a:r>
              <a:rPr lang="de-DE" b="1" dirty="0"/>
              <a:t> </a:t>
            </a:r>
          </a:p>
          <a:p>
            <a:r>
              <a:rPr lang="de-DE" b="1" dirty="0"/>
              <a:t>WHERE </a:t>
            </a:r>
            <a:r>
              <a:rPr lang="de-DE" dirty="0">
                <a:solidFill>
                  <a:schemeClr val="accent2"/>
                </a:solidFill>
              </a:rPr>
              <a:t>Kunde_ID</a:t>
            </a:r>
            <a:r>
              <a:rPr lang="de-DE" dirty="0"/>
              <a:t>&gt;3</a:t>
            </a:r>
            <a:r>
              <a:rPr lang="de-DE" b="1" dirty="0"/>
              <a:t>;</a:t>
            </a:r>
          </a:p>
        </p:txBody>
      </p:sp>
      <p:sp>
        <p:nvSpPr>
          <p:cNvPr id="15" name="Textfeld 14"/>
          <p:cNvSpPr txBox="1"/>
          <p:nvPr/>
        </p:nvSpPr>
        <p:spPr>
          <a:xfrm>
            <a:off x="556952" y="2521327"/>
            <a:ext cx="11071492" cy="369332"/>
          </a:xfrm>
          <a:prstGeom prst="rect">
            <a:avLst/>
          </a:prstGeom>
          <a:noFill/>
        </p:spPr>
        <p:txBody>
          <a:bodyPr wrap="none" rtlCol="0">
            <a:spAutoFit/>
          </a:bodyPr>
          <a:lstStyle/>
          <a:p>
            <a:r>
              <a:rPr lang="de-DE" b="1" dirty="0"/>
              <a:t>Diese Korrektur ist beim NATURAL JOIN </a:t>
            </a:r>
            <a:r>
              <a:rPr lang="de-DE" b="1" dirty="0">
                <a:solidFill>
                  <a:schemeClr val="accent2"/>
                </a:solidFill>
              </a:rPr>
              <a:t>nicht notwendig</a:t>
            </a:r>
            <a:r>
              <a:rPr lang="de-DE" b="1" dirty="0"/>
              <a:t>, da dieser die beiden Kunden-IDs zu einer zusammenfasst:</a:t>
            </a:r>
          </a:p>
        </p:txBody>
      </p:sp>
      <p:sp>
        <p:nvSpPr>
          <p:cNvPr id="9" name="Textfeld 8"/>
          <p:cNvSpPr txBox="1"/>
          <p:nvPr/>
        </p:nvSpPr>
        <p:spPr>
          <a:xfrm>
            <a:off x="420609" y="1258698"/>
            <a:ext cx="11445569" cy="369332"/>
          </a:xfrm>
          <a:prstGeom prst="rect">
            <a:avLst/>
          </a:prstGeom>
          <a:noFill/>
        </p:spPr>
        <p:txBody>
          <a:bodyPr wrap="none" rtlCol="0">
            <a:spAutoFit/>
          </a:bodyPr>
          <a:lstStyle/>
          <a:p>
            <a:r>
              <a:rPr lang="de-DE" b="1" dirty="0"/>
              <a:t>Der NATURAL JOIN besitzt noch eine weitere komfortable Eigenschaft, die wir am folgenden Beispiel erläutern wollen:</a:t>
            </a:r>
          </a:p>
        </p:txBody>
      </p:sp>
      <p:pic>
        <p:nvPicPr>
          <p:cNvPr id="3" name="Grafik 2"/>
          <p:cNvPicPr>
            <a:picLocks noChangeAspect="1"/>
          </p:cNvPicPr>
          <p:nvPr/>
        </p:nvPicPr>
        <p:blipFill>
          <a:blip r:embed="rId2"/>
          <a:stretch>
            <a:fillRect/>
          </a:stretch>
        </p:blipFill>
        <p:spPr>
          <a:xfrm>
            <a:off x="2485439" y="3967184"/>
            <a:ext cx="1924050" cy="962025"/>
          </a:xfrm>
          <a:prstGeom prst="rect">
            <a:avLst/>
          </a:prstGeom>
          <a:effectLst>
            <a:innerShdw blurRad="114300">
              <a:prstClr val="black"/>
            </a:innerShdw>
          </a:effectLst>
        </p:spPr>
      </p:pic>
    </p:spTree>
    <p:extLst>
      <p:ext uri="{BB962C8B-B14F-4D97-AF65-F5344CB8AC3E}">
        <p14:creationId xmlns:p14="http://schemas.microsoft.com/office/powerpoint/2010/main" val="4240973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p:cNvPicPr>
            <a:picLocks noChangeAspect="1"/>
          </p:cNvPicPr>
          <p:nvPr/>
        </p:nvPicPr>
        <p:blipFill>
          <a:blip r:embed="rId2"/>
          <a:stretch>
            <a:fillRect/>
          </a:stretch>
        </p:blipFill>
        <p:spPr>
          <a:xfrm>
            <a:off x="5134159" y="2032982"/>
            <a:ext cx="6001588" cy="1009791"/>
          </a:xfrm>
          <a:prstGeom prst="rect">
            <a:avLst/>
          </a:prstGeom>
          <a:effectLst>
            <a:innerShdw blurRad="114300">
              <a:prstClr val="black"/>
            </a:innerShdw>
          </a:effectLst>
        </p:spPr>
      </p:pic>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Erläuterung zum Hinweis</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6" name="Textfeld 5"/>
          <p:cNvSpPr txBox="1"/>
          <p:nvPr/>
        </p:nvSpPr>
        <p:spPr>
          <a:xfrm>
            <a:off x="505438" y="1963806"/>
            <a:ext cx="8030096" cy="923330"/>
          </a:xfrm>
          <a:prstGeom prst="rect">
            <a:avLst/>
          </a:prstGeom>
          <a:noFill/>
        </p:spPr>
        <p:txBody>
          <a:bodyPr wrap="square" rtlCol="0">
            <a:spAutoFit/>
          </a:bodyPr>
          <a:lstStyle/>
          <a:p>
            <a:r>
              <a:rPr lang="de-DE" b="1" dirty="0"/>
              <a:t>SELECT </a:t>
            </a:r>
            <a:r>
              <a:rPr lang="de-DE" dirty="0"/>
              <a:t>*</a:t>
            </a:r>
            <a:endParaRPr lang="de-DE" b="1" dirty="0"/>
          </a:p>
          <a:p>
            <a:r>
              <a:rPr lang="de-DE" b="1" dirty="0"/>
              <a:t>FROM </a:t>
            </a:r>
            <a:r>
              <a:rPr lang="de-DE" dirty="0"/>
              <a:t>Kunde</a:t>
            </a:r>
            <a:r>
              <a:rPr lang="de-DE" b="1" dirty="0"/>
              <a:t> </a:t>
            </a:r>
            <a:r>
              <a:rPr lang="de-DE" b="1" dirty="0">
                <a:solidFill>
                  <a:schemeClr val="accent2"/>
                </a:solidFill>
              </a:rPr>
              <a:t>INNER</a:t>
            </a:r>
            <a:r>
              <a:rPr lang="de-DE" b="1" dirty="0"/>
              <a:t> JOIN </a:t>
            </a:r>
            <a:r>
              <a:rPr lang="de-DE" dirty="0"/>
              <a:t>Abrechnung</a:t>
            </a:r>
            <a:r>
              <a:rPr lang="de-DE" b="1" dirty="0"/>
              <a:t> </a:t>
            </a:r>
          </a:p>
          <a:p>
            <a:r>
              <a:rPr lang="de-DE" b="1" dirty="0"/>
              <a:t>ON </a:t>
            </a:r>
            <a:r>
              <a:rPr lang="de-DE" dirty="0"/>
              <a:t>Kunde</a:t>
            </a:r>
            <a:r>
              <a:rPr lang="de-DE" b="1" dirty="0"/>
              <a:t>.</a:t>
            </a:r>
            <a:r>
              <a:rPr lang="de-DE" dirty="0"/>
              <a:t>Kunde_ID</a:t>
            </a:r>
            <a:r>
              <a:rPr lang="de-DE" b="1" dirty="0"/>
              <a:t>=</a:t>
            </a:r>
            <a:r>
              <a:rPr lang="de-DE" dirty="0"/>
              <a:t>Abrechnung</a:t>
            </a:r>
            <a:r>
              <a:rPr lang="de-DE" b="1" dirty="0"/>
              <a:t>.</a:t>
            </a:r>
            <a:r>
              <a:rPr lang="de-DE" dirty="0"/>
              <a:t>Kunde_ID</a:t>
            </a:r>
            <a:r>
              <a:rPr lang="de-DE" b="1" dirty="0"/>
              <a:t>;</a:t>
            </a:r>
          </a:p>
        </p:txBody>
      </p:sp>
      <p:sp>
        <p:nvSpPr>
          <p:cNvPr id="9" name="Textfeld 8"/>
          <p:cNvSpPr txBox="1"/>
          <p:nvPr/>
        </p:nvSpPr>
        <p:spPr>
          <a:xfrm>
            <a:off x="420609" y="1258698"/>
            <a:ext cx="5745612" cy="646331"/>
          </a:xfrm>
          <a:prstGeom prst="rect">
            <a:avLst/>
          </a:prstGeom>
          <a:noFill/>
        </p:spPr>
        <p:txBody>
          <a:bodyPr wrap="none" rtlCol="0">
            <a:spAutoFit/>
          </a:bodyPr>
          <a:lstStyle/>
          <a:p>
            <a:r>
              <a:rPr lang="de-DE" b="1" dirty="0"/>
              <a:t>Beispiel (1) </a:t>
            </a:r>
          </a:p>
          <a:p>
            <a:r>
              <a:rPr lang="de-DE" dirty="0"/>
              <a:t>INNER JOIN zwischen den Tabellen Kunde und Abrechnung:</a:t>
            </a:r>
          </a:p>
        </p:txBody>
      </p:sp>
      <p:sp>
        <p:nvSpPr>
          <p:cNvPr id="12" name="Rechteck 11"/>
          <p:cNvSpPr/>
          <p:nvPr/>
        </p:nvSpPr>
        <p:spPr>
          <a:xfrm>
            <a:off x="9629191" y="2032982"/>
            <a:ext cx="727789" cy="2063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Rechteck 13"/>
          <p:cNvSpPr/>
          <p:nvPr/>
        </p:nvSpPr>
        <p:spPr>
          <a:xfrm>
            <a:off x="5134159" y="2026523"/>
            <a:ext cx="737120" cy="2063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Textfeld 15"/>
          <p:cNvSpPr txBox="1"/>
          <p:nvPr/>
        </p:nvSpPr>
        <p:spPr>
          <a:xfrm>
            <a:off x="420609" y="3423711"/>
            <a:ext cx="6032164" cy="646331"/>
          </a:xfrm>
          <a:prstGeom prst="rect">
            <a:avLst/>
          </a:prstGeom>
          <a:noFill/>
        </p:spPr>
        <p:txBody>
          <a:bodyPr wrap="none" rtlCol="0">
            <a:spAutoFit/>
          </a:bodyPr>
          <a:lstStyle/>
          <a:p>
            <a:r>
              <a:rPr lang="de-DE" b="1" dirty="0"/>
              <a:t>Beispiel (2) </a:t>
            </a:r>
          </a:p>
          <a:p>
            <a:r>
              <a:rPr lang="de-DE" dirty="0"/>
              <a:t>NATURAL JOIN zwischen den Tabellen Kunde und Abrechnung:</a:t>
            </a:r>
          </a:p>
        </p:txBody>
      </p:sp>
      <p:sp>
        <p:nvSpPr>
          <p:cNvPr id="17" name="Textfeld 16"/>
          <p:cNvSpPr txBox="1"/>
          <p:nvPr/>
        </p:nvSpPr>
        <p:spPr>
          <a:xfrm>
            <a:off x="505438" y="4144952"/>
            <a:ext cx="8030096" cy="646331"/>
          </a:xfrm>
          <a:prstGeom prst="rect">
            <a:avLst/>
          </a:prstGeom>
          <a:noFill/>
        </p:spPr>
        <p:txBody>
          <a:bodyPr wrap="square" rtlCol="0">
            <a:spAutoFit/>
          </a:bodyPr>
          <a:lstStyle/>
          <a:p>
            <a:r>
              <a:rPr lang="de-DE" b="1" dirty="0"/>
              <a:t>SELECT </a:t>
            </a:r>
            <a:r>
              <a:rPr lang="de-DE" dirty="0"/>
              <a:t>*</a:t>
            </a:r>
            <a:endParaRPr lang="de-DE" b="1" dirty="0"/>
          </a:p>
          <a:p>
            <a:r>
              <a:rPr lang="de-DE" b="1" dirty="0"/>
              <a:t>FROM </a:t>
            </a:r>
            <a:r>
              <a:rPr lang="de-DE" dirty="0"/>
              <a:t>Kunde</a:t>
            </a:r>
            <a:r>
              <a:rPr lang="de-DE" b="1" dirty="0"/>
              <a:t> </a:t>
            </a:r>
            <a:r>
              <a:rPr lang="de-DE" b="1" dirty="0">
                <a:solidFill>
                  <a:schemeClr val="accent2"/>
                </a:solidFill>
              </a:rPr>
              <a:t>NATURAL</a:t>
            </a:r>
            <a:r>
              <a:rPr lang="de-DE" b="1" dirty="0"/>
              <a:t> JOIN </a:t>
            </a:r>
            <a:r>
              <a:rPr lang="de-DE" dirty="0"/>
              <a:t>Abrechnung</a:t>
            </a:r>
            <a:r>
              <a:rPr lang="de-DE" b="1" dirty="0"/>
              <a:t>;</a:t>
            </a:r>
          </a:p>
        </p:txBody>
      </p:sp>
      <p:pic>
        <p:nvPicPr>
          <p:cNvPr id="11" name="Grafik 10"/>
          <p:cNvPicPr>
            <a:picLocks noChangeAspect="1"/>
          </p:cNvPicPr>
          <p:nvPr/>
        </p:nvPicPr>
        <p:blipFill>
          <a:blip r:embed="rId3"/>
          <a:stretch>
            <a:fillRect/>
          </a:stretch>
        </p:blipFill>
        <p:spPr>
          <a:xfrm>
            <a:off x="5134159" y="4198616"/>
            <a:ext cx="5268060" cy="1000265"/>
          </a:xfrm>
          <a:prstGeom prst="rect">
            <a:avLst/>
          </a:prstGeom>
          <a:effectLst>
            <a:innerShdw blurRad="114300">
              <a:prstClr val="black"/>
            </a:innerShdw>
          </a:effectLst>
        </p:spPr>
      </p:pic>
      <p:sp>
        <p:nvSpPr>
          <p:cNvPr id="18" name="Rechteck 17"/>
          <p:cNvSpPr/>
          <p:nvPr/>
        </p:nvSpPr>
        <p:spPr>
          <a:xfrm>
            <a:off x="5134159" y="4180367"/>
            <a:ext cx="737120" cy="2063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p:cNvSpPr txBox="1"/>
          <p:nvPr/>
        </p:nvSpPr>
        <p:spPr>
          <a:xfrm>
            <a:off x="5363852" y="5231475"/>
            <a:ext cx="4928593" cy="276999"/>
          </a:xfrm>
          <a:prstGeom prst="rect">
            <a:avLst/>
          </a:prstGeom>
          <a:noFill/>
        </p:spPr>
        <p:txBody>
          <a:bodyPr wrap="none" rtlCol="0">
            <a:spAutoFit/>
          </a:bodyPr>
          <a:lstStyle/>
          <a:p>
            <a:r>
              <a:rPr lang="de-DE" sz="1200" b="1" dirty="0">
                <a:solidFill>
                  <a:srgbClr val="FF0000"/>
                </a:solidFill>
              </a:rPr>
              <a:t>Man sagt: </a:t>
            </a:r>
            <a:r>
              <a:rPr lang="de-DE" sz="1200" dirty="0">
                <a:solidFill>
                  <a:srgbClr val="FF0000"/>
                </a:solidFill>
              </a:rPr>
              <a:t>Die Kunde_ID in der Abrechnungstabelle wurde </a:t>
            </a:r>
            <a:r>
              <a:rPr lang="de-DE" sz="1200" b="1" dirty="0">
                <a:solidFill>
                  <a:srgbClr val="FF0000"/>
                </a:solidFill>
              </a:rPr>
              <a:t>„ausgeblendet“.</a:t>
            </a:r>
          </a:p>
        </p:txBody>
      </p:sp>
    </p:spTree>
    <p:extLst>
      <p:ext uri="{BB962C8B-B14F-4D97-AF65-F5344CB8AC3E}">
        <p14:creationId xmlns:p14="http://schemas.microsoft.com/office/powerpoint/2010/main" val="581068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animBg="1"/>
      <p:bldP spid="14" grpId="0" animBg="1"/>
      <p:bldP spid="16" grpId="0"/>
      <p:bldP spid="17" grpId="0"/>
      <p:bldP spid="18" grpId="0" animBg="1"/>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5400" dirty="0">
                <a:latin typeface="Source Sans Pro" panose="020B0503030403020204" pitchFamily="34" charset="0"/>
              </a:rPr>
              <a:t>NATURAL</a:t>
            </a:r>
            <a:r>
              <a:rPr lang="de-DE" sz="6600" dirty="0">
                <a:latin typeface="Source Sans Pro" panose="020B0503030403020204" pitchFamily="34" charset="0"/>
              </a:rPr>
              <a:t> </a:t>
            </a:r>
            <a:r>
              <a:rPr lang="de-DE" sz="2400" dirty="0">
                <a:latin typeface="Source Sans Pro" panose="020B0503030403020204" pitchFamily="34" charset="0"/>
              </a:rPr>
              <a:t>[LEFT, RIGHT] </a:t>
            </a:r>
            <a:r>
              <a:rPr lang="de-DE" sz="5400" dirty="0">
                <a:latin typeface="Source Sans Pro" panose="020B0503030403020204" pitchFamily="34" charset="0"/>
              </a:rPr>
              <a:t>JOIN</a:t>
            </a:r>
          </a:p>
        </p:txBody>
      </p:sp>
    </p:spTree>
    <p:extLst>
      <p:ext uri="{BB962C8B-B14F-4D97-AF65-F5344CB8AC3E}">
        <p14:creationId xmlns:p14="http://schemas.microsoft.com/office/powerpoint/2010/main" val="1773540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03071" y="1903419"/>
            <a:ext cx="11154632" cy="200054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Die Funktionalität des NATURAL JOINs kann auch beim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NATURAL </a:t>
            </a:r>
            <a:r>
              <a:rPr kumimoji="0" lang="de-DE" sz="2000" b="1" i="0" u="none" strike="noStrike" kern="1200" cap="none" spc="0" normalizeH="0" baseline="0" noProof="0" dirty="0">
                <a:ln>
                  <a:noFill/>
                </a:ln>
                <a:solidFill>
                  <a:schemeClr val="accent2"/>
                </a:solidFill>
                <a:effectLst/>
                <a:uLnTx/>
                <a:uFillTx/>
                <a:latin typeface="Source Sans Pro" panose="020B0503030403020204" pitchFamily="34" charset="0"/>
                <a:ea typeface="+mn-ea"/>
                <a:cs typeface="+mn-cs"/>
              </a:rPr>
              <a:t>LEFT</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JOIN </a:t>
            </a:r>
            <a:r>
              <a:rPr kumimoji="0" lang="de-DE" sz="16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(und </a:t>
            </a:r>
            <a:r>
              <a:rPr kumimoji="0" lang="de-DE" sz="16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NATURAL </a:t>
            </a:r>
            <a:r>
              <a:rPr kumimoji="0" lang="de-DE" sz="1600" b="1" i="0" u="none" strike="noStrike" kern="1200" cap="none" spc="0" normalizeH="0" baseline="0" noProof="0" dirty="0">
                <a:ln>
                  <a:noFill/>
                </a:ln>
                <a:solidFill>
                  <a:schemeClr val="accent2"/>
                </a:solidFill>
                <a:effectLst/>
                <a:uLnTx/>
                <a:uFillTx/>
                <a:latin typeface="Source Sans Pro" panose="020B0503030403020204" pitchFamily="34" charset="0"/>
                <a:ea typeface="+mn-ea"/>
                <a:cs typeface="+mn-cs"/>
              </a:rPr>
              <a:t>RIGHT</a:t>
            </a:r>
            <a:r>
              <a:rPr kumimoji="0" lang="de-DE" sz="16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JOIN</a:t>
            </a:r>
            <a:r>
              <a:rPr kumimoji="0" lang="de-DE" sz="16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genutzt werden. Auch in diesen Fällen müssen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allerdings die genannten Voraussetzungen vorliegen.</a:t>
            </a: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Motivation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ist</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erneut der</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geringere Schreibaufwand </a:t>
            </a:r>
            <a:r>
              <a:rPr lang="de-DE" sz="2000" dirty="0">
                <a:solidFill>
                  <a:srgbClr val="0071B2"/>
                </a:solidFill>
                <a:latin typeface="Source Sans Pro" panose="020B0503030403020204" pitchFamily="34" charset="0"/>
              </a:rPr>
              <a:t>und die</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verbesserte Lesbarkeit </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des Codes.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Zur Demonstration reicht uns aber ein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Beispiel</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das mit dem NATURAL LEFT JOIN arbeitet, da die</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Verwendung des NATURAL RIGHT JOINs vollkommen identisch verläuft</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Definition +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64354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3" name="Rechteck 22"/>
          <p:cNvSpPr/>
          <p:nvPr/>
        </p:nvSpPr>
        <p:spPr>
          <a:xfrm>
            <a:off x="556952" y="1104065"/>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Aufgabenstellung: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Es sollen </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Vor-</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 und </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Nachname</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 aller Kunden ausgegeben werden, zusammen mit der </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jeweiligen</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 </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Anzahl</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 der </a:t>
            </a:r>
            <a:r>
              <a:rPr kumimoji="0" lang="de-DE" sz="1600" b="0" i="0" u="none" strike="noStrike" kern="1200" cap="none" spc="0" normalizeH="0" noProof="0" dirty="0">
                <a:ln>
                  <a:noFill/>
                </a:ln>
                <a:solidFill>
                  <a:srgbClr val="0071B2"/>
                </a:solidFill>
                <a:effectLst/>
                <a:uLnTx/>
                <a:uFillTx/>
                <a:latin typeface="Calibri" panose="020F0502020204030204"/>
                <a:ea typeface="+mn-ea"/>
                <a:cs typeface="+mn-cs"/>
              </a:rPr>
              <a:t>bestellten </a:t>
            </a:r>
            <a:r>
              <a:rPr kumimoji="0" lang="de-DE" sz="1600" b="1" i="0" u="none" strike="noStrike" kern="1200" cap="none" spc="0" normalizeH="0" noProof="0" dirty="0">
                <a:ln>
                  <a:noFill/>
                </a:ln>
                <a:solidFill>
                  <a:srgbClr val="0071B2"/>
                </a:solidFill>
                <a:effectLst/>
                <a:uLnTx/>
                <a:uFillTx/>
                <a:latin typeface="Calibri" panose="020F0502020204030204"/>
                <a:ea typeface="+mn-ea"/>
                <a:cs typeface="+mn-cs"/>
              </a:rPr>
              <a:t>Produkte</a:t>
            </a:r>
            <a:r>
              <a:rPr kumimoji="0" lang="de-DE" sz="1600" b="0" i="0" u="none" strike="noStrike" kern="1200" cap="none" spc="0" normalizeH="0" noProof="0" dirty="0">
                <a:ln>
                  <a:noFill/>
                </a:ln>
                <a:solidFill>
                  <a:srgbClr val="0071B2"/>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1600" baseline="0" dirty="0">
                <a:solidFill>
                  <a:srgbClr val="0071B2"/>
                </a:solidFill>
                <a:latin typeface="Calibri" panose="020F0502020204030204"/>
              </a:rPr>
              <a:t>Es sollen aber </a:t>
            </a:r>
            <a:r>
              <a:rPr lang="de-DE" sz="1600" b="1" baseline="0" dirty="0">
                <a:solidFill>
                  <a:schemeClr val="accent2"/>
                </a:solidFill>
                <a:latin typeface="Calibri" panose="020F0502020204030204"/>
              </a:rPr>
              <a:t>auch Kunden </a:t>
            </a:r>
            <a:r>
              <a:rPr lang="de-DE" sz="1600" baseline="0" dirty="0">
                <a:solidFill>
                  <a:srgbClr val="0071B2"/>
                </a:solidFill>
                <a:latin typeface="Calibri" panose="020F0502020204030204"/>
              </a:rPr>
              <a:t>berücksichtigt werden, die </a:t>
            </a:r>
            <a:r>
              <a:rPr lang="de-DE" sz="1600" b="1" baseline="0" dirty="0">
                <a:solidFill>
                  <a:srgbClr val="0071B2"/>
                </a:solidFill>
                <a:latin typeface="Calibri" panose="020F0502020204030204"/>
              </a:rPr>
              <a:t>kein Produkt </a:t>
            </a:r>
            <a:r>
              <a:rPr lang="de-DE" sz="1600" baseline="0" dirty="0">
                <a:solidFill>
                  <a:srgbClr val="0071B2"/>
                </a:solidFill>
                <a:latin typeface="Calibri" panose="020F0502020204030204"/>
              </a:rPr>
              <a:t>bestellt haben.</a:t>
            </a:r>
            <a:endPar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EEEEEE"/>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EEEEEE"/>
                </a:solidFill>
                <a:effectLst/>
                <a:uLnTx/>
                <a:uFillTx/>
                <a:latin typeface="Calibri" panose="020F0502020204030204"/>
                <a:ea typeface="+mn-ea"/>
                <a:cs typeface="+mn-cs"/>
              </a:rPr>
              <a:t>.</a:t>
            </a:r>
          </a:p>
        </p:txBody>
      </p:sp>
      <p:sp>
        <p:nvSpPr>
          <p:cNvPr id="6" name="Textfeld 5"/>
          <p:cNvSpPr txBox="1"/>
          <p:nvPr/>
        </p:nvSpPr>
        <p:spPr>
          <a:xfrm>
            <a:off x="2492180" y="2533738"/>
            <a:ext cx="8030096" cy="1200329"/>
          </a:xfrm>
          <a:prstGeom prst="rect">
            <a:avLst/>
          </a:prstGeom>
          <a:noFill/>
        </p:spPr>
        <p:txBody>
          <a:bodyPr wrap="square" rtlCol="0">
            <a:spAutoFit/>
          </a:bodyPr>
          <a:lstStyle/>
          <a:p>
            <a:pPr lvl="0"/>
            <a:r>
              <a:rPr lang="de-DE" b="1" dirty="0">
                <a:solidFill>
                  <a:srgbClr val="0071B2"/>
                </a:solidFill>
              </a:rPr>
              <a:t>SELECT </a:t>
            </a:r>
            <a:r>
              <a:rPr lang="de-DE" dirty="0">
                <a:solidFill>
                  <a:srgbClr val="0071B2"/>
                </a:solidFill>
              </a:rPr>
              <a:t>Vorname</a:t>
            </a:r>
            <a:r>
              <a:rPr lang="de-DE" b="1" dirty="0">
                <a:solidFill>
                  <a:srgbClr val="0071B2"/>
                </a:solidFill>
              </a:rPr>
              <a:t>, </a:t>
            </a:r>
            <a:r>
              <a:rPr lang="de-DE" dirty="0">
                <a:solidFill>
                  <a:srgbClr val="0071B2"/>
                </a:solidFill>
              </a:rPr>
              <a:t>Nachname</a:t>
            </a:r>
            <a:r>
              <a:rPr lang="de-DE" b="1" dirty="0">
                <a:solidFill>
                  <a:srgbClr val="0071B2"/>
                </a:solidFill>
              </a:rPr>
              <a:t>, COUNT(</a:t>
            </a:r>
            <a:r>
              <a:rPr lang="de-DE" dirty="0">
                <a:solidFill>
                  <a:srgbClr val="0071B2"/>
                </a:solidFill>
              </a:rPr>
              <a:t>Produkt_ID</a:t>
            </a:r>
            <a:r>
              <a:rPr lang="de-DE" b="1" dirty="0">
                <a:solidFill>
                  <a:srgbClr val="0071B2"/>
                </a:solidFill>
              </a:rPr>
              <a:t>)</a:t>
            </a:r>
          </a:p>
          <a:p>
            <a:pPr lvl="0"/>
            <a:r>
              <a:rPr lang="de-DE" b="1" dirty="0">
                <a:solidFill>
                  <a:srgbClr val="0071B2"/>
                </a:solidFill>
              </a:rPr>
              <a:t>FROM </a:t>
            </a:r>
            <a:r>
              <a:rPr lang="de-DE" dirty="0">
                <a:solidFill>
                  <a:srgbClr val="0071B2"/>
                </a:solidFill>
              </a:rPr>
              <a:t>Kunde</a:t>
            </a:r>
            <a:r>
              <a:rPr lang="de-DE" b="1" dirty="0">
                <a:solidFill>
                  <a:srgbClr val="0071B2"/>
                </a:solidFill>
              </a:rPr>
              <a:t> NATURAL </a:t>
            </a:r>
            <a:r>
              <a:rPr lang="de-DE" b="1" dirty="0">
                <a:solidFill>
                  <a:schemeClr val="accent2"/>
                </a:solidFill>
              </a:rPr>
              <a:t>LEFT</a:t>
            </a:r>
            <a:r>
              <a:rPr lang="de-DE" b="1" dirty="0">
                <a:solidFill>
                  <a:srgbClr val="0071B2"/>
                </a:solidFill>
              </a:rPr>
              <a:t> JOIN </a:t>
            </a:r>
            <a:r>
              <a:rPr lang="de-DE" dirty="0">
                <a:solidFill>
                  <a:srgbClr val="0071B2"/>
                </a:solidFill>
              </a:rPr>
              <a:t>Abrechnung</a:t>
            </a:r>
            <a:r>
              <a:rPr lang="de-DE" b="1" dirty="0">
                <a:solidFill>
                  <a:srgbClr val="0071B2"/>
                </a:solidFill>
              </a:rPr>
              <a:t> </a:t>
            </a:r>
          </a:p>
          <a:p>
            <a:pPr lvl="0"/>
            <a:r>
              <a:rPr lang="de-DE" b="1" dirty="0">
                <a:solidFill>
                  <a:srgbClr val="0071B2"/>
                </a:solidFill>
              </a:rPr>
              <a:t>            NATURAL </a:t>
            </a:r>
            <a:r>
              <a:rPr lang="de-DE" b="1" dirty="0">
                <a:solidFill>
                  <a:schemeClr val="accent2"/>
                </a:solidFill>
              </a:rPr>
              <a:t>LEFT</a:t>
            </a:r>
            <a:r>
              <a:rPr lang="de-DE" b="1" dirty="0">
                <a:solidFill>
                  <a:srgbClr val="0071B2"/>
                </a:solidFill>
              </a:rPr>
              <a:t> JOIN </a:t>
            </a:r>
            <a:r>
              <a:rPr lang="de-DE" dirty="0">
                <a:solidFill>
                  <a:srgbClr val="0071B2"/>
                </a:solidFill>
              </a:rPr>
              <a:t>Abrechnung_Produkt</a:t>
            </a:r>
            <a:r>
              <a:rPr lang="de-DE" b="1" dirty="0">
                <a:solidFill>
                  <a:srgbClr val="0071B2"/>
                </a:solidFill>
              </a:rPr>
              <a:t> </a:t>
            </a:r>
          </a:p>
          <a:p>
            <a:pPr lvl="0"/>
            <a:r>
              <a:rPr lang="de-DE" b="1" dirty="0">
                <a:solidFill>
                  <a:srgbClr val="0071B2"/>
                </a:solidFill>
              </a:rPr>
              <a:t>GROUP BY </a:t>
            </a:r>
            <a:r>
              <a:rPr lang="de-DE" dirty="0">
                <a:solidFill>
                  <a:srgbClr val="0071B2"/>
                </a:solidFill>
              </a:rPr>
              <a:t>Vorname</a:t>
            </a:r>
            <a:r>
              <a:rPr lang="de-DE" b="1" dirty="0">
                <a:solidFill>
                  <a:srgbClr val="0071B2"/>
                </a:solidFill>
              </a:rPr>
              <a:t>, </a:t>
            </a:r>
            <a:r>
              <a:rPr lang="de-DE" dirty="0">
                <a:solidFill>
                  <a:srgbClr val="0071B2"/>
                </a:solidFill>
              </a:rPr>
              <a:t>Nachname</a:t>
            </a:r>
            <a:r>
              <a:rPr lang="de-DE" b="1" dirty="0">
                <a:solidFill>
                  <a:srgbClr val="0071B2"/>
                </a:solidFill>
              </a:rPr>
              <a:t>;</a:t>
            </a: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5" name="Textfeld 14"/>
          <p:cNvSpPr txBox="1"/>
          <p:nvPr/>
        </p:nvSpPr>
        <p:spPr>
          <a:xfrm>
            <a:off x="556952" y="2046890"/>
            <a:ext cx="35707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Lösung mittels </a:t>
            </a:r>
            <a:r>
              <a:rPr kumimoji="0" lang="de-DE" sz="1800" b="1" i="0" u="none" strike="noStrike" kern="1200" cap="none" spc="0" normalizeH="0" baseline="0" noProof="0" dirty="0">
                <a:ln>
                  <a:noFill/>
                </a:ln>
                <a:effectLst/>
                <a:uLnTx/>
                <a:uFillTx/>
                <a:latin typeface="Calibri" panose="020F0502020204030204"/>
                <a:ea typeface="+mn-ea"/>
                <a:cs typeface="+mn-cs"/>
              </a:rPr>
              <a:t>NATURAL LEFT JOIN:</a:t>
            </a:r>
          </a:p>
        </p:txBody>
      </p:sp>
      <p:pic>
        <p:nvPicPr>
          <p:cNvPr id="9" name="Grafik 8">
            <a:extLst>
              <a:ext uri="{FF2B5EF4-FFF2-40B4-BE49-F238E27FC236}">
                <a16:creationId xmlns:a16="http://schemas.microsoft.com/office/drawing/2014/main" id="{B309C4A5-9921-901A-5E77-C4ADAAC049D1}"/>
              </a:ext>
            </a:extLst>
          </p:cNvPr>
          <p:cNvPicPr>
            <a:picLocks noChangeAspect="1"/>
          </p:cNvPicPr>
          <p:nvPr/>
        </p:nvPicPr>
        <p:blipFill>
          <a:blip r:embed="rId2"/>
          <a:stretch>
            <a:fillRect/>
          </a:stretch>
        </p:blipFill>
        <p:spPr>
          <a:xfrm>
            <a:off x="4071864" y="3929222"/>
            <a:ext cx="7541015" cy="1684934"/>
          </a:xfrm>
          <a:prstGeom prst="rect">
            <a:avLst/>
          </a:prstGeom>
          <a:effectLst>
            <a:innerShdw blurRad="114300">
              <a:prstClr val="black"/>
            </a:innerShdw>
          </a:effectLst>
        </p:spPr>
      </p:pic>
      <p:sp>
        <p:nvSpPr>
          <p:cNvPr id="3" name="Rechteck 2"/>
          <p:cNvSpPr/>
          <p:nvPr/>
        </p:nvSpPr>
        <p:spPr>
          <a:xfrm>
            <a:off x="4071864" y="4530620"/>
            <a:ext cx="7541015" cy="42393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12113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6" grpId="0"/>
      <p:bldP spid="15" grpId="0"/>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000" dirty="0">
                <a:latin typeface="Source Sans Pro" panose="020B0503030403020204" pitchFamily="34" charset="0"/>
              </a:rPr>
              <a:t>String-Funktionen</a:t>
            </a:r>
          </a:p>
        </p:txBody>
      </p:sp>
    </p:spTree>
    <p:extLst>
      <p:ext uri="{BB962C8B-B14F-4D97-AF65-F5344CB8AC3E}">
        <p14:creationId xmlns:p14="http://schemas.microsoft.com/office/powerpoint/2010/main" val="2842620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03071" y="1399566"/>
            <a:ext cx="11314758" cy="42165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String-Funktionen sind Funktionen die mit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Texten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man spricht auch von „Zeichenketten“, oder „Strings“) </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arbeiten.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Wir werden in diesem Baustein die folgenden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4 Funktionen </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kennenlernen:</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CONCAT()</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LEFT()</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RIGHT()</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LENGTH()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Durch String-Funktionen kann mittels UPDATE-Statement auch Einfluss auf den Inhalt der Datenbank genommen werden. Werden String-Funktionen hingegen im Rahmen von Abfragen genutzt, so wirken sie nur auf die Ausgabe und belassen die Datenbank-Einträge unverändert.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Textverarbeitung</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gehört nicht zu den zentralen Aufgaben von Datenbank-Sprachen. Dennoch werden wir uns mit Beispielen (bzw. Übungsaufgaben) auseinandersetzen, in denen deutlich wird, dass es sinnvoll sein kann, die Text-Informationen einer Datenbank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zusammenzuführen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diese zu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ergänzen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sie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zuzuschneiden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oder deren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Länge</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zu bestimmen.</a:t>
            </a: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Definition +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4122157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CONCAT()</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3" name="Rechteck 22"/>
          <p:cNvSpPr/>
          <p:nvPr/>
        </p:nvSpPr>
        <p:spPr>
          <a:xfrm>
            <a:off x="556952" y="1104065"/>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Aufgabenstellung: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Für alle Kunden soll </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„Hallo “ + Vorname </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unter der Überschrift </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„Begrüßung“ </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ausgegeben werden.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EEEEEE"/>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EEEEEE"/>
                </a:solidFill>
                <a:effectLst/>
                <a:uLnTx/>
                <a:uFillTx/>
                <a:latin typeface="Calibri" panose="020F0502020204030204"/>
                <a:ea typeface="+mn-ea"/>
                <a:cs typeface="+mn-cs"/>
              </a:rPr>
              <a:t>.</a:t>
            </a:r>
          </a:p>
        </p:txBody>
      </p:sp>
      <p:sp>
        <p:nvSpPr>
          <p:cNvPr id="15" name="Textfeld 14"/>
          <p:cNvSpPr txBox="1"/>
          <p:nvPr/>
        </p:nvSpPr>
        <p:spPr>
          <a:xfrm>
            <a:off x="556952" y="2046890"/>
            <a:ext cx="6575262" cy="369332"/>
          </a:xfrm>
          <a:prstGeom prst="rect">
            <a:avLst/>
          </a:prstGeom>
          <a:noFill/>
        </p:spPr>
        <p:txBody>
          <a:bodyPr wrap="none" rtlCol="0">
            <a:spAutoFit/>
          </a:bodyPr>
          <a:lstStyle/>
          <a:p>
            <a:pPr lvl="0">
              <a:defRPr/>
            </a:pPr>
            <a:r>
              <a:rPr lang="en-US" b="1" dirty="0">
                <a:solidFill>
                  <a:srgbClr val="0071B2"/>
                </a:solidFill>
              </a:rPr>
              <a:t>   SELECT CONCAT("</a:t>
            </a:r>
            <a:r>
              <a:rPr lang="en-US" dirty="0">
                <a:solidFill>
                  <a:srgbClr val="0071B2"/>
                </a:solidFill>
              </a:rPr>
              <a:t>Hallo </a:t>
            </a:r>
            <a:r>
              <a:rPr lang="en-US" b="1" dirty="0">
                <a:solidFill>
                  <a:srgbClr val="0071B2"/>
                </a:solidFill>
              </a:rPr>
              <a:t>",</a:t>
            </a:r>
            <a:r>
              <a:rPr lang="en-US" dirty="0">
                <a:solidFill>
                  <a:srgbClr val="0071B2"/>
                </a:solidFill>
              </a:rPr>
              <a:t>Vorname</a:t>
            </a:r>
            <a:r>
              <a:rPr lang="en-US" b="1" dirty="0">
                <a:solidFill>
                  <a:srgbClr val="0071B2"/>
                </a:solidFill>
              </a:rPr>
              <a:t>) AS "</a:t>
            </a:r>
            <a:r>
              <a:rPr lang="en-US" dirty="0">
                <a:solidFill>
                  <a:srgbClr val="0071B2"/>
                </a:solidFill>
              </a:rPr>
              <a:t>Begrüßung</a:t>
            </a:r>
            <a:r>
              <a:rPr lang="en-US" b="1" dirty="0">
                <a:solidFill>
                  <a:srgbClr val="0071B2"/>
                </a:solidFill>
              </a:rPr>
              <a:t>" FROM </a:t>
            </a:r>
            <a:r>
              <a:rPr lang="en-US" dirty="0">
                <a:solidFill>
                  <a:srgbClr val="0071B2"/>
                </a:solidFill>
              </a:rPr>
              <a:t>Kunde</a:t>
            </a:r>
            <a:r>
              <a:rPr lang="en-US" b="1" dirty="0">
                <a:solidFill>
                  <a:srgbClr val="0071B2"/>
                </a:solidFill>
              </a:rPr>
              <a:t>;</a:t>
            </a: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Rechteck 10"/>
          <p:cNvSpPr/>
          <p:nvPr/>
        </p:nvSpPr>
        <p:spPr>
          <a:xfrm>
            <a:off x="596904" y="3642849"/>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Aufgabenstellung:</a:t>
            </a:r>
          </a:p>
          <a:p>
            <a:pPr lvl="0" algn="ctr">
              <a:defRPr/>
            </a:pP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Für alle Kunden soll </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Vorname + </a:t>
            </a:r>
            <a:r>
              <a:rPr lang="en-US" sz="1600" b="1" dirty="0">
                <a:solidFill>
                  <a:srgbClr val="0071B2"/>
                </a:solidFill>
              </a:rPr>
              <a:t>"  " + Nachname </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unter der Überschrift </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„Name“ </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ausgegeben werden.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EEEEEE"/>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EEEEEE"/>
                </a:solidFill>
                <a:effectLst/>
                <a:uLnTx/>
                <a:uFillTx/>
                <a:latin typeface="Calibri" panose="020F0502020204030204"/>
                <a:ea typeface="+mn-ea"/>
                <a:cs typeface="+mn-cs"/>
              </a:rPr>
              <a:t>.</a:t>
            </a:r>
          </a:p>
        </p:txBody>
      </p:sp>
      <p:sp>
        <p:nvSpPr>
          <p:cNvPr id="12" name="Textfeld 11"/>
          <p:cNvSpPr txBox="1"/>
          <p:nvPr/>
        </p:nvSpPr>
        <p:spPr>
          <a:xfrm>
            <a:off x="596904" y="4585674"/>
            <a:ext cx="6910290" cy="369332"/>
          </a:xfrm>
          <a:prstGeom prst="rect">
            <a:avLst/>
          </a:prstGeom>
          <a:noFill/>
        </p:spPr>
        <p:txBody>
          <a:bodyPr wrap="none" rtlCol="0">
            <a:spAutoFit/>
          </a:bodyPr>
          <a:lstStyle/>
          <a:p>
            <a:pPr lvl="0">
              <a:defRPr/>
            </a:pPr>
            <a:r>
              <a:rPr lang="en-US" b="1" dirty="0">
                <a:solidFill>
                  <a:srgbClr val="0071B2"/>
                </a:solidFill>
              </a:rPr>
              <a:t>   SELECT CONCAT(</a:t>
            </a:r>
            <a:r>
              <a:rPr lang="en-US" dirty="0">
                <a:solidFill>
                  <a:srgbClr val="0071B2"/>
                </a:solidFill>
              </a:rPr>
              <a:t>Vorname, </a:t>
            </a:r>
            <a:r>
              <a:rPr lang="en-US" b="1" dirty="0">
                <a:solidFill>
                  <a:srgbClr val="0071B2"/>
                </a:solidFill>
              </a:rPr>
              <a:t>" "</a:t>
            </a:r>
            <a:r>
              <a:rPr lang="en-US" dirty="0">
                <a:solidFill>
                  <a:srgbClr val="0071B2"/>
                </a:solidFill>
              </a:rPr>
              <a:t>,</a:t>
            </a:r>
            <a:r>
              <a:rPr lang="en-US" b="1" dirty="0">
                <a:solidFill>
                  <a:srgbClr val="0071B2"/>
                </a:solidFill>
              </a:rPr>
              <a:t> </a:t>
            </a:r>
            <a:r>
              <a:rPr lang="en-US" dirty="0">
                <a:solidFill>
                  <a:srgbClr val="0071B2"/>
                </a:solidFill>
              </a:rPr>
              <a:t>Nachname</a:t>
            </a:r>
            <a:r>
              <a:rPr lang="en-US" b="1" dirty="0">
                <a:solidFill>
                  <a:srgbClr val="0071B2"/>
                </a:solidFill>
              </a:rPr>
              <a:t>) AS "</a:t>
            </a:r>
            <a:r>
              <a:rPr lang="en-US" dirty="0">
                <a:solidFill>
                  <a:srgbClr val="0071B2"/>
                </a:solidFill>
              </a:rPr>
              <a:t>Name</a:t>
            </a:r>
            <a:r>
              <a:rPr lang="en-US" b="1" dirty="0">
                <a:solidFill>
                  <a:srgbClr val="0071B2"/>
                </a:solidFill>
              </a:rPr>
              <a:t>" FROM </a:t>
            </a:r>
            <a:r>
              <a:rPr lang="en-US" dirty="0">
                <a:solidFill>
                  <a:srgbClr val="0071B2"/>
                </a:solidFill>
              </a:rPr>
              <a:t>Kunde</a:t>
            </a:r>
            <a:r>
              <a:rPr lang="en-US" b="1" dirty="0">
                <a:solidFill>
                  <a:srgbClr val="0071B2"/>
                </a:solidFill>
              </a:rPr>
              <a:t>;</a:t>
            </a: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pic>
        <p:nvPicPr>
          <p:cNvPr id="3" name="Grafik 2">
            <a:extLst>
              <a:ext uri="{FF2B5EF4-FFF2-40B4-BE49-F238E27FC236}">
                <a16:creationId xmlns:a16="http://schemas.microsoft.com/office/drawing/2014/main" id="{B1378CAF-B87C-3B6C-A261-A8B6145E9032}"/>
              </a:ext>
            </a:extLst>
          </p:cNvPr>
          <p:cNvPicPr>
            <a:picLocks noChangeAspect="1"/>
          </p:cNvPicPr>
          <p:nvPr/>
        </p:nvPicPr>
        <p:blipFill>
          <a:blip r:embed="rId2"/>
          <a:stretch>
            <a:fillRect/>
          </a:stretch>
        </p:blipFill>
        <p:spPr>
          <a:xfrm>
            <a:off x="7132214" y="2067415"/>
            <a:ext cx="733492" cy="1487172"/>
          </a:xfrm>
          <a:prstGeom prst="rect">
            <a:avLst/>
          </a:prstGeom>
          <a:effectLst>
            <a:innerShdw blurRad="114300">
              <a:prstClr val="black"/>
            </a:innerShdw>
          </a:effectLst>
        </p:spPr>
      </p:pic>
      <p:pic>
        <p:nvPicPr>
          <p:cNvPr id="10" name="Grafik 9">
            <a:extLst>
              <a:ext uri="{FF2B5EF4-FFF2-40B4-BE49-F238E27FC236}">
                <a16:creationId xmlns:a16="http://schemas.microsoft.com/office/drawing/2014/main" id="{5B18545F-3531-8F8E-4451-B299CA121F02}"/>
              </a:ext>
            </a:extLst>
          </p:cNvPr>
          <p:cNvPicPr>
            <a:picLocks noChangeAspect="1"/>
          </p:cNvPicPr>
          <p:nvPr/>
        </p:nvPicPr>
        <p:blipFill>
          <a:blip r:embed="rId3"/>
          <a:stretch>
            <a:fillRect/>
          </a:stretch>
        </p:blipFill>
        <p:spPr>
          <a:xfrm>
            <a:off x="7346521" y="4614137"/>
            <a:ext cx="696467" cy="1367376"/>
          </a:xfrm>
          <a:prstGeom prst="rect">
            <a:avLst/>
          </a:prstGeom>
          <a:effectLst>
            <a:innerShdw blurRad="114300">
              <a:prstClr val="black"/>
            </a:innerShdw>
          </a:effectLst>
        </p:spPr>
      </p:pic>
    </p:spTree>
    <p:extLst>
      <p:ext uri="{BB962C8B-B14F-4D97-AF65-F5344CB8AC3E}">
        <p14:creationId xmlns:p14="http://schemas.microsoft.com/office/powerpoint/2010/main" val="360782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5" grpId="0"/>
      <p:bldP spid="11" grpId="0" animBg="1"/>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LEFT()</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3" name="Rechteck 22"/>
          <p:cNvSpPr/>
          <p:nvPr/>
        </p:nvSpPr>
        <p:spPr>
          <a:xfrm>
            <a:off x="556952" y="1104065"/>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Aufgabenstellung: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Für alle Kunden sollen die </a:t>
            </a:r>
            <a:r>
              <a:rPr kumimoji="0" lang="de-DE" sz="1600" b="1" i="0" u="sng" strike="noStrike" kern="1200" cap="none" spc="0" normalizeH="0" baseline="0" noProof="0" dirty="0">
                <a:ln>
                  <a:noFill/>
                </a:ln>
                <a:solidFill>
                  <a:srgbClr val="0071B2"/>
                </a:solidFill>
                <a:effectLst/>
                <a:uLnTx/>
                <a:uFillTx/>
                <a:latin typeface="Calibri" panose="020F0502020204030204"/>
                <a:ea typeface="+mn-ea"/>
                <a:cs typeface="+mn-cs"/>
              </a:rPr>
              <a:t>ersten</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 drei Buchstaben </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ihres Vornamens ausgegeben werden.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EEEEEE"/>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EEEEEE"/>
                </a:solidFill>
                <a:effectLst/>
                <a:uLnTx/>
                <a:uFillTx/>
                <a:latin typeface="Calibri" panose="020F0502020204030204"/>
                <a:ea typeface="+mn-ea"/>
                <a:cs typeface="+mn-cs"/>
              </a:rPr>
              <a:t>.</a:t>
            </a:r>
          </a:p>
        </p:txBody>
      </p:sp>
      <p:sp>
        <p:nvSpPr>
          <p:cNvPr id="15" name="Textfeld 14"/>
          <p:cNvSpPr txBox="1"/>
          <p:nvPr/>
        </p:nvSpPr>
        <p:spPr>
          <a:xfrm>
            <a:off x="556952" y="2046890"/>
            <a:ext cx="4078232" cy="369332"/>
          </a:xfrm>
          <a:prstGeom prst="rect">
            <a:avLst/>
          </a:prstGeom>
          <a:noFill/>
        </p:spPr>
        <p:txBody>
          <a:bodyPr wrap="none" rtlCol="0">
            <a:spAutoFit/>
          </a:bodyPr>
          <a:lstStyle/>
          <a:p>
            <a:pPr lvl="0">
              <a:defRPr/>
            </a:pPr>
            <a:r>
              <a:rPr lang="en-US" b="1" dirty="0">
                <a:solidFill>
                  <a:srgbClr val="0071B2"/>
                </a:solidFill>
              </a:rPr>
              <a:t>   SELECT LEFT(</a:t>
            </a:r>
            <a:r>
              <a:rPr lang="en-US" dirty="0">
                <a:solidFill>
                  <a:srgbClr val="0071B2"/>
                </a:solidFill>
              </a:rPr>
              <a:t>Vorname</a:t>
            </a:r>
            <a:r>
              <a:rPr lang="en-US" b="1" dirty="0">
                <a:solidFill>
                  <a:srgbClr val="0071B2"/>
                </a:solidFill>
              </a:rPr>
              <a:t>, </a:t>
            </a:r>
            <a:r>
              <a:rPr lang="en-US" dirty="0">
                <a:solidFill>
                  <a:srgbClr val="0071B2"/>
                </a:solidFill>
              </a:rPr>
              <a:t>3</a:t>
            </a:r>
            <a:r>
              <a:rPr lang="en-US" b="1" dirty="0">
                <a:solidFill>
                  <a:srgbClr val="0071B2"/>
                </a:solidFill>
              </a:rPr>
              <a:t>) FROM </a:t>
            </a:r>
            <a:r>
              <a:rPr lang="en-US" dirty="0">
                <a:solidFill>
                  <a:srgbClr val="0071B2"/>
                </a:solidFill>
              </a:rPr>
              <a:t>Kunde</a:t>
            </a:r>
            <a:r>
              <a:rPr lang="en-US" b="1" dirty="0">
                <a:solidFill>
                  <a:srgbClr val="0071B2"/>
                </a:solidFill>
              </a:rPr>
              <a:t>;</a:t>
            </a: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Rechteck 10"/>
          <p:cNvSpPr/>
          <p:nvPr/>
        </p:nvSpPr>
        <p:spPr>
          <a:xfrm>
            <a:off x="596904" y="3642849"/>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Aufgabenstellung:</a:t>
            </a:r>
          </a:p>
          <a:p>
            <a:pPr lvl="0" algn="ctr">
              <a:defRPr/>
            </a:pP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Für alle Kunden soll der erste Buchstabe </a:t>
            </a:r>
            <a:r>
              <a:rPr lang="de-DE" sz="1600" dirty="0">
                <a:solidFill>
                  <a:srgbClr val="0071B2"/>
                </a:solidFill>
                <a:latin typeface="Calibri" panose="020F0502020204030204"/>
              </a:rPr>
              <a:t>des </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Vornamens + </a:t>
            </a:r>
            <a:r>
              <a:rPr lang="en-US" sz="1600" b="1" dirty="0">
                <a:solidFill>
                  <a:srgbClr val="0071B2"/>
                </a:solidFill>
              </a:rPr>
              <a:t>" ." + Nachname </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unter der Überschrift </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„Name“ </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ausgegeben werden.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EEEEEE"/>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EEEEEE"/>
                </a:solidFill>
                <a:effectLst/>
                <a:uLnTx/>
                <a:uFillTx/>
                <a:latin typeface="Calibri" panose="020F0502020204030204"/>
                <a:ea typeface="+mn-ea"/>
                <a:cs typeface="+mn-cs"/>
              </a:rPr>
              <a:t>.</a:t>
            </a:r>
          </a:p>
        </p:txBody>
      </p:sp>
      <p:sp>
        <p:nvSpPr>
          <p:cNvPr id="12" name="Textfeld 11"/>
          <p:cNvSpPr txBox="1"/>
          <p:nvPr/>
        </p:nvSpPr>
        <p:spPr>
          <a:xfrm>
            <a:off x="596904" y="4585674"/>
            <a:ext cx="7617213" cy="369332"/>
          </a:xfrm>
          <a:prstGeom prst="rect">
            <a:avLst/>
          </a:prstGeom>
          <a:noFill/>
        </p:spPr>
        <p:txBody>
          <a:bodyPr wrap="none" rtlCol="0">
            <a:spAutoFit/>
          </a:bodyPr>
          <a:lstStyle/>
          <a:p>
            <a:pPr lvl="0">
              <a:defRPr/>
            </a:pPr>
            <a:r>
              <a:rPr lang="en-US" b="1" dirty="0">
                <a:solidFill>
                  <a:srgbClr val="0071B2"/>
                </a:solidFill>
              </a:rPr>
              <a:t>   SELECT CONCAT(LEFT(</a:t>
            </a:r>
            <a:r>
              <a:rPr lang="en-US" dirty="0">
                <a:solidFill>
                  <a:srgbClr val="0071B2"/>
                </a:solidFill>
              </a:rPr>
              <a:t>Vorname, 1</a:t>
            </a:r>
            <a:r>
              <a:rPr lang="en-US" b="1" dirty="0">
                <a:solidFill>
                  <a:srgbClr val="0071B2"/>
                </a:solidFill>
              </a:rPr>
              <a:t>)</a:t>
            </a:r>
            <a:r>
              <a:rPr lang="en-US" dirty="0">
                <a:solidFill>
                  <a:srgbClr val="0071B2"/>
                </a:solidFill>
              </a:rPr>
              <a:t>, </a:t>
            </a:r>
            <a:r>
              <a:rPr lang="en-US" b="1" dirty="0">
                <a:solidFill>
                  <a:srgbClr val="0071B2"/>
                </a:solidFill>
              </a:rPr>
              <a:t>"."</a:t>
            </a:r>
            <a:r>
              <a:rPr lang="en-US" dirty="0">
                <a:solidFill>
                  <a:srgbClr val="0071B2"/>
                </a:solidFill>
              </a:rPr>
              <a:t>,</a:t>
            </a:r>
            <a:r>
              <a:rPr lang="en-US" b="1" dirty="0">
                <a:solidFill>
                  <a:srgbClr val="0071B2"/>
                </a:solidFill>
              </a:rPr>
              <a:t> </a:t>
            </a:r>
            <a:r>
              <a:rPr lang="en-US" dirty="0">
                <a:solidFill>
                  <a:srgbClr val="0071B2"/>
                </a:solidFill>
              </a:rPr>
              <a:t>Nachname</a:t>
            </a:r>
            <a:r>
              <a:rPr lang="en-US" b="1" dirty="0">
                <a:solidFill>
                  <a:srgbClr val="0071B2"/>
                </a:solidFill>
              </a:rPr>
              <a:t>) AS "</a:t>
            </a:r>
            <a:r>
              <a:rPr lang="en-US" dirty="0">
                <a:solidFill>
                  <a:srgbClr val="0071B2"/>
                </a:solidFill>
              </a:rPr>
              <a:t>Name</a:t>
            </a:r>
            <a:r>
              <a:rPr lang="en-US" b="1" dirty="0">
                <a:solidFill>
                  <a:srgbClr val="0071B2"/>
                </a:solidFill>
              </a:rPr>
              <a:t>" FROM </a:t>
            </a:r>
            <a:r>
              <a:rPr lang="en-US" dirty="0">
                <a:solidFill>
                  <a:srgbClr val="0071B2"/>
                </a:solidFill>
              </a:rPr>
              <a:t>Kunde</a:t>
            </a:r>
            <a:r>
              <a:rPr lang="en-US" b="1" dirty="0">
                <a:solidFill>
                  <a:srgbClr val="0071B2"/>
                </a:solidFill>
              </a:rPr>
              <a:t>;</a:t>
            </a: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pic>
        <p:nvPicPr>
          <p:cNvPr id="7" name="Grafik 6">
            <a:extLst>
              <a:ext uri="{FF2B5EF4-FFF2-40B4-BE49-F238E27FC236}">
                <a16:creationId xmlns:a16="http://schemas.microsoft.com/office/drawing/2014/main" id="{93FB05AE-32FB-49B2-5DF9-7D4374470F44}"/>
              </a:ext>
            </a:extLst>
          </p:cNvPr>
          <p:cNvPicPr>
            <a:picLocks noChangeAspect="1"/>
          </p:cNvPicPr>
          <p:nvPr/>
        </p:nvPicPr>
        <p:blipFill>
          <a:blip r:embed="rId2"/>
          <a:stretch>
            <a:fillRect/>
          </a:stretch>
        </p:blipFill>
        <p:spPr>
          <a:xfrm>
            <a:off x="4668430" y="2046891"/>
            <a:ext cx="995252" cy="1458794"/>
          </a:xfrm>
          <a:prstGeom prst="rect">
            <a:avLst/>
          </a:prstGeom>
          <a:effectLst>
            <a:innerShdw blurRad="114300">
              <a:prstClr val="black"/>
            </a:innerShdw>
          </a:effectLst>
        </p:spPr>
      </p:pic>
      <p:pic>
        <p:nvPicPr>
          <p:cNvPr id="10" name="Grafik 9">
            <a:extLst>
              <a:ext uri="{FF2B5EF4-FFF2-40B4-BE49-F238E27FC236}">
                <a16:creationId xmlns:a16="http://schemas.microsoft.com/office/drawing/2014/main" id="{78E1B0D2-1B85-6D03-C991-CE3796291FCC}"/>
              </a:ext>
            </a:extLst>
          </p:cNvPr>
          <p:cNvPicPr>
            <a:picLocks noChangeAspect="1"/>
          </p:cNvPicPr>
          <p:nvPr/>
        </p:nvPicPr>
        <p:blipFill>
          <a:blip r:embed="rId3"/>
          <a:stretch>
            <a:fillRect/>
          </a:stretch>
        </p:blipFill>
        <p:spPr>
          <a:xfrm>
            <a:off x="8111480" y="4585674"/>
            <a:ext cx="584651" cy="1445204"/>
          </a:xfrm>
          <a:prstGeom prst="rect">
            <a:avLst/>
          </a:prstGeom>
          <a:effectLst>
            <a:innerShdw blurRad="114300">
              <a:prstClr val="black"/>
            </a:innerShdw>
          </a:effectLst>
        </p:spPr>
      </p:pic>
    </p:spTree>
    <p:extLst>
      <p:ext uri="{BB962C8B-B14F-4D97-AF65-F5344CB8AC3E}">
        <p14:creationId xmlns:p14="http://schemas.microsoft.com/office/powerpoint/2010/main" val="168826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5" grpId="0"/>
      <p:bldP spid="11" grpId="0" animBg="1"/>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RIGHT()</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3" name="Rechteck 22"/>
          <p:cNvSpPr/>
          <p:nvPr/>
        </p:nvSpPr>
        <p:spPr>
          <a:xfrm>
            <a:off x="556952" y="1104065"/>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Aufgabenstellung: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Für alle Kunden sollen die </a:t>
            </a:r>
            <a:r>
              <a:rPr kumimoji="0" lang="de-DE" sz="1600" b="1" i="0" u="sng" strike="noStrike" kern="1200" cap="none" spc="0" normalizeH="0" baseline="0" noProof="0" dirty="0">
                <a:ln>
                  <a:noFill/>
                </a:ln>
                <a:solidFill>
                  <a:srgbClr val="0071B2"/>
                </a:solidFill>
                <a:effectLst/>
                <a:uLnTx/>
                <a:uFillTx/>
                <a:latin typeface="Calibri" panose="020F0502020204030204"/>
                <a:ea typeface="+mn-ea"/>
                <a:cs typeface="+mn-cs"/>
              </a:rPr>
              <a:t>letzten</a:t>
            </a: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 drei Buchstaben </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ihres Vornamens ausgegeben werden.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EEEEEE"/>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EEEEEE"/>
                </a:solidFill>
                <a:effectLst/>
                <a:uLnTx/>
                <a:uFillTx/>
                <a:latin typeface="Calibri" panose="020F0502020204030204"/>
                <a:ea typeface="+mn-ea"/>
                <a:cs typeface="+mn-cs"/>
              </a:rPr>
              <a:t>.</a:t>
            </a:r>
          </a:p>
        </p:txBody>
      </p:sp>
      <p:sp>
        <p:nvSpPr>
          <p:cNvPr id="15" name="Textfeld 14"/>
          <p:cNvSpPr txBox="1"/>
          <p:nvPr/>
        </p:nvSpPr>
        <p:spPr>
          <a:xfrm>
            <a:off x="556952" y="2046890"/>
            <a:ext cx="4246547" cy="369332"/>
          </a:xfrm>
          <a:prstGeom prst="rect">
            <a:avLst/>
          </a:prstGeom>
          <a:noFill/>
        </p:spPr>
        <p:txBody>
          <a:bodyPr wrap="none" rtlCol="0">
            <a:spAutoFit/>
          </a:bodyPr>
          <a:lstStyle/>
          <a:p>
            <a:pPr lvl="0">
              <a:defRPr/>
            </a:pPr>
            <a:r>
              <a:rPr lang="en-US" b="1" dirty="0">
                <a:solidFill>
                  <a:srgbClr val="0071B2"/>
                </a:solidFill>
              </a:rPr>
              <a:t>   SELECT RIGHT(</a:t>
            </a:r>
            <a:r>
              <a:rPr lang="en-US" dirty="0">
                <a:solidFill>
                  <a:srgbClr val="0071B2"/>
                </a:solidFill>
              </a:rPr>
              <a:t>Vorname</a:t>
            </a:r>
            <a:r>
              <a:rPr lang="en-US" b="1" dirty="0">
                <a:solidFill>
                  <a:srgbClr val="0071B2"/>
                </a:solidFill>
              </a:rPr>
              <a:t>, </a:t>
            </a:r>
            <a:r>
              <a:rPr lang="en-US" dirty="0">
                <a:solidFill>
                  <a:srgbClr val="0071B2"/>
                </a:solidFill>
              </a:rPr>
              <a:t>3</a:t>
            </a:r>
            <a:r>
              <a:rPr lang="en-US" b="1" dirty="0">
                <a:solidFill>
                  <a:srgbClr val="0071B2"/>
                </a:solidFill>
              </a:rPr>
              <a:t>) FROM </a:t>
            </a:r>
            <a:r>
              <a:rPr lang="en-US" dirty="0">
                <a:solidFill>
                  <a:srgbClr val="0071B2"/>
                </a:solidFill>
              </a:rPr>
              <a:t>Kunde</a:t>
            </a:r>
            <a:r>
              <a:rPr lang="en-US" b="1" dirty="0">
                <a:solidFill>
                  <a:srgbClr val="0071B2"/>
                </a:solidFill>
              </a:rPr>
              <a:t>;</a:t>
            </a: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Rechteck 10"/>
          <p:cNvSpPr/>
          <p:nvPr/>
        </p:nvSpPr>
        <p:spPr>
          <a:xfrm>
            <a:off x="596904" y="3642849"/>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Aufgabenstellung:</a:t>
            </a:r>
          </a:p>
          <a:p>
            <a:pPr lvl="0" algn="ctr">
              <a:defRPr/>
            </a:pPr>
            <a:r>
              <a:rPr kumimoji="0" lang="de-DE" sz="1400" b="0" i="0" u="none" strike="noStrike" kern="1200" cap="none" spc="0" normalizeH="0" baseline="0" noProof="0" dirty="0">
                <a:ln>
                  <a:noFill/>
                </a:ln>
                <a:solidFill>
                  <a:srgbClr val="0071B2"/>
                </a:solidFill>
                <a:effectLst/>
                <a:uLnTx/>
                <a:uFillTx/>
                <a:latin typeface="Calibri" panose="020F0502020204030204"/>
                <a:ea typeface="+mn-ea"/>
                <a:cs typeface="+mn-cs"/>
              </a:rPr>
              <a:t>Für alle Kunden sollen die </a:t>
            </a:r>
            <a:r>
              <a:rPr kumimoji="0" lang="de-DE" sz="1400" b="1" u="sng" strike="noStrike" kern="1200" cap="none" spc="0" normalizeH="0" baseline="0" noProof="0" dirty="0">
                <a:ln>
                  <a:noFill/>
                </a:ln>
                <a:solidFill>
                  <a:srgbClr val="0071B2"/>
                </a:solidFill>
                <a:effectLst/>
                <a:uLnTx/>
                <a:uFillTx/>
                <a:latin typeface="Calibri" panose="020F0502020204030204"/>
                <a:ea typeface="+mn-ea"/>
                <a:cs typeface="+mn-cs"/>
              </a:rPr>
              <a:t>ersten</a:t>
            </a:r>
            <a:r>
              <a:rPr kumimoji="0" lang="de-DE" sz="1400" b="1" i="0" u="none" strike="noStrike" kern="1200" cap="none" spc="0" normalizeH="0" baseline="0" noProof="0" dirty="0">
                <a:ln>
                  <a:noFill/>
                </a:ln>
                <a:solidFill>
                  <a:srgbClr val="0071B2"/>
                </a:solidFill>
                <a:effectLst/>
                <a:uLnTx/>
                <a:uFillTx/>
                <a:latin typeface="Calibri" panose="020F0502020204030204"/>
                <a:ea typeface="+mn-ea"/>
                <a:cs typeface="+mn-cs"/>
              </a:rPr>
              <a:t> 3 Buchstaben + die </a:t>
            </a:r>
            <a:r>
              <a:rPr kumimoji="0" lang="de-DE" sz="1400" b="1" i="0" u="sng" strike="noStrike" kern="1200" cap="none" spc="0" normalizeH="0" baseline="0" noProof="0" dirty="0">
                <a:ln>
                  <a:noFill/>
                </a:ln>
                <a:solidFill>
                  <a:srgbClr val="0071B2"/>
                </a:solidFill>
                <a:effectLst/>
                <a:uLnTx/>
                <a:uFillTx/>
                <a:latin typeface="Calibri" panose="020F0502020204030204"/>
                <a:ea typeface="+mn-ea"/>
                <a:cs typeface="+mn-cs"/>
              </a:rPr>
              <a:t>letzten</a:t>
            </a:r>
            <a:r>
              <a:rPr kumimoji="0" lang="de-DE" sz="1400" b="1" i="0" u="none" strike="noStrike" kern="1200" cap="none" spc="0" normalizeH="0" baseline="0" noProof="0" dirty="0">
                <a:ln>
                  <a:noFill/>
                </a:ln>
                <a:solidFill>
                  <a:srgbClr val="0071B2"/>
                </a:solidFill>
                <a:effectLst/>
                <a:uLnTx/>
                <a:uFillTx/>
                <a:latin typeface="Calibri" panose="020F0502020204030204"/>
                <a:ea typeface="+mn-ea"/>
                <a:cs typeface="+mn-cs"/>
              </a:rPr>
              <a:t> 3 Buchstaben </a:t>
            </a:r>
            <a:r>
              <a:rPr kumimoji="0" lang="de-DE" sz="1400" b="0" i="0" u="none" strike="noStrike" kern="1200" cap="none" spc="0" normalizeH="0" baseline="0" noProof="0" dirty="0">
                <a:ln>
                  <a:noFill/>
                </a:ln>
                <a:solidFill>
                  <a:srgbClr val="0071B2"/>
                </a:solidFill>
                <a:effectLst/>
                <a:uLnTx/>
                <a:uFillTx/>
                <a:latin typeface="Calibri" panose="020F0502020204030204"/>
                <a:ea typeface="+mn-ea"/>
                <a:cs typeface="+mn-cs"/>
              </a:rPr>
              <a:t>ihres Vornamens</a:t>
            </a:r>
            <a:r>
              <a:rPr kumimoji="0" lang="de-DE" sz="1400" b="0" i="0" u="none" strike="noStrike" kern="1200" cap="none" spc="0" normalizeH="0" noProof="0" dirty="0">
                <a:ln>
                  <a:noFill/>
                </a:ln>
                <a:solidFill>
                  <a:srgbClr val="0071B2"/>
                </a:solidFill>
                <a:effectLst/>
                <a:uLnTx/>
                <a:uFillTx/>
                <a:latin typeface="Calibri" panose="020F0502020204030204"/>
                <a:ea typeface="+mn-ea"/>
                <a:cs typeface="+mn-cs"/>
              </a:rPr>
              <a:t> </a:t>
            </a:r>
            <a:r>
              <a:rPr kumimoji="0" lang="de-DE" sz="1400" b="0" i="0" u="none" strike="noStrike" kern="1200" cap="none" spc="0" normalizeH="0" baseline="0" noProof="0" dirty="0">
                <a:ln>
                  <a:noFill/>
                </a:ln>
                <a:solidFill>
                  <a:srgbClr val="0071B2"/>
                </a:solidFill>
                <a:effectLst/>
                <a:uLnTx/>
                <a:uFillTx/>
                <a:latin typeface="Calibri" panose="020F0502020204030204"/>
                <a:ea typeface="+mn-ea"/>
                <a:cs typeface="+mn-cs"/>
              </a:rPr>
              <a:t>unter der Überschrift </a:t>
            </a:r>
            <a:r>
              <a:rPr kumimoji="0" lang="de-DE" sz="1400" b="1" i="0" u="none" strike="noStrike" kern="1200" cap="none" spc="0" normalizeH="0" baseline="0" noProof="0" dirty="0">
                <a:ln>
                  <a:noFill/>
                </a:ln>
                <a:solidFill>
                  <a:srgbClr val="0071B2"/>
                </a:solidFill>
                <a:effectLst/>
                <a:uLnTx/>
                <a:uFillTx/>
                <a:latin typeface="Calibri" panose="020F0502020204030204"/>
                <a:ea typeface="+mn-ea"/>
                <a:cs typeface="+mn-cs"/>
              </a:rPr>
              <a:t>„Spielerei“</a:t>
            </a:r>
            <a:r>
              <a:rPr kumimoji="0" lang="de-DE" sz="1400" b="0" i="0" u="none" strike="noStrike" kern="1200" cap="none" spc="0" normalizeH="0" baseline="0" noProof="0" dirty="0">
                <a:ln>
                  <a:noFill/>
                </a:ln>
                <a:solidFill>
                  <a:srgbClr val="0071B2"/>
                </a:solidFill>
                <a:effectLst/>
                <a:uLnTx/>
                <a:uFillTx/>
                <a:latin typeface="Calibri" panose="020F0502020204030204"/>
                <a:ea typeface="+mn-ea"/>
                <a:cs typeface="+mn-cs"/>
              </a:rPr>
              <a:t> erscheinen.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EEEEEE"/>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EEEEEE"/>
                </a:solidFill>
                <a:effectLst/>
                <a:uLnTx/>
                <a:uFillTx/>
                <a:latin typeface="Calibri" panose="020F0502020204030204"/>
                <a:ea typeface="+mn-ea"/>
                <a:cs typeface="+mn-cs"/>
              </a:rPr>
              <a:t>.</a:t>
            </a:r>
          </a:p>
        </p:txBody>
      </p:sp>
      <p:sp>
        <p:nvSpPr>
          <p:cNvPr id="12" name="Textfeld 11"/>
          <p:cNvSpPr txBox="1"/>
          <p:nvPr/>
        </p:nvSpPr>
        <p:spPr>
          <a:xfrm>
            <a:off x="596904" y="4585674"/>
            <a:ext cx="8462125" cy="369332"/>
          </a:xfrm>
          <a:prstGeom prst="rect">
            <a:avLst/>
          </a:prstGeom>
          <a:noFill/>
        </p:spPr>
        <p:txBody>
          <a:bodyPr wrap="none" rtlCol="0">
            <a:spAutoFit/>
          </a:bodyPr>
          <a:lstStyle/>
          <a:p>
            <a:pPr lvl="0">
              <a:defRPr/>
            </a:pPr>
            <a:r>
              <a:rPr lang="en-US" b="1" dirty="0">
                <a:solidFill>
                  <a:srgbClr val="0071B2"/>
                </a:solidFill>
              </a:rPr>
              <a:t>   SELECT CONCAT(LEFT(</a:t>
            </a:r>
            <a:r>
              <a:rPr lang="en-US" dirty="0">
                <a:solidFill>
                  <a:srgbClr val="0071B2"/>
                </a:solidFill>
              </a:rPr>
              <a:t>Vorname, 3</a:t>
            </a:r>
            <a:r>
              <a:rPr lang="en-US" b="1" dirty="0">
                <a:solidFill>
                  <a:srgbClr val="0071B2"/>
                </a:solidFill>
              </a:rPr>
              <a:t>)</a:t>
            </a:r>
            <a:r>
              <a:rPr lang="en-US" dirty="0">
                <a:solidFill>
                  <a:srgbClr val="0071B2"/>
                </a:solidFill>
              </a:rPr>
              <a:t>, </a:t>
            </a:r>
            <a:r>
              <a:rPr lang="en-US" b="1" dirty="0">
                <a:solidFill>
                  <a:srgbClr val="0071B2"/>
                </a:solidFill>
              </a:rPr>
              <a:t>RIGHT(</a:t>
            </a:r>
            <a:r>
              <a:rPr lang="en-US" dirty="0">
                <a:solidFill>
                  <a:srgbClr val="0071B2"/>
                </a:solidFill>
              </a:rPr>
              <a:t>Vorname, 3</a:t>
            </a:r>
            <a:r>
              <a:rPr lang="en-US" b="1" dirty="0">
                <a:solidFill>
                  <a:srgbClr val="0071B2"/>
                </a:solidFill>
              </a:rPr>
              <a:t>)) AS "</a:t>
            </a:r>
            <a:r>
              <a:rPr lang="en-US" dirty="0">
                <a:solidFill>
                  <a:srgbClr val="0071B2"/>
                </a:solidFill>
              </a:rPr>
              <a:t>Spielerei</a:t>
            </a:r>
            <a:r>
              <a:rPr lang="en-US" b="1" dirty="0">
                <a:solidFill>
                  <a:srgbClr val="0071B2"/>
                </a:solidFill>
              </a:rPr>
              <a:t>" FROM </a:t>
            </a:r>
            <a:r>
              <a:rPr lang="en-US" dirty="0">
                <a:solidFill>
                  <a:srgbClr val="0071B2"/>
                </a:solidFill>
              </a:rPr>
              <a:t>Kunde</a:t>
            </a:r>
            <a:r>
              <a:rPr lang="en-US" b="1" dirty="0">
                <a:solidFill>
                  <a:srgbClr val="0071B2"/>
                </a:solidFill>
              </a:rPr>
              <a:t>;</a:t>
            </a: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pic>
        <p:nvPicPr>
          <p:cNvPr id="7" name="Grafik 6">
            <a:extLst>
              <a:ext uri="{FF2B5EF4-FFF2-40B4-BE49-F238E27FC236}">
                <a16:creationId xmlns:a16="http://schemas.microsoft.com/office/drawing/2014/main" id="{34320FFC-A0A7-B835-C819-F8BCCFE8CA6D}"/>
              </a:ext>
            </a:extLst>
          </p:cNvPr>
          <p:cNvPicPr>
            <a:picLocks noChangeAspect="1"/>
          </p:cNvPicPr>
          <p:nvPr/>
        </p:nvPicPr>
        <p:blipFill>
          <a:blip r:embed="rId2"/>
          <a:stretch>
            <a:fillRect/>
          </a:stretch>
        </p:blipFill>
        <p:spPr>
          <a:xfrm>
            <a:off x="4899745" y="2046890"/>
            <a:ext cx="1053380" cy="1444258"/>
          </a:xfrm>
          <a:prstGeom prst="rect">
            <a:avLst/>
          </a:prstGeom>
          <a:effectLst>
            <a:innerShdw blurRad="114300">
              <a:prstClr val="black"/>
            </a:innerShdw>
          </a:effectLst>
        </p:spPr>
      </p:pic>
      <p:pic>
        <p:nvPicPr>
          <p:cNvPr id="10" name="Grafik 9">
            <a:extLst>
              <a:ext uri="{FF2B5EF4-FFF2-40B4-BE49-F238E27FC236}">
                <a16:creationId xmlns:a16="http://schemas.microsoft.com/office/drawing/2014/main" id="{15BBF86C-B407-A789-A9CF-F8209FEADEF5}"/>
              </a:ext>
            </a:extLst>
          </p:cNvPr>
          <p:cNvPicPr>
            <a:picLocks noChangeAspect="1"/>
          </p:cNvPicPr>
          <p:nvPr/>
        </p:nvPicPr>
        <p:blipFill>
          <a:blip r:embed="rId3"/>
          <a:stretch>
            <a:fillRect/>
          </a:stretch>
        </p:blipFill>
        <p:spPr>
          <a:xfrm>
            <a:off x="8852437" y="4668670"/>
            <a:ext cx="520163" cy="1282674"/>
          </a:xfrm>
          <a:prstGeom prst="rect">
            <a:avLst/>
          </a:prstGeom>
          <a:effectLst>
            <a:innerShdw blurRad="114300">
              <a:prstClr val="black"/>
            </a:innerShdw>
          </a:effectLst>
        </p:spPr>
      </p:pic>
    </p:spTree>
    <p:extLst>
      <p:ext uri="{BB962C8B-B14F-4D97-AF65-F5344CB8AC3E}">
        <p14:creationId xmlns:p14="http://schemas.microsoft.com/office/powerpoint/2010/main" val="2729557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5" grpId="0"/>
      <p:bldP spid="11" grpId="0" animBg="1"/>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LENGTH()</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23" name="Rechteck 22"/>
          <p:cNvSpPr/>
          <p:nvPr/>
        </p:nvSpPr>
        <p:spPr>
          <a:xfrm>
            <a:off x="556952" y="1104065"/>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Aufgabenstellung: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Für alle Kunden soll deren Vorname</a:t>
            </a:r>
            <a:r>
              <a:rPr kumimoji="0" lang="de-DE" sz="1600" b="0" i="0" u="none" strike="noStrike" kern="1200" cap="none" spc="0" normalizeH="0" noProof="0" dirty="0">
                <a:ln>
                  <a:noFill/>
                </a:ln>
                <a:solidFill>
                  <a:srgbClr val="0071B2"/>
                </a:solidFill>
                <a:effectLst/>
                <a:uLnTx/>
                <a:uFillTx/>
                <a:latin typeface="Calibri" panose="020F0502020204030204"/>
                <a:ea typeface="+mn-ea"/>
                <a:cs typeface="+mn-cs"/>
              </a:rPr>
              <a:t> und die Anzahl seiner</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 </a:t>
            </a:r>
            <a:r>
              <a:rPr lang="de-DE" sz="1600" noProof="0" dirty="0">
                <a:solidFill>
                  <a:srgbClr val="0071B2"/>
                </a:solidFill>
                <a:latin typeface="Calibri" panose="020F0502020204030204"/>
              </a:rPr>
              <a:t>Buchstaben </a:t>
            </a:r>
            <a:r>
              <a:rPr kumimoji="0" lang="de-DE" sz="1600" b="0" i="0" u="none" strike="noStrike" kern="1200" cap="none" spc="0" normalizeH="0" baseline="0" noProof="0" dirty="0">
                <a:ln>
                  <a:noFill/>
                </a:ln>
                <a:solidFill>
                  <a:srgbClr val="0071B2"/>
                </a:solidFill>
                <a:effectLst/>
                <a:uLnTx/>
                <a:uFillTx/>
                <a:latin typeface="Calibri" panose="020F0502020204030204"/>
                <a:ea typeface="+mn-ea"/>
                <a:cs typeface="+mn-cs"/>
              </a:rPr>
              <a:t>ausgegeben werden.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EEEEEE"/>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EEEEEE"/>
                </a:solidFill>
                <a:effectLst/>
                <a:uLnTx/>
                <a:uFillTx/>
                <a:latin typeface="Calibri" panose="020F0502020204030204"/>
                <a:ea typeface="+mn-ea"/>
                <a:cs typeface="+mn-cs"/>
              </a:rPr>
              <a:t>.</a:t>
            </a:r>
          </a:p>
        </p:txBody>
      </p:sp>
      <p:sp>
        <p:nvSpPr>
          <p:cNvPr id="15" name="Textfeld 14"/>
          <p:cNvSpPr txBox="1"/>
          <p:nvPr/>
        </p:nvSpPr>
        <p:spPr>
          <a:xfrm>
            <a:off x="556952" y="2046890"/>
            <a:ext cx="5170839" cy="369332"/>
          </a:xfrm>
          <a:prstGeom prst="rect">
            <a:avLst/>
          </a:prstGeom>
          <a:noFill/>
        </p:spPr>
        <p:txBody>
          <a:bodyPr wrap="none" rtlCol="0">
            <a:spAutoFit/>
          </a:bodyPr>
          <a:lstStyle/>
          <a:p>
            <a:pPr lvl="0">
              <a:defRPr/>
            </a:pPr>
            <a:r>
              <a:rPr lang="en-US" b="1" dirty="0">
                <a:solidFill>
                  <a:srgbClr val="0071B2"/>
                </a:solidFill>
              </a:rPr>
              <a:t>   SELECT </a:t>
            </a:r>
            <a:r>
              <a:rPr lang="en-US" dirty="0">
                <a:solidFill>
                  <a:srgbClr val="0071B2"/>
                </a:solidFill>
              </a:rPr>
              <a:t>Vorname</a:t>
            </a:r>
            <a:r>
              <a:rPr lang="en-US" b="1" dirty="0">
                <a:solidFill>
                  <a:srgbClr val="0071B2"/>
                </a:solidFill>
              </a:rPr>
              <a:t>, LENGTH(</a:t>
            </a:r>
            <a:r>
              <a:rPr lang="en-US" dirty="0">
                <a:solidFill>
                  <a:srgbClr val="0071B2"/>
                </a:solidFill>
              </a:rPr>
              <a:t>Vorname</a:t>
            </a:r>
            <a:r>
              <a:rPr lang="en-US" b="1" dirty="0">
                <a:solidFill>
                  <a:srgbClr val="0071B2"/>
                </a:solidFill>
              </a:rPr>
              <a:t>) FROM </a:t>
            </a:r>
            <a:r>
              <a:rPr lang="en-US" dirty="0">
                <a:solidFill>
                  <a:srgbClr val="0071B2"/>
                </a:solidFill>
              </a:rPr>
              <a:t>Kunde</a:t>
            </a:r>
            <a:r>
              <a:rPr lang="en-US" b="1" dirty="0">
                <a:solidFill>
                  <a:srgbClr val="0071B2"/>
                </a:solidFill>
              </a:rPr>
              <a:t>;</a:t>
            </a: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Rechteck 10"/>
          <p:cNvSpPr/>
          <p:nvPr/>
        </p:nvSpPr>
        <p:spPr>
          <a:xfrm>
            <a:off x="596904" y="3642849"/>
            <a:ext cx="11055927" cy="8328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Aufgabenstellung:</a:t>
            </a:r>
          </a:p>
          <a:p>
            <a:pPr lvl="0" algn="ctr">
              <a:defRPr/>
            </a:pPr>
            <a:r>
              <a:rPr kumimoji="0" lang="de-DE" sz="1400" b="0" i="0" u="none" strike="noStrike" kern="1200" cap="none" spc="0" normalizeH="0" baseline="0" noProof="0" dirty="0">
                <a:ln>
                  <a:noFill/>
                </a:ln>
                <a:solidFill>
                  <a:srgbClr val="0071B2"/>
                </a:solidFill>
                <a:effectLst/>
                <a:uLnTx/>
                <a:uFillTx/>
                <a:latin typeface="Calibri" panose="020F0502020204030204"/>
                <a:ea typeface="+mn-ea"/>
                <a:cs typeface="+mn-cs"/>
              </a:rPr>
              <a:t>Für alle Kunden soll der</a:t>
            </a:r>
            <a:r>
              <a:rPr kumimoji="0" lang="de-DE" sz="1400" b="0" i="0" u="none" strike="noStrike" kern="1200" cap="none" spc="0" normalizeH="0" noProof="0" dirty="0">
                <a:ln>
                  <a:noFill/>
                </a:ln>
                <a:solidFill>
                  <a:srgbClr val="0071B2"/>
                </a:solidFill>
                <a:effectLst/>
                <a:uLnTx/>
                <a:uFillTx/>
                <a:latin typeface="Calibri" panose="020F0502020204030204"/>
                <a:ea typeface="+mn-ea"/>
                <a:cs typeface="+mn-cs"/>
              </a:rPr>
              <a:t> Text </a:t>
            </a:r>
            <a:r>
              <a:rPr kumimoji="0" lang="de-DE" sz="1400" b="1" i="0" u="none" strike="noStrike" kern="1200" cap="none" spc="0" normalizeH="0" noProof="0" dirty="0">
                <a:ln>
                  <a:noFill/>
                </a:ln>
                <a:solidFill>
                  <a:srgbClr val="0071B2"/>
                </a:solidFill>
                <a:effectLst/>
                <a:uLnTx/>
                <a:uFillTx/>
                <a:latin typeface="Calibri" panose="020F0502020204030204"/>
              </a:rPr>
              <a:t>Vorname + </a:t>
            </a:r>
            <a:r>
              <a:rPr lang="en-US" sz="1400" b="1" dirty="0">
                <a:solidFill>
                  <a:srgbClr val="0071B2"/>
                </a:solidFill>
              </a:rPr>
              <a:t>" </a:t>
            </a:r>
            <a:r>
              <a:rPr kumimoji="0" lang="de-DE" sz="1400" b="1" i="0" u="none" strike="noStrike" kern="1200" cap="none" spc="0" normalizeH="0" noProof="0" dirty="0">
                <a:ln>
                  <a:noFill/>
                </a:ln>
                <a:solidFill>
                  <a:srgbClr val="0071B2"/>
                </a:solidFill>
                <a:effectLst/>
                <a:uLnTx/>
                <a:uFillTx/>
                <a:latin typeface="Calibri" panose="020F0502020204030204"/>
              </a:rPr>
              <a:t>besteht aus</a:t>
            </a:r>
            <a:r>
              <a:rPr lang="en-US" sz="1400" b="1" dirty="0">
                <a:solidFill>
                  <a:srgbClr val="0071B2"/>
                </a:solidFill>
              </a:rPr>
              <a:t> "</a:t>
            </a:r>
            <a:r>
              <a:rPr kumimoji="0" lang="de-DE" sz="1400" b="1" i="0" u="none" strike="noStrike" kern="1200" cap="none" spc="0" normalizeH="0" noProof="0" dirty="0">
                <a:ln>
                  <a:noFill/>
                </a:ln>
                <a:solidFill>
                  <a:srgbClr val="0071B2"/>
                </a:solidFill>
                <a:effectLst/>
                <a:uLnTx/>
                <a:uFillTx/>
                <a:latin typeface="Calibri" panose="020F0502020204030204"/>
              </a:rPr>
              <a:t> + … </a:t>
            </a:r>
            <a:r>
              <a:rPr lang="de-DE" sz="1400" b="1" dirty="0">
                <a:solidFill>
                  <a:srgbClr val="0071B2"/>
                </a:solidFill>
                <a:latin typeface="Calibri" panose="020F0502020204030204"/>
              </a:rPr>
              <a:t>Z</a:t>
            </a:r>
            <a:r>
              <a:rPr kumimoji="0" lang="de-DE" sz="1400" b="1" i="0" u="none" strike="noStrike" kern="1200" cap="none" spc="0" normalizeH="0" noProof="0" dirty="0">
                <a:ln>
                  <a:noFill/>
                </a:ln>
                <a:solidFill>
                  <a:srgbClr val="0071B2"/>
                </a:solidFill>
                <a:effectLst/>
                <a:uLnTx/>
                <a:uFillTx/>
                <a:latin typeface="Calibri" panose="020F0502020204030204"/>
              </a:rPr>
              <a:t>eichen </a:t>
            </a:r>
            <a:r>
              <a:rPr kumimoji="0" lang="de-DE" sz="1400" b="0" i="0" u="none" strike="noStrike" kern="1200" cap="none" spc="0" normalizeH="0" noProof="0" dirty="0">
                <a:ln>
                  <a:noFill/>
                </a:ln>
                <a:solidFill>
                  <a:srgbClr val="0071B2"/>
                </a:solidFill>
                <a:effectLst/>
                <a:uLnTx/>
                <a:uFillTx/>
                <a:latin typeface="Calibri" panose="020F0502020204030204"/>
                <a:ea typeface="+mn-ea"/>
                <a:cs typeface="+mn-cs"/>
              </a:rPr>
              <a:t>unter der Überschrift </a:t>
            </a:r>
            <a:r>
              <a:rPr kumimoji="0" lang="de-DE" sz="1400" b="1" i="0" u="none" strike="noStrike" kern="1200" cap="none" spc="0" normalizeH="0" noProof="0" dirty="0">
                <a:ln>
                  <a:noFill/>
                </a:ln>
                <a:solidFill>
                  <a:srgbClr val="0071B2"/>
                </a:solidFill>
                <a:effectLst/>
                <a:uLnTx/>
                <a:uFillTx/>
                <a:latin typeface="Calibri" panose="020F0502020204030204"/>
                <a:ea typeface="+mn-ea"/>
                <a:cs typeface="+mn-cs"/>
              </a:rPr>
              <a:t>„Info“ </a:t>
            </a:r>
            <a:r>
              <a:rPr kumimoji="0" lang="de-DE" sz="1400" b="0" i="0" u="none" strike="noStrike" kern="1200" cap="none" spc="0" normalizeH="0" noProof="0" dirty="0">
                <a:ln>
                  <a:noFill/>
                </a:ln>
                <a:solidFill>
                  <a:srgbClr val="0071B2"/>
                </a:solidFill>
                <a:effectLst/>
                <a:uLnTx/>
                <a:uFillTx/>
                <a:latin typeface="Calibri" panose="020F0502020204030204"/>
                <a:ea typeface="+mn-ea"/>
                <a:cs typeface="+mn-cs"/>
              </a:rPr>
              <a:t>erscheinen.</a:t>
            </a:r>
          </a:p>
          <a:p>
            <a:pPr lvl="0" algn="ctr">
              <a:defRPr/>
            </a:pPr>
            <a:r>
              <a:rPr kumimoji="0" lang="de-DE" sz="1400" b="0" i="0" u="sng" strike="noStrike" kern="1200" cap="none" spc="0" normalizeH="0" noProof="0" dirty="0">
                <a:ln>
                  <a:noFill/>
                </a:ln>
                <a:solidFill>
                  <a:srgbClr val="0071B2"/>
                </a:solidFill>
                <a:effectLst/>
                <a:uLnTx/>
                <a:uFillTx/>
                <a:latin typeface="Calibri" panose="020F0502020204030204"/>
                <a:ea typeface="+mn-ea"/>
                <a:cs typeface="+mn-cs"/>
              </a:rPr>
              <a:t>Beispiel für die Kundin Eva Hahn</a:t>
            </a:r>
            <a:r>
              <a:rPr kumimoji="0" lang="de-DE" sz="1400" b="0" i="0" u="none" strike="noStrike" kern="1200" cap="none" spc="0" normalizeH="0" noProof="0" dirty="0">
                <a:ln>
                  <a:noFill/>
                </a:ln>
                <a:solidFill>
                  <a:srgbClr val="0071B2"/>
                </a:solidFill>
                <a:effectLst/>
                <a:uLnTx/>
                <a:uFillTx/>
                <a:latin typeface="Calibri" panose="020F0502020204030204"/>
                <a:ea typeface="+mn-ea"/>
                <a:cs typeface="+mn-cs"/>
              </a:rPr>
              <a:t>: „Eva besteht aus 3 Zeichen“ </a:t>
            </a:r>
            <a:endParaRPr kumimoji="0" lang="de-DE" sz="1400" b="0"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EEEEEE"/>
              </a:solidFill>
              <a:effectLst/>
              <a:uLnTx/>
              <a:uFillTx/>
              <a:latin typeface="Source Sans Pro" panose="020B0503030403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EEEEEE"/>
                </a:solidFill>
                <a:effectLst/>
                <a:uLnTx/>
                <a:uFillTx/>
                <a:latin typeface="Calibri" panose="020F0502020204030204"/>
                <a:ea typeface="+mn-ea"/>
                <a:cs typeface="+mn-cs"/>
              </a:rPr>
              <a:t>.</a:t>
            </a:r>
          </a:p>
        </p:txBody>
      </p:sp>
      <p:sp>
        <p:nvSpPr>
          <p:cNvPr id="12" name="Textfeld 11"/>
          <p:cNvSpPr txBox="1"/>
          <p:nvPr/>
        </p:nvSpPr>
        <p:spPr>
          <a:xfrm>
            <a:off x="596904" y="4585674"/>
            <a:ext cx="9554732" cy="369332"/>
          </a:xfrm>
          <a:prstGeom prst="rect">
            <a:avLst/>
          </a:prstGeom>
          <a:noFill/>
        </p:spPr>
        <p:txBody>
          <a:bodyPr wrap="none" rtlCol="0">
            <a:spAutoFit/>
          </a:bodyPr>
          <a:lstStyle/>
          <a:p>
            <a:pPr lvl="0">
              <a:defRPr/>
            </a:pPr>
            <a:r>
              <a:rPr lang="en-US" b="1" dirty="0">
                <a:solidFill>
                  <a:srgbClr val="0071B2"/>
                </a:solidFill>
              </a:rPr>
              <a:t>   SELECT CONCAT(</a:t>
            </a:r>
            <a:r>
              <a:rPr lang="en-US" dirty="0">
                <a:solidFill>
                  <a:srgbClr val="0071B2"/>
                </a:solidFill>
              </a:rPr>
              <a:t>Vorname, </a:t>
            </a:r>
            <a:r>
              <a:rPr lang="en-US" b="1" dirty="0">
                <a:solidFill>
                  <a:srgbClr val="0071B2"/>
                </a:solidFill>
              </a:rPr>
              <a:t>"</a:t>
            </a:r>
            <a:r>
              <a:rPr lang="en-US" dirty="0">
                <a:solidFill>
                  <a:srgbClr val="0071B2"/>
                </a:solidFill>
              </a:rPr>
              <a:t> besteht aus </a:t>
            </a:r>
            <a:r>
              <a:rPr lang="en-US" b="1" dirty="0">
                <a:solidFill>
                  <a:srgbClr val="0071B2"/>
                </a:solidFill>
              </a:rPr>
              <a:t>",LENGTH(</a:t>
            </a:r>
            <a:r>
              <a:rPr lang="en-US" dirty="0">
                <a:solidFill>
                  <a:srgbClr val="0071B2"/>
                </a:solidFill>
              </a:rPr>
              <a:t>Vorname</a:t>
            </a:r>
            <a:r>
              <a:rPr lang="en-US" b="1" dirty="0">
                <a:solidFill>
                  <a:srgbClr val="0071B2"/>
                </a:solidFill>
              </a:rPr>
              <a:t>), " </a:t>
            </a:r>
            <a:r>
              <a:rPr lang="en-US" dirty="0">
                <a:solidFill>
                  <a:srgbClr val="0071B2"/>
                </a:solidFill>
              </a:rPr>
              <a:t>Zeichen</a:t>
            </a:r>
            <a:r>
              <a:rPr lang="en-US" b="1" dirty="0">
                <a:solidFill>
                  <a:srgbClr val="0071B2"/>
                </a:solidFill>
              </a:rPr>
              <a:t> ") AS "</a:t>
            </a:r>
            <a:r>
              <a:rPr lang="en-US" dirty="0">
                <a:solidFill>
                  <a:srgbClr val="0071B2"/>
                </a:solidFill>
              </a:rPr>
              <a:t>Info</a:t>
            </a:r>
            <a:r>
              <a:rPr lang="en-US" b="1" dirty="0">
                <a:solidFill>
                  <a:srgbClr val="0071B2"/>
                </a:solidFill>
              </a:rPr>
              <a:t>" FROM </a:t>
            </a:r>
            <a:r>
              <a:rPr lang="en-US" dirty="0">
                <a:solidFill>
                  <a:srgbClr val="0071B2"/>
                </a:solidFill>
              </a:rPr>
              <a:t>Kunde</a:t>
            </a:r>
            <a:r>
              <a:rPr lang="en-US" b="1" dirty="0">
                <a:solidFill>
                  <a:srgbClr val="0071B2"/>
                </a:solidFill>
              </a:rPr>
              <a:t>;</a:t>
            </a:r>
            <a:endPar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pic>
        <p:nvPicPr>
          <p:cNvPr id="7" name="Grafik 6">
            <a:extLst>
              <a:ext uri="{FF2B5EF4-FFF2-40B4-BE49-F238E27FC236}">
                <a16:creationId xmlns:a16="http://schemas.microsoft.com/office/drawing/2014/main" id="{7E0E1D45-430C-4246-F7AE-68C9894AB0A2}"/>
              </a:ext>
            </a:extLst>
          </p:cNvPr>
          <p:cNvPicPr>
            <a:picLocks noChangeAspect="1"/>
          </p:cNvPicPr>
          <p:nvPr/>
        </p:nvPicPr>
        <p:blipFill>
          <a:blip r:embed="rId2"/>
          <a:stretch>
            <a:fillRect/>
          </a:stretch>
        </p:blipFill>
        <p:spPr>
          <a:xfrm>
            <a:off x="5655510" y="2046890"/>
            <a:ext cx="1421566" cy="1496689"/>
          </a:xfrm>
          <a:prstGeom prst="rect">
            <a:avLst/>
          </a:prstGeom>
          <a:effectLst>
            <a:innerShdw blurRad="114300">
              <a:prstClr val="black"/>
            </a:innerShdw>
          </a:effectLst>
        </p:spPr>
      </p:pic>
      <p:pic>
        <p:nvPicPr>
          <p:cNvPr id="10" name="Grafik 9">
            <a:extLst>
              <a:ext uri="{FF2B5EF4-FFF2-40B4-BE49-F238E27FC236}">
                <a16:creationId xmlns:a16="http://schemas.microsoft.com/office/drawing/2014/main" id="{CAE229BC-5991-6D50-8F23-73FDDD34DDAC}"/>
              </a:ext>
            </a:extLst>
          </p:cNvPr>
          <p:cNvPicPr>
            <a:picLocks noChangeAspect="1"/>
          </p:cNvPicPr>
          <p:nvPr/>
        </p:nvPicPr>
        <p:blipFill>
          <a:blip r:embed="rId3"/>
          <a:stretch>
            <a:fillRect/>
          </a:stretch>
        </p:blipFill>
        <p:spPr>
          <a:xfrm>
            <a:off x="10143840" y="4585674"/>
            <a:ext cx="1354848" cy="1367451"/>
          </a:xfrm>
          <a:prstGeom prst="rect">
            <a:avLst/>
          </a:prstGeom>
          <a:effectLst>
            <a:innerShdw blurRad="114300">
              <a:prstClr val="black"/>
            </a:innerShdw>
          </a:effectLst>
        </p:spPr>
      </p:pic>
    </p:spTree>
    <p:extLst>
      <p:ext uri="{BB962C8B-B14F-4D97-AF65-F5344CB8AC3E}">
        <p14:creationId xmlns:p14="http://schemas.microsoft.com/office/powerpoint/2010/main" val="387024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5" grpId="0"/>
      <p:bldP spid="11" grpId="0" animBg="1"/>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Übung </a:t>
            </a:r>
            <a:r>
              <a:rPr lang="de-DE" sz="2700" dirty="0">
                <a:latin typeface="Source Sans Pro" panose="020B0503030403020204" pitchFamily="34" charset="0"/>
              </a:rPr>
              <a:t>(„Live-Coding“) </a:t>
            </a:r>
            <a:r>
              <a:rPr lang="de-DE" dirty="0">
                <a:latin typeface="Source Sans Pro" panose="020B0503030403020204" pitchFamily="34" charset="0"/>
              </a:rPr>
              <a:t>-&gt; </a:t>
            </a:r>
            <a:r>
              <a:rPr lang="de-DE" dirty="0">
                <a:solidFill>
                  <a:schemeClr val="accent2"/>
                </a:solidFill>
                <a:latin typeface="Source Sans Pro" panose="020B0503030403020204" pitchFamily="34" charset="0"/>
              </a:rPr>
              <a:t>A_04_02_01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3" name="Grafik 2"/>
          <p:cNvPicPr>
            <a:picLocks noChangeAspect="1"/>
          </p:cNvPicPr>
          <p:nvPr/>
        </p:nvPicPr>
        <p:blipFill>
          <a:blip r:embed="rId2"/>
          <a:stretch>
            <a:fillRect/>
          </a:stretch>
        </p:blipFill>
        <p:spPr>
          <a:xfrm>
            <a:off x="4741921" y="1346662"/>
            <a:ext cx="3109035" cy="4424396"/>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1715</Words>
  <Application>Microsoft Office PowerPoint</Application>
  <PresentationFormat>Breitbild</PresentationFormat>
  <Paragraphs>306</Paragraphs>
  <Slides>24</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24</vt:i4>
      </vt:variant>
    </vt:vector>
  </HeadingPairs>
  <TitlesOfParts>
    <vt:vector size="30" baseType="lpstr">
      <vt:lpstr>Arial</vt:lpstr>
      <vt:lpstr>Calibri</vt:lpstr>
      <vt:lpstr>Courier New</vt:lpstr>
      <vt:lpstr>Source Sans Pro</vt:lpstr>
      <vt:lpstr>Wingdings</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Gemeinsame Übung („Live-Coding“) -&gt; A_04_02_01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Peter Schwertner</cp:lastModifiedBy>
  <cp:revision>721</cp:revision>
  <dcterms:created xsi:type="dcterms:W3CDTF">2022-02-01T13:48:14Z</dcterms:created>
  <dcterms:modified xsi:type="dcterms:W3CDTF">2026-02-18T16:00:47Z</dcterms:modified>
</cp:coreProperties>
</file>