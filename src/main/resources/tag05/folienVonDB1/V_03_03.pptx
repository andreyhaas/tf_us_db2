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64" r:id="rId6"/>
    <p:sldId id="365" r:id="rId7"/>
    <p:sldId id="366" r:id="rId8"/>
    <p:sldId id="367" r:id="rId9"/>
    <p:sldId id="368" r:id="rId10"/>
    <p:sldId id="370" r:id="rId11"/>
    <p:sldId id="372" r:id="rId12"/>
    <p:sldId id="369" r:id="rId13"/>
    <p:sldId id="371" r:id="rId14"/>
    <p:sldId id="373" r:id="rId15"/>
    <p:sldId id="374" r:id="rId16"/>
    <p:sldId id="375" r:id="rId17"/>
    <p:sldId id="376" r:id="rId18"/>
    <p:sldId id="377"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277" r:id="rId32"/>
    <p:sldId id="259"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13.07.2022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13.07.2022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13.07.2022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13.07.2022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13.07.2022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13.07.2022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13.07.2022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13.07.2022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13.07.2022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13.07.2022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13.07.2022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13.07.2022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3 - Tag </a:t>
            </a:r>
            <a:r>
              <a:rPr lang="de-DE" dirty="0">
                <a:latin typeface="Source Sans Pro" panose="020B0503030403020204" pitchFamily="34" charset="0"/>
              </a:rPr>
              <a:t>3</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995743"/>
            <a:ext cx="10713719" cy="4431983"/>
          </a:xfrm>
          <a:prstGeom prst="rect">
            <a:avLst/>
          </a:prstGeom>
          <a:noFill/>
        </p:spPr>
        <p:txBody>
          <a:bodyPr wrap="square" rtlCol="0">
            <a:spAutoFit/>
          </a:bodyPr>
          <a:lstStyle/>
          <a:p>
            <a:endParaRPr lang="de-DE" b="1" dirty="0" smtClean="0">
              <a:latin typeface="Source Sans Pro" panose="020B0503030403020204" pitchFamily="34" charset="0"/>
            </a:endParaRPr>
          </a:p>
          <a:p>
            <a:endParaRPr lang="de-DE" sz="800" b="1" dirty="0" smtClean="0">
              <a:latin typeface="Source Sans Pro" panose="020B0503030403020204" pitchFamily="34" charset="0"/>
            </a:endParaRPr>
          </a:p>
          <a:p>
            <a:pPr lvl="1"/>
            <a:r>
              <a:rPr lang="de-DE" sz="2400" b="1" dirty="0" smtClean="0">
                <a:latin typeface="Source Sans Pro" panose="020B0503030403020204" pitchFamily="34" charset="0"/>
              </a:rPr>
              <a:t>Aggregatfunktionen</a:t>
            </a:r>
          </a:p>
          <a:p>
            <a:pPr lvl="1"/>
            <a:endParaRPr lang="de-DE" sz="800" b="1" dirty="0" smtClean="0">
              <a:latin typeface="Source Sans Pro" panose="020B0503030403020204" pitchFamily="34" charset="0"/>
            </a:endParaRP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Definition + Motivation</a:t>
            </a: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Ausgabe nicht-gruppierter Einzelwerte</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MIN</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MAX</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COUNT</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SUM</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AVG</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Stolperfallen + „schlechter Stil</a:t>
            </a:r>
            <a:r>
              <a:rPr lang="de-DE" sz="1200" dirty="0" smtClean="0">
                <a:solidFill>
                  <a:srgbClr val="0071B2"/>
                </a:solidFill>
                <a:latin typeface="Source Sans Pro" panose="020B0503030403020204" pitchFamily="34" charset="0"/>
              </a:rPr>
              <a:t>“</a:t>
            </a:r>
          </a:p>
          <a:p>
            <a:pPr lvl="3"/>
            <a:endParaRPr lang="de-DE" sz="800" dirty="0" smtClean="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smtClean="0">
                <a:solidFill>
                  <a:srgbClr val="0071B2"/>
                </a:solidFill>
                <a:latin typeface="Source Sans Pro" panose="020B0503030403020204" pitchFamily="34" charset="0"/>
              </a:rPr>
              <a:t>Gruppierung</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Definition + Motivation</a:t>
            </a:r>
            <a:endParaRPr lang="de-DE" sz="1200" dirty="0">
              <a:solidFill>
                <a:srgbClr val="0071B2"/>
              </a:solidFill>
              <a:latin typeface="Source Sans Pro" panose="020B0503030403020204" pitchFamily="34" charset="0"/>
            </a:endParaRP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Beispiele</a:t>
            </a:r>
          </a:p>
          <a:p>
            <a:pPr lvl="3"/>
            <a:endParaRPr lang="de-DE" sz="800" dirty="0" smtClean="0">
              <a:latin typeface="Source Sans Pro" panose="020B0503030403020204" pitchFamily="34" charset="0"/>
            </a:endParaRPr>
          </a:p>
          <a:p>
            <a:pPr marL="1200150" lvl="2" indent="-285750">
              <a:buFont typeface="Courier New" panose="02070309020205020404" pitchFamily="49" charset="0"/>
              <a:buChar char="o"/>
            </a:pPr>
            <a:r>
              <a:rPr lang="de-DE" dirty="0" smtClean="0">
                <a:latin typeface="Source Sans Pro" panose="020B0503030403020204" pitchFamily="34" charset="0"/>
              </a:rPr>
              <a:t>HAVING-Klausel</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Definition + Motivation</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Beispiele</a:t>
            </a: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5400" dirty="0" smtClean="0">
                <a:latin typeface="Source Sans Pro" panose="020B0503030403020204" pitchFamily="34" charset="0"/>
              </a:rPr>
              <a:t>Aggregatfunktionen</a:t>
            </a:r>
            <a:endParaRPr lang="de-DE" sz="54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03071" y="1004312"/>
            <a:ext cx="10976310" cy="51398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„Aggregieren“ bedeutet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„anhäufen“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oder</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auch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„zusammenfügen“</a:t>
            </a:r>
            <a:r>
              <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Genau dies leisten Aggregatfunktionen, die Werte (z.B. zu einer Summe) zusammenfassen.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Im Gegensatz zu den meisten bisherigen SQL-Befehlen, bei denen eine Schleife gestartet wurde, um (unter Berücksichtigung etwaiger Bedingungen) die jeweils verlangte Funktionalität PRO Datensatz auszuführen, kann die Ausgabe bei Aggregatfunktion nicht für jeden einzelnen Datensatz geschehen, sondern gelingt erst </a:t>
            </a:r>
            <a:r>
              <a:rPr lang="de-DE" sz="2400" b="1" dirty="0" smtClean="0">
                <a:solidFill>
                  <a:srgbClr val="0071B2"/>
                </a:solidFill>
                <a:latin typeface="Source Sans Pro" panose="020B0503030403020204" pitchFamily="34" charset="0"/>
              </a:rPr>
              <a:t>NACH Durchsicht </a:t>
            </a:r>
            <a:r>
              <a:rPr lang="de-DE" sz="2400" dirty="0" smtClean="0">
                <a:solidFill>
                  <a:srgbClr val="0071B2"/>
                </a:solidFill>
                <a:latin typeface="Source Sans Pro" panose="020B0503030403020204" pitchFamily="34" charset="0"/>
              </a:rPr>
              <a:t>aller (anzusprechenden) Datensätze.</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Aggregatfunktionen sind mathematische Funktionen. Damit ist die Motivation für deren Einsatz aber offensichtlich, denn natürlich ist eine </a:t>
            </a:r>
            <a:r>
              <a:rPr lang="de-DE" sz="2400" b="1" baseline="0" dirty="0" smtClean="0">
                <a:solidFill>
                  <a:srgbClr val="0071B2"/>
                </a:solidFill>
                <a:latin typeface="Source Sans Pro" panose="020B0503030403020204" pitchFamily="34" charset="0"/>
              </a:rPr>
              <a:t>mathematische Analyse</a:t>
            </a:r>
            <a:r>
              <a:rPr lang="de-DE" sz="2400" b="1"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der in einer Datenbank gelisteten (Zahlen)-Werte oft von großer Bedeutung.</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Aggregatfunktionen können in Einzelfällen auch auf </a:t>
            </a:r>
            <a:r>
              <a:rPr lang="de-DE" sz="2400" b="1" dirty="0" smtClean="0">
                <a:solidFill>
                  <a:srgbClr val="0071B2"/>
                </a:solidFill>
                <a:latin typeface="Source Sans Pro" panose="020B0503030403020204" pitchFamily="34" charset="0"/>
              </a:rPr>
              <a:t>Nicht-Zahlen Typen </a:t>
            </a:r>
            <a:r>
              <a:rPr lang="de-DE" sz="2400" dirty="0" smtClean="0">
                <a:solidFill>
                  <a:srgbClr val="0071B2"/>
                </a:solidFill>
                <a:latin typeface="Source Sans Pro" panose="020B0503030403020204" pitchFamily="34" charset="0"/>
              </a:rPr>
              <a:t>angewendet werden. </a:t>
            </a:r>
            <a:r>
              <a:rPr lang="de-DE" sz="2000" dirty="0" smtClean="0">
                <a:solidFill>
                  <a:srgbClr val="0071B2"/>
                </a:solidFill>
                <a:latin typeface="Source Sans Pro" panose="020B0503030403020204" pitchFamily="34" charset="0"/>
              </a:rPr>
              <a:t>Möglichkeiten und Grenzen werden wir im Folgenden betrachten.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3600" dirty="0" smtClean="0">
                <a:latin typeface="Source Sans Pro" panose="020B0503030403020204" pitchFamily="34" charset="0"/>
              </a:rPr>
              <a:t>Nicht-gruppierte Einzelwerte</a:t>
            </a:r>
            <a:endParaRPr lang="de-DE" sz="3600" dirty="0">
              <a:latin typeface="Source Sans Pro" panose="020B0503030403020204" pitchFamily="34" charset="0"/>
            </a:endParaRPr>
          </a:p>
        </p:txBody>
      </p:sp>
    </p:spTree>
    <p:extLst>
      <p:ext uri="{BB962C8B-B14F-4D97-AF65-F5344CB8AC3E}">
        <p14:creationId xmlns:p14="http://schemas.microsoft.com/office/powerpoint/2010/main" val="27649933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9244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smtClean="0">
                <a:solidFill>
                  <a:srgbClr val="0071B2"/>
                </a:solidFill>
                <a:latin typeface="Source Sans Pro" panose="020B0503030403020204" pitchFamily="34" charset="0"/>
              </a:rPr>
              <a:t>(Nicht-gruppierte) Aggregatfunktionen beziehen sich auf alle Datensätze, die </a:t>
            </a:r>
            <a:r>
              <a:rPr lang="de-DE" u="sng" dirty="0" smtClean="0">
                <a:solidFill>
                  <a:srgbClr val="0071B2"/>
                </a:solidFill>
                <a:latin typeface="Source Sans Pro" panose="020B0503030403020204" pitchFamily="34" charset="0"/>
              </a:rPr>
              <a:t>ohne</a:t>
            </a:r>
            <a:r>
              <a:rPr lang="de-DE" dirty="0" smtClean="0">
                <a:solidFill>
                  <a:srgbClr val="0071B2"/>
                </a:solidFill>
                <a:latin typeface="Source Sans Pro" panose="020B0503030403020204" pitchFamily="34" charset="0"/>
              </a:rPr>
              <a:t> Aggregatfunktion ausgegeben worden wären. Hierzu ein erstes Beispiel an Hand der MIN-Funktion, die (natürlich) das </a:t>
            </a:r>
            <a:r>
              <a:rPr lang="de-DE" b="1" dirty="0" smtClean="0">
                <a:solidFill>
                  <a:srgbClr val="0071B2"/>
                </a:solidFill>
                <a:latin typeface="Source Sans Pro" panose="020B0503030403020204" pitchFamily="34" charset="0"/>
              </a:rPr>
              <a:t>Minimum</a:t>
            </a:r>
            <a:r>
              <a:rPr lang="de-DE" dirty="0" smtClean="0">
                <a:solidFill>
                  <a:srgbClr val="0071B2"/>
                </a:solidFill>
                <a:latin typeface="Source Sans Pro" panose="020B0503030403020204" pitchFamily="34" charset="0"/>
              </a:rPr>
              <a:t> ermittelt:</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Kunde_ID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Kunde</a:t>
            </a:r>
            <a:r>
              <a:rPr lang="de-DE" dirty="0" smtClean="0">
                <a:solidFill>
                  <a:srgbClr val="0071B2"/>
                </a:solidFill>
                <a:latin typeface="Source Sans Pro" panose="020B0503030403020204" pitchFamily="34" charset="0"/>
              </a:rPr>
              <a:t>;</a:t>
            </a: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MIN(</a:t>
            </a:r>
            <a:r>
              <a:rPr lang="de-DE" dirty="0" smtClean="0">
                <a:solidFill>
                  <a:srgbClr val="0071B2"/>
                </a:solidFill>
                <a:latin typeface="Source Sans Pro" panose="020B0503030403020204" pitchFamily="34" charset="0"/>
              </a:rPr>
              <a:t>Kunde_ID</a:t>
            </a:r>
            <a:r>
              <a:rPr lang="de-DE" b="1" dirty="0" smtClean="0">
                <a:solidFill>
                  <a:schemeClr val="accent2"/>
                </a:solidFill>
                <a:latin typeface="Source Sans Pro" panose="020B0503030403020204" pitchFamily="34" charset="0"/>
              </a:rPr>
              <a:t>)</a:t>
            </a:r>
            <a:r>
              <a:rPr lang="de-DE"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Kunde</a:t>
            </a:r>
            <a:r>
              <a:rPr lang="de-DE" dirty="0" smtClean="0">
                <a:solidFill>
                  <a:srgbClr val="0071B2"/>
                </a:solidFill>
                <a:latin typeface="Source Sans Pro" panose="020B0503030403020204" pitchFamily="34" charset="0"/>
              </a:rPr>
              <a:t>;</a:t>
            </a:r>
          </a:p>
          <a:p>
            <a:pPr>
              <a:defRPr/>
            </a:pPr>
            <a:endParaRPr lang="de-DE" dirty="0">
              <a:solidFill>
                <a:srgbClr val="0071B2"/>
              </a:solidFill>
              <a:latin typeface="Source Sans Pro" panose="020B0503030403020204" pitchFamily="34" charset="0"/>
            </a:endParaRPr>
          </a:p>
          <a:p>
            <a:pPr>
              <a:defRPr/>
            </a:pPr>
            <a:endParaRPr lang="de-DE" dirty="0" smtClean="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Falls einem die Überschrift nicht gefällt:</a:t>
            </a:r>
          </a:p>
          <a:p>
            <a:pPr>
              <a:defRPr/>
            </a:pPr>
            <a:r>
              <a:rPr lang="de-DE" b="1" dirty="0" smtClean="0">
                <a:solidFill>
                  <a:srgbClr val="0071B2"/>
                </a:solidFill>
                <a:latin typeface="Source Sans Pro" panose="020B0503030403020204" pitchFamily="34" charset="0"/>
              </a:rPr>
              <a:t>SELECT</a:t>
            </a:r>
            <a:r>
              <a:rPr lang="de-DE" dirty="0" smtClean="0">
                <a:solidFill>
                  <a:srgbClr val="0071B2"/>
                </a:solidFill>
                <a:latin typeface="Source Sans Pro" panose="020B0503030403020204" pitchFamily="34" charset="0"/>
              </a:rPr>
              <a:t> </a:t>
            </a:r>
            <a:r>
              <a:rPr lang="de-DE" b="1" dirty="0">
                <a:latin typeface="Source Sans Pro" panose="020B0503030403020204" pitchFamily="34" charset="0"/>
              </a:rPr>
              <a:t>MIN(</a:t>
            </a:r>
            <a:r>
              <a:rPr lang="de-DE" dirty="0">
                <a:latin typeface="Source Sans Pro" panose="020B0503030403020204" pitchFamily="34" charset="0"/>
              </a:rPr>
              <a:t>Kunde_ID</a:t>
            </a:r>
            <a:r>
              <a:rPr lang="de-DE" b="1" dirty="0">
                <a:latin typeface="Source Sans Pro" panose="020B0503030403020204" pitchFamily="34" charset="0"/>
              </a:rPr>
              <a:t>)</a:t>
            </a:r>
            <a:r>
              <a:rPr lang="de-DE" dirty="0">
                <a:latin typeface="Source Sans Pro" panose="020B0503030403020204" pitchFamily="34" charset="0"/>
              </a:rPr>
              <a:t> </a:t>
            </a:r>
            <a:r>
              <a:rPr lang="de-DE" b="1" dirty="0">
                <a:solidFill>
                  <a:schemeClr val="accent2"/>
                </a:solidFill>
                <a:latin typeface="Source Sans Pro" panose="020B0503030403020204" pitchFamily="34" charset="0"/>
              </a:rPr>
              <a:t>AS</a:t>
            </a:r>
            <a:r>
              <a:rPr lang="de-DE" dirty="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a:t>
            </a:r>
            <a:r>
              <a:rPr lang="de-DE" dirty="0" smtClean="0">
                <a:solidFill>
                  <a:srgbClr val="0071B2"/>
                </a:solidFill>
                <a:latin typeface="Source Sans Pro" panose="020B0503030403020204" pitchFamily="34" charset="0"/>
              </a:rPr>
              <a:t>Kleinste </a:t>
            </a:r>
            <a:r>
              <a:rPr lang="de-DE" dirty="0">
                <a:solidFill>
                  <a:srgbClr val="0071B2"/>
                </a:solidFill>
                <a:latin typeface="Source Sans Pro" panose="020B0503030403020204" pitchFamily="34" charset="0"/>
              </a:rPr>
              <a:t>Kunden-ID</a:t>
            </a:r>
            <a:r>
              <a:rPr lang="de-DE" b="1" dirty="0" smtClean="0">
                <a:solidFill>
                  <a:schemeClr val="accent2"/>
                </a:solidFill>
                <a:latin typeface="Source Sans Pro" panose="020B0503030403020204" pitchFamily="34" charset="0"/>
              </a:rPr>
              <a:t>"</a:t>
            </a:r>
            <a:r>
              <a:rPr lang="de-DE" dirty="0" smtClean="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FROM</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Kunde;</a:t>
            </a: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Aggregatfunktion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MIN(…)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4562994" y="2153488"/>
            <a:ext cx="526517" cy="1609466"/>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4688377" y="4128120"/>
            <a:ext cx="997181" cy="385274"/>
          </a:xfrm>
          <a:prstGeom prst="rect">
            <a:avLst/>
          </a:prstGeom>
          <a:effectLst>
            <a:innerShdw blurRad="114300">
              <a:prstClr val="black"/>
            </a:innerShdw>
          </a:effectLst>
        </p:spPr>
      </p:pic>
      <p:sp>
        <p:nvSpPr>
          <p:cNvPr id="7" name="Geschweifte Klammer rechts 6"/>
          <p:cNvSpPr/>
          <p:nvPr/>
        </p:nvSpPr>
        <p:spPr>
          <a:xfrm>
            <a:off x="5186967" y="2286000"/>
            <a:ext cx="176885" cy="147695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9" name="Textfeld 8"/>
          <p:cNvSpPr txBox="1"/>
          <p:nvPr/>
        </p:nvSpPr>
        <p:spPr>
          <a:xfrm>
            <a:off x="5598367" y="2810472"/>
            <a:ext cx="4380879" cy="461665"/>
          </a:xfrm>
          <a:prstGeom prst="rect">
            <a:avLst/>
          </a:prstGeom>
          <a:noFill/>
        </p:spPr>
        <p:txBody>
          <a:bodyPr wrap="none" rtlCol="0">
            <a:spAutoFit/>
          </a:bodyPr>
          <a:lstStyle/>
          <a:p>
            <a:r>
              <a:rPr lang="de-DE" sz="1200" dirty="0" smtClean="0"/>
              <a:t>Dies sind die Datensätze, die (in diesem Fall) ausgegeben werden,</a:t>
            </a:r>
          </a:p>
          <a:p>
            <a:r>
              <a:rPr lang="de-DE" sz="1200" dirty="0" smtClean="0"/>
              <a:t>wenn man auf den Einsatz einer Aggregatfunktion </a:t>
            </a:r>
            <a:r>
              <a:rPr lang="de-DE" sz="1200" b="1" dirty="0" smtClean="0"/>
              <a:t>verzichtet</a:t>
            </a:r>
            <a:r>
              <a:rPr lang="de-DE" sz="1200" dirty="0" smtClean="0"/>
              <a:t>.</a:t>
            </a:r>
            <a:endParaRPr lang="de-DE" sz="1200" dirty="0"/>
          </a:p>
        </p:txBody>
      </p:sp>
      <p:sp>
        <p:nvSpPr>
          <p:cNvPr id="11" name="Textfeld 10"/>
          <p:cNvSpPr txBox="1"/>
          <p:nvPr/>
        </p:nvSpPr>
        <p:spPr>
          <a:xfrm>
            <a:off x="5748547" y="4306085"/>
            <a:ext cx="3557512" cy="276999"/>
          </a:xfrm>
          <a:prstGeom prst="rect">
            <a:avLst/>
          </a:prstGeom>
          <a:noFill/>
        </p:spPr>
        <p:txBody>
          <a:bodyPr wrap="none" rtlCol="0">
            <a:spAutoFit/>
          </a:bodyPr>
          <a:lstStyle/>
          <a:p>
            <a:r>
              <a:rPr lang="de-DE" sz="1200" dirty="0" smtClean="0"/>
              <a:t>Dies ist das </a:t>
            </a:r>
            <a:r>
              <a:rPr lang="de-DE" sz="1200" b="1" dirty="0" smtClean="0"/>
              <a:t>Minimum</a:t>
            </a:r>
            <a:r>
              <a:rPr lang="de-DE" sz="1200" dirty="0" smtClean="0"/>
              <a:t> aller (oben dargestellten) Werte</a:t>
            </a:r>
            <a:endParaRPr lang="de-DE" sz="1200" dirty="0"/>
          </a:p>
        </p:txBody>
      </p:sp>
      <p:pic>
        <p:nvPicPr>
          <p:cNvPr id="10" name="Grafik 9"/>
          <p:cNvPicPr>
            <a:picLocks noChangeAspect="1"/>
          </p:cNvPicPr>
          <p:nvPr/>
        </p:nvPicPr>
        <p:blipFill>
          <a:blip r:embed="rId4"/>
          <a:stretch>
            <a:fillRect/>
          </a:stretch>
        </p:blipFill>
        <p:spPr>
          <a:xfrm>
            <a:off x="7157650" y="5236673"/>
            <a:ext cx="1230572" cy="380359"/>
          </a:xfrm>
          <a:prstGeom prst="rect">
            <a:avLst/>
          </a:prstGeom>
          <a:effectLst>
            <a:innerShdw blurRad="114300">
              <a:prstClr val="black"/>
            </a:innerShdw>
          </a:effectLst>
        </p:spPr>
      </p:pic>
    </p:spTree>
    <p:extLst>
      <p:ext uri="{BB962C8B-B14F-4D97-AF65-F5344CB8AC3E}">
        <p14:creationId xmlns:p14="http://schemas.microsoft.com/office/powerpoint/2010/main" val="313201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52014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smtClean="0">
                <a:solidFill>
                  <a:srgbClr val="0071B2"/>
                </a:solidFill>
                <a:latin typeface="Source Sans Pro" panose="020B0503030403020204" pitchFamily="34" charset="0"/>
              </a:rPr>
              <a:t>Für das Ergebnis einer Aggregatfunktion ist es (wie bei jeder mathematischen Funktion) von zentraler Bedeutung, auf welche Werte sich die jeweilige Aggregatfunktion bezieht. Daher ein weiteres Beispiel dazu:</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b="1" dirty="0" smtClean="0">
                <a:solidFill>
                  <a:srgbClr val="0071B2"/>
                </a:solidFill>
                <a:latin typeface="Source Sans Pro" panose="020B0503030403020204" pitchFamily="34" charset="0"/>
              </a:rPr>
              <a:t>SELECT</a:t>
            </a:r>
            <a:r>
              <a:rPr lang="de-DE" dirty="0" smtClean="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Produkt</a:t>
            </a:r>
          </a:p>
          <a:p>
            <a:pPr lvl="0">
              <a:defRPr/>
            </a:pPr>
            <a:r>
              <a:rPr lang="de-DE" b="1" dirty="0" smtClean="0">
                <a:solidFill>
                  <a:srgbClr val="0071B2"/>
                </a:solidFill>
                <a:latin typeface="Source Sans Pro" panose="020B0503030403020204" pitchFamily="34" charset="0"/>
              </a:rPr>
              <a:t>WHERE</a:t>
            </a:r>
            <a:r>
              <a:rPr lang="de-DE" dirty="0" smtClean="0">
                <a:solidFill>
                  <a:srgbClr val="0071B2"/>
                </a:solidFill>
                <a:latin typeface="Source Sans Pro" panose="020B0503030403020204" pitchFamily="34" charset="0"/>
              </a:rPr>
              <a:t> Produkt_ID </a:t>
            </a:r>
            <a:r>
              <a:rPr lang="de-DE" b="1" dirty="0" smtClean="0">
                <a:solidFill>
                  <a:srgbClr val="0071B2"/>
                </a:solidFill>
                <a:latin typeface="Source Sans Pro" panose="020B0503030403020204" pitchFamily="34" charset="0"/>
              </a:rPr>
              <a:t>&gt; </a:t>
            </a:r>
            <a:r>
              <a:rPr lang="de-DE" dirty="0" smtClean="0">
                <a:solidFill>
                  <a:srgbClr val="0071B2"/>
                </a:solidFill>
                <a:latin typeface="Source Sans Pro" panose="020B0503030403020204" pitchFamily="34" charset="0"/>
              </a:rPr>
              <a:t>3;</a:t>
            </a: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MIN(</a:t>
            </a:r>
            <a:r>
              <a:rPr lang="de-DE" dirty="0" smtClean="0">
                <a:solidFill>
                  <a:srgbClr val="0071B2"/>
                </a:solidFill>
                <a:latin typeface="Source Sans Pro" panose="020B0503030403020204" pitchFamily="34" charset="0"/>
              </a:rPr>
              <a:t>Euro_Preis</a:t>
            </a:r>
            <a:r>
              <a:rPr lang="de-DE" b="1" dirty="0" smtClean="0">
                <a:solidFill>
                  <a:schemeClr val="accent2"/>
                </a:solidFill>
                <a:latin typeface="Source Sans Pro" panose="020B0503030403020204" pitchFamily="34" charset="0"/>
              </a:rPr>
              <a:t>)</a:t>
            </a:r>
            <a:r>
              <a:rPr lang="de-DE"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Produkt</a:t>
            </a:r>
          </a:p>
          <a:p>
            <a:pPr>
              <a:defRPr/>
            </a:pPr>
            <a:r>
              <a:rPr lang="de-DE" b="1" dirty="0" smtClean="0">
                <a:solidFill>
                  <a:srgbClr val="0071B2"/>
                </a:solidFill>
                <a:latin typeface="Source Sans Pro" panose="020B0503030403020204" pitchFamily="34" charset="0"/>
              </a:rPr>
              <a:t>WHERE</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Produkt_ID </a:t>
            </a:r>
            <a:r>
              <a:rPr lang="de-DE" b="1" dirty="0">
                <a:solidFill>
                  <a:srgbClr val="0071B2"/>
                </a:solidFill>
                <a:latin typeface="Source Sans Pro" panose="020B0503030403020204" pitchFamily="34" charset="0"/>
              </a:rPr>
              <a:t>&gt; </a:t>
            </a:r>
            <a:r>
              <a:rPr lang="de-DE" dirty="0">
                <a:solidFill>
                  <a:srgbClr val="0071B2"/>
                </a:solidFill>
                <a:latin typeface="Source Sans Pro" panose="020B0503030403020204" pitchFamily="34" charset="0"/>
              </a:rPr>
              <a:t>3;</a:t>
            </a:r>
          </a:p>
          <a:p>
            <a:pPr>
              <a:defRPr/>
            </a:pPr>
            <a:endParaRPr lang="de-DE" dirty="0" smtClean="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Keine Angst vor langen Überschriften ;-)</a:t>
            </a:r>
          </a:p>
          <a:p>
            <a:pPr lvl="0">
              <a:defRPr/>
            </a:pP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MIN(</a:t>
            </a:r>
            <a:r>
              <a:rPr lang="de-DE" dirty="0">
                <a:latin typeface="Source Sans Pro" panose="020B0503030403020204" pitchFamily="34" charset="0"/>
              </a:rPr>
              <a:t>Euro_Preis</a:t>
            </a:r>
            <a:r>
              <a:rPr lang="de-DE" b="1" dirty="0">
                <a:latin typeface="Source Sans Pro" panose="020B0503030403020204" pitchFamily="34" charset="0"/>
              </a:rPr>
              <a:t>)</a:t>
            </a:r>
            <a:r>
              <a:rPr lang="de-DE" dirty="0">
                <a:latin typeface="Source Sans Pro" panose="020B0503030403020204" pitchFamily="34" charset="0"/>
              </a:rPr>
              <a:t> </a:t>
            </a:r>
            <a:r>
              <a:rPr lang="de-DE" b="1" dirty="0">
                <a:solidFill>
                  <a:schemeClr val="accent2"/>
                </a:solidFill>
                <a:latin typeface="Source Sans Pro" panose="020B0503030403020204" pitchFamily="34" charset="0"/>
              </a:rPr>
              <a:t>AS</a:t>
            </a:r>
            <a:r>
              <a:rPr lang="de-DE" dirty="0">
                <a:solidFill>
                  <a:srgbClr val="0071B2"/>
                </a:solidFill>
                <a:latin typeface="Source Sans Pro" panose="020B0503030403020204" pitchFamily="34" charset="0"/>
              </a:rPr>
              <a:t> </a:t>
            </a:r>
            <a:r>
              <a:rPr lang="de-DE" b="1" dirty="0">
                <a:solidFill>
                  <a:schemeClr val="accent2"/>
                </a:solidFill>
                <a:latin typeface="Source Sans Pro" panose="020B0503030403020204" pitchFamily="34" charset="0"/>
              </a:rPr>
              <a:t>"</a:t>
            </a:r>
            <a:r>
              <a:rPr lang="de-DE" dirty="0" smtClean="0">
                <a:solidFill>
                  <a:srgbClr val="0071B2"/>
                </a:solidFill>
                <a:latin typeface="Source Sans Pro" panose="020B0503030403020204" pitchFamily="34" charset="0"/>
              </a:rPr>
              <a:t>Kleinster Preis aller Produkte mit ID &gt;3</a:t>
            </a:r>
            <a:r>
              <a:rPr lang="de-DE" b="1" dirty="0" smtClean="0">
                <a:solidFill>
                  <a:schemeClr val="accent2"/>
                </a:solidFill>
                <a:latin typeface="Source Sans Pro" panose="020B0503030403020204" pitchFamily="34" charset="0"/>
              </a:rPr>
              <a:t>"</a:t>
            </a:r>
            <a:r>
              <a:rPr lang="de-DE" dirty="0" smtClean="0">
                <a:latin typeface="Source Sans Pro" panose="020B0503030403020204" pitchFamily="34" charset="0"/>
              </a:rPr>
              <a:t> </a:t>
            </a:r>
            <a:r>
              <a:rPr lang="de-DE" b="1" dirty="0" smtClean="0">
                <a:solidFill>
                  <a:srgbClr val="0071B2"/>
                </a:solidFill>
                <a:latin typeface="Source Sans Pro" panose="020B0503030403020204" pitchFamily="34" charset="0"/>
              </a:rPr>
              <a:t>FROM</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Produkt</a:t>
            </a:r>
          </a:p>
          <a:p>
            <a:pPr>
              <a:defRPr/>
            </a:pP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Produkt_ID </a:t>
            </a:r>
            <a:r>
              <a:rPr lang="de-DE" b="1" dirty="0">
                <a:solidFill>
                  <a:srgbClr val="0071B2"/>
                </a:solidFill>
                <a:latin typeface="Source Sans Pro" panose="020B0503030403020204" pitchFamily="34" charset="0"/>
              </a:rPr>
              <a:t>&gt; </a:t>
            </a:r>
            <a:r>
              <a:rPr lang="de-DE" dirty="0">
                <a:solidFill>
                  <a:srgbClr val="0071B2"/>
                </a:solidFill>
                <a:latin typeface="Source Sans Pro" panose="020B0503030403020204" pitchFamily="34" charset="0"/>
              </a:rPr>
              <a:t>3;</a:t>
            </a: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Aggregatfunktion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MIN(…)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
        <p:nvSpPr>
          <p:cNvPr id="7" name="Geschweifte Klammer rechts 6"/>
          <p:cNvSpPr/>
          <p:nvPr/>
        </p:nvSpPr>
        <p:spPr>
          <a:xfrm>
            <a:off x="5437680" y="2585020"/>
            <a:ext cx="148473" cy="1128833"/>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9" name="Textfeld 8"/>
          <p:cNvSpPr txBox="1"/>
          <p:nvPr/>
        </p:nvSpPr>
        <p:spPr>
          <a:xfrm>
            <a:off x="5758246" y="2933137"/>
            <a:ext cx="4380879" cy="461665"/>
          </a:xfrm>
          <a:prstGeom prst="rect">
            <a:avLst/>
          </a:prstGeom>
          <a:noFill/>
        </p:spPr>
        <p:txBody>
          <a:bodyPr wrap="none" rtlCol="0">
            <a:spAutoFit/>
          </a:bodyPr>
          <a:lstStyle/>
          <a:p>
            <a:r>
              <a:rPr lang="de-DE" sz="1200" dirty="0" smtClean="0"/>
              <a:t>Dies sind die Datensätze, die (in diesem Fall) ausgegeben werden,</a:t>
            </a:r>
          </a:p>
          <a:p>
            <a:r>
              <a:rPr lang="de-DE" sz="1200" dirty="0" smtClean="0"/>
              <a:t>wenn man auf den Einsatz einer Aggregatfunktion </a:t>
            </a:r>
            <a:r>
              <a:rPr lang="de-DE" sz="1200" b="1" dirty="0" smtClean="0"/>
              <a:t>verzichtet</a:t>
            </a:r>
            <a:r>
              <a:rPr lang="de-DE" sz="1200" dirty="0" smtClean="0"/>
              <a:t>.</a:t>
            </a:r>
            <a:endParaRPr lang="de-DE" sz="1200" dirty="0"/>
          </a:p>
        </p:txBody>
      </p:sp>
      <p:sp>
        <p:nvSpPr>
          <p:cNvPr id="11" name="Textfeld 10"/>
          <p:cNvSpPr txBox="1"/>
          <p:nvPr/>
        </p:nvSpPr>
        <p:spPr>
          <a:xfrm>
            <a:off x="5951468" y="4498907"/>
            <a:ext cx="3557512" cy="276999"/>
          </a:xfrm>
          <a:prstGeom prst="rect">
            <a:avLst/>
          </a:prstGeom>
          <a:noFill/>
        </p:spPr>
        <p:txBody>
          <a:bodyPr wrap="none" rtlCol="0">
            <a:spAutoFit/>
          </a:bodyPr>
          <a:lstStyle/>
          <a:p>
            <a:r>
              <a:rPr lang="de-DE" sz="1200" dirty="0" smtClean="0"/>
              <a:t>Dies ist das </a:t>
            </a:r>
            <a:r>
              <a:rPr lang="de-DE" sz="1200" b="1" dirty="0" smtClean="0"/>
              <a:t>Minimum</a:t>
            </a:r>
            <a:r>
              <a:rPr lang="de-DE" sz="1200" dirty="0" smtClean="0"/>
              <a:t> aller (oben dargestellten) Werte</a:t>
            </a:r>
            <a:endParaRPr lang="de-DE" sz="1200" dirty="0"/>
          </a:p>
        </p:txBody>
      </p:sp>
      <p:pic>
        <p:nvPicPr>
          <p:cNvPr id="13" name="Grafik 12"/>
          <p:cNvPicPr>
            <a:picLocks noChangeAspect="1"/>
          </p:cNvPicPr>
          <p:nvPr/>
        </p:nvPicPr>
        <p:blipFill>
          <a:blip r:embed="rId2"/>
          <a:stretch>
            <a:fillRect/>
          </a:stretch>
        </p:blipFill>
        <p:spPr>
          <a:xfrm>
            <a:off x="4380868" y="2256848"/>
            <a:ext cx="933450" cy="1476954"/>
          </a:xfrm>
          <a:prstGeom prst="rect">
            <a:avLst/>
          </a:prstGeom>
          <a:effectLst>
            <a:innerShdw blurRad="114300">
              <a:prstClr val="black"/>
            </a:innerShdw>
          </a:effectLst>
        </p:spPr>
      </p:pic>
      <p:pic>
        <p:nvPicPr>
          <p:cNvPr id="14" name="Grafik 13"/>
          <p:cNvPicPr>
            <a:picLocks noChangeAspect="1"/>
          </p:cNvPicPr>
          <p:nvPr/>
        </p:nvPicPr>
        <p:blipFill>
          <a:blip r:embed="rId3"/>
          <a:stretch>
            <a:fillRect/>
          </a:stretch>
        </p:blipFill>
        <p:spPr>
          <a:xfrm>
            <a:off x="4867908" y="4320942"/>
            <a:ext cx="1083560" cy="416150"/>
          </a:xfrm>
          <a:prstGeom prst="rect">
            <a:avLst/>
          </a:prstGeom>
          <a:effectLst>
            <a:innerShdw blurRad="114300">
              <a:prstClr val="black"/>
            </a:innerShdw>
          </a:effectLst>
        </p:spPr>
      </p:pic>
      <p:pic>
        <p:nvPicPr>
          <p:cNvPr id="15" name="Grafik 14"/>
          <p:cNvPicPr>
            <a:picLocks noChangeAspect="1"/>
          </p:cNvPicPr>
          <p:nvPr/>
        </p:nvPicPr>
        <p:blipFill>
          <a:blip r:embed="rId4"/>
          <a:stretch>
            <a:fillRect/>
          </a:stretch>
        </p:blipFill>
        <p:spPr>
          <a:xfrm>
            <a:off x="9181322" y="5411971"/>
            <a:ext cx="2451230" cy="378276"/>
          </a:xfrm>
          <a:prstGeom prst="rect">
            <a:avLst/>
          </a:prstGeom>
          <a:effectLst>
            <a:innerShdw blurRad="114300">
              <a:prstClr val="black"/>
            </a:innerShdw>
          </a:effectLst>
        </p:spPr>
      </p:pic>
    </p:spTree>
    <p:extLst>
      <p:ext uri="{BB962C8B-B14F-4D97-AF65-F5344CB8AC3E}">
        <p14:creationId xmlns:p14="http://schemas.microsoft.com/office/powerpoint/2010/main" val="193519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smtClean="0">
                <a:solidFill>
                  <a:srgbClr val="0071B2"/>
                </a:solidFill>
                <a:latin typeface="Source Sans Pro" panose="020B0503030403020204" pitchFamily="34" charset="0"/>
              </a:rPr>
              <a:t>Wie schon bei ORDER BY können wir auch bei der Aggregatfunktion MIN vom „kleinsten“ Datum (=ältestes Datum) oder auch von einem „kleinsten“ Text (alphabetisch betrachtet „der erste“) sprechen:</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a:t>
            </a:r>
            <a:r>
              <a:rPr lang="de-DE" sz="2400" b="1" dirty="0">
                <a:solidFill>
                  <a:srgbClr val="0071B2"/>
                </a:solidFill>
                <a:latin typeface="Source Sans Pro" panose="020B0503030403020204" pitchFamily="34" charset="0"/>
              </a:rPr>
              <a:t>MIN(</a:t>
            </a:r>
            <a:r>
              <a:rPr lang="de-DE" sz="2400" dirty="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MIN(</a:t>
            </a:r>
            <a:r>
              <a:rPr lang="de-DE" sz="2400" dirty="0">
                <a:solidFill>
                  <a:srgbClr val="0071B2"/>
                </a:solidFill>
                <a:latin typeface="Source Sans Pro" panose="020B0503030403020204" pitchFamily="34" charset="0"/>
              </a:rPr>
              <a:t>Hersteller_Name) </a:t>
            </a:r>
            <a:r>
              <a:rPr lang="de-DE" sz="2400" b="1" dirty="0">
                <a:solidFill>
                  <a:srgbClr val="0071B2"/>
                </a:solidFill>
                <a:latin typeface="Source Sans Pro" panose="020B0503030403020204" pitchFamily="34" charset="0"/>
              </a:rPr>
              <a:t>FROM</a:t>
            </a:r>
            <a:r>
              <a:rPr lang="de-DE" sz="2400" dirty="0">
                <a:solidFill>
                  <a:srgbClr val="0071B2"/>
                </a:solidFill>
                <a:latin typeface="Source Sans Pro" panose="020B0503030403020204" pitchFamily="34" charset="0"/>
              </a:rPr>
              <a:t> Hersteller</a:t>
            </a:r>
            <a:r>
              <a:rPr lang="de-DE" sz="2400" b="1" dirty="0">
                <a:solidFill>
                  <a:srgbClr val="0071B2"/>
                </a:solidFill>
                <a:latin typeface="Source Sans Pro" panose="020B0503030403020204" pitchFamily="34" charset="0"/>
              </a:rPr>
              <a:t>;</a:t>
            </a: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MIN(…)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andere Typen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6349167" y="2495766"/>
            <a:ext cx="990600" cy="504825"/>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339767" y="3619011"/>
            <a:ext cx="1771650" cy="485775"/>
          </a:xfrm>
          <a:prstGeom prst="rect">
            <a:avLst/>
          </a:prstGeom>
          <a:effectLst>
            <a:innerShdw blurRad="114300">
              <a:prstClr val="black"/>
            </a:innerShdw>
          </a:effectLst>
        </p:spPr>
      </p:pic>
    </p:spTree>
    <p:extLst>
      <p:ext uri="{BB962C8B-B14F-4D97-AF65-F5344CB8AC3E}">
        <p14:creationId xmlns:p14="http://schemas.microsoft.com/office/powerpoint/2010/main" val="360490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MAX</a:t>
            </a:r>
            <a:r>
              <a:rPr lang="de-DE" dirty="0" smtClean="0">
                <a:solidFill>
                  <a:srgbClr val="0071B2"/>
                </a:solidFill>
                <a:latin typeface="Source Sans Pro" panose="020B0503030403020204" pitchFamily="34" charset="0"/>
              </a:rPr>
              <a:t> ermittelt (wie zu erwarten </a:t>
            </a:r>
            <a:r>
              <a:rPr lang="de-DE" dirty="0" smtClean="0">
                <a:solidFill>
                  <a:srgbClr val="0071B2"/>
                </a:solidFill>
                <a:latin typeface="Source Sans Pro" panose="020B0503030403020204" pitchFamily="34" charset="0"/>
                <a:sym typeface="Wingdings" panose="05000000000000000000" pitchFamily="2" charset="2"/>
              </a:rPr>
              <a:t></a:t>
            </a:r>
            <a:r>
              <a:rPr lang="de-DE" dirty="0" smtClean="0">
                <a:solidFill>
                  <a:srgbClr val="0071B2"/>
                </a:solidFill>
                <a:latin typeface="Source Sans Pro" panose="020B0503030403020204" pitchFamily="34" charset="0"/>
              </a:rPr>
              <a:t>) das </a:t>
            </a:r>
            <a:r>
              <a:rPr lang="de-DE" b="1" dirty="0" smtClean="0">
                <a:solidFill>
                  <a:srgbClr val="0071B2"/>
                </a:solidFill>
                <a:latin typeface="Source Sans Pro" panose="020B0503030403020204" pitchFamily="34" charset="0"/>
              </a:rPr>
              <a:t>Maximum</a:t>
            </a:r>
            <a:r>
              <a:rPr lang="de-DE" dirty="0" smtClean="0">
                <a:solidFill>
                  <a:srgbClr val="0071B2"/>
                </a:solidFill>
                <a:latin typeface="Source Sans Pro" panose="020B0503030403020204" pitchFamily="34" charset="0"/>
              </a:rPr>
              <a:t> aller betrachteten Werte. Es gelten die entsprechenden Aussagen, die wir bereits bei der Funktion MIN  kennenlernten. Wir betrachten 3 Beispiele:</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MAX(</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Hersteller_Name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a:t>
            </a:r>
            <a:r>
              <a:rPr lang="de-DE" sz="2400" dirty="0">
                <a:solidFill>
                  <a:srgbClr val="0071B2"/>
                </a:solidFill>
                <a:latin typeface="Source Sans Pro" panose="020B0503030403020204" pitchFamily="34" charset="0"/>
              </a:rPr>
              <a:t> Hersteller</a:t>
            </a:r>
            <a:r>
              <a:rPr lang="de-DE" sz="2400" b="1" dirty="0">
                <a:solidFill>
                  <a:srgbClr val="0071B2"/>
                </a:solidFill>
                <a:latin typeface="Source Sans Pro" panose="020B0503030403020204" pitchFamily="34" charset="0"/>
              </a:rPr>
              <a:t>;</a:t>
            </a: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MAX(…)</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332542" y="2271929"/>
            <a:ext cx="1400175" cy="47625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6508754" y="2975451"/>
            <a:ext cx="1047750" cy="485775"/>
          </a:xfrm>
          <a:prstGeom prst="rect">
            <a:avLst/>
          </a:prstGeom>
          <a:effectLst>
            <a:innerShdw blurRad="114300">
              <a:prstClr val="black"/>
            </a:innerShdw>
          </a:effectLst>
        </p:spPr>
      </p:pic>
      <p:pic>
        <p:nvPicPr>
          <p:cNvPr id="10" name="Grafik 9"/>
          <p:cNvPicPr>
            <a:picLocks noChangeAspect="1"/>
          </p:cNvPicPr>
          <p:nvPr/>
        </p:nvPicPr>
        <p:blipFill>
          <a:blip r:embed="rId4"/>
          <a:stretch>
            <a:fillRect/>
          </a:stretch>
        </p:blipFill>
        <p:spPr>
          <a:xfrm>
            <a:off x="7351776" y="3688499"/>
            <a:ext cx="1828800" cy="523875"/>
          </a:xfrm>
          <a:prstGeom prst="rect">
            <a:avLst/>
          </a:prstGeom>
          <a:effectLst>
            <a:innerShdw blurRad="114300">
              <a:prstClr val="black"/>
            </a:innerShdw>
          </a:effectLst>
        </p:spPr>
      </p:pic>
      <p:sp>
        <p:nvSpPr>
          <p:cNvPr id="13" name="Rechteck 12"/>
          <p:cNvSpPr/>
          <p:nvPr/>
        </p:nvSpPr>
        <p:spPr>
          <a:xfrm>
            <a:off x="174538" y="4401546"/>
            <a:ext cx="11870575" cy="151336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Bemerkung:</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bg2"/>
                </a:solidFill>
                <a:latin typeface="Source Sans Pro" panose="020B0503030403020204" pitchFamily="34" charset="0"/>
              </a:rPr>
              <a:t>Die MIN- und MAX-Funktionen können vordergründig durch ORDER BY … [DESC] LIMIT 1 ersetzt werden.</a:t>
            </a:r>
          </a:p>
          <a:p>
            <a:pPr algn="ctr"/>
            <a:r>
              <a:rPr lang="de-DE" sz="1600" dirty="0" smtClean="0">
                <a:solidFill>
                  <a:schemeClr val="bg2"/>
                </a:solidFill>
                <a:latin typeface="Source Sans Pro" panose="020B0503030403020204" pitchFamily="34" charset="0"/>
              </a:rPr>
              <a:t>Folgendes Beispiel zeigt aber, dass sie auch eine eigenständige Berechtigung haben:</a:t>
            </a:r>
          </a:p>
          <a:p>
            <a:pPr algn="ctr"/>
            <a:endParaRPr lang="de-DE" sz="800" dirty="0" smtClean="0">
              <a:solidFill>
                <a:schemeClr val="bg2"/>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SELECT MIN(</a:t>
            </a:r>
            <a:r>
              <a:rPr lang="de-DE" sz="1600" dirty="0" smtClean="0">
                <a:solidFill>
                  <a:schemeClr val="bg2"/>
                </a:solidFill>
                <a:latin typeface="Source Sans Pro" panose="020B0503030403020204" pitchFamily="34" charset="0"/>
              </a:rPr>
              <a:t>Datum</a:t>
            </a:r>
            <a:r>
              <a:rPr lang="de-DE" sz="1600" b="1" dirty="0" smtClean="0">
                <a:solidFill>
                  <a:schemeClr val="bg2"/>
                </a:solidFill>
                <a:latin typeface="Source Sans Pro" panose="020B0503030403020204" pitchFamily="34" charset="0"/>
              </a:rPr>
              <a:t>), </a:t>
            </a:r>
            <a:r>
              <a:rPr lang="de-DE" sz="1600" dirty="0" smtClean="0">
                <a:solidFill>
                  <a:schemeClr val="bg2"/>
                </a:solidFill>
                <a:latin typeface="Source Sans Pro" panose="020B0503030403020204" pitchFamily="34" charset="0"/>
              </a:rPr>
              <a:t>MAX(Datum</a:t>
            </a:r>
            <a:r>
              <a:rPr lang="de-DE" sz="1600" b="1" dirty="0" smtClean="0">
                <a:solidFill>
                  <a:schemeClr val="bg2"/>
                </a:solidFill>
                <a:latin typeface="Source Sans Pro" panose="020B0503030403020204" pitchFamily="34" charset="0"/>
              </a:rPr>
              <a:t>) FROM </a:t>
            </a:r>
            <a:r>
              <a:rPr lang="de-DE" sz="1600" dirty="0" smtClean="0">
                <a:solidFill>
                  <a:schemeClr val="bg2"/>
                </a:solidFill>
                <a:latin typeface="Source Sans Pro" panose="020B0503030403020204" pitchFamily="34" charset="0"/>
              </a:rPr>
              <a:t>Abrechnung</a:t>
            </a:r>
            <a:r>
              <a:rPr lang="de-DE" sz="1600" b="1" dirty="0" smtClean="0">
                <a:solidFill>
                  <a:schemeClr val="bg2"/>
                </a:solidFill>
                <a:latin typeface="Source Sans Pro" panose="020B0503030403020204" pitchFamily="34" charset="0"/>
              </a:rPr>
              <a:t>;</a:t>
            </a:r>
            <a:endParaRPr lang="de-DE" sz="2000" b="1" dirty="0" smtClean="0">
              <a:solidFill>
                <a:schemeClr val="bg2"/>
              </a:solidFill>
            </a:endParaRPr>
          </a:p>
          <a:p>
            <a:pPr algn="ctr"/>
            <a:r>
              <a:rPr lang="de-DE" sz="1200" dirty="0" smtClean="0">
                <a:solidFill>
                  <a:schemeClr val="bg2"/>
                </a:solidFill>
              </a:rPr>
              <a:t>.</a:t>
            </a:r>
            <a:endParaRPr lang="de-DE" sz="1200" dirty="0">
              <a:solidFill>
                <a:schemeClr val="bg2"/>
              </a:solidFill>
            </a:endParaRPr>
          </a:p>
        </p:txBody>
      </p:sp>
    </p:spTree>
    <p:extLst>
      <p:ext uri="{BB962C8B-B14F-4D97-AF65-F5344CB8AC3E}">
        <p14:creationId xmlns:p14="http://schemas.microsoft.com/office/powerpoint/2010/main" val="247686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MAX</a:t>
            </a:r>
            <a:r>
              <a:rPr lang="de-DE" dirty="0" smtClean="0">
                <a:solidFill>
                  <a:srgbClr val="0071B2"/>
                </a:solidFill>
                <a:latin typeface="Source Sans Pro" panose="020B0503030403020204" pitchFamily="34" charset="0"/>
              </a:rPr>
              <a:t> ermittelt (wie zu erwarten </a:t>
            </a:r>
            <a:r>
              <a:rPr lang="de-DE" dirty="0" smtClean="0">
                <a:solidFill>
                  <a:srgbClr val="0071B2"/>
                </a:solidFill>
                <a:latin typeface="Source Sans Pro" panose="020B0503030403020204" pitchFamily="34" charset="0"/>
                <a:sym typeface="Wingdings" panose="05000000000000000000" pitchFamily="2" charset="2"/>
              </a:rPr>
              <a:t></a:t>
            </a:r>
            <a:r>
              <a:rPr lang="de-DE" dirty="0" smtClean="0">
                <a:solidFill>
                  <a:srgbClr val="0071B2"/>
                </a:solidFill>
                <a:latin typeface="Source Sans Pro" panose="020B0503030403020204" pitchFamily="34" charset="0"/>
              </a:rPr>
              <a:t>) das </a:t>
            </a:r>
            <a:r>
              <a:rPr lang="de-DE" b="1" dirty="0" smtClean="0">
                <a:solidFill>
                  <a:srgbClr val="0071B2"/>
                </a:solidFill>
                <a:latin typeface="Source Sans Pro" panose="020B0503030403020204" pitchFamily="34" charset="0"/>
              </a:rPr>
              <a:t>Maximum</a:t>
            </a:r>
            <a:r>
              <a:rPr lang="de-DE" dirty="0" smtClean="0">
                <a:solidFill>
                  <a:srgbClr val="0071B2"/>
                </a:solidFill>
                <a:latin typeface="Source Sans Pro" panose="020B0503030403020204" pitchFamily="34" charset="0"/>
              </a:rPr>
              <a:t> aller betrachteten Werte. Es gelten die entsprechenden Aussagen, die wir bereits bei der Funktion MIN  kennenlernten. Wir betrachten 3 Beispiele:</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MAX(</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Hersteller_Name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a:t>
            </a:r>
            <a:r>
              <a:rPr lang="de-DE" sz="2400" dirty="0">
                <a:solidFill>
                  <a:srgbClr val="0071B2"/>
                </a:solidFill>
                <a:latin typeface="Source Sans Pro" panose="020B0503030403020204" pitchFamily="34" charset="0"/>
              </a:rPr>
              <a:t> Hersteller</a:t>
            </a:r>
            <a:r>
              <a:rPr lang="de-DE" sz="2400" b="1" dirty="0">
                <a:solidFill>
                  <a:srgbClr val="0071B2"/>
                </a:solidFill>
                <a:latin typeface="Source Sans Pro" panose="020B0503030403020204" pitchFamily="34" charset="0"/>
              </a:rPr>
              <a:t>;</a:t>
            </a: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MAX(…)</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332542" y="2271929"/>
            <a:ext cx="1400175" cy="47625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6508754" y="2975451"/>
            <a:ext cx="1047750" cy="485775"/>
          </a:xfrm>
          <a:prstGeom prst="rect">
            <a:avLst/>
          </a:prstGeom>
          <a:effectLst>
            <a:innerShdw blurRad="114300">
              <a:prstClr val="black"/>
            </a:innerShdw>
          </a:effectLst>
        </p:spPr>
      </p:pic>
      <p:pic>
        <p:nvPicPr>
          <p:cNvPr id="10" name="Grafik 9"/>
          <p:cNvPicPr>
            <a:picLocks noChangeAspect="1"/>
          </p:cNvPicPr>
          <p:nvPr/>
        </p:nvPicPr>
        <p:blipFill>
          <a:blip r:embed="rId4"/>
          <a:stretch>
            <a:fillRect/>
          </a:stretch>
        </p:blipFill>
        <p:spPr>
          <a:xfrm>
            <a:off x="7351776" y="3688499"/>
            <a:ext cx="1828800" cy="523875"/>
          </a:xfrm>
          <a:prstGeom prst="rect">
            <a:avLst/>
          </a:prstGeom>
          <a:effectLst>
            <a:innerShdw blurRad="114300">
              <a:prstClr val="black"/>
            </a:innerShdw>
          </a:effectLst>
        </p:spPr>
      </p:pic>
      <p:sp>
        <p:nvSpPr>
          <p:cNvPr id="13" name="Rechteck 12"/>
          <p:cNvSpPr/>
          <p:nvPr/>
        </p:nvSpPr>
        <p:spPr>
          <a:xfrm>
            <a:off x="174538" y="4401546"/>
            <a:ext cx="11870575" cy="151336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Bemerkung:</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Die MIN- und MAX-Funktionen können vordergründig durch ORDER BY … [DESC] LIMIT 1 ersetzt werden.</a:t>
            </a:r>
          </a:p>
          <a:p>
            <a:pPr algn="ctr"/>
            <a:r>
              <a:rPr lang="de-DE" sz="1600" dirty="0" smtClean="0">
                <a:solidFill>
                  <a:schemeClr val="tx1"/>
                </a:solidFill>
                <a:latin typeface="Source Sans Pro" panose="020B0503030403020204" pitchFamily="34" charset="0"/>
              </a:rPr>
              <a:t>Folgendes Beispiel zeigt aber, dass sie auch eine eigenständige Berechtigung haben:</a:t>
            </a:r>
          </a:p>
          <a:p>
            <a:pPr algn="ctr"/>
            <a:endParaRPr lang="de-DE" sz="800" dirty="0">
              <a:solidFill>
                <a:schemeClr val="tx1"/>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SELECT MIN(</a:t>
            </a:r>
            <a:r>
              <a:rPr lang="de-DE" sz="1600" dirty="0" smtClean="0">
                <a:solidFill>
                  <a:schemeClr val="bg2"/>
                </a:solidFill>
                <a:latin typeface="Source Sans Pro" panose="020B0503030403020204" pitchFamily="34" charset="0"/>
              </a:rPr>
              <a:t>Datum</a:t>
            </a:r>
            <a:r>
              <a:rPr lang="de-DE" sz="1600" b="1" dirty="0" smtClean="0">
                <a:solidFill>
                  <a:schemeClr val="bg2"/>
                </a:solidFill>
                <a:latin typeface="Source Sans Pro" panose="020B0503030403020204" pitchFamily="34" charset="0"/>
              </a:rPr>
              <a:t>), </a:t>
            </a:r>
            <a:r>
              <a:rPr lang="de-DE" sz="1600" dirty="0" smtClean="0">
                <a:solidFill>
                  <a:schemeClr val="bg2"/>
                </a:solidFill>
                <a:latin typeface="Source Sans Pro" panose="020B0503030403020204" pitchFamily="34" charset="0"/>
              </a:rPr>
              <a:t>MAX(Datum</a:t>
            </a:r>
            <a:r>
              <a:rPr lang="de-DE" sz="1600" b="1" dirty="0" smtClean="0">
                <a:solidFill>
                  <a:schemeClr val="bg2"/>
                </a:solidFill>
                <a:latin typeface="Source Sans Pro" panose="020B0503030403020204" pitchFamily="34" charset="0"/>
              </a:rPr>
              <a:t>) FROM </a:t>
            </a:r>
            <a:r>
              <a:rPr lang="de-DE" sz="1600" dirty="0" smtClean="0">
                <a:solidFill>
                  <a:schemeClr val="bg2"/>
                </a:solidFill>
                <a:latin typeface="Source Sans Pro" panose="020B0503030403020204" pitchFamily="34" charset="0"/>
              </a:rPr>
              <a:t>Abrechnung</a:t>
            </a:r>
            <a:r>
              <a:rPr lang="de-DE" sz="1600" b="1" dirty="0" smtClean="0">
                <a:solidFill>
                  <a:schemeClr val="bg2"/>
                </a:solidFill>
                <a:latin typeface="Source Sans Pro" panose="020B0503030403020204" pitchFamily="34" charset="0"/>
              </a:rPr>
              <a:t>;</a:t>
            </a:r>
            <a:endParaRPr lang="de-DE" sz="2000" b="1" dirty="0" smtClean="0">
              <a:solidFill>
                <a:schemeClr val="bg2"/>
              </a:solidFill>
            </a:endParaRPr>
          </a:p>
          <a:p>
            <a:pPr algn="ctr"/>
            <a:r>
              <a:rPr lang="de-DE" sz="1200" dirty="0" smtClean="0">
                <a:solidFill>
                  <a:schemeClr val="bg2"/>
                </a:solidFill>
              </a:rPr>
              <a:t>.</a:t>
            </a:r>
            <a:endParaRPr lang="de-DE" sz="1200" dirty="0">
              <a:solidFill>
                <a:schemeClr val="bg2"/>
              </a:solidFill>
            </a:endParaRPr>
          </a:p>
        </p:txBody>
      </p:sp>
    </p:spTree>
    <p:extLst>
      <p:ext uri="{BB962C8B-B14F-4D97-AF65-F5344CB8AC3E}">
        <p14:creationId xmlns:p14="http://schemas.microsoft.com/office/powerpoint/2010/main" val="6454216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MAX</a:t>
            </a:r>
            <a:r>
              <a:rPr lang="de-DE" dirty="0" smtClean="0">
                <a:solidFill>
                  <a:srgbClr val="0071B2"/>
                </a:solidFill>
                <a:latin typeface="Source Sans Pro" panose="020B0503030403020204" pitchFamily="34" charset="0"/>
              </a:rPr>
              <a:t> ermittelt (wie zu erwarten </a:t>
            </a:r>
            <a:r>
              <a:rPr lang="de-DE" dirty="0" smtClean="0">
                <a:solidFill>
                  <a:srgbClr val="0071B2"/>
                </a:solidFill>
                <a:latin typeface="Source Sans Pro" panose="020B0503030403020204" pitchFamily="34" charset="0"/>
                <a:sym typeface="Wingdings" panose="05000000000000000000" pitchFamily="2" charset="2"/>
              </a:rPr>
              <a:t></a:t>
            </a:r>
            <a:r>
              <a:rPr lang="de-DE" dirty="0" smtClean="0">
                <a:solidFill>
                  <a:srgbClr val="0071B2"/>
                </a:solidFill>
                <a:latin typeface="Source Sans Pro" panose="020B0503030403020204" pitchFamily="34" charset="0"/>
              </a:rPr>
              <a:t>) das </a:t>
            </a:r>
            <a:r>
              <a:rPr lang="de-DE" b="1" dirty="0" smtClean="0">
                <a:solidFill>
                  <a:srgbClr val="0071B2"/>
                </a:solidFill>
                <a:latin typeface="Source Sans Pro" panose="020B0503030403020204" pitchFamily="34" charset="0"/>
              </a:rPr>
              <a:t>Maximum</a:t>
            </a:r>
            <a:r>
              <a:rPr lang="de-DE" dirty="0" smtClean="0">
                <a:solidFill>
                  <a:srgbClr val="0071B2"/>
                </a:solidFill>
                <a:latin typeface="Source Sans Pro" panose="020B0503030403020204" pitchFamily="34" charset="0"/>
              </a:rPr>
              <a:t> aller betrachteten Werte. Es gelten die entsprechenden Aussagen, die wir bereits bei der Funktion MIN  kennenlernten. Wir betrachten 3 Beispiele:</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MAX(</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Hersteller_Name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a:t>
            </a:r>
            <a:r>
              <a:rPr lang="de-DE" sz="2400" dirty="0">
                <a:solidFill>
                  <a:srgbClr val="0071B2"/>
                </a:solidFill>
                <a:latin typeface="Source Sans Pro" panose="020B0503030403020204" pitchFamily="34" charset="0"/>
              </a:rPr>
              <a:t> Hersteller</a:t>
            </a:r>
            <a:r>
              <a:rPr lang="de-DE" sz="2400" b="1" dirty="0">
                <a:solidFill>
                  <a:srgbClr val="0071B2"/>
                </a:solidFill>
                <a:latin typeface="Source Sans Pro" panose="020B0503030403020204" pitchFamily="34" charset="0"/>
              </a:rPr>
              <a:t>;</a:t>
            </a: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MAX(…)</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332542" y="2271929"/>
            <a:ext cx="1400175" cy="47625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6508754" y="2975451"/>
            <a:ext cx="1047750" cy="485775"/>
          </a:xfrm>
          <a:prstGeom prst="rect">
            <a:avLst/>
          </a:prstGeom>
          <a:effectLst>
            <a:innerShdw blurRad="114300">
              <a:prstClr val="black"/>
            </a:innerShdw>
          </a:effectLst>
        </p:spPr>
      </p:pic>
      <p:pic>
        <p:nvPicPr>
          <p:cNvPr id="10" name="Grafik 9"/>
          <p:cNvPicPr>
            <a:picLocks noChangeAspect="1"/>
          </p:cNvPicPr>
          <p:nvPr/>
        </p:nvPicPr>
        <p:blipFill>
          <a:blip r:embed="rId4"/>
          <a:stretch>
            <a:fillRect/>
          </a:stretch>
        </p:blipFill>
        <p:spPr>
          <a:xfrm>
            <a:off x="7351776" y="3688499"/>
            <a:ext cx="1828800" cy="523875"/>
          </a:xfrm>
          <a:prstGeom prst="rect">
            <a:avLst/>
          </a:prstGeom>
          <a:effectLst>
            <a:innerShdw blurRad="114300">
              <a:prstClr val="black"/>
            </a:innerShdw>
          </a:effectLst>
        </p:spPr>
      </p:pic>
      <p:sp>
        <p:nvSpPr>
          <p:cNvPr id="13" name="Rechteck 12"/>
          <p:cNvSpPr/>
          <p:nvPr/>
        </p:nvSpPr>
        <p:spPr>
          <a:xfrm>
            <a:off x="174538" y="4401546"/>
            <a:ext cx="11870575" cy="151336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Bemerkung:</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Die MIN- und MAX-Funktionen können vordergründig durch ORDER BY … [DESC] LIMIT 1 ersetzt werden.</a:t>
            </a:r>
          </a:p>
          <a:p>
            <a:pPr algn="ctr"/>
            <a:r>
              <a:rPr lang="de-DE" sz="1600" dirty="0" smtClean="0">
                <a:solidFill>
                  <a:schemeClr val="tx1"/>
                </a:solidFill>
                <a:latin typeface="Source Sans Pro" panose="020B0503030403020204" pitchFamily="34" charset="0"/>
              </a:rPr>
              <a:t>Folgendes Beispiel zeigt aber, dass sie auch eine eigenständige Berechtigung haben:</a:t>
            </a:r>
          </a:p>
          <a:p>
            <a:pPr algn="ctr"/>
            <a:endParaRPr lang="de-DE" sz="800" dirty="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SELECT MIN(</a:t>
            </a:r>
            <a:r>
              <a:rPr lang="de-DE" sz="1600" dirty="0" smtClean="0">
                <a:solidFill>
                  <a:schemeClr val="tx1"/>
                </a:solidFill>
                <a:latin typeface="Source Sans Pro" panose="020B0503030403020204" pitchFamily="34" charset="0"/>
              </a:rPr>
              <a:t>Datum</a:t>
            </a:r>
            <a:r>
              <a:rPr lang="de-DE" sz="1600" b="1" dirty="0" smtClean="0">
                <a:solidFill>
                  <a:schemeClr val="tx1"/>
                </a:solidFill>
                <a:latin typeface="Source Sans Pro" panose="020B0503030403020204" pitchFamily="34" charset="0"/>
              </a:rPr>
              <a:t>), MAX</a:t>
            </a:r>
            <a:r>
              <a:rPr lang="de-DE" sz="1600" dirty="0" smtClean="0">
                <a:solidFill>
                  <a:schemeClr val="tx1"/>
                </a:solidFill>
                <a:latin typeface="Source Sans Pro" panose="020B0503030403020204" pitchFamily="34" charset="0"/>
              </a:rPr>
              <a:t>(Datum</a:t>
            </a:r>
            <a:r>
              <a:rPr lang="de-DE" sz="1600" b="1" dirty="0" smtClean="0">
                <a:solidFill>
                  <a:schemeClr val="tx1"/>
                </a:solidFill>
                <a:latin typeface="Source Sans Pro" panose="020B0503030403020204" pitchFamily="34" charset="0"/>
              </a:rPr>
              <a:t>) FROM </a:t>
            </a:r>
            <a:r>
              <a:rPr lang="de-DE" sz="1600" dirty="0" smtClean="0">
                <a:solidFill>
                  <a:schemeClr val="tx1"/>
                </a:solidFill>
                <a:latin typeface="Source Sans Pro" panose="020B0503030403020204" pitchFamily="34" charset="0"/>
              </a:rPr>
              <a:t>Abrechnung</a:t>
            </a:r>
            <a:r>
              <a:rPr lang="de-DE" sz="1600" b="1" dirty="0" smtClean="0">
                <a:solidFill>
                  <a:schemeClr val="tx1"/>
                </a:solidFill>
                <a:latin typeface="Source Sans Pro" panose="020B0503030403020204" pitchFamily="34" charset="0"/>
              </a:rPr>
              <a:t>;</a:t>
            </a:r>
            <a:endParaRPr lang="de-DE" sz="2000" b="1" dirty="0" smtClean="0">
              <a:solidFill>
                <a:schemeClr val="tx1"/>
              </a:solidFill>
            </a:endParaRPr>
          </a:p>
          <a:p>
            <a:pPr algn="ctr"/>
            <a:r>
              <a:rPr lang="de-DE" sz="1200" dirty="0" smtClean="0">
                <a:solidFill>
                  <a:schemeClr val="tx1"/>
                </a:solidFill>
              </a:rPr>
              <a:t>.</a:t>
            </a:r>
            <a:endParaRPr lang="de-DE" sz="1200" dirty="0">
              <a:solidFill>
                <a:schemeClr val="tx1"/>
              </a:solidFill>
            </a:endParaRPr>
          </a:p>
        </p:txBody>
      </p:sp>
      <p:pic>
        <p:nvPicPr>
          <p:cNvPr id="11" name="Grafik 10"/>
          <p:cNvPicPr>
            <a:picLocks noChangeAspect="1"/>
          </p:cNvPicPr>
          <p:nvPr/>
        </p:nvPicPr>
        <p:blipFill>
          <a:blip r:embed="rId5"/>
          <a:stretch>
            <a:fillRect/>
          </a:stretch>
        </p:blipFill>
        <p:spPr>
          <a:xfrm>
            <a:off x="8548399" y="5489474"/>
            <a:ext cx="2171700" cy="457200"/>
          </a:xfrm>
          <a:prstGeom prst="rect">
            <a:avLst/>
          </a:prstGeom>
          <a:effectLst>
            <a:innerShdw blurRad="114300">
              <a:prstClr val="black"/>
            </a:innerShdw>
          </a:effectLst>
        </p:spPr>
      </p:pic>
    </p:spTree>
    <p:extLst>
      <p:ext uri="{BB962C8B-B14F-4D97-AF65-F5344CB8AC3E}">
        <p14:creationId xmlns:p14="http://schemas.microsoft.com/office/powerpoint/2010/main" val="341246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37240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COUNT(</a:t>
            </a:r>
            <a:r>
              <a:rPr lang="de-DE" dirty="0" smtClean="0">
                <a:solidFill>
                  <a:srgbClr val="0071B2"/>
                </a:solidFill>
                <a:latin typeface="Source Sans Pro" panose="020B0503030403020204" pitchFamily="34" charset="0"/>
              </a:rPr>
              <a:t>Attribut</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zählt alle Einträge des Attributs, deren Wert </a:t>
            </a:r>
            <a:r>
              <a:rPr lang="de-DE" b="1" dirty="0" smtClean="0">
                <a:solidFill>
                  <a:srgbClr val="0071B2"/>
                </a:solidFill>
                <a:latin typeface="Source Sans Pro" panose="020B0503030403020204" pitchFamily="34" charset="0"/>
              </a:rPr>
              <a:t>ungleich NULL</a:t>
            </a:r>
            <a:r>
              <a:rPr lang="de-DE" dirty="0" smtClean="0">
                <a:solidFill>
                  <a:srgbClr val="0071B2"/>
                </a:solidFill>
                <a:latin typeface="Source Sans Pro" panose="020B0503030403020204" pitchFamily="34" charset="0"/>
              </a:rPr>
              <a:t> ist.</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COUNT(</a:t>
            </a:r>
            <a:r>
              <a:rPr lang="de-DE" sz="2400" dirty="0" smtClean="0">
                <a:solidFill>
                  <a:srgbClr val="0071B2"/>
                </a:solidFill>
                <a:latin typeface="Source Sans Pro" panose="020B0503030403020204" pitchFamily="34" charset="0"/>
              </a:rPr>
              <a:t>Abrechnung_ID</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COUNT(</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COUNT(*) 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COUNT(…)</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83869" y="4119252"/>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Mit </a:t>
            </a:r>
            <a:r>
              <a:rPr lang="de-DE" sz="1600" b="1" dirty="0" smtClean="0">
                <a:solidFill>
                  <a:schemeClr val="tx1"/>
                </a:solidFill>
                <a:latin typeface="Source Sans Pro" panose="020B0503030403020204" pitchFamily="34" charset="0"/>
              </a:rPr>
              <a:t>COUNT(</a:t>
            </a:r>
            <a:r>
              <a:rPr lang="de-DE" sz="1600" b="1" dirty="0" smtClean="0">
                <a:solidFill>
                  <a:schemeClr val="accent2"/>
                </a:solidFill>
                <a:latin typeface="Source Sans Pro" panose="020B0503030403020204" pitchFamily="34" charset="0"/>
              </a:rPr>
              <a:t>DISTINCT</a:t>
            </a:r>
            <a:r>
              <a:rPr lang="de-DE" sz="1600" dirty="0" smtClean="0">
                <a:solidFill>
                  <a:schemeClr val="tx1"/>
                </a:solidFill>
                <a:latin typeface="Source Sans Pro" panose="020B0503030403020204" pitchFamily="34" charset="0"/>
              </a:rPr>
              <a:t> …</a:t>
            </a:r>
            <a:r>
              <a:rPr lang="de-DE" sz="1600" b="1" dirty="0" smtClean="0">
                <a:solidFill>
                  <a:schemeClr val="tx1"/>
                </a:solidFill>
                <a:latin typeface="Source Sans Pro" panose="020B0503030403020204" pitchFamily="34" charset="0"/>
              </a:rPr>
              <a:t>)</a:t>
            </a:r>
            <a:r>
              <a:rPr lang="de-DE" sz="1600" dirty="0" smtClean="0">
                <a:solidFill>
                  <a:schemeClr val="tx1"/>
                </a:solidFill>
                <a:latin typeface="Source Sans Pro" panose="020B0503030403020204" pitchFamily="34" charset="0"/>
              </a:rPr>
              <a:t> kann die Anzahl der </a:t>
            </a:r>
            <a:r>
              <a:rPr lang="de-DE" sz="1600" u="sng" dirty="0" smtClean="0">
                <a:solidFill>
                  <a:schemeClr val="tx1"/>
                </a:solidFill>
                <a:latin typeface="Source Sans Pro" panose="020B0503030403020204" pitchFamily="34" charset="0"/>
              </a:rPr>
              <a:t>unterschiedlichen</a:t>
            </a:r>
            <a:r>
              <a:rPr lang="de-DE" sz="1600" dirty="0" smtClean="0">
                <a:solidFill>
                  <a:schemeClr val="tx1"/>
                </a:solidFill>
                <a:latin typeface="Source Sans Pro" panose="020B0503030403020204" pitchFamily="34" charset="0"/>
              </a:rPr>
              <a:t> Einträge (ungleich NULL) ermittelt werden.</a:t>
            </a:r>
          </a:p>
          <a:p>
            <a:pPr algn="ctr"/>
            <a:endParaRPr lang="de-DE" sz="1600"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Beispiel:</a:t>
            </a:r>
          </a:p>
          <a:p>
            <a:pPr algn="ctr"/>
            <a:endParaRPr lang="de-DE" sz="800" dirty="0" smtClean="0">
              <a:solidFill>
                <a:schemeClr val="bg2"/>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SELECT COUNT(</a:t>
            </a:r>
            <a:r>
              <a:rPr lang="de-DE" sz="1600" dirty="0" smtClean="0">
                <a:solidFill>
                  <a:schemeClr val="bg2"/>
                </a:solidFill>
                <a:latin typeface="Source Sans Pro" panose="020B0503030403020204" pitchFamily="34" charset="0"/>
              </a:rPr>
              <a:t>Nachname</a:t>
            </a:r>
            <a:r>
              <a:rPr lang="de-DE" sz="1600" b="1" dirty="0">
                <a:solidFill>
                  <a:schemeClr val="bg2"/>
                </a:solidFill>
                <a:latin typeface="Source Sans Pro" panose="020B0503030403020204" pitchFamily="34" charset="0"/>
              </a:rPr>
              <a:t>), </a:t>
            </a:r>
            <a:r>
              <a:rPr lang="de-DE" sz="1600" b="1" dirty="0" smtClean="0">
                <a:solidFill>
                  <a:schemeClr val="bg2"/>
                </a:solidFill>
                <a:latin typeface="Source Sans Pro" panose="020B0503030403020204" pitchFamily="34" charset="0"/>
              </a:rPr>
              <a:t>COUNT(DISTINCT </a:t>
            </a:r>
            <a:r>
              <a:rPr lang="de-DE" sz="1600" dirty="0" smtClean="0">
                <a:solidFill>
                  <a:schemeClr val="bg2"/>
                </a:solidFill>
                <a:latin typeface="Source Sans Pro" panose="020B0503030403020204" pitchFamily="34" charset="0"/>
              </a:rPr>
              <a:t>Nachname</a:t>
            </a:r>
            <a:r>
              <a:rPr lang="de-DE" sz="1600" b="1" dirty="0" smtClean="0">
                <a:solidFill>
                  <a:schemeClr val="bg2"/>
                </a:solidFill>
                <a:latin typeface="Source Sans Pro" panose="020B0503030403020204" pitchFamily="34" charset="0"/>
              </a:rPr>
              <a:t>) FROM </a:t>
            </a:r>
            <a:r>
              <a:rPr lang="de-DE" sz="1600" dirty="0" smtClean="0">
                <a:solidFill>
                  <a:schemeClr val="bg2"/>
                </a:solidFill>
                <a:latin typeface="Source Sans Pro" panose="020B0503030403020204" pitchFamily="34" charset="0"/>
              </a:rPr>
              <a:t>Kunde</a:t>
            </a:r>
            <a:r>
              <a:rPr lang="de-DE" sz="1600" b="1" dirty="0" smtClean="0">
                <a:solidFill>
                  <a:schemeClr val="bg2"/>
                </a:solidFill>
                <a:latin typeface="Source Sans Pro" panose="020B0503030403020204" pitchFamily="34" charset="0"/>
              </a:rPr>
              <a:t>;  ………………………………………….</a:t>
            </a:r>
          </a:p>
          <a:p>
            <a:pPr algn="ctr"/>
            <a:endParaRPr lang="de-DE" sz="800" b="1" dirty="0" smtClean="0">
              <a:solidFill>
                <a:schemeClr val="bg2"/>
              </a:solidFill>
              <a:latin typeface="Source Sans Pro" panose="020B0503030403020204" pitchFamily="34" charset="0"/>
            </a:endParaRPr>
          </a:p>
          <a:p>
            <a:pPr algn="ctr"/>
            <a:r>
              <a:rPr lang="de-DE" sz="1200" dirty="0">
                <a:solidFill>
                  <a:schemeClr val="bg2"/>
                </a:solidFill>
                <a:latin typeface="Source Sans Pro" panose="020B0503030403020204" pitchFamily="34" charset="0"/>
              </a:rPr>
              <a:t>(Es gibt </a:t>
            </a:r>
            <a:r>
              <a:rPr lang="de-DE" sz="1200" b="1" dirty="0">
                <a:solidFill>
                  <a:schemeClr val="bg2"/>
                </a:solidFill>
                <a:latin typeface="Source Sans Pro" panose="020B0503030403020204" pitchFamily="34" charset="0"/>
              </a:rPr>
              <a:t>7</a:t>
            </a:r>
            <a:r>
              <a:rPr lang="de-DE" sz="1200" dirty="0">
                <a:solidFill>
                  <a:schemeClr val="bg2"/>
                </a:solidFill>
                <a:latin typeface="Source Sans Pro" panose="020B0503030403020204" pitchFamily="34" charset="0"/>
              </a:rPr>
              <a:t> Kundennachnamen ungleich NULL, aber nur </a:t>
            </a:r>
            <a:r>
              <a:rPr lang="de-DE" sz="1200" b="1" dirty="0">
                <a:solidFill>
                  <a:schemeClr val="bg2"/>
                </a:solidFill>
                <a:latin typeface="Source Sans Pro" panose="020B0503030403020204" pitchFamily="34" charset="0"/>
              </a:rPr>
              <a:t>6</a:t>
            </a:r>
            <a:r>
              <a:rPr lang="de-DE" sz="1200" dirty="0">
                <a:solidFill>
                  <a:schemeClr val="bg2"/>
                </a:solidFill>
                <a:latin typeface="Source Sans Pro" panose="020B0503030403020204" pitchFamily="34" charset="0"/>
              </a:rPr>
              <a:t> unterschiedliche, da es zwei Kunden mit Nachnamen „Myrnow“ gibt</a:t>
            </a:r>
            <a:r>
              <a:rPr lang="de-DE" sz="1200" dirty="0" smtClean="0">
                <a:solidFill>
                  <a:schemeClr val="bg2"/>
                </a:solidFill>
                <a:latin typeface="Source Sans Pro" panose="020B0503030403020204" pitchFamily="34" charset="0"/>
              </a:rPr>
              <a:t>)</a:t>
            </a:r>
            <a:r>
              <a:rPr lang="de-DE" sz="1200" dirty="0" smtClean="0">
                <a:solidFill>
                  <a:schemeClr val="bg2"/>
                </a:solidFill>
              </a:rPr>
              <a:t>.</a:t>
            </a:r>
            <a:endParaRPr lang="de-DE" sz="1200" dirty="0">
              <a:solidFill>
                <a:schemeClr val="bg2"/>
              </a:solidFill>
            </a:endParaRPr>
          </a:p>
        </p:txBody>
      </p:sp>
      <p:pic>
        <p:nvPicPr>
          <p:cNvPr id="2" name="Grafik 1"/>
          <p:cNvPicPr>
            <a:picLocks noChangeAspect="1"/>
          </p:cNvPicPr>
          <p:nvPr/>
        </p:nvPicPr>
        <p:blipFill>
          <a:blip r:embed="rId2"/>
          <a:stretch>
            <a:fillRect/>
          </a:stretch>
        </p:blipFill>
        <p:spPr>
          <a:xfrm>
            <a:off x="7861675" y="1955102"/>
            <a:ext cx="1971675" cy="495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6762923" y="2713885"/>
            <a:ext cx="1276350" cy="495300"/>
          </a:xfrm>
          <a:prstGeom prst="rect">
            <a:avLst/>
          </a:prstGeom>
          <a:effectLst>
            <a:innerShdw blurRad="114300">
              <a:prstClr val="black"/>
            </a:innerShdw>
          </a:effectLst>
        </p:spPr>
      </p:pic>
      <p:pic>
        <p:nvPicPr>
          <p:cNvPr id="15" name="Grafik 14"/>
          <p:cNvPicPr>
            <a:picLocks noChangeAspect="1"/>
          </p:cNvPicPr>
          <p:nvPr/>
        </p:nvPicPr>
        <p:blipFill>
          <a:blip r:embed="rId4"/>
          <a:stretch>
            <a:fillRect/>
          </a:stretch>
        </p:blipFill>
        <p:spPr>
          <a:xfrm>
            <a:off x="6032750" y="3435434"/>
            <a:ext cx="819150" cy="466725"/>
          </a:xfrm>
          <a:prstGeom prst="rect">
            <a:avLst/>
          </a:prstGeom>
          <a:effectLst>
            <a:innerShdw blurRad="114300">
              <a:prstClr val="black"/>
            </a:innerShdw>
          </a:effectLst>
        </p:spPr>
      </p:pic>
      <p:sp>
        <p:nvSpPr>
          <p:cNvPr id="16" name="Textfeld 15"/>
          <p:cNvSpPr txBox="1"/>
          <p:nvPr/>
        </p:nvSpPr>
        <p:spPr>
          <a:xfrm>
            <a:off x="8154171" y="2747520"/>
            <a:ext cx="3600024" cy="461665"/>
          </a:xfrm>
          <a:prstGeom prst="rect">
            <a:avLst/>
          </a:prstGeom>
          <a:noFill/>
        </p:spPr>
        <p:txBody>
          <a:bodyPr wrap="none" rtlCol="0">
            <a:spAutoFit/>
          </a:bodyPr>
          <a:lstStyle/>
          <a:p>
            <a:r>
              <a:rPr lang="de-DE" sz="1200" dirty="0" smtClean="0"/>
              <a:t>Es erscheint das identische Ergebnis, da </a:t>
            </a:r>
            <a:r>
              <a:rPr lang="de-DE" sz="1200" b="1" dirty="0" smtClean="0"/>
              <a:t>kein</a:t>
            </a:r>
            <a:r>
              <a:rPr lang="de-DE" sz="1200" dirty="0" smtClean="0"/>
              <a:t> Datensatz</a:t>
            </a:r>
          </a:p>
          <a:p>
            <a:r>
              <a:rPr lang="de-DE" sz="1200" dirty="0" smtClean="0"/>
              <a:t>in Abrechnung den Kalenderdatums-Wert </a:t>
            </a:r>
            <a:r>
              <a:rPr lang="de-DE" sz="1200" b="1" dirty="0" smtClean="0"/>
              <a:t>NULL</a:t>
            </a:r>
            <a:r>
              <a:rPr lang="de-DE" sz="1200" dirty="0" smtClean="0"/>
              <a:t> hat.</a:t>
            </a:r>
            <a:endParaRPr lang="de-DE" sz="1200" dirty="0"/>
          </a:p>
        </p:txBody>
      </p:sp>
      <p:sp>
        <p:nvSpPr>
          <p:cNvPr id="17" name="Textfeld 16"/>
          <p:cNvSpPr txBox="1"/>
          <p:nvPr/>
        </p:nvSpPr>
        <p:spPr>
          <a:xfrm>
            <a:off x="6989134" y="3530297"/>
            <a:ext cx="3948966" cy="276999"/>
          </a:xfrm>
          <a:prstGeom prst="rect">
            <a:avLst/>
          </a:prstGeom>
          <a:noFill/>
        </p:spPr>
        <p:txBody>
          <a:bodyPr wrap="none" rtlCol="0">
            <a:spAutoFit/>
          </a:bodyPr>
          <a:lstStyle/>
          <a:p>
            <a:r>
              <a:rPr lang="de-DE" sz="1200" dirty="0" smtClean="0"/>
              <a:t>Alternativ kann man  auch die </a:t>
            </a:r>
            <a:r>
              <a:rPr lang="de-DE" sz="1200" b="1" dirty="0" smtClean="0"/>
              <a:t>Anzahl der Datensätze </a:t>
            </a:r>
            <a:r>
              <a:rPr lang="de-DE" sz="1200" dirty="0" smtClean="0"/>
              <a:t>zählen.</a:t>
            </a:r>
            <a:endParaRPr lang="de-DE" sz="1200" dirty="0"/>
          </a:p>
        </p:txBody>
      </p:sp>
    </p:spTree>
    <p:extLst>
      <p:ext uri="{BB962C8B-B14F-4D97-AF65-F5344CB8AC3E}">
        <p14:creationId xmlns:p14="http://schemas.microsoft.com/office/powerpoint/2010/main" val="231888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37240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COUNT(</a:t>
            </a:r>
            <a:r>
              <a:rPr lang="de-DE" dirty="0" smtClean="0">
                <a:solidFill>
                  <a:srgbClr val="0071B2"/>
                </a:solidFill>
                <a:latin typeface="Source Sans Pro" panose="020B0503030403020204" pitchFamily="34" charset="0"/>
              </a:rPr>
              <a:t>Attribut</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zählt alle Einträge des Attributs, deren Wert </a:t>
            </a:r>
            <a:r>
              <a:rPr lang="de-DE" b="1" dirty="0" smtClean="0">
                <a:solidFill>
                  <a:srgbClr val="0071B2"/>
                </a:solidFill>
                <a:latin typeface="Source Sans Pro" panose="020B0503030403020204" pitchFamily="34" charset="0"/>
              </a:rPr>
              <a:t>ungleich NULL</a:t>
            </a:r>
            <a:r>
              <a:rPr lang="de-DE" dirty="0" smtClean="0">
                <a:solidFill>
                  <a:srgbClr val="0071B2"/>
                </a:solidFill>
                <a:latin typeface="Source Sans Pro" panose="020B0503030403020204" pitchFamily="34" charset="0"/>
              </a:rPr>
              <a:t> ist.</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COUNT(</a:t>
            </a:r>
            <a:r>
              <a:rPr lang="de-DE" sz="2400" dirty="0" smtClean="0">
                <a:solidFill>
                  <a:srgbClr val="0071B2"/>
                </a:solidFill>
                <a:latin typeface="Source Sans Pro" panose="020B0503030403020204" pitchFamily="34" charset="0"/>
              </a:rPr>
              <a:t>Abrechnung_ID</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COUNT(</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COUNT(*) 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COUNT(…)</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83869" y="4119252"/>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Mit </a:t>
            </a:r>
            <a:r>
              <a:rPr lang="de-DE" sz="1600" b="1" dirty="0" smtClean="0">
                <a:solidFill>
                  <a:schemeClr val="tx1"/>
                </a:solidFill>
                <a:latin typeface="Source Sans Pro" panose="020B0503030403020204" pitchFamily="34" charset="0"/>
              </a:rPr>
              <a:t>COUNT(</a:t>
            </a:r>
            <a:r>
              <a:rPr lang="de-DE" sz="1600" b="1" dirty="0" smtClean="0">
                <a:solidFill>
                  <a:schemeClr val="accent2"/>
                </a:solidFill>
                <a:latin typeface="Source Sans Pro" panose="020B0503030403020204" pitchFamily="34" charset="0"/>
              </a:rPr>
              <a:t>DISTINCT</a:t>
            </a:r>
            <a:r>
              <a:rPr lang="de-DE" sz="1600" dirty="0" smtClean="0">
                <a:solidFill>
                  <a:schemeClr val="tx1"/>
                </a:solidFill>
                <a:latin typeface="Source Sans Pro" panose="020B0503030403020204" pitchFamily="34" charset="0"/>
              </a:rPr>
              <a:t> …</a:t>
            </a:r>
            <a:r>
              <a:rPr lang="de-DE" sz="1600" b="1" dirty="0" smtClean="0">
                <a:solidFill>
                  <a:schemeClr val="tx1"/>
                </a:solidFill>
                <a:latin typeface="Source Sans Pro" panose="020B0503030403020204" pitchFamily="34" charset="0"/>
              </a:rPr>
              <a:t>)</a:t>
            </a:r>
            <a:r>
              <a:rPr lang="de-DE" sz="1600" dirty="0" smtClean="0">
                <a:solidFill>
                  <a:schemeClr val="tx1"/>
                </a:solidFill>
                <a:latin typeface="Source Sans Pro" panose="020B0503030403020204" pitchFamily="34" charset="0"/>
              </a:rPr>
              <a:t> kann die Anzahl der </a:t>
            </a:r>
            <a:r>
              <a:rPr lang="de-DE" sz="1600" u="sng" dirty="0" smtClean="0">
                <a:solidFill>
                  <a:schemeClr val="tx1"/>
                </a:solidFill>
                <a:latin typeface="Source Sans Pro" panose="020B0503030403020204" pitchFamily="34" charset="0"/>
              </a:rPr>
              <a:t>unterschiedlichen</a:t>
            </a:r>
            <a:r>
              <a:rPr lang="de-DE" sz="1600" dirty="0" smtClean="0">
                <a:solidFill>
                  <a:schemeClr val="tx1"/>
                </a:solidFill>
                <a:latin typeface="Source Sans Pro" panose="020B0503030403020204" pitchFamily="34" charset="0"/>
              </a:rPr>
              <a:t> Einträge (ungleich NULL) ermittelt werden.</a:t>
            </a:r>
          </a:p>
          <a:p>
            <a:pPr algn="ctr"/>
            <a:endParaRPr lang="de-DE" sz="1600"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Beispiel:</a:t>
            </a:r>
          </a:p>
          <a:p>
            <a:pPr algn="ctr"/>
            <a:endParaRPr lang="de-DE" sz="800" dirty="0" smtClean="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SELECT COUNT(</a:t>
            </a:r>
            <a:r>
              <a:rPr lang="de-DE" sz="1600" dirty="0" smtClean="0">
                <a:solidFill>
                  <a:schemeClr val="tx1"/>
                </a:solidFill>
                <a:latin typeface="Source Sans Pro" panose="020B0503030403020204" pitchFamily="34" charset="0"/>
              </a:rPr>
              <a:t>Nachname</a:t>
            </a:r>
            <a:r>
              <a:rPr lang="de-DE" sz="1600" b="1" dirty="0">
                <a:solidFill>
                  <a:schemeClr val="tx1"/>
                </a:solidFill>
                <a:latin typeface="Source Sans Pro" panose="020B0503030403020204" pitchFamily="34" charset="0"/>
              </a:rPr>
              <a:t>), </a:t>
            </a:r>
            <a:r>
              <a:rPr lang="de-DE" sz="1600" b="1" dirty="0" smtClean="0">
                <a:solidFill>
                  <a:schemeClr val="tx1"/>
                </a:solidFill>
                <a:latin typeface="Source Sans Pro" panose="020B0503030403020204" pitchFamily="34" charset="0"/>
              </a:rPr>
              <a:t>COUNT(DISTINCT </a:t>
            </a:r>
            <a:r>
              <a:rPr lang="de-DE" sz="1600" dirty="0" smtClean="0">
                <a:solidFill>
                  <a:schemeClr val="tx1"/>
                </a:solidFill>
                <a:latin typeface="Source Sans Pro" panose="020B0503030403020204" pitchFamily="34" charset="0"/>
              </a:rPr>
              <a:t>Nachname</a:t>
            </a:r>
            <a:r>
              <a:rPr lang="de-DE" sz="1600" b="1" dirty="0" smtClean="0">
                <a:solidFill>
                  <a:schemeClr val="tx1"/>
                </a:solidFill>
                <a:latin typeface="Source Sans Pro" panose="020B0503030403020204" pitchFamily="34" charset="0"/>
              </a:rPr>
              <a:t>) FROM </a:t>
            </a:r>
            <a:r>
              <a:rPr lang="de-DE" sz="1600" dirty="0" smtClean="0">
                <a:solidFill>
                  <a:schemeClr val="tx1"/>
                </a:solidFill>
                <a:latin typeface="Source Sans Pro" panose="020B0503030403020204" pitchFamily="34" charset="0"/>
              </a:rPr>
              <a:t>Kunde</a:t>
            </a:r>
            <a:r>
              <a:rPr lang="de-DE" sz="1600" b="1" dirty="0" smtClean="0">
                <a:solidFill>
                  <a:schemeClr val="tx1"/>
                </a:solidFill>
                <a:latin typeface="Source Sans Pro" panose="020B0503030403020204" pitchFamily="34" charset="0"/>
              </a:rPr>
              <a:t>;  </a:t>
            </a:r>
            <a:r>
              <a:rPr lang="de-DE" sz="1600" b="1" dirty="0" smtClean="0">
                <a:solidFill>
                  <a:schemeClr val="bg2"/>
                </a:solidFill>
                <a:latin typeface="Source Sans Pro" panose="020B0503030403020204" pitchFamily="34" charset="0"/>
              </a:rPr>
              <a:t>………………………………………….</a:t>
            </a:r>
          </a:p>
          <a:p>
            <a:pPr algn="ctr"/>
            <a:endParaRPr lang="de-DE" sz="800" b="1" dirty="0" smtClean="0">
              <a:solidFill>
                <a:schemeClr val="bg2"/>
              </a:solidFill>
              <a:latin typeface="Source Sans Pro" panose="020B0503030403020204" pitchFamily="34" charset="0"/>
            </a:endParaRPr>
          </a:p>
          <a:p>
            <a:pPr algn="ctr"/>
            <a:r>
              <a:rPr lang="de-DE" sz="1200" dirty="0">
                <a:solidFill>
                  <a:schemeClr val="bg2"/>
                </a:solidFill>
                <a:latin typeface="Source Sans Pro" panose="020B0503030403020204" pitchFamily="34" charset="0"/>
              </a:rPr>
              <a:t>(Es gibt </a:t>
            </a:r>
            <a:r>
              <a:rPr lang="de-DE" sz="1200" b="1" dirty="0">
                <a:solidFill>
                  <a:schemeClr val="bg2"/>
                </a:solidFill>
                <a:latin typeface="Source Sans Pro" panose="020B0503030403020204" pitchFamily="34" charset="0"/>
              </a:rPr>
              <a:t>7</a:t>
            </a:r>
            <a:r>
              <a:rPr lang="de-DE" sz="1200" dirty="0">
                <a:solidFill>
                  <a:schemeClr val="bg2"/>
                </a:solidFill>
                <a:latin typeface="Source Sans Pro" panose="020B0503030403020204" pitchFamily="34" charset="0"/>
              </a:rPr>
              <a:t> Kundennachnamen ungleich NULL, aber nur </a:t>
            </a:r>
            <a:r>
              <a:rPr lang="de-DE" sz="1200" b="1" dirty="0">
                <a:solidFill>
                  <a:schemeClr val="bg2"/>
                </a:solidFill>
                <a:latin typeface="Source Sans Pro" panose="020B0503030403020204" pitchFamily="34" charset="0"/>
              </a:rPr>
              <a:t>6</a:t>
            </a:r>
            <a:r>
              <a:rPr lang="de-DE" sz="1200" dirty="0">
                <a:solidFill>
                  <a:schemeClr val="bg2"/>
                </a:solidFill>
                <a:latin typeface="Source Sans Pro" panose="020B0503030403020204" pitchFamily="34" charset="0"/>
              </a:rPr>
              <a:t> unterschiedliche, da es zwei Kunden mit Nachnamen „Myrnow“ gibt</a:t>
            </a:r>
            <a:r>
              <a:rPr lang="de-DE" sz="1200" dirty="0" smtClean="0">
                <a:solidFill>
                  <a:schemeClr val="bg2"/>
                </a:solidFill>
                <a:latin typeface="Source Sans Pro" panose="020B0503030403020204" pitchFamily="34" charset="0"/>
              </a:rPr>
              <a:t>)</a:t>
            </a:r>
            <a:r>
              <a:rPr lang="de-DE" sz="1200" dirty="0" smtClean="0">
                <a:solidFill>
                  <a:schemeClr val="bg2"/>
                </a:solidFill>
              </a:rPr>
              <a:t>.</a:t>
            </a:r>
            <a:endParaRPr lang="de-DE" sz="1200" dirty="0">
              <a:solidFill>
                <a:schemeClr val="bg2"/>
              </a:solidFill>
            </a:endParaRPr>
          </a:p>
        </p:txBody>
      </p:sp>
      <p:pic>
        <p:nvPicPr>
          <p:cNvPr id="2" name="Grafik 1"/>
          <p:cNvPicPr>
            <a:picLocks noChangeAspect="1"/>
          </p:cNvPicPr>
          <p:nvPr/>
        </p:nvPicPr>
        <p:blipFill>
          <a:blip r:embed="rId2"/>
          <a:stretch>
            <a:fillRect/>
          </a:stretch>
        </p:blipFill>
        <p:spPr>
          <a:xfrm>
            <a:off x="7861675" y="1955102"/>
            <a:ext cx="1971675" cy="495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6762923" y="2713885"/>
            <a:ext cx="1276350" cy="495300"/>
          </a:xfrm>
          <a:prstGeom prst="rect">
            <a:avLst/>
          </a:prstGeom>
          <a:effectLst>
            <a:innerShdw blurRad="114300">
              <a:prstClr val="black"/>
            </a:innerShdw>
          </a:effectLst>
        </p:spPr>
      </p:pic>
      <p:pic>
        <p:nvPicPr>
          <p:cNvPr id="15" name="Grafik 14"/>
          <p:cNvPicPr>
            <a:picLocks noChangeAspect="1"/>
          </p:cNvPicPr>
          <p:nvPr/>
        </p:nvPicPr>
        <p:blipFill>
          <a:blip r:embed="rId4"/>
          <a:stretch>
            <a:fillRect/>
          </a:stretch>
        </p:blipFill>
        <p:spPr>
          <a:xfrm>
            <a:off x="6032750" y="3435434"/>
            <a:ext cx="819150" cy="466725"/>
          </a:xfrm>
          <a:prstGeom prst="rect">
            <a:avLst/>
          </a:prstGeom>
          <a:effectLst>
            <a:innerShdw blurRad="114300">
              <a:prstClr val="black"/>
            </a:innerShdw>
          </a:effectLst>
        </p:spPr>
      </p:pic>
      <p:sp>
        <p:nvSpPr>
          <p:cNvPr id="16" name="Textfeld 15"/>
          <p:cNvSpPr txBox="1"/>
          <p:nvPr/>
        </p:nvSpPr>
        <p:spPr>
          <a:xfrm>
            <a:off x="8154171" y="2747520"/>
            <a:ext cx="3600024" cy="461665"/>
          </a:xfrm>
          <a:prstGeom prst="rect">
            <a:avLst/>
          </a:prstGeom>
          <a:noFill/>
        </p:spPr>
        <p:txBody>
          <a:bodyPr wrap="none" rtlCol="0">
            <a:spAutoFit/>
          </a:bodyPr>
          <a:lstStyle/>
          <a:p>
            <a:r>
              <a:rPr lang="de-DE" sz="1200" dirty="0" smtClean="0"/>
              <a:t>Es erscheint das identische Ergebnis, da </a:t>
            </a:r>
            <a:r>
              <a:rPr lang="de-DE" sz="1200" b="1" dirty="0" smtClean="0"/>
              <a:t>kein</a:t>
            </a:r>
            <a:r>
              <a:rPr lang="de-DE" sz="1200" dirty="0" smtClean="0"/>
              <a:t> Datensatz</a:t>
            </a:r>
          </a:p>
          <a:p>
            <a:r>
              <a:rPr lang="de-DE" sz="1200" dirty="0" smtClean="0"/>
              <a:t>in Abrechnung den Kalenderdatums-Wert </a:t>
            </a:r>
            <a:r>
              <a:rPr lang="de-DE" sz="1200" b="1" dirty="0" smtClean="0"/>
              <a:t>NULL</a:t>
            </a:r>
            <a:r>
              <a:rPr lang="de-DE" sz="1200" dirty="0" smtClean="0"/>
              <a:t> hat.</a:t>
            </a:r>
            <a:endParaRPr lang="de-DE" sz="1200" dirty="0"/>
          </a:p>
        </p:txBody>
      </p:sp>
      <p:sp>
        <p:nvSpPr>
          <p:cNvPr id="17" name="Textfeld 16"/>
          <p:cNvSpPr txBox="1"/>
          <p:nvPr/>
        </p:nvSpPr>
        <p:spPr>
          <a:xfrm>
            <a:off x="6989134" y="3530297"/>
            <a:ext cx="3948966" cy="276999"/>
          </a:xfrm>
          <a:prstGeom prst="rect">
            <a:avLst/>
          </a:prstGeom>
          <a:noFill/>
        </p:spPr>
        <p:txBody>
          <a:bodyPr wrap="none" rtlCol="0">
            <a:spAutoFit/>
          </a:bodyPr>
          <a:lstStyle/>
          <a:p>
            <a:r>
              <a:rPr lang="de-DE" sz="1200" dirty="0" smtClean="0"/>
              <a:t>Alternativ kann man  auch die </a:t>
            </a:r>
            <a:r>
              <a:rPr lang="de-DE" sz="1200" b="1" dirty="0" smtClean="0"/>
              <a:t>Anzahl der Datensätze </a:t>
            </a:r>
            <a:r>
              <a:rPr lang="de-DE" sz="1200" dirty="0" smtClean="0"/>
              <a:t>zählen.</a:t>
            </a:r>
            <a:endParaRPr lang="de-DE" sz="1200" dirty="0"/>
          </a:p>
        </p:txBody>
      </p:sp>
      <p:pic>
        <p:nvPicPr>
          <p:cNvPr id="14" name="Grafik 13"/>
          <p:cNvPicPr>
            <a:picLocks noChangeAspect="1"/>
          </p:cNvPicPr>
          <p:nvPr/>
        </p:nvPicPr>
        <p:blipFill>
          <a:blip r:embed="rId5"/>
          <a:stretch>
            <a:fillRect/>
          </a:stretch>
        </p:blipFill>
        <p:spPr>
          <a:xfrm>
            <a:off x="7730399" y="5212779"/>
            <a:ext cx="3081578" cy="375982"/>
          </a:xfrm>
          <a:prstGeom prst="rect">
            <a:avLst/>
          </a:prstGeom>
          <a:effectLst>
            <a:innerShdw blurRad="114300">
              <a:prstClr val="black"/>
            </a:innerShdw>
          </a:effectLst>
        </p:spPr>
      </p:pic>
    </p:spTree>
    <p:extLst>
      <p:ext uri="{BB962C8B-B14F-4D97-AF65-F5344CB8AC3E}">
        <p14:creationId xmlns:p14="http://schemas.microsoft.com/office/powerpoint/2010/main" val="1629145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37240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 </a:t>
            </a:r>
            <a:r>
              <a:rPr lang="de-DE" b="1" dirty="0" smtClean="0">
                <a:solidFill>
                  <a:srgbClr val="0071B2"/>
                </a:solidFill>
                <a:latin typeface="Source Sans Pro" panose="020B0503030403020204" pitchFamily="34" charset="0"/>
              </a:rPr>
              <a:t>COUNT(</a:t>
            </a:r>
            <a:r>
              <a:rPr lang="de-DE" dirty="0" smtClean="0">
                <a:solidFill>
                  <a:srgbClr val="0071B2"/>
                </a:solidFill>
                <a:latin typeface="Source Sans Pro" panose="020B0503030403020204" pitchFamily="34" charset="0"/>
              </a:rPr>
              <a:t>Attribut</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zählt alle Einträge des Attributs, deren Wert </a:t>
            </a:r>
            <a:r>
              <a:rPr lang="de-DE" b="1" dirty="0" smtClean="0">
                <a:solidFill>
                  <a:srgbClr val="0071B2"/>
                </a:solidFill>
                <a:latin typeface="Source Sans Pro" panose="020B0503030403020204" pitchFamily="34" charset="0"/>
              </a:rPr>
              <a:t>ungleich NULL</a:t>
            </a:r>
            <a:r>
              <a:rPr lang="de-DE" dirty="0" smtClean="0">
                <a:solidFill>
                  <a:srgbClr val="0071B2"/>
                </a:solidFill>
                <a:latin typeface="Source Sans Pro" panose="020B0503030403020204" pitchFamily="34" charset="0"/>
              </a:rPr>
              <a:t> ist.</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a:t>
            </a:r>
            <a:r>
              <a:rPr lang="de-DE" sz="2400" b="1" dirty="0" smtClean="0">
                <a:solidFill>
                  <a:srgbClr val="0071B2"/>
                </a:solidFill>
                <a:latin typeface="Source Sans Pro" panose="020B0503030403020204" pitchFamily="34" charset="0"/>
              </a:rPr>
              <a:t>COUNT(</a:t>
            </a:r>
            <a:r>
              <a:rPr lang="de-DE" sz="2400" dirty="0" smtClean="0">
                <a:solidFill>
                  <a:srgbClr val="0071B2"/>
                </a:solidFill>
                <a:latin typeface="Source Sans Pro" panose="020B0503030403020204" pitchFamily="34" charset="0"/>
              </a:rPr>
              <a:t>Abrechnung_ID</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p>
          <a:p>
            <a:pPr lvl="0">
              <a:defRPr/>
            </a:pPr>
            <a:endParaRPr lang="de-DE" sz="2400" b="1" dirty="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COUNT(</a:t>
            </a:r>
            <a:r>
              <a:rPr lang="de-DE" sz="2400" dirty="0" smtClean="0">
                <a:solidFill>
                  <a:srgbClr val="0071B2"/>
                </a:solidFill>
                <a:latin typeface="Source Sans Pro" panose="020B0503030403020204" pitchFamily="34" charset="0"/>
              </a:rPr>
              <a:t>Datum</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Abrechnung</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r>
              <a:rPr lang="de-DE" sz="2400" b="1" dirty="0">
                <a:solidFill>
                  <a:srgbClr val="0071B2"/>
                </a:solidFill>
                <a:latin typeface="Source Sans Pro" panose="020B0503030403020204" pitchFamily="34" charset="0"/>
              </a:rPr>
              <a:t>SELECT COUNT(*) FROM </a:t>
            </a:r>
            <a:r>
              <a:rPr lang="de-DE" sz="2400" dirty="0">
                <a:solidFill>
                  <a:srgbClr val="0071B2"/>
                </a:solidFill>
                <a:latin typeface="Source Sans Pro" panose="020B0503030403020204" pitchFamily="34" charset="0"/>
              </a:rPr>
              <a:t>Abrechnung</a:t>
            </a:r>
            <a:r>
              <a:rPr lang="de-DE" sz="2400" b="1" dirty="0">
                <a:solidFill>
                  <a:srgbClr val="0071B2"/>
                </a:solidFill>
                <a:latin typeface="Source Sans Pro" panose="020B0503030403020204" pitchFamily="34" charset="0"/>
              </a:rPr>
              <a:t>;</a:t>
            </a:r>
            <a:endParaRPr lang="de-DE"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Aggregatfunktion </a:t>
            </a:r>
            <a:r>
              <a:rPr lang="de-DE" sz="4000" dirty="0" smtClean="0">
                <a:solidFill>
                  <a:schemeClr val="accent2"/>
                </a:solidFill>
                <a:latin typeface="Source Sans Pro" panose="020B0503030403020204" pitchFamily="34" charset="0"/>
              </a:rPr>
              <a:t>COUNT(…)</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83869" y="4119252"/>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Mit </a:t>
            </a:r>
            <a:r>
              <a:rPr lang="de-DE" sz="1600" b="1" dirty="0" smtClean="0">
                <a:solidFill>
                  <a:schemeClr val="tx1"/>
                </a:solidFill>
                <a:latin typeface="Source Sans Pro" panose="020B0503030403020204" pitchFamily="34" charset="0"/>
              </a:rPr>
              <a:t>COUNT(</a:t>
            </a:r>
            <a:r>
              <a:rPr lang="de-DE" sz="1600" b="1" dirty="0" smtClean="0">
                <a:solidFill>
                  <a:schemeClr val="accent2"/>
                </a:solidFill>
                <a:latin typeface="Source Sans Pro" panose="020B0503030403020204" pitchFamily="34" charset="0"/>
              </a:rPr>
              <a:t>DISTINCT</a:t>
            </a:r>
            <a:r>
              <a:rPr lang="de-DE" sz="1600" dirty="0" smtClean="0">
                <a:solidFill>
                  <a:schemeClr val="tx1"/>
                </a:solidFill>
                <a:latin typeface="Source Sans Pro" panose="020B0503030403020204" pitchFamily="34" charset="0"/>
              </a:rPr>
              <a:t> …</a:t>
            </a:r>
            <a:r>
              <a:rPr lang="de-DE" sz="1600" b="1" dirty="0" smtClean="0">
                <a:solidFill>
                  <a:schemeClr val="tx1"/>
                </a:solidFill>
                <a:latin typeface="Source Sans Pro" panose="020B0503030403020204" pitchFamily="34" charset="0"/>
              </a:rPr>
              <a:t>)</a:t>
            </a:r>
            <a:r>
              <a:rPr lang="de-DE" sz="1600" dirty="0" smtClean="0">
                <a:solidFill>
                  <a:schemeClr val="tx1"/>
                </a:solidFill>
                <a:latin typeface="Source Sans Pro" panose="020B0503030403020204" pitchFamily="34" charset="0"/>
              </a:rPr>
              <a:t> kann die Anzahl der </a:t>
            </a:r>
            <a:r>
              <a:rPr lang="de-DE" sz="1600" u="sng" dirty="0" smtClean="0">
                <a:solidFill>
                  <a:schemeClr val="tx1"/>
                </a:solidFill>
                <a:latin typeface="Source Sans Pro" panose="020B0503030403020204" pitchFamily="34" charset="0"/>
              </a:rPr>
              <a:t>unterschiedlichen</a:t>
            </a:r>
            <a:r>
              <a:rPr lang="de-DE" sz="1600" dirty="0" smtClean="0">
                <a:solidFill>
                  <a:schemeClr val="tx1"/>
                </a:solidFill>
                <a:latin typeface="Source Sans Pro" panose="020B0503030403020204" pitchFamily="34" charset="0"/>
              </a:rPr>
              <a:t> Einträge (ungleich NULL) ermittelt werden.</a:t>
            </a:r>
          </a:p>
          <a:p>
            <a:pPr algn="ctr"/>
            <a:endParaRPr lang="de-DE" sz="1600"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Beispiel:</a:t>
            </a:r>
          </a:p>
          <a:p>
            <a:pPr algn="ctr"/>
            <a:endParaRPr lang="de-DE" sz="800" dirty="0" smtClean="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SELECT COUNT(</a:t>
            </a:r>
            <a:r>
              <a:rPr lang="de-DE" sz="1600" dirty="0" smtClean="0">
                <a:solidFill>
                  <a:schemeClr val="tx1"/>
                </a:solidFill>
                <a:latin typeface="Source Sans Pro" panose="020B0503030403020204" pitchFamily="34" charset="0"/>
              </a:rPr>
              <a:t>Nachname</a:t>
            </a:r>
            <a:r>
              <a:rPr lang="de-DE" sz="1600" b="1" dirty="0">
                <a:solidFill>
                  <a:schemeClr val="tx1"/>
                </a:solidFill>
                <a:latin typeface="Source Sans Pro" panose="020B0503030403020204" pitchFamily="34" charset="0"/>
              </a:rPr>
              <a:t>), </a:t>
            </a:r>
            <a:r>
              <a:rPr lang="de-DE" sz="1600" b="1" dirty="0" smtClean="0">
                <a:solidFill>
                  <a:schemeClr val="tx1"/>
                </a:solidFill>
                <a:latin typeface="Source Sans Pro" panose="020B0503030403020204" pitchFamily="34" charset="0"/>
              </a:rPr>
              <a:t>COUNT(DISTINCT </a:t>
            </a:r>
            <a:r>
              <a:rPr lang="de-DE" sz="1600" dirty="0" smtClean="0">
                <a:solidFill>
                  <a:schemeClr val="tx1"/>
                </a:solidFill>
                <a:latin typeface="Source Sans Pro" panose="020B0503030403020204" pitchFamily="34" charset="0"/>
              </a:rPr>
              <a:t>Nachname</a:t>
            </a:r>
            <a:r>
              <a:rPr lang="de-DE" sz="1600" b="1" dirty="0" smtClean="0">
                <a:solidFill>
                  <a:schemeClr val="tx1"/>
                </a:solidFill>
                <a:latin typeface="Source Sans Pro" panose="020B0503030403020204" pitchFamily="34" charset="0"/>
              </a:rPr>
              <a:t>) FROM </a:t>
            </a:r>
            <a:r>
              <a:rPr lang="de-DE" sz="1600" dirty="0" smtClean="0">
                <a:solidFill>
                  <a:schemeClr val="tx1"/>
                </a:solidFill>
                <a:latin typeface="Source Sans Pro" panose="020B0503030403020204" pitchFamily="34" charset="0"/>
              </a:rPr>
              <a:t>Kunde</a:t>
            </a:r>
            <a:r>
              <a:rPr lang="de-DE" sz="1600" b="1" dirty="0" smtClean="0">
                <a:solidFill>
                  <a:schemeClr val="tx1"/>
                </a:solidFill>
                <a:latin typeface="Source Sans Pro" panose="020B0503030403020204" pitchFamily="34" charset="0"/>
              </a:rPr>
              <a:t>;  </a:t>
            </a:r>
            <a:r>
              <a:rPr lang="de-DE" sz="1600" b="1" dirty="0" smtClean="0">
                <a:solidFill>
                  <a:schemeClr val="bg2"/>
                </a:solidFill>
                <a:latin typeface="Source Sans Pro" panose="020B0503030403020204" pitchFamily="34" charset="0"/>
              </a:rPr>
              <a:t>………………………………………….</a:t>
            </a:r>
          </a:p>
          <a:p>
            <a:pPr algn="ctr"/>
            <a:endParaRPr lang="de-DE" sz="800" b="1" dirty="0" smtClean="0">
              <a:solidFill>
                <a:schemeClr val="tx1"/>
              </a:solidFill>
              <a:latin typeface="Source Sans Pro" panose="020B0503030403020204" pitchFamily="34" charset="0"/>
            </a:endParaRPr>
          </a:p>
          <a:p>
            <a:pPr algn="ctr"/>
            <a:r>
              <a:rPr lang="de-DE" sz="1200" dirty="0">
                <a:solidFill>
                  <a:schemeClr val="tx1"/>
                </a:solidFill>
                <a:latin typeface="Source Sans Pro" panose="020B0503030403020204" pitchFamily="34" charset="0"/>
              </a:rPr>
              <a:t>(Es gibt </a:t>
            </a:r>
            <a:r>
              <a:rPr lang="de-DE" sz="1200" b="1" dirty="0">
                <a:solidFill>
                  <a:schemeClr val="tx1"/>
                </a:solidFill>
                <a:latin typeface="Source Sans Pro" panose="020B0503030403020204" pitchFamily="34" charset="0"/>
              </a:rPr>
              <a:t>7</a:t>
            </a:r>
            <a:r>
              <a:rPr lang="de-DE" sz="1200" dirty="0">
                <a:solidFill>
                  <a:schemeClr val="tx1"/>
                </a:solidFill>
                <a:latin typeface="Source Sans Pro" panose="020B0503030403020204" pitchFamily="34" charset="0"/>
              </a:rPr>
              <a:t> Kundennachnamen ungleich NULL, aber nur </a:t>
            </a:r>
            <a:r>
              <a:rPr lang="de-DE" sz="1200" b="1" dirty="0">
                <a:solidFill>
                  <a:schemeClr val="tx1"/>
                </a:solidFill>
                <a:latin typeface="Source Sans Pro" panose="020B0503030403020204" pitchFamily="34" charset="0"/>
              </a:rPr>
              <a:t>6</a:t>
            </a:r>
            <a:r>
              <a:rPr lang="de-DE" sz="1200" dirty="0">
                <a:solidFill>
                  <a:schemeClr val="tx1"/>
                </a:solidFill>
                <a:latin typeface="Source Sans Pro" panose="020B0503030403020204" pitchFamily="34" charset="0"/>
              </a:rPr>
              <a:t> unterschiedliche, da es zwei Kunden mit Nachnamen „Myrnow“ gibt</a:t>
            </a:r>
            <a:r>
              <a:rPr lang="de-DE" sz="1200" dirty="0" smtClean="0">
                <a:solidFill>
                  <a:schemeClr val="tx1"/>
                </a:solidFill>
                <a:latin typeface="Source Sans Pro" panose="020B0503030403020204" pitchFamily="34" charset="0"/>
              </a:rPr>
              <a:t>)</a:t>
            </a:r>
            <a:r>
              <a:rPr lang="de-DE" sz="1200" dirty="0" smtClean="0">
                <a:solidFill>
                  <a:schemeClr val="tx1"/>
                </a:solidFill>
              </a:rPr>
              <a:t>.</a:t>
            </a:r>
            <a:endParaRPr lang="de-DE" sz="1200" dirty="0">
              <a:solidFill>
                <a:schemeClr val="tx1"/>
              </a:solidFill>
            </a:endParaRPr>
          </a:p>
        </p:txBody>
      </p:sp>
      <p:pic>
        <p:nvPicPr>
          <p:cNvPr id="2" name="Grafik 1"/>
          <p:cNvPicPr>
            <a:picLocks noChangeAspect="1"/>
          </p:cNvPicPr>
          <p:nvPr/>
        </p:nvPicPr>
        <p:blipFill>
          <a:blip r:embed="rId2"/>
          <a:stretch>
            <a:fillRect/>
          </a:stretch>
        </p:blipFill>
        <p:spPr>
          <a:xfrm>
            <a:off x="7861675" y="1955102"/>
            <a:ext cx="1971675" cy="495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6762923" y="2713885"/>
            <a:ext cx="1276350" cy="495300"/>
          </a:xfrm>
          <a:prstGeom prst="rect">
            <a:avLst/>
          </a:prstGeom>
          <a:effectLst>
            <a:innerShdw blurRad="114300">
              <a:prstClr val="black"/>
            </a:innerShdw>
          </a:effectLst>
        </p:spPr>
      </p:pic>
      <p:pic>
        <p:nvPicPr>
          <p:cNvPr id="15" name="Grafik 14"/>
          <p:cNvPicPr>
            <a:picLocks noChangeAspect="1"/>
          </p:cNvPicPr>
          <p:nvPr/>
        </p:nvPicPr>
        <p:blipFill>
          <a:blip r:embed="rId4"/>
          <a:stretch>
            <a:fillRect/>
          </a:stretch>
        </p:blipFill>
        <p:spPr>
          <a:xfrm>
            <a:off x="6032750" y="3435434"/>
            <a:ext cx="819150" cy="466725"/>
          </a:xfrm>
          <a:prstGeom prst="rect">
            <a:avLst/>
          </a:prstGeom>
          <a:effectLst>
            <a:innerShdw blurRad="114300">
              <a:prstClr val="black"/>
            </a:innerShdw>
          </a:effectLst>
        </p:spPr>
      </p:pic>
      <p:sp>
        <p:nvSpPr>
          <p:cNvPr id="16" name="Textfeld 15"/>
          <p:cNvSpPr txBox="1"/>
          <p:nvPr/>
        </p:nvSpPr>
        <p:spPr>
          <a:xfrm>
            <a:off x="8154171" y="2747520"/>
            <a:ext cx="3600024" cy="461665"/>
          </a:xfrm>
          <a:prstGeom prst="rect">
            <a:avLst/>
          </a:prstGeom>
          <a:noFill/>
        </p:spPr>
        <p:txBody>
          <a:bodyPr wrap="none" rtlCol="0">
            <a:spAutoFit/>
          </a:bodyPr>
          <a:lstStyle/>
          <a:p>
            <a:r>
              <a:rPr lang="de-DE" sz="1200" dirty="0" smtClean="0"/>
              <a:t>Es erscheint das identische Ergebnis, da </a:t>
            </a:r>
            <a:r>
              <a:rPr lang="de-DE" sz="1200" b="1" dirty="0" smtClean="0"/>
              <a:t>kein</a:t>
            </a:r>
            <a:r>
              <a:rPr lang="de-DE" sz="1200" dirty="0" smtClean="0"/>
              <a:t> Datensatz</a:t>
            </a:r>
          </a:p>
          <a:p>
            <a:r>
              <a:rPr lang="de-DE" sz="1200" dirty="0" smtClean="0"/>
              <a:t>in Abrechnung den Kalenderdatums-Wert </a:t>
            </a:r>
            <a:r>
              <a:rPr lang="de-DE" sz="1200" b="1" dirty="0" smtClean="0"/>
              <a:t>NULL</a:t>
            </a:r>
            <a:r>
              <a:rPr lang="de-DE" sz="1200" dirty="0" smtClean="0"/>
              <a:t> hat.</a:t>
            </a:r>
            <a:endParaRPr lang="de-DE" sz="1200" dirty="0"/>
          </a:p>
        </p:txBody>
      </p:sp>
      <p:sp>
        <p:nvSpPr>
          <p:cNvPr id="17" name="Textfeld 16"/>
          <p:cNvSpPr txBox="1"/>
          <p:nvPr/>
        </p:nvSpPr>
        <p:spPr>
          <a:xfrm>
            <a:off x="6989134" y="3530297"/>
            <a:ext cx="3948966" cy="276999"/>
          </a:xfrm>
          <a:prstGeom prst="rect">
            <a:avLst/>
          </a:prstGeom>
          <a:noFill/>
        </p:spPr>
        <p:txBody>
          <a:bodyPr wrap="none" rtlCol="0">
            <a:spAutoFit/>
          </a:bodyPr>
          <a:lstStyle/>
          <a:p>
            <a:r>
              <a:rPr lang="de-DE" sz="1200" dirty="0" smtClean="0"/>
              <a:t>Alternativ kann man  auch die </a:t>
            </a:r>
            <a:r>
              <a:rPr lang="de-DE" sz="1200" b="1" dirty="0" smtClean="0"/>
              <a:t>Anzahl der Datensätze </a:t>
            </a:r>
            <a:r>
              <a:rPr lang="de-DE" sz="1200" dirty="0" smtClean="0"/>
              <a:t>zählen.</a:t>
            </a:r>
            <a:endParaRPr lang="de-DE" sz="1200" dirty="0"/>
          </a:p>
        </p:txBody>
      </p:sp>
      <p:pic>
        <p:nvPicPr>
          <p:cNvPr id="18" name="Grafik 17"/>
          <p:cNvPicPr>
            <a:picLocks noChangeAspect="1"/>
          </p:cNvPicPr>
          <p:nvPr/>
        </p:nvPicPr>
        <p:blipFill>
          <a:blip r:embed="rId5"/>
          <a:stretch>
            <a:fillRect/>
          </a:stretch>
        </p:blipFill>
        <p:spPr>
          <a:xfrm>
            <a:off x="7730399" y="5212779"/>
            <a:ext cx="3081578" cy="375982"/>
          </a:xfrm>
          <a:prstGeom prst="rect">
            <a:avLst/>
          </a:prstGeom>
          <a:effectLst>
            <a:innerShdw blurRad="114300">
              <a:prstClr val="black"/>
            </a:innerShdw>
          </a:effectLst>
        </p:spPr>
      </p:pic>
    </p:spTree>
    <p:extLst>
      <p:ext uri="{BB962C8B-B14F-4D97-AF65-F5344CB8AC3E}">
        <p14:creationId xmlns:p14="http://schemas.microsoft.com/office/powerpoint/2010/main" val="5064627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Aggregatfunktionen </a:t>
            </a:r>
            <a:r>
              <a:rPr lang="de-DE" b="1" dirty="0" smtClean="0">
                <a:solidFill>
                  <a:srgbClr val="0071B2"/>
                </a:solidFill>
                <a:latin typeface="Source Sans Pro" panose="020B0503030403020204" pitchFamily="34" charset="0"/>
              </a:rPr>
              <a:t>SUM </a:t>
            </a:r>
            <a:r>
              <a:rPr lang="de-DE" dirty="0" smtClean="0">
                <a:solidFill>
                  <a:srgbClr val="0071B2"/>
                </a:solidFill>
                <a:latin typeface="Source Sans Pro" panose="020B0503030403020204" pitchFamily="34" charset="0"/>
              </a:rPr>
              <a:t>und</a:t>
            </a:r>
            <a:r>
              <a:rPr lang="de-DE" b="1" dirty="0" smtClean="0">
                <a:solidFill>
                  <a:srgbClr val="0071B2"/>
                </a:solidFill>
                <a:latin typeface="Source Sans Pro" panose="020B0503030403020204" pitchFamily="34" charset="0"/>
              </a:rPr>
              <a:t> AVG </a:t>
            </a:r>
            <a:r>
              <a:rPr lang="de-DE" dirty="0" smtClean="0">
                <a:solidFill>
                  <a:srgbClr val="0071B2"/>
                </a:solidFill>
                <a:latin typeface="Source Sans Pro" panose="020B0503030403020204" pitchFamily="34" charset="0"/>
              </a:rPr>
              <a:t>ermitteln </a:t>
            </a:r>
            <a:r>
              <a:rPr lang="de-DE" b="1" dirty="0" smtClean="0">
                <a:solidFill>
                  <a:srgbClr val="0071B2"/>
                </a:solidFill>
                <a:latin typeface="Source Sans Pro" panose="020B0503030403020204" pitchFamily="34" charset="0"/>
              </a:rPr>
              <a:t>Summe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Durchschnitt</a:t>
            </a:r>
            <a:r>
              <a:rPr lang="de-DE" dirty="0" smtClean="0">
                <a:solidFill>
                  <a:srgbClr val="0071B2"/>
                </a:solidFill>
                <a:latin typeface="Source Sans Pro" panose="020B0503030403020204" pitchFamily="34" charset="0"/>
              </a:rPr>
              <a:t> (Average) der betrachteten Werte. </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Durchschnittspreis aller von „Geld_her“ angeboten Waren:</a:t>
            </a:r>
          </a:p>
          <a:p>
            <a:pPr lvl="0">
              <a:defRPr/>
            </a:pPr>
            <a:r>
              <a:rPr lang="de-DE" sz="2400" b="1" dirty="0" smtClean="0">
                <a:solidFill>
                  <a:srgbClr val="0071B2"/>
                </a:solidFill>
                <a:latin typeface="Source Sans Pro" panose="020B0503030403020204" pitchFamily="34" charset="0"/>
              </a:rPr>
              <a:t>SELECT AVG(</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Gesamtbestellsume (aller bisher bei „Geld_her“ gekauften Waren):</a:t>
            </a:r>
            <a:endParaRPr lang="de-DE" b="1" dirty="0" smtClean="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SUM(</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Abrechnung_Produkt</a:t>
            </a:r>
            <a:r>
              <a:rPr lang="de-DE" sz="2400" b="1"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Produkt</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Abrechnung_Produkt.Produkt_ID=Produkt.Produkt_ID</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Aggregatfunktionen </a:t>
            </a:r>
            <a:r>
              <a:rPr lang="de-DE" sz="4000" dirty="0" smtClean="0">
                <a:solidFill>
                  <a:schemeClr val="accent2"/>
                </a:solidFill>
                <a:latin typeface="Source Sans Pro" panose="020B0503030403020204" pitchFamily="34" charset="0"/>
              </a:rPr>
              <a:t>SUM(…)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AVG(…)</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541944" y="2265634"/>
            <a:ext cx="1352550" cy="49530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9294370" y="3558692"/>
            <a:ext cx="1400175" cy="476250"/>
          </a:xfrm>
          <a:prstGeom prst="rect">
            <a:avLst/>
          </a:prstGeom>
          <a:effectLst>
            <a:innerShdw blurRad="114300">
              <a:prstClr val="black"/>
            </a:innerShdw>
          </a:effectLst>
        </p:spPr>
      </p:pic>
    </p:spTree>
    <p:extLst>
      <p:ext uri="{BB962C8B-B14F-4D97-AF65-F5344CB8AC3E}">
        <p14:creationId xmlns:p14="http://schemas.microsoft.com/office/powerpoint/2010/main" val="301459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Aggregatfunktionen </a:t>
            </a:r>
            <a:r>
              <a:rPr lang="de-DE" b="1" dirty="0" smtClean="0">
                <a:solidFill>
                  <a:srgbClr val="0071B2"/>
                </a:solidFill>
                <a:latin typeface="Source Sans Pro" panose="020B0503030403020204" pitchFamily="34" charset="0"/>
              </a:rPr>
              <a:t>SUM </a:t>
            </a:r>
            <a:r>
              <a:rPr lang="de-DE" dirty="0" smtClean="0">
                <a:solidFill>
                  <a:srgbClr val="0071B2"/>
                </a:solidFill>
                <a:latin typeface="Source Sans Pro" panose="020B0503030403020204" pitchFamily="34" charset="0"/>
              </a:rPr>
              <a:t>und</a:t>
            </a:r>
            <a:r>
              <a:rPr lang="de-DE" b="1" dirty="0" smtClean="0">
                <a:solidFill>
                  <a:srgbClr val="0071B2"/>
                </a:solidFill>
                <a:latin typeface="Source Sans Pro" panose="020B0503030403020204" pitchFamily="34" charset="0"/>
              </a:rPr>
              <a:t> AVG </a:t>
            </a:r>
            <a:r>
              <a:rPr lang="de-DE" dirty="0" smtClean="0">
                <a:solidFill>
                  <a:srgbClr val="0071B2"/>
                </a:solidFill>
                <a:latin typeface="Source Sans Pro" panose="020B0503030403020204" pitchFamily="34" charset="0"/>
              </a:rPr>
              <a:t>ermitteln </a:t>
            </a:r>
            <a:r>
              <a:rPr lang="de-DE" b="1" dirty="0" smtClean="0">
                <a:solidFill>
                  <a:srgbClr val="0071B2"/>
                </a:solidFill>
                <a:latin typeface="Source Sans Pro" panose="020B0503030403020204" pitchFamily="34" charset="0"/>
              </a:rPr>
              <a:t>Summe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Durchschnitt</a:t>
            </a:r>
            <a:r>
              <a:rPr lang="de-DE" dirty="0" smtClean="0">
                <a:solidFill>
                  <a:srgbClr val="0071B2"/>
                </a:solidFill>
                <a:latin typeface="Source Sans Pro" panose="020B0503030403020204" pitchFamily="34" charset="0"/>
              </a:rPr>
              <a:t> (Average) der betrachteten Werte. </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Durchschnittspreis aller von „Geld_her“ angeboten Waren:</a:t>
            </a:r>
          </a:p>
          <a:p>
            <a:pPr lvl="0">
              <a:defRPr/>
            </a:pPr>
            <a:r>
              <a:rPr lang="de-DE" sz="2400" b="1" dirty="0" smtClean="0">
                <a:solidFill>
                  <a:srgbClr val="0071B2"/>
                </a:solidFill>
                <a:latin typeface="Source Sans Pro" panose="020B0503030403020204" pitchFamily="34" charset="0"/>
              </a:rPr>
              <a:t>SELECT AVG(</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Gesamtbestellsume (aller bisher bei „Geld_her“ gekauften Waren):</a:t>
            </a:r>
            <a:endParaRPr lang="de-DE" b="1" dirty="0" smtClean="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SUM(</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Abrechnung_Produkt</a:t>
            </a:r>
            <a:r>
              <a:rPr lang="de-DE" sz="2400" b="1"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Produkt</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Abrechnung_Produkt.Produkt_ID=Produkt.Produkt_ID</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Aggregatfunktionen </a:t>
            </a:r>
            <a:r>
              <a:rPr lang="de-DE" sz="4000" dirty="0" smtClean="0">
                <a:solidFill>
                  <a:schemeClr val="accent2"/>
                </a:solidFill>
                <a:latin typeface="Source Sans Pro" panose="020B0503030403020204" pitchFamily="34" charset="0"/>
              </a:rPr>
              <a:t>SUM(…)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AVG(…)</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74538" y="4177925"/>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Der Einsatz von SUM oder AVG auf Attribute vom Typ DATE oder VARCHAR ist sinnlos, führt aber nicht zu einer Fehlermeldung:</a:t>
            </a:r>
            <a:endParaRPr lang="de-DE" sz="1600" b="1"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endParaRPr lang="de-DE" sz="1600" b="1" dirty="0" smtClean="0">
              <a:solidFill>
                <a:schemeClr val="tx1"/>
              </a:solidFill>
              <a:latin typeface="Source Sans Pro" panose="020B0503030403020204" pitchFamily="34" charset="0"/>
            </a:endParaRPr>
          </a:p>
          <a:p>
            <a:pPr algn="ctr"/>
            <a:r>
              <a:rPr lang="de-DE" sz="1600" b="1" dirty="0">
                <a:solidFill>
                  <a:schemeClr val="bg2"/>
                </a:solidFill>
                <a:latin typeface="Source Sans Pro" panose="020B0503030403020204" pitchFamily="34" charset="0"/>
              </a:rPr>
              <a:t>SELECT SUM(</a:t>
            </a:r>
            <a:r>
              <a:rPr lang="de-DE" sz="1600" dirty="0">
                <a:solidFill>
                  <a:schemeClr val="bg2"/>
                </a:solidFill>
                <a:latin typeface="Source Sans Pro" panose="020B0503030403020204" pitchFamily="34" charset="0"/>
              </a:rPr>
              <a:t>Datum</a:t>
            </a:r>
            <a:r>
              <a:rPr lang="de-DE" sz="1600" b="1" dirty="0">
                <a:solidFill>
                  <a:schemeClr val="bg2"/>
                </a:solidFill>
                <a:latin typeface="Source Sans Pro" panose="020B0503030403020204" pitchFamily="34" charset="0"/>
              </a:rPr>
              <a:t>), AVG(</a:t>
            </a:r>
            <a:r>
              <a:rPr lang="de-DE" sz="1600" dirty="0">
                <a:solidFill>
                  <a:schemeClr val="bg2"/>
                </a:solidFill>
                <a:latin typeface="Source Sans Pro" panose="020B0503030403020204" pitchFamily="34" charset="0"/>
              </a:rPr>
              <a:t>Datum</a:t>
            </a:r>
            <a:r>
              <a:rPr lang="de-DE" sz="1600" b="1" dirty="0">
                <a:solidFill>
                  <a:schemeClr val="bg2"/>
                </a:solidFill>
                <a:latin typeface="Source Sans Pro" panose="020B0503030403020204" pitchFamily="34" charset="0"/>
              </a:rPr>
              <a:t>) FROM </a:t>
            </a:r>
            <a:r>
              <a:rPr lang="de-DE" sz="1600" dirty="0">
                <a:solidFill>
                  <a:schemeClr val="bg2"/>
                </a:solidFill>
                <a:latin typeface="Source Sans Pro" panose="020B0503030403020204" pitchFamily="34" charset="0"/>
              </a:rPr>
              <a:t>Abrechnung</a:t>
            </a:r>
            <a:r>
              <a:rPr lang="de-DE" sz="1600" b="1" dirty="0">
                <a:solidFill>
                  <a:schemeClr val="bg2"/>
                </a:solidFill>
                <a:latin typeface="Source Sans Pro" panose="020B0503030403020204" pitchFamily="34" charset="0"/>
              </a:rPr>
              <a:t>; </a:t>
            </a:r>
            <a:r>
              <a:rPr lang="de-DE" sz="1600" b="1" dirty="0" smtClean="0">
                <a:solidFill>
                  <a:schemeClr val="bg2"/>
                </a:solidFill>
                <a:latin typeface="Source Sans Pro" panose="020B0503030403020204" pitchFamily="34" charset="0"/>
              </a:rPr>
              <a:t>………………………………………….</a:t>
            </a:r>
          </a:p>
          <a:p>
            <a:pPr algn="ctr"/>
            <a:endParaRPr lang="de-DE" sz="1600" b="1" dirty="0" smtClean="0">
              <a:solidFill>
                <a:schemeClr val="bg2"/>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SELECT </a:t>
            </a:r>
            <a:r>
              <a:rPr lang="de-DE" sz="1600" b="1" dirty="0">
                <a:solidFill>
                  <a:schemeClr val="bg2"/>
                </a:solidFill>
                <a:latin typeface="Source Sans Pro" panose="020B0503030403020204" pitchFamily="34" charset="0"/>
              </a:rPr>
              <a:t>SUM(</a:t>
            </a:r>
            <a:r>
              <a:rPr lang="de-DE" sz="1600" dirty="0">
                <a:solidFill>
                  <a:schemeClr val="bg2"/>
                </a:solidFill>
                <a:latin typeface="Source Sans Pro" panose="020B0503030403020204" pitchFamily="34" charset="0"/>
              </a:rPr>
              <a:t>Nachname</a:t>
            </a:r>
            <a:r>
              <a:rPr lang="de-DE" sz="1600" b="1" dirty="0">
                <a:solidFill>
                  <a:schemeClr val="bg2"/>
                </a:solidFill>
                <a:latin typeface="Source Sans Pro" panose="020B0503030403020204" pitchFamily="34" charset="0"/>
              </a:rPr>
              <a:t>), AVG(</a:t>
            </a:r>
            <a:r>
              <a:rPr lang="de-DE" sz="1600" dirty="0">
                <a:solidFill>
                  <a:schemeClr val="bg2"/>
                </a:solidFill>
                <a:latin typeface="Source Sans Pro" panose="020B0503030403020204" pitchFamily="34" charset="0"/>
              </a:rPr>
              <a:t>Nachname</a:t>
            </a:r>
            <a:r>
              <a:rPr lang="de-DE" sz="1600" b="1" dirty="0">
                <a:solidFill>
                  <a:schemeClr val="bg2"/>
                </a:solidFill>
                <a:latin typeface="Source Sans Pro" panose="020B0503030403020204" pitchFamily="34" charset="0"/>
              </a:rPr>
              <a:t>) FROM </a:t>
            </a:r>
            <a:r>
              <a:rPr lang="de-DE" sz="1600" dirty="0">
                <a:solidFill>
                  <a:schemeClr val="bg2"/>
                </a:solidFill>
                <a:latin typeface="Source Sans Pro" panose="020B0503030403020204" pitchFamily="34" charset="0"/>
              </a:rPr>
              <a:t>Kunde</a:t>
            </a:r>
            <a:r>
              <a:rPr lang="de-DE" sz="1600" b="1" dirty="0">
                <a:solidFill>
                  <a:schemeClr val="bg2"/>
                </a:solidFill>
                <a:latin typeface="Source Sans Pro" panose="020B0503030403020204" pitchFamily="34" charset="0"/>
              </a:rPr>
              <a:t>;  ………………………………………….</a:t>
            </a:r>
          </a:p>
          <a:p>
            <a:pPr algn="ctr"/>
            <a:endParaRPr lang="de-DE" sz="1600" b="1" dirty="0" smtClean="0">
              <a:solidFill>
                <a:schemeClr val="bg2"/>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541944" y="2265634"/>
            <a:ext cx="1352550" cy="49530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9294370" y="3558692"/>
            <a:ext cx="1400175" cy="476250"/>
          </a:xfrm>
          <a:prstGeom prst="rect">
            <a:avLst/>
          </a:prstGeom>
          <a:effectLst>
            <a:innerShdw blurRad="114300">
              <a:prstClr val="black"/>
            </a:innerShdw>
          </a:effectLst>
        </p:spPr>
      </p:pic>
    </p:spTree>
    <p:extLst>
      <p:ext uri="{BB962C8B-B14F-4D97-AF65-F5344CB8AC3E}">
        <p14:creationId xmlns:p14="http://schemas.microsoft.com/office/powerpoint/2010/main" val="40414841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Aggregatfunktionen </a:t>
            </a:r>
            <a:r>
              <a:rPr lang="de-DE" b="1" dirty="0" smtClean="0">
                <a:solidFill>
                  <a:srgbClr val="0071B2"/>
                </a:solidFill>
                <a:latin typeface="Source Sans Pro" panose="020B0503030403020204" pitchFamily="34" charset="0"/>
              </a:rPr>
              <a:t>SUM </a:t>
            </a:r>
            <a:r>
              <a:rPr lang="de-DE" dirty="0" smtClean="0">
                <a:solidFill>
                  <a:srgbClr val="0071B2"/>
                </a:solidFill>
                <a:latin typeface="Source Sans Pro" panose="020B0503030403020204" pitchFamily="34" charset="0"/>
              </a:rPr>
              <a:t>und</a:t>
            </a:r>
            <a:r>
              <a:rPr lang="de-DE" b="1" dirty="0" smtClean="0">
                <a:solidFill>
                  <a:srgbClr val="0071B2"/>
                </a:solidFill>
                <a:latin typeface="Source Sans Pro" panose="020B0503030403020204" pitchFamily="34" charset="0"/>
              </a:rPr>
              <a:t> AVG </a:t>
            </a:r>
            <a:r>
              <a:rPr lang="de-DE" dirty="0" smtClean="0">
                <a:solidFill>
                  <a:srgbClr val="0071B2"/>
                </a:solidFill>
                <a:latin typeface="Source Sans Pro" panose="020B0503030403020204" pitchFamily="34" charset="0"/>
              </a:rPr>
              <a:t>ermitteln </a:t>
            </a:r>
            <a:r>
              <a:rPr lang="de-DE" b="1" dirty="0" smtClean="0">
                <a:solidFill>
                  <a:srgbClr val="0071B2"/>
                </a:solidFill>
                <a:latin typeface="Source Sans Pro" panose="020B0503030403020204" pitchFamily="34" charset="0"/>
              </a:rPr>
              <a:t>Summe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Durchschnitt</a:t>
            </a:r>
            <a:r>
              <a:rPr lang="de-DE" dirty="0" smtClean="0">
                <a:solidFill>
                  <a:srgbClr val="0071B2"/>
                </a:solidFill>
                <a:latin typeface="Source Sans Pro" panose="020B0503030403020204" pitchFamily="34" charset="0"/>
              </a:rPr>
              <a:t> (Average) der betrachteten Werte. </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Durchschnittspreis aller von „Geld_her“ angeboten Waren:</a:t>
            </a:r>
          </a:p>
          <a:p>
            <a:pPr lvl="0">
              <a:defRPr/>
            </a:pPr>
            <a:r>
              <a:rPr lang="de-DE" sz="2400" b="1" dirty="0" smtClean="0">
                <a:solidFill>
                  <a:srgbClr val="0071B2"/>
                </a:solidFill>
                <a:latin typeface="Source Sans Pro" panose="020B0503030403020204" pitchFamily="34" charset="0"/>
              </a:rPr>
              <a:t>SELECT AVG(</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Gesamtbestellsume (aller bisher bei „Geld_her“ gekauften Waren):</a:t>
            </a:r>
            <a:endParaRPr lang="de-DE" b="1" dirty="0" smtClean="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SUM(</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Abrechnung_Produkt</a:t>
            </a:r>
            <a:r>
              <a:rPr lang="de-DE" sz="2400" b="1"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Produkt</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Abrechnung_Produkt.Produkt_ID=Produkt.Produkt_ID</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Aggregatfunktionen </a:t>
            </a:r>
            <a:r>
              <a:rPr lang="de-DE" sz="4000" dirty="0" smtClean="0">
                <a:solidFill>
                  <a:schemeClr val="accent2"/>
                </a:solidFill>
                <a:latin typeface="Source Sans Pro" panose="020B0503030403020204" pitchFamily="34" charset="0"/>
              </a:rPr>
              <a:t>SUM(…)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AVG(…)</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74538" y="4177925"/>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Der Einsatz von SUM oder AVG auf Attribute vom Typ DATE oder VARCHAR ist sinnlos, führt aber nicht zu einer Fehlermeldung:</a:t>
            </a:r>
            <a:endParaRPr lang="de-DE" sz="1600" b="1"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endParaRPr lang="de-DE" sz="1600" b="1" dirty="0" smtClean="0">
              <a:solidFill>
                <a:schemeClr val="tx1"/>
              </a:solidFill>
              <a:latin typeface="Source Sans Pro" panose="020B0503030403020204" pitchFamily="34" charset="0"/>
            </a:endParaRPr>
          </a:p>
          <a:p>
            <a:pPr algn="ctr"/>
            <a:r>
              <a:rPr lang="de-DE" sz="1600" b="1" dirty="0">
                <a:solidFill>
                  <a:schemeClr val="tx1"/>
                </a:solidFill>
                <a:latin typeface="Source Sans Pro" panose="020B0503030403020204" pitchFamily="34" charset="0"/>
              </a:rPr>
              <a:t>SELECT SUM(</a:t>
            </a:r>
            <a:r>
              <a:rPr lang="de-DE" sz="1600" dirty="0">
                <a:solidFill>
                  <a:schemeClr val="tx1"/>
                </a:solidFill>
                <a:latin typeface="Source Sans Pro" panose="020B0503030403020204" pitchFamily="34" charset="0"/>
              </a:rPr>
              <a:t>Datum</a:t>
            </a:r>
            <a:r>
              <a:rPr lang="de-DE" sz="1600" b="1" dirty="0">
                <a:solidFill>
                  <a:schemeClr val="tx1"/>
                </a:solidFill>
                <a:latin typeface="Source Sans Pro" panose="020B0503030403020204" pitchFamily="34" charset="0"/>
              </a:rPr>
              <a:t>), AVG(</a:t>
            </a:r>
            <a:r>
              <a:rPr lang="de-DE" sz="1600" dirty="0">
                <a:solidFill>
                  <a:schemeClr val="tx1"/>
                </a:solidFill>
                <a:latin typeface="Source Sans Pro" panose="020B0503030403020204" pitchFamily="34" charset="0"/>
              </a:rPr>
              <a:t>Datum</a:t>
            </a:r>
            <a:r>
              <a:rPr lang="de-DE" sz="1600" b="1" dirty="0">
                <a:solidFill>
                  <a:schemeClr val="tx1"/>
                </a:solidFill>
                <a:latin typeface="Source Sans Pro" panose="020B0503030403020204" pitchFamily="34" charset="0"/>
              </a:rPr>
              <a:t>) FROM </a:t>
            </a:r>
            <a:r>
              <a:rPr lang="de-DE" sz="1600" dirty="0">
                <a:solidFill>
                  <a:schemeClr val="tx1"/>
                </a:solidFill>
                <a:latin typeface="Source Sans Pro" panose="020B0503030403020204" pitchFamily="34" charset="0"/>
              </a:rPr>
              <a:t>Abrechnung</a:t>
            </a:r>
            <a:r>
              <a:rPr lang="de-DE" sz="1600" b="1" dirty="0">
                <a:solidFill>
                  <a:schemeClr val="tx1"/>
                </a:solidFill>
                <a:latin typeface="Source Sans Pro" panose="020B0503030403020204" pitchFamily="34" charset="0"/>
              </a:rPr>
              <a:t>; </a:t>
            </a:r>
            <a:r>
              <a:rPr lang="de-DE" sz="1600" b="1" dirty="0" smtClean="0">
                <a:solidFill>
                  <a:schemeClr val="bg2"/>
                </a:solidFill>
                <a:latin typeface="Source Sans Pro" panose="020B0503030403020204" pitchFamily="34" charset="0"/>
              </a:rPr>
              <a:t>………………………………………….</a:t>
            </a:r>
          </a:p>
          <a:p>
            <a:pPr algn="ctr"/>
            <a:endParaRPr lang="de-DE" sz="1600" b="1" dirty="0" smtClean="0">
              <a:solidFill>
                <a:schemeClr val="tx1"/>
              </a:solidFill>
              <a:latin typeface="Source Sans Pro" panose="020B0503030403020204" pitchFamily="34" charset="0"/>
            </a:endParaRPr>
          </a:p>
          <a:p>
            <a:pPr algn="ctr"/>
            <a:r>
              <a:rPr lang="de-DE" sz="1600" b="1" dirty="0" smtClean="0">
                <a:solidFill>
                  <a:schemeClr val="bg2"/>
                </a:solidFill>
                <a:latin typeface="Source Sans Pro" panose="020B0503030403020204" pitchFamily="34" charset="0"/>
              </a:rPr>
              <a:t>SELECT </a:t>
            </a:r>
            <a:r>
              <a:rPr lang="de-DE" sz="1600" b="1" dirty="0">
                <a:solidFill>
                  <a:schemeClr val="bg2"/>
                </a:solidFill>
                <a:latin typeface="Source Sans Pro" panose="020B0503030403020204" pitchFamily="34" charset="0"/>
              </a:rPr>
              <a:t>SUM(</a:t>
            </a:r>
            <a:r>
              <a:rPr lang="de-DE" sz="1600" dirty="0">
                <a:solidFill>
                  <a:schemeClr val="bg2"/>
                </a:solidFill>
                <a:latin typeface="Source Sans Pro" panose="020B0503030403020204" pitchFamily="34" charset="0"/>
              </a:rPr>
              <a:t>Nachname</a:t>
            </a:r>
            <a:r>
              <a:rPr lang="de-DE" sz="1600" b="1" dirty="0">
                <a:solidFill>
                  <a:schemeClr val="bg2"/>
                </a:solidFill>
                <a:latin typeface="Source Sans Pro" panose="020B0503030403020204" pitchFamily="34" charset="0"/>
              </a:rPr>
              <a:t>), AVG(</a:t>
            </a:r>
            <a:r>
              <a:rPr lang="de-DE" sz="1600" dirty="0">
                <a:solidFill>
                  <a:schemeClr val="bg2"/>
                </a:solidFill>
                <a:latin typeface="Source Sans Pro" panose="020B0503030403020204" pitchFamily="34" charset="0"/>
              </a:rPr>
              <a:t>Nachname</a:t>
            </a:r>
            <a:r>
              <a:rPr lang="de-DE" sz="1600" b="1" dirty="0">
                <a:solidFill>
                  <a:schemeClr val="bg2"/>
                </a:solidFill>
                <a:latin typeface="Source Sans Pro" panose="020B0503030403020204" pitchFamily="34" charset="0"/>
              </a:rPr>
              <a:t>) FROM </a:t>
            </a:r>
            <a:r>
              <a:rPr lang="de-DE" sz="1600" dirty="0">
                <a:solidFill>
                  <a:schemeClr val="bg2"/>
                </a:solidFill>
                <a:latin typeface="Source Sans Pro" panose="020B0503030403020204" pitchFamily="34" charset="0"/>
              </a:rPr>
              <a:t>Kunde</a:t>
            </a:r>
            <a:r>
              <a:rPr lang="de-DE" sz="1600" b="1" dirty="0">
                <a:solidFill>
                  <a:schemeClr val="bg2"/>
                </a:solidFill>
                <a:latin typeface="Source Sans Pro" panose="020B0503030403020204" pitchFamily="34" charset="0"/>
              </a:rPr>
              <a:t>;  ………………………………………….</a:t>
            </a:r>
          </a:p>
          <a:p>
            <a:pPr algn="ctr"/>
            <a:endParaRPr lang="de-DE" sz="1600" b="1" dirty="0" smtClean="0">
              <a:solidFill>
                <a:schemeClr val="bg2"/>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541944" y="2265634"/>
            <a:ext cx="1352550" cy="49530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9294370" y="3558692"/>
            <a:ext cx="1400175" cy="476250"/>
          </a:xfrm>
          <a:prstGeom prst="rect">
            <a:avLst/>
          </a:prstGeom>
          <a:effectLst>
            <a:innerShdw blurRad="114300">
              <a:prstClr val="black"/>
            </a:innerShdw>
          </a:effectLst>
        </p:spPr>
      </p:pic>
      <p:pic>
        <p:nvPicPr>
          <p:cNvPr id="11" name="Grafik 10"/>
          <p:cNvPicPr>
            <a:picLocks noChangeAspect="1"/>
          </p:cNvPicPr>
          <p:nvPr/>
        </p:nvPicPr>
        <p:blipFill>
          <a:blip r:embed="rId4"/>
          <a:stretch>
            <a:fillRect/>
          </a:stretch>
        </p:blipFill>
        <p:spPr>
          <a:xfrm>
            <a:off x="7281293" y="4835861"/>
            <a:ext cx="1870385" cy="391294"/>
          </a:xfrm>
          <a:prstGeom prst="rect">
            <a:avLst/>
          </a:prstGeom>
          <a:effectLst>
            <a:innerShdw blurRad="114300">
              <a:prstClr val="black"/>
            </a:innerShdw>
          </a:effectLst>
        </p:spPr>
      </p:pic>
    </p:spTree>
    <p:extLst>
      <p:ext uri="{BB962C8B-B14F-4D97-AF65-F5344CB8AC3E}">
        <p14:creationId xmlns:p14="http://schemas.microsoft.com/office/powerpoint/2010/main" val="24741579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D</a:t>
            </a:r>
            <a:r>
              <a:rPr lang="de-DE" dirty="0" smtClean="0">
                <a:solidFill>
                  <a:srgbClr val="0071B2"/>
                </a:solidFill>
                <a:latin typeface="Source Sans Pro" panose="020B0503030403020204" pitchFamily="34" charset="0"/>
              </a:rPr>
              <a:t>ie Aggregatfunktionen </a:t>
            </a:r>
            <a:r>
              <a:rPr lang="de-DE" b="1" dirty="0" smtClean="0">
                <a:solidFill>
                  <a:srgbClr val="0071B2"/>
                </a:solidFill>
                <a:latin typeface="Source Sans Pro" panose="020B0503030403020204" pitchFamily="34" charset="0"/>
              </a:rPr>
              <a:t>SUM </a:t>
            </a:r>
            <a:r>
              <a:rPr lang="de-DE" dirty="0" smtClean="0">
                <a:solidFill>
                  <a:srgbClr val="0071B2"/>
                </a:solidFill>
                <a:latin typeface="Source Sans Pro" panose="020B0503030403020204" pitchFamily="34" charset="0"/>
              </a:rPr>
              <a:t>und</a:t>
            </a:r>
            <a:r>
              <a:rPr lang="de-DE" b="1" dirty="0" smtClean="0">
                <a:solidFill>
                  <a:srgbClr val="0071B2"/>
                </a:solidFill>
                <a:latin typeface="Source Sans Pro" panose="020B0503030403020204" pitchFamily="34" charset="0"/>
              </a:rPr>
              <a:t> AVG </a:t>
            </a:r>
            <a:r>
              <a:rPr lang="de-DE" dirty="0" smtClean="0">
                <a:solidFill>
                  <a:srgbClr val="0071B2"/>
                </a:solidFill>
                <a:latin typeface="Source Sans Pro" panose="020B0503030403020204" pitchFamily="34" charset="0"/>
              </a:rPr>
              <a:t>ermitteln </a:t>
            </a:r>
            <a:r>
              <a:rPr lang="de-DE" b="1" dirty="0" smtClean="0">
                <a:solidFill>
                  <a:srgbClr val="0071B2"/>
                </a:solidFill>
                <a:latin typeface="Source Sans Pro" panose="020B0503030403020204" pitchFamily="34" charset="0"/>
              </a:rPr>
              <a:t>Summe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Durchschnitt</a:t>
            </a:r>
            <a:r>
              <a:rPr lang="de-DE" dirty="0" smtClean="0">
                <a:solidFill>
                  <a:srgbClr val="0071B2"/>
                </a:solidFill>
                <a:latin typeface="Source Sans Pro" panose="020B0503030403020204" pitchFamily="34" charset="0"/>
              </a:rPr>
              <a:t> (Average) der betrachteten Werte. </a:t>
            </a:r>
          </a:p>
          <a:p>
            <a:pPr marR="0" lvl="0" algn="l" defTabSz="914400" rtl="0" eaLnBrk="1" fontAlgn="auto" latinLnBrk="0" hangingPunct="1">
              <a:lnSpc>
                <a:spcPct val="100000"/>
              </a:lnSpc>
              <a:spcBef>
                <a:spcPts val="0"/>
              </a:spcBef>
              <a:spcAft>
                <a:spcPts val="0"/>
              </a:spcAft>
              <a:buClrTx/>
              <a:buSzTx/>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Durchschnittspreis aller von „Geld_her“ angeboten Waren:</a:t>
            </a:r>
          </a:p>
          <a:p>
            <a:pPr lvl="0">
              <a:defRPr/>
            </a:pPr>
            <a:r>
              <a:rPr lang="de-DE" sz="2400" b="1" dirty="0" smtClean="0">
                <a:solidFill>
                  <a:srgbClr val="0071B2"/>
                </a:solidFill>
                <a:latin typeface="Source Sans Pro" panose="020B0503030403020204" pitchFamily="34" charset="0"/>
              </a:rPr>
              <a:t>SELECT AVG(</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endParaRPr lang="de-DE" sz="24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a:defRPr/>
            </a:pPr>
            <a:r>
              <a:rPr lang="de-DE" dirty="0" smtClean="0">
                <a:solidFill>
                  <a:srgbClr val="0071B2"/>
                </a:solidFill>
                <a:latin typeface="Source Sans Pro" panose="020B0503030403020204" pitchFamily="34" charset="0"/>
              </a:rPr>
              <a:t>Gesamtbestellsume (aller bisher bei „Geld_her“ gekauften Waren):</a:t>
            </a:r>
            <a:endParaRPr lang="de-DE" b="1" dirty="0" smtClean="0">
              <a:solidFill>
                <a:srgbClr val="0071B2"/>
              </a:solidFill>
              <a:latin typeface="Source Sans Pro" panose="020B0503030403020204" pitchFamily="34" charset="0"/>
            </a:endParaRPr>
          </a:p>
          <a:p>
            <a:pPr lvl="0">
              <a:defRPr/>
            </a:pPr>
            <a:r>
              <a:rPr lang="de-DE" sz="2400" b="1" dirty="0" smtClean="0">
                <a:solidFill>
                  <a:srgbClr val="0071B2"/>
                </a:solidFill>
                <a:latin typeface="Source Sans Pro" panose="020B0503030403020204" pitchFamily="34" charset="0"/>
              </a:rPr>
              <a:t>SELECT SUM(</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Abrechnung_Produkt</a:t>
            </a:r>
            <a:r>
              <a:rPr lang="de-DE" sz="2400" b="1"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Produkt</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Abrechnung_Produkt.Produkt_ID=Produkt.Produkt_ID</a:t>
            </a:r>
            <a:r>
              <a:rPr lang="de-DE" sz="2400" b="1" dirty="0" smtClean="0">
                <a:solidFill>
                  <a:srgbClr val="0071B2"/>
                </a:solidFill>
                <a:latin typeface="Source Sans Pro" panose="020B0503030403020204" pitchFamily="34" charset="0"/>
              </a:rPr>
              <a:t>;</a:t>
            </a: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rgbClr val="0071B2"/>
                </a:solidFill>
                <a:latin typeface="Source Sans Pro" panose="020B0503030403020204" pitchFamily="34" charset="0"/>
              </a:rPr>
              <a:t>Aggregatfunktionen </a:t>
            </a:r>
            <a:r>
              <a:rPr lang="de-DE" sz="4000" dirty="0" smtClean="0">
                <a:solidFill>
                  <a:schemeClr val="accent2"/>
                </a:solidFill>
                <a:latin typeface="Source Sans Pro" panose="020B0503030403020204" pitchFamily="34" charset="0"/>
              </a:rPr>
              <a:t>SUM(…)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AVG(…)</a:t>
            </a:r>
            <a:endParaRPr lang="de-DE" sz="4000" b="0" i="1" dirty="0">
              <a:solidFill>
                <a:schemeClr val="accent2"/>
              </a:solidFill>
              <a:latin typeface="Source Sans Pro" panose="020B0503030403020204" pitchFamily="34" charset="0"/>
            </a:endParaRPr>
          </a:p>
        </p:txBody>
      </p:sp>
      <p:sp>
        <p:nvSpPr>
          <p:cNvPr id="13" name="Rechteck 12"/>
          <p:cNvSpPr/>
          <p:nvPr/>
        </p:nvSpPr>
        <p:spPr>
          <a:xfrm>
            <a:off x="174538" y="4177925"/>
            <a:ext cx="11870575" cy="175286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Der Einsatz von SUM oder AVG auf Attribute vom Typ </a:t>
            </a:r>
            <a:r>
              <a:rPr lang="de-DE" sz="1600" b="1" dirty="0" smtClean="0">
                <a:solidFill>
                  <a:schemeClr val="accent2"/>
                </a:solidFill>
                <a:latin typeface="Source Sans Pro" panose="020B0503030403020204" pitchFamily="34" charset="0"/>
              </a:rPr>
              <a:t>DATE</a:t>
            </a:r>
            <a:r>
              <a:rPr lang="de-DE" sz="1600" dirty="0" smtClean="0">
                <a:solidFill>
                  <a:schemeClr val="tx1"/>
                </a:solidFill>
                <a:latin typeface="Source Sans Pro" panose="020B0503030403020204" pitchFamily="34" charset="0"/>
              </a:rPr>
              <a:t> oder </a:t>
            </a:r>
            <a:r>
              <a:rPr lang="de-DE" sz="1600" b="1" dirty="0" smtClean="0">
                <a:solidFill>
                  <a:schemeClr val="accent2"/>
                </a:solidFill>
                <a:latin typeface="Source Sans Pro" panose="020B0503030403020204" pitchFamily="34" charset="0"/>
              </a:rPr>
              <a:t>VARCHAR</a:t>
            </a:r>
            <a:r>
              <a:rPr lang="de-DE" sz="1600" dirty="0" smtClean="0">
                <a:solidFill>
                  <a:schemeClr val="tx1"/>
                </a:solidFill>
                <a:latin typeface="Source Sans Pro" panose="020B0503030403020204" pitchFamily="34" charset="0"/>
              </a:rPr>
              <a:t> ist sinnlos, führt aber nicht zu einer Fehlermeldung:</a:t>
            </a:r>
            <a:endParaRPr lang="de-DE" sz="1600" b="1" dirty="0" smtClean="0">
              <a:solidFill>
                <a:schemeClr val="tx1"/>
              </a:solidFill>
              <a:latin typeface="Source Sans Pro" panose="020B0503030403020204" pitchFamily="34" charset="0"/>
            </a:endParaRPr>
          </a:p>
          <a:p>
            <a:pPr algn="ctr"/>
            <a:endParaRPr lang="de-DE" sz="800" dirty="0" smtClean="0">
              <a:solidFill>
                <a:schemeClr val="tx1"/>
              </a:solidFill>
              <a:latin typeface="Source Sans Pro" panose="020B0503030403020204" pitchFamily="34" charset="0"/>
            </a:endParaRPr>
          </a:p>
          <a:p>
            <a:pPr algn="ctr"/>
            <a:endParaRPr lang="de-DE" sz="1600" b="1" dirty="0" smtClean="0">
              <a:solidFill>
                <a:schemeClr val="tx1"/>
              </a:solidFill>
              <a:latin typeface="Source Sans Pro" panose="020B0503030403020204" pitchFamily="34" charset="0"/>
            </a:endParaRPr>
          </a:p>
          <a:p>
            <a:pPr algn="ctr"/>
            <a:r>
              <a:rPr lang="de-DE" sz="1600" b="1" dirty="0">
                <a:solidFill>
                  <a:schemeClr val="tx1"/>
                </a:solidFill>
                <a:latin typeface="Source Sans Pro" panose="020B0503030403020204" pitchFamily="34" charset="0"/>
              </a:rPr>
              <a:t>SELECT SUM(</a:t>
            </a:r>
            <a:r>
              <a:rPr lang="de-DE" sz="1600" dirty="0">
                <a:solidFill>
                  <a:schemeClr val="tx1"/>
                </a:solidFill>
                <a:latin typeface="Source Sans Pro" panose="020B0503030403020204" pitchFamily="34" charset="0"/>
              </a:rPr>
              <a:t>Datum</a:t>
            </a:r>
            <a:r>
              <a:rPr lang="de-DE" sz="1600" b="1" dirty="0">
                <a:solidFill>
                  <a:schemeClr val="tx1"/>
                </a:solidFill>
                <a:latin typeface="Source Sans Pro" panose="020B0503030403020204" pitchFamily="34" charset="0"/>
              </a:rPr>
              <a:t>), AVG(</a:t>
            </a:r>
            <a:r>
              <a:rPr lang="de-DE" sz="1600" dirty="0">
                <a:solidFill>
                  <a:schemeClr val="tx1"/>
                </a:solidFill>
                <a:latin typeface="Source Sans Pro" panose="020B0503030403020204" pitchFamily="34" charset="0"/>
              </a:rPr>
              <a:t>Datum</a:t>
            </a:r>
            <a:r>
              <a:rPr lang="de-DE" sz="1600" b="1" dirty="0">
                <a:solidFill>
                  <a:schemeClr val="tx1"/>
                </a:solidFill>
                <a:latin typeface="Source Sans Pro" panose="020B0503030403020204" pitchFamily="34" charset="0"/>
              </a:rPr>
              <a:t>) FROM </a:t>
            </a:r>
            <a:r>
              <a:rPr lang="de-DE" sz="1600" dirty="0">
                <a:solidFill>
                  <a:schemeClr val="tx1"/>
                </a:solidFill>
                <a:latin typeface="Source Sans Pro" panose="020B0503030403020204" pitchFamily="34" charset="0"/>
              </a:rPr>
              <a:t>Abrechnung</a:t>
            </a:r>
            <a:r>
              <a:rPr lang="de-DE" sz="1600" b="1" dirty="0">
                <a:solidFill>
                  <a:schemeClr val="tx1"/>
                </a:solidFill>
                <a:latin typeface="Source Sans Pro" panose="020B0503030403020204" pitchFamily="34" charset="0"/>
              </a:rPr>
              <a:t>; </a:t>
            </a:r>
            <a:r>
              <a:rPr lang="de-DE" sz="1600" b="1" dirty="0" smtClean="0">
                <a:solidFill>
                  <a:schemeClr val="bg2"/>
                </a:solidFill>
                <a:latin typeface="Source Sans Pro" panose="020B0503030403020204" pitchFamily="34" charset="0"/>
              </a:rPr>
              <a:t>………………………………………….</a:t>
            </a:r>
          </a:p>
          <a:p>
            <a:pPr algn="ctr"/>
            <a:endParaRPr lang="de-DE" sz="1600" b="1" dirty="0" smtClean="0">
              <a:solidFill>
                <a:schemeClr val="tx1"/>
              </a:solidFill>
              <a:latin typeface="Source Sans Pro" panose="020B0503030403020204" pitchFamily="34" charset="0"/>
            </a:endParaRPr>
          </a:p>
          <a:p>
            <a:pPr algn="ctr"/>
            <a:r>
              <a:rPr lang="de-DE" sz="1600" b="1" dirty="0" smtClean="0">
                <a:solidFill>
                  <a:schemeClr val="tx1"/>
                </a:solidFill>
                <a:latin typeface="Source Sans Pro" panose="020B0503030403020204" pitchFamily="34" charset="0"/>
              </a:rPr>
              <a:t>SELECT </a:t>
            </a:r>
            <a:r>
              <a:rPr lang="de-DE" sz="1600" b="1" dirty="0">
                <a:solidFill>
                  <a:schemeClr val="tx1"/>
                </a:solidFill>
                <a:latin typeface="Source Sans Pro" panose="020B0503030403020204" pitchFamily="34" charset="0"/>
              </a:rPr>
              <a:t>SUM(</a:t>
            </a:r>
            <a:r>
              <a:rPr lang="de-DE" sz="1600" dirty="0">
                <a:solidFill>
                  <a:schemeClr val="tx1"/>
                </a:solidFill>
                <a:latin typeface="Source Sans Pro" panose="020B0503030403020204" pitchFamily="34" charset="0"/>
              </a:rPr>
              <a:t>Nachname</a:t>
            </a:r>
            <a:r>
              <a:rPr lang="de-DE" sz="1600" b="1" dirty="0">
                <a:solidFill>
                  <a:schemeClr val="tx1"/>
                </a:solidFill>
                <a:latin typeface="Source Sans Pro" panose="020B0503030403020204" pitchFamily="34" charset="0"/>
              </a:rPr>
              <a:t>), AVG(</a:t>
            </a:r>
            <a:r>
              <a:rPr lang="de-DE" sz="1600" dirty="0">
                <a:solidFill>
                  <a:schemeClr val="tx1"/>
                </a:solidFill>
                <a:latin typeface="Source Sans Pro" panose="020B0503030403020204" pitchFamily="34" charset="0"/>
              </a:rPr>
              <a:t>Nachname</a:t>
            </a:r>
            <a:r>
              <a:rPr lang="de-DE" sz="1600" b="1" dirty="0">
                <a:solidFill>
                  <a:schemeClr val="tx1"/>
                </a:solidFill>
                <a:latin typeface="Source Sans Pro" panose="020B0503030403020204" pitchFamily="34" charset="0"/>
              </a:rPr>
              <a:t>) FROM </a:t>
            </a:r>
            <a:r>
              <a:rPr lang="de-DE" sz="1600" dirty="0">
                <a:solidFill>
                  <a:schemeClr val="tx1"/>
                </a:solidFill>
                <a:latin typeface="Source Sans Pro" panose="020B0503030403020204" pitchFamily="34" charset="0"/>
              </a:rPr>
              <a:t>Kunde</a:t>
            </a:r>
            <a:r>
              <a:rPr lang="de-DE" sz="1600" b="1" dirty="0">
                <a:solidFill>
                  <a:schemeClr val="tx1"/>
                </a:solidFill>
                <a:latin typeface="Source Sans Pro" panose="020B0503030403020204" pitchFamily="34" charset="0"/>
              </a:rPr>
              <a:t>;  </a:t>
            </a:r>
            <a:r>
              <a:rPr lang="de-DE" sz="1600" b="1" dirty="0">
                <a:solidFill>
                  <a:schemeClr val="bg2"/>
                </a:solidFill>
                <a:latin typeface="Source Sans Pro" panose="020B0503030403020204" pitchFamily="34" charset="0"/>
              </a:rPr>
              <a:t>………………………………………….</a:t>
            </a:r>
          </a:p>
          <a:p>
            <a:pPr algn="ctr"/>
            <a:endParaRPr lang="de-DE" sz="1600" b="1" dirty="0" smtClean="0">
              <a:solidFill>
                <a:schemeClr val="bg2"/>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541944" y="2265634"/>
            <a:ext cx="1352550" cy="495300"/>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9294370" y="3558692"/>
            <a:ext cx="1400175" cy="476250"/>
          </a:xfrm>
          <a:prstGeom prst="rect">
            <a:avLst/>
          </a:prstGeom>
          <a:effectLst>
            <a:innerShdw blurRad="114300">
              <a:prstClr val="black"/>
            </a:innerShdw>
          </a:effectLst>
        </p:spPr>
      </p:pic>
      <p:pic>
        <p:nvPicPr>
          <p:cNvPr id="10" name="Grafik 9"/>
          <p:cNvPicPr>
            <a:picLocks noChangeAspect="1"/>
          </p:cNvPicPr>
          <p:nvPr/>
        </p:nvPicPr>
        <p:blipFill>
          <a:blip r:embed="rId4"/>
          <a:stretch>
            <a:fillRect/>
          </a:stretch>
        </p:blipFill>
        <p:spPr>
          <a:xfrm>
            <a:off x="7138603" y="5310917"/>
            <a:ext cx="2155767" cy="381750"/>
          </a:xfrm>
          <a:prstGeom prst="rect">
            <a:avLst/>
          </a:prstGeom>
          <a:effectLst>
            <a:innerShdw blurRad="114300">
              <a:prstClr val="black"/>
            </a:innerShdw>
          </a:effectLst>
        </p:spPr>
      </p:pic>
      <p:pic>
        <p:nvPicPr>
          <p:cNvPr id="11" name="Grafik 10"/>
          <p:cNvPicPr>
            <a:picLocks noChangeAspect="1"/>
          </p:cNvPicPr>
          <p:nvPr/>
        </p:nvPicPr>
        <p:blipFill>
          <a:blip r:embed="rId5"/>
          <a:stretch>
            <a:fillRect/>
          </a:stretch>
        </p:blipFill>
        <p:spPr>
          <a:xfrm>
            <a:off x="7281293" y="4835861"/>
            <a:ext cx="1870385" cy="391294"/>
          </a:xfrm>
          <a:prstGeom prst="rect">
            <a:avLst/>
          </a:prstGeom>
          <a:effectLst>
            <a:innerShdw blurRad="114300">
              <a:prstClr val="black"/>
            </a:innerShdw>
          </a:effectLst>
        </p:spPr>
      </p:pic>
    </p:spTree>
    <p:extLst>
      <p:ext uri="{BB962C8B-B14F-4D97-AF65-F5344CB8AC3E}">
        <p14:creationId xmlns:p14="http://schemas.microsoft.com/office/powerpoint/2010/main" val="6692860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55092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Sobald die Aufgabe darin besteht, </a:t>
            </a:r>
            <a:r>
              <a:rPr lang="de-DE" b="1" dirty="0" smtClean="0">
                <a:solidFill>
                  <a:srgbClr val="0071B2"/>
                </a:solidFill>
                <a:latin typeface="Source Sans Pro" panose="020B0503030403020204" pitchFamily="34" charset="0"/>
              </a:rPr>
              <a:t>aggregierte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nicht-aggregierte</a:t>
            </a:r>
            <a:r>
              <a:rPr lang="de-DE" dirty="0" smtClean="0">
                <a:solidFill>
                  <a:srgbClr val="0071B2"/>
                </a:solidFill>
                <a:latin typeface="Source Sans Pro" panose="020B0503030403020204" pitchFamily="34" charset="0"/>
              </a:rPr>
              <a:t> Werte </a:t>
            </a:r>
            <a:r>
              <a:rPr lang="de-DE" b="1" dirty="0" smtClean="0">
                <a:solidFill>
                  <a:srgbClr val="0071B2"/>
                </a:solidFill>
                <a:latin typeface="Source Sans Pro" panose="020B0503030403020204" pitchFamily="34" charset="0"/>
              </a:rPr>
              <a:t>gemeinsam</a:t>
            </a:r>
            <a:r>
              <a:rPr lang="de-DE" dirty="0" smtClean="0">
                <a:solidFill>
                  <a:srgbClr val="0071B2"/>
                </a:solidFill>
                <a:latin typeface="Source Sans Pro" panose="020B0503030403020204" pitchFamily="34" charset="0"/>
              </a:rPr>
              <a:t> auszugeben, sollte man „hellhörig“ werden. Hier drohen Stolperfallen.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Gelegentlich kann man sich zwar über diese Probleme hinwegsetzen, dies gilt aber in der Regel als </a:t>
            </a:r>
            <a:r>
              <a:rPr lang="de-DE" b="1" dirty="0" smtClean="0">
                <a:solidFill>
                  <a:srgbClr val="0071B2"/>
                </a:solidFill>
                <a:latin typeface="Source Sans Pro" panose="020B0503030403020204" pitchFamily="34" charset="0"/>
              </a:rPr>
              <a:t>schlechter Stil</a:t>
            </a:r>
            <a:r>
              <a:rPr lang="de-DE" dirty="0" smtClean="0">
                <a:solidFill>
                  <a:srgbClr val="0071B2"/>
                </a:solidFill>
                <a:latin typeface="Source Sans Pro" panose="020B0503030403020204" pitchFamily="34" charset="0"/>
              </a:rPr>
              <a:t>, oder ist in anderen Fällen sogar schlicht </a:t>
            </a:r>
            <a:r>
              <a:rPr lang="de-DE" b="1" dirty="0" smtClean="0">
                <a:solidFill>
                  <a:srgbClr val="0071B2"/>
                </a:solidFill>
                <a:latin typeface="Source Sans Pro" panose="020B0503030403020204" pitchFamily="34" charset="0"/>
              </a:rPr>
              <a:t>falsch</a:t>
            </a:r>
            <a:r>
              <a:rPr lang="de-DE" dirty="0" smtClean="0">
                <a:solidFill>
                  <a:srgbClr val="0071B2"/>
                </a:solidFill>
                <a:latin typeface="Source Sans Pro" panose="020B0503030403020204" pitchFamily="34"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In beiden Fällen stellt dies ein Verweis auf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weiterführende Inhalte</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mit denen wir uns zum Teil bereits heute, oder aber in einigen Tagen befassen werden - wir betrachten zunächst 2 Beispiele: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Name und Preis des </a:t>
            </a:r>
            <a:r>
              <a:rPr lang="de-DE" u="sng" dirty="0" smtClean="0">
                <a:solidFill>
                  <a:srgbClr val="0071B2"/>
                </a:solidFill>
                <a:latin typeface="Source Sans Pro" panose="020B0503030403020204" pitchFamily="34" charset="0"/>
              </a:rPr>
              <a:t>billigsten</a:t>
            </a:r>
            <a:r>
              <a:rPr lang="de-DE" dirty="0" smtClean="0">
                <a:solidFill>
                  <a:srgbClr val="0071B2"/>
                </a:solidFill>
                <a:latin typeface="Source Sans Pro" panose="020B0503030403020204" pitchFamily="34" charset="0"/>
              </a:rPr>
              <a:t> Produkts:</a:t>
            </a:r>
          </a:p>
          <a:p>
            <a:pPr lvl="0">
              <a:defRPr/>
            </a:pPr>
            <a:r>
              <a:rPr lang="de-DE" sz="2400" b="1" dirty="0" smtClean="0">
                <a:solidFill>
                  <a:srgbClr val="0071B2"/>
                </a:solidFill>
                <a:latin typeface="Source Sans Pro" panose="020B0503030403020204" pitchFamily="34" charset="0"/>
              </a:rPr>
              <a:t>SELECT </a:t>
            </a:r>
            <a:r>
              <a:rPr lang="de-DE" sz="2400" dirty="0" smtClean="0">
                <a:solidFill>
                  <a:srgbClr val="0071B2"/>
                </a:solidFill>
                <a:latin typeface="Source Sans Pro" panose="020B0503030403020204" pitchFamily="34" charset="0"/>
              </a:rPr>
              <a:t>Produkt_Name</a:t>
            </a:r>
            <a:r>
              <a:rPr lang="de-DE" sz="2400" b="1" dirty="0" smtClean="0">
                <a:solidFill>
                  <a:srgbClr val="0071B2"/>
                </a:solidFill>
                <a:latin typeface="Source Sans Pro" panose="020B0503030403020204" pitchFamily="34" charset="0"/>
              </a:rPr>
              <a:t>, MIN(</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p>
          <a:p>
            <a:pPr lvl="0">
              <a:defRPr/>
            </a:pPr>
            <a:endParaRPr lang="de-DE" sz="800" b="1"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Name und Preis des </a:t>
            </a:r>
            <a:r>
              <a:rPr lang="de-DE" u="sng" dirty="0">
                <a:solidFill>
                  <a:srgbClr val="0071B2"/>
                </a:solidFill>
                <a:latin typeface="Source Sans Pro" panose="020B0503030403020204" pitchFamily="34" charset="0"/>
              </a:rPr>
              <a:t>t</a:t>
            </a:r>
            <a:r>
              <a:rPr lang="de-DE" u="sng" dirty="0" smtClean="0">
                <a:solidFill>
                  <a:srgbClr val="0071B2"/>
                </a:solidFill>
                <a:latin typeface="Source Sans Pro" panose="020B0503030403020204" pitchFamily="34" charset="0"/>
              </a:rPr>
              <a:t>euersten</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Produkts:</a:t>
            </a:r>
          </a:p>
          <a:p>
            <a:pPr lvl="0">
              <a:defRPr/>
            </a:pPr>
            <a:r>
              <a:rPr lang="de-DE" sz="2400" b="1" dirty="0">
                <a:solidFill>
                  <a:srgbClr val="0071B2"/>
                </a:solidFill>
                <a:latin typeface="Source Sans Pro" panose="020B0503030403020204" pitchFamily="34" charset="0"/>
              </a:rPr>
              <a:t>SELECT </a:t>
            </a:r>
            <a:r>
              <a:rPr lang="de-DE" sz="2400" dirty="0">
                <a:solidFill>
                  <a:srgbClr val="0071B2"/>
                </a:solidFill>
                <a:latin typeface="Source Sans Pro" panose="020B0503030403020204" pitchFamily="34" charset="0"/>
              </a:rPr>
              <a:t>Produkt_Name</a:t>
            </a: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Euro_Preis</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Produkt</a:t>
            </a:r>
            <a:r>
              <a:rPr lang="de-DE" sz="2400" b="1" dirty="0">
                <a:solidFill>
                  <a:srgbClr val="0071B2"/>
                </a:solidFill>
                <a:latin typeface="Source Sans Pro" panose="020B0503030403020204" pitchFamily="34" charset="0"/>
              </a:rPr>
              <a:t>;</a:t>
            </a:r>
          </a:p>
          <a:p>
            <a:pPr lvl="0">
              <a:defRPr/>
            </a:pPr>
            <a:endParaRPr lang="de-DE" sz="2400" b="1" dirty="0">
              <a:solidFill>
                <a:srgbClr val="0071B2"/>
              </a:solidFill>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chemeClr val="accent2"/>
                </a:solidFill>
                <a:latin typeface="Source Sans Pro" panose="020B0503030403020204" pitchFamily="34" charset="0"/>
              </a:rPr>
              <a:t>Stolperfallen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„schlechter Stil“</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8658224" y="3615531"/>
            <a:ext cx="2695575" cy="5334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8658224" y="4330659"/>
            <a:ext cx="2781300" cy="523875"/>
          </a:xfrm>
          <a:prstGeom prst="rect">
            <a:avLst/>
          </a:prstGeom>
          <a:effectLst>
            <a:innerShdw blurRad="114300">
              <a:prstClr val="black"/>
            </a:innerShdw>
          </a:effectLst>
        </p:spPr>
      </p:pic>
      <p:sp>
        <p:nvSpPr>
          <p:cNvPr id="15" name="Rechteck 14"/>
          <p:cNvSpPr/>
          <p:nvPr/>
        </p:nvSpPr>
        <p:spPr>
          <a:xfrm>
            <a:off x="174538" y="4929447"/>
            <a:ext cx="11870575" cy="185134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dirty="0" smtClean="0">
                <a:solidFill>
                  <a:schemeClr val="tx1"/>
                </a:solidFill>
                <a:latin typeface="Source Sans Pro" panose="020B0503030403020204" pitchFamily="34" charset="0"/>
              </a:rPr>
              <a:t>Die erste Ausgabe ist nur </a:t>
            </a:r>
            <a:r>
              <a:rPr lang="de-DE" b="1" dirty="0" smtClean="0">
                <a:solidFill>
                  <a:schemeClr val="tx1"/>
                </a:solidFill>
                <a:latin typeface="Source Sans Pro" panose="020B0503030403020204" pitchFamily="34" charset="0"/>
              </a:rPr>
              <a:t>zufällig korrekt</a:t>
            </a:r>
            <a:r>
              <a:rPr lang="de-DE" dirty="0" smtClean="0">
                <a:solidFill>
                  <a:schemeClr val="tx1"/>
                </a:solidFill>
                <a:latin typeface="Source Sans Pro" panose="020B0503030403020204" pitchFamily="34" charset="0"/>
              </a:rPr>
              <a:t>, da die erste Entität der Tabelle Produkt zufälligerweise das billigste Produkt ist. </a:t>
            </a:r>
          </a:p>
          <a:p>
            <a:pPr algn="ctr"/>
            <a:r>
              <a:rPr lang="de-DE" sz="1400" dirty="0" smtClean="0">
                <a:solidFill>
                  <a:schemeClr val="tx1"/>
                </a:solidFill>
                <a:latin typeface="Source Sans Pro" panose="020B0503030403020204" pitchFamily="34" charset="0"/>
              </a:rPr>
              <a:t>Dies zeigt sich zum einen an der zweiten Ausgabe, zum anderen kann die gesamte Fragestellung problematisiert werden:</a:t>
            </a:r>
          </a:p>
          <a:p>
            <a:pPr algn="ctr"/>
            <a:r>
              <a:rPr lang="de-DE" sz="1400" dirty="0" smtClean="0">
                <a:solidFill>
                  <a:schemeClr val="tx1"/>
                </a:solidFill>
                <a:latin typeface="Source Sans Pro" panose="020B0503030403020204" pitchFamily="34" charset="0"/>
              </a:rPr>
              <a:t>„Gibt es überhaupt </a:t>
            </a:r>
            <a:r>
              <a:rPr lang="de-DE" sz="1400" b="1" dirty="0" smtClean="0">
                <a:solidFill>
                  <a:schemeClr val="tx1"/>
                </a:solidFill>
                <a:latin typeface="Source Sans Pro" panose="020B0503030403020204" pitchFamily="34" charset="0"/>
              </a:rPr>
              <a:t>das eine </a:t>
            </a:r>
            <a:r>
              <a:rPr lang="de-DE" sz="1400" dirty="0" smtClean="0">
                <a:solidFill>
                  <a:schemeClr val="tx1"/>
                </a:solidFill>
                <a:latin typeface="Source Sans Pro" panose="020B0503030403020204" pitchFamily="34" charset="0"/>
              </a:rPr>
              <a:t>billigste Produkt?“ (oder gibt es mehrere gleich-billige Produkte, die sich diesen „Titel“ teilen?)</a:t>
            </a:r>
          </a:p>
          <a:p>
            <a:pPr algn="ctr"/>
            <a:endParaRPr lang="de-DE" sz="800" dirty="0">
              <a:solidFill>
                <a:schemeClr val="tx1"/>
              </a:solidFill>
              <a:latin typeface="Source Sans Pro" panose="020B0503030403020204" pitchFamily="34" charset="0"/>
            </a:endParaRPr>
          </a:p>
          <a:p>
            <a:pPr algn="ctr"/>
            <a:r>
              <a:rPr lang="de-DE" sz="1200" b="1" dirty="0" smtClean="0">
                <a:solidFill>
                  <a:schemeClr val="bg2"/>
                </a:solidFill>
                <a:latin typeface="Source Sans Pro" panose="020B0503030403020204" pitchFamily="34" charset="0"/>
              </a:rPr>
              <a:t>Bemerkung: </a:t>
            </a:r>
          </a:p>
          <a:p>
            <a:pPr algn="ctr"/>
            <a:r>
              <a:rPr lang="de-DE" sz="1200" dirty="0" smtClean="0">
                <a:solidFill>
                  <a:schemeClr val="bg2"/>
                </a:solidFill>
                <a:latin typeface="Source Sans Pro" panose="020B0503030403020204" pitchFamily="34" charset="0"/>
              </a:rPr>
              <a:t>Wir sehen hier ein schönes Beispiel für den „Widerstreit“ zweier Prinzipien. Die interne Schleife startet, gibt den ersten gefundenen Produktnamen aus, und muss dann abbrechen, da die Aggregierte Funktion erst einen Wert am Ende der Schleife ausgeben kann. Wir werden in einigen Tagen eine korrekte Lösung dieser Aufgabenstellung kennenlernen.</a:t>
            </a:r>
          </a:p>
          <a:p>
            <a:pPr algn="ctr"/>
            <a:endParaRPr lang="de-DE" sz="800" b="1" dirty="0" smtClean="0">
              <a:solidFill>
                <a:schemeClr val="tx1"/>
              </a:solidFill>
              <a:latin typeface="Source Sans Pro" panose="020B0503030403020204" pitchFamily="34" charset="0"/>
            </a:endParaRPr>
          </a:p>
        </p:txBody>
      </p:sp>
    </p:spTree>
    <p:extLst>
      <p:ext uri="{BB962C8B-B14F-4D97-AF65-F5344CB8AC3E}">
        <p14:creationId xmlns:p14="http://schemas.microsoft.com/office/powerpoint/2010/main" val="12257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55092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Sobald die Aufgabe darin besteht, </a:t>
            </a:r>
            <a:r>
              <a:rPr lang="de-DE" b="1" dirty="0" smtClean="0">
                <a:solidFill>
                  <a:srgbClr val="0071B2"/>
                </a:solidFill>
                <a:latin typeface="Source Sans Pro" panose="020B0503030403020204" pitchFamily="34" charset="0"/>
              </a:rPr>
              <a:t>aggregierte</a:t>
            </a:r>
            <a:r>
              <a:rPr lang="de-DE" dirty="0" smtClean="0">
                <a:solidFill>
                  <a:srgbClr val="0071B2"/>
                </a:solidFill>
                <a:latin typeface="Source Sans Pro" panose="020B0503030403020204" pitchFamily="34" charset="0"/>
              </a:rPr>
              <a:t> und </a:t>
            </a:r>
            <a:r>
              <a:rPr lang="de-DE" b="1" dirty="0" smtClean="0">
                <a:solidFill>
                  <a:srgbClr val="0071B2"/>
                </a:solidFill>
                <a:latin typeface="Source Sans Pro" panose="020B0503030403020204" pitchFamily="34" charset="0"/>
              </a:rPr>
              <a:t>nicht-aggregierte</a:t>
            </a:r>
            <a:r>
              <a:rPr lang="de-DE" dirty="0" smtClean="0">
                <a:solidFill>
                  <a:srgbClr val="0071B2"/>
                </a:solidFill>
                <a:latin typeface="Source Sans Pro" panose="020B0503030403020204" pitchFamily="34" charset="0"/>
              </a:rPr>
              <a:t> Werte </a:t>
            </a:r>
            <a:r>
              <a:rPr lang="de-DE" b="1" dirty="0" smtClean="0">
                <a:solidFill>
                  <a:srgbClr val="0071B2"/>
                </a:solidFill>
                <a:latin typeface="Source Sans Pro" panose="020B0503030403020204" pitchFamily="34" charset="0"/>
              </a:rPr>
              <a:t>gemeinsam</a:t>
            </a:r>
            <a:r>
              <a:rPr lang="de-DE" dirty="0" smtClean="0">
                <a:solidFill>
                  <a:srgbClr val="0071B2"/>
                </a:solidFill>
                <a:latin typeface="Source Sans Pro" panose="020B0503030403020204" pitchFamily="34" charset="0"/>
              </a:rPr>
              <a:t> auszugeben, sollte man „hellhörig“ werden. Hier drohen Stolperfallen.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Gelegentlich kann man sich zwar über diese Probleme hinwegsetzen, dies gilt aber in der Regel als </a:t>
            </a:r>
            <a:r>
              <a:rPr lang="de-DE" b="1" dirty="0" smtClean="0">
                <a:solidFill>
                  <a:srgbClr val="0071B2"/>
                </a:solidFill>
                <a:latin typeface="Source Sans Pro" panose="020B0503030403020204" pitchFamily="34" charset="0"/>
              </a:rPr>
              <a:t>schlechter Stil</a:t>
            </a:r>
            <a:r>
              <a:rPr lang="de-DE" dirty="0" smtClean="0">
                <a:solidFill>
                  <a:srgbClr val="0071B2"/>
                </a:solidFill>
                <a:latin typeface="Source Sans Pro" panose="020B0503030403020204" pitchFamily="34" charset="0"/>
              </a:rPr>
              <a:t>, oder ist in anderen Fällen sogar schlicht </a:t>
            </a:r>
            <a:r>
              <a:rPr lang="de-DE" b="1" dirty="0" smtClean="0">
                <a:solidFill>
                  <a:srgbClr val="0071B2"/>
                </a:solidFill>
                <a:latin typeface="Source Sans Pro" panose="020B0503030403020204" pitchFamily="34" charset="0"/>
              </a:rPr>
              <a:t>falsch</a:t>
            </a:r>
            <a:r>
              <a:rPr lang="de-DE" dirty="0" smtClean="0">
                <a:solidFill>
                  <a:srgbClr val="0071B2"/>
                </a:solidFill>
                <a:latin typeface="Source Sans Pro" panose="020B0503030403020204" pitchFamily="34"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In beiden Fällen stellt dies ein Verweis auf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weiterführende Inhalte</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mit denen wir uns zum Teil bereits heute, oder aber in einigen Tagen befassen werden - wir betrachten zunächst 2 Beispiele: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Name und Preis des </a:t>
            </a:r>
            <a:r>
              <a:rPr lang="de-DE" u="sng" dirty="0" smtClean="0">
                <a:solidFill>
                  <a:srgbClr val="0071B2"/>
                </a:solidFill>
                <a:latin typeface="Source Sans Pro" panose="020B0503030403020204" pitchFamily="34" charset="0"/>
              </a:rPr>
              <a:t>billigsten</a:t>
            </a:r>
            <a:r>
              <a:rPr lang="de-DE" dirty="0" smtClean="0">
                <a:solidFill>
                  <a:srgbClr val="0071B2"/>
                </a:solidFill>
                <a:latin typeface="Source Sans Pro" panose="020B0503030403020204" pitchFamily="34" charset="0"/>
              </a:rPr>
              <a:t> Produkts:</a:t>
            </a:r>
          </a:p>
          <a:p>
            <a:pPr lvl="0">
              <a:defRPr/>
            </a:pPr>
            <a:r>
              <a:rPr lang="de-DE" sz="2400" b="1" dirty="0" smtClean="0">
                <a:solidFill>
                  <a:srgbClr val="0071B2"/>
                </a:solidFill>
                <a:latin typeface="Source Sans Pro" panose="020B0503030403020204" pitchFamily="34" charset="0"/>
              </a:rPr>
              <a:t>SELECT </a:t>
            </a:r>
            <a:r>
              <a:rPr lang="de-DE" sz="2400" dirty="0" smtClean="0">
                <a:solidFill>
                  <a:srgbClr val="0071B2"/>
                </a:solidFill>
                <a:latin typeface="Source Sans Pro" panose="020B0503030403020204" pitchFamily="34" charset="0"/>
              </a:rPr>
              <a:t>Produkt_Name</a:t>
            </a:r>
            <a:r>
              <a:rPr lang="de-DE" sz="2400" b="1" dirty="0" smtClean="0">
                <a:solidFill>
                  <a:srgbClr val="0071B2"/>
                </a:solidFill>
                <a:latin typeface="Source Sans Pro" panose="020B0503030403020204" pitchFamily="34" charset="0"/>
              </a:rPr>
              <a:t>, MIN(</a:t>
            </a:r>
            <a:r>
              <a:rPr lang="de-DE" sz="2400" dirty="0" smtClean="0">
                <a:solidFill>
                  <a:srgbClr val="0071B2"/>
                </a:solidFill>
                <a:latin typeface="Source Sans Pro" panose="020B0503030403020204" pitchFamily="34" charset="0"/>
              </a:rPr>
              <a:t>Euro_Preis</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Produkt</a:t>
            </a:r>
            <a:r>
              <a:rPr lang="de-DE" sz="2400" b="1" dirty="0" smtClean="0">
                <a:solidFill>
                  <a:srgbClr val="0071B2"/>
                </a:solidFill>
                <a:latin typeface="Source Sans Pro" panose="020B0503030403020204" pitchFamily="34" charset="0"/>
              </a:rPr>
              <a:t>;</a:t>
            </a:r>
          </a:p>
          <a:p>
            <a:pPr lvl="0">
              <a:defRPr/>
            </a:pPr>
            <a:endParaRPr lang="de-DE" sz="800" b="1"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Name und Preis des </a:t>
            </a:r>
            <a:r>
              <a:rPr lang="de-DE" u="sng" dirty="0">
                <a:solidFill>
                  <a:srgbClr val="0071B2"/>
                </a:solidFill>
                <a:latin typeface="Source Sans Pro" panose="020B0503030403020204" pitchFamily="34" charset="0"/>
              </a:rPr>
              <a:t>t</a:t>
            </a:r>
            <a:r>
              <a:rPr lang="de-DE" u="sng" dirty="0" smtClean="0">
                <a:solidFill>
                  <a:srgbClr val="0071B2"/>
                </a:solidFill>
                <a:latin typeface="Source Sans Pro" panose="020B0503030403020204" pitchFamily="34" charset="0"/>
              </a:rPr>
              <a:t>euersten</a:t>
            </a:r>
            <a:r>
              <a:rPr lang="de-DE" dirty="0" smtClean="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Produkts:</a:t>
            </a:r>
          </a:p>
          <a:p>
            <a:pPr lvl="0">
              <a:defRPr/>
            </a:pPr>
            <a:r>
              <a:rPr lang="de-DE" sz="2400" b="1" dirty="0">
                <a:solidFill>
                  <a:srgbClr val="0071B2"/>
                </a:solidFill>
                <a:latin typeface="Source Sans Pro" panose="020B0503030403020204" pitchFamily="34" charset="0"/>
              </a:rPr>
              <a:t>SELECT </a:t>
            </a:r>
            <a:r>
              <a:rPr lang="de-DE" sz="2400" dirty="0">
                <a:solidFill>
                  <a:srgbClr val="0071B2"/>
                </a:solidFill>
                <a:latin typeface="Source Sans Pro" panose="020B0503030403020204" pitchFamily="34" charset="0"/>
              </a:rPr>
              <a:t>Produkt_Name</a:t>
            </a: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MAX(</a:t>
            </a:r>
            <a:r>
              <a:rPr lang="de-DE" sz="2400" dirty="0" smtClean="0">
                <a:solidFill>
                  <a:srgbClr val="0071B2"/>
                </a:solidFill>
                <a:latin typeface="Source Sans Pro" panose="020B0503030403020204" pitchFamily="34" charset="0"/>
              </a:rPr>
              <a:t>Euro_Preis</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Produkt</a:t>
            </a:r>
            <a:r>
              <a:rPr lang="de-DE" sz="2400" b="1" dirty="0">
                <a:solidFill>
                  <a:srgbClr val="0071B2"/>
                </a:solidFill>
                <a:latin typeface="Source Sans Pro" panose="020B0503030403020204" pitchFamily="34" charset="0"/>
              </a:rPr>
              <a:t>;</a:t>
            </a:r>
          </a:p>
          <a:p>
            <a:pPr lvl="0">
              <a:defRPr/>
            </a:pPr>
            <a:endParaRPr lang="de-DE" sz="2400" b="1" dirty="0">
              <a:solidFill>
                <a:srgbClr val="0071B2"/>
              </a:solidFill>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chemeClr val="accent2"/>
                </a:solidFill>
                <a:latin typeface="Source Sans Pro" panose="020B0503030403020204" pitchFamily="34" charset="0"/>
              </a:rPr>
              <a:t>Stolperfallen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„schlechter Stil“</a:t>
            </a:r>
            <a:endParaRPr lang="de-DE" sz="4000" b="0" i="1" dirty="0">
              <a:solidFill>
                <a:schemeClr val="accent2"/>
              </a:solidFill>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8658224" y="3615531"/>
            <a:ext cx="2695575" cy="5334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8658224" y="4330659"/>
            <a:ext cx="2781300" cy="523875"/>
          </a:xfrm>
          <a:prstGeom prst="rect">
            <a:avLst/>
          </a:prstGeom>
          <a:effectLst>
            <a:innerShdw blurRad="114300">
              <a:prstClr val="black"/>
            </a:innerShdw>
          </a:effectLst>
        </p:spPr>
      </p:pic>
      <p:sp>
        <p:nvSpPr>
          <p:cNvPr id="14" name="Rechteck 13"/>
          <p:cNvSpPr/>
          <p:nvPr/>
        </p:nvSpPr>
        <p:spPr>
          <a:xfrm>
            <a:off x="174538" y="4929447"/>
            <a:ext cx="11870575" cy="185134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dirty="0" smtClean="0">
                <a:solidFill>
                  <a:schemeClr val="tx1"/>
                </a:solidFill>
                <a:latin typeface="Source Sans Pro" panose="020B0503030403020204" pitchFamily="34" charset="0"/>
              </a:rPr>
              <a:t>Die erste Ausgabe ist nur </a:t>
            </a:r>
            <a:r>
              <a:rPr lang="de-DE" b="1" dirty="0" smtClean="0">
                <a:solidFill>
                  <a:schemeClr val="tx1"/>
                </a:solidFill>
                <a:latin typeface="Source Sans Pro" panose="020B0503030403020204" pitchFamily="34" charset="0"/>
              </a:rPr>
              <a:t>zufällig korrekt</a:t>
            </a:r>
            <a:r>
              <a:rPr lang="de-DE" dirty="0" smtClean="0">
                <a:solidFill>
                  <a:schemeClr val="tx1"/>
                </a:solidFill>
                <a:latin typeface="Source Sans Pro" panose="020B0503030403020204" pitchFamily="34" charset="0"/>
              </a:rPr>
              <a:t>, da die erste Entität der Tabelle Produkt zufälligerweise das billigste Produkt ist. </a:t>
            </a:r>
          </a:p>
          <a:p>
            <a:pPr algn="ctr"/>
            <a:r>
              <a:rPr lang="de-DE" sz="1400" dirty="0" smtClean="0">
                <a:solidFill>
                  <a:schemeClr val="tx1"/>
                </a:solidFill>
                <a:latin typeface="Source Sans Pro" panose="020B0503030403020204" pitchFamily="34" charset="0"/>
              </a:rPr>
              <a:t>Dies zeigt sich zum einen an der zweiten Ausgabe, zum anderen kann die gesamte Fragestellung problematisiert werden:</a:t>
            </a:r>
          </a:p>
          <a:p>
            <a:pPr algn="ctr"/>
            <a:r>
              <a:rPr lang="de-DE" sz="1400" dirty="0" smtClean="0">
                <a:solidFill>
                  <a:schemeClr val="tx1"/>
                </a:solidFill>
                <a:latin typeface="Source Sans Pro" panose="020B0503030403020204" pitchFamily="34" charset="0"/>
              </a:rPr>
              <a:t>„Gibt es überhaupt </a:t>
            </a:r>
            <a:r>
              <a:rPr lang="de-DE" sz="1400" b="1" dirty="0" smtClean="0">
                <a:solidFill>
                  <a:schemeClr val="tx1"/>
                </a:solidFill>
                <a:latin typeface="Source Sans Pro" panose="020B0503030403020204" pitchFamily="34" charset="0"/>
              </a:rPr>
              <a:t>das eine </a:t>
            </a:r>
            <a:r>
              <a:rPr lang="de-DE" sz="1400" dirty="0" smtClean="0">
                <a:solidFill>
                  <a:schemeClr val="tx1"/>
                </a:solidFill>
                <a:latin typeface="Source Sans Pro" panose="020B0503030403020204" pitchFamily="34" charset="0"/>
              </a:rPr>
              <a:t>billigste Produkt?“ (oder gibt es mehrere gleich-billige Produkte, die sich diesen „Titel“ teilen?)</a:t>
            </a:r>
          </a:p>
          <a:p>
            <a:pPr algn="ctr"/>
            <a:endParaRPr lang="de-DE" sz="800" dirty="0">
              <a:solidFill>
                <a:schemeClr val="tx1"/>
              </a:solidFill>
              <a:latin typeface="Source Sans Pro" panose="020B0503030403020204" pitchFamily="34" charset="0"/>
            </a:endParaRPr>
          </a:p>
          <a:p>
            <a:pPr algn="ctr"/>
            <a:r>
              <a:rPr lang="de-DE" sz="1200" b="1" dirty="0" smtClean="0">
                <a:solidFill>
                  <a:schemeClr val="tx1"/>
                </a:solidFill>
                <a:latin typeface="Source Sans Pro" panose="020B0503030403020204" pitchFamily="34" charset="0"/>
              </a:rPr>
              <a:t>Erläuterung: </a:t>
            </a:r>
          </a:p>
          <a:p>
            <a:pPr algn="ctr"/>
            <a:r>
              <a:rPr lang="de-DE" sz="1200" dirty="0" smtClean="0">
                <a:solidFill>
                  <a:schemeClr val="tx1"/>
                </a:solidFill>
                <a:latin typeface="Source Sans Pro" panose="020B0503030403020204" pitchFamily="34" charset="0"/>
              </a:rPr>
              <a:t>Wir sehen hier ein schönes Beispiel für den „Widerstreit“ zweier Prinzipien. Die interne Schleife startet, gibt den ersten gefundenen Produktnamen aus, und muss dann abbrechen, da die Aggregierte Funktion erst am Ende der Schleife </a:t>
            </a:r>
            <a:r>
              <a:rPr lang="de-DE" sz="1200" dirty="0">
                <a:solidFill>
                  <a:schemeClr val="tx1"/>
                </a:solidFill>
                <a:latin typeface="Source Sans Pro" panose="020B0503030403020204" pitchFamily="34" charset="0"/>
              </a:rPr>
              <a:t>einen Wert </a:t>
            </a:r>
            <a:r>
              <a:rPr lang="de-DE" sz="1200" dirty="0" smtClean="0">
                <a:solidFill>
                  <a:schemeClr val="tx1"/>
                </a:solidFill>
                <a:latin typeface="Source Sans Pro" panose="020B0503030403020204" pitchFamily="34" charset="0"/>
              </a:rPr>
              <a:t>ausgeben kann. Wir werden in einigen Tagen eine korrekte Lösung dieser Aufgabenstellung kennenlernen.</a:t>
            </a:r>
          </a:p>
          <a:p>
            <a:pPr algn="ctr"/>
            <a:endParaRPr lang="de-DE" sz="800" b="1" dirty="0" smtClean="0">
              <a:solidFill>
                <a:schemeClr val="tx1"/>
              </a:solidFill>
              <a:latin typeface="Source Sans Pro" panose="020B0503030403020204" pitchFamily="34" charset="0"/>
            </a:endParaRPr>
          </a:p>
        </p:txBody>
      </p:sp>
    </p:spTree>
    <p:extLst>
      <p:ext uri="{BB962C8B-B14F-4D97-AF65-F5344CB8AC3E}">
        <p14:creationId xmlns:p14="http://schemas.microsoft.com/office/powerpoint/2010/main" val="40070438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35702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lvl="0">
              <a:defRPr/>
            </a:pPr>
            <a:r>
              <a:rPr lang="de-DE" dirty="0" smtClean="0">
                <a:solidFill>
                  <a:srgbClr val="0071B2"/>
                </a:solidFill>
                <a:latin typeface="Source Sans Pro" panose="020B0503030403020204" pitchFamily="34" charset="0"/>
              </a:rPr>
              <a:t>Nachname und Anzahl der Abrechnungen von Kunde 2:</a:t>
            </a:r>
          </a:p>
          <a:p>
            <a:pPr lvl="0">
              <a:defRPr/>
            </a:pPr>
            <a:r>
              <a:rPr lang="de-DE" sz="2400" b="1" dirty="0" smtClean="0">
                <a:solidFill>
                  <a:srgbClr val="0071B2"/>
                </a:solidFill>
                <a:latin typeface="Source Sans Pro" panose="020B0503030403020204" pitchFamily="34" charset="0"/>
              </a:rPr>
              <a:t>SELECT </a:t>
            </a:r>
            <a:r>
              <a:rPr lang="de-DE" sz="2400" dirty="0" smtClean="0">
                <a:solidFill>
                  <a:srgbClr val="0071B2"/>
                </a:solidFill>
                <a:latin typeface="Source Sans Pro" panose="020B0503030403020204" pitchFamily="34" charset="0"/>
              </a:rPr>
              <a:t>Nachname</a:t>
            </a:r>
            <a:r>
              <a:rPr lang="de-DE" sz="2400" b="1" dirty="0" smtClean="0">
                <a:solidFill>
                  <a:srgbClr val="0071B2"/>
                </a:solidFill>
                <a:latin typeface="Source Sans Pro" panose="020B0503030403020204" pitchFamily="34" charset="0"/>
              </a:rPr>
              <a:t>, COUNT(</a:t>
            </a:r>
            <a:r>
              <a:rPr lang="de-DE" sz="2400" dirty="0" smtClean="0">
                <a:solidFill>
                  <a:srgbClr val="0071B2"/>
                </a:solidFill>
                <a:latin typeface="Source Sans Pro" panose="020B0503030403020204" pitchFamily="34" charset="0"/>
              </a:rPr>
              <a:t>*</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Kunde</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 Abrechnung</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Kunde.Kunde_ID</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2</a:t>
            </a:r>
            <a:r>
              <a:rPr lang="de-DE" sz="2400" b="1" dirty="0" smtClean="0">
                <a:solidFill>
                  <a:srgbClr val="0071B2"/>
                </a:solidFill>
                <a:latin typeface="Source Sans Pro" panose="020B0503030403020204" pitchFamily="34" charset="0"/>
              </a:rPr>
              <a:t> </a:t>
            </a:r>
          </a:p>
          <a:p>
            <a:pPr lvl="0">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AND </a:t>
            </a:r>
            <a:r>
              <a:rPr lang="de-DE" sz="2400" dirty="0" smtClean="0">
                <a:solidFill>
                  <a:srgbClr val="0071B2"/>
                </a:solidFill>
                <a:latin typeface="Source Sans Pro" panose="020B0503030403020204" pitchFamily="34" charset="0"/>
              </a:rPr>
              <a:t>Kunde.Kunde_ID</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Abrechnung.Kunde_ID</a:t>
            </a:r>
            <a:r>
              <a:rPr lang="de-DE" sz="2400" b="1" dirty="0" smtClean="0">
                <a:solidFill>
                  <a:srgbClr val="0071B2"/>
                </a:solidFill>
                <a:latin typeface="Source Sans Pro" panose="020B0503030403020204" pitchFamily="34" charset="0"/>
              </a:rPr>
              <a:t>;</a:t>
            </a:r>
          </a:p>
          <a:p>
            <a:pPr lvl="0">
              <a:defRPr/>
            </a:pPr>
            <a:endParaRPr lang="de-DE" sz="8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chemeClr val="accent2"/>
                </a:solidFill>
                <a:latin typeface="Source Sans Pro" panose="020B0503030403020204" pitchFamily="34" charset="0"/>
              </a:rPr>
              <a:t>Stolperfallen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„schlechter Stil“</a:t>
            </a:r>
            <a:endParaRPr lang="de-DE" sz="4000" b="0" i="1" dirty="0">
              <a:solidFill>
                <a:schemeClr val="accent2"/>
              </a:solidFill>
              <a:latin typeface="Source Sans Pro" panose="020B0503030403020204" pitchFamily="34" charset="0"/>
            </a:endParaRPr>
          </a:p>
        </p:txBody>
      </p:sp>
      <p:sp>
        <p:nvSpPr>
          <p:cNvPr id="14" name="Rechteck 13"/>
          <p:cNvSpPr/>
          <p:nvPr/>
        </p:nvSpPr>
        <p:spPr>
          <a:xfrm>
            <a:off x="174538" y="3456065"/>
            <a:ext cx="11870575" cy="223815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2000" b="1" dirty="0" smtClean="0">
                <a:solidFill>
                  <a:schemeClr val="tx1"/>
                </a:solidFill>
                <a:latin typeface="Source Sans Pro" panose="020B0503030403020204" pitchFamily="34" charset="0"/>
              </a:rPr>
              <a:t>Diese Lösung ist zwar korrekt, gilt aber (zumindest aus strenger Sicht) als „schlechter Stil“. </a:t>
            </a:r>
          </a:p>
          <a:p>
            <a:pPr algn="ctr"/>
            <a:r>
              <a:rPr lang="de-DE" dirty="0" smtClean="0">
                <a:solidFill>
                  <a:schemeClr val="tx1"/>
                </a:solidFill>
                <a:latin typeface="Source Sans Pro" panose="020B0503030403020204" pitchFamily="34" charset="0"/>
              </a:rPr>
              <a:t>Auch hier wird nämlich einfach der erste gefundene Nachname ausgegeben, der in diesem Fall aber auf </a:t>
            </a:r>
            <a:r>
              <a:rPr lang="de-DE" dirty="0">
                <a:solidFill>
                  <a:schemeClr val="tx1"/>
                </a:solidFill>
                <a:latin typeface="Source Sans Pro" panose="020B0503030403020204" pitchFamily="34" charset="0"/>
              </a:rPr>
              <a:t>G</a:t>
            </a:r>
            <a:r>
              <a:rPr lang="de-DE" dirty="0" smtClean="0">
                <a:solidFill>
                  <a:schemeClr val="tx1"/>
                </a:solidFill>
                <a:latin typeface="Source Sans Pro" panose="020B0503030403020204" pitchFamily="34" charset="0"/>
              </a:rPr>
              <a:t>rund der Bedingung </a:t>
            </a:r>
            <a:r>
              <a:rPr lang="de-DE" b="1" dirty="0" smtClean="0">
                <a:solidFill>
                  <a:schemeClr val="tx1"/>
                </a:solidFill>
                <a:latin typeface="Source Sans Pro" panose="020B0503030403020204" pitchFamily="34" charset="0"/>
              </a:rPr>
              <a:t>Kunde.Kunde_ID=2</a:t>
            </a:r>
            <a:r>
              <a:rPr lang="de-DE" dirty="0" smtClean="0">
                <a:solidFill>
                  <a:schemeClr val="tx1"/>
                </a:solidFill>
                <a:latin typeface="Source Sans Pro" panose="020B0503030403020204" pitchFamily="34" charset="0"/>
              </a:rPr>
              <a:t> identisch zu den Namen aller anderen Datensätze ist. </a:t>
            </a:r>
          </a:p>
          <a:p>
            <a:pPr algn="ctr"/>
            <a:endParaRPr lang="de-DE" dirty="0">
              <a:solidFill>
                <a:schemeClr val="tx1"/>
              </a:solidFill>
              <a:latin typeface="Source Sans Pro" panose="020B0503030403020204" pitchFamily="34" charset="0"/>
            </a:endParaRPr>
          </a:p>
          <a:p>
            <a:pPr algn="ctr"/>
            <a:r>
              <a:rPr lang="de-DE" sz="1200" dirty="0" smtClean="0">
                <a:solidFill>
                  <a:schemeClr val="bg2"/>
                </a:solidFill>
                <a:latin typeface="Source Sans Pro" panose="020B0503030403020204" pitchFamily="34" charset="0"/>
              </a:rPr>
              <a:t>Es ist daher </a:t>
            </a:r>
            <a:r>
              <a:rPr lang="de-DE" sz="1200" b="1" dirty="0" smtClean="0">
                <a:solidFill>
                  <a:schemeClr val="bg2"/>
                </a:solidFill>
                <a:latin typeface="Source Sans Pro" panose="020B0503030403020204" pitchFamily="34" charset="0"/>
              </a:rPr>
              <a:t>„kein Zufall“</a:t>
            </a:r>
            <a:r>
              <a:rPr lang="de-DE" sz="1200" dirty="0" smtClean="0">
                <a:solidFill>
                  <a:schemeClr val="bg2"/>
                </a:solidFill>
                <a:latin typeface="Source Sans Pro" panose="020B0503030403020204" pitchFamily="34" charset="0"/>
              </a:rPr>
              <a:t>,</a:t>
            </a:r>
            <a:r>
              <a:rPr lang="de-DE" sz="1200" b="1" dirty="0" smtClean="0">
                <a:solidFill>
                  <a:schemeClr val="bg2"/>
                </a:solidFill>
                <a:latin typeface="Source Sans Pro" panose="020B0503030403020204" pitchFamily="34" charset="0"/>
              </a:rPr>
              <a:t> </a:t>
            </a:r>
            <a:r>
              <a:rPr lang="de-DE" sz="1200" dirty="0" smtClean="0">
                <a:solidFill>
                  <a:schemeClr val="bg2"/>
                </a:solidFill>
                <a:latin typeface="Source Sans Pro" panose="020B0503030403020204" pitchFamily="34" charset="0"/>
              </a:rPr>
              <a:t>dass der Nachname (Deise) hier tatsächlich zu dem aggregierten Wert (2) gehört.</a:t>
            </a:r>
          </a:p>
          <a:p>
            <a:pPr algn="ctr"/>
            <a:r>
              <a:rPr lang="de-DE" sz="1200" dirty="0" smtClean="0">
                <a:solidFill>
                  <a:schemeClr val="bg2"/>
                </a:solidFill>
                <a:latin typeface="Source Sans Pro" panose="020B0503030403020204" pitchFamily="34" charset="0"/>
              </a:rPr>
              <a:t>Wir wollen aber „kombinierte Ausgaben“ von </a:t>
            </a:r>
            <a:r>
              <a:rPr lang="de-DE" sz="1200" b="1" dirty="0" smtClean="0">
                <a:solidFill>
                  <a:schemeClr val="bg2"/>
                </a:solidFill>
                <a:latin typeface="Source Sans Pro" panose="020B0503030403020204" pitchFamily="34" charset="0"/>
              </a:rPr>
              <a:t>aggregierten</a:t>
            </a:r>
            <a:r>
              <a:rPr lang="de-DE" sz="1200" dirty="0" smtClean="0">
                <a:solidFill>
                  <a:schemeClr val="bg2"/>
                </a:solidFill>
                <a:latin typeface="Source Sans Pro" panose="020B0503030403020204" pitchFamily="34" charset="0"/>
              </a:rPr>
              <a:t> und </a:t>
            </a:r>
            <a:r>
              <a:rPr lang="de-DE" sz="1200" b="1" dirty="0" smtClean="0">
                <a:solidFill>
                  <a:schemeClr val="bg2"/>
                </a:solidFill>
                <a:latin typeface="Source Sans Pro" panose="020B0503030403020204" pitchFamily="34" charset="0"/>
              </a:rPr>
              <a:t>nicht-aggregierten </a:t>
            </a:r>
            <a:r>
              <a:rPr lang="de-DE" sz="1200" dirty="0" smtClean="0">
                <a:solidFill>
                  <a:schemeClr val="bg2"/>
                </a:solidFill>
                <a:latin typeface="Source Sans Pro" panose="020B0503030403020204" pitchFamily="34" charset="0"/>
              </a:rPr>
              <a:t>Werten zukünftig mittels </a:t>
            </a:r>
            <a:r>
              <a:rPr lang="de-DE" sz="1200" b="1" dirty="0" smtClean="0">
                <a:solidFill>
                  <a:schemeClr val="bg2"/>
                </a:solidFill>
                <a:latin typeface="Source Sans Pro" panose="020B0503030403020204" pitchFamily="34" charset="0"/>
              </a:rPr>
              <a:t>„Gruppierungen“ </a:t>
            </a:r>
            <a:r>
              <a:rPr lang="de-DE" sz="1200" dirty="0" smtClean="0">
                <a:solidFill>
                  <a:schemeClr val="bg2"/>
                </a:solidFill>
                <a:latin typeface="Source Sans Pro" panose="020B0503030403020204" pitchFamily="34" charset="0"/>
              </a:rPr>
              <a:t>umsetzen.</a:t>
            </a:r>
          </a:p>
          <a:p>
            <a:pPr algn="ctr"/>
            <a:endParaRPr lang="de-DE" sz="1200" dirty="0" smtClean="0">
              <a:solidFill>
                <a:schemeClr val="bg2"/>
              </a:solidFill>
              <a:latin typeface="Source Sans Pro" panose="020B0503030403020204" pitchFamily="34" charset="0"/>
            </a:endParaRPr>
          </a:p>
          <a:p>
            <a:pPr algn="ctr"/>
            <a:r>
              <a:rPr lang="de-DE" sz="1200" dirty="0" smtClean="0">
                <a:solidFill>
                  <a:schemeClr val="bg2"/>
                </a:solidFill>
                <a:latin typeface="Source Sans Pro" panose="020B0503030403020204" pitchFamily="34" charset="0"/>
              </a:rPr>
              <a:t>Dies wird Gegenstand der folgenden Folien sein. Bleiben Sie gespannt ;-)</a:t>
            </a:r>
          </a:p>
          <a:p>
            <a:pPr algn="ctr"/>
            <a:endParaRPr lang="de-DE" sz="1200"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8437764" y="2415251"/>
            <a:ext cx="1866900" cy="495300"/>
          </a:xfrm>
          <a:prstGeom prst="rect">
            <a:avLst/>
          </a:prstGeom>
          <a:effectLst>
            <a:innerShdw blurRad="114300">
              <a:prstClr val="black"/>
            </a:innerShdw>
          </a:effectLst>
        </p:spPr>
      </p:pic>
    </p:spTree>
    <p:extLst>
      <p:ext uri="{BB962C8B-B14F-4D97-AF65-F5344CB8AC3E}">
        <p14:creationId xmlns:p14="http://schemas.microsoft.com/office/powerpoint/2010/main" val="266044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77885" y="1271590"/>
            <a:ext cx="10976310" cy="35702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lvl="0">
              <a:defRPr/>
            </a:pPr>
            <a:r>
              <a:rPr lang="de-DE" dirty="0" smtClean="0">
                <a:solidFill>
                  <a:srgbClr val="0071B2"/>
                </a:solidFill>
                <a:latin typeface="Source Sans Pro" panose="020B0503030403020204" pitchFamily="34" charset="0"/>
              </a:rPr>
              <a:t>Nachname und Anzahl der Abrechnungen von Kunde 2:</a:t>
            </a:r>
          </a:p>
          <a:p>
            <a:pPr lvl="0">
              <a:defRPr/>
            </a:pPr>
            <a:r>
              <a:rPr lang="de-DE" sz="2400" b="1" dirty="0" smtClean="0">
                <a:solidFill>
                  <a:srgbClr val="0071B2"/>
                </a:solidFill>
                <a:latin typeface="Source Sans Pro" panose="020B0503030403020204" pitchFamily="34" charset="0"/>
              </a:rPr>
              <a:t>SELECT </a:t>
            </a:r>
            <a:r>
              <a:rPr lang="de-DE" sz="2400" dirty="0" smtClean="0">
                <a:solidFill>
                  <a:srgbClr val="0071B2"/>
                </a:solidFill>
                <a:latin typeface="Source Sans Pro" panose="020B0503030403020204" pitchFamily="34" charset="0"/>
              </a:rPr>
              <a:t>Nachname</a:t>
            </a:r>
            <a:r>
              <a:rPr lang="de-DE" sz="2400" b="1" dirty="0" smtClean="0">
                <a:solidFill>
                  <a:srgbClr val="0071B2"/>
                </a:solidFill>
                <a:latin typeface="Source Sans Pro" panose="020B0503030403020204" pitchFamily="34" charset="0"/>
              </a:rPr>
              <a:t>, COUNT(</a:t>
            </a:r>
            <a:r>
              <a:rPr lang="de-DE" sz="2400" dirty="0" smtClean="0">
                <a:solidFill>
                  <a:srgbClr val="0071B2"/>
                </a:solidFill>
                <a:latin typeface="Source Sans Pro" panose="020B0503030403020204" pitchFamily="34" charset="0"/>
              </a:rPr>
              <a:t>*</a:t>
            </a:r>
            <a:r>
              <a:rPr lang="de-DE" sz="2400" b="1" dirty="0" smtClean="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FROM </a:t>
            </a:r>
            <a:r>
              <a:rPr lang="de-DE" sz="2400" dirty="0" smtClean="0">
                <a:solidFill>
                  <a:srgbClr val="0071B2"/>
                </a:solidFill>
                <a:latin typeface="Source Sans Pro" panose="020B0503030403020204" pitchFamily="34" charset="0"/>
              </a:rPr>
              <a:t>Kunde</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 Abrechnung</a:t>
            </a:r>
          </a:p>
          <a:p>
            <a:pPr lvl="0">
              <a:defRPr/>
            </a:pPr>
            <a:r>
              <a:rPr lang="de-DE" sz="2400" b="1" dirty="0" smtClean="0">
                <a:solidFill>
                  <a:srgbClr val="0071B2"/>
                </a:solidFill>
                <a:latin typeface="Source Sans Pro" panose="020B0503030403020204" pitchFamily="34" charset="0"/>
              </a:rPr>
              <a:t>WHERE </a:t>
            </a:r>
            <a:r>
              <a:rPr lang="de-DE" sz="2400" dirty="0" smtClean="0">
                <a:solidFill>
                  <a:srgbClr val="0071B2"/>
                </a:solidFill>
                <a:latin typeface="Source Sans Pro" panose="020B0503030403020204" pitchFamily="34" charset="0"/>
              </a:rPr>
              <a:t>Kunde.Kunde_ID</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2</a:t>
            </a:r>
            <a:r>
              <a:rPr lang="de-DE" sz="2400" b="1" dirty="0" smtClean="0">
                <a:solidFill>
                  <a:srgbClr val="0071B2"/>
                </a:solidFill>
                <a:latin typeface="Source Sans Pro" panose="020B0503030403020204" pitchFamily="34" charset="0"/>
              </a:rPr>
              <a:t> </a:t>
            </a:r>
          </a:p>
          <a:p>
            <a:pPr lvl="0">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AND </a:t>
            </a:r>
            <a:r>
              <a:rPr lang="de-DE" sz="2400" dirty="0" smtClean="0">
                <a:solidFill>
                  <a:srgbClr val="0071B2"/>
                </a:solidFill>
                <a:latin typeface="Source Sans Pro" panose="020B0503030403020204" pitchFamily="34" charset="0"/>
              </a:rPr>
              <a:t>Kunde.Kunde_ID</a:t>
            </a:r>
            <a:r>
              <a:rPr lang="de-DE" sz="2400" b="1" dirty="0" smtClean="0">
                <a:solidFill>
                  <a:srgbClr val="0071B2"/>
                </a:solidFill>
                <a:latin typeface="Source Sans Pro" panose="020B0503030403020204" pitchFamily="34" charset="0"/>
              </a:rPr>
              <a:t>=</a:t>
            </a:r>
            <a:r>
              <a:rPr lang="de-DE" sz="2400" dirty="0" smtClean="0">
                <a:solidFill>
                  <a:srgbClr val="0071B2"/>
                </a:solidFill>
                <a:latin typeface="Source Sans Pro" panose="020B0503030403020204" pitchFamily="34" charset="0"/>
              </a:rPr>
              <a:t>Abrechnung.Kunde_ID</a:t>
            </a:r>
            <a:r>
              <a:rPr lang="de-DE" sz="2400" b="1" dirty="0" smtClean="0">
                <a:solidFill>
                  <a:srgbClr val="0071B2"/>
                </a:solidFill>
                <a:latin typeface="Source Sans Pro" panose="020B0503030403020204" pitchFamily="34" charset="0"/>
              </a:rPr>
              <a:t>;</a:t>
            </a:r>
          </a:p>
          <a:p>
            <a:pPr lvl="0">
              <a:defRPr/>
            </a:pPr>
            <a:endParaRPr lang="de-DE" sz="800" b="1" dirty="0">
              <a:solidFill>
                <a:srgbClr val="0071B2"/>
              </a:solidFill>
              <a:latin typeface="Source Sans Pro" panose="020B0503030403020204" pitchFamily="34" charset="0"/>
            </a:endParaRPr>
          </a:p>
          <a:p>
            <a:pPr lvl="0">
              <a:defRPr/>
            </a:pPr>
            <a:endParaRPr lang="de-DE" sz="2400" b="1" dirty="0">
              <a:solidFill>
                <a:srgbClr val="0071B2"/>
              </a:solidFill>
              <a:latin typeface="Source Sans Pro" panose="020B0503030403020204" pitchFamily="34" charset="0"/>
            </a:endParaRPr>
          </a:p>
          <a:p>
            <a:pPr lvl="0">
              <a:defRPr/>
            </a:pPr>
            <a:endParaRPr lang="de-DE" sz="2400" b="1" dirty="0" smtClean="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a:p>
            <a:pPr lvl="0">
              <a:defRPr/>
            </a:pPr>
            <a:endParaRPr lang="de-DE" dirty="0" smtClean="0">
              <a:solidFill>
                <a:srgbClr val="0071B2"/>
              </a:solidFill>
              <a:latin typeface="Source Sans Pro" panose="020B0503030403020204" pitchFamily="34" charset="0"/>
            </a:endParaRPr>
          </a:p>
          <a:p>
            <a:pPr>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smtClean="0">
                <a:solidFill>
                  <a:schemeClr val="accent2"/>
                </a:solidFill>
                <a:latin typeface="Source Sans Pro" panose="020B0503030403020204" pitchFamily="34" charset="0"/>
              </a:rPr>
              <a:t>Stolperfallen </a:t>
            </a:r>
            <a:r>
              <a:rPr lang="de-DE" sz="4000" dirty="0" smtClean="0">
                <a:latin typeface="Source Sans Pro" panose="020B0503030403020204" pitchFamily="34" charset="0"/>
              </a:rPr>
              <a:t>und</a:t>
            </a:r>
            <a:r>
              <a:rPr lang="de-DE" sz="4000" dirty="0" smtClean="0">
                <a:solidFill>
                  <a:schemeClr val="accent2"/>
                </a:solidFill>
                <a:latin typeface="Source Sans Pro" panose="020B0503030403020204" pitchFamily="34" charset="0"/>
              </a:rPr>
              <a:t> „schlechter Stil“</a:t>
            </a:r>
            <a:endParaRPr lang="de-DE" sz="4000" b="0" i="1" dirty="0">
              <a:solidFill>
                <a:schemeClr val="accent2"/>
              </a:solidFill>
              <a:latin typeface="Source Sans Pro" panose="020B0503030403020204" pitchFamily="34" charset="0"/>
            </a:endParaRPr>
          </a:p>
        </p:txBody>
      </p:sp>
      <p:sp>
        <p:nvSpPr>
          <p:cNvPr id="14" name="Rechteck 13"/>
          <p:cNvSpPr/>
          <p:nvPr/>
        </p:nvSpPr>
        <p:spPr>
          <a:xfrm>
            <a:off x="174538" y="3456065"/>
            <a:ext cx="11870575" cy="2238153"/>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sz="2000" b="1" dirty="0" smtClean="0">
                <a:solidFill>
                  <a:schemeClr val="tx1"/>
                </a:solidFill>
                <a:latin typeface="Source Sans Pro" panose="020B0503030403020204" pitchFamily="34" charset="0"/>
              </a:rPr>
              <a:t>Diese Lösung ist zwar korrekt, gilt aber (zumindest aus strenger Sicht) als „schlechter Stil“. </a:t>
            </a:r>
          </a:p>
          <a:p>
            <a:pPr algn="ctr"/>
            <a:r>
              <a:rPr lang="de-DE" dirty="0" smtClean="0">
                <a:solidFill>
                  <a:schemeClr val="tx1"/>
                </a:solidFill>
                <a:latin typeface="Source Sans Pro" panose="020B0503030403020204" pitchFamily="34" charset="0"/>
              </a:rPr>
              <a:t>Auch hier wird nämlich einfach der erste gefundene Nachname ausgegeben, der in diesem Fall aber auf </a:t>
            </a:r>
            <a:r>
              <a:rPr lang="de-DE" dirty="0">
                <a:solidFill>
                  <a:schemeClr val="tx1"/>
                </a:solidFill>
                <a:latin typeface="Source Sans Pro" panose="020B0503030403020204" pitchFamily="34" charset="0"/>
              </a:rPr>
              <a:t>G</a:t>
            </a:r>
            <a:r>
              <a:rPr lang="de-DE" dirty="0" smtClean="0">
                <a:solidFill>
                  <a:schemeClr val="tx1"/>
                </a:solidFill>
                <a:latin typeface="Source Sans Pro" panose="020B0503030403020204" pitchFamily="34" charset="0"/>
              </a:rPr>
              <a:t>rund der Bedingung </a:t>
            </a:r>
            <a:r>
              <a:rPr lang="de-DE" b="1" dirty="0" smtClean="0">
                <a:solidFill>
                  <a:schemeClr val="tx1"/>
                </a:solidFill>
                <a:latin typeface="Source Sans Pro" panose="020B0503030403020204" pitchFamily="34" charset="0"/>
              </a:rPr>
              <a:t>Kunde.Kunde_ID=2</a:t>
            </a:r>
            <a:r>
              <a:rPr lang="de-DE" dirty="0" smtClean="0">
                <a:solidFill>
                  <a:schemeClr val="tx1"/>
                </a:solidFill>
                <a:latin typeface="Source Sans Pro" panose="020B0503030403020204" pitchFamily="34" charset="0"/>
              </a:rPr>
              <a:t> identisch zu den Namen aller anderen Datensätze ist. </a:t>
            </a:r>
          </a:p>
          <a:p>
            <a:pPr algn="ctr"/>
            <a:endParaRPr lang="de-DE" dirty="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Es ist daher </a:t>
            </a:r>
            <a:r>
              <a:rPr lang="de-DE" sz="1200" b="1" dirty="0" smtClean="0">
                <a:solidFill>
                  <a:schemeClr val="tx1"/>
                </a:solidFill>
                <a:latin typeface="Source Sans Pro" panose="020B0503030403020204" pitchFamily="34" charset="0"/>
              </a:rPr>
              <a:t>„kein Zufall“</a:t>
            </a:r>
            <a:r>
              <a:rPr lang="de-DE" sz="1200" dirty="0" smtClean="0">
                <a:solidFill>
                  <a:schemeClr val="tx1"/>
                </a:solidFill>
                <a:latin typeface="Source Sans Pro" panose="020B0503030403020204" pitchFamily="34" charset="0"/>
              </a:rPr>
              <a:t>,</a:t>
            </a:r>
            <a:r>
              <a:rPr lang="de-DE" sz="1200" b="1" dirty="0" smtClean="0">
                <a:solidFill>
                  <a:schemeClr val="tx1"/>
                </a:solidFill>
                <a:latin typeface="Source Sans Pro" panose="020B0503030403020204" pitchFamily="34" charset="0"/>
              </a:rPr>
              <a:t> </a:t>
            </a:r>
            <a:r>
              <a:rPr lang="de-DE" sz="1200" dirty="0" smtClean="0">
                <a:solidFill>
                  <a:schemeClr val="tx1"/>
                </a:solidFill>
                <a:latin typeface="Source Sans Pro" panose="020B0503030403020204" pitchFamily="34" charset="0"/>
              </a:rPr>
              <a:t>dass der Nachname (Deise) hier tatsächlich zu dem aggregierten Wert (2) gehört.</a:t>
            </a:r>
          </a:p>
          <a:p>
            <a:pPr algn="ctr"/>
            <a:r>
              <a:rPr lang="de-DE" sz="1200" dirty="0" smtClean="0">
                <a:solidFill>
                  <a:schemeClr val="tx1"/>
                </a:solidFill>
                <a:latin typeface="Source Sans Pro" panose="020B0503030403020204" pitchFamily="34" charset="0"/>
              </a:rPr>
              <a:t>Wir wollen aber „kombinierte Ausgaben“ von </a:t>
            </a:r>
            <a:r>
              <a:rPr lang="de-DE" sz="1200" b="1" dirty="0" smtClean="0">
                <a:solidFill>
                  <a:schemeClr val="tx1"/>
                </a:solidFill>
                <a:latin typeface="Source Sans Pro" panose="020B0503030403020204" pitchFamily="34" charset="0"/>
              </a:rPr>
              <a:t>aggregierten</a:t>
            </a:r>
            <a:r>
              <a:rPr lang="de-DE" sz="1200" dirty="0" smtClean="0">
                <a:solidFill>
                  <a:schemeClr val="tx1"/>
                </a:solidFill>
                <a:latin typeface="Source Sans Pro" panose="020B0503030403020204" pitchFamily="34" charset="0"/>
              </a:rPr>
              <a:t> und </a:t>
            </a:r>
            <a:r>
              <a:rPr lang="de-DE" sz="1200" b="1" dirty="0" smtClean="0">
                <a:solidFill>
                  <a:schemeClr val="tx1"/>
                </a:solidFill>
                <a:latin typeface="Source Sans Pro" panose="020B0503030403020204" pitchFamily="34" charset="0"/>
              </a:rPr>
              <a:t>nicht-aggregierten </a:t>
            </a:r>
            <a:r>
              <a:rPr lang="de-DE" sz="1200" dirty="0" smtClean="0">
                <a:solidFill>
                  <a:schemeClr val="tx1"/>
                </a:solidFill>
                <a:latin typeface="Source Sans Pro" panose="020B0503030403020204" pitchFamily="34" charset="0"/>
              </a:rPr>
              <a:t>Werten zukünftig mittels </a:t>
            </a:r>
            <a:r>
              <a:rPr lang="de-DE" sz="1200" b="1" dirty="0" smtClean="0">
                <a:solidFill>
                  <a:schemeClr val="tx1"/>
                </a:solidFill>
                <a:latin typeface="Source Sans Pro" panose="020B0503030403020204" pitchFamily="34" charset="0"/>
              </a:rPr>
              <a:t>„Gruppierungen“ </a:t>
            </a:r>
            <a:r>
              <a:rPr lang="de-DE" sz="1200" dirty="0" smtClean="0">
                <a:solidFill>
                  <a:schemeClr val="tx1"/>
                </a:solidFill>
                <a:latin typeface="Source Sans Pro" panose="020B0503030403020204" pitchFamily="34" charset="0"/>
              </a:rPr>
              <a:t>umsetzen.</a:t>
            </a:r>
          </a:p>
          <a:p>
            <a:pPr algn="ctr"/>
            <a:endParaRPr lang="de-DE" sz="1200" dirty="0" smtClean="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Dies wird Gegenstand der folgenden Folien sein. Bleiben Sie gespannt ;-)</a:t>
            </a:r>
          </a:p>
          <a:p>
            <a:pPr algn="ctr"/>
            <a:endParaRPr lang="de-DE" sz="1200"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8437764" y="2415251"/>
            <a:ext cx="1866900" cy="495300"/>
          </a:xfrm>
          <a:prstGeom prst="rect">
            <a:avLst/>
          </a:prstGeom>
          <a:effectLst>
            <a:innerShdw blurRad="114300">
              <a:prstClr val="black"/>
            </a:innerShdw>
          </a:effectLst>
        </p:spPr>
      </p:pic>
    </p:spTree>
    <p:extLst>
      <p:ext uri="{BB962C8B-B14F-4D97-AF65-F5344CB8AC3E}">
        <p14:creationId xmlns:p14="http://schemas.microsoft.com/office/powerpoint/2010/main" val="5871430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Gruppierung</a:t>
            </a:r>
            <a:endParaRPr lang="de-DE" sz="6600" dirty="0">
              <a:latin typeface="Source Sans Pro" panose="020B0503030403020204" pitchFamily="34" charset="0"/>
            </a:endParaRPr>
          </a:p>
        </p:txBody>
      </p:sp>
    </p:spTree>
    <p:extLst>
      <p:ext uri="{BB962C8B-B14F-4D97-AF65-F5344CB8AC3E}">
        <p14:creationId xmlns:p14="http://schemas.microsoft.com/office/powerpoint/2010/main" val="28674095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94759" y="1104065"/>
            <a:ext cx="10976310"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haben bisher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Aggregat-Funktionen genutzt, um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einzelne Werte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zu ermitteln.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Entsprechend waren daher die Ausgaben auch jeweils nur </a:t>
            </a:r>
            <a:r>
              <a:rPr lang="de-DE" sz="2400" b="1" dirty="0" smtClean="0">
                <a:solidFill>
                  <a:srgbClr val="0071B2"/>
                </a:solidFill>
                <a:latin typeface="Source Sans Pro" panose="020B0503030403020204" pitchFamily="34" charset="0"/>
              </a:rPr>
              <a:t>1-zeilig</a:t>
            </a:r>
            <a:r>
              <a:rPr lang="de-DE" sz="2400" dirty="0" smtClean="0">
                <a:solidFill>
                  <a:srgbClr val="0071B2"/>
                </a:solidFill>
                <a:latin typeface="Source Sans Pro" panose="020B0503030403020204" pitchFamily="34" charset="0"/>
              </a:rPr>
              <a:t>.</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Dies lag daran, dass wir bei den bisherigen Abfragen </a:t>
            </a:r>
            <a:r>
              <a:rPr lang="de-DE" sz="2400" dirty="0">
                <a:solidFill>
                  <a:srgbClr val="0071B2"/>
                </a:solidFill>
                <a:latin typeface="Source Sans Pro" panose="020B0503030403020204" pitchFamily="34" charset="0"/>
              </a:rPr>
              <a:t>a</a:t>
            </a:r>
            <a:r>
              <a:rPr lang="de-DE" sz="2400" baseline="0" dirty="0" smtClean="0">
                <a:solidFill>
                  <a:srgbClr val="0071B2"/>
                </a:solidFill>
                <a:latin typeface="Source Sans Pro" panose="020B0503030403020204" pitchFamily="34" charset="0"/>
              </a:rPr>
              <a:t>lle betrachteten Datensätze – anschaulich gesprochen – </a:t>
            </a:r>
            <a:r>
              <a:rPr lang="de-DE" sz="2400" b="1" baseline="0" dirty="0" smtClean="0">
                <a:solidFill>
                  <a:srgbClr val="0071B2"/>
                </a:solidFill>
                <a:latin typeface="Source Sans Pro" panose="020B0503030403020204" pitchFamily="34" charset="0"/>
              </a:rPr>
              <a:t>„in einen Topf warfen“ </a:t>
            </a:r>
            <a:r>
              <a:rPr lang="de-DE" sz="2400" baseline="0" dirty="0" smtClean="0">
                <a:solidFill>
                  <a:srgbClr val="0071B2"/>
                </a:solidFill>
                <a:latin typeface="Source Sans Pro" panose="020B0503030403020204" pitchFamily="34" charset="0"/>
              </a:rPr>
              <a:t>und von diesen dann „die“ Summe </a:t>
            </a:r>
            <a:r>
              <a:rPr lang="de-DE" baseline="0" dirty="0" smtClean="0">
                <a:solidFill>
                  <a:srgbClr val="0071B2"/>
                </a:solidFill>
                <a:latin typeface="Source Sans Pro" panose="020B0503030403020204" pitchFamily="34" charset="0"/>
              </a:rPr>
              <a:t>(oder „den“ Durchschnittswert, „das“ Minimum … etc.) </a:t>
            </a:r>
            <a:r>
              <a:rPr lang="de-DE" sz="2400" baseline="0" dirty="0" smtClean="0">
                <a:solidFill>
                  <a:srgbClr val="0071B2"/>
                </a:solidFill>
                <a:latin typeface="Source Sans Pro" panose="020B0503030403020204" pitchFamily="34" charset="0"/>
              </a:rPr>
              <a:t>berechnen</a:t>
            </a:r>
            <a:r>
              <a:rPr lang="de-DE" sz="2400" dirty="0" smtClean="0">
                <a:solidFill>
                  <a:srgbClr val="0071B2"/>
                </a:solidFill>
                <a:latin typeface="Source Sans Pro" panose="020B0503030403020204" pitchFamily="34" charset="0"/>
              </a:rPr>
              <a:t> ließen.</a:t>
            </a:r>
            <a:r>
              <a:rPr lang="de-DE" sz="2400" baseline="0" dirty="0" smtClean="0">
                <a:solidFill>
                  <a:srgbClr val="0071B2"/>
                </a:solidFill>
                <a:latin typeface="Source Sans Pro" panose="020B0503030403020204" pitchFamily="34" charset="0"/>
              </a:rPr>
              <a:t> </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Im Folgenden wollen wir uns hierzu eine Variante anschauen, bei der wir die zu berücksichtigenden Datensätze „gruppieren, um daraufhin die zu ermittelnden Aggregatwerte </a:t>
            </a:r>
            <a:r>
              <a:rPr lang="de-DE" sz="2400" b="1" dirty="0" smtClean="0">
                <a:solidFill>
                  <a:srgbClr val="0071B2"/>
                </a:solidFill>
                <a:latin typeface="Source Sans Pro" panose="020B0503030403020204" pitchFamily="34" charset="0"/>
              </a:rPr>
              <a:t>pro Gruppe </a:t>
            </a:r>
            <a:r>
              <a:rPr lang="de-DE" sz="2400" dirty="0" smtClean="0">
                <a:solidFill>
                  <a:srgbClr val="0071B2"/>
                </a:solidFill>
                <a:latin typeface="Source Sans Pro" panose="020B0503030403020204" pitchFamily="34" charset="0"/>
              </a:rPr>
              <a:t>berechnen zu lassen.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Auf diese Weise werden wir die ermittelten Ergebnisse pro Gruppe vergleichen (oder gegebenenfalls auch sortieren) können und jedenfalls in die Lage versetzt, deutlich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interessantere Abfragen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rPr>
              <a:t>zu formulieren.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222027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3" name="Rechteck 2"/>
          <p:cNvSpPr/>
          <p:nvPr/>
        </p:nvSpPr>
        <p:spPr>
          <a:xfrm>
            <a:off x="1219199" y="1271590"/>
            <a:ext cx="9396154" cy="3847207"/>
          </a:xfrm>
          <a:prstGeom prst="rect">
            <a:avLst/>
          </a:prstGeom>
        </p:spPr>
        <p:txBody>
          <a:bodyPr wrap="square">
            <a:spAutoFit/>
          </a:bodyPr>
          <a:lstStyle/>
          <a:p>
            <a:pPr lvl="0">
              <a:defRPr/>
            </a:pPr>
            <a:r>
              <a:rPr lang="de-DE" dirty="0" smtClean="0">
                <a:solidFill>
                  <a:srgbClr val="0071B2"/>
                </a:solidFill>
                <a:latin typeface="Source Sans Pro" panose="020B0503030403020204" pitchFamily="34" charset="0"/>
              </a:rPr>
              <a:t>Vorname, Nachname </a:t>
            </a:r>
            <a:r>
              <a:rPr lang="de-DE" dirty="0">
                <a:solidFill>
                  <a:srgbClr val="0071B2"/>
                </a:solidFill>
                <a:latin typeface="Source Sans Pro" panose="020B0503030403020204" pitchFamily="34" charset="0"/>
              </a:rPr>
              <a:t>und Anzahl der Abrechnungen </a:t>
            </a:r>
            <a:r>
              <a:rPr lang="de-DE" b="1" dirty="0" smtClean="0">
                <a:solidFill>
                  <a:schemeClr val="accent2"/>
                </a:solidFill>
                <a:latin typeface="Source Sans Pro" panose="020B0503030403020204" pitchFamily="34" charset="0"/>
              </a:rPr>
              <a:t>PRO Kunde </a:t>
            </a:r>
            <a:r>
              <a:rPr lang="de-DE" sz="1200" b="1" dirty="0" smtClean="0">
                <a:latin typeface="Source Sans Pro" panose="020B0503030403020204" pitchFamily="34" charset="0"/>
              </a:rPr>
              <a:t>(repräsentiert durch Vor- und Nachname)</a:t>
            </a:r>
            <a:r>
              <a:rPr lang="de-DE" sz="1200" dirty="0" smtClean="0">
                <a:latin typeface="Source Sans Pro" panose="020B0503030403020204" pitchFamily="34" charset="0"/>
              </a:rPr>
              <a:t>:</a:t>
            </a:r>
            <a:endParaRPr lang="de-DE" sz="1200" dirty="0">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r>
              <a:rPr lang="de-DE" sz="2000" b="1" dirty="0" smtClean="0">
                <a:solidFill>
                  <a:srgbClr val="0071B2"/>
                </a:solidFill>
                <a:latin typeface="Source Sans Pro" panose="020B0503030403020204" pitchFamily="34" charset="0"/>
              </a:rPr>
              <a:t>SELECT </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smtClean="0">
                <a:solidFill>
                  <a:srgbClr val="0071B2"/>
                </a:solidFill>
                <a:latin typeface="Source Sans Pro" panose="020B0503030403020204" pitchFamily="34" charset="0"/>
              </a:rPr>
              <a:t>Kunde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 Abrechnung</a:t>
            </a:r>
            <a:endParaRPr lang="de-DE" sz="20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WHERE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Abrechnung.Kunde_ID</a:t>
            </a:r>
          </a:p>
          <a:p>
            <a:pPr lvl="0">
              <a:defRPr/>
            </a:pPr>
            <a:r>
              <a:rPr lang="de-DE" sz="2000" b="1" dirty="0" smtClean="0">
                <a:solidFill>
                  <a:schemeClr val="accent2"/>
                </a:solidFill>
                <a:latin typeface="Source Sans Pro" panose="020B0503030403020204" pitchFamily="34" charset="0"/>
              </a:rPr>
              <a:t>GROUP BY </a:t>
            </a:r>
            <a:r>
              <a:rPr lang="de-DE" sz="2000" dirty="0" smtClean="0">
                <a:latin typeface="Source Sans Pro" panose="020B0503030403020204" pitchFamily="34" charset="0"/>
              </a:rPr>
              <a:t>Vorname</a:t>
            </a:r>
            <a:r>
              <a:rPr lang="de-DE" sz="2000" b="1" dirty="0" smtClean="0">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smtClean="0">
                <a:solidFill>
                  <a:srgbClr val="0071B2"/>
                </a:solidFill>
                <a:latin typeface="Source Sans Pro" panose="020B0503030403020204" pitchFamily="34" charset="0"/>
              </a:rPr>
              <a:t>;</a:t>
            </a:r>
          </a:p>
          <a:p>
            <a:pPr lvl="0">
              <a:defRPr/>
            </a:pPr>
            <a:endParaRPr lang="de-DE" sz="2000" b="1" dirty="0">
              <a:solidFill>
                <a:srgbClr val="0071B2"/>
              </a:solidFill>
              <a:latin typeface="Source Sans Pro" panose="020B0503030403020204" pitchFamily="34" charset="0"/>
            </a:endParaRPr>
          </a:p>
          <a:p>
            <a:pPr lvl="0">
              <a:defRPr/>
            </a:pPr>
            <a:r>
              <a:rPr lang="de-DE" dirty="0" smtClean="0">
                <a:solidFill>
                  <a:srgbClr val="0071B2"/>
                </a:solidFill>
                <a:latin typeface="Source Sans Pro" panose="020B0503030403020204" pitchFamily="34" charset="0"/>
              </a:rPr>
              <a:t>Vorname, Nachname </a:t>
            </a:r>
            <a:r>
              <a:rPr lang="de-DE" dirty="0">
                <a:solidFill>
                  <a:srgbClr val="0071B2"/>
                </a:solidFill>
                <a:latin typeface="Source Sans Pro" panose="020B0503030403020204" pitchFamily="34" charset="0"/>
              </a:rPr>
              <a:t>und Anzahl der Abrechnungen </a:t>
            </a:r>
            <a:r>
              <a:rPr lang="de-DE" b="1" dirty="0">
                <a:latin typeface="Source Sans Pro" panose="020B0503030403020204" pitchFamily="34" charset="0"/>
              </a:rPr>
              <a:t>PRO Kunde </a:t>
            </a:r>
            <a:r>
              <a:rPr lang="de-DE" sz="1200" b="1" dirty="0">
                <a:solidFill>
                  <a:srgbClr val="0071B2"/>
                </a:solidFill>
                <a:latin typeface="Source Sans Pro" panose="020B0503030403020204" pitchFamily="34" charset="0"/>
              </a:rPr>
              <a:t>(repräsentiert durch Vor- und Nachname</a:t>
            </a:r>
            <a:r>
              <a:rPr lang="de-DE" sz="1200" b="1" dirty="0" smtClean="0">
                <a:solidFill>
                  <a:srgbClr val="0071B2"/>
                </a:solidFill>
                <a:latin typeface="Source Sans Pro" panose="020B0503030403020204" pitchFamily="34" charset="0"/>
              </a:rPr>
              <a:t>)</a:t>
            </a:r>
            <a:r>
              <a:rPr lang="de-DE" sz="1200" dirty="0" smtClean="0">
                <a:solidFill>
                  <a:srgbClr val="0071B2"/>
                </a:solidFill>
                <a:latin typeface="Source Sans Pro" panose="020B0503030403020204" pitchFamily="34" charset="0"/>
              </a:rPr>
              <a:t>:</a:t>
            </a:r>
          </a:p>
          <a:p>
            <a:pPr lvl="0">
              <a:defRPr/>
            </a:pPr>
            <a:r>
              <a:rPr lang="de-DE" sz="1200" dirty="0" smtClean="0">
                <a:solidFill>
                  <a:srgbClr val="0071B2"/>
                </a:solidFill>
                <a:latin typeface="Source Sans Pro" panose="020B0503030403020204" pitchFamily="34" charset="0"/>
              </a:rPr>
              <a:t>(</a:t>
            </a:r>
            <a:r>
              <a:rPr lang="de-DE" sz="1200" b="1" dirty="0" smtClean="0">
                <a:solidFill>
                  <a:schemeClr val="accent2"/>
                </a:solidFill>
                <a:latin typeface="Source Sans Pro" panose="020B0503030403020204" pitchFamily="34" charset="0"/>
              </a:rPr>
              <a:t>sortiert</a:t>
            </a:r>
            <a:r>
              <a:rPr lang="de-DE" sz="1200" dirty="0" smtClean="0">
                <a:solidFill>
                  <a:srgbClr val="0071B2"/>
                </a:solidFill>
                <a:latin typeface="Source Sans Pro" panose="020B0503030403020204" pitchFamily="34" charset="0"/>
              </a:rPr>
              <a:t> nach Anzahl der Abrechnungen </a:t>
            </a:r>
            <a:r>
              <a:rPr lang="de-DE" sz="1200" b="1" dirty="0" smtClean="0">
                <a:solidFill>
                  <a:schemeClr val="accent2"/>
                </a:solidFill>
                <a:latin typeface="Source Sans Pro" panose="020B0503030403020204" pitchFamily="34" charset="0"/>
              </a:rPr>
              <a:t>absteigend</a:t>
            </a:r>
            <a:r>
              <a:rPr lang="de-DE" sz="1200" dirty="0" smtClean="0">
                <a:solidFill>
                  <a:srgbClr val="0071B2"/>
                </a:solidFill>
                <a:latin typeface="Source Sans Pro" panose="020B0503030403020204" pitchFamily="34" charset="0"/>
              </a:rPr>
              <a:t>)</a:t>
            </a:r>
            <a:endParaRPr lang="de-DE" sz="1200" dirty="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Abrechnung</a:t>
            </a:r>
          </a:p>
          <a:p>
            <a:pPr lvl="0">
              <a:defRPr/>
            </a:pPr>
            <a:r>
              <a:rPr lang="de-DE" sz="2000" b="1" dirty="0">
                <a:solidFill>
                  <a:srgbClr val="0071B2"/>
                </a:solidFill>
                <a:latin typeface="Source Sans Pro" panose="020B0503030403020204" pitchFamily="34" charset="0"/>
              </a:rPr>
              <a:t>WHERE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lvl="0">
              <a:defRPr/>
            </a:pPr>
            <a:r>
              <a:rPr lang="de-DE" sz="2000" b="1" dirty="0">
                <a:latin typeface="Source Sans Pro" panose="020B0503030403020204" pitchFamily="34" charset="0"/>
              </a:rPr>
              <a:t>GROUP BY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p>
          <a:p>
            <a:pPr lvl="0">
              <a:defRPr/>
            </a:pPr>
            <a:r>
              <a:rPr lang="de-DE" sz="2000" b="1" dirty="0" smtClean="0">
                <a:solidFill>
                  <a:schemeClr val="accent2"/>
                </a:solidFill>
                <a:latin typeface="Source Sans Pro" panose="020B0503030403020204" pitchFamily="34" charset="0"/>
              </a:rPr>
              <a:t>ORDER BY </a:t>
            </a:r>
            <a:r>
              <a:rPr lang="de-DE" sz="2000" b="1" dirty="0" smtClean="0">
                <a:solidFill>
                  <a:srgbClr val="0071B2"/>
                </a:solidFill>
                <a:latin typeface="Source Sans Pro" panose="020B0503030403020204" pitchFamily="34" charset="0"/>
              </a:rPr>
              <a:t>COUNT(*) </a:t>
            </a:r>
            <a:r>
              <a:rPr lang="de-DE" sz="2000" b="1" dirty="0" smtClean="0">
                <a:solidFill>
                  <a:schemeClr val="accent2"/>
                </a:solidFill>
                <a:latin typeface="Source Sans Pro" panose="020B0503030403020204" pitchFamily="34" charset="0"/>
              </a:rPr>
              <a:t>DESC</a:t>
            </a:r>
            <a:r>
              <a:rPr lang="de-DE"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lvl="0">
              <a:defRPr/>
            </a:pPr>
            <a:endParaRPr lang="de-DE" sz="2000" b="1" dirty="0">
              <a:solidFill>
                <a:srgbClr val="0071B2"/>
              </a:solidFill>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8678374" y="1753985"/>
            <a:ext cx="1388340" cy="933377"/>
          </a:xfrm>
          <a:prstGeom prst="rect">
            <a:avLst/>
          </a:prstGeom>
          <a:effectLst>
            <a:innerShdw blurRad="114300">
              <a:prstClr val="black"/>
            </a:innerShdw>
          </a:effectLst>
        </p:spPr>
      </p:pic>
      <p:pic>
        <p:nvPicPr>
          <p:cNvPr id="10" name="Grafik 9"/>
          <p:cNvPicPr>
            <a:picLocks noChangeAspect="1"/>
          </p:cNvPicPr>
          <p:nvPr/>
        </p:nvPicPr>
        <p:blipFill>
          <a:blip r:embed="rId3"/>
          <a:stretch>
            <a:fillRect/>
          </a:stretch>
        </p:blipFill>
        <p:spPr>
          <a:xfrm>
            <a:off x="8678375" y="3544720"/>
            <a:ext cx="1787350" cy="1226134"/>
          </a:xfrm>
          <a:prstGeom prst="rect">
            <a:avLst/>
          </a:prstGeom>
          <a:effectLst>
            <a:innerShdw blurRad="114300">
              <a:prstClr val="black"/>
            </a:innerShdw>
          </a:effectLst>
        </p:spPr>
      </p:pic>
      <p:sp>
        <p:nvSpPr>
          <p:cNvPr id="14" name="Rechteck 13"/>
          <p:cNvSpPr/>
          <p:nvPr/>
        </p:nvSpPr>
        <p:spPr>
          <a:xfrm>
            <a:off x="174538" y="4879977"/>
            <a:ext cx="11870575" cy="184149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endParaRPr lang="de-DE" sz="1600" dirty="0" smtClean="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Die </a:t>
            </a:r>
            <a:r>
              <a:rPr lang="de-DE" sz="1200" b="1" dirty="0" smtClean="0">
                <a:solidFill>
                  <a:schemeClr val="tx1"/>
                </a:solidFill>
                <a:latin typeface="Source Sans Pro" panose="020B0503030403020204" pitchFamily="34" charset="0"/>
              </a:rPr>
              <a:t>Repräsentation eines Kunden </a:t>
            </a:r>
            <a:r>
              <a:rPr lang="de-DE" sz="1200" dirty="0" smtClean="0">
                <a:solidFill>
                  <a:schemeClr val="tx1"/>
                </a:solidFill>
                <a:latin typeface="Source Sans Pro" panose="020B0503030403020204" pitchFamily="34" charset="0"/>
              </a:rPr>
              <a:t>mittels Vor- und Nachnamen ist nicht unproblematisch, da es unterschiedliche, aber gleichnamige Kunden geben könnte,</a:t>
            </a:r>
          </a:p>
          <a:p>
            <a:pPr algn="ctr"/>
            <a:r>
              <a:rPr lang="de-DE" sz="1200" dirty="0" smtClean="0">
                <a:solidFill>
                  <a:schemeClr val="tx1"/>
                </a:solidFill>
                <a:latin typeface="Source Sans Pro" panose="020B0503030403020204" pitchFamily="34" charset="0"/>
              </a:rPr>
              <a:t>deren Abrechnungen dann fälschlicherweise </a:t>
            </a:r>
            <a:r>
              <a:rPr lang="de-DE" sz="1200" b="1" dirty="0" smtClean="0">
                <a:solidFill>
                  <a:schemeClr val="tx1"/>
                </a:solidFill>
                <a:latin typeface="Source Sans Pro" panose="020B0503030403020204" pitchFamily="34" charset="0"/>
              </a:rPr>
              <a:t>„in einen (gemeinsamen) Topf“ </a:t>
            </a:r>
            <a:r>
              <a:rPr lang="de-DE" sz="1200" dirty="0" smtClean="0">
                <a:solidFill>
                  <a:schemeClr val="tx1"/>
                </a:solidFill>
                <a:latin typeface="Source Sans Pro" panose="020B0503030403020204" pitchFamily="34" charset="0"/>
              </a:rPr>
              <a:t>geworfen werden würden.</a:t>
            </a:r>
          </a:p>
          <a:p>
            <a:pPr algn="ctr"/>
            <a:endParaRPr lang="de-DE" sz="1200" dirty="0">
              <a:solidFill>
                <a:schemeClr val="tx1"/>
              </a:solidFill>
              <a:latin typeface="Source Sans Pro" panose="020B0503030403020204" pitchFamily="34" charset="0"/>
            </a:endParaRPr>
          </a:p>
          <a:p>
            <a:pPr algn="ctr"/>
            <a:r>
              <a:rPr lang="de-DE" sz="1200" b="1" dirty="0" smtClean="0">
                <a:solidFill>
                  <a:schemeClr val="bg2"/>
                </a:solidFill>
                <a:latin typeface="Source Sans Pro" panose="020B0503030403020204" pitchFamily="34" charset="0"/>
              </a:rPr>
              <a:t>Im obigen Fall wäre es also günstiger:</a:t>
            </a:r>
          </a:p>
          <a:p>
            <a:pPr marL="342900" indent="-342900" algn="ctr">
              <a:buAutoNum type="alphaLcParenR"/>
            </a:pPr>
            <a:r>
              <a:rPr lang="de-DE" sz="1200" dirty="0" smtClean="0">
                <a:solidFill>
                  <a:schemeClr val="bg2"/>
                </a:solidFill>
                <a:latin typeface="Source Sans Pro" panose="020B0503030403020204" pitchFamily="34" charset="0"/>
              </a:rPr>
              <a:t>die Kunden-ID ausgeben zu lassen</a:t>
            </a:r>
          </a:p>
          <a:p>
            <a:pPr marL="342900" indent="-342900" algn="ctr">
              <a:buAutoNum type="alphaLcParenR"/>
            </a:pPr>
            <a:r>
              <a:rPr lang="de-DE" sz="1200" dirty="0" smtClean="0">
                <a:solidFill>
                  <a:schemeClr val="bg2"/>
                </a:solidFill>
                <a:latin typeface="Source Sans Pro" panose="020B0503030403020204" pitchFamily="34" charset="0"/>
              </a:rPr>
              <a:t>nach der Kunden-ID zu gruppieren</a:t>
            </a:r>
          </a:p>
          <a:p>
            <a:pPr marL="342900" indent="-342900" algn="ctr">
              <a:buAutoNum type="alphaLcParenR"/>
            </a:pPr>
            <a:endParaRPr lang="de-DE" sz="1200" dirty="0">
              <a:solidFill>
                <a:schemeClr val="bg2"/>
              </a:solidFill>
              <a:latin typeface="Source Sans Pro" panose="020B0503030403020204" pitchFamily="34" charset="0"/>
            </a:endParaRPr>
          </a:p>
          <a:p>
            <a:pPr algn="ctr"/>
            <a:r>
              <a:rPr lang="de-DE" sz="1200" dirty="0" smtClean="0">
                <a:solidFill>
                  <a:schemeClr val="bg2"/>
                </a:solidFill>
                <a:latin typeface="Source Sans Pro" panose="020B0503030403020204" pitchFamily="34" charset="0"/>
              </a:rPr>
              <a:t>Dies ist aber dann bereits Teil der Aufgabenstellung und muss bzgl. einer IHK-Aufgabe nicht berücksichtigt werden. So kann für die IHK die folgende Empfehlung ausgesprochen werden: Notieren Sie </a:t>
            </a:r>
            <a:r>
              <a:rPr lang="de-DE" sz="1200" b="1" dirty="0" smtClean="0">
                <a:solidFill>
                  <a:schemeClr val="bg2"/>
                </a:solidFill>
                <a:latin typeface="Source Sans Pro" panose="020B0503030403020204" pitchFamily="34" charset="0"/>
              </a:rPr>
              <a:t>hinter GROUP BY </a:t>
            </a:r>
            <a:r>
              <a:rPr lang="de-DE" sz="1200" dirty="0" smtClean="0">
                <a:solidFill>
                  <a:schemeClr val="bg2"/>
                </a:solidFill>
                <a:latin typeface="Source Sans Pro" panose="020B0503030403020204" pitchFamily="34" charset="0"/>
              </a:rPr>
              <a:t>einfach alle Attribute, die auch </a:t>
            </a:r>
            <a:r>
              <a:rPr lang="de-DE" sz="1200" b="1" dirty="0" smtClean="0">
                <a:solidFill>
                  <a:schemeClr val="bg2"/>
                </a:solidFill>
                <a:latin typeface="Source Sans Pro" panose="020B0503030403020204" pitchFamily="34" charset="0"/>
              </a:rPr>
              <a:t>hinter SELECT </a:t>
            </a:r>
            <a:r>
              <a:rPr lang="de-DE" sz="1200" dirty="0" smtClean="0">
                <a:solidFill>
                  <a:schemeClr val="bg2"/>
                </a:solidFill>
                <a:latin typeface="Source Sans Pro" panose="020B0503030403020204" pitchFamily="34" charset="0"/>
              </a:rPr>
              <a:t>notiert wurden, </a:t>
            </a:r>
            <a:r>
              <a:rPr lang="de-DE" sz="1200" b="1" dirty="0" smtClean="0">
                <a:solidFill>
                  <a:schemeClr val="bg2"/>
                </a:solidFill>
                <a:latin typeface="Source Sans Pro" panose="020B0503030403020204" pitchFamily="34" charset="0"/>
              </a:rPr>
              <a:t>MIT AUSNAHME </a:t>
            </a:r>
            <a:r>
              <a:rPr lang="de-DE" sz="1200" dirty="0" smtClean="0">
                <a:solidFill>
                  <a:schemeClr val="bg2"/>
                </a:solidFill>
                <a:latin typeface="Source Sans Pro" panose="020B0503030403020204" pitchFamily="34" charset="0"/>
              </a:rPr>
              <a:t>der Attribute aller aufgeführten Aggregatfunktionen.</a:t>
            </a:r>
          </a:p>
          <a:p>
            <a:pPr algn="ctr"/>
            <a:endParaRPr lang="de-DE" sz="1200"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spTree>
    <p:extLst>
      <p:ext uri="{BB962C8B-B14F-4D97-AF65-F5344CB8AC3E}">
        <p14:creationId xmlns:p14="http://schemas.microsoft.com/office/powerpoint/2010/main" val="173540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3" name="Rechteck 2"/>
          <p:cNvSpPr/>
          <p:nvPr/>
        </p:nvSpPr>
        <p:spPr>
          <a:xfrm>
            <a:off x="1219199" y="1271590"/>
            <a:ext cx="8756073" cy="3847207"/>
          </a:xfrm>
          <a:prstGeom prst="rect">
            <a:avLst/>
          </a:prstGeom>
        </p:spPr>
        <p:txBody>
          <a:bodyPr wrap="square">
            <a:spAutoFit/>
          </a:bodyPr>
          <a:lstStyle/>
          <a:p>
            <a:pPr lvl="0">
              <a:defRPr/>
            </a:pPr>
            <a:r>
              <a:rPr lang="de-DE" dirty="0">
                <a:solidFill>
                  <a:srgbClr val="0071B2"/>
                </a:solidFill>
                <a:latin typeface="Source Sans Pro" panose="020B0503030403020204" pitchFamily="34" charset="0"/>
              </a:rPr>
              <a:t>Nachname und Anzahl der Abrechnungen </a:t>
            </a:r>
            <a:r>
              <a:rPr lang="de-DE" b="1" dirty="0" smtClean="0">
                <a:solidFill>
                  <a:schemeClr val="accent2"/>
                </a:solidFill>
                <a:latin typeface="Source Sans Pro" panose="020B0503030403020204" pitchFamily="34" charset="0"/>
              </a:rPr>
              <a:t>PRO Kunde </a:t>
            </a:r>
            <a:r>
              <a:rPr lang="de-DE" sz="1200" b="1" dirty="0" smtClean="0">
                <a:latin typeface="Source Sans Pro" panose="020B0503030403020204" pitchFamily="34" charset="0"/>
              </a:rPr>
              <a:t>(repräsentiert durch Vor- und Nachname)</a:t>
            </a:r>
            <a:r>
              <a:rPr lang="de-DE" sz="1200" dirty="0" smtClean="0">
                <a:latin typeface="Source Sans Pro" panose="020B0503030403020204" pitchFamily="34" charset="0"/>
              </a:rPr>
              <a:t>:</a:t>
            </a:r>
            <a:endParaRPr lang="de-DE" sz="1200" dirty="0">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r>
              <a:rPr lang="de-DE" sz="2000" b="1" dirty="0" smtClean="0">
                <a:solidFill>
                  <a:srgbClr val="0071B2"/>
                </a:solidFill>
                <a:latin typeface="Source Sans Pro" panose="020B0503030403020204" pitchFamily="34" charset="0"/>
              </a:rPr>
              <a:t>SELECT </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smtClean="0">
                <a:solidFill>
                  <a:srgbClr val="0071B2"/>
                </a:solidFill>
                <a:latin typeface="Source Sans Pro" panose="020B0503030403020204" pitchFamily="34" charset="0"/>
              </a:rPr>
              <a:t>Kunde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 Abrechnung</a:t>
            </a:r>
            <a:endParaRPr lang="de-DE" sz="20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WHERE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Abrechnung.Kunde_ID</a:t>
            </a:r>
          </a:p>
          <a:p>
            <a:pPr lvl="0">
              <a:defRPr/>
            </a:pPr>
            <a:r>
              <a:rPr lang="de-DE" sz="2000" b="1" dirty="0" smtClean="0">
                <a:solidFill>
                  <a:schemeClr val="accent2"/>
                </a:solidFill>
                <a:latin typeface="Source Sans Pro" panose="020B0503030403020204" pitchFamily="34" charset="0"/>
              </a:rPr>
              <a:t>GROUP BY </a:t>
            </a:r>
            <a:r>
              <a:rPr lang="de-DE" sz="2000" dirty="0" smtClean="0">
                <a:latin typeface="Source Sans Pro" panose="020B0503030403020204" pitchFamily="34" charset="0"/>
              </a:rPr>
              <a:t>Vorname</a:t>
            </a:r>
            <a:r>
              <a:rPr lang="de-DE" sz="2000" b="1" dirty="0" smtClean="0">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smtClean="0">
                <a:solidFill>
                  <a:srgbClr val="0071B2"/>
                </a:solidFill>
                <a:latin typeface="Source Sans Pro" panose="020B0503030403020204" pitchFamily="34" charset="0"/>
              </a:rPr>
              <a:t>;</a:t>
            </a:r>
          </a:p>
          <a:p>
            <a:pPr lvl="0">
              <a:defRPr/>
            </a:pPr>
            <a:endParaRPr lang="de-DE" sz="2000" b="1"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Nachname und Anzahl der Abrechnungen </a:t>
            </a:r>
            <a:r>
              <a:rPr lang="de-DE" b="1" dirty="0">
                <a:latin typeface="Source Sans Pro" panose="020B0503030403020204" pitchFamily="34" charset="0"/>
              </a:rPr>
              <a:t>PRO Kunde </a:t>
            </a:r>
            <a:r>
              <a:rPr lang="de-DE" sz="1200" b="1" dirty="0">
                <a:solidFill>
                  <a:srgbClr val="0071B2"/>
                </a:solidFill>
                <a:latin typeface="Source Sans Pro" panose="020B0503030403020204" pitchFamily="34" charset="0"/>
              </a:rPr>
              <a:t>(repräsentiert durch Vor- und Nachname</a:t>
            </a:r>
            <a:r>
              <a:rPr lang="de-DE" sz="1200" b="1" dirty="0" smtClean="0">
                <a:solidFill>
                  <a:srgbClr val="0071B2"/>
                </a:solidFill>
                <a:latin typeface="Source Sans Pro" panose="020B0503030403020204" pitchFamily="34" charset="0"/>
              </a:rPr>
              <a:t>)</a:t>
            </a:r>
            <a:r>
              <a:rPr lang="de-DE" sz="1200" dirty="0" smtClean="0">
                <a:solidFill>
                  <a:srgbClr val="0071B2"/>
                </a:solidFill>
                <a:latin typeface="Source Sans Pro" panose="020B0503030403020204" pitchFamily="34" charset="0"/>
              </a:rPr>
              <a:t>:</a:t>
            </a:r>
          </a:p>
          <a:p>
            <a:pPr lvl="0">
              <a:defRPr/>
            </a:pPr>
            <a:r>
              <a:rPr lang="de-DE" sz="1200" dirty="0" smtClean="0">
                <a:solidFill>
                  <a:srgbClr val="0071B2"/>
                </a:solidFill>
                <a:latin typeface="Source Sans Pro" panose="020B0503030403020204" pitchFamily="34" charset="0"/>
              </a:rPr>
              <a:t>(</a:t>
            </a:r>
            <a:r>
              <a:rPr lang="de-DE" sz="1200" b="1" dirty="0" smtClean="0">
                <a:solidFill>
                  <a:schemeClr val="accent2"/>
                </a:solidFill>
                <a:latin typeface="Source Sans Pro" panose="020B0503030403020204" pitchFamily="34" charset="0"/>
              </a:rPr>
              <a:t>sortiert</a:t>
            </a:r>
            <a:r>
              <a:rPr lang="de-DE" sz="1200" dirty="0" smtClean="0">
                <a:solidFill>
                  <a:srgbClr val="0071B2"/>
                </a:solidFill>
                <a:latin typeface="Source Sans Pro" panose="020B0503030403020204" pitchFamily="34" charset="0"/>
              </a:rPr>
              <a:t> nach Anzahl der Abrechnungen </a:t>
            </a:r>
            <a:r>
              <a:rPr lang="de-DE" sz="1200" b="1" dirty="0" smtClean="0">
                <a:solidFill>
                  <a:schemeClr val="accent2"/>
                </a:solidFill>
                <a:latin typeface="Source Sans Pro" panose="020B0503030403020204" pitchFamily="34" charset="0"/>
              </a:rPr>
              <a:t>absteigend</a:t>
            </a:r>
            <a:r>
              <a:rPr lang="de-DE" sz="1200" dirty="0" smtClean="0">
                <a:solidFill>
                  <a:srgbClr val="0071B2"/>
                </a:solidFill>
                <a:latin typeface="Source Sans Pro" panose="020B0503030403020204" pitchFamily="34" charset="0"/>
              </a:rPr>
              <a:t>)</a:t>
            </a:r>
            <a:endParaRPr lang="de-DE" sz="1200" dirty="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Abrechnung</a:t>
            </a:r>
          </a:p>
          <a:p>
            <a:pPr lvl="0">
              <a:defRPr/>
            </a:pPr>
            <a:r>
              <a:rPr lang="de-DE" sz="2000" b="1" dirty="0">
                <a:solidFill>
                  <a:srgbClr val="0071B2"/>
                </a:solidFill>
                <a:latin typeface="Source Sans Pro" panose="020B0503030403020204" pitchFamily="34" charset="0"/>
              </a:rPr>
              <a:t>WHERE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lvl="0">
              <a:defRPr/>
            </a:pPr>
            <a:r>
              <a:rPr lang="de-DE" sz="2000" b="1" dirty="0">
                <a:latin typeface="Source Sans Pro" panose="020B0503030403020204" pitchFamily="34" charset="0"/>
              </a:rPr>
              <a:t>GROUP BY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p>
          <a:p>
            <a:pPr lvl="0">
              <a:defRPr/>
            </a:pPr>
            <a:r>
              <a:rPr lang="de-DE" sz="2000" b="1" dirty="0" smtClean="0">
                <a:solidFill>
                  <a:schemeClr val="accent2"/>
                </a:solidFill>
                <a:latin typeface="Source Sans Pro" panose="020B0503030403020204" pitchFamily="34" charset="0"/>
              </a:rPr>
              <a:t>ORDER BY </a:t>
            </a:r>
            <a:r>
              <a:rPr lang="de-DE" sz="2000" b="1" dirty="0" smtClean="0">
                <a:solidFill>
                  <a:srgbClr val="0071B2"/>
                </a:solidFill>
                <a:latin typeface="Source Sans Pro" panose="020B0503030403020204" pitchFamily="34" charset="0"/>
              </a:rPr>
              <a:t>COUNT(*) </a:t>
            </a:r>
            <a:r>
              <a:rPr lang="de-DE" sz="2000" b="1" dirty="0" smtClean="0">
                <a:solidFill>
                  <a:schemeClr val="accent2"/>
                </a:solidFill>
                <a:latin typeface="Source Sans Pro" panose="020B0503030403020204" pitchFamily="34" charset="0"/>
              </a:rPr>
              <a:t>DESC</a:t>
            </a:r>
            <a:r>
              <a:rPr lang="de-DE"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lvl="0">
              <a:defRPr/>
            </a:pPr>
            <a:endParaRPr lang="de-DE" sz="2000" b="1" dirty="0">
              <a:solidFill>
                <a:srgbClr val="0071B2"/>
              </a:solidFill>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8678374" y="1753985"/>
            <a:ext cx="1388340" cy="933377"/>
          </a:xfrm>
          <a:prstGeom prst="rect">
            <a:avLst/>
          </a:prstGeom>
          <a:effectLst>
            <a:innerShdw blurRad="114300">
              <a:prstClr val="black"/>
            </a:innerShdw>
          </a:effectLst>
        </p:spPr>
      </p:pic>
      <p:pic>
        <p:nvPicPr>
          <p:cNvPr id="10" name="Grafik 9"/>
          <p:cNvPicPr>
            <a:picLocks noChangeAspect="1"/>
          </p:cNvPicPr>
          <p:nvPr/>
        </p:nvPicPr>
        <p:blipFill>
          <a:blip r:embed="rId3"/>
          <a:stretch>
            <a:fillRect/>
          </a:stretch>
        </p:blipFill>
        <p:spPr>
          <a:xfrm>
            <a:off x="8678375" y="3544720"/>
            <a:ext cx="1787350" cy="1226134"/>
          </a:xfrm>
          <a:prstGeom prst="rect">
            <a:avLst/>
          </a:prstGeom>
          <a:effectLst>
            <a:innerShdw blurRad="114300">
              <a:prstClr val="black"/>
            </a:innerShdw>
          </a:effectLst>
        </p:spPr>
      </p:pic>
      <p:sp>
        <p:nvSpPr>
          <p:cNvPr id="15" name="Rechteck 14"/>
          <p:cNvSpPr/>
          <p:nvPr/>
        </p:nvSpPr>
        <p:spPr>
          <a:xfrm>
            <a:off x="174538" y="4879977"/>
            <a:ext cx="11870575" cy="184149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endParaRPr lang="de-DE" sz="1600" dirty="0" smtClean="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Die </a:t>
            </a:r>
            <a:r>
              <a:rPr lang="de-DE" sz="1200" b="1" dirty="0" smtClean="0">
                <a:solidFill>
                  <a:schemeClr val="tx1"/>
                </a:solidFill>
                <a:latin typeface="Source Sans Pro" panose="020B0503030403020204" pitchFamily="34" charset="0"/>
              </a:rPr>
              <a:t>Repräsentation eines Kunden </a:t>
            </a:r>
            <a:r>
              <a:rPr lang="de-DE" sz="1200" dirty="0" smtClean="0">
                <a:solidFill>
                  <a:schemeClr val="tx1"/>
                </a:solidFill>
                <a:latin typeface="Source Sans Pro" panose="020B0503030403020204" pitchFamily="34" charset="0"/>
              </a:rPr>
              <a:t>mittels Vor- und Nachnamen ist nicht unproblematisch, da es unterschiedliche, aber gleichnamige Kunden geben könnte,</a:t>
            </a:r>
          </a:p>
          <a:p>
            <a:pPr algn="ctr"/>
            <a:r>
              <a:rPr lang="de-DE" sz="1200" dirty="0" smtClean="0">
                <a:solidFill>
                  <a:schemeClr val="tx1"/>
                </a:solidFill>
                <a:latin typeface="Source Sans Pro" panose="020B0503030403020204" pitchFamily="34" charset="0"/>
              </a:rPr>
              <a:t>deren Abrechnungen dann fälschlicherweise </a:t>
            </a:r>
            <a:r>
              <a:rPr lang="de-DE" sz="1200" b="1" dirty="0" smtClean="0">
                <a:solidFill>
                  <a:schemeClr val="tx1"/>
                </a:solidFill>
                <a:latin typeface="Source Sans Pro" panose="020B0503030403020204" pitchFamily="34" charset="0"/>
              </a:rPr>
              <a:t>„in einen (gemeinsamen) Topf“ </a:t>
            </a:r>
            <a:r>
              <a:rPr lang="de-DE" sz="1200" dirty="0" smtClean="0">
                <a:solidFill>
                  <a:schemeClr val="tx1"/>
                </a:solidFill>
                <a:latin typeface="Source Sans Pro" panose="020B0503030403020204" pitchFamily="34" charset="0"/>
              </a:rPr>
              <a:t>geworfen werden würden.</a:t>
            </a:r>
          </a:p>
          <a:p>
            <a:pPr algn="ctr"/>
            <a:endParaRPr lang="de-DE" sz="1200" dirty="0">
              <a:solidFill>
                <a:schemeClr val="tx1"/>
              </a:solidFill>
              <a:latin typeface="Source Sans Pro" panose="020B0503030403020204" pitchFamily="34" charset="0"/>
            </a:endParaRPr>
          </a:p>
          <a:p>
            <a:pPr algn="ctr"/>
            <a:r>
              <a:rPr lang="de-DE" sz="1200" b="1" dirty="0" smtClean="0">
                <a:solidFill>
                  <a:schemeClr val="tx1"/>
                </a:solidFill>
                <a:latin typeface="Source Sans Pro" panose="020B0503030403020204" pitchFamily="34" charset="0"/>
              </a:rPr>
              <a:t>Im obigen Fall wäre es also günstiger:</a:t>
            </a:r>
          </a:p>
          <a:p>
            <a:pPr marL="342900" indent="-342900" algn="ctr">
              <a:buAutoNum type="alphaLcParenR"/>
            </a:pPr>
            <a:r>
              <a:rPr lang="de-DE" sz="1200" dirty="0" smtClean="0">
                <a:solidFill>
                  <a:schemeClr val="tx1"/>
                </a:solidFill>
                <a:latin typeface="Source Sans Pro" panose="020B0503030403020204" pitchFamily="34" charset="0"/>
              </a:rPr>
              <a:t>die Kunden-ID ausgeben zu lassen</a:t>
            </a:r>
          </a:p>
          <a:p>
            <a:pPr marL="342900" indent="-342900" algn="ctr">
              <a:buAutoNum type="alphaLcParenR"/>
            </a:pPr>
            <a:r>
              <a:rPr lang="de-DE" sz="1200" dirty="0" smtClean="0">
                <a:solidFill>
                  <a:schemeClr val="tx1"/>
                </a:solidFill>
                <a:latin typeface="Source Sans Pro" panose="020B0503030403020204" pitchFamily="34" charset="0"/>
              </a:rPr>
              <a:t>nach der Kunden-ID zu gruppieren</a:t>
            </a:r>
          </a:p>
          <a:p>
            <a:pPr marL="342900" indent="-342900" algn="ctr">
              <a:buAutoNum type="alphaLcParenR"/>
            </a:pPr>
            <a:endParaRPr lang="de-DE" sz="1200" dirty="0">
              <a:solidFill>
                <a:schemeClr val="tx1"/>
              </a:solidFill>
              <a:latin typeface="Source Sans Pro" panose="020B0503030403020204" pitchFamily="34" charset="0"/>
            </a:endParaRPr>
          </a:p>
          <a:p>
            <a:pPr algn="ctr"/>
            <a:r>
              <a:rPr lang="de-DE" sz="1200" dirty="0" smtClean="0">
                <a:solidFill>
                  <a:schemeClr val="bg2"/>
                </a:solidFill>
                <a:latin typeface="Source Sans Pro" panose="020B0503030403020204" pitchFamily="34" charset="0"/>
              </a:rPr>
              <a:t>Dies ist aber dann bereits Teil der Aufgabenstellung und muss bzgl. einer IHK-Aufgabe nicht berücksichtigt werden. So kann für die IHK die folgende Empfehlung ausgesprochen werden: Notieren Sie </a:t>
            </a:r>
            <a:r>
              <a:rPr lang="de-DE" sz="1200" b="1" dirty="0" smtClean="0">
                <a:solidFill>
                  <a:schemeClr val="bg2"/>
                </a:solidFill>
                <a:latin typeface="Source Sans Pro" panose="020B0503030403020204" pitchFamily="34" charset="0"/>
              </a:rPr>
              <a:t>hinter GROUP BY </a:t>
            </a:r>
            <a:r>
              <a:rPr lang="de-DE" sz="1200" dirty="0" smtClean="0">
                <a:solidFill>
                  <a:schemeClr val="bg2"/>
                </a:solidFill>
                <a:latin typeface="Source Sans Pro" panose="020B0503030403020204" pitchFamily="34" charset="0"/>
              </a:rPr>
              <a:t>einfach alle Attribute, die auch </a:t>
            </a:r>
            <a:r>
              <a:rPr lang="de-DE" sz="1200" b="1" dirty="0" smtClean="0">
                <a:solidFill>
                  <a:schemeClr val="bg2"/>
                </a:solidFill>
                <a:latin typeface="Source Sans Pro" panose="020B0503030403020204" pitchFamily="34" charset="0"/>
              </a:rPr>
              <a:t>hinter SELECT </a:t>
            </a:r>
            <a:r>
              <a:rPr lang="de-DE" sz="1200" dirty="0" smtClean="0">
                <a:solidFill>
                  <a:schemeClr val="bg2"/>
                </a:solidFill>
                <a:latin typeface="Source Sans Pro" panose="020B0503030403020204" pitchFamily="34" charset="0"/>
              </a:rPr>
              <a:t>notiert wurden, </a:t>
            </a:r>
            <a:r>
              <a:rPr lang="de-DE" sz="1200" b="1" dirty="0" smtClean="0">
                <a:solidFill>
                  <a:schemeClr val="bg2"/>
                </a:solidFill>
                <a:latin typeface="Source Sans Pro" panose="020B0503030403020204" pitchFamily="34" charset="0"/>
              </a:rPr>
              <a:t>MIT AUSNAHME </a:t>
            </a:r>
            <a:r>
              <a:rPr lang="de-DE" sz="1200" dirty="0" smtClean="0">
                <a:solidFill>
                  <a:schemeClr val="bg2"/>
                </a:solidFill>
                <a:latin typeface="Source Sans Pro" panose="020B0503030403020204" pitchFamily="34" charset="0"/>
              </a:rPr>
              <a:t>der Attribute aller aufgeführten Aggregatfunktionen.</a:t>
            </a:r>
          </a:p>
          <a:p>
            <a:pPr algn="ctr"/>
            <a:endParaRPr lang="de-DE" sz="1200"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spTree>
    <p:extLst>
      <p:ext uri="{BB962C8B-B14F-4D97-AF65-F5344CB8AC3E}">
        <p14:creationId xmlns:p14="http://schemas.microsoft.com/office/powerpoint/2010/main" val="17143222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3" name="Rechteck 2"/>
          <p:cNvSpPr/>
          <p:nvPr/>
        </p:nvSpPr>
        <p:spPr>
          <a:xfrm>
            <a:off x="1219199" y="1271590"/>
            <a:ext cx="8756073" cy="3847207"/>
          </a:xfrm>
          <a:prstGeom prst="rect">
            <a:avLst/>
          </a:prstGeom>
        </p:spPr>
        <p:txBody>
          <a:bodyPr wrap="square">
            <a:spAutoFit/>
          </a:bodyPr>
          <a:lstStyle/>
          <a:p>
            <a:pPr lvl="0">
              <a:defRPr/>
            </a:pPr>
            <a:r>
              <a:rPr lang="de-DE" dirty="0">
                <a:solidFill>
                  <a:srgbClr val="0071B2"/>
                </a:solidFill>
                <a:latin typeface="Source Sans Pro" panose="020B0503030403020204" pitchFamily="34" charset="0"/>
              </a:rPr>
              <a:t>Nachname und Anzahl der Abrechnungen </a:t>
            </a:r>
            <a:r>
              <a:rPr lang="de-DE" b="1" dirty="0" smtClean="0">
                <a:solidFill>
                  <a:schemeClr val="accent2"/>
                </a:solidFill>
                <a:latin typeface="Source Sans Pro" panose="020B0503030403020204" pitchFamily="34" charset="0"/>
              </a:rPr>
              <a:t>PRO Kunde </a:t>
            </a:r>
            <a:r>
              <a:rPr lang="de-DE" sz="1200" b="1" dirty="0" smtClean="0">
                <a:latin typeface="Source Sans Pro" panose="020B0503030403020204" pitchFamily="34" charset="0"/>
              </a:rPr>
              <a:t>(repräsentiert durch Vor- und Nachname)</a:t>
            </a:r>
            <a:r>
              <a:rPr lang="de-DE" sz="1200" dirty="0" smtClean="0">
                <a:latin typeface="Source Sans Pro" panose="020B0503030403020204" pitchFamily="34" charset="0"/>
              </a:rPr>
              <a:t>:</a:t>
            </a:r>
            <a:endParaRPr lang="de-DE" sz="1200" dirty="0">
              <a:latin typeface="Source Sans Pro" panose="020B0503030403020204" pitchFamily="34" charset="0"/>
            </a:endParaRPr>
          </a:p>
          <a:p>
            <a:pPr lvl="0">
              <a:defRPr/>
            </a:pPr>
            <a:endParaRPr lang="de-DE" sz="800" b="1" dirty="0" smtClean="0">
              <a:solidFill>
                <a:srgbClr val="0071B2"/>
              </a:solidFill>
              <a:latin typeface="Source Sans Pro" panose="020B0503030403020204" pitchFamily="34" charset="0"/>
            </a:endParaRPr>
          </a:p>
          <a:p>
            <a:pPr lvl="0">
              <a:defRPr/>
            </a:pPr>
            <a:r>
              <a:rPr lang="de-DE" sz="2000" b="1" dirty="0" smtClean="0">
                <a:solidFill>
                  <a:srgbClr val="0071B2"/>
                </a:solidFill>
                <a:latin typeface="Source Sans Pro" panose="020B0503030403020204" pitchFamily="34" charset="0"/>
              </a:rPr>
              <a:t>SELECT </a:t>
            </a:r>
            <a:r>
              <a:rPr lang="de-DE" sz="2000" dirty="0" smtClean="0">
                <a:solidFill>
                  <a:srgbClr val="0071B2"/>
                </a:solidFill>
                <a:latin typeface="Source Sans Pro" panose="020B0503030403020204" pitchFamily="34" charset="0"/>
              </a:rPr>
              <a:t>Vorname</a:t>
            </a:r>
            <a:r>
              <a:rPr lang="de-DE" sz="2000" b="1" dirty="0" smtClean="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smtClean="0">
                <a:solidFill>
                  <a:srgbClr val="0071B2"/>
                </a:solidFill>
                <a:latin typeface="Source Sans Pro" panose="020B0503030403020204" pitchFamily="34" charset="0"/>
              </a:rPr>
              <a:t>Kunde</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 Abrechnung</a:t>
            </a:r>
            <a:endParaRPr lang="de-DE" sz="20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WHERE </a:t>
            </a:r>
            <a:r>
              <a:rPr lang="de-DE" sz="2000" dirty="0" smtClean="0">
                <a:solidFill>
                  <a:srgbClr val="0071B2"/>
                </a:solidFill>
                <a:latin typeface="Source Sans Pro" panose="020B0503030403020204" pitchFamily="34" charset="0"/>
              </a:rPr>
              <a:t>Kunde.Kunde_ID</a:t>
            </a:r>
            <a:r>
              <a:rPr lang="de-DE" sz="2000" b="1" dirty="0" smtClean="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Abrechnung.Kunde_ID</a:t>
            </a:r>
          </a:p>
          <a:p>
            <a:pPr lvl="0">
              <a:defRPr/>
            </a:pPr>
            <a:r>
              <a:rPr lang="de-DE" sz="2000" b="1" dirty="0" smtClean="0">
                <a:solidFill>
                  <a:schemeClr val="accent2"/>
                </a:solidFill>
                <a:latin typeface="Source Sans Pro" panose="020B0503030403020204" pitchFamily="34" charset="0"/>
              </a:rPr>
              <a:t>GROUP BY </a:t>
            </a:r>
            <a:r>
              <a:rPr lang="de-DE" sz="2000" dirty="0" smtClean="0">
                <a:latin typeface="Source Sans Pro" panose="020B0503030403020204" pitchFamily="34" charset="0"/>
              </a:rPr>
              <a:t>Vorname</a:t>
            </a:r>
            <a:r>
              <a:rPr lang="de-DE" sz="2000" b="1" dirty="0" smtClean="0">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r>
              <a:rPr lang="de-DE" sz="2000" b="1" dirty="0" smtClean="0">
                <a:solidFill>
                  <a:srgbClr val="0071B2"/>
                </a:solidFill>
                <a:latin typeface="Source Sans Pro" panose="020B0503030403020204" pitchFamily="34" charset="0"/>
              </a:rPr>
              <a:t>;</a:t>
            </a:r>
          </a:p>
          <a:p>
            <a:pPr lvl="0">
              <a:defRPr/>
            </a:pPr>
            <a:endParaRPr lang="de-DE" sz="2000" b="1"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Nachname und Anzahl der Abrechnungen </a:t>
            </a:r>
            <a:r>
              <a:rPr lang="de-DE" b="1" dirty="0">
                <a:latin typeface="Source Sans Pro" panose="020B0503030403020204" pitchFamily="34" charset="0"/>
              </a:rPr>
              <a:t>PRO Kunde </a:t>
            </a:r>
            <a:r>
              <a:rPr lang="de-DE" sz="1200" b="1" dirty="0">
                <a:solidFill>
                  <a:srgbClr val="0071B2"/>
                </a:solidFill>
                <a:latin typeface="Source Sans Pro" panose="020B0503030403020204" pitchFamily="34" charset="0"/>
              </a:rPr>
              <a:t>(repräsentiert durch Vor- und Nachname</a:t>
            </a:r>
            <a:r>
              <a:rPr lang="de-DE" sz="1200" b="1" dirty="0" smtClean="0">
                <a:solidFill>
                  <a:srgbClr val="0071B2"/>
                </a:solidFill>
                <a:latin typeface="Source Sans Pro" panose="020B0503030403020204" pitchFamily="34" charset="0"/>
              </a:rPr>
              <a:t>)</a:t>
            </a:r>
            <a:r>
              <a:rPr lang="de-DE" sz="1200" dirty="0" smtClean="0">
                <a:solidFill>
                  <a:srgbClr val="0071B2"/>
                </a:solidFill>
                <a:latin typeface="Source Sans Pro" panose="020B0503030403020204" pitchFamily="34" charset="0"/>
              </a:rPr>
              <a:t>:</a:t>
            </a:r>
          </a:p>
          <a:p>
            <a:pPr lvl="0">
              <a:defRPr/>
            </a:pPr>
            <a:r>
              <a:rPr lang="de-DE" sz="1200" dirty="0" smtClean="0">
                <a:solidFill>
                  <a:srgbClr val="0071B2"/>
                </a:solidFill>
                <a:latin typeface="Source Sans Pro" panose="020B0503030403020204" pitchFamily="34" charset="0"/>
              </a:rPr>
              <a:t>(</a:t>
            </a:r>
            <a:r>
              <a:rPr lang="de-DE" sz="1200" b="1" dirty="0" smtClean="0">
                <a:solidFill>
                  <a:schemeClr val="accent2"/>
                </a:solidFill>
                <a:latin typeface="Source Sans Pro" panose="020B0503030403020204" pitchFamily="34" charset="0"/>
              </a:rPr>
              <a:t>sortiert</a:t>
            </a:r>
            <a:r>
              <a:rPr lang="de-DE" sz="1200" dirty="0" smtClean="0">
                <a:solidFill>
                  <a:srgbClr val="0071B2"/>
                </a:solidFill>
                <a:latin typeface="Source Sans Pro" panose="020B0503030403020204" pitchFamily="34" charset="0"/>
              </a:rPr>
              <a:t> nach Anzahl der Abrechnungen </a:t>
            </a:r>
            <a:r>
              <a:rPr lang="de-DE" sz="1200" b="1" dirty="0" smtClean="0">
                <a:solidFill>
                  <a:schemeClr val="accent2"/>
                </a:solidFill>
                <a:latin typeface="Source Sans Pro" panose="020B0503030403020204" pitchFamily="34" charset="0"/>
              </a:rPr>
              <a:t>absteigend</a:t>
            </a:r>
            <a:r>
              <a:rPr lang="de-DE" sz="1200" dirty="0" smtClean="0">
                <a:solidFill>
                  <a:srgbClr val="0071B2"/>
                </a:solidFill>
                <a:latin typeface="Source Sans Pro" panose="020B0503030403020204" pitchFamily="34" charset="0"/>
              </a:rPr>
              <a:t>)</a:t>
            </a:r>
            <a:endParaRPr lang="de-DE" sz="1200" dirty="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a:solidFill>
                  <a:srgbClr val="0071B2"/>
                </a:solidFill>
                <a:latin typeface="Source Sans Pro" panose="020B0503030403020204" pitchFamily="34" charset="0"/>
              </a:rPr>
              <a:t>Nachname</a:t>
            </a:r>
            <a:r>
              <a:rPr lang="de-DE" sz="2000" b="1" dirty="0">
                <a:solidFill>
                  <a:srgbClr val="0071B2"/>
                </a:solidFill>
                <a:latin typeface="Source Sans Pro" panose="020B0503030403020204" pitchFamily="34" charset="0"/>
              </a:rPr>
              <a:t>, COUNT(</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FROM </a:t>
            </a:r>
            <a:r>
              <a:rPr lang="de-DE" sz="2000" dirty="0">
                <a:solidFill>
                  <a:srgbClr val="0071B2"/>
                </a:solidFill>
                <a:latin typeface="Source Sans Pro" panose="020B0503030403020204" pitchFamily="34" charset="0"/>
              </a:rPr>
              <a:t>Kunde</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Abrechnung</a:t>
            </a:r>
          </a:p>
          <a:p>
            <a:pPr lvl="0">
              <a:defRPr/>
            </a:pPr>
            <a:r>
              <a:rPr lang="de-DE" sz="2000" b="1" dirty="0">
                <a:solidFill>
                  <a:srgbClr val="0071B2"/>
                </a:solidFill>
                <a:latin typeface="Source Sans Pro" panose="020B0503030403020204" pitchFamily="34" charset="0"/>
              </a:rPr>
              <a:t>WHERE </a:t>
            </a:r>
            <a:r>
              <a:rPr lang="de-DE" sz="2000" dirty="0">
                <a:solidFill>
                  <a:srgbClr val="0071B2"/>
                </a:solidFill>
                <a:latin typeface="Source Sans Pro" panose="020B0503030403020204" pitchFamily="34" charset="0"/>
              </a:rPr>
              <a:t>Kunde.Kunde_ID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Abrechnung.Kunde_ID</a:t>
            </a:r>
          </a:p>
          <a:p>
            <a:pPr lvl="0">
              <a:defRPr/>
            </a:pPr>
            <a:r>
              <a:rPr lang="de-DE" sz="2000" b="1" dirty="0">
                <a:latin typeface="Source Sans Pro" panose="020B0503030403020204" pitchFamily="34" charset="0"/>
              </a:rPr>
              <a:t>GROUP BY </a:t>
            </a:r>
            <a:r>
              <a:rPr lang="de-DE" sz="2000" dirty="0">
                <a:solidFill>
                  <a:srgbClr val="0071B2"/>
                </a:solidFill>
                <a:latin typeface="Source Sans Pro" panose="020B0503030403020204" pitchFamily="34" charset="0"/>
              </a:rPr>
              <a:t>Vorname</a:t>
            </a:r>
            <a:r>
              <a:rPr lang="de-DE" sz="2000" b="1" dirty="0">
                <a:solidFill>
                  <a:srgbClr val="0071B2"/>
                </a:solidFill>
                <a:latin typeface="Source Sans Pro" panose="020B0503030403020204" pitchFamily="34" charset="0"/>
              </a:rPr>
              <a:t>, </a:t>
            </a:r>
            <a:r>
              <a:rPr lang="de-DE" sz="2000" dirty="0" smtClean="0">
                <a:solidFill>
                  <a:srgbClr val="0071B2"/>
                </a:solidFill>
                <a:latin typeface="Source Sans Pro" panose="020B0503030403020204" pitchFamily="34" charset="0"/>
              </a:rPr>
              <a:t>Nachname</a:t>
            </a:r>
          </a:p>
          <a:p>
            <a:pPr lvl="0">
              <a:defRPr/>
            </a:pPr>
            <a:r>
              <a:rPr lang="de-DE" sz="2000" b="1" dirty="0" smtClean="0">
                <a:solidFill>
                  <a:schemeClr val="accent2"/>
                </a:solidFill>
                <a:latin typeface="Source Sans Pro" panose="020B0503030403020204" pitchFamily="34" charset="0"/>
              </a:rPr>
              <a:t>ORDER BY </a:t>
            </a:r>
            <a:r>
              <a:rPr lang="de-DE" sz="2000" b="1" dirty="0" smtClean="0">
                <a:solidFill>
                  <a:srgbClr val="0071B2"/>
                </a:solidFill>
                <a:latin typeface="Source Sans Pro" panose="020B0503030403020204" pitchFamily="34" charset="0"/>
              </a:rPr>
              <a:t>COUNT(*) </a:t>
            </a:r>
            <a:r>
              <a:rPr lang="de-DE" sz="2000" b="1" dirty="0" smtClean="0">
                <a:solidFill>
                  <a:schemeClr val="accent2"/>
                </a:solidFill>
                <a:latin typeface="Source Sans Pro" panose="020B0503030403020204" pitchFamily="34" charset="0"/>
              </a:rPr>
              <a:t>DESC</a:t>
            </a:r>
            <a:r>
              <a:rPr lang="de-DE"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lvl="0">
              <a:defRPr/>
            </a:pPr>
            <a:endParaRPr lang="de-DE" sz="2000" b="1" dirty="0">
              <a:solidFill>
                <a:srgbClr val="0071B2"/>
              </a:solidFill>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8678374" y="1753985"/>
            <a:ext cx="1388340" cy="933377"/>
          </a:xfrm>
          <a:prstGeom prst="rect">
            <a:avLst/>
          </a:prstGeom>
          <a:effectLst>
            <a:innerShdw blurRad="114300">
              <a:prstClr val="black"/>
            </a:innerShdw>
          </a:effectLst>
        </p:spPr>
      </p:pic>
      <p:pic>
        <p:nvPicPr>
          <p:cNvPr id="10" name="Grafik 9"/>
          <p:cNvPicPr>
            <a:picLocks noChangeAspect="1"/>
          </p:cNvPicPr>
          <p:nvPr/>
        </p:nvPicPr>
        <p:blipFill>
          <a:blip r:embed="rId3"/>
          <a:stretch>
            <a:fillRect/>
          </a:stretch>
        </p:blipFill>
        <p:spPr>
          <a:xfrm>
            <a:off x="8678375" y="3544720"/>
            <a:ext cx="1787350" cy="1226134"/>
          </a:xfrm>
          <a:prstGeom prst="rect">
            <a:avLst/>
          </a:prstGeom>
          <a:effectLst>
            <a:innerShdw blurRad="114300">
              <a:prstClr val="black"/>
            </a:innerShdw>
          </a:effectLst>
        </p:spPr>
      </p:pic>
      <p:sp>
        <p:nvSpPr>
          <p:cNvPr id="13" name="Rechteck 12"/>
          <p:cNvSpPr/>
          <p:nvPr/>
        </p:nvSpPr>
        <p:spPr>
          <a:xfrm>
            <a:off x="174538" y="4879977"/>
            <a:ext cx="11870575" cy="184149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endParaRPr lang="de-DE" sz="1600" dirty="0" smtClean="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Die </a:t>
            </a:r>
            <a:r>
              <a:rPr lang="de-DE" sz="1200" b="1" dirty="0" smtClean="0">
                <a:solidFill>
                  <a:schemeClr val="tx1"/>
                </a:solidFill>
                <a:latin typeface="Source Sans Pro" panose="020B0503030403020204" pitchFamily="34" charset="0"/>
              </a:rPr>
              <a:t>Repräsentation eines Kunden </a:t>
            </a:r>
            <a:r>
              <a:rPr lang="de-DE" sz="1200" dirty="0" smtClean="0">
                <a:solidFill>
                  <a:schemeClr val="tx1"/>
                </a:solidFill>
                <a:latin typeface="Source Sans Pro" panose="020B0503030403020204" pitchFamily="34" charset="0"/>
              </a:rPr>
              <a:t>mittels Vor- und Nachnamen ist nicht unproblematisch, da es unterschiedliche, aber gleichnamige Kunden geben könnte,</a:t>
            </a:r>
          </a:p>
          <a:p>
            <a:pPr algn="ctr"/>
            <a:r>
              <a:rPr lang="de-DE" sz="1200" dirty="0" smtClean="0">
                <a:solidFill>
                  <a:schemeClr val="tx1"/>
                </a:solidFill>
                <a:latin typeface="Source Sans Pro" panose="020B0503030403020204" pitchFamily="34" charset="0"/>
              </a:rPr>
              <a:t>deren Abrechnungen dann fälschlicherweise </a:t>
            </a:r>
            <a:r>
              <a:rPr lang="de-DE" sz="1200" b="1" dirty="0" smtClean="0">
                <a:solidFill>
                  <a:schemeClr val="tx1"/>
                </a:solidFill>
                <a:latin typeface="Source Sans Pro" panose="020B0503030403020204" pitchFamily="34" charset="0"/>
              </a:rPr>
              <a:t>„in einen (gemeinsamen) Topf“ </a:t>
            </a:r>
            <a:r>
              <a:rPr lang="de-DE" sz="1200" dirty="0" smtClean="0">
                <a:solidFill>
                  <a:schemeClr val="tx1"/>
                </a:solidFill>
                <a:latin typeface="Source Sans Pro" panose="020B0503030403020204" pitchFamily="34" charset="0"/>
              </a:rPr>
              <a:t>geworfen werden würden.</a:t>
            </a:r>
          </a:p>
          <a:p>
            <a:pPr algn="ctr"/>
            <a:endParaRPr lang="de-DE" sz="1200" dirty="0">
              <a:solidFill>
                <a:schemeClr val="tx1"/>
              </a:solidFill>
              <a:latin typeface="Source Sans Pro" panose="020B0503030403020204" pitchFamily="34" charset="0"/>
            </a:endParaRPr>
          </a:p>
          <a:p>
            <a:pPr algn="ctr"/>
            <a:r>
              <a:rPr lang="de-DE" sz="1200" b="1" dirty="0" smtClean="0">
                <a:solidFill>
                  <a:schemeClr val="tx1"/>
                </a:solidFill>
                <a:latin typeface="Source Sans Pro" panose="020B0503030403020204" pitchFamily="34" charset="0"/>
              </a:rPr>
              <a:t>Im obigen Fall wäre es also günstiger:</a:t>
            </a:r>
          </a:p>
          <a:p>
            <a:pPr marL="342900" indent="-342900" algn="ctr">
              <a:buAutoNum type="alphaLcParenR"/>
            </a:pPr>
            <a:r>
              <a:rPr lang="de-DE" sz="1200" dirty="0" smtClean="0">
                <a:solidFill>
                  <a:schemeClr val="tx1"/>
                </a:solidFill>
                <a:latin typeface="Source Sans Pro" panose="020B0503030403020204" pitchFamily="34" charset="0"/>
              </a:rPr>
              <a:t>die Kunden-ID ausgeben zu lassen</a:t>
            </a:r>
          </a:p>
          <a:p>
            <a:pPr marL="342900" indent="-342900" algn="ctr">
              <a:buAutoNum type="alphaLcParenR"/>
            </a:pPr>
            <a:r>
              <a:rPr lang="de-DE" sz="1200" dirty="0" smtClean="0">
                <a:solidFill>
                  <a:schemeClr val="tx1"/>
                </a:solidFill>
                <a:latin typeface="Source Sans Pro" panose="020B0503030403020204" pitchFamily="34" charset="0"/>
              </a:rPr>
              <a:t>nach der Kunden-ID zu gruppieren</a:t>
            </a:r>
          </a:p>
          <a:p>
            <a:pPr marL="342900" indent="-342900" algn="ctr">
              <a:buAutoNum type="alphaLcParenR"/>
            </a:pPr>
            <a:endParaRPr lang="de-DE" sz="1200" dirty="0">
              <a:solidFill>
                <a:schemeClr val="tx1"/>
              </a:solidFill>
              <a:latin typeface="Source Sans Pro" panose="020B0503030403020204" pitchFamily="34" charset="0"/>
            </a:endParaRPr>
          </a:p>
          <a:p>
            <a:pPr algn="ctr"/>
            <a:r>
              <a:rPr lang="de-DE" sz="1200" dirty="0" smtClean="0">
                <a:solidFill>
                  <a:schemeClr val="tx1"/>
                </a:solidFill>
                <a:latin typeface="Source Sans Pro" panose="020B0503030403020204" pitchFamily="34" charset="0"/>
              </a:rPr>
              <a:t>Dies ist aber dann bereits Teil der Aufgabenstellung und muss bzgl. einer IHK-Aufgabe nicht berücksichtigt werden. So kann für die IHK die folgende Empfehlung ausgesprochen werden: Notieren Sie </a:t>
            </a:r>
            <a:r>
              <a:rPr lang="de-DE" sz="1200" b="1" dirty="0" smtClean="0">
                <a:solidFill>
                  <a:schemeClr val="tx1"/>
                </a:solidFill>
                <a:latin typeface="Source Sans Pro" panose="020B0503030403020204" pitchFamily="34" charset="0"/>
              </a:rPr>
              <a:t>hinter GROUP BY </a:t>
            </a:r>
            <a:r>
              <a:rPr lang="de-DE" sz="1200" dirty="0" smtClean="0">
                <a:solidFill>
                  <a:schemeClr val="tx1"/>
                </a:solidFill>
                <a:latin typeface="Source Sans Pro" panose="020B0503030403020204" pitchFamily="34" charset="0"/>
              </a:rPr>
              <a:t>einfach alle Attribute, die auch </a:t>
            </a:r>
            <a:r>
              <a:rPr lang="de-DE" sz="1200" b="1" dirty="0" smtClean="0">
                <a:solidFill>
                  <a:schemeClr val="tx1"/>
                </a:solidFill>
                <a:latin typeface="Source Sans Pro" panose="020B0503030403020204" pitchFamily="34" charset="0"/>
              </a:rPr>
              <a:t>hinter SELECT </a:t>
            </a:r>
            <a:r>
              <a:rPr lang="de-DE" sz="1200" dirty="0" smtClean="0">
                <a:solidFill>
                  <a:schemeClr val="tx1"/>
                </a:solidFill>
                <a:latin typeface="Source Sans Pro" panose="020B0503030403020204" pitchFamily="34" charset="0"/>
              </a:rPr>
              <a:t>notiert wurden, </a:t>
            </a:r>
            <a:r>
              <a:rPr lang="de-DE" sz="1200" b="1" dirty="0" smtClean="0">
                <a:solidFill>
                  <a:schemeClr val="tx1"/>
                </a:solidFill>
                <a:latin typeface="Source Sans Pro" panose="020B0503030403020204" pitchFamily="34" charset="0"/>
              </a:rPr>
              <a:t>MIT AUSNAHME </a:t>
            </a:r>
            <a:r>
              <a:rPr lang="de-DE" sz="1200" dirty="0" smtClean="0">
                <a:solidFill>
                  <a:schemeClr val="tx1"/>
                </a:solidFill>
                <a:latin typeface="Source Sans Pro" panose="020B0503030403020204" pitchFamily="34" charset="0"/>
              </a:rPr>
              <a:t>der Attribute aller aufgeführten Aggregatfunktionen.</a:t>
            </a:r>
          </a:p>
          <a:p>
            <a:pPr algn="ctr"/>
            <a:endParaRPr lang="de-DE" sz="1200" dirty="0" smtClean="0">
              <a:solidFill>
                <a:schemeClr val="tx1"/>
              </a:solidFill>
              <a:latin typeface="Source Sans Pro" panose="020B0503030403020204" pitchFamily="34" charset="0"/>
            </a:endParaRPr>
          </a:p>
          <a:p>
            <a:pPr algn="ctr"/>
            <a:endParaRPr lang="de-DE" sz="800" b="1" dirty="0" smtClean="0">
              <a:solidFill>
                <a:schemeClr val="tx1"/>
              </a:solidFill>
              <a:latin typeface="Source Sans Pro" panose="020B0503030403020204" pitchFamily="34" charset="0"/>
            </a:endParaRPr>
          </a:p>
        </p:txBody>
      </p:sp>
    </p:spTree>
    <p:extLst>
      <p:ext uri="{BB962C8B-B14F-4D97-AF65-F5344CB8AC3E}">
        <p14:creationId xmlns:p14="http://schemas.microsoft.com/office/powerpoint/2010/main" val="34379432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HAVING</a:t>
            </a:r>
            <a:endParaRPr lang="de-DE" sz="6600" dirty="0">
              <a:latin typeface="Source Sans Pro" panose="020B0503030403020204" pitchFamily="34" charset="0"/>
            </a:endParaRPr>
          </a:p>
        </p:txBody>
      </p:sp>
    </p:spTree>
    <p:extLst>
      <p:ext uri="{BB962C8B-B14F-4D97-AF65-F5344CB8AC3E}">
        <p14:creationId xmlns:p14="http://schemas.microsoft.com/office/powerpoint/2010/main" val="13465713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94511" y="2297537"/>
            <a:ext cx="10976310"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Wie schon</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WHERE und ON</a:t>
            </a:r>
            <a:r>
              <a:rPr lang="de-DE" sz="2400" dirty="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ist auch</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HAVING</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t>
            </a:r>
            <a:r>
              <a:rPr lang="de-DE" sz="2400" noProof="0" dirty="0" smtClean="0">
                <a:solidFill>
                  <a:srgbClr val="0071B2"/>
                </a:solidFill>
                <a:latin typeface="Source Sans Pro" panose="020B0503030403020204" pitchFamily="34" charset="0"/>
              </a:rPr>
              <a:t>eine</a:t>
            </a:r>
            <a:r>
              <a:rPr lang="de-DE" sz="2400" dirty="0" smtClean="0">
                <a:solidFill>
                  <a:srgbClr val="0071B2"/>
                </a:solidFill>
                <a:latin typeface="Source Sans Pro" panose="020B0503030403020204" pitchFamily="34" charset="0"/>
              </a:rPr>
              <a:t>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Bedingungs-Klausel“.</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Sie ist </a:t>
            </a:r>
            <a:r>
              <a:rPr lang="de-DE" sz="2400" b="1" dirty="0" smtClean="0">
                <a:solidFill>
                  <a:srgbClr val="0071B2"/>
                </a:solidFill>
                <a:latin typeface="Source Sans Pro" panose="020B0503030403020204" pitchFamily="34" charset="0"/>
              </a:rPr>
              <a:t>obligatorisch</a:t>
            </a:r>
            <a:r>
              <a:rPr lang="de-DE" sz="2400" dirty="0" smtClean="0">
                <a:solidFill>
                  <a:srgbClr val="0071B2"/>
                </a:solidFill>
                <a:latin typeface="Source Sans Pro" panose="020B0503030403020204" pitchFamily="34" charset="0"/>
              </a:rPr>
              <a:t>, wenn die Bedingung von einem </a:t>
            </a:r>
            <a:r>
              <a:rPr lang="de-DE" sz="2400" b="1" dirty="0" smtClean="0">
                <a:solidFill>
                  <a:srgbClr val="0071B2"/>
                </a:solidFill>
                <a:latin typeface="Source Sans Pro" panose="020B0503030403020204" pitchFamily="34" charset="0"/>
              </a:rPr>
              <a:t>aggregierten Wert </a:t>
            </a:r>
            <a:r>
              <a:rPr lang="de-DE" sz="2400" dirty="0" smtClean="0">
                <a:solidFill>
                  <a:srgbClr val="0071B2"/>
                </a:solidFill>
                <a:latin typeface="Source Sans Pro" panose="020B0503030403020204" pitchFamily="34" charset="0"/>
              </a:rPr>
              <a:t>spricht.</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aseline="0" dirty="0" smtClean="0">
                <a:solidFill>
                  <a:srgbClr val="0071B2"/>
                </a:solidFill>
                <a:latin typeface="Source Sans Pro" panose="020B0503030403020204" pitchFamily="34" charset="0"/>
              </a:rPr>
              <a:t>Auch diese Funktionalität wird uns erlauben, </a:t>
            </a:r>
            <a:r>
              <a:rPr lang="de-DE" sz="2400" b="1" baseline="0" dirty="0" smtClean="0">
                <a:solidFill>
                  <a:srgbClr val="0071B2"/>
                </a:solidFill>
                <a:latin typeface="Source Sans Pro" panose="020B0503030403020204" pitchFamily="34" charset="0"/>
              </a:rPr>
              <a:t>interessantere Abfragen </a:t>
            </a:r>
            <a:r>
              <a:rPr lang="de-DE" sz="2400" baseline="0" dirty="0" smtClean="0">
                <a:solidFill>
                  <a:srgbClr val="0071B2"/>
                </a:solidFill>
                <a:latin typeface="Source Sans Pro" panose="020B0503030403020204" pitchFamily="34" charset="0"/>
              </a:rPr>
              <a:t>zu formulieren. </a:t>
            </a:r>
            <a:r>
              <a:rPr lang="de-DE" sz="2400" dirty="0" smtClean="0">
                <a:solidFill>
                  <a:srgbClr val="0071B2"/>
                </a:solidFill>
                <a:latin typeface="Source Sans Pro" panose="020B0503030403020204" pitchFamily="34" charset="0"/>
              </a:rPr>
              <a:t>Dies werden wir im Folgenden durch einige Beispiele illustrieren.</a:t>
            </a: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a:t>
            </a:r>
            <a:r>
              <a:rPr lang="de-DE" sz="4000" dirty="0">
                <a:solidFill>
                  <a:srgbClr val="0071B2"/>
                </a:solidFill>
                <a:latin typeface="Source Sans Pro" panose="020B0503030403020204" pitchFamily="34" charset="0"/>
              </a:rPr>
              <a:t>+</a:t>
            </a: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214030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3" name="Rechteck 2"/>
          <p:cNvSpPr/>
          <p:nvPr/>
        </p:nvSpPr>
        <p:spPr>
          <a:xfrm>
            <a:off x="1219199" y="1271590"/>
            <a:ext cx="11216641" cy="44935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smtClean="0">
                <a:ln>
                  <a:noFill/>
                </a:ln>
                <a:effectLst/>
                <a:uLnTx/>
                <a:uFillTx/>
                <a:latin typeface="Source Sans Pro" panose="020B0503030403020204" pitchFamily="34" charset="0"/>
                <a:ea typeface="+mn-ea"/>
                <a:cs typeface="+mn-cs"/>
              </a:rPr>
              <a:t>PRO Hersteller: </a:t>
            </a:r>
            <a:r>
              <a:rPr lang="de-DE" dirty="0" smtClean="0">
                <a:latin typeface="Source Sans Pro" panose="020B0503030403020204" pitchFamily="34" charset="0"/>
              </a:rPr>
              <a:t>Hersteller-Name </a:t>
            </a:r>
            <a:r>
              <a:rPr kumimoji="0" lang="de-DE" sz="1800" i="0" u="none" strike="noStrike" kern="1200" cap="none" spc="0" normalizeH="0" baseline="0" noProof="0" dirty="0" smtClean="0">
                <a:ln>
                  <a:noFill/>
                </a:ln>
                <a:effectLst/>
                <a:uLnTx/>
                <a:uFillTx/>
                <a:latin typeface="Source Sans Pro" panose="020B0503030403020204" pitchFamily="34" charset="0"/>
                <a:ea typeface="+mn-ea"/>
                <a:cs typeface="+mn-cs"/>
              </a:rPr>
              <a:t>und Preis </a:t>
            </a:r>
            <a:r>
              <a:rPr lang="de-DE" dirty="0" smtClean="0">
                <a:latin typeface="Source Sans Pro" panose="020B0503030403020204" pitchFamily="34" charset="0"/>
              </a:rPr>
              <a:t>seines</a:t>
            </a:r>
            <a:r>
              <a:rPr kumimoji="0" lang="de-DE" sz="1800" i="0" u="none" strike="noStrike" kern="1200" cap="none" spc="0" normalizeH="0" baseline="0" noProof="0" dirty="0" smtClean="0">
                <a:ln>
                  <a:noFill/>
                </a:ln>
                <a:effectLst/>
                <a:uLnTx/>
                <a:uFillTx/>
                <a:latin typeface="Source Sans Pro" panose="020B0503030403020204" pitchFamily="34" charset="0"/>
                <a:ea typeface="+mn-ea"/>
                <a:cs typeface="+mn-cs"/>
              </a:rPr>
              <a:t> teuersten Produkts</a:t>
            </a:r>
            <a:r>
              <a:rPr kumimoji="0" lang="de-DE" sz="1800" i="0" u="none" strike="noStrike" kern="1200" cap="none" spc="0" normalizeH="0" noProof="0" dirty="0" smtClean="0">
                <a:ln>
                  <a:noFill/>
                </a:ln>
                <a:effectLst/>
                <a:uLnTx/>
                <a:uFillTx/>
                <a:latin typeface="Source Sans Pro" panose="020B0503030403020204" pitchFamily="34" charset="0"/>
                <a:ea typeface="+mn-ea"/>
                <a:cs typeface="+mn-cs"/>
              </a:rPr>
              <a:t> </a:t>
            </a:r>
            <a:r>
              <a:rPr lang="de-DE" dirty="0">
                <a:latin typeface="Source Sans Pro" panose="020B0503030403020204" pitchFamily="34" charset="0"/>
              </a:rPr>
              <a:t>(</a:t>
            </a:r>
            <a:r>
              <a:rPr kumimoji="0" lang="de-DE" sz="1800" i="0" u="none" strike="noStrike" kern="1200" cap="none" spc="0" normalizeH="0" noProof="0" dirty="0" smtClean="0">
                <a:ln>
                  <a:noFill/>
                </a:ln>
                <a:effectLst/>
                <a:uLnTx/>
                <a:uFillTx/>
                <a:latin typeface="Source Sans Pro" panose="020B0503030403020204" pitchFamily="34" charset="0"/>
                <a:ea typeface="+mn-ea"/>
                <a:cs typeface="+mn-cs"/>
              </a:rPr>
              <a:t>im Sortiment von „</a:t>
            </a:r>
            <a:r>
              <a:rPr kumimoji="0" lang="de-DE" sz="1800" i="0" u="none" strike="noStrike" kern="1200" cap="none" spc="0" normalizeH="0" noProof="0" dirty="0" err="1" smtClean="0">
                <a:ln>
                  <a:noFill/>
                </a:ln>
                <a:effectLst/>
                <a:uLnTx/>
                <a:uFillTx/>
                <a:latin typeface="Source Sans Pro" panose="020B0503030403020204" pitchFamily="34" charset="0"/>
                <a:ea typeface="+mn-ea"/>
                <a:cs typeface="+mn-cs"/>
              </a:rPr>
              <a:t>Geld_her</a:t>
            </a:r>
            <a:r>
              <a:rPr kumimoji="0" lang="de-DE" sz="1800" i="0" u="none" strike="noStrike" kern="1200" cap="none" spc="0" normalizeH="0" noProof="0" dirty="0" smtClean="0">
                <a:ln>
                  <a:noFill/>
                </a:ln>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baseline="0" dirty="0" smtClean="0">
                <a:latin typeface="Source Sans Pro" panose="020B0503030403020204" pitchFamily="34" charset="0"/>
              </a:rPr>
              <a:t>(Es sollen aber nur Hersteller berücksichtigt werden, deren </a:t>
            </a:r>
            <a:r>
              <a:rPr lang="de-DE" b="1" baseline="0" dirty="0" smtClean="0">
                <a:solidFill>
                  <a:schemeClr val="accent2"/>
                </a:solidFill>
                <a:latin typeface="Source Sans Pro" panose="020B0503030403020204" pitchFamily="34" charset="0"/>
              </a:rPr>
              <a:t>teuerstes Produkt mehr</a:t>
            </a:r>
            <a:r>
              <a:rPr lang="de-DE" b="1" dirty="0" smtClean="0">
                <a:solidFill>
                  <a:schemeClr val="accent2"/>
                </a:solidFill>
                <a:latin typeface="Source Sans Pro" panose="020B0503030403020204" pitchFamily="34" charset="0"/>
              </a:rPr>
              <a:t> als</a:t>
            </a:r>
            <a:r>
              <a:rPr lang="de-DE" b="1" baseline="0" dirty="0" smtClean="0">
                <a:solidFill>
                  <a:schemeClr val="accent2"/>
                </a:solidFill>
                <a:latin typeface="Source Sans Pro" panose="020B0503030403020204" pitchFamily="34" charset="0"/>
              </a:rPr>
              <a:t> 30 Euro </a:t>
            </a:r>
            <a:r>
              <a:rPr lang="de-DE" baseline="0" dirty="0" smtClean="0">
                <a:latin typeface="Source Sans Pro" panose="020B0503030403020204" pitchFamily="34" charset="0"/>
              </a:rPr>
              <a:t>kostet.)</a:t>
            </a:r>
            <a:r>
              <a:rPr kumimoji="0" lang="de-DE" sz="1800" i="0" u="none" strike="noStrike" kern="1200" cap="none" spc="0" normalizeH="0" baseline="0" noProof="0" dirty="0" smtClean="0">
                <a:ln>
                  <a:noFill/>
                </a:ln>
                <a:effectLst/>
                <a:uLnTx/>
                <a:uFillTx/>
                <a:latin typeface="Source Sans Pro" panose="020B0503030403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i="0" u="none" strike="noStrike" kern="1200" cap="none" spc="0" normalizeH="0" baseline="0" noProof="0" dirty="0" smtClean="0">
              <a:ln>
                <a:noFill/>
              </a:ln>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SELECT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Hersteller_Name</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MAX(</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Euro_Preis)</a:t>
            </a:r>
            <a:r>
              <a:rPr lang="de-DE" sz="2000" b="1" dirty="0">
                <a:solidFill>
                  <a:srgbClr val="0071B2"/>
                </a:solidFill>
                <a:latin typeface="Source Sans Pro" panose="020B0503030403020204" pitchFamily="34" charset="0"/>
              </a:rPr>
              <a:t> </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FROM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Produkt</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Hersteller</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WHERE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Produkt.Hersteller_ID</a:t>
            </a:r>
            <a:r>
              <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Hersteller.Hersteller_ID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smtClean="0">
                <a:ln>
                  <a:noFill/>
                </a:ln>
                <a:effectLst/>
                <a:uLnTx/>
                <a:uFillTx/>
                <a:latin typeface="Source Sans Pro" panose="020B0503030403020204" pitchFamily="34" charset="0"/>
                <a:ea typeface="+mn-ea"/>
                <a:cs typeface="+mn-cs"/>
              </a:rPr>
              <a:t>GROUP BY </a:t>
            </a:r>
            <a:r>
              <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Hersteller_Name</a:t>
            </a:r>
          </a:p>
          <a:p>
            <a:pPr lvl="0">
              <a:defRPr/>
            </a:pPr>
            <a:r>
              <a:rPr lang="de-DE" sz="2000" b="1" dirty="0" smtClean="0">
                <a:solidFill>
                  <a:schemeClr val="accent2"/>
                </a:solidFill>
                <a:latin typeface="Source Sans Pro" panose="020B0503030403020204" pitchFamily="34" charset="0"/>
              </a:rPr>
              <a:t>HAVING</a:t>
            </a:r>
            <a:r>
              <a:rPr lang="de-DE" sz="2000" dirty="0" smtClean="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MAX(</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&gt; </a:t>
            </a:r>
            <a:r>
              <a:rPr lang="de-DE" sz="2000" dirty="0" smtClean="0">
                <a:solidFill>
                  <a:srgbClr val="0071B2"/>
                </a:solidFill>
                <a:latin typeface="Source Sans Pro" panose="020B0503030403020204" pitchFamily="34" charset="0"/>
              </a:rPr>
              <a:t>30</a:t>
            </a:r>
            <a:r>
              <a:rPr lang="de-DE" sz="2000" b="1" dirty="0" smtClean="0">
                <a:solidFill>
                  <a:srgbClr val="0071B2"/>
                </a:solidFill>
                <a:latin typeface="Source Sans Pro" panose="020B0503030403020204" pitchFamily="34" charset="0"/>
              </a:rPr>
              <a:t>;</a:t>
            </a:r>
            <a:endParaRPr kumimoji="0" lang="de-DE" sz="20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lang="de-DE" b="1" dirty="0">
                <a:solidFill>
                  <a:srgbClr val="0071B2"/>
                </a:solidFill>
                <a:latin typeface="Source Sans Pro" panose="020B0503030403020204" pitchFamily="34" charset="0"/>
              </a:rPr>
              <a:t>PRO Hersteller: </a:t>
            </a:r>
            <a:r>
              <a:rPr lang="de-DE" dirty="0" smtClean="0">
                <a:solidFill>
                  <a:srgbClr val="0071B2"/>
                </a:solidFill>
                <a:latin typeface="Source Sans Pro" panose="020B0503030403020204" pitchFamily="34" charset="0"/>
              </a:rPr>
              <a:t>Hersteller-Name </a:t>
            </a:r>
            <a:r>
              <a:rPr lang="de-DE" dirty="0">
                <a:solidFill>
                  <a:srgbClr val="0071B2"/>
                </a:solidFill>
                <a:latin typeface="Source Sans Pro" panose="020B0503030403020204" pitchFamily="34" charset="0"/>
              </a:rPr>
              <a:t>und Preis </a:t>
            </a:r>
            <a:r>
              <a:rPr lang="de-DE" dirty="0" smtClean="0">
                <a:solidFill>
                  <a:srgbClr val="0071B2"/>
                </a:solidFill>
                <a:latin typeface="Source Sans Pro" panose="020B0503030403020204" pitchFamily="34" charset="0"/>
              </a:rPr>
              <a:t>seines </a:t>
            </a:r>
            <a:r>
              <a:rPr lang="de-DE" dirty="0">
                <a:solidFill>
                  <a:srgbClr val="0071B2"/>
                </a:solidFill>
                <a:latin typeface="Source Sans Pro" panose="020B0503030403020204" pitchFamily="34" charset="0"/>
              </a:rPr>
              <a:t>teuersten Produkts (</a:t>
            </a:r>
            <a:r>
              <a:rPr lang="de-DE" dirty="0" smtClean="0">
                <a:solidFill>
                  <a:srgbClr val="0071B2"/>
                </a:solidFill>
                <a:latin typeface="Source Sans Pro" panose="020B0503030403020204" pitchFamily="34" charset="0"/>
              </a:rPr>
              <a:t>im </a:t>
            </a:r>
            <a:r>
              <a:rPr lang="de-DE" dirty="0">
                <a:solidFill>
                  <a:srgbClr val="0071B2"/>
                </a:solidFill>
                <a:latin typeface="Source Sans Pro" panose="020B0503030403020204" pitchFamily="34" charset="0"/>
              </a:rPr>
              <a:t>Sortiment von „</a:t>
            </a:r>
            <a:r>
              <a:rPr lang="de-DE" dirty="0" err="1">
                <a:solidFill>
                  <a:srgbClr val="0071B2"/>
                </a:solidFill>
                <a:latin typeface="Source Sans Pro" panose="020B0503030403020204" pitchFamily="34" charset="0"/>
              </a:rPr>
              <a:t>Geld_her</a:t>
            </a:r>
            <a:r>
              <a:rPr lang="de-DE" smtClean="0">
                <a:solidFill>
                  <a:srgbClr val="0071B2"/>
                </a:solidFill>
                <a:latin typeface="Source Sans Pro" panose="020B0503030403020204" pitchFamily="34" charset="0"/>
              </a:rPr>
              <a:t>“).</a:t>
            </a:r>
            <a:endParaRPr lang="de-DE" dirty="0">
              <a:solidFill>
                <a:srgbClr val="0071B2"/>
              </a:solidFill>
              <a:latin typeface="Source Sans Pro" panose="020B0503030403020204" pitchFamily="34" charset="0"/>
            </a:endParaRPr>
          </a:p>
          <a:p>
            <a:pPr lvl="0">
              <a:defRPr/>
            </a:pPr>
            <a:r>
              <a:rPr lang="de-DE" sz="1600" dirty="0">
                <a:solidFill>
                  <a:srgbClr val="0071B2"/>
                </a:solidFill>
                <a:latin typeface="Source Sans Pro" panose="020B0503030403020204" pitchFamily="34" charset="0"/>
              </a:rPr>
              <a:t>(Es sollen aber nur Hersteller berücksichtigt werden, deren </a:t>
            </a:r>
            <a:r>
              <a:rPr lang="de-DE" sz="1600" b="1" dirty="0" smtClean="0">
                <a:solidFill>
                  <a:schemeClr val="accent2"/>
                </a:solidFill>
                <a:latin typeface="Source Sans Pro" panose="020B0503030403020204" pitchFamily="34" charset="0"/>
              </a:rPr>
              <a:t>Produkte im Durchschnitt weniger </a:t>
            </a:r>
            <a:r>
              <a:rPr lang="de-DE" sz="1600" b="1" dirty="0">
                <a:solidFill>
                  <a:schemeClr val="accent2"/>
                </a:solidFill>
                <a:latin typeface="Source Sans Pro" panose="020B0503030403020204" pitchFamily="34" charset="0"/>
              </a:rPr>
              <a:t>als </a:t>
            </a:r>
            <a:r>
              <a:rPr lang="de-DE" sz="1600" b="1" dirty="0" smtClean="0">
                <a:solidFill>
                  <a:schemeClr val="accent2"/>
                </a:solidFill>
                <a:latin typeface="Source Sans Pro" panose="020B0503030403020204" pitchFamily="34" charset="0"/>
              </a:rPr>
              <a:t>500 </a:t>
            </a:r>
            <a:r>
              <a:rPr lang="de-DE" sz="1600" b="1" dirty="0">
                <a:solidFill>
                  <a:schemeClr val="accent2"/>
                </a:solidFill>
                <a:latin typeface="Source Sans Pro" panose="020B0503030403020204" pitchFamily="34" charset="0"/>
              </a:rPr>
              <a:t>Euro </a:t>
            </a:r>
            <a:r>
              <a:rPr lang="de-DE" sz="1600" dirty="0" smtClean="0">
                <a:solidFill>
                  <a:srgbClr val="0071B2"/>
                </a:solidFill>
                <a:latin typeface="Source Sans Pro" panose="020B0503030403020204" pitchFamily="34" charset="0"/>
              </a:rPr>
              <a:t>kosten.) </a:t>
            </a:r>
            <a:endParaRPr lang="de-DE" sz="1600" dirty="0">
              <a:solidFill>
                <a:srgbClr val="0071B2"/>
              </a:solidFill>
              <a:latin typeface="Source Sans Pro" panose="020B0503030403020204" pitchFamily="34" charset="0"/>
            </a:endParaRPr>
          </a:p>
          <a:p>
            <a:pPr lvl="0">
              <a:defRPr/>
            </a:pPr>
            <a:endParaRPr lang="de-DE" sz="8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SELECT </a:t>
            </a:r>
            <a:r>
              <a:rPr lang="de-DE" sz="2000" dirty="0">
                <a:solidFill>
                  <a:srgbClr val="0071B2"/>
                </a:solidFill>
                <a:latin typeface="Source Sans Pro" panose="020B0503030403020204" pitchFamily="34" charset="0"/>
              </a:rPr>
              <a:t>Hersteller_Name</a:t>
            </a:r>
            <a:r>
              <a:rPr lang="de-DE" sz="2000" b="1" dirty="0">
                <a:solidFill>
                  <a:srgbClr val="0071B2"/>
                </a:solidFill>
                <a:latin typeface="Source Sans Pro" panose="020B0503030403020204" pitchFamily="34" charset="0"/>
              </a:rPr>
              <a:t>, MAX(</a:t>
            </a:r>
            <a:r>
              <a:rPr lang="de-DE" sz="2000" dirty="0">
                <a:solidFill>
                  <a:srgbClr val="0071B2"/>
                </a:solidFill>
                <a:latin typeface="Source Sans Pro" panose="020B0503030403020204" pitchFamily="34" charset="0"/>
              </a:rPr>
              <a:t>Euro_Preis)</a:t>
            </a:r>
            <a:r>
              <a:rPr lang="de-DE" sz="2000" b="1" dirty="0">
                <a:solidFill>
                  <a:srgbClr val="0071B2"/>
                </a:solidFill>
                <a:latin typeface="Source Sans Pro" panose="020B0503030403020204" pitchFamily="34" charset="0"/>
              </a:rPr>
              <a:t> FROM </a:t>
            </a:r>
            <a:r>
              <a:rPr lang="de-DE" sz="2000" dirty="0">
                <a:solidFill>
                  <a:srgbClr val="0071B2"/>
                </a:solidFill>
                <a:latin typeface="Source Sans Pro" panose="020B0503030403020204" pitchFamily="34" charset="0"/>
              </a:rPr>
              <a:t>Produkt</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Hersteller</a:t>
            </a:r>
          </a:p>
          <a:p>
            <a:pPr lvl="0">
              <a:defRPr/>
            </a:pPr>
            <a:r>
              <a:rPr lang="de-DE" sz="2000" b="1" dirty="0">
                <a:solidFill>
                  <a:srgbClr val="0071B2"/>
                </a:solidFill>
                <a:latin typeface="Source Sans Pro" panose="020B0503030403020204" pitchFamily="34" charset="0"/>
              </a:rPr>
              <a:t>WHERE </a:t>
            </a:r>
            <a:r>
              <a:rPr lang="de-DE" sz="2000" dirty="0">
                <a:solidFill>
                  <a:srgbClr val="0071B2"/>
                </a:solidFill>
                <a:latin typeface="Source Sans Pro" panose="020B0503030403020204" pitchFamily="34" charset="0"/>
              </a:rPr>
              <a:t>Produkt.Hersteller_ID</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Hersteller.Hersteller_ID</a:t>
            </a:r>
          </a:p>
          <a:p>
            <a:pPr lvl="0">
              <a:defRPr/>
            </a:pPr>
            <a:r>
              <a:rPr lang="de-DE" sz="2000" b="1" dirty="0">
                <a:solidFill>
                  <a:srgbClr val="0071B2"/>
                </a:solidFill>
                <a:latin typeface="Source Sans Pro" panose="020B0503030403020204" pitchFamily="34" charset="0"/>
              </a:rPr>
              <a:t>GROUP BY </a:t>
            </a:r>
            <a:r>
              <a:rPr lang="de-DE" sz="2000" dirty="0">
                <a:solidFill>
                  <a:srgbClr val="0071B2"/>
                </a:solidFill>
                <a:latin typeface="Source Sans Pro" panose="020B0503030403020204" pitchFamily="34" charset="0"/>
              </a:rPr>
              <a:t>Hersteller_Name</a:t>
            </a:r>
          </a:p>
          <a:p>
            <a:pPr lvl="0">
              <a:defRPr/>
            </a:pPr>
            <a:r>
              <a:rPr lang="de-DE" sz="2000" b="1" dirty="0">
                <a:solidFill>
                  <a:srgbClr val="FE5000"/>
                </a:solidFill>
                <a:latin typeface="Source Sans Pro" panose="020B0503030403020204" pitchFamily="34" charset="0"/>
              </a:rPr>
              <a:t>HAVING</a:t>
            </a:r>
            <a:r>
              <a:rPr lang="de-DE" sz="2000"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AVG(</a:t>
            </a:r>
            <a:r>
              <a:rPr lang="de-DE" sz="2000" dirty="0" smtClean="0">
                <a:solidFill>
                  <a:srgbClr val="0071B2"/>
                </a:solidFill>
                <a:latin typeface="Source Sans Pro" panose="020B0503030403020204" pitchFamily="34" charset="0"/>
              </a:rPr>
              <a:t>Euro_Preis</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&lt; </a:t>
            </a:r>
            <a:r>
              <a:rPr lang="de-DE" sz="2000" dirty="0" smtClean="0">
                <a:solidFill>
                  <a:srgbClr val="0071B2"/>
                </a:solidFill>
                <a:latin typeface="Source Sans Pro" panose="020B0503030403020204" pitchFamily="34" charset="0"/>
              </a:rPr>
              <a:t>500</a:t>
            </a:r>
            <a:r>
              <a:rPr lang="de-DE"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pic>
        <p:nvPicPr>
          <p:cNvPr id="2" name="Grafik 1"/>
          <p:cNvPicPr>
            <a:picLocks noChangeAspect="1"/>
          </p:cNvPicPr>
          <p:nvPr/>
        </p:nvPicPr>
        <p:blipFill>
          <a:blip r:embed="rId2"/>
          <a:stretch>
            <a:fillRect/>
          </a:stretch>
        </p:blipFill>
        <p:spPr>
          <a:xfrm>
            <a:off x="8813653" y="2058606"/>
            <a:ext cx="2659459" cy="950430"/>
          </a:xfrm>
          <a:prstGeom prst="rect">
            <a:avLst/>
          </a:prstGeom>
          <a:effectLst>
            <a:innerShdw blurRad="114300">
              <a:prstClr val="black"/>
            </a:innerShdw>
          </a:effectLst>
        </p:spPr>
      </p:pic>
      <p:pic>
        <p:nvPicPr>
          <p:cNvPr id="6" name="Grafik 5"/>
          <p:cNvPicPr>
            <a:picLocks noChangeAspect="1"/>
          </p:cNvPicPr>
          <p:nvPr/>
        </p:nvPicPr>
        <p:blipFill>
          <a:blip r:embed="rId3"/>
          <a:stretch>
            <a:fillRect/>
          </a:stretch>
        </p:blipFill>
        <p:spPr>
          <a:xfrm>
            <a:off x="8813653" y="4277938"/>
            <a:ext cx="2895600" cy="1028700"/>
          </a:xfrm>
          <a:prstGeom prst="rect">
            <a:avLst/>
          </a:prstGeom>
          <a:effectLst>
            <a:innerShdw blurRad="114300">
              <a:prstClr val="black"/>
            </a:innerShdw>
          </a:effectLst>
        </p:spPr>
      </p:pic>
    </p:spTree>
    <p:extLst>
      <p:ext uri="{BB962C8B-B14F-4D97-AF65-F5344CB8AC3E}">
        <p14:creationId xmlns:p14="http://schemas.microsoft.com/office/powerpoint/2010/main" val="97685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A_03_03_01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705112" y="1246907"/>
            <a:ext cx="3182654" cy="4523333"/>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3181</Words>
  <Application>Microsoft Office PowerPoint</Application>
  <PresentationFormat>Breitbild</PresentationFormat>
  <Paragraphs>537</Paragraphs>
  <Slides>32</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32</vt:i4>
      </vt:variant>
    </vt:vector>
  </HeadingPairs>
  <TitlesOfParts>
    <vt:vector size="38"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A_03_03_01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cdMax Muster01</cp:lastModifiedBy>
  <cp:revision>654</cp:revision>
  <dcterms:created xsi:type="dcterms:W3CDTF">2022-02-01T13:48:14Z</dcterms:created>
  <dcterms:modified xsi:type="dcterms:W3CDTF">2022-07-13T10:15:02Z</dcterms:modified>
</cp:coreProperties>
</file>