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01" r:id="rId5"/>
    <p:sldId id="319" r:id="rId6"/>
    <p:sldId id="311" r:id="rId7"/>
    <p:sldId id="314" r:id="rId8"/>
    <p:sldId id="315" r:id="rId9"/>
    <p:sldId id="316" r:id="rId10"/>
    <p:sldId id="317" r:id="rId11"/>
    <p:sldId id="318" r:id="rId12"/>
    <p:sldId id="325" r:id="rId13"/>
    <p:sldId id="320" r:id="rId14"/>
    <p:sldId id="321" r:id="rId15"/>
    <p:sldId id="322" r:id="rId16"/>
    <p:sldId id="323" r:id="rId17"/>
    <p:sldId id="324" r:id="rId18"/>
    <p:sldId id="326" r:id="rId19"/>
    <p:sldId id="333" r:id="rId20"/>
    <p:sldId id="334" r:id="rId21"/>
    <p:sldId id="335" r:id="rId22"/>
    <p:sldId id="332" r:id="rId23"/>
    <p:sldId id="327" r:id="rId24"/>
    <p:sldId id="328" r:id="rId25"/>
    <p:sldId id="329" r:id="rId26"/>
    <p:sldId id="330" r:id="rId27"/>
    <p:sldId id="331" r:id="rId28"/>
    <p:sldId id="336" r:id="rId29"/>
    <p:sldId id="337" r:id="rId30"/>
    <p:sldId id="338" r:id="rId31"/>
    <p:sldId id="339" r:id="rId32"/>
    <p:sldId id="340" r:id="rId33"/>
    <p:sldId id="341" r:id="rId34"/>
    <p:sldId id="342" r:id="rId35"/>
    <p:sldId id="277" r:id="rId36"/>
    <p:sldId id="259" r:id="rId3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30.05.2022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30.05.2022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30.05.2022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2 - Tag </a:t>
            </a:r>
            <a:r>
              <a:rPr lang="de-DE" dirty="0">
                <a:latin typeface="Source Sans Pro" panose="020B0503030403020204" pitchFamily="34" charset="0"/>
              </a:rPr>
              <a:t>4</a:t>
            </a:r>
            <a:r>
              <a:rPr lang="de-DE" dirty="0" smtClean="0">
                <a:latin typeface="Source Sans Pro" panose="020B0503030403020204" pitchFamily="34" charset="0"/>
              </a:rPr>
              <a:t>)</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939339" y="829746"/>
            <a:ext cx="10713719" cy="5416868"/>
          </a:xfrm>
          <a:prstGeom prst="rect">
            <a:avLst/>
          </a:prstGeom>
          <a:noFill/>
        </p:spPr>
        <p:txBody>
          <a:bodyPr wrap="square" rtlCol="0">
            <a:spAutoFit/>
          </a:bodyPr>
          <a:lstStyle/>
          <a:p>
            <a:endParaRPr lang="de-DE" b="1" dirty="0" smtClean="0">
              <a:latin typeface="Source Sans Pro" panose="020B0503030403020204" pitchFamily="34" charset="0"/>
            </a:endParaRPr>
          </a:p>
          <a:p>
            <a:r>
              <a:rPr lang="de-DE" sz="2400" b="1" dirty="0" smtClean="0">
                <a:latin typeface="Source Sans Pro" panose="020B0503030403020204" pitchFamily="34" charset="0"/>
              </a:rPr>
              <a:t>Boolesche Algebra (Aussagenlogik) </a:t>
            </a:r>
          </a:p>
          <a:p>
            <a:endParaRPr lang="de-DE" sz="800" b="1"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Definition</a:t>
            </a:r>
          </a:p>
          <a:p>
            <a:pPr lvl="1"/>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Motivation</a:t>
            </a:r>
          </a:p>
          <a:p>
            <a:pPr marL="742950" lvl="1" indent="-285750">
              <a:buFont typeface="Arial" panose="020B0604020202020204" pitchFamily="34" charset="0"/>
              <a:buChar char="•"/>
            </a:pPr>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Regeln</a:t>
            </a:r>
          </a:p>
          <a:p>
            <a:pPr marL="1257300" lvl="2" indent="-342900">
              <a:buFont typeface="Courier New" panose="02070309020205020404" pitchFamily="49" charset="0"/>
              <a:buChar char="o"/>
            </a:pPr>
            <a:r>
              <a:rPr lang="de-DE" sz="1600" dirty="0" smtClean="0">
                <a:latin typeface="Source Sans Pro" panose="020B0503030403020204" pitchFamily="34" charset="0"/>
              </a:rPr>
              <a:t>AND</a:t>
            </a:r>
            <a:endParaRPr lang="de-DE" sz="1600" dirty="0">
              <a:latin typeface="Source Sans Pro" panose="020B0503030403020204" pitchFamily="34" charset="0"/>
            </a:endParaRPr>
          </a:p>
          <a:p>
            <a:pPr marL="1257300" lvl="2" indent="-342900">
              <a:buFont typeface="Courier New" panose="02070309020205020404" pitchFamily="49" charset="0"/>
              <a:buChar char="o"/>
            </a:pPr>
            <a:r>
              <a:rPr lang="de-DE" sz="1600" dirty="0" smtClean="0">
                <a:latin typeface="Source Sans Pro" panose="020B0503030403020204" pitchFamily="34" charset="0"/>
              </a:rPr>
              <a:t>OR</a:t>
            </a:r>
          </a:p>
          <a:p>
            <a:pPr marL="1257300" lvl="2" indent="-342900">
              <a:buFont typeface="Courier New" panose="02070309020205020404" pitchFamily="49" charset="0"/>
              <a:buChar char="o"/>
            </a:pPr>
            <a:r>
              <a:rPr lang="de-DE" sz="1600" dirty="0" smtClean="0">
                <a:latin typeface="Source Sans Pro" panose="020B0503030403020204" pitchFamily="34" charset="0"/>
              </a:rPr>
              <a:t>NOT</a:t>
            </a:r>
            <a:endParaRPr lang="de-DE" sz="1600" dirty="0">
              <a:latin typeface="Source Sans Pro" panose="020B0503030403020204" pitchFamily="34" charset="0"/>
            </a:endParaRPr>
          </a:p>
          <a:p>
            <a:pPr marL="1257300" lvl="2" indent="-342900">
              <a:buFont typeface="Courier New" panose="02070309020205020404" pitchFamily="49" charset="0"/>
              <a:buChar char="o"/>
            </a:pPr>
            <a:r>
              <a:rPr lang="de-DE" sz="1600" dirty="0" smtClean="0">
                <a:latin typeface="Source Sans Pro" panose="020B0503030403020204" pitchFamily="34" charset="0"/>
              </a:rPr>
              <a:t>XOR</a:t>
            </a:r>
          </a:p>
          <a:p>
            <a:pPr marL="1714500" lvl="3" indent="-342900">
              <a:buFont typeface="Wingdings" panose="05000000000000000000" pitchFamily="2" charset="2"/>
              <a:buChar char="Ø"/>
            </a:pPr>
            <a:r>
              <a:rPr lang="de-DE" sz="1200" dirty="0" smtClean="0">
                <a:latin typeface="Source Sans Pro" panose="020B0503030403020204" pitchFamily="34" charset="0"/>
              </a:rPr>
              <a:t>Gründe, warum XOR selten gebraucht wird</a:t>
            </a:r>
          </a:p>
          <a:p>
            <a:pPr marL="1714500" lvl="3" indent="-342900">
              <a:buFont typeface="Wingdings" panose="05000000000000000000" pitchFamily="2" charset="2"/>
              <a:buChar char="Ø"/>
            </a:pPr>
            <a:r>
              <a:rPr lang="de-DE" sz="1200" dirty="0" smtClean="0">
                <a:latin typeface="Source Sans Pro" panose="020B0503030403020204" pitchFamily="34" charset="0"/>
              </a:rPr>
              <a:t>Nachweis der Redundanz von XOR</a:t>
            </a:r>
          </a:p>
          <a:p>
            <a:pPr lvl="2"/>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Stolperfallen</a:t>
            </a:r>
          </a:p>
          <a:p>
            <a:pPr marL="1257300" lvl="2" indent="-342900">
              <a:buFont typeface="Courier New" panose="02070309020205020404" pitchFamily="49" charset="0"/>
              <a:buChar char="o"/>
            </a:pPr>
            <a:r>
              <a:rPr lang="de-DE" sz="1600" dirty="0" smtClean="0">
                <a:latin typeface="Source Sans Pro" panose="020B0503030403020204" pitchFamily="34" charset="0"/>
              </a:rPr>
              <a:t>Unterschiedliche Verwendung von „UND“ / „ODER“ in Aufgabenstellung und Lösung</a:t>
            </a:r>
          </a:p>
          <a:p>
            <a:pPr marL="1257300" lvl="2" indent="-342900">
              <a:buFont typeface="Courier New" panose="02070309020205020404" pitchFamily="49" charset="0"/>
              <a:buChar char="o"/>
            </a:pPr>
            <a:r>
              <a:rPr lang="de-DE" sz="1600" dirty="0" smtClean="0">
                <a:latin typeface="Source Sans Pro" panose="020B0503030403020204" pitchFamily="34" charset="0"/>
              </a:rPr>
              <a:t>„Regel versus Ausnahme“</a:t>
            </a:r>
          </a:p>
          <a:p>
            <a:pPr marL="1714500" lvl="3" indent="-342900">
              <a:buFont typeface="Wingdings" panose="05000000000000000000" pitchFamily="2" charset="2"/>
              <a:buChar char="Ø"/>
            </a:pPr>
            <a:r>
              <a:rPr lang="de-DE" sz="1200" dirty="0" smtClean="0">
                <a:latin typeface="Source Sans Pro" panose="020B0503030403020204" pitchFamily="34" charset="0"/>
              </a:rPr>
              <a:t>Allgemeine Empfehlung (siehe auch: „weder noch“)</a:t>
            </a:r>
          </a:p>
          <a:p>
            <a:pPr marL="1714500" lvl="3" indent="-342900">
              <a:buFont typeface="Wingdings" panose="05000000000000000000" pitchFamily="2" charset="2"/>
              <a:buChar char="Ø"/>
            </a:pPr>
            <a:r>
              <a:rPr lang="de-DE" sz="1200" dirty="0" smtClean="0">
                <a:latin typeface="Source Sans Pro" panose="020B0503030403020204" pitchFamily="34" charset="0"/>
              </a:rPr>
              <a:t>Ein „etwas unseriöser“ Tipp </a:t>
            </a:r>
            <a:r>
              <a:rPr lang="de-DE" sz="1200" dirty="0" smtClean="0">
                <a:latin typeface="Source Sans Pro" panose="020B0503030403020204" pitchFamily="34" charset="0"/>
                <a:sym typeface="Wingdings" panose="05000000000000000000" pitchFamily="2" charset="2"/>
              </a:rPr>
              <a:t></a:t>
            </a:r>
            <a:endParaRPr lang="de-DE" sz="1200" dirty="0" smtClean="0">
              <a:latin typeface="Source Sans Pro" panose="020B0503030403020204" pitchFamily="34" charset="0"/>
            </a:endParaRPr>
          </a:p>
          <a:p>
            <a:pPr lvl="2"/>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Motivation (Nachtrag)</a:t>
            </a:r>
          </a:p>
          <a:p>
            <a:pPr lvl="2"/>
            <a:endParaRPr lang="de-DE" sz="800" dirty="0" smtClean="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000" dirty="0" smtClean="0">
                <a:latin typeface="Source Sans Pro" panose="020B0503030403020204" pitchFamily="34" charset="0"/>
              </a:rPr>
              <a:t>Boolesche Algebra</a:t>
            </a:r>
            <a:endParaRPr lang="de-DE" sz="60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4832092"/>
          </a:xfrm>
          <a:prstGeom prst="rect">
            <a:avLst/>
          </a:prstGeom>
          <a:noFill/>
        </p:spPr>
        <p:txBody>
          <a:bodyPr wrap="square" rtlCol="0">
            <a:spAutoFit/>
          </a:bodyPr>
          <a:lstStyle/>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Die </a:t>
            </a:r>
            <a:r>
              <a:rPr lang="de-DE" sz="2400" b="1" dirty="0" smtClean="0">
                <a:solidFill>
                  <a:srgbClr val="0071B2"/>
                </a:solidFill>
                <a:latin typeface="Source Sans Pro" panose="020B0503030403020204" pitchFamily="34" charset="0"/>
              </a:rPr>
              <a:t>Boolesche Algebra </a:t>
            </a:r>
            <a:r>
              <a:rPr lang="de-DE" sz="2400" dirty="0" smtClean="0">
                <a:solidFill>
                  <a:srgbClr val="0071B2"/>
                </a:solidFill>
                <a:latin typeface="Source Sans Pro" panose="020B0503030403020204" pitchFamily="34" charset="0"/>
              </a:rPr>
              <a:t>ist eine formalisierte Betrachtung von Sachverhalten, denen wir bei der </a:t>
            </a:r>
            <a:r>
              <a:rPr lang="de-DE" sz="2400" dirty="0">
                <a:solidFill>
                  <a:srgbClr val="0071B2"/>
                </a:solidFill>
                <a:latin typeface="Source Sans Pro" panose="020B0503030403020204" pitchFamily="34" charset="0"/>
              </a:rPr>
              <a:t>M</a:t>
            </a:r>
            <a:r>
              <a:rPr lang="de-DE" sz="2400" dirty="0" smtClean="0">
                <a:solidFill>
                  <a:srgbClr val="0071B2"/>
                </a:solidFill>
                <a:latin typeface="Source Sans Pro" panose="020B0503030403020204" pitchFamily="34" charset="0"/>
              </a:rPr>
              <a:t>engenlehre und Aussagenlogik begegnen werden.</a:t>
            </a:r>
          </a:p>
          <a:p>
            <a:pPr lvl="0">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Wir werden uns im Laufe dieses Kurses mit beiden Themenfeldern auseinander-setzen, betrachten heute aber zunächst ausschließlich die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Aussagenlogik</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Bei dieser geht es um die Frage, welchen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Wahrheitswert</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(„wahr oder „falsch“) eine aus mehreren Einzel-Aussagen verknüpfte „Gesamt-Aussage“ besitzt.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600" b="1" dirty="0" smtClean="0">
                <a:solidFill>
                  <a:srgbClr val="0071B2"/>
                </a:solidFill>
                <a:latin typeface="Source Sans Pro" panose="020B0503030403020204" pitchFamily="34" charset="0"/>
              </a:rPr>
              <a:t>Aussagen werden üblicherweise mit großen Buchstaben abgekürzt. So können wir beispielsweise die Aussagen …</a:t>
            </a:r>
          </a:p>
          <a:p>
            <a:pPr marR="0" lvl="0" algn="l" defTabSz="914400" rtl="0" eaLnBrk="1" fontAlgn="auto" latinLnBrk="0" hangingPunct="1">
              <a:lnSpc>
                <a:spcPct val="100000"/>
              </a:lnSpc>
              <a:spcBef>
                <a:spcPts val="0"/>
              </a:spcBef>
              <a:spcAft>
                <a:spcPts val="0"/>
              </a:spcAft>
              <a:buClrTx/>
              <a:buSzTx/>
              <a:tabLst/>
              <a:defRPr/>
            </a:pPr>
            <a:r>
              <a:rPr lang="de-DE" sz="800" b="1" dirty="0" smtClean="0">
                <a:solidFill>
                  <a:srgbClr val="0071B2"/>
                </a:solidFill>
                <a:latin typeface="Source Sans Pro" panose="020B0503030403020204" pitchFamily="34" charset="0"/>
              </a:rPr>
              <a:t> </a:t>
            </a:r>
          </a:p>
          <a:p>
            <a:pPr marL="1257300" lvl="2" indent="-342900">
              <a:buFont typeface="Wingdings" panose="05000000000000000000" pitchFamily="2" charset="2"/>
              <a:buChar char="Ø"/>
              <a:defRPr/>
            </a:pPr>
            <a:r>
              <a:rPr lang="de-DE" sz="1200" i="1" dirty="0" smtClean="0">
                <a:solidFill>
                  <a:srgbClr val="0071B2"/>
                </a:solidFill>
                <a:latin typeface="Source Sans Pro" panose="020B0503030403020204" pitchFamily="34" charset="0"/>
              </a:rPr>
              <a:t>„1+1=2“  </a:t>
            </a:r>
            <a:endParaRPr lang="de-DE" sz="1200" b="1" dirty="0" smtClean="0">
              <a:solidFill>
                <a:srgbClr val="0071B2"/>
              </a:solidFill>
              <a:latin typeface="Source Sans Pro" panose="020B0503030403020204" pitchFamily="34" charset="0"/>
            </a:endParaRPr>
          </a:p>
          <a:p>
            <a:pPr marL="1257300" lvl="2" indent="-342900">
              <a:buFont typeface="Wingdings" panose="05000000000000000000" pitchFamily="2" charset="2"/>
              <a:buChar char="Ø"/>
              <a:defRPr/>
            </a:pPr>
            <a:r>
              <a:rPr lang="de-DE" sz="1200" i="1" dirty="0" smtClean="0">
                <a:solidFill>
                  <a:srgbClr val="0071B2"/>
                </a:solidFill>
                <a:latin typeface="Source Sans Pro" panose="020B0503030403020204" pitchFamily="34" charset="0"/>
              </a:rPr>
              <a:t>„Der Eiffelturm steht in Rom“ </a:t>
            </a:r>
          </a:p>
          <a:p>
            <a:pPr lvl="1">
              <a:defRPr/>
            </a:pPr>
            <a:endParaRPr lang="de-DE" sz="800" i="1" dirty="0" smtClean="0">
              <a:solidFill>
                <a:srgbClr val="0071B2"/>
              </a:solidFill>
              <a:latin typeface="Source Sans Pro" panose="020B0503030403020204" pitchFamily="34" charset="0"/>
            </a:endParaRPr>
          </a:p>
          <a:p>
            <a:pPr lvl="1">
              <a:defRPr/>
            </a:pPr>
            <a:r>
              <a:rPr lang="de-DE" sz="1600" dirty="0" smtClean="0">
                <a:solidFill>
                  <a:srgbClr val="0071B2"/>
                </a:solidFill>
                <a:latin typeface="Source Sans Pro" panose="020B0503030403020204" pitchFamily="34" charset="0"/>
              </a:rPr>
              <a:t>… mit dem Buchstaben </a:t>
            </a:r>
            <a:r>
              <a:rPr lang="de-DE" sz="1600" b="1" dirty="0" smtClean="0">
                <a:solidFill>
                  <a:srgbClr val="0071B2"/>
                </a:solidFill>
                <a:latin typeface="Source Sans Pro" panose="020B0503030403020204" pitchFamily="34" charset="0"/>
              </a:rPr>
              <a:t>A</a:t>
            </a:r>
            <a:r>
              <a:rPr lang="de-DE" sz="1600" dirty="0" smtClean="0">
                <a:solidFill>
                  <a:srgbClr val="0071B2"/>
                </a:solidFill>
                <a:latin typeface="Source Sans Pro" panose="020B0503030403020204" pitchFamily="34" charset="0"/>
              </a:rPr>
              <a:t> und </a:t>
            </a:r>
            <a:r>
              <a:rPr lang="de-DE" sz="1600" b="1" dirty="0" smtClean="0">
                <a:solidFill>
                  <a:srgbClr val="0071B2"/>
                </a:solidFill>
                <a:latin typeface="Source Sans Pro" panose="020B0503030403020204" pitchFamily="34" charset="0"/>
              </a:rPr>
              <a:t>B </a:t>
            </a:r>
            <a:r>
              <a:rPr lang="de-DE" sz="1600" dirty="0" smtClean="0">
                <a:solidFill>
                  <a:srgbClr val="0071B2"/>
                </a:solidFill>
                <a:latin typeface="Source Sans Pro" panose="020B0503030403020204" pitchFamily="34" charset="0"/>
              </a:rPr>
              <a:t>abkürzen.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 </a:t>
            </a:r>
            <a:r>
              <a:rPr lang="de-DE" sz="2400" dirty="0">
                <a:solidFill>
                  <a:srgbClr val="0071B2"/>
                </a:solidFill>
                <a:latin typeface="Source Sans Pro" panose="020B0503030403020204" pitchFamily="34" charset="0"/>
              </a:rPr>
              <a:t>G</a:t>
            </a:r>
            <a:r>
              <a:rPr lang="de-DE" sz="2400" dirty="0" smtClean="0">
                <a:solidFill>
                  <a:srgbClr val="0071B2"/>
                </a:solidFill>
                <a:latin typeface="Source Sans Pro" panose="020B0503030403020204" pitchFamily="34" charset="0"/>
              </a:rPr>
              <a:t>efragt wird dann (z.B.) nach dem Wahrheitswert </a:t>
            </a:r>
            <a:r>
              <a:rPr lang="de-DE" dirty="0" smtClean="0">
                <a:solidFill>
                  <a:srgbClr val="0071B2"/>
                </a:solidFill>
                <a:latin typeface="Source Sans Pro" panose="020B0503030403020204" pitchFamily="34" charset="0"/>
              </a:rPr>
              <a:t>(wahr oder falsch) </a:t>
            </a:r>
            <a:r>
              <a:rPr lang="de-DE" sz="2400" dirty="0" smtClean="0">
                <a:solidFill>
                  <a:srgbClr val="0071B2"/>
                </a:solidFill>
                <a:latin typeface="Source Sans Pro" panose="020B0503030403020204" pitchFamily="34" charset="0"/>
              </a:rPr>
              <a:t>von </a:t>
            </a:r>
            <a:r>
              <a:rPr lang="de-DE" sz="2400" b="1" dirty="0" smtClean="0">
                <a:solidFill>
                  <a:srgbClr val="0071B2"/>
                </a:solidFill>
                <a:latin typeface="Source Sans Pro" panose="020B0503030403020204" pitchFamily="34" charset="0"/>
              </a:rPr>
              <a:t>A</a:t>
            </a:r>
            <a:r>
              <a:rPr lang="de-DE" sz="2400" dirty="0" smtClean="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oder </a:t>
            </a:r>
            <a:r>
              <a:rPr lang="de-DE" sz="2400" b="1" dirty="0" smtClean="0">
                <a:solidFill>
                  <a:srgbClr val="0071B2"/>
                </a:solidFill>
                <a:latin typeface="Source Sans Pro" panose="020B0503030403020204" pitchFamily="34" charset="0"/>
              </a:rPr>
              <a:t>B</a:t>
            </a:r>
            <a:r>
              <a:rPr lang="de-DE" sz="2400" dirty="0" smtClean="0">
                <a:solidFill>
                  <a:srgbClr val="0071B2"/>
                </a:solidFill>
                <a:latin typeface="Source Sans Pro" panose="020B0503030403020204" pitchFamily="34" charset="0"/>
              </a:rPr>
              <a:t> =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Definition</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193510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61259" y="1818959"/>
            <a:ext cx="10976311" cy="2185214"/>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Die Motivation für dieses Themenfeld ergibt sich aus unserer Beschäftigung mit </a:t>
            </a:r>
            <a:r>
              <a:rPr lang="de-DE" sz="2400" b="1" dirty="0" smtClean="0">
                <a:solidFill>
                  <a:srgbClr val="0071B2"/>
                </a:solidFill>
                <a:latin typeface="Source Sans Pro" panose="020B0503030403020204" pitchFamily="34" charset="0"/>
              </a:rPr>
              <a:t>WHERE-Klauseln</a:t>
            </a:r>
            <a:r>
              <a:rPr lang="de-DE" sz="2400" dirty="0" smtClean="0">
                <a:solidFill>
                  <a:srgbClr val="0071B2"/>
                </a:solidFill>
                <a:latin typeface="Source Sans Pro" panose="020B0503030403020204" pitchFamily="34" charset="0"/>
              </a:rPr>
              <a:t>. Hier werden zum Teil auch verknüpfte Bedingungen benötigt.</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Die Verwendung verknüpfter Bedingungen ist oft „komfortabel“. Am Ende dieser Vorlesung werden wir aber mit Hilfe von Beispielen auch nachweisen können, dass die Inhalte der Aussagenlogik für uns gelegentlich sogar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unverzichtbar</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sind.</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Motivation</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110616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AND</a:t>
            </a:r>
            <a:endParaRPr lang="de-DE" sz="6600" dirty="0">
              <a:latin typeface="Source Sans Pro" panose="020B0503030403020204" pitchFamily="34" charset="0"/>
            </a:endParaRPr>
          </a:p>
        </p:txBody>
      </p:sp>
    </p:spTree>
    <p:extLst>
      <p:ext uri="{BB962C8B-B14F-4D97-AF65-F5344CB8AC3E}">
        <p14:creationId xmlns:p14="http://schemas.microsoft.com/office/powerpoint/2010/main" val="16620397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954107"/>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Und-Verknüpfung kann – anschaulich gesprochen – als </a:t>
            </a:r>
            <a:r>
              <a:rPr lang="de-DE" sz="2400" b="1" dirty="0" smtClean="0">
                <a:solidFill>
                  <a:srgbClr val="0071B2"/>
                </a:solidFill>
                <a:latin typeface="Source Sans Pro" panose="020B0503030403020204" pitchFamily="34" charset="0"/>
              </a:rPr>
              <a:t>„streng“ </a:t>
            </a:r>
            <a:r>
              <a:rPr lang="de-DE" sz="2400" dirty="0" smtClean="0">
                <a:solidFill>
                  <a:srgbClr val="0071B2"/>
                </a:solidFill>
                <a:latin typeface="Source Sans Pro" panose="020B0503030403020204" pitchFamily="34" charset="0"/>
              </a:rPr>
              <a:t>bezeichnet werden. </a:t>
            </a:r>
            <a:r>
              <a:rPr lang="de-DE" sz="2000" dirty="0" smtClean="0">
                <a:solidFill>
                  <a:srgbClr val="0071B2"/>
                </a:solidFill>
                <a:latin typeface="Source Sans Pro" panose="020B0503030403020204" pitchFamily="34" charset="0"/>
              </a:rPr>
              <a:t>Gemeint ist: Die Verknüpfung ist </a:t>
            </a:r>
            <a:r>
              <a:rPr lang="de-DE" sz="2000" b="1" dirty="0" smtClean="0">
                <a:solidFill>
                  <a:srgbClr val="0071B2"/>
                </a:solidFill>
                <a:latin typeface="Source Sans Pro" panose="020B0503030403020204" pitchFamily="34" charset="0"/>
              </a:rPr>
              <a:t>nur wahr</a:t>
            </a:r>
            <a:r>
              <a:rPr lang="de-DE" sz="2000" dirty="0" smtClean="0">
                <a:solidFill>
                  <a:srgbClr val="0071B2"/>
                </a:solidFill>
                <a:latin typeface="Source Sans Pro" panose="020B0503030403020204" pitchFamily="34" charset="0"/>
              </a:rPr>
              <a:t>, wenn </a:t>
            </a:r>
            <a:r>
              <a:rPr lang="de-DE" sz="2000" b="1" dirty="0" smtClean="0">
                <a:solidFill>
                  <a:srgbClr val="0071B2"/>
                </a:solidFill>
                <a:latin typeface="Source Sans Pro" panose="020B0503030403020204" pitchFamily="34" charset="0"/>
              </a:rPr>
              <a:t>beide Teilaussagen </a:t>
            </a:r>
            <a:r>
              <a:rPr lang="de-DE" sz="1600" dirty="0" smtClean="0">
                <a:solidFill>
                  <a:srgbClr val="0071B2"/>
                </a:solidFill>
                <a:latin typeface="Source Sans Pro" panose="020B0503030403020204" pitchFamily="34" charset="0"/>
              </a:rPr>
              <a:t>(„A“ / „B“) </a:t>
            </a:r>
            <a:r>
              <a:rPr lang="de-DE" sz="2000" b="1" dirty="0" smtClean="0">
                <a:solidFill>
                  <a:srgbClr val="0071B2"/>
                </a:solidFill>
                <a:latin typeface="Source Sans Pro" panose="020B0503030403020204" pitchFamily="34" charset="0"/>
              </a:rPr>
              <a:t>wahr </a:t>
            </a:r>
            <a:r>
              <a:rPr lang="de-DE" sz="2000" dirty="0" smtClean="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AND </a:t>
            </a:r>
            <a:r>
              <a:rPr lang="de-DE" sz="2900" dirty="0" smtClean="0">
                <a:latin typeface="Source Sans Pro" panose="020B0503030403020204" pitchFamily="34" charset="0"/>
              </a:rPr>
              <a:t>(Und-Verknüpfung)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221890228"/>
              </p:ext>
            </p:extLst>
          </p:nvPr>
        </p:nvGraphicFramePr>
        <p:xfrm>
          <a:off x="3382526" y="2486467"/>
          <a:ext cx="5700523"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231708">
                  <a:extLst>
                    <a:ext uri="{9D8B030D-6E8A-4147-A177-3AD203B41FA5}">
                      <a16:colId xmlns:a16="http://schemas.microsoft.com/office/drawing/2014/main" val="3942113211"/>
                    </a:ext>
                  </a:extLst>
                </a:gridCol>
                <a:gridCol w="2231708">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r>
                        <a:rPr lang="de-DE" dirty="0" smtClean="0"/>
                        <a:t>A ist falsch</a:t>
                      </a:r>
                      <a:endParaRPr lang="de-DE" dirty="0"/>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endParaRPr lang="de-DE" dirty="0"/>
                    </a:p>
                  </a:txBody>
                  <a:tcPr/>
                </a:tc>
                <a:tc>
                  <a:txBody>
                    <a:bodyPr/>
                    <a:lstStyle/>
                    <a:p>
                      <a:endParaRPr lang="de-DE" dirty="0"/>
                    </a:p>
                  </a:txBody>
                  <a:tcPr/>
                </a:tc>
                <a:extLst>
                  <a:ext uri="{0D108BD9-81ED-4DB2-BD59-A6C34878D82A}">
                    <a16:rowId xmlns:a16="http://schemas.microsoft.com/office/drawing/2014/main" val="1989669962"/>
                  </a:ext>
                </a:extLst>
              </a:tr>
              <a:tr h="370840">
                <a:tc>
                  <a:txBody>
                    <a:bodyPr/>
                    <a:lstStyle/>
                    <a:p>
                      <a:r>
                        <a:rPr lang="de-DE" b="1" dirty="0" smtClean="0"/>
                        <a:t>B ist falsch</a:t>
                      </a:r>
                      <a:endParaRPr lang="de-DE" b="1" dirty="0"/>
                    </a:p>
                  </a:txBody>
                  <a:tcPr/>
                </a:tc>
                <a:tc>
                  <a:txBody>
                    <a:bodyPr/>
                    <a:lstStyle/>
                    <a:p>
                      <a:endParaRPr lang="de-DE" dirty="0"/>
                    </a:p>
                  </a:txBody>
                  <a:tcPr/>
                </a:tc>
                <a:tc>
                  <a:txBody>
                    <a:bodyPr/>
                    <a:lstStyle/>
                    <a:p>
                      <a:endParaRPr lang="de-DE" dirty="0"/>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286777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954107"/>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Und-Verknüpfung kann – anschaulich gesprochen – als </a:t>
            </a:r>
            <a:r>
              <a:rPr lang="de-DE" sz="2400" b="1" dirty="0" smtClean="0">
                <a:solidFill>
                  <a:srgbClr val="0071B2"/>
                </a:solidFill>
                <a:latin typeface="Source Sans Pro" panose="020B0503030403020204" pitchFamily="34" charset="0"/>
              </a:rPr>
              <a:t>„streng“ </a:t>
            </a:r>
            <a:r>
              <a:rPr lang="de-DE" sz="2400" dirty="0" smtClean="0">
                <a:solidFill>
                  <a:srgbClr val="0071B2"/>
                </a:solidFill>
                <a:latin typeface="Source Sans Pro" panose="020B0503030403020204" pitchFamily="34" charset="0"/>
              </a:rPr>
              <a:t>bezeichnet werden. </a:t>
            </a:r>
            <a:r>
              <a:rPr lang="de-DE" sz="2000" u="sng" dirty="0" smtClean="0">
                <a:solidFill>
                  <a:srgbClr val="0071B2"/>
                </a:solidFill>
                <a:latin typeface="Source Sans Pro" panose="020B0503030403020204" pitchFamily="34" charset="0"/>
              </a:rPr>
              <a:t>Gemeint ist</a:t>
            </a:r>
            <a:r>
              <a:rPr lang="de-DE" sz="2000" dirty="0" smtClean="0">
                <a:solidFill>
                  <a:srgbClr val="0071B2"/>
                </a:solidFill>
                <a:latin typeface="Source Sans Pro" panose="020B0503030403020204" pitchFamily="34" charset="0"/>
              </a:rPr>
              <a:t>: Die Verknüpfung ist </a:t>
            </a:r>
            <a:r>
              <a:rPr lang="de-DE" sz="2000" b="1" dirty="0" smtClean="0">
                <a:solidFill>
                  <a:srgbClr val="0071B2"/>
                </a:solidFill>
                <a:latin typeface="Source Sans Pro" panose="020B0503030403020204" pitchFamily="34" charset="0"/>
              </a:rPr>
              <a:t>nur wahr</a:t>
            </a:r>
            <a:r>
              <a:rPr lang="de-DE" sz="2000" dirty="0" smtClean="0">
                <a:solidFill>
                  <a:srgbClr val="0071B2"/>
                </a:solidFill>
                <a:latin typeface="Source Sans Pro" panose="020B0503030403020204" pitchFamily="34" charset="0"/>
              </a:rPr>
              <a:t>, wenn </a:t>
            </a:r>
            <a:r>
              <a:rPr lang="de-DE" sz="2000" b="1" dirty="0" smtClean="0">
                <a:solidFill>
                  <a:srgbClr val="0071B2"/>
                </a:solidFill>
                <a:latin typeface="Source Sans Pro" panose="020B0503030403020204" pitchFamily="34" charset="0"/>
              </a:rPr>
              <a:t>beide Teilaussagen wahr </a:t>
            </a:r>
            <a:r>
              <a:rPr lang="de-DE" sz="2000" dirty="0" smtClean="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AND </a:t>
            </a:r>
            <a:r>
              <a:rPr lang="de-DE" sz="2900" dirty="0" smtClean="0">
                <a:latin typeface="Source Sans Pro" panose="020B0503030403020204" pitchFamily="34" charset="0"/>
              </a:rPr>
              <a:t>(Und-Verknüpfung)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1074890636"/>
              </p:ext>
            </p:extLst>
          </p:nvPr>
        </p:nvGraphicFramePr>
        <p:xfrm>
          <a:off x="3382526" y="2486467"/>
          <a:ext cx="5700523"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231708">
                  <a:extLst>
                    <a:ext uri="{9D8B030D-6E8A-4147-A177-3AD203B41FA5}">
                      <a16:colId xmlns:a16="http://schemas.microsoft.com/office/drawing/2014/main" val="3942113211"/>
                    </a:ext>
                  </a:extLst>
                </a:gridCol>
                <a:gridCol w="2231708">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r>
                        <a:rPr lang="de-DE" dirty="0" smtClean="0"/>
                        <a:t>A ist falsch</a:t>
                      </a:r>
                      <a:endParaRPr lang="de-DE" dirty="0"/>
                    </a:p>
                  </a:txBody>
                  <a:tcPr/>
                </a:tc>
                <a:extLst>
                  <a:ext uri="{0D108BD9-81ED-4DB2-BD59-A6C34878D82A}">
                    <a16:rowId xmlns:a16="http://schemas.microsoft.com/office/drawing/2014/main" val="2127298113"/>
                  </a:ext>
                </a:extLst>
              </a:tr>
              <a:tr h="370840">
                <a:tc>
                  <a:txBody>
                    <a:bodyPr/>
                    <a:lstStyle/>
                    <a:p>
                      <a:r>
                        <a:rPr lang="de-DE" b="1" dirty="0" smtClean="0"/>
                        <a:t>B ist </a:t>
                      </a:r>
                      <a:r>
                        <a:rPr lang="de-DE" b="1" dirty="0" smtClean="0">
                          <a:solidFill>
                            <a:schemeClr val="accent2"/>
                          </a:solidFill>
                        </a:rPr>
                        <a:t>wahr</a:t>
                      </a:r>
                      <a:endParaRPr lang="de-DE" b="1" dirty="0">
                        <a:solidFill>
                          <a:schemeClr val="accent2"/>
                        </a:solidFill>
                      </a:endParaRPr>
                    </a:p>
                  </a:txBody>
                  <a:tcPr/>
                </a:tc>
                <a:tc>
                  <a:txBody>
                    <a:bodyPr/>
                    <a:lstStyle/>
                    <a:p>
                      <a:r>
                        <a:rPr lang="de-DE" dirty="0" smtClean="0"/>
                        <a:t>=&gt; (A und B) ist </a:t>
                      </a:r>
                      <a:r>
                        <a:rPr lang="de-DE" b="1" dirty="0" smtClean="0">
                          <a:solidFill>
                            <a:schemeClr val="accent2"/>
                          </a:solidFill>
                        </a:rPr>
                        <a:t>wahr</a:t>
                      </a:r>
                      <a:endParaRPr lang="de-DE" b="1" dirty="0">
                        <a:solidFill>
                          <a:schemeClr val="accent2"/>
                        </a:solidFill>
                      </a:endParaRPr>
                    </a:p>
                  </a:txBody>
                  <a:tcPr/>
                </a:tc>
                <a:tc>
                  <a:txBody>
                    <a:bodyPr/>
                    <a:lstStyle/>
                    <a:p>
                      <a:endParaRPr lang="de-DE" dirty="0"/>
                    </a:p>
                  </a:txBody>
                  <a:tcPr/>
                </a:tc>
                <a:extLst>
                  <a:ext uri="{0D108BD9-81ED-4DB2-BD59-A6C34878D82A}">
                    <a16:rowId xmlns:a16="http://schemas.microsoft.com/office/drawing/2014/main" val="1989669962"/>
                  </a:ext>
                </a:extLst>
              </a:tr>
              <a:tr h="370840">
                <a:tc>
                  <a:txBody>
                    <a:bodyPr/>
                    <a:lstStyle/>
                    <a:p>
                      <a:r>
                        <a:rPr lang="de-DE" b="1" dirty="0" smtClean="0"/>
                        <a:t>B ist falsch</a:t>
                      </a:r>
                      <a:endParaRPr lang="de-DE" b="1" dirty="0"/>
                    </a:p>
                  </a:txBody>
                  <a:tcPr/>
                </a:tc>
                <a:tc>
                  <a:txBody>
                    <a:bodyPr/>
                    <a:lstStyle/>
                    <a:p>
                      <a:endParaRPr lang="de-DE" dirty="0"/>
                    </a:p>
                  </a:txBody>
                  <a:tcPr/>
                </a:tc>
                <a:tc>
                  <a:txBody>
                    <a:bodyPr/>
                    <a:lstStyle/>
                    <a:p>
                      <a:endParaRPr lang="de-DE" dirty="0"/>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1729456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954107"/>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Und-Verknüpfung kann – anschaulich gesprochen – als </a:t>
            </a:r>
            <a:r>
              <a:rPr lang="de-DE" sz="2400" b="1" dirty="0" smtClean="0">
                <a:solidFill>
                  <a:srgbClr val="0071B2"/>
                </a:solidFill>
                <a:latin typeface="Source Sans Pro" panose="020B0503030403020204" pitchFamily="34" charset="0"/>
              </a:rPr>
              <a:t>„streng“ </a:t>
            </a:r>
            <a:r>
              <a:rPr lang="de-DE" sz="2400" dirty="0" smtClean="0">
                <a:solidFill>
                  <a:srgbClr val="0071B2"/>
                </a:solidFill>
                <a:latin typeface="Source Sans Pro" panose="020B0503030403020204" pitchFamily="34" charset="0"/>
              </a:rPr>
              <a:t>bezeichnet werden. </a:t>
            </a:r>
            <a:r>
              <a:rPr lang="de-DE" sz="2000" u="sng" dirty="0" smtClean="0">
                <a:solidFill>
                  <a:srgbClr val="0071B2"/>
                </a:solidFill>
                <a:latin typeface="Source Sans Pro" panose="020B0503030403020204" pitchFamily="34" charset="0"/>
              </a:rPr>
              <a:t>Gemeint ist</a:t>
            </a:r>
            <a:r>
              <a:rPr lang="de-DE" sz="2000" dirty="0" smtClean="0">
                <a:solidFill>
                  <a:srgbClr val="0071B2"/>
                </a:solidFill>
                <a:latin typeface="Source Sans Pro" panose="020B0503030403020204" pitchFamily="34" charset="0"/>
              </a:rPr>
              <a:t>: Die Verknüpfung ist </a:t>
            </a:r>
            <a:r>
              <a:rPr lang="de-DE" sz="2000" b="1" dirty="0" smtClean="0">
                <a:solidFill>
                  <a:srgbClr val="0071B2"/>
                </a:solidFill>
                <a:latin typeface="Source Sans Pro" panose="020B0503030403020204" pitchFamily="34" charset="0"/>
              </a:rPr>
              <a:t>nur wahr</a:t>
            </a:r>
            <a:r>
              <a:rPr lang="de-DE" sz="2000" dirty="0" smtClean="0">
                <a:solidFill>
                  <a:srgbClr val="0071B2"/>
                </a:solidFill>
                <a:latin typeface="Source Sans Pro" panose="020B0503030403020204" pitchFamily="34" charset="0"/>
              </a:rPr>
              <a:t>, wenn </a:t>
            </a:r>
            <a:r>
              <a:rPr lang="de-DE" sz="2000" b="1" dirty="0" smtClean="0">
                <a:solidFill>
                  <a:srgbClr val="0071B2"/>
                </a:solidFill>
                <a:latin typeface="Source Sans Pro" panose="020B0503030403020204" pitchFamily="34" charset="0"/>
              </a:rPr>
              <a:t>beide Teilaussagen wahr </a:t>
            </a:r>
            <a:r>
              <a:rPr lang="de-DE" sz="2000" dirty="0" smtClean="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AND </a:t>
            </a:r>
            <a:r>
              <a:rPr lang="de-DE" sz="2900" dirty="0" smtClean="0">
                <a:latin typeface="Source Sans Pro" panose="020B0503030403020204" pitchFamily="34" charset="0"/>
              </a:rPr>
              <a:t>(Und-Verknüpfung)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2388597444"/>
              </p:ext>
            </p:extLst>
          </p:nvPr>
        </p:nvGraphicFramePr>
        <p:xfrm>
          <a:off x="3382526" y="2486467"/>
          <a:ext cx="5700523"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231708">
                  <a:extLst>
                    <a:ext uri="{9D8B030D-6E8A-4147-A177-3AD203B41FA5}">
                      <a16:colId xmlns:a16="http://schemas.microsoft.com/office/drawing/2014/main" val="3942113211"/>
                    </a:ext>
                  </a:extLst>
                </a:gridCol>
                <a:gridCol w="2231708">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B ist </a:t>
                      </a:r>
                      <a:r>
                        <a:rPr lang="de-DE" b="1" dirty="0" smtClean="0">
                          <a:solidFill>
                            <a:schemeClr val="accent2"/>
                          </a:solidFill>
                        </a:rPr>
                        <a:t>wahr</a:t>
                      </a:r>
                      <a:endParaRPr lang="de-DE" b="1" dirty="0">
                        <a:solidFill>
                          <a:schemeClr val="accent2"/>
                        </a:solidFill>
                      </a:endParaRPr>
                    </a:p>
                  </a:txBody>
                  <a:tcPr/>
                </a:tc>
                <a:tc>
                  <a:txBody>
                    <a:bodyPr/>
                    <a:lstStyle/>
                    <a:p>
                      <a:r>
                        <a:rPr lang="de-DE" dirty="0" smtClean="0">
                          <a:solidFill>
                            <a:schemeClr val="bg2">
                              <a:lumMod val="75000"/>
                            </a:schemeClr>
                          </a:solidFill>
                        </a:rPr>
                        <a:t>=&gt; (A und B) ist wahr</a:t>
                      </a:r>
                      <a:endParaRPr lang="de-DE" dirty="0">
                        <a:solidFill>
                          <a:schemeClr val="bg2">
                            <a:lumMod val="75000"/>
                          </a:schemeClr>
                        </a:solidFill>
                      </a:endParaRPr>
                    </a:p>
                  </a:txBody>
                  <a:tcPr/>
                </a:tc>
                <a:tc>
                  <a:txBody>
                    <a:bodyPr/>
                    <a:lstStyle/>
                    <a:p>
                      <a:r>
                        <a:rPr lang="de-DE" dirty="0" smtClean="0"/>
                        <a:t>=&gt; (A und B) ist </a:t>
                      </a:r>
                      <a:r>
                        <a:rPr lang="de-DE" b="1" dirty="0" smtClean="0">
                          <a:solidFill>
                            <a:schemeClr val="accent2"/>
                          </a:solidFill>
                        </a:rPr>
                        <a:t>falsch</a:t>
                      </a:r>
                      <a:endParaRPr lang="de-DE" b="1" dirty="0">
                        <a:solidFill>
                          <a:schemeClr val="accent2"/>
                        </a:solidFill>
                      </a:endParaRPr>
                    </a:p>
                  </a:txBody>
                  <a:tcPr/>
                </a:tc>
                <a:extLst>
                  <a:ext uri="{0D108BD9-81ED-4DB2-BD59-A6C34878D82A}">
                    <a16:rowId xmlns:a16="http://schemas.microsoft.com/office/drawing/2014/main" val="1989669962"/>
                  </a:ext>
                </a:extLst>
              </a:tr>
              <a:tr h="370840">
                <a:tc>
                  <a:txBody>
                    <a:bodyPr/>
                    <a:lstStyle/>
                    <a:p>
                      <a:r>
                        <a:rPr lang="de-DE" b="1" dirty="0" smtClean="0"/>
                        <a:t>B ist falsch</a:t>
                      </a:r>
                      <a:endParaRPr lang="de-DE" b="1" dirty="0"/>
                    </a:p>
                  </a:txBody>
                  <a:tcPr/>
                </a:tc>
                <a:tc>
                  <a:txBody>
                    <a:bodyPr/>
                    <a:lstStyle/>
                    <a:p>
                      <a:endParaRPr lang="de-DE" dirty="0"/>
                    </a:p>
                  </a:txBody>
                  <a:tcPr/>
                </a:tc>
                <a:tc>
                  <a:txBody>
                    <a:bodyPr/>
                    <a:lstStyle/>
                    <a:p>
                      <a:endParaRPr lang="de-DE" dirty="0"/>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9482750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954107"/>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Und-Verknüpfung kann – anschaulich gesprochen – als </a:t>
            </a:r>
            <a:r>
              <a:rPr lang="de-DE" sz="2400" b="1" dirty="0" smtClean="0">
                <a:solidFill>
                  <a:srgbClr val="0071B2"/>
                </a:solidFill>
                <a:latin typeface="Source Sans Pro" panose="020B0503030403020204" pitchFamily="34" charset="0"/>
              </a:rPr>
              <a:t>„streng“ </a:t>
            </a:r>
            <a:r>
              <a:rPr lang="de-DE" sz="2400" dirty="0" smtClean="0">
                <a:solidFill>
                  <a:srgbClr val="0071B2"/>
                </a:solidFill>
                <a:latin typeface="Source Sans Pro" panose="020B0503030403020204" pitchFamily="34" charset="0"/>
              </a:rPr>
              <a:t>bezeichnet werden. </a:t>
            </a:r>
            <a:r>
              <a:rPr lang="de-DE" sz="2000" u="sng" dirty="0" smtClean="0">
                <a:solidFill>
                  <a:srgbClr val="0071B2"/>
                </a:solidFill>
                <a:latin typeface="Source Sans Pro" panose="020B0503030403020204" pitchFamily="34" charset="0"/>
              </a:rPr>
              <a:t>Gemeint ist</a:t>
            </a:r>
            <a:r>
              <a:rPr lang="de-DE" sz="2000" dirty="0" smtClean="0">
                <a:solidFill>
                  <a:srgbClr val="0071B2"/>
                </a:solidFill>
                <a:latin typeface="Source Sans Pro" panose="020B0503030403020204" pitchFamily="34" charset="0"/>
              </a:rPr>
              <a:t>: Die Verknüpfung ist </a:t>
            </a:r>
            <a:r>
              <a:rPr lang="de-DE" sz="2000" b="1" dirty="0" smtClean="0">
                <a:solidFill>
                  <a:srgbClr val="0071B2"/>
                </a:solidFill>
                <a:latin typeface="Source Sans Pro" panose="020B0503030403020204" pitchFamily="34" charset="0"/>
              </a:rPr>
              <a:t>nur wahr</a:t>
            </a:r>
            <a:r>
              <a:rPr lang="de-DE" sz="2000" dirty="0" smtClean="0">
                <a:solidFill>
                  <a:srgbClr val="0071B2"/>
                </a:solidFill>
                <a:latin typeface="Source Sans Pro" panose="020B0503030403020204" pitchFamily="34" charset="0"/>
              </a:rPr>
              <a:t>, wenn </a:t>
            </a:r>
            <a:r>
              <a:rPr lang="de-DE" sz="2000" b="1" dirty="0" smtClean="0">
                <a:solidFill>
                  <a:srgbClr val="0071B2"/>
                </a:solidFill>
                <a:latin typeface="Source Sans Pro" panose="020B0503030403020204" pitchFamily="34" charset="0"/>
              </a:rPr>
              <a:t>beide Teilaussagen wahr </a:t>
            </a:r>
            <a:r>
              <a:rPr lang="de-DE" sz="2000" dirty="0" smtClean="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AND </a:t>
            </a:r>
            <a:r>
              <a:rPr lang="de-DE" sz="2900" dirty="0" smtClean="0">
                <a:latin typeface="Source Sans Pro" panose="020B0503030403020204" pitchFamily="34" charset="0"/>
              </a:rPr>
              <a:t>(Und-Verknüpfung)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1485090464"/>
              </p:ext>
            </p:extLst>
          </p:nvPr>
        </p:nvGraphicFramePr>
        <p:xfrm>
          <a:off x="3382526" y="2486467"/>
          <a:ext cx="5700523"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231708">
                  <a:extLst>
                    <a:ext uri="{9D8B030D-6E8A-4147-A177-3AD203B41FA5}">
                      <a16:colId xmlns:a16="http://schemas.microsoft.com/office/drawing/2014/main" val="3942113211"/>
                    </a:ext>
                  </a:extLst>
                </a:gridCol>
                <a:gridCol w="2231708">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pPr algn="ctr"/>
                      <a:r>
                        <a:rPr lang="de-DE" dirty="0" smtClean="0"/>
                        <a:t>A ist falsch</a:t>
                      </a:r>
                      <a:endParaRPr lang="de-DE" dirty="0"/>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r>
                        <a:rPr lang="de-DE" dirty="0" smtClean="0">
                          <a:solidFill>
                            <a:schemeClr val="bg2">
                              <a:lumMod val="75000"/>
                            </a:schemeClr>
                          </a:solidFill>
                        </a:rPr>
                        <a:t>=&gt; (A und B) ist wahr</a:t>
                      </a:r>
                      <a:endParaRPr lang="de-DE" dirty="0">
                        <a:solidFill>
                          <a:schemeClr val="bg2">
                            <a:lumMod val="75000"/>
                          </a:schemeClr>
                        </a:solidFill>
                      </a:endParaRPr>
                    </a:p>
                  </a:txBody>
                  <a:tcPr/>
                </a:tc>
                <a:tc>
                  <a:txBody>
                    <a:bodyPr/>
                    <a:lstStyle/>
                    <a:p>
                      <a:r>
                        <a:rPr lang="de-DE" dirty="0" smtClean="0">
                          <a:solidFill>
                            <a:schemeClr val="bg2">
                              <a:lumMod val="75000"/>
                            </a:schemeClr>
                          </a:solidFill>
                        </a:rPr>
                        <a:t>=&gt; (A und B) ist falsch</a:t>
                      </a:r>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accent2"/>
                          </a:solidFill>
                        </a:rPr>
                        <a:t>falsch</a:t>
                      </a:r>
                      <a:endParaRPr lang="de-DE" b="1" dirty="0">
                        <a:solidFill>
                          <a:schemeClr val="accent2"/>
                        </a:solidFill>
                      </a:endParaRPr>
                    </a:p>
                  </a:txBody>
                  <a:tcPr/>
                </a:tc>
                <a:tc>
                  <a:txBody>
                    <a:bodyPr/>
                    <a:lstStyle/>
                    <a:p>
                      <a:r>
                        <a:rPr lang="de-DE" dirty="0" smtClean="0"/>
                        <a:t>=&gt; (A und B) ist </a:t>
                      </a:r>
                      <a:r>
                        <a:rPr lang="de-DE" b="1" dirty="0" smtClean="0">
                          <a:solidFill>
                            <a:schemeClr val="accent2"/>
                          </a:solidFill>
                        </a:rPr>
                        <a:t>falsch</a:t>
                      </a:r>
                      <a:endParaRPr lang="de-DE" b="1" dirty="0">
                        <a:solidFill>
                          <a:schemeClr val="accent2"/>
                        </a:solidFill>
                      </a:endParaRPr>
                    </a:p>
                  </a:txBody>
                  <a:tcPr/>
                </a:tc>
                <a:tc>
                  <a:txBody>
                    <a:bodyPr/>
                    <a:lstStyle/>
                    <a:p>
                      <a:endParaRPr lang="de-DE" dirty="0"/>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560784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954107"/>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Und-Verknüpfung kann – anschaulich gesprochen – als </a:t>
            </a:r>
            <a:r>
              <a:rPr lang="de-DE" sz="2400" b="1" dirty="0" smtClean="0">
                <a:solidFill>
                  <a:srgbClr val="0071B2"/>
                </a:solidFill>
                <a:latin typeface="Source Sans Pro" panose="020B0503030403020204" pitchFamily="34" charset="0"/>
              </a:rPr>
              <a:t>„streng“ </a:t>
            </a:r>
            <a:r>
              <a:rPr lang="de-DE" sz="2400" dirty="0" smtClean="0">
                <a:solidFill>
                  <a:srgbClr val="0071B2"/>
                </a:solidFill>
                <a:latin typeface="Source Sans Pro" panose="020B0503030403020204" pitchFamily="34" charset="0"/>
              </a:rPr>
              <a:t>bezeichnet werden. </a:t>
            </a:r>
            <a:r>
              <a:rPr lang="de-DE" sz="2000" u="sng" dirty="0" smtClean="0">
                <a:solidFill>
                  <a:srgbClr val="0071B2"/>
                </a:solidFill>
                <a:latin typeface="Source Sans Pro" panose="020B0503030403020204" pitchFamily="34" charset="0"/>
              </a:rPr>
              <a:t>Gemeint ist</a:t>
            </a:r>
            <a:r>
              <a:rPr lang="de-DE" sz="2000" dirty="0" smtClean="0">
                <a:solidFill>
                  <a:srgbClr val="0071B2"/>
                </a:solidFill>
                <a:latin typeface="Source Sans Pro" panose="020B0503030403020204" pitchFamily="34" charset="0"/>
              </a:rPr>
              <a:t>: Die Verknüpfung ist </a:t>
            </a:r>
            <a:r>
              <a:rPr lang="de-DE" sz="2000" b="1" dirty="0" smtClean="0">
                <a:solidFill>
                  <a:srgbClr val="0071B2"/>
                </a:solidFill>
                <a:latin typeface="Source Sans Pro" panose="020B0503030403020204" pitchFamily="34" charset="0"/>
              </a:rPr>
              <a:t>nur wahr</a:t>
            </a:r>
            <a:r>
              <a:rPr lang="de-DE" sz="2000" dirty="0" smtClean="0">
                <a:solidFill>
                  <a:srgbClr val="0071B2"/>
                </a:solidFill>
                <a:latin typeface="Source Sans Pro" panose="020B0503030403020204" pitchFamily="34" charset="0"/>
              </a:rPr>
              <a:t>, wenn </a:t>
            </a:r>
            <a:r>
              <a:rPr lang="de-DE" sz="2000" b="1" dirty="0" smtClean="0">
                <a:solidFill>
                  <a:srgbClr val="0071B2"/>
                </a:solidFill>
                <a:latin typeface="Source Sans Pro" panose="020B0503030403020204" pitchFamily="34" charset="0"/>
              </a:rPr>
              <a:t>beide Teilaussagen wahr </a:t>
            </a:r>
            <a:r>
              <a:rPr lang="de-DE" sz="2000" dirty="0" smtClean="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AND </a:t>
            </a:r>
            <a:r>
              <a:rPr lang="de-DE" sz="2900" dirty="0" smtClean="0">
                <a:latin typeface="Source Sans Pro" panose="020B0503030403020204" pitchFamily="34" charset="0"/>
              </a:rPr>
              <a:t>(Und-Verknüpfung)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740049269"/>
              </p:ext>
            </p:extLst>
          </p:nvPr>
        </p:nvGraphicFramePr>
        <p:xfrm>
          <a:off x="3382526" y="2486467"/>
          <a:ext cx="5700523"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231708">
                  <a:extLst>
                    <a:ext uri="{9D8B030D-6E8A-4147-A177-3AD203B41FA5}">
                      <a16:colId xmlns:a16="http://schemas.microsoft.com/office/drawing/2014/main" val="3942113211"/>
                    </a:ext>
                  </a:extLst>
                </a:gridCol>
                <a:gridCol w="2231708">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r>
                        <a:rPr lang="de-DE" dirty="0" smtClean="0">
                          <a:solidFill>
                            <a:schemeClr val="bg2">
                              <a:lumMod val="75000"/>
                            </a:schemeClr>
                          </a:solidFill>
                        </a:rPr>
                        <a:t>=&gt; (A und B) ist wahr</a:t>
                      </a:r>
                      <a:endParaRPr lang="de-DE" dirty="0">
                        <a:solidFill>
                          <a:schemeClr val="bg2">
                            <a:lumMod val="75000"/>
                          </a:schemeClr>
                        </a:solidFill>
                      </a:endParaRPr>
                    </a:p>
                  </a:txBody>
                  <a:tcPr/>
                </a:tc>
                <a:tc>
                  <a:txBody>
                    <a:bodyPr/>
                    <a:lstStyle/>
                    <a:p>
                      <a:r>
                        <a:rPr lang="de-DE" dirty="0" smtClean="0">
                          <a:solidFill>
                            <a:schemeClr val="bg2">
                              <a:lumMod val="75000"/>
                            </a:schemeClr>
                          </a:solidFill>
                        </a:rPr>
                        <a:t>=&gt; (A und B) ist falsch</a:t>
                      </a:r>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accent2"/>
                          </a:solidFill>
                        </a:rPr>
                        <a:t>falsch</a:t>
                      </a:r>
                      <a:endParaRPr lang="de-DE" b="1" dirty="0">
                        <a:solidFill>
                          <a:schemeClr val="accent2"/>
                        </a:solidFill>
                      </a:endParaRPr>
                    </a:p>
                  </a:txBody>
                  <a:tcPr/>
                </a:tc>
                <a:tc>
                  <a:txBody>
                    <a:bodyPr/>
                    <a:lstStyle/>
                    <a:p>
                      <a:r>
                        <a:rPr lang="de-DE" dirty="0" smtClean="0">
                          <a:solidFill>
                            <a:schemeClr val="bg2">
                              <a:lumMod val="75000"/>
                            </a:schemeClr>
                          </a:solidFill>
                        </a:rPr>
                        <a:t>=&gt; (A und B) ist falsch</a:t>
                      </a:r>
                      <a:endParaRPr lang="de-DE" dirty="0">
                        <a:solidFill>
                          <a:schemeClr val="bg2">
                            <a:lumMod val="75000"/>
                          </a:schemeClr>
                        </a:solidFill>
                      </a:endParaRPr>
                    </a:p>
                  </a:txBody>
                  <a:tcPr/>
                </a:tc>
                <a:tc>
                  <a:txBody>
                    <a:bodyPr/>
                    <a:lstStyle/>
                    <a:p>
                      <a:r>
                        <a:rPr lang="de-DE" dirty="0" smtClean="0"/>
                        <a:t>=&gt; (A und B) ist </a:t>
                      </a:r>
                      <a:r>
                        <a:rPr lang="de-DE" b="1" dirty="0" smtClean="0">
                          <a:solidFill>
                            <a:schemeClr val="accent2"/>
                          </a:solidFill>
                        </a:rPr>
                        <a:t>falsch</a:t>
                      </a:r>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25795515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OR</a:t>
            </a:r>
            <a:endParaRPr lang="de-DE" sz="6600" dirty="0">
              <a:latin typeface="Source Sans Pro" panose="020B0503030403020204" pitchFamily="34" charset="0"/>
            </a:endParaRPr>
          </a:p>
        </p:txBody>
      </p:sp>
    </p:spTree>
    <p:extLst>
      <p:ext uri="{BB962C8B-B14F-4D97-AF65-F5344CB8AC3E}">
        <p14:creationId xmlns:p14="http://schemas.microsoft.com/office/powerpoint/2010/main" val="38291001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954107"/>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Oder-Verknüpfung kann – anschaulich gesprochen – als </a:t>
            </a:r>
            <a:r>
              <a:rPr lang="de-DE" sz="2400" b="1" dirty="0" smtClean="0">
                <a:solidFill>
                  <a:srgbClr val="0071B2"/>
                </a:solidFill>
                <a:latin typeface="Source Sans Pro" panose="020B0503030403020204" pitchFamily="34" charset="0"/>
              </a:rPr>
              <a:t>„bescheiden“ </a:t>
            </a:r>
            <a:r>
              <a:rPr lang="de-DE" sz="2400" dirty="0" smtClean="0">
                <a:solidFill>
                  <a:srgbClr val="0071B2"/>
                </a:solidFill>
                <a:latin typeface="Source Sans Pro" panose="020B0503030403020204" pitchFamily="34" charset="0"/>
              </a:rPr>
              <a:t>bezeichnet werden. </a:t>
            </a:r>
            <a:r>
              <a:rPr lang="de-DE" sz="2000" dirty="0" smtClean="0">
                <a:solidFill>
                  <a:srgbClr val="0071B2"/>
                </a:solidFill>
                <a:latin typeface="Source Sans Pro" panose="020B0503030403020204" pitchFamily="34" charset="0"/>
              </a:rPr>
              <a:t>Gemeint ist: Die Verknüpfung ist </a:t>
            </a:r>
            <a:r>
              <a:rPr lang="de-DE" sz="2000" b="1" dirty="0" smtClean="0">
                <a:solidFill>
                  <a:srgbClr val="0071B2"/>
                </a:solidFill>
                <a:latin typeface="Source Sans Pro" panose="020B0503030403020204" pitchFamily="34" charset="0"/>
              </a:rPr>
              <a:t>nur falsch</a:t>
            </a:r>
            <a:r>
              <a:rPr lang="de-DE" sz="2000" dirty="0" smtClean="0">
                <a:solidFill>
                  <a:srgbClr val="0071B2"/>
                </a:solidFill>
                <a:latin typeface="Source Sans Pro" panose="020B0503030403020204" pitchFamily="34" charset="0"/>
              </a:rPr>
              <a:t>, wenn </a:t>
            </a:r>
            <a:r>
              <a:rPr lang="de-DE" sz="2000" b="1" dirty="0" smtClean="0">
                <a:solidFill>
                  <a:srgbClr val="0071B2"/>
                </a:solidFill>
                <a:latin typeface="Source Sans Pro" panose="020B0503030403020204" pitchFamily="34" charset="0"/>
              </a:rPr>
              <a:t>beide Teilaussagen </a:t>
            </a:r>
            <a:r>
              <a:rPr lang="de-DE" sz="1600" dirty="0" smtClean="0">
                <a:solidFill>
                  <a:srgbClr val="0071B2"/>
                </a:solidFill>
                <a:latin typeface="Source Sans Pro" panose="020B0503030403020204" pitchFamily="34" charset="0"/>
              </a:rPr>
              <a:t>(„A“ / „B“) </a:t>
            </a:r>
            <a:r>
              <a:rPr lang="de-DE" sz="2000" b="1" dirty="0" smtClean="0">
                <a:solidFill>
                  <a:srgbClr val="0071B2"/>
                </a:solidFill>
                <a:latin typeface="Source Sans Pro" panose="020B0503030403020204" pitchFamily="34" charset="0"/>
              </a:rPr>
              <a:t>falsch </a:t>
            </a:r>
            <a:r>
              <a:rPr lang="de-DE" sz="2000" dirty="0" smtClean="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OR </a:t>
            </a:r>
            <a:r>
              <a:rPr lang="de-DE" sz="2900" dirty="0" smtClean="0">
                <a:latin typeface="Source Sans Pro" panose="020B0503030403020204" pitchFamily="34" charset="0"/>
              </a:rPr>
              <a:t>(Oder-Verknüpfung)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494686716"/>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endParaRPr lang="de-DE" dirty="0">
                        <a:solidFill>
                          <a:schemeClr val="bg2">
                            <a:lumMod val="75000"/>
                          </a:schemeClr>
                        </a:solidFill>
                      </a:endParaRPr>
                    </a:p>
                  </a:txBody>
                  <a:tcPr/>
                </a:tc>
                <a:tc>
                  <a:txBody>
                    <a:bodyPr/>
                    <a:lstStyle/>
                    <a:p>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tx1"/>
                          </a:solidFill>
                        </a:rPr>
                        <a:t>falsch</a:t>
                      </a:r>
                      <a:endParaRPr lang="de-DE" b="1" dirty="0">
                        <a:solidFill>
                          <a:schemeClr val="tx1"/>
                        </a:solidFill>
                      </a:endParaRPr>
                    </a:p>
                  </a:txBody>
                  <a:tcPr/>
                </a:tc>
                <a:tc>
                  <a:txBody>
                    <a:bodyPr/>
                    <a:lstStyle/>
                    <a:p>
                      <a:endParaRPr lang="de-DE" dirty="0">
                        <a:solidFill>
                          <a:schemeClr val="bg2">
                            <a:lumMod val="75000"/>
                          </a:schemeClr>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278048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200756" cy="954107"/>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Oder-Verknüpfung kann – anschaulich gesprochen – als </a:t>
            </a:r>
            <a:r>
              <a:rPr lang="de-DE" sz="2400" b="1" dirty="0">
                <a:solidFill>
                  <a:srgbClr val="0071B2"/>
                </a:solidFill>
                <a:latin typeface="Source Sans Pro" panose="020B0503030403020204" pitchFamily="34" charset="0"/>
              </a:rPr>
              <a:t>„bescheiden“ </a:t>
            </a:r>
            <a:r>
              <a:rPr lang="de-DE" sz="2400" dirty="0">
                <a:solidFill>
                  <a:srgbClr val="0071B2"/>
                </a:solidFill>
                <a:latin typeface="Source Sans Pro" panose="020B0503030403020204" pitchFamily="34" charset="0"/>
              </a:rPr>
              <a:t>bezeichnet werden. </a:t>
            </a:r>
            <a:r>
              <a:rPr lang="de-DE" sz="2000" dirty="0">
                <a:solidFill>
                  <a:srgbClr val="0071B2"/>
                </a:solidFill>
                <a:latin typeface="Source Sans Pro" panose="020B0503030403020204" pitchFamily="34" charset="0"/>
              </a:rPr>
              <a:t>Gemeint ist: Die Verknüpfung ist </a:t>
            </a:r>
            <a:r>
              <a:rPr lang="de-DE" sz="2000" b="1" dirty="0">
                <a:solidFill>
                  <a:srgbClr val="0071B2"/>
                </a:solidFill>
                <a:latin typeface="Source Sans Pro" panose="020B0503030403020204" pitchFamily="34" charset="0"/>
              </a:rPr>
              <a:t>nur falsch</a:t>
            </a:r>
            <a:r>
              <a:rPr lang="de-DE" sz="2000" dirty="0">
                <a:solidFill>
                  <a:srgbClr val="0071B2"/>
                </a:solidFill>
                <a:latin typeface="Source Sans Pro" panose="020B0503030403020204" pitchFamily="34" charset="0"/>
              </a:rPr>
              <a:t>, wenn </a:t>
            </a:r>
            <a:r>
              <a:rPr lang="de-DE" sz="2000" b="1" dirty="0">
                <a:solidFill>
                  <a:srgbClr val="0071B2"/>
                </a:solidFill>
                <a:latin typeface="Source Sans Pro" panose="020B0503030403020204" pitchFamily="34" charset="0"/>
              </a:rPr>
              <a:t>beide Teilaussagen </a:t>
            </a:r>
            <a:r>
              <a:rPr lang="de-DE" sz="1600" dirty="0">
                <a:solidFill>
                  <a:srgbClr val="0071B2"/>
                </a:solidFill>
                <a:latin typeface="Source Sans Pro" panose="020B0503030403020204" pitchFamily="34" charset="0"/>
              </a:rPr>
              <a:t>(„A“ / „B“) </a:t>
            </a:r>
            <a:r>
              <a:rPr lang="de-DE" sz="2000" b="1" dirty="0">
                <a:solidFill>
                  <a:srgbClr val="0071B2"/>
                </a:solidFill>
                <a:latin typeface="Source Sans Pro" panose="020B0503030403020204" pitchFamily="34" charset="0"/>
              </a:rPr>
              <a:t>falsch </a:t>
            </a:r>
            <a:r>
              <a:rPr lang="de-DE" sz="2000" dirty="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OR </a:t>
            </a:r>
            <a:r>
              <a:rPr lang="de-DE" sz="2900" dirty="0" smtClean="0">
                <a:latin typeface="Source Sans Pro" panose="020B0503030403020204" pitchFamily="34" charset="0"/>
              </a:rPr>
              <a:t>(Oder-Verknüpfung)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1086285846"/>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B ist </a:t>
                      </a:r>
                      <a:r>
                        <a:rPr lang="de-DE" b="1" dirty="0" smtClean="0">
                          <a:solidFill>
                            <a:schemeClr val="accent2"/>
                          </a:solidFill>
                        </a:rPr>
                        <a:t>wahr</a:t>
                      </a:r>
                      <a:endParaRPr lang="de-DE" b="1" dirty="0">
                        <a:solidFill>
                          <a:schemeClr val="accent2"/>
                        </a:solidFill>
                      </a:endParaRPr>
                    </a:p>
                  </a:txBody>
                  <a:tcPr/>
                </a:tc>
                <a:tc>
                  <a:txBody>
                    <a:bodyPr/>
                    <a:lstStyle/>
                    <a:p>
                      <a:r>
                        <a:rPr lang="de-DE" dirty="0" smtClean="0">
                          <a:solidFill>
                            <a:schemeClr val="tx1"/>
                          </a:solidFill>
                        </a:rPr>
                        <a:t>=&gt; (A oder B) ist </a:t>
                      </a:r>
                      <a:r>
                        <a:rPr lang="de-DE" b="1" dirty="0" smtClean="0">
                          <a:solidFill>
                            <a:schemeClr val="accent2"/>
                          </a:solidFill>
                        </a:rPr>
                        <a:t>wahr</a:t>
                      </a:r>
                      <a:endParaRPr lang="de-DE" b="1" dirty="0">
                        <a:solidFill>
                          <a:schemeClr val="accent2"/>
                        </a:solidFill>
                      </a:endParaRPr>
                    </a:p>
                  </a:txBody>
                  <a:tcPr/>
                </a:tc>
                <a:tc>
                  <a:txBody>
                    <a:bodyPr/>
                    <a:lstStyle/>
                    <a:p>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tx1"/>
                          </a:solidFill>
                        </a:rPr>
                        <a:t>falsch</a:t>
                      </a:r>
                      <a:endParaRPr lang="de-DE" b="1" dirty="0">
                        <a:solidFill>
                          <a:schemeClr val="tx1"/>
                        </a:solidFill>
                      </a:endParaRPr>
                    </a:p>
                  </a:txBody>
                  <a:tcPr/>
                </a:tc>
                <a:tc>
                  <a:txBody>
                    <a:bodyPr/>
                    <a:lstStyle/>
                    <a:p>
                      <a:endParaRPr lang="de-DE" dirty="0">
                        <a:solidFill>
                          <a:schemeClr val="bg2">
                            <a:lumMod val="75000"/>
                          </a:schemeClr>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4148565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75818" cy="830997"/>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Oder-Verknüpfung kann – anschaulich gesprochen – als </a:t>
            </a:r>
            <a:r>
              <a:rPr lang="de-DE" sz="2400" b="1" dirty="0">
                <a:solidFill>
                  <a:srgbClr val="0071B2"/>
                </a:solidFill>
                <a:latin typeface="Source Sans Pro" panose="020B0503030403020204" pitchFamily="34" charset="0"/>
              </a:rPr>
              <a:t>„bescheiden“ </a:t>
            </a:r>
            <a:r>
              <a:rPr lang="de-DE" sz="2400" dirty="0">
                <a:solidFill>
                  <a:srgbClr val="0071B2"/>
                </a:solidFill>
                <a:latin typeface="Source Sans Pro" panose="020B0503030403020204" pitchFamily="34" charset="0"/>
              </a:rPr>
              <a:t>bezeichnet werden. </a:t>
            </a:r>
            <a:r>
              <a:rPr lang="de-DE" sz="2000" dirty="0">
                <a:solidFill>
                  <a:srgbClr val="0071B2"/>
                </a:solidFill>
                <a:latin typeface="Source Sans Pro" panose="020B0503030403020204" pitchFamily="34" charset="0"/>
              </a:rPr>
              <a:t>Gemeint ist: Die Verknüpfung ist </a:t>
            </a:r>
            <a:r>
              <a:rPr lang="de-DE" sz="2000" b="1" dirty="0">
                <a:solidFill>
                  <a:srgbClr val="0071B2"/>
                </a:solidFill>
                <a:latin typeface="Source Sans Pro" panose="020B0503030403020204" pitchFamily="34" charset="0"/>
              </a:rPr>
              <a:t>nur falsch</a:t>
            </a:r>
            <a:r>
              <a:rPr lang="de-DE" sz="2000" dirty="0">
                <a:solidFill>
                  <a:srgbClr val="0071B2"/>
                </a:solidFill>
                <a:latin typeface="Source Sans Pro" panose="020B0503030403020204" pitchFamily="34" charset="0"/>
              </a:rPr>
              <a:t>, wenn </a:t>
            </a:r>
            <a:r>
              <a:rPr lang="de-DE" sz="2000" b="1" dirty="0">
                <a:solidFill>
                  <a:srgbClr val="0071B2"/>
                </a:solidFill>
                <a:latin typeface="Source Sans Pro" panose="020B0503030403020204" pitchFamily="34" charset="0"/>
              </a:rPr>
              <a:t>beide Teilaussagen </a:t>
            </a:r>
            <a:r>
              <a:rPr lang="de-DE" sz="1600" dirty="0">
                <a:solidFill>
                  <a:srgbClr val="0071B2"/>
                </a:solidFill>
                <a:latin typeface="Source Sans Pro" panose="020B0503030403020204" pitchFamily="34" charset="0"/>
              </a:rPr>
              <a:t>(„A“ / „B“) </a:t>
            </a:r>
            <a:r>
              <a:rPr lang="de-DE" sz="2000" b="1" dirty="0">
                <a:solidFill>
                  <a:srgbClr val="0071B2"/>
                </a:solidFill>
                <a:latin typeface="Source Sans Pro" panose="020B0503030403020204" pitchFamily="34" charset="0"/>
              </a:rPr>
              <a:t>falsch </a:t>
            </a:r>
            <a:r>
              <a:rPr lang="de-DE" sz="2000" dirty="0">
                <a:solidFill>
                  <a:srgbClr val="0071B2"/>
                </a:solidFill>
                <a:latin typeface="Source Sans Pro" panose="020B0503030403020204" pitchFamily="34" charset="0"/>
              </a:rPr>
              <a:t>sind.</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OR </a:t>
            </a:r>
            <a:r>
              <a:rPr lang="de-DE" sz="2900" dirty="0" smtClean="0">
                <a:latin typeface="Source Sans Pro" panose="020B0503030403020204" pitchFamily="34" charset="0"/>
              </a:rPr>
              <a:t>(Oder-Verknüpfung)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1153140659"/>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B ist </a:t>
                      </a:r>
                      <a:r>
                        <a:rPr lang="de-DE" b="1" dirty="0" smtClean="0">
                          <a:solidFill>
                            <a:schemeClr val="accent2"/>
                          </a:solidFill>
                        </a:rPr>
                        <a:t>wahr</a:t>
                      </a:r>
                      <a:endParaRPr lang="de-DE" b="1" dirty="0">
                        <a:solidFill>
                          <a:schemeClr val="accent2"/>
                        </a:solidFill>
                      </a:endParaRPr>
                    </a:p>
                  </a:txBody>
                  <a:tcPr/>
                </a:tc>
                <a:tc>
                  <a:txBody>
                    <a:bodyPr/>
                    <a:lstStyle/>
                    <a:p>
                      <a:r>
                        <a:rPr lang="de-DE" dirty="0" smtClean="0">
                          <a:solidFill>
                            <a:schemeClr val="bg2">
                              <a:lumMod val="75000"/>
                            </a:schemeClr>
                          </a:solidFill>
                        </a:rPr>
                        <a:t>=&gt; (A oder B) ist wahr</a:t>
                      </a:r>
                      <a:endParaRPr lang="de-DE" dirty="0">
                        <a:solidFill>
                          <a:schemeClr val="bg2">
                            <a:lumMod val="75000"/>
                          </a:schemeClr>
                        </a:solidFill>
                      </a:endParaRPr>
                    </a:p>
                  </a:txBody>
                  <a:tcPr/>
                </a:tc>
                <a:tc>
                  <a:txBody>
                    <a:bodyPr/>
                    <a:lstStyle/>
                    <a:p>
                      <a:r>
                        <a:rPr lang="de-DE" dirty="0" smtClean="0">
                          <a:solidFill>
                            <a:schemeClr val="tx1"/>
                          </a:solidFill>
                        </a:rPr>
                        <a:t>=&gt; (A oder B) ist </a:t>
                      </a:r>
                      <a:r>
                        <a:rPr lang="de-DE" b="1" dirty="0" smtClean="0">
                          <a:solidFill>
                            <a:schemeClr val="accent2"/>
                          </a:solidFill>
                        </a:rPr>
                        <a:t>wahr</a:t>
                      </a:r>
                      <a:endParaRPr lang="de-DE" b="1" dirty="0">
                        <a:solidFill>
                          <a:schemeClr val="accent2"/>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tx1"/>
                          </a:solidFill>
                        </a:rPr>
                        <a:t>falsch</a:t>
                      </a:r>
                      <a:endParaRPr lang="de-DE" b="1" dirty="0">
                        <a:solidFill>
                          <a:schemeClr val="tx1"/>
                        </a:solidFill>
                      </a:endParaRPr>
                    </a:p>
                  </a:txBody>
                  <a:tcPr/>
                </a:tc>
                <a:tc>
                  <a:txBody>
                    <a:bodyPr/>
                    <a:lstStyle/>
                    <a:p>
                      <a:endParaRPr lang="de-DE" dirty="0">
                        <a:solidFill>
                          <a:schemeClr val="bg2">
                            <a:lumMod val="75000"/>
                          </a:schemeClr>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768707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954107"/>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Oder-Verknüpfung kann – anschaulich gesprochen – als </a:t>
            </a:r>
            <a:r>
              <a:rPr lang="de-DE" sz="2400" b="1" dirty="0">
                <a:solidFill>
                  <a:srgbClr val="0071B2"/>
                </a:solidFill>
                <a:latin typeface="Source Sans Pro" panose="020B0503030403020204" pitchFamily="34" charset="0"/>
              </a:rPr>
              <a:t>„bescheiden“ </a:t>
            </a:r>
            <a:r>
              <a:rPr lang="de-DE" sz="2400" dirty="0">
                <a:solidFill>
                  <a:srgbClr val="0071B2"/>
                </a:solidFill>
                <a:latin typeface="Source Sans Pro" panose="020B0503030403020204" pitchFamily="34" charset="0"/>
              </a:rPr>
              <a:t>bezeichnet werden. </a:t>
            </a:r>
            <a:r>
              <a:rPr lang="de-DE" sz="2000" dirty="0">
                <a:solidFill>
                  <a:srgbClr val="0071B2"/>
                </a:solidFill>
                <a:latin typeface="Source Sans Pro" panose="020B0503030403020204" pitchFamily="34" charset="0"/>
              </a:rPr>
              <a:t>Gemeint ist: Die Verknüpfung ist </a:t>
            </a:r>
            <a:r>
              <a:rPr lang="de-DE" sz="2000" b="1" dirty="0">
                <a:solidFill>
                  <a:srgbClr val="0071B2"/>
                </a:solidFill>
                <a:latin typeface="Source Sans Pro" panose="020B0503030403020204" pitchFamily="34" charset="0"/>
              </a:rPr>
              <a:t>nur falsch</a:t>
            </a:r>
            <a:r>
              <a:rPr lang="de-DE" sz="2000" dirty="0">
                <a:solidFill>
                  <a:srgbClr val="0071B2"/>
                </a:solidFill>
                <a:latin typeface="Source Sans Pro" panose="020B0503030403020204" pitchFamily="34" charset="0"/>
              </a:rPr>
              <a:t>, wenn </a:t>
            </a:r>
            <a:r>
              <a:rPr lang="de-DE" sz="2000" b="1" dirty="0">
                <a:solidFill>
                  <a:srgbClr val="0071B2"/>
                </a:solidFill>
                <a:latin typeface="Source Sans Pro" panose="020B0503030403020204" pitchFamily="34" charset="0"/>
              </a:rPr>
              <a:t>beide Teilaussagen </a:t>
            </a:r>
            <a:r>
              <a:rPr lang="de-DE" sz="1600" dirty="0">
                <a:solidFill>
                  <a:srgbClr val="0071B2"/>
                </a:solidFill>
                <a:latin typeface="Source Sans Pro" panose="020B0503030403020204" pitchFamily="34" charset="0"/>
              </a:rPr>
              <a:t>(„A“ / „B“) </a:t>
            </a:r>
            <a:r>
              <a:rPr lang="de-DE" sz="2000" b="1" dirty="0">
                <a:solidFill>
                  <a:srgbClr val="0071B2"/>
                </a:solidFill>
                <a:latin typeface="Source Sans Pro" panose="020B0503030403020204" pitchFamily="34" charset="0"/>
              </a:rPr>
              <a:t>falsch </a:t>
            </a:r>
            <a:r>
              <a:rPr lang="de-DE" sz="2000" dirty="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OR </a:t>
            </a:r>
            <a:r>
              <a:rPr lang="de-DE" sz="2900" dirty="0" smtClean="0">
                <a:latin typeface="Source Sans Pro" panose="020B0503030403020204" pitchFamily="34" charset="0"/>
              </a:rPr>
              <a:t>(Oder-Verknüpfung)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1661696570"/>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r>
                        <a:rPr lang="de-DE" dirty="0" smtClean="0">
                          <a:solidFill>
                            <a:schemeClr val="bg2">
                              <a:lumMod val="75000"/>
                            </a:schemeClr>
                          </a:solidFill>
                        </a:rPr>
                        <a:t>=&gt; (A oder B) ist wahr</a:t>
                      </a:r>
                      <a:endParaRPr lang="de-DE" dirty="0">
                        <a:solidFill>
                          <a:schemeClr val="bg2">
                            <a:lumMod val="75000"/>
                          </a:schemeClr>
                        </a:solidFill>
                      </a:endParaRPr>
                    </a:p>
                  </a:txBody>
                  <a:tcPr/>
                </a:tc>
                <a:tc>
                  <a:txBody>
                    <a:bodyPr/>
                    <a:lstStyle/>
                    <a:p>
                      <a:r>
                        <a:rPr lang="de-DE" dirty="0" smtClean="0">
                          <a:solidFill>
                            <a:schemeClr val="bg2">
                              <a:lumMod val="75000"/>
                            </a:schemeClr>
                          </a:solidFill>
                        </a:rPr>
                        <a:t>=&gt; (A oder B) ist wahr</a:t>
                      </a:r>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accent2"/>
                          </a:solidFill>
                        </a:rPr>
                        <a:t>falsch</a:t>
                      </a:r>
                      <a:endParaRPr lang="de-DE" b="1" dirty="0">
                        <a:solidFill>
                          <a:schemeClr val="accent2"/>
                        </a:solidFill>
                      </a:endParaRPr>
                    </a:p>
                  </a:txBody>
                  <a:tcPr/>
                </a:tc>
                <a:tc>
                  <a:txBody>
                    <a:bodyPr/>
                    <a:lstStyle/>
                    <a:p>
                      <a:r>
                        <a:rPr lang="de-DE" dirty="0" smtClean="0">
                          <a:solidFill>
                            <a:schemeClr val="tx1"/>
                          </a:solidFill>
                        </a:rPr>
                        <a:t>=&gt; (A oder B) ist </a:t>
                      </a:r>
                      <a:r>
                        <a:rPr lang="de-DE" b="1" dirty="0" smtClean="0">
                          <a:solidFill>
                            <a:schemeClr val="accent2"/>
                          </a:solidFill>
                        </a:rPr>
                        <a:t>wahr</a:t>
                      </a:r>
                      <a:endParaRPr lang="de-DE" b="1" dirty="0">
                        <a:solidFill>
                          <a:schemeClr val="accent2"/>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7769482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954107"/>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Oder-Verknüpfung kann – anschaulich gesprochen – als </a:t>
            </a:r>
            <a:r>
              <a:rPr lang="de-DE" sz="2400" b="1" dirty="0">
                <a:solidFill>
                  <a:srgbClr val="0071B2"/>
                </a:solidFill>
                <a:latin typeface="Source Sans Pro" panose="020B0503030403020204" pitchFamily="34" charset="0"/>
              </a:rPr>
              <a:t>„bescheiden“ </a:t>
            </a:r>
            <a:r>
              <a:rPr lang="de-DE" sz="2400" dirty="0">
                <a:solidFill>
                  <a:srgbClr val="0071B2"/>
                </a:solidFill>
                <a:latin typeface="Source Sans Pro" panose="020B0503030403020204" pitchFamily="34" charset="0"/>
              </a:rPr>
              <a:t>bezeichnet werden. </a:t>
            </a:r>
            <a:r>
              <a:rPr lang="de-DE" sz="2000" dirty="0">
                <a:solidFill>
                  <a:srgbClr val="0071B2"/>
                </a:solidFill>
                <a:latin typeface="Source Sans Pro" panose="020B0503030403020204" pitchFamily="34" charset="0"/>
              </a:rPr>
              <a:t>Gemeint ist: Die Verknüpfung ist </a:t>
            </a:r>
            <a:r>
              <a:rPr lang="de-DE" sz="2000" b="1" dirty="0">
                <a:solidFill>
                  <a:srgbClr val="0071B2"/>
                </a:solidFill>
                <a:latin typeface="Source Sans Pro" panose="020B0503030403020204" pitchFamily="34" charset="0"/>
              </a:rPr>
              <a:t>nur falsch</a:t>
            </a:r>
            <a:r>
              <a:rPr lang="de-DE" sz="2000" dirty="0">
                <a:solidFill>
                  <a:srgbClr val="0071B2"/>
                </a:solidFill>
                <a:latin typeface="Source Sans Pro" panose="020B0503030403020204" pitchFamily="34" charset="0"/>
              </a:rPr>
              <a:t>, wenn </a:t>
            </a:r>
            <a:r>
              <a:rPr lang="de-DE" sz="2000" b="1" dirty="0">
                <a:solidFill>
                  <a:srgbClr val="0071B2"/>
                </a:solidFill>
                <a:latin typeface="Source Sans Pro" panose="020B0503030403020204" pitchFamily="34" charset="0"/>
              </a:rPr>
              <a:t>beide Teilaussagen </a:t>
            </a:r>
            <a:r>
              <a:rPr lang="de-DE" sz="1600" dirty="0">
                <a:solidFill>
                  <a:srgbClr val="0071B2"/>
                </a:solidFill>
                <a:latin typeface="Source Sans Pro" panose="020B0503030403020204" pitchFamily="34" charset="0"/>
              </a:rPr>
              <a:t>(„A“ / „B“) </a:t>
            </a:r>
            <a:r>
              <a:rPr lang="de-DE" sz="2000" b="1" dirty="0">
                <a:solidFill>
                  <a:srgbClr val="0071B2"/>
                </a:solidFill>
                <a:latin typeface="Source Sans Pro" panose="020B0503030403020204" pitchFamily="34" charset="0"/>
              </a:rPr>
              <a:t>falsch </a:t>
            </a:r>
            <a:r>
              <a:rPr lang="de-DE" sz="2000" dirty="0">
                <a:solidFill>
                  <a:srgbClr val="0071B2"/>
                </a:solidFill>
                <a:latin typeface="Source Sans Pro" panose="020B0503030403020204" pitchFamily="34" charset="0"/>
              </a:rPr>
              <a:t>sind.</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OR </a:t>
            </a:r>
            <a:r>
              <a:rPr lang="de-DE" sz="2900" dirty="0" smtClean="0">
                <a:latin typeface="Source Sans Pro" panose="020B0503030403020204" pitchFamily="34" charset="0"/>
              </a:rPr>
              <a:t>(Oder-Verknüpfung)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2382618567"/>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r>
                        <a:rPr lang="de-DE" dirty="0" smtClean="0">
                          <a:solidFill>
                            <a:schemeClr val="bg2">
                              <a:lumMod val="75000"/>
                            </a:schemeClr>
                          </a:solidFill>
                        </a:rPr>
                        <a:t>=&gt; (A oder B) ist wahr</a:t>
                      </a:r>
                      <a:endParaRPr lang="de-DE" dirty="0">
                        <a:solidFill>
                          <a:schemeClr val="bg2">
                            <a:lumMod val="75000"/>
                          </a:schemeClr>
                        </a:solidFill>
                      </a:endParaRPr>
                    </a:p>
                  </a:txBody>
                  <a:tcPr/>
                </a:tc>
                <a:tc>
                  <a:txBody>
                    <a:bodyPr/>
                    <a:lstStyle/>
                    <a:p>
                      <a:r>
                        <a:rPr lang="de-DE" dirty="0" smtClean="0">
                          <a:solidFill>
                            <a:schemeClr val="bg2">
                              <a:lumMod val="75000"/>
                            </a:schemeClr>
                          </a:solidFill>
                        </a:rPr>
                        <a:t>=&gt; (A oder B) ist wahr</a:t>
                      </a:r>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accent2"/>
                          </a:solidFill>
                        </a:rPr>
                        <a:t>falsch</a:t>
                      </a:r>
                      <a:endParaRPr lang="de-DE" b="1" dirty="0">
                        <a:solidFill>
                          <a:schemeClr val="accent2"/>
                        </a:solidFill>
                      </a:endParaRPr>
                    </a:p>
                  </a:txBody>
                  <a:tcPr/>
                </a:tc>
                <a:tc>
                  <a:txBody>
                    <a:bodyPr/>
                    <a:lstStyle/>
                    <a:p>
                      <a:r>
                        <a:rPr lang="de-DE" dirty="0" smtClean="0">
                          <a:solidFill>
                            <a:schemeClr val="bg2">
                              <a:lumMod val="75000"/>
                            </a:schemeClr>
                          </a:solidFill>
                        </a:rPr>
                        <a:t>=&gt; (A oder B) ist wahr</a:t>
                      </a:r>
                      <a:endParaRPr lang="de-DE" dirty="0">
                        <a:solidFill>
                          <a:schemeClr val="bg2">
                            <a:lumMod val="75000"/>
                          </a:schemeClr>
                        </a:solidFill>
                      </a:endParaRPr>
                    </a:p>
                  </a:txBody>
                  <a:tcPr/>
                </a:tc>
                <a:tc>
                  <a:txBody>
                    <a:bodyPr/>
                    <a:lstStyle/>
                    <a:p>
                      <a:r>
                        <a:rPr lang="de-DE" dirty="0" smtClean="0"/>
                        <a:t>=&gt; (A oder B) ist </a:t>
                      </a:r>
                      <a:r>
                        <a:rPr lang="de-DE" b="1" dirty="0" smtClean="0">
                          <a:solidFill>
                            <a:schemeClr val="accent2"/>
                          </a:solidFill>
                        </a:rPr>
                        <a:t>falsch</a:t>
                      </a:r>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8153859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NOT</a:t>
            </a:r>
            <a:endParaRPr lang="de-DE" sz="6600" dirty="0">
              <a:latin typeface="Source Sans Pro" panose="020B0503030403020204" pitchFamily="34" charset="0"/>
            </a:endParaRPr>
          </a:p>
        </p:txBody>
      </p:sp>
    </p:spTree>
    <p:extLst>
      <p:ext uri="{BB962C8B-B14F-4D97-AF65-F5344CB8AC3E}">
        <p14:creationId xmlns:p14="http://schemas.microsoft.com/office/powerpoint/2010/main" val="13685883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Nicht-Operator ist keine Verknüpfung zwischen zwei Aussagen, sondern bezieht sich auf eine einzige Aussage, die negiert wird. </a:t>
            </a:r>
            <a:r>
              <a:rPr lang="de-DE" sz="2400" dirty="0">
                <a:solidFill>
                  <a:srgbClr val="0071B2"/>
                </a:solidFill>
                <a:latin typeface="Source Sans Pro" panose="020B0503030403020204" pitchFamily="34" charset="0"/>
              </a:rPr>
              <a:t> </a:t>
            </a:r>
            <a:r>
              <a:rPr kumimoji="0" lang="de-DE"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Wahrheitswert wird quasi „ausgetauscht“)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FE5000"/>
                </a:solidFill>
                <a:effectLst/>
                <a:uLnTx/>
                <a:uFillTx/>
                <a:latin typeface="Source Sans Pro" panose="020B0503030403020204" pitchFamily="34" charset="0"/>
                <a:ea typeface="+mj-ea"/>
                <a:cs typeface="+mj-cs"/>
              </a:rPr>
              <a:t>NOT </a:t>
            </a:r>
            <a:r>
              <a:rPr kumimoji="0" lang="de-DE" sz="29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(NICHT-Operator)</a:t>
            </a:r>
            <a:endParaRPr kumimoji="0" lang="de-DE" sz="29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graphicFrame>
        <p:nvGraphicFramePr>
          <p:cNvPr id="9" name="Tabelle 8"/>
          <p:cNvGraphicFramePr>
            <a:graphicFrameLocks noGrp="1"/>
          </p:cNvGraphicFramePr>
          <p:nvPr>
            <p:extLst>
              <p:ext uri="{D42A27DB-BD31-4B8C-83A1-F6EECF244321}">
                <p14:modId xmlns:p14="http://schemas.microsoft.com/office/powerpoint/2010/main" val="519619901"/>
              </p:ext>
            </p:extLst>
          </p:nvPr>
        </p:nvGraphicFramePr>
        <p:xfrm>
          <a:off x="4666551" y="2511405"/>
          <a:ext cx="3269234" cy="741680"/>
        </p:xfrm>
        <a:graphic>
          <a:graphicData uri="http://schemas.openxmlformats.org/drawingml/2006/table">
            <a:tbl>
              <a:tblPr firstRow="1" bandRow="1">
                <a:tableStyleId>{5C22544A-7EE6-4342-B048-85BDC9FD1C3A}</a:tableStyleId>
              </a:tblPr>
              <a:tblGrid>
                <a:gridCol w="838264">
                  <a:extLst>
                    <a:ext uri="{9D8B030D-6E8A-4147-A177-3AD203B41FA5}">
                      <a16:colId xmlns:a16="http://schemas.microsoft.com/office/drawing/2014/main" val="2114805183"/>
                    </a:ext>
                  </a:extLst>
                </a:gridCol>
                <a:gridCol w="1184338">
                  <a:extLst>
                    <a:ext uri="{9D8B030D-6E8A-4147-A177-3AD203B41FA5}">
                      <a16:colId xmlns:a16="http://schemas.microsoft.com/office/drawing/2014/main" val="3942113211"/>
                    </a:ext>
                  </a:extLst>
                </a:gridCol>
                <a:gridCol w="1246632">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NOT A</a:t>
                      </a:r>
                      <a:endParaRPr lang="de-DE" b="1" dirty="0"/>
                    </a:p>
                  </a:txBody>
                  <a:tcPr/>
                </a:tc>
                <a:tc>
                  <a:txBody>
                    <a:bodyPr/>
                    <a:lstStyle/>
                    <a:p>
                      <a:pPr algn="ctr"/>
                      <a:endParaRPr lang="de-DE" dirty="0">
                        <a:solidFill>
                          <a:schemeClr val="bg2">
                            <a:lumMod val="75000"/>
                          </a:schemeClr>
                        </a:solidFill>
                      </a:endParaRPr>
                    </a:p>
                  </a:txBody>
                  <a:tcPr/>
                </a:tc>
                <a:tc>
                  <a:txBody>
                    <a:bodyPr/>
                    <a:lstStyle/>
                    <a:p>
                      <a:pPr algn="ctr"/>
                      <a:endParaRPr lang="de-DE" dirty="0">
                        <a:solidFill>
                          <a:schemeClr val="bg2">
                            <a:lumMod val="75000"/>
                          </a:schemeClr>
                        </a:solidFill>
                      </a:endParaRPr>
                    </a:p>
                  </a:txBody>
                  <a:tcPr/>
                </a:tc>
                <a:extLst>
                  <a:ext uri="{0D108BD9-81ED-4DB2-BD59-A6C34878D82A}">
                    <a16:rowId xmlns:a16="http://schemas.microsoft.com/office/drawing/2014/main" val="1989669962"/>
                  </a:ext>
                </a:extLst>
              </a:tr>
            </a:tbl>
          </a:graphicData>
        </a:graphic>
      </p:graphicFrame>
    </p:spTree>
    <p:extLst>
      <p:ext uri="{BB962C8B-B14F-4D97-AF65-F5344CB8AC3E}">
        <p14:creationId xmlns:p14="http://schemas.microsoft.com/office/powerpoint/2010/main" val="184966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Nicht-Operator ist keine Verknüpfung zwischen zwei Aussagen, sondern bezieht sich auf eine einzige Aussage, die negiert wird. </a:t>
            </a:r>
            <a:r>
              <a:rPr lang="de-DE" sz="2400" dirty="0">
                <a:solidFill>
                  <a:srgbClr val="0071B2"/>
                </a:solidFill>
                <a:latin typeface="Source Sans Pro" panose="020B0503030403020204" pitchFamily="34" charset="0"/>
              </a:rPr>
              <a:t> </a:t>
            </a:r>
            <a:r>
              <a:rPr kumimoji="0" lang="de-DE"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Wahrheitswert wird quasi „ausgetauscht“)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FE5000"/>
                </a:solidFill>
                <a:effectLst/>
                <a:uLnTx/>
                <a:uFillTx/>
                <a:latin typeface="Source Sans Pro" panose="020B0503030403020204" pitchFamily="34" charset="0"/>
                <a:ea typeface="+mj-ea"/>
                <a:cs typeface="+mj-cs"/>
              </a:rPr>
              <a:t>NOT </a:t>
            </a:r>
            <a:r>
              <a:rPr kumimoji="0" lang="de-DE" sz="29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(NICHT-Operator)</a:t>
            </a:r>
            <a:endParaRPr kumimoji="0" lang="de-DE" sz="29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graphicFrame>
        <p:nvGraphicFramePr>
          <p:cNvPr id="9" name="Tabelle 8"/>
          <p:cNvGraphicFramePr>
            <a:graphicFrameLocks noGrp="1"/>
          </p:cNvGraphicFramePr>
          <p:nvPr>
            <p:extLst>
              <p:ext uri="{D42A27DB-BD31-4B8C-83A1-F6EECF244321}">
                <p14:modId xmlns:p14="http://schemas.microsoft.com/office/powerpoint/2010/main" val="3851022062"/>
              </p:ext>
            </p:extLst>
          </p:nvPr>
        </p:nvGraphicFramePr>
        <p:xfrm>
          <a:off x="4666551" y="2511405"/>
          <a:ext cx="3269234" cy="741680"/>
        </p:xfrm>
        <a:graphic>
          <a:graphicData uri="http://schemas.openxmlformats.org/drawingml/2006/table">
            <a:tbl>
              <a:tblPr firstRow="1" bandRow="1">
                <a:tableStyleId>{5C22544A-7EE6-4342-B048-85BDC9FD1C3A}</a:tableStyleId>
              </a:tblPr>
              <a:tblGrid>
                <a:gridCol w="838264">
                  <a:extLst>
                    <a:ext uri="{9D8B030D-6E8A-4147-A177-3AD203B41FA5}">
                      <a16:colId xmlns:a16="http://schemas.microsoft.com/office/drawing/2014/main" val="2114805183"/>
                    </a:ext>
                  </a:extLst>
                </a:gridCol>
                <a:gridCol w="1184338">
                  <a:extLst>
                    <a:ext uri="{9D8B030D-6E8A-4147-A177-3AD203B41FA5}">
                      <a16:colId xmlns:a16="http://schemas.microsoft.com/office/drawing/2014/main" val="3942113211"/>
                    </a:ext>
                  </a:extLst>
                </a:gridCol>
                <a:gridCol w="1246632">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NOT A</a:t>
                      </a:r>
                      <a:endParaRPr lang="de-DE" b="1" dirty="0"/>
                    </a:p>
                  </a:txBody>
                  <a:tcPr/>
                </a:tc>
                <a:tc>
                  <a:txBody>
                    <a:bodyPr/>
                    <a:lstStyle/>
                    <a:p>
                      <a:pPr algn="ctr"/>
                      <a:r>
                        <a:rPr lang="de-DE" b="1" dirty="0" smtClean="0">
                          <a:solidFill>
                            <a:schemeClr val="accent2"/>
                          </a:solidFill>
                        </a:rPr>
                        <a:t>falsch</a:t>
                      </a:r>
                      <a:endParaRPr lang="de-DE" b="1" dirty="0">
                        <a:solidFill>
                          <a:schemeClr val="accent2"/>
                        </a:solidFill>
                      </a:endParaRPr>
                    </a:p>
                  </a:txBody>
                  <a:tcPr/>
                </a:tc>
                <a:tc>
                  <a:txBody>
                    <a:bodyPr/>
                    <a:lstStyle/>
                    <a:p>
                      <a:pPr algn="ctr"/>
                      <a:endParaRPr lang="de-DE" dirty="0">
                        <a:solidFill>
                          <a:schemeClr val="bg2">
                            <a:lumMod val="75000"/>
                          </a:schemeClr>
                        </a:solidFill>
                      </a:endParaRPr>
                    </a:p>
                  </a:txBody>
                  <a:tcPr/>
                </a:tc>
                <a:extLst>
                  <a:ext uri="{0D108BD9-81ED-4DB2-BD59-A6C34878D82A}">
                    <a16:rowId xmlns:a16="http://schemas.microsoft.com/office/drawing/2014/main" val="1989669962"/>
                  </a:ext>
                </a:extLst>
              </a:tr>
            </a:tbl>
          </a:graphicData>
        </a:graphic>
      </p:graphicFrame>
    </p:spTree>
    <p:extLst>
      <p:ext uri="{BB962C8B-B14F-4D97-AF65-F5344CB8AC3E}">
        <p14:creationId xmlns:p14="http://schemas.microsoft.com/office/powerpoint/2010/main" val="23488563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Nicht-Operator ist keine Verknüpfung zwischen zwei Aussagen, sondern bezieht sich auf eine einzige Aussage, die negiert wird. </a:t>
            </a:r>
            <a:r>
              <a:rPr lang="de-DE" sz="2400" dirty="0">
                <a:solidFill>
                  <a:srgbClr val="0071B2"/>
                </a:solidFill>
                <a:latin typeface="Source Sans Pro" panose="020B0503030403020204" pitchFamily="34" charset="0"/>
              </a:rPr>
              <a:t> </a:t>
            </a:r>
            <a:r>
              <a:rPr kumimoji="0" lang="de-DE"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Wahrheitswert wird quasi „ausgetauscht“)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FE5000"/>
                </a:solidFill>
                <a:effectLst/>
                <a:uLnTx/>
                <a:uFillTx/>
                <a:latin typeface="Source Sans Pro" panose="020B0503030403020204" pitchFamily="34" charset="0"/>
                <a:ea typeface="+mj-ea"/>
                <a:cs typeface="+mj-cs"/>
              </a:rPr>
              <a:t>NOT </a:t>
            </a:r>
            <a:r>
              <a:rPr kumimoji="0" lang="de-DE" sz="29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(NICHT-Operator)</a:t>
            </a:r>
            <a:endParaRPr kumimoji="0" lang="de-DE" sz="29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graphicFrame>
        <p:nvGraphicFramePr>
          <p:cNvPr id="9" name="Tabelle 8"/>
          <p:cNvGraphicFramePr>
            <a:graphicFrameLocks noGrp="1"/>
          </p:cNvGraphicFramePr>
          <p:nvPr>
            <p:extLst>
              <p:ext uri="{D42A27DB-BD31-4B8C-83A1-F6EECF244321}">
                <p14:modId xmlns:p14="http://schemas.microsoft.com/office/powerpoint/2010/main" val="3718540864"/>
              </p:ext>
            </p:extLst>
          </p:nvPr>
        </p:nvGraphicFramePr>
        <p:xfrm>
          <a:off x="4666551" y="2511405"/>
          <a:ext cx="3269234" cy="741680"/>
        </p:xfrm>
        <a:graphic>
          <a:graphicData uri="http://schemas.openxmlformats.org/drawingml/2006/table">
            <a:tbl>
              <a:tblPr firstRow="1" bandRow="1">
                <a:tableStyleId>{5C22544A-7EE6-4342-B048-85BDC9FD1C3A}</a:tableStyleId>
              </a:tblPr>
              <a:tblGrid>
                <a:gridCol w="838264">
                  <a:extLst>
                    <a:ext uri="{9D8B030D-6E8A-4147-A177-3AD203B41FA5}">
                      <a16:colId xmlns:a16="http://schemas.microsoft.com/office/drawing/2014/main" val="2114805183"/>
                    </a:ext>
                  </a:extLst>
                </a:gridCol>
                <a:gridCol w="1184338">
                  <a:extLst>
                    <a:ext uri="{9D8B030D-6E8A-4147-A177-3AD203B41FA5}">
                      <a16:colId xmlns:a16="http://schemas.microsoft.com/office/drawing/2014/main" val="3942113211"/>
                    </a:ext>
                  </a:extLst>
                </a:gridCol>
                <a:gridCol w="1246632">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NOT A</a:t>
                      </a:r>
                      <a:endParaRPr lang="de-DE" b="1" dirty="0"/>
                    </a:p>
                  </a:txBody>
                  <a:tcPr/>
                </a:tc>
                <a:tc>
                  <a:txBody>
                    <a:bodyPr/>
                    <a:lstStyle/>
                    <a:p>
                      <a:pPr algn="ctr"/>
                      <a:r>
                        <a:rPr lang="de-DE" dirty="0" smtClean="0">
                          <a:solidFill>
                            <a:schemeClr val="bg2">
                              <a:lumMod val="75000"/>
                            </a:schemeClr>
                          </a:solidFill>
                        </a:rPr>
                        <a:t>falsch</a:t>
                      </a:r>
                      <a:endParaRPr lang="de-DE" dirty="0">
                        <a:solidFill>
                          <a:schemeClr val="bg2">
                            <a:lumMod val="75000"/>
                          </a:schemeClr>
                        </a:solidFill>
                      </a:endParaRPr>
                    </a:p>
                  </a:txBody>
                  <a:tcPr/>
                </a:tc>
                <a:tc>
                  <a:txBody>
                    <a:bodyPr/>
                    <a:lstStyle/>
                    <a:p>
                      <a:pPr algn="ctr"/>
                      <a:r>
                        <a:rPr lang="de-DE" b="1" dirty="0" smtClean="0">
                          <a:solidFill>
                            <a:schemeClr val="accent2"/>
                          </a:solidFill>
                        </a:rPr>
                        <a:t>wahr</a:t>
                      </a:r>
                      <a:endParaRPr lang="de-DE" b="1" dirty="0">
                        <a:solidFill>
                          <a:schemeClr val="accent2"/>
                        </a:solidFill>
                      </a:endParaRPr>
                    </a:p>
                  </a:txBody>
                  <a:tcPr/>
                </a:tc>
                <a:extLst>
                  <a:ext uri="{0D108BD9-81ED-4DB2-BD59-A6C34878D82A}">
                    <a16:rowId xmlns:a16="http://schemas.microsoft.com/office/drawing/2014/main" val="1989669962"/>
                  </a:ext>
                </a:extLst>
              </a:tr>
            </a:tbl>
          </a:graphicData>
        </a:graphic>
      </p:graphicFrame>
      <p:sp>
        <p:nvSpPr>
          <p:cNvPr id="10" name="Rechteck 9"/>
          <p:cNvSpPr/>
          <p:nvPr/>
        </p:nvSpPr>
        <p:spPr>
          <a:xfrm>
            <a:off x="174538" y="3978448"/>
            <a:ext cx="11870575" cy="16080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b="1" dirty="0" smtClean="0">
              <a:solidFill>
                <a:schemeClr val="accent2"/>
              </a:solidFill>
              <a:latin typeface="Source Sans Pro" panose="020B0503030403020204" pitchFamily="34" charset="0"/>
            </a:endParaRPr>
          </a:p>
          <a:p>
            <a:pPr algn="ctr"/>
            <a:r>
              <a:rPr lang="de-DE" sz="2000" b="1" dirty="0" smtClean="0">
                <a:solidFill>
                  <a:schemeClr val="tx1"/>
                </a:solidFill>
                <a:latin typeface="Source Sans Pro" panose="020B0503030403020204" pitchFamily="34" charset="0"/>
              </a:rPr>
              <a:t>Erläuterung:</a:t>
            </a:r>
          </a:p>
          <a:p>
            <a:pPr algn="ctr"/>
            <a:endParaRPr lang="de-DE" sz="800" b="1" dirty="0" smtClean="0">
              <a:solidFill>
                <a:schemeClr val="accent2"/>
              </a:solidFill>
              <a:latin typeface="Source Sans Pro" panose="020B0503030403020204" pitchFamily="34" charset="0"/>
            </a:endParaRPr>
          </a:p>
          <a:p>
            <a:pPr algn="ctr"/>
            <a:r>
              <a:rPr lang="de-DE" sz="2000" dirty="0" smtClean="0">
                <a:solidFill>
                  <a:schemeClr val="tx1"/>
                </a:solidFill>
                <a:latin typeface="Source Sans Pro" panose="020B0503030403020204" pitchFamily="34" charset="0"/>
              </a:rPr>
              <a:t>Das mag auf den ersten Blick erstaunlich wirken, entspricht aber exakt unserer „Alltags-Logik“:</a:t>
            </a:r>
          </a:p>
          <a:p>
            <a:pPr algn="ctr"/>
            <a:r>
              <a:rPr lang="de-DE" sz="2000" b="1" dirty="0" smtClean="0">
                <a:solidFill>
                  <a:schemeClr val="tx1"/>
                </a:solidFill>
                <a:latin typeface="Source Sans Pro" panose="020B0503030403020204" pitchFamily="34" charset="0"/>
              </a:rPr>
              <a:t>Wer feststellt, dass eine </a:t>
            </a:r>
            <a:r>
              <a:rPr lang="de-DE" sz="2000" b="1" dirty="0" smtClean="0">
                <a:solidFill>
                  <a:schemeClr val="accent2"/>
                </a:solidFill>
                <a:latin typeface="Source Sans Pro" panose="020B0503030403020204" pitchFamily="34" charset="0"/>
              </a:rPr>
              <a:t>falsche</a:t>
            </a:r>
            <a:r>
              <a:rPr lang="de-DE" sz="2000" b="1" dirty="0" smtClean="0">
                <a:solidFill>
                  <a:schemeClr val="tx1"/>
                </a:solidFill>
                <a:latin typeface="Source Sans Pro" panose="020B0503030403020204" pitchFamily="34" charset="0"/>
              </a:rPr>
              <a:t> Aussage „</a:t>
            </a:r>
            <a:r>
              <a:rPr lang="de-DE" sz="2000" b="1" dirty="0" smtClean="0">
                <a:solidFill>
                  <a:schemeClr val="accent2"/>
                </a:solidFill>
                <a:latin typeface="Source Sans Pro" panose="020B0503030403020204" pitchFamily="34" charset="0"/>
              </a:rPr>
              <a:t>NICHT</a:t>
            </a:r>
            <a:r>
              <a:rPr lang="de-DE" sz="2000" b="1" dirty="0" smtClean="0">
                <a:solidFill>
                  <a:schemeClr val="tx1"/>
                </a:solidFill>
                <a:latin typeface="Source Sans Pro" panose="020B0503030403020204" pitchFamily="34" charset="0"/>
              </a:rPr>
              <a:t> gilt“, der sagt etwas </a:t>
            </a:r>
            <a:r>
              <a:rPr lang="de-DE" sz="2000" b="1" dirty="0" smtClean="0">
                <a:solidFill>
                  <a:schemeClr val="accent2"/>
                </a:solidFill>
                <a:latin typeface="Source Sans Pro" panose="020B0503030403020204" pitchFamily="34" charset="0"/>
              </a:rPr>
              <a:t>wahres</a:t>
            </a:r>
            <a:r>
              <a:rPr lang="de-DE" sz="2000" b="1" dirty="0" smtClean="0">
                <a:solidFill>
                  <a:schemeClr val="tx1"/>
                </a:solidFill>
                <a:latin typeface="Source Sans Pro" panose="020B0503030403020204" pitchFamily="34" charset="0"/>
              </a:rPr>
              <a:t>.</a:t>
            </a:r>
            <a:endParaRPr lang="de-DE" sz="2000" b="1" dirty="0">
              <a:solidFill>
                <a:schemeClr val="tx1"/>
              </a:solidFill>
              <a:latin typeface="Source Sans Pro" panose="020B0503030403020204" pitchFamily="34" charset="0"/>
            </a:endParaRPr>
          </a:p>
          <a:p>
            <a:pPr algn="ctr"/>
            <a:endParaRPr lang="de-DE" sz="1600" dirty="0" smtClean="0">
              <a:solidFill>
                <a:schemeClr val="tx1"/>
              </a:solidFill>
            </a:endParaRPr>
          </a:p>
          <a:p>
            <a:pPr algn="ctr"/>
            <a:endParaRPr lang="de-DE" sz="1200" dirty="0">
              <a:solidFill>
                <a:schemeClr val="tx1"/>
              </a:solidFill>
            </a:endParaRPr>
          </a:p>
        </p:txBody>
      </p:sp>
    </p:spTree>
    <p:extLst>
      <p:ext uri="{BB962C8B-B14F-4D97-AF65-F5344CB8AC3E}">
        <p14:creationId xmlns:p14="http://schemas.microsoft.com/office/powerpoint/2010/main" val="85605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smtClean="0">
                <a:latin typeface="Source Sans Pro" panose="020B0503030403020204" pitchFamily="34" charset="0"/>
              </a:rPr>
              <a:t>XOR</a:t>
            </a:r>
            <a:endParaRPr lang="de-DE" sz="6600" dirty="0">
              <a:latin typeface="Source Sans Pro" panose="020B0503030403020204" pitchFamily="34" charset="0"/>
            </a:endParaRPr>
          </a:p>
        </p:txBody>
      </p:sp>
    </p:spTree>
    <p:extLst>
      <p:ext uri="{BB962C8B-B14F-4D97-AF65-F5344CB8AC3E}">
        <p14:creationId xmlns:p14="http://schemas.microsoft.com/office/powerpoint/2010/main" val="29479140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1113070" cy="584775"/>
          </a:xfrm>
          <a:prstGeom prst="rect">
            <a:avLst/>
          </a:prstGeom>
          <a:noFill/>
        </p:spPr>
        <p:txBody>
          <a:bodyPr wrap="square" rtlCol="0">
            <a:spAutoFit/>
          </a:bodyPr>
          <a:lstStyle/>
          <a:p>
            <a:pPr lvl="0">
              <a:defRPr/>
            </a:pPr>
            <a:r>
              <a:rPr lang="de-DE" sz="2400" dirty="0" smtClean="0">
                <a:solidFill>
                  <a:srgbClr val="0071B2"/>
                </a:solidFill>
                <a:latin typeface="Source Sans Pro" panose="020B0503030403020204" pitchFamily="34" charset="0"/>
              </a:rPr>
              <a:t>Die XOR-Verknüpfung ist </a:t>
            </a:r>
            <a:r>
              <a:rPr lang="de-DE" sz="2400" b="1" dirty="0" smtClean="0">
                <a:solidFill>
                  <a:srgbClr val="0071B2"/>
                </a:solidFill>
                <a:latin typeface="Source Sans Pro" panose="020B0503030403020204" pitchFamily="34" charset="0"/>
              </a:rPr>
              <a:t>nur dann wahr</a:t>
            </a:r>
            <a:r>
              <a:rPr lang="de-DE" sz="2400" dirty="0" smtClean="0">
                <a:solidFill>
                  <a:srgbClr val="0071B2"/>
                </a:solidFill>
                <a:latin typeface="Source Sans Pro" panose="020B0503030403020204" pitchFamily="34" charset="0"/>
              </a:rPr>
              <a:t>, wenn </a:t>
            </a:r>
            <a:r>
              <a:rPr lang="de-DE" sz="2400" b="1" dirty="0" smtClean="0">
                <a:solidFill>
                  <a:srgbClr val="0071B2"/>
                </a:solidFill>
                <a:latin typeface="Source Sans Pro" panose="020B0503030403020204" pitchFamily="34" charset="0"/>
              </a:rPr>
              <a:t>genau 1 Teilaussage</a:t>
            </a:r>
            <a:r>
              <a:rPr lang="de-DE" sz="2400" dirty="0" smtClean="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wahr </a:t>
            </a:r>
            <a:r>
              <a:rPr lang="de-DE" sz="2400" dirty="0" smtClean="0">
                <a:solidFill>
                  <a:srgbClr val="0071B2"/>
                </a:solidFill>
                <a:latin typeface="Source Sans Pro" panose="020B0503030403020204" pitchFamily="34" charset="0"/>
              </a:rPr>
              <a:t>ist.</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XOR </a:t>
            </a:r>
            <a:r>
              <a:rPr lang="de-DE" sz="2900" dirty="0" smtClean="0">
                <a:latin typeface="Source Sans Pro" panose="020B0503030403020204" pitchFamily="34" charset="0"/>
              </a:rPr>
              <a:t>(Entweder-Oder-Verknüpfung)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endParaRPr lang="de-DE" dirty="0">
                        <a:solidFill>
                          <a:schemeClr val="bg2">
                            <a:lumMod val="75000"/>
                          </a:schemeClr>
                        </a:solidFill>
                      </a:endParaRPr>
                    </a:p>
                  </a:txBody>
                  <a:tcPr/>
                </a:tc>
                <a:tc>
                  <a:txBody>
                    <a:bodyPr/>
                    <a:lstStyle/>
                    <a:p>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tx1"/>
                          </a:solidFill>
                        </a:rPr>
                        <a:t>falsch</a:t>
                      </a:r>
                      <a:endParaRPr lang="de-DE" b="1" dirty="0">
                        <a:solidFill>
                          <a:schemeClr val="tx1"/>
                        </a:solidFill>
                      </a:endParaRPr>
                    </a:p>
                  </a:txBody>
                  <a:tcPr/>
                </a:tc>
                <a:tc>
                  <a:txBody>
                    <a:bodyPr/>
                    <a:lstStyle/>
                    <a:p>
                      <a:endParaRPr lang="de-DE" dirty="0">
                        <a:solidFill>
                          <a:schemeClr val="bg2">
                            <a:lumMod val="75000"/>
                          </a:schemeClr>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74203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584775"/>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XOR-Verknüpfung ist </a:t>
            </a:r>
            <a:r>
              <a:rPr lang="de-DE" sz="2400" b="1" dirty="0">
                <a:solidFill>
                  <a:srgbClr val="0071B2"/>
                </a:solidFill>
                <a:latin typeface="Source Sans Pro" panose="020B0503030403020204" pitchFamily="34" charset="0"/>
              </a:rPr>
              <a:t>nur dann wahr</a:t>
            </a:r>
            <a:r>
              <a:rPr lang="de-DE" sz="2400" dirty="0">
                <a:solidFill>
                  <a:srgbClr val="0071B2"/>
                </a:solidFill>
                <a:latin typeface="Source Sans Pro" panose="020B0503030403020204" pitchFamily="34" charset="0"/>
              </a:rPr>
              <a:t>, wenn </a:t>
            </a:r>
            <a:r>
              <a:rPr lang="de-DE" sz="2400" b="1" dirty="0">
                <a:solidFill>
                  <a:srgbClr val="0071B2"/>
                </a:solidFill>
                <a:latin typeface="Source Sans Pro" panose="020B0503030403020204" pitchFamily="34" charset="0"/>
              </a:rPr>
              <a:t>genau 1 Teilaussage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wahr </a:t>
            </a:r>
            <a:r>
              <a:rPr lang="de-DE" sz="2400" dirty="0">
                <a:solidFill>
                  <a:srgbClr val="0071B2"/>
                </a:solidFill>
                <a:latin typeface="Source Sans Pro" panose="020B0503030403020204" pitchFamily="34" charset="0"/>
              </a:rPr>
              <a:t>ist.</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XOR </a:t>
            </a:r>
            <a:r>
              <a:rPr lang="de-DE" sz="2900" dirty="0" smtClean="0">
                <a:latin typeface="Source Sans Pro" panose="020B0503030403020204" pitchFamily="34" charset="0"/>
              </a:rPr>
              <a:t>(Entweder-Oder-Verknüpfung)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1673818810"/>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B ist </a:t>
                      </a:r>
                      <a:r>
                        <a:rPr lang="de-DE" b="1" dirty="0" smtClean="0">
                          <a:solidFill>
                            <a:schemeClr val="accent2"/>
                          </a:solidFill>
                        </a:rPr>
                        <a:t>wahr</a:t>
                      </a:r>
                      <a:endParaRPr lang="de-DE" b="1" dirty="0">
                        <a:solidFill>
                          <a:schemeClr val="accent2"/>
                        </a:solidFill>
                      </a:endParaRPr>
                    </a:p>
                  </a:txBody>
                  <a:tcPr/>
                </a:tc>
                <a:tc>
                  <a:txBody>
                    <a:bodyPr/>
                    <a:lstStyle/>
                    <a:p>
                      <a:r>
                        <a:rPr lang="de-DE" dirty="0" smtClean="0">
                          <a:solidFill>
                            <a:schemeClr val="tx1"/>
                          </a:solidFill>
                        </a:rPr>
                        <a:t>=&gt; (A XOR B) ist </a:t>
                      </a:r>
                      <a:r>
                        <a:rPr lang="de-DE" b="1" dirty="0" smtClean="0">
                          <a:solidFill>
                            <a:schemeClr val="accent2"/>
                          </a:solidFill>
                        </a:rPr>
                        <a:t>falsch</a:t>
                      </a:r>
                      <a:endParaRPr lang="de-DE" b="1" dirty="0">
                        <a:solidFill>
                          <a:schemeClr val="accent2"/>
                        </a:solidFill>
                      </a:endParaRPr>
                    </a:p>
                  </a:txBody>
                  <a:tcPr/>
                </a:tc>
                <a:tc>
                  <a:txBody>
                    <a:bodyPr/>
                    <a:lstStyle/>
                    <a:p>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tx1"/>
                          </a:solidFill>
                        </a:rPr>
                        <a:t>falsch</a:t>
                      </a:r>
                      <a:endParaRPr lang="de-DE" b="1" dirty="0">
                        <a:solidFill>
                          <a:schemeClr val="tx1"/>
                        </a:solidFill>
                      </a:endParaRPr>
                    </a:p>
                  </a:txBody>
                  <a:tcPr/>
                </a:tc>
                <a:tc>
                  <a:txBody>
                    <a:bodyPr/>
                    <a:lstStyle/>
                    <a:p>
                      <a:endParaRPr lang="de-DE" dirty="0">
                        <a:solidFill>
                          <a:schemeClr val="bg2">
                            <a:lumMod val="75000"/>
                          </a:schemeClr>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0475927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584775"/>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XOR-Verknüpfung ist </a:t>
            </a:r>
            <a:r>
              <a:rPr lang="de-DE" sz="2400" b="1" dirty="0">
                <a:solidFill>
                  <a:srgbClr val="0071B2"/>
                </a:solidFill>
                <a:latin typeface="Source Sans Pro" panose="020B0503030403020204" pitchFamily="34" charset="0"/>
              </a:rPr>
              <a:t>nur dann wahr</a:t>
            </a:r>
            <a:r>
              <a:rPr lang="de-DE" sz="2400" dirty="0">
                <a:solidFill>
                  <a:srgbClr val="0071B2"/>
                </a:solidFill>
                <a:latin typeface="Source Sans Pro" panose="020B0503030403020204" pitchFamily="34" charset="0"/>
              </a:rPr>
              <a:t>, wenn </a:t>
            </a:r>
            <a:r>
              <a:rPr lang="de-DE" sz="2400" b="1" dirty="0">
                <a:solidFill>
                  <a:srgbClr val="0071B2"/>
                </a:solidFill>
                <a:latin typeface="Source Sans Pro" panose="020B0503030403020204" pitchFamily="34" charset="0"/>
              </a:rPr>
              <a:t>genau 1 Teilaussage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wahr </a:t>
            </a:r>
            <a:r>
              <a:rPr lang="de-DE" sz="2400" dirty="0">
                <a:solidFill>
                  <a:srgbClr val="0071B2"/>
                </a:solidFill>
                <a:latin typeface="Source Sans Pro" panose="020B0503030403020204" pitchFamily="34" charset="0"/>
              </a:rPr>
              <a:t>ist.</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XOR </a:t>
            </a:r>
            <a:r>
              <a:rPr lang="de-DE" sz="2900" dirty="0" smtClean="0">
                <a:latin typeface="Source Sans Pro" panose="020B0503030403020204" pitchFamily="34" charset="0"/>
              </a:rPr>
              <a:t>(Entweder-Oder-Verknüpfung)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1484174202"/>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B ist </a:t>
                      </a:r>
                      <a:r>
                        <a:rPr lang="de-DE" b="1" dirty="0" smtClean="0">
                          <a:solidFill>
                            <a:schemeClr val="accent2"/>
                          </a:solidFill>
                        </a:rPr>
                        <a:t>wahr</a:t>
                      </a:r>
                      <a:endParaRPr lang="de-DE" b="1" dirty="0">
                        <a:solidFill>
                          <a:schemeClr val="accent2"/>
                        </a:solidFill>
                      </a:endParaRPr>
                    </a:p>
                  </a:txBody>
                  <a:tcPr/>
                </a:tc>
                <a:tc>
                  <a:txBody>
                    <a:bodyPr/>
                    <a:lstStyle/>
                    <a:p>
                      <a:r>
                        <a:rPr lang="de-DE" dirty="0" smtClean="0">
                          <a:solidFill>
                            <a:schemeClr val="bg2">
                              <a:lumMod val="75000"/>
                            </a:schemeClr>
                          </a:solidFill>
                        </a:rPr>
                        <a:t>=&gt; (A XOR B) ist falsch</a:t>
                      </a:r>
                      <a:endParaRPr lang="de-DE" dirty="0">
                        <a:solidFill>
                          <a:schemeClr val="bg2">
                            <a:lumMod val="75000"/>
                          </a:schemeClr>
                        </a:solidFill>
                      </a:endParaRPr>
                    </a:p>
                  </a:txBody>
                  <a:tcPr/>
                </a:tc>
                <a:tc>
                  <a:txBody>
                    <a:bodyPr/>
                    <a:lstStyle/>
                    <a:p>
                      <a:r>
                        <a:rPr lang="de-DE" dirty="0" smtClean="0">
                          <a:solidFill>
                            <a:schemeClr val="tx1"/>
                          </a:solidFill>
                        </a:rPr>
                        <a:t>=&gt; (A XOR B) ist </a:t>
                      </a:r>
                      <a:r>
                        <a:rPr lang="de-DE" b="1" dirty="0" smtClean="0">
                          <a:solidFill>
                            <a:schemeClr val="accent2"/>
                          </a:solidFill>
                        </a:rPr>
                        <a:t>wahr</a:t>
                      </a:r>
                      <a:endParaRPr lang="de-DE" b="1" dirty="0">
                        <a:solidFill>
                          <a:schemeClr val="accent2"/>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tx1"/>
                          </a:solidFill>
                        </a:rPr>
                        <a:t>falsch</a:t>
                      </a:r>
                      <a:endParaRPr lang="de-DE" b="1" dirty="0">
                        <a:solidFill>
                          <a:schemeClr val="tx1"/>
                        </a:solidFill>
                      </a:endParaRPr>
                    </a:p>
                  </a:txBody>
                  <a:tcPr/>
                </a:tc>
                <a:tc>
                  <a:txBody>
                    <a:bodyPr/>
                    <a:lstStyle/>
                    <a:p>
                      <a:endParaRPr lang="de-DE" dirty="0">
                        <a:solidFill>
                          <a:schemeClr val="bg2">
                            <a:lumMod val="75000"/>
                          </a:schemeClr>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20761952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584775"/>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XOR-Verknüpfung ist </a:t>
            </a:r>
            <a:r>
              <a:rPr lang="de-DE" sz="2400" b="1" dirty="0">
                <a:solidFill>
                  <a:srgbClr val="0071B2"/>
                </a:solidFill>
                <a:latin typeface="Source Sans Pro" panose="020B0503030403020204" pitchFamily="34" charset="0"/>
              </a:rPr>
              <a:t>nur dann wahr</a:t>
            </a:r>
            <a:r>
              <a:rPr lang="de-DE" sz="2400" dirty="0">
                <a:solidFill>
                  <a:srgbClr val="0071B2"/>
                </a:solidFill>
                <a:latin typeface="Source Sans Pro" panose="020B0503030403020204" pitchFamily="34" charset="0"/>
              </a:rPr>
              <a:t>, wenn </a:t>
            </a:r>
            <a:r>
              <a:rPr lang="de-DE" sz="2400" b="1" dirty="0">
                <a:solidFill>
                  <a:srgbClr val="0071B2"/>
                </a:solidFill>
                <a:latin typeface="Source Sans Pro" panose="020B0503030403020204" pitchFamily="34" charset="0"/>
              </a:rPr>
              <a:t>genau 1 Teilaussage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wahr </a:t>
            </a:r>
            <a:r>
              <a:rPr lang="de-DE" sz="2400" dirty="0">
                <a:solidFill>
                  <a:srgbClr val="0071B2"/>
                </a:solidFill>
                <a:latin typeface="Source Sans Pro" panose="020B0503030403020204" pitchFamily="34" charset="0"/>
              </a:rPr>
              <a:t>ist.</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XOR </a:t>
            </a:r>
            <a:r>
              <a:rPr lang="de-DE" sz="2900" dirty="0" smtClean="0">
                <a:latin typeface="Source Sans Pro" panose="020B0503030403020204" pitchFamily="34" charset="0"/>
              </a:rPr>
              <a:t>(Entweder-Oder-Verknüpfung)</a:t>
            </a:r>
            <a:endParaRPr lang="de-DE" sz="2900" b="0" i="1" dirty="0">
              <a:latin typeface="Source Sans Pro" panose="020B0503030403020204" pitchFamily="34" charset="0"/>
            </a:endParaRPr>
          </a:p>
        </p:txBody>
      </p:sp>
      <p:graphicFrame>
        <p:nvGraphicFramePr>
          <p:cNvPr id="9" name="Tabelle 8"/>
          <p:cNvGraphicFramePr>
            <a:graphicFrameLocks noGrp="1"/>
          </p:cNvGraphicFramePr>
          <p:nvPr>
            <p:extLst>
              <p:ext uri="{D42A27DB-BD31-4B8C-83A1-F6EECF244321}">
                <p14:modId xmlns:p14="http://schemas.microsoft.com/office/powerpoint/2010/main" val="3385990281"/>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a:t>
                      </a:r>
                      <a:r>
                        <a:rPr lang="de-DE" dirty="0" smtClean="0">
                          <a:solidFill>
                            <a:schemeClr val="accent2"/>
                          </a:solidFill>
                        </a:rPr>
                        <a:t>wahr</a:t>
                      </a:r>
                      <a:endParaRPr lang="de-DE" dirty="0">
                        <a:solidFill>
                          <a:schemeClr val="accent2"/>
                        </a:solidFill>
                      </a:endParaRPr>
                    </a:p>
                  </a:txBody>
                  <a:tcPr/>
                </a:tc>
                <a:tc>
                  <a:txBody>
                    <a:bodyPr/>
                    <a:lstStyle/>
                    <a:p>
                      <a:pPr algn="ctr"/>
                      <a:r>
                        <a:rPr lang="de-DE" dirty="0" smtClean="0"/>
                        <a:t>A ist </a:t>
                      </a:r>
                      <a:r>
                        <a:rPr lang="de-DE" dirty="0" smtClean="0">
                          <a:solidFill>
                            <a:schemeClr val="bg1"/>
                          </a:solidFill>
                        </a:rPr>
                        <a:t>falsch</a:t>
                      </a:r>
                      <a:endParaRPr lang="de-DE" dirty="0">
                        <a:solidFill>
                          <a:schemeClr val="bg1"/>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r>
                        <a:rPr lang="de-DE" dirty="0" smtClean="0">
                          <a:solidFill>
                            <a:schemeClr val="bg2">
                              <a:lumMod val="75000"/>
                            </a:schemeClr>
                          </a:solidFill>
                        </a:rPr>
                        <a:t>=&gt; (A XOR B) ist falsch</a:t>
                      </a:r>
                      <a:endParaRPr lang="de-DE" dirty="0">
                        <a:solidFill>
                          <a:schemeClr val="bg2">
                            <a:lumMod val="75000"/>
                          </a:schemeClr>
                        </a:solidFill>
                      </a:endParaRPr>
                    </a:p>
                  </a:txBody>
                  <a:tcPr/>
                </a:tc>
                <a:tc>
                  <a:txBody>
                    <a:bodyPr/>
                    <a:lstStyle/>
                    <a:p>
                      <a:r>
                        <a:rPr lang="de-DE" dirty="0" smtClean="0">
                          <a:solidFill>
                            <a:schemeClr val="bg2">
                              <a:lumMod val="75000"/>
                            </a:schemeClr>
                          </a:solidFill>
                        </a:rPr>
                        <a:t>=&gt; (A XOR B) ist wahr</a:t>
                      </a:r>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accent2"/>
                          </a:solidFill>
                        </a:rPr>
                        <a:t>falsch</a:t>
                      </a:r>
                      <a:endParaRPr lang="de-DE" b="1" dirty="0">
                        <a:solidFill>
                          <a:schemeClr val="accent2"/>
                        </a:solidFill>
                      </a:endParaRPr>
                    </a:p>
                  </a:txBody>
                  <a:tcPr/>
                </a:tc>
                <a:tc>
                  <a:txBody>
                    <a:bodyPr/>
                    <a:lstStyle/>
                    <a:p>
                      <a:r>
                        <a:rPr lang="de-DE" dirty="0" smtClean="0">
                          <a:solidFill>
                            <a:schemeClr val="tx1"/>
                          </a:solidFill>
                        </a:rPr>
                        <a:t>=&gt; (A XOR B) ist </a:t>
                      </a:r>
                      <a:r>
                        <a:rPr lang="de-DE" b="1" dirty="0" smtClean="0">
                          <a:solidFill>
                            <a:schemeClr val="accent2"/>
                          </a:solidFill>
                        </a:rPr>
                        <a:t>wahr</a:t>
                      </a:r>
                      <a:endParaRPr lang="de-DE" b="1" dirty="0">
                        <a:solidFill>
                          <a:schemeClr val="accent2"/>
                        </a:solidFill>
                      </a:endParaRPr>
                    </a:p>
                  </a:txBody>
                  <a:tcPr/>
                </a:tc>
                <a:tc>
                  <a:txBody>
                    <a:bodyPr/>
                    <a:lstStyle/>
                    <a:p>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6544035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212130"/>
            <a:ext cx="10976311" cy="584775"/>
          </a:xfrm>
          <a:prstGeom prst="rect">
            <a:avLst/>
          </a:prstGeom>
          <a:noFill/>
        </p:spPr>
        <p:txBody>
          <a:bodyPr wrap="square" rtlCol="0">
            <a:spAutoFit/>
          </a:bodyPr>
          <a:lstStyle/>
          <a:p>
            <a:pPr lvl="0">
              <a:defRPr/>
            </a:pPr>
            <a:r>
              <a:rPr lang="de-DE" sz="2400" dirty="0">
                <a:solidFill>
                  <a:srgbClr val="0071B2"/>
                </a:solidFill>
                <a:latin typeface="Source Sans Pro" panose="020B0503030403020204" pitchFamily="34" charset="0"/>
              </a:rPr>
              <a:t>Die XOR-Verknüpfung ist </a:t>
            </a:r>
            <a:r>
              <a:rPr lang="de-DE" sz="2400" b="1" dirty="0">
                <a:solidFill>
                  <a:srgbClr val="0071B2"/>
                </a:solidFill>
                <a:latin typeface="Source Sans Pro" panose="020B0503030403020204" pitchFamily="34" charset="0"/>
              </a:rPr>
              <a:t>nur dann wahr</a:t>
            </a:r>
            <a:r>
              <a:rPr lang="de-DE" sz="2400" dirty="0">
                <a:solidFill>
                  <a:srgbClr val="0071B2"/>
                </a:solidFill>
                <a:latin typeface="Source Sans Pro" panose="020B0503030403020204" pitchFamily="34" charset="0"/>
              </a:rPr>
              <a:t>, wenn </a:t>
            </a:r>
            <a:r>
              <a:rPr lang="de-DE" sz="2400" b="1" dirty="0">
                <a:solidFill>
                  <a:srgbClr val="0071B2"/>
                </a:solidFill>
                <a:latin typeface="Source Sans Pro" panose="020B0503030403020204" pitchFamily="34" charset="0"/>
              </a:rPr>
              <a:t>genau 1 Teilaussage</a:t>
            </a:r>
            <a:r>
              <a:rPr lang="de-DE" sz="2400"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wahr </a:t>
            </a:r>
            <a:r>
              <a:rPr lang="de-DE" sz="2400" dirty="0">
                <a:solidFill>
                  <a:srgbClr val="0071B2"/>
                </a:solidFill>
                <a:latin typeface="Source Sans Pro" panose="020B0503030403020204" pitchFamily="34" charset="0"/>
              </a:rPr>
              <a:t>ist.</a:t>
            </a:r>
          </a:p>
          <a:p>
            <a:pPr lvl="0">
              <a:defRPr/>
            </a:pPr>
            <a:endParaRPr lang="de-DE" sz="800" dirty="0" smtClean="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solidFill>
                  <a:schemeClr val="accent2"/>
                </a:solidFill>
                <a:latin typeface="Source Sans Pro" panose="020B0503030403020204" pitchFamily="34" charset="0"/>
              </a:rPr>
              <a:t>XOR </a:t>
            </a:r>
            <a:r>
              <a:rPr lang="de-DE" sz="2900" dirty="0" smtClean="0">
                <a:latin typeface="Source Sans Pro" panose="020B0503030403020204" pitchFamily="34" charset="0"/>
              </a:rPr>
              <a:t>(Entweder-Oder-Verknüpfung)</a:t>
            </a:r>
            <a:endParaRPr lang="de-DE" sz="2900" b="0" i="1" dirty="0">
              <a:latin typeface="Source Sans Pro" panose="020B0503030403020204" pitchFamily="34" charset="0"/>
            </a:endParaRPr>
          </a:p>
        </p:txBody>
      </p:sp>
      <p:graphicFrame>
        <p:nvGraphicFramePr>
          <p:cNvPr id="2" name="Tabelle 1"/>
          <p:cNvGraphicFramePr>
            <a:graphicFrameLocks noGrp="1"/>
          </p:cNvGraphicFramePr>
          <p:nvPr>
            <p:extLst>
              <p:ext uri="{D42A27DB-BD31-4B8C-83A1-F6EECF244321}">
                <p14:modId xmlns:p14="http://schemas.microsoft.com/office/powerpoint/2010/main" val="639197770"/>
              </p:ext>
            </p:extLst>
          </p:nvPr>
        </p:nvGraphicFramePr>
        <p:xfrm>
          <a:off x="3382526" y="2486467"/>
          <a:ext cx="5858447" cy="1112520"/>
        </p:xfrm>
        <a:graphic>
          <a:graphicData uri="http://schemas.openxmlformats.org/drawingml/2006/table">
            <a:tbl>
              <a:tblPr firstRow="1" bandRow="1">
                <a:tableStyleId>{5C22544A-7EE6-4342-B048-85BDC9FD1C3A}</a:tableStyleId>
              </a:tblPr>
              <a:tblGrid>
                <a:gridCol w="1237107">
                  <a:extLst>
                    <a:ext uri="{9D8B030D-6E8A-4147-A177-3AD203B41FA5}">
                      <a16:colId xmlns:a16="http://schemas.microsoft.com/office/drawing/2014/main" val="2114805183"/>
                    </a:ext>
                  </a:extLst>
                </a:gridCol>
                <a:gridCol w="2304733">
                  <a:extLst>
                    <a:ext uri="{9D8B030D-6E8A-4147-A177-3AD203B41FA5}">
                      <a16:colId xmlns:a16="http://schemas.microsoft.com/office/drawing/2014/main" val="3942113211"/>
                    </a:ext>
                  </a:extLst>
                </a:gridCol>
                <a:gridCol w="2316607">
                  <a:extLst>
                    <a:ext uri="{9D8B030D-6E8A-4147-A177-3AD203B41FA5}">
                      <a16:colId xmlns:a16="http://schemas.microsoft.com/office/drawing/2014/main" val="361846191"/>
                    </a:ext>
                  </a:extLst>
                </a:gridCol>
              </a:tblGrid>
              <a:tr h="370840">
                <a:tc>
                  <a:txBody>
                    <a:bodyPr/>
                    <a:lstStyle/>
                    <a:p>
                      <a:endParaRPr lang="de-DE" dirty="0"/>
                    </a:p>
                  </a:txBody>
                  <a:tcPr/>
                </a:tc>
                <a:tc>
                  <a:txBody>
                    <a:bodyPr/>
                    <a:lstStyle/>
                    <a:p>
                      <a:pPr algn="ctr"/>
                      <a:r>
                        <a:rPr lang="de-DE" dirty="0" smtClean="0"/>
                        <a:t>A ist wahr</a:t>
                      </a:r>
                      <a:endParaRPr lang="de-DE" dirty="0"/>
                    </a:p>
                  </a:txBody>
                  <a:tcPr/>
                </a:tc>
                <a:tc>
                  <a:txBody>
                    <a:bodyPr/>
                    <a:lstStyle/>
                    <a:p>
                      <a:pPr algn="ctr"/>
                      <a:r>
                        <a:rPr lang="de-DE" dirty="0" smtClean="0"/>
                        <a:t>A ist </a:t>
                      </a:r>
                      <a:r>
                        <a:rPr lang="de-DE" dirty="0" smtClean="0">
                          <a:solidFill>
                            <a:schemeClr val="accent2"/>
                          </a:solidFill>
                        </a:rPr>
                        <a:t>falsch</a:t>
                      </a:r>
                      <a:endParaRPr lang="de-DE" dirty="0">
                        <a:solidFill>
                          <a:schemeClr val="accent2"/>
                        </a:solidFill>
                      </a:endParaRPr>
                    </a:p>
                  </a:txBody>
                  <a:tcPr/>
                </a:tc>
                <a:extLst>
                  <a:ext uri="{0D108BD9-81ED-4DB2-BD59-A6C34878D82A}">
                    <a16:rowId xmlns:a16="http://schemas.microsoft.com/office/drawing/2014/main" val="2127298113"/>
                  </a:ext>
                </a:extLst>
              </a:tr>
              <a:tr h="370840">
                <a:tc>
                  <a:txBody>
                    <a:bodyPr/>
                    <a:lstStyle/>
                    <a:p>
                      <a:r>
                        <a:rPr lang="de-DE" b="1" dirty="0" smtClean="0"/>
                        <a:t>B ist wahr</a:t>
                      </a:r>
                      <a:endParaRPr lang="de-DE" b="1" dirty="0"/>
                    </a:p>
                  </a:txBody>
                  <a:tcPr/>
                </a:tc>
                <a:tc>
                  <a:txBody>
                    <a:bodyPr/>
                    <a:lstStyle/>
                    <a:p>
                      <a:r>
                        <a:rPr lang="de-DE" dirty="0" smtClean="0">
                          <a:solidFill>
                            <a:schemeClr val="bg2">
                              <a:lumMod val="75000"/>
                            </a:schemeClr>
                          </a:solidFill>
                        </a:rPr>
                        <a:t>=&gt; (A XOR B) ist falsch</a:t>
                      </a:r>
                      <a:endParaRPr lang="de-DE" dirty="0">
                        <a:solidFill>
                          <a:schemeClr val="bg2">
                            <a:lumMod val="75000"/>
                          </a:schemeClr>
                        </a:solidFill>
                      </a:endParaRPr>
                    </a:p>
                  </a:txBody>
                  <a:tcPr/>
                </a:tc>
                <a:tc>
                  <a:txBody>
                    <a:bodyPr/>
                    <a:lstStyle/>
                    <a:p>
                      <a:r>
                        <a:rPr lang="de-DE" dirty="0" smtClean="0">
                          <a:solidFill>
                            <a:schemeClr val="bg2">
                              <a:lumMod val="75000"/>
                            </a:schemeClr>
                          </a:solidFill>
                        </a:rPr>
                        <a:t>=&gt; (A XOR B) ist wahr</a:t>
                      </a:r>
                      <a:endParaRPr lang="de-DE" dirty="0">
                        <a:solidFill>
                          <a:schemeClr val="bg2">
                            <a:lumMod val="75000"/>
                          </a:schemeClr>
                        </a:solidFill>
                      </a:endParaRPr>
                    </a:p>
                  </a:txBody>
                  <a:tcPr/>
                </a:tc>
                <a:extLst>
                  <a:ext uri="{0D108BD9-81ED-4DB2-BD59-A6C34878D82A}">
                    <a16:rowId xmlns:a16="http://schemas.microsoft.com/office/drawing/2014/main" val="1989669962"/>
                  </a:ext>
                </a:extLst>
              </a:tr>
              <a:tr h="370840">
                <a:tc>
                  <a:txBody>
                    <a:bodyPr/>
                    <a:lstStyle/>
                    <a:p>
                      <a:r>
                        <a:rPr lang="de-DE" b="1" dirty="0" smtClean="0"/>
                        <a:t>B ist </a:t>
                      </a:r>
                      <a:r>
                        <a:rPr lang="de-DE" b="1" dirty="0" smtClean="0">
                          <a:solidFill>
                            <a:schemeClr val="accent2"/>
                          </a:solidFill>
                        </a:rPr>
                        <a:t>falsch</a:t>
                      </a:r>
                      <a:endParaRPr lang="de-DE" b="1" dirty="0">
                        <a:solidFill>
                          <a:schemeClr val="accent2"/>
                        </a:solidFill>
                      </a:endParaRPr>
                    </a:p>
                  </a:txBody>
                  <a:tcPr/>
                </a:tc>
                <a:tc>
                  <a:txBody>
                    <a:bodyPr/>
                    <a:lstStyle/>
                    <a:p>
                      <a:r>
                        <a:rPr lang="de-DE" dirty="0" smtClean="0">
                          <a:solidFill>
                            <a:schemeClr val="bg2">
                              <a:lumMod val="75000"/>
                            </a:schemeClr>
                          </a:solidFill>
                        </a:rPr>
                        <a:t>=&gt; (A XOR B) ist wahr</a:t>
                      </a:r>
                      <a:endParaRPr lang="de-DE" dirty="0">
                        <a:solidFill>
                          <a:schemeClr val="bg2">
                            <a:lumMod val="75000"/>
                          </a:schemeClr>
                        </a:solidFill>
                      </a:endParaRPr>
                    </a:p>
                  </a:txBody>
                  <a:tcPr/>
                </a:tc>
                <a:tc>
                  <a:txBody>
                    <a:bodyPr/>
                    <a:lstStyle/>
                    <a:p>
                      <a:r>
                        <a:rPr lang="de-DE" dirty="0" smtClean="0"/>
                        <a:t>=&gt; (A XOR B) ist </a:t>
                      </a:r>
                      <a:r>
                        <a:rPr lang="de-DE" b="1" dirty="0" smtClean="0">
                          <a:solidFill>
                            <a:schemeClr val="accent2"/>
                          </a:solidFill>
                        </a:rPr>
                        <a:t>falsch</a:t>
                      </a:r>
                      <a:endParaRPr lang="de-DE" b="1" dirty="0">
                        <a:solidFill>
                          <a:schemeClr val="accent2"/>
                        </a:solidFill>
                      </a:endParaRPr>
                    </a:p>
                  </a:txBody>
                  <a:tcPr/>
                </a:tc>
                <a:extLst>
                  <a:ext uri="{0D108BD9-81ED-4DB2-BD59-A6C34878D82A}">
                    <a16:rowId xmlns:a16="http://schemas.microsoft.com/office/drawing/2014/main" val="143681505"/>
                  </a:ext>
                </a:extLst>
              </a:tr>
            </a:tbl>
          </a:graphicData>
        </a:graphic>
      </p:graphicFrame>
    </p:spTree>
    <p:extLst>
      <p:ext uri="{BB962C8B-B14F-4D97-AF65-F5344CB8AC3E}">
        <p14:creationId xmlns:p14="http://schemas.microsoft.com/office/powerpoint/2010/main" val="16555743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61259" y="1628776"/>
            <a:ext cx="11096444" cy="409342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Wir fordern oft Bedingungen, die entweder </a:t>
            </a:r>
            <a:r>
              <a:rPr lang="de-DE" sz="2400" b="1" dirty="0" smtClean="0">
                <a:solidFill>
                  <a:srgbClr val="0071B2"/>
                </a:solidFill>
                <a:latin typeface="Source Sans Pro" panose="020B0503030403020204" pitchFamily="34" charset="0"/>
              </a:rPr>
              <a:t>beide gemeinsam </a:t>
            </a:r>
            <a:r>
              <a:rPr lang="de-DE" sz="2400" dirty="0" smtClean="0">
                <a:solidFill>
                  <a:srgbClr val="0071B2"/>
                </a:solidFill>
                <a:latin typeface="Source Sans Pro" panose="020B0503030403020204" pitchFamily="34" charset="0"/>
              </a:rPr>
              <a:t>erfüllt sein müssen</a:t>
            </a:r>
            <a:r>
              <a:rPr lang="de-DE" sz="2400" dirty="0">
                <a:solidFill>
                  <a:srgbClr val="0071B2"/>
                </a:solidFill>
                <a:latin typeface="Source Sans Pro" panose="020B0503030403020204" pitchFamily="34" charset="0"/>
              </a:rPr>
              <a:t>, </a:t>
            </a:r>
            <a:r>
              <a:rPr lang="de-DE" sz="2400" dirty="0" smtClean="0">
                <a:solidFill>
                  <a:srgbClr val="0071B2"/>
                </a:solidFill>
                <a:latin typeface="Source Sans Pro" panose="020B0503030403020204" pitchFamily="34" charset="0"/>
              </a:rPr>
              <a:t>oder bei denen es uns reicht, wenn </a:t>
            </a:r>
            <a:r>
              <a:rPr lang="de-DE" sz="2400" b="1" dirty="0" smtClean="0">
                <a:solidFill>
                  <a:srgbClr val="0071B2"/>
                </a:solidFill>
                <a:latin typeface="Source Sans Pro" panose="020B0503030403020204" pitchFamily="34" charset="0"/>
              </a:rPr>
              <a:t>mindestens 1 Bedingung </a:t>
            </a:r>
            <a:r>
              <a:rPr lang="de-DE" sz="2400" dirty="0" smtClean="0">
                <a:solidFill>
                  <a:srgbClr val="0071B2"/>
                </a:solidFill>
                <a:latin typeface="Source Sans Pro" panose="020B0503030403020204" pitchFamily="34" charset="0"/>
              </a:rPr>
              <a:t>zutrifft, Beispiele:</a:t>
            </a:r>
          </a:p>
          <a:p>
            <a:pPr lvl="0">
              <a:defRPr/>
            </a:pPr>
            <a:endParaRPr lang="de-DE" sz="800" dirty="0" smtClean="0">
              <a:solidFill>
                <a:srgbClr val="0071B2"/>
              </a:solidFill>
              <a:latin typeface="Source Sans Pro" panose="020B0503030403020204" pitchFamily="34" charset="0"/>
            </a:endParaRPr>
          </a:p>
          <a:p>
            <a:pPr marL="742950" lvl="1" indent="-285750">
              <a:buFont typeface="Wingdings" panose="05000000000000000000" pitchFamily="2" charset="2"/>
              <a:buChar char="Ø"/>
              <a:defRPr/>
            </a:pPr>
            <a:r>
              <a:rPr lang="de-DE" dirty="0" smtClean="0">
                <a:solidFill>
                  <a:srgbClr val="0071B2"/>
                </a:solidFill>
                <a:latin typeface="Source Sans Pro" panose="020B0503030403020204" pitchFamily="34" charset="0"/>
              </a:rPr>
              <a:t>Man besteht die Fahrprüfung, wenn man die schriftliche </a:t>
            </a:r>
            <a:r>
              <a:rPr lang="de-DE" u="sng" dirty="0" smtClean="0">
                <a:solidFill>
                  <a:srgbClr val="0071B2"/>
                </a:solidFill>
                <a:latin typeface="Source Sans Pro" panose="020B0503030403020204" pitchFamily="34" charset="0"/>
              </a:rPr>
              <a:t>UND</a:t>
            </a:r>
            <a:r>
              <a:rPr lang="de-DE" dirty="0" smtClean="0">
                <a:solidFill>
                  <a:srgbClr val="0071B2"/>
                </a:solidFill>
                <a:latin typeface="Source Sans Pro" panose="020B0503030403020204" pitchFamily="34" charset="0"/>
              </a:rPr>
              <a:t> die praktische Prüfung bestanden hat.</a:t>
            </a:r>
          </a:p>
          <a:p>
            <a:pPr marL="742950" lvl="1" indent="-285750">
              <a:buFont typeface="Wingdings" panose="05000000000000000000" pitchFamily="2" charset="2"/>
              <a:buChar char="Ø"/>
              <a:defRPr/>
            </a:pPr>
            <a:r>
              <a:rPr lang="de-DE" dirty="0" smtClean="0">
                <a:solidFill>
                  <a:srgbClr val="0071B2"/>
                </a:solidFill>
                <a:latin typeface="Source Sans Pro" panose="020B0503030403020204" pitchFamily="34" charset="0"/>
              </a:rPr>
              <a:t>Ein Fußballtrainer gewinnt einen Titel, wenn er Deutscher Meister wird </a:t>
            </a:r>
            <a:r>
              <a:rPr lang="de-DE" u="sng" dirty="0" smtClean="0">
                <a:solidFill>
                  <a:srgbClr val="0071B2"/>
                </a:solidFill>
                <a:latin typeface="Source Sans Pro" panose="020B0503030403020204" pitchFamily="34" charset="0"/>
              </a:rPr>
              <a:t>ODER</a:t>
            </a:r>
            <a:r>
              <a:rPr lang="de-DE" dirty="0" smtClean="0">
                <a:solidFill>
                  <a:srgbClr val="0071B2"/>
                </a:solidFill>
                <a:latin typeface="Source Sans Pro" panose="020B0503030403020204" pitchFamily="34" charset="0"/>
              </a:rPr>
              <a:t> den Pokal gewinnt.</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Eher ungewöhnlich wäre es hingegen, wenn wir behaupten, dass ein Trainer </a:t>
            </a:r>
            <a:r>
              <a:rPr kumimoji="0" lang="de-DE" sz="2400" b="0" i="0" u="sng"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keinen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Titel verdient hat, „weil“ er Deutscher Meister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UND</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lang="de-DE" sz="2400" dirty="0" smtClean="0">
                <a:solidFill>
                  <a:srgbClr val="0071B2"/>
                </a:solidFill>
                <a:latin typeface="Source Sans Pro" panose="020B0503030403020204" pitchFamily="34" charset="0"/>
              </a:rPr>
              <a:t>P</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okalsieger wurde</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Ein anderer Grund für den seltenen Bedarf der XOR-Verknüpfung ist, dass wir nicht selten Bedingungen betrachten, die sich </a:t>
            </a:r>
            <a:r>
              <a:rPr lang="de-DE" sz="2400" b="1" dirty="0" smtClean="0">
                <a:solidFill>
                  <a:srgbClr val="0071B2"/>
                </a:solidFill>
                <a:latin typeface="Source Sans Pro" panose="020B0503030403020204" pitchFamily="34" charset="0"/>
              </a:rPr>
              <a:t>gegenseitig ausschließen</a:t>
            </a:r>
            <a:r>
              <a:rPr lang="de-DE" sz="2400" dirty="0" smtClean="0">
                <a:solidFill>
                  <a:srgbClr val="0071B2"/>
                </a:solidFill>
                <a:latin typeface="Source Sans Pro" panose="020B0503030403020204" pitchFamily="34" charset="0"/>
              </a:rPr>
              <a:t>. In diesem Fall ist dann aber die Verwendung von OR und XOR ohne Unterschied.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Gründe, warum XOR </a:t>
            </a:r>
            <a:r>
              <a:rPr lang="de-DE" sz="4000" dirty="0" smtClean="0">
                <a:solidFill>
                  <a:schemeClr val="accent2"/>
                </a:solidFill>
                <a:latin typeface="Source Sans Pro" panose="020B0503030403020204" pitchFamily="34" charset="0"/>
              </a:rPr>
              <a:t>selten gebraucht </a:t>
            </a:r>
            <a:r>
              <a:rPr lang="de-DE" sz="4000" dirty="0" smtClean="0">
                <a:latin typeface="Source Sans Pro" panose="020B0503030403020204" pitchFamily="34" charset="0"/>
              </a:rPr>
              <a:t>wird</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58028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52946" y="1985963"/>
            <a:ext cx="11234006" cy="236988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000" dirty="0" smtClean="0">
                <a:solidFill>
                  <a:srgbClr val="0071B2"/>
                </a:solidFill>
                <a:latin typeface="Source Sans Pro" panose="020B0503030403020204" pitchFamily="34" charset="0"/>
              </a:rPr>
              <a:t>Wie können die Verknüpfung </a:t>
            </a:r>
            <a:r>
              <a:rPr lang="de-DE" sz="2000" b="1" dirty="0" smtClean="0">
                <a:solidFill>
                  <a:srgbClr val="0071B2"/>
                </a:solidFill>
                <a:latin typeface="Source Sans Pro" panose="020B0503030403020204" pitchFamily="34" charset="0"/>
              </a:rPr>
              <a:t>A XOR B </a:t>
            </a:r>
            <a:r>
              <a:rPr lang="de-DE" sz="2000" dirty="0" smtClean="0">
                <a:solidFill>
                  <a:srgbClr val="0071B2"/>
                </a:solidFill>
                <a:latin typeface="Source Sans Pro" panose="020B0503030403020204" pitchFamily="34" charset="0"/>
              </a:rPr>
              <a:t>gleichwertig durch </a:t>
            </a:r>
            <a:r>
              <a:rPr lang="de-DE" sz="2000" b="1" dirty="0" smtClean="0">
                <a:solidFill>
                  <a:srgbClr val="0071B2"/>
                </a:solidFill>
                <a:latin typeface="Source Sans Pro" panose="020B0503030403020204" pitchFamily="34" charset="0"/>
              </a:rPr>
              <a:t>(A AND NOT B) OR (NOT A AND B) </a:t>
            </a:r>
            <a:r>
              <a:rPr lang="de-DE" sz="2000" dirty="0" smtClean="0">
                <a:solidFill>
                  <a:srgbClr val="0071B2"/>
                </a:solidFill>
                <a:latin typeface="Source Sans Pro" panose="020B0503030403020204" pitchFamily="34" charset="0"/>
              </a:rPr>
              <a:t>ersetzen. Aus dieser Sicht ist also </a:t>
            </a:r>
            <a:r>
              <a:rPr lang="de-DE" sz="2000" b="1" dirty="0" smtClean="0">
                <a:solidFill>
                  <a:srgbClr val="0071B2"/>
                </a:solidFill>
                <a:latin typeface="Source Sans Pro" panose="020B0503030403020204" pitchFamily="34" charset="0"/>
              </a:rPr>
              <a:t>XOR</a:t>
            </a:r>
            <a:r>
              <a:rPr lang="de-DE" sz="2000" dirty="0" smtClean="0">
                <a:solidFill>
                  <a:srgbClr val="0071B2"/>
                </a:solidFill>
                <a:latin typeface="Source Sans Pro" panose="020B0503030403020204" pitchFamily="34" charset="0"/>
              </a:rPr>
              <a:t> aus AND, OR und NOT herleitbar und daher </a:t>
            </a:r>
            <a:r>
              <a:rPr lang="de-DE" sz="2000" b="1" dirty="0" smtClean="0">
                <a:solidFill>
                  <a:srgbClr val="0071B2"/>
                </a:solidFill>
                <a:latin typeface="Source Sans Pro" panose="020B0503030403020204" pitchFamily="34" charset="0"/>
              </a:rPr>
              <a:t>redundant</a:t>
            </a:r>
            <a:r>
              <a:rPr lang="de-DE" sz="2000" dirty="0" smtClean="0">
                <a:solidFill>
                  <a:srgbClr val="0071B2"/>
                </a:solidFill>
                <a:latin typeface="Source Sans Pro" panose="020B0503030403020204" pitchFamily="34" charset="0"/>
              </a:rPr>
              <a:t>.</a:t>
            </a:r>
          </a:p>
          <a:p>
            <a:pPr lvl="0">
              <a:defRPr/>
            </a:pPr>
            <a:endParaRPr lang="de-DE" sz="800" dirty="0" smtClean="0">
              <a:solidFill>
                <a:srgbClr val="0071B2"/>
              </a:solidFill>
              <a:latin typeface="Source Sans Pro" panose="020B0503030403020204" pitchFamily="34" charset="0"/>
            </a:endParaRPr>
          </a:p>
          <a:p>
            <a:pPr marL="342900" lvl="0" indent="-342900">
              <a:buFont typeface="Arial" panose="020B0604020202020204" pitchFamily="34" charset="0"/>
              <a:buChar char="•"/>
              <a:defRPr/>
            </a:pPr>
            <a:r>
              <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rPr>
              <a:t>Dennoch ist es natürlich deutlich </a:t>
            </a:r>
            <a:r>
              <a:rPr kumimoji="0" lang="de-DE" sz="2000" b="1" i="0" u="none" strike="noStrike" kern="1200" cap="none" spc="0" normalizeH="0" noProof="0" dirty="0" smtClean="0">
                <a:ln>
                  <a:noFill/>
                </a:ln>
                <a:solidFill>
                  <a:srgbClr val="0071B2"/>
                </a:solidFill>
                <a:effectLst/>
                <a:uLnTx/>
                <a:uFillTx/>
                <a:latin typeface="Source Sans Pro" panose="020B0503030403020204" pitchFamily="34" charset="0"/>
              </a:rPr>
              <a:t>übersichtlicher</a:t>
            </a:r>
            <a:r>
              <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rPr>
              <a:t>, mit XOR zu arbeiten.</a:t>
            </a:r>
          </a:p>
          <a:p>
            <a:pPr lvl="0">
              <a:defRPr/>
            </a:pPr>
            <a:endParaRPr kumimoji="0" lang="de-DE" sz="800" i="0" u="none" strike="noStrike" kern="1200" cap="none" spc="0" normalizeH="0" noProof="0" dirty="0" smtClean="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000" dirty="0">
                <a:solidFill>
                  <a:srgbClr val="0071B2"/>
                </a:solidFill>
                <a:latin typeface="Source Sans Pro" panose="020B0503030403020204" pitchFamily="34" charset="0"/>
              </a:rPr>
              <a:t>W</a:t>
            </a:r>
            <a:r>
              <a:rPr lang="de-DE" sz="2000" dirty="0" smtClean="0">
                <a:solidFill>
                  <a:srgbClr val="0071B2"/>
                </a:solidFill>
                <a:latin typeface="Source Sans Pro" panose="020B0503030403020204" pitchFamily="34" charset="0"/>
              </a:rPr>
              <a:t>ir werden bei den heutigen Übungsaufgaben allerdings Problemstellungen kennen lernen, die deutlich machen, dass die alternative Schreibweise gelegentlich </a:t>
            </a:r>
            <a:r>
              <a:rPr lang="de-DE" sz="2000" b="1" dirty="0" smtClean="0">
                <a:solidFill>
                  <a:srgbClr val="0071B2"/>
                </a:solidFill>
                <a:latin typeface="Source Sans Pro" panose="020B0503030403020204" pitchFamily="34" charset="0"/>
              </a:rPr>
              <a:t>unverzichtbar</a:t>
            </a:r>
            <a:r>
              <a:rPr lang="de-DE" sz="2000" dirty="0" smtClean="0">
                <a:solidFill>
                  <a:srgbClr val="0071B2"/>
                </a:solidFill>
                <a:latin typeface="Source Sans Pro" panose="020B0503030403020204" pitchFamily="34" charset="0"/>
              </a:rPr>
              <a:t> ist. </a:t>
            </a:r>
            <a:endPar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Nachweis der </a:t>
            </a:r>
            <a:r>
              <a:rPr lang="de-DE" sz="4000" dirty="0" smtClean="0">
                <a:solidFill>
                  <a:schemeClr val="accent2"/>
                </a:solidFill>
                <a:latin typeface="Source Sans Pro" panose="020B0503030403020204" pitchFamily="34" charset="0"/>
              </a:rPr>
              <a:t>Redundanz </a:t>
            </a:r>
            <a:r>
              <a:rPr lang="de-DE" sz="4000" dirty="0" smtClean="0">
                <a:latin typeface="Source Sans Pro" panose="020B0503030403020204" pitchFamily="34" charset="0"/>
              </a:rPr>
              <a:t>von XOR</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10954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000" dirty="0" smtClean="0">
                <a:latin typeface="Source Sans Pro" panose="020B0503030403020204" pitchFamily="34" charset="0"/>
              </a:rPr>
              <a:t>Stolperfallen</a:t>
            </a:r>
            <a:endParaRPr lang="de-DE" sz="6000" dirty="0">
              <a:latin typeface="Source Sans Pro" panose="020B0503030403020204" pitchFamily="34" charset="0"/>
            </a:endParaRPr>
          </a:p>
        </p:txBody>
      </p:sp>
    </p:spTree>
    <p:extLst>
      <p:ext uri="{BB962C8B-B14F-4D97-AF65-F5344CB8AC3E}">
        <p14:creationId xmlns:p14="http://schemas.microsoft.com/office/powerpoint/2010/main" val="16140929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61259" y="1818959"/>
            <a:ext cx="10976311" cy="138499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Beispiel: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Der Kunde mit ID=1 </a:t>
            </a:r>
            <a:r>
              <a:rPr kumimoji="0" lang="de-DE" sz="2400" b="1" i="0" u="none" strike="noStrike" kern="1200" cap="none" spc="0" normalizeH="0" noProof="0" dirty="0" smtClean="0">
                <a:ln>
                  <a:noFill/>
                </a:ln>
                <a:solidFill>
                  <a:schemeClr val="accent2"/>
                </a:solidFill>
                <a:effectLst/>
                <a:uLnTx/>
                <a:uFillTx/>
                <a:latin typeface="Source Sans Pro" panose="020B0503030403020204" pitchFamily="34" charset="0"/>
                <a:ea typeface="+mn-ea"/>
                <a:cs typeface="+mn-cs"/>
              </a:rPr>
              <a:t>und</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der </a:t>
            </a:r>
            <a:r>
              <a:rPr lang="de-DE" sz="2400" dirty="0" smtClean="0">
                <a:solidFill>
                  <a:srgbClr val="0071B2"/>
                </a:solidFill>
                <a:latin typeface="Source Sans Pro" panose="020B0503030403020204" pitchFamily="34" charset="0"/>
              </a:rPr>
              <a:t>Kunde</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mit ID=3 sollen gelöscht werden:</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DELETE FROM </a:t>
            </a:r>
            <a:r>
              <a:rPr kumimoji="0" lang="de-DE" sz="28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Kunde</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WHERE </a:t>
            </a:r>
            <a:r>
              <a:rPr kumimoji="0" lang="de-DE" sz="28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Kunde_ID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1</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chemeClr val="accent2"/>
                </a:solidFill>
                <a:effectLst/>
                <a:uLnTx/>
                <a:uFillTx/>
                <a:latin typeface="Source Sans Pro" panose="020B0503030403020204" pitchFamily="34" charset="0"/>
                <a:ea typeface="+mn-ea"/>
                <a:cs typeface="+mn-cs"/>
              </a:rPr>
              <a:t>OR</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Kunde_ID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3</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p>
        </p:txBody>
      </p:sp>
      <p:sp>
        <p:nvSpPr>
          <p:cNvPr id="8" name="Titel 10"/>
          <p:cNvSpPr txBox="1">
            <a:spLocks/>
          </p:cNvSpPr>
          <p:nvPr/>
        </p:nvSpPr>
        <p:spPr>
          <a:xfrm>
            <a:off x="420609" y="383340"/>
            <a:ext cx="11233835" cy="72072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2400" dirty="0" smtClean="0">
                <a:latin typeface="Source Sans Pro" panose="020B0503030403020204" pitchFamily="34" charset="0"/>
              </a:rPr>
              <a:t>Unterschiedliche Verwendung von </a:t>
            </a:r>
            <a:r>
              <a:rPr lang="de-DE" sz="2400" dirty="0" smtClean="0">
                <a:solidFill>
                  <a:schemeClr val="accent2"/>
                </a:solidFill>
                <a:latin typeface="Source Sans Pro" panose="020B0503030403020204" pitchFamily="34" charset="0"/>
              </a:rPr>
              <a:t>UND</a:t>
            </a:r>
            <a:r>
              <a:rPr lang="de-DE" sz="2400" dirty="0" smtClean="0">
                <a:latin typeface="Source Sans Pro" panose="020B0503030403020204" pitchFamily="34" charset="0"/>
              </a:rPr>
              <a:t> und </a:t>
            </a:r>
            <a:r>
              <a:rPr lang="de-DE" sz="2400" dirty="0" smtClean="0">
                <a:solidFill>
                  <a:schemeClr val="accent2"/>
                </a:solidFill>
                <a:latin typeface="Source Sans Pro" panose="020B0503030403020204" pitchFamily="34" charset="0"/>
              </a:rPr>
              <a:t>ODER</a:t>
            </a:r>
            <a:r>
              <a:rPr lang="de-DE" sz="2400" dirty="0" smtClean="0">
                <a:latin typeface="Source Sans Pro" panose="020B0503030403020204" pitchFamily="34" charset="0"/>
              </a:rPr>
              <a:t> in Aufgabenstellung und Lösung</a:t>
            </a:r>
            <a:endParaRPr lang="de-DE" sz="2400" b="0" i="1" dirty="0">
              <a:latin typeface="Source Sans Pro" panose="020B0503030403020204" pitchFamily="34" charset="0"/>
            </a:endParaRPr>
          </a:p>
        </p:txBody>
      </p:sp>
      <p:sp>
        <p:nvSpPr>
          <p:cNvPr id="7" name="Rechteck 6"/>
          <p:cNvSpPr/>
          <p:nvPr/>
        </p:nvSpPr>
        <p:spPr>
          <a:xfrm>
            <a:off x="174538" y="3266902"/>
            <a:ext cx="11870575" cy="2635134"/>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b="1" dirty="0" smtClean="0">
              <a:solidFill>
                <a:schemeClr val="accent2"/>
              </a:solidFill>
            </a:endParaRPr>
          </a:p>
          <a:p>
            <a:pPr algn="ctr"/>
            <a:r>
              <a:rPr lang="de-DE" b="1" dirty="0" smtClean="0">
                <a:solidFill>
                  <a:schemeClr val="tx1"/>
                </a:solidFill>
                <a:latin typeface="Source Sans Pro" panose="020B0503030403020204" pitchFamily="34" charset="0"/>
              </a:rPr>
              <a:t>Erläuterung:</a:t>
            </a:r>
          </a:p>
          <a:p>
            <a:pPr algn="ctr"/>
            <a:endParaRPr lang="de-DE" sz="1400" b="1" dirty="0" smtClean="0">
              <a:solidFill>
                <a:schemeClr val="accent2"/>
              </a:solidFill>
              <a:latin typeface="Source Sans Pro" panose="020B0503030403020204" pitchFamily="34" charset="0"/>
            </a:endParaRPr>
          </a:p>
          <a:p>
            <a:pPr algn="ctr"/>
            <a:r>
              <a:rPr lang="de-DE" sz="1400" dirty="0" smtClean="0">
                <a:solidFill>
                  <a:schemeClr val="tx1"/>
                </a:solidFill>
                <a:latin typeface="Source Sans Pro" panose="020B0503030403020204" pitchFamily="34" charset="0"/>
              </a:rPr>
              <a:t>In der Aufgabenstellung werden mit „und“ </a:t>
            </a:r>
            <a:r>
              <a:rPr lang="de-DE" sz="1400" u="sng" dirty="0" smtClean="0">
                <a:solidFill>
                  <a:schemeClr val="tx1"/>
                </a:solidFill>
                <a:latin typeface="Source Sans Pro" panose="020B0503030403020204" pitchFamily="34" charset="0"/>
              </a:rPr>
              <a:t>nicht</a:t>
            </a:r>
            <a:r>
              <a:rPr lang="de-DE" sz="1400" dirty="0" smtClean="0">
                <a:solidFill>
                  <a:schemeClr val="tx1"/>
                </a:solidFill>
                <a:latin typeface="Source Sans Pro" panose="020B0503030403020204" pitchFamily="34" charset="0"/>
              </a:rPr>
              <a:t> Bedingungen, sondern </a:t>
            </a:r>
            <a:r>
              <a:rPr lang="de-DE" sz="1400" b="1" dirty="0" smtClean="0">
                <a:solidFill>
                  <a:schemeClr val="tx1"/>
                </a:solidFill>
                <a:latin typeface="Source Sans Pro" panose="020B0503030403020204" pitchFamily="34" charset="0"/>
              </a:rPr>
              <a:t>Aufgaben</a:t>
            </a:r>
            <a:r>
              <a:rPr lang="de-DE" sz="1400" dirty="0" smtClean="0">
                <a:solidFill>
                  <a:schemeClr val="tx1"/>
                </a:solidFill>
                <a:latin typeface="Source Sans Pro" panose="020B0503030403020204" pitchFamily="34" charset="0"/>
              </a:rPr>
              <a:t> verknüpft:</a:t>
            </a:r>
          </a:p>
          <a:p>
            <a:pPr algn="ctr"/>
            <a:r>
              <a:rPr lang="de-DE" sz="1400" dirty="0" smtClean="0">
                <a:solidFill>
                  <a:schemeClr val="tx1"/>
                </a:solidFill>
                <a:latin typeface="Source Sans Pro" panose="020B0503030403020204" pitchFamily="34" charset="0"/>
              </a:rPr>
              <a:t>Der eine Kunde soll </a:t>
            </a:r>
            <a:r>
              <a:rPr lang="de-DE" sz="1400" b="1" dirty="0" smtClean="0">
                <a:solidFill>
                  <a:schemeClr val="tx1"/>
                </a:solidFill>
                <a:latin typeface="Source Sans Pro" panose="020B0503030403020204" pitchFamily="34" charset="0"/>
              </a:rPr>
              <a:t>gelöscht</a:t>
            </a:r>
            <a:r>
              <a:rPr lang="de-DE" sz="1400" dirty="0" smtClean="0">
                <a:solidFill>
                  <a:schemeClr val="tx1"/>
                </a:solidFill>
                <a:latin typeface="Source Sans Pro" panose="020B0503030403020204" pitchFamily="34" charset="0"/>
              </a:rPr>
              <a:t> werden UND der andere auch.</a:t>
            </a:r>
          </a:p>
          <a:p>
            <a:pPr algn="ctr"/>
            <a:endParaRPr lang="de-DE" sz="1400" dirty="0" smtClean="0">
              <a:solidFill>
                <a:schemeClr val="tx1"/>
              </a:solidFill>
              <a:latin typeface="Source Sans Pro" panose="020B0503030403020204" pitchFamily="34" charset="0"/>
            </a:endParaRPr>
          </a:p>
          <a:p>
            <a:pPr algn="ctr"/>
            <a:r>
              <a:rPr lang="de-DE" sz="1400" b="1" dirty="0" smtClean="0">
                <a:solidFill>
                  <a:schemeClr val="tx1"/>
                </a:solidFill>
                <a:latin typeface="Source Sans Pro" panose="020B0503030403020204" pitchFamily="34" charset="0"/>
              </a:rPr>
              <a:t>In der Lösung werden hingegen zwei Bedingungen verknüpft:</a:t>
            </a:r>
          </a:p>
          <a:p>
            <a:pPr algn="ctr"/>
            <a:r>
              <a:rPr lang="de-DE" sz="1400" dirty="0" smtClean="0">
                <a:solidFill>
                  <a:schemeClr val="tx1"/>
                </a:solidFill>
                <a:latin typeface="Source Sans Pro" panose="020B0503030403020204" pitchFamily="34" charset="0"/>
              </a:rPr>
              <a:t>Wenn wir einen Datensatz finden, der die Bedingung erfüllt, dass die Kunde_ID=1 ist </a:t>
            </a:r>
          </a:p>
          <a:p>
            <a:pPr algn="ctr"/>
            <a:r>
              <a:rPr lang="de-DE" sz="1400" dirty="0" smtClean="0">
                <a:solidFill>
                  <a:schemeClr val="tx1"/>
                </a:solidFill>
                <a:latin typeface="Source Sans Pro" panose="020B0503030403020204" pitchFamily="34" charset="0"/>
              </a:rPr>
              <a:t>ODER </a:t>
            </a:r>
          </a:p>
          <a:p>
            <a:pPr algn="ctr"/>
            <a:r>
              <a:rPr lang="de-DE" sz="1400" dirty="0">
                <a:solidFill>
                  <a:schemeClr val="tx1"/>
                </a:solidFill>
                <a:latin typeface="Source Sans Pro" panose="020B0503030403020204" pitchFamily="34" charset="0"/>
              </a:rPr>
              <a:t>w</a:t>
            </a:r>
            <a:r>
              <a:rPr lang="de-DE" sz="1400" dirty="0" smtClean="0">
                <a:solidFill>
                  <a:schemeClr val="tx1"/>
                </a:solidFill>
                <a:latin typeface="Source Sans Pro" panose="020B0503030403020204" pitchFamily="34" charset="0"/>
              </a:rPr>
              <a:t>enn wir einen Datensatz finden, der die Bedingung erfüllt, dass die Kunde_ID=5 ist, …</a:t>
            </a:r>
          </a:p>
          <a:p>
            <a:pPr algn="ctr"/>
            <a:endParaRPr lang="de-DE" sz="1400" dirty="0">
              <a:solidFill>
                <a:schemeClr val="tx1"/>
              </a:solidFill>
              <a:latin typeface="Source Sans Pro" panose="020B0503030403020204" pitchFamily="34" charset="0"/>
            </a:endParaRPr>
          </a:p>
          <a:p>
            <a:pPr algn="ctr"/>
            <a:r>
              <a:rPr lang="de-DE" sz="1400" dirty="0" smtClean="0">
                <a:solidFill>
                  <a:schemeClr val="tx1"/>
                </a:solidFill>
                <a:latin typeface="Source Sans Pro" panose="020B0503030403020204" pitchFamily="34" charset="0"/>
              </a:rPr>
              <a:t>… so ist die „Gesamt-Bedingung“ erfüllt und der entsprechende Datensatz wird gelöscht. </a:t>
            </a:r>
            <a:endParaRPr lang="de-DE" sz="1400" dirty="0">
              <a:solidFill>
                <a:schemeClr val="tx1"/>
              </a:solidFill>
              <a:latin typeface="Source Sans Pro" panose="020B0503030403020204" pitchFamily="34" charset="0"/>
            </a:endParaRPr>
          </a:p>
          <a:p>
            <a:pPr algn="ctr"/>
            <a:endParaRPr lang="de-DE" sz="1600" dirty="0" smtClean="0">
              <a:solidFill>
                <a:schemeClr val="tx1"/>
              </a:solidFill>
            </a:endParaRPr>
          </a:p>
          <a:p>
            <a:pPr algn="ctr"/>
            <a:endParaRPr lang="de-DE" sz="1200" dirty="0">
              <a:solidFill>
                <a:schemeClr val="tx1"/>
              </a:solidFill>
            </a:endParaRPr>
          </a:p>
        </p:txBody>
      </p:sp>
    </p:spTree>
    <p:extLst>
      <p:ext uri="{BB962C8B-B14F-4D97-AF65-F5344CB8AC3E}">
        <p14:creationId xmlns:p14="http://schemas.microsoft.com/office/powerpoint/2010/main" val="374404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321" y="1271590"/>
            <a:ext cx="10485860" cy="3170099"/>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smtClean="0">
                <a:solidFill>
                  <a:srgbClr val="0071B2"/>
                </a:solidFill>
                <a:latin typeface="Source Sans Pro" panose="020B0503030403020204" pitchFamily="34" charset="0"/>
              </a:rPr>
              <a:t>Gelegentlich werden in einer Aufgabenstellung nicht die Bedingungen (bzw. „Regeln“) genannt, die erfüllt sein müssen, sondern gerade umgekehrt die Ausnahmen, die eben </a:t>
            </a:r>
            <a:r>
              <a:rPr lang="de-DE" b="1" dirty="0" smtClean="0">
                <a:solidFill>
                  <a:srgbClr val="0071B2"/>
                </a:solidFill>
                <a:latin typeface="Source Sans Pro" panose="020B0503030403020204" pitchFamily="34" charset="0"/>
              </a:rPr>
              <a:t>NICHT</a:t>
            </a:r>
            <a:r>
              <a:rPr lang="de-DE" dirty="0" smtClean="0">
                <a:solidFill>
                  <a:srgbClr val="0071B2"/>
                </a:solidFill>
                <a:latin typeface="Source Sans Pro" panose="020B0503030403020204" pitchFamily="34" charset="0"/>
              </a:rPr>
              <a:t> erfüllt sein dürfen.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indent="-342900">
              <a:buFont typeface="Arial" panose="020B0604020202020204" pitchFamily="34" charset="0"/>
              <a:buChar char="•"/>
              <a:defRPr/>
            </a:pPr>
            <a:r>
              <a:rPr lang="de-DE" b="1" dirty="0" smtClean="0">
                <a:solidFill>
                  <a:srgbClr val="0071B2"/>
                </a:solidFill>
                <a:latin typeface="Source Sans Pro" panose="020B0503030403020204" pitchFamily="34" charset="0"/>
              </a:rPr>
              <a:t>Beispiel: </a:t>
            </a:r>
            <a:r>
              <a:rPr lang="de-DE" dirty="0" smtClean="0">
                <a:solidFill>
                  <a:srgbClr val="0071B2"/>
                </a:solidFill>
                <a:latin typeface="Source Sans Pro" panose="020B0503030403020204" pitchFamily="34" charset="0"/>
              </a:rPr>
              <a:t>Es sollen fast alle Abrechnungen gelöscht werden, </a:t>
            </a:r>
            <a:r>
              <a:rPr lang="de-DE" b="1" dirty="0" smtClean="0">
                <a:solidFill>
                  <a:schemeClr val="accent2"/>
                </a:solidFill>
                <a:latin typeface="Source Sans Pro" panose="020B0503030403020204" pitchFamily="34" charset="0"/>
              </a:rPr>
              <a:t>Ausnahme</a:t>
            </a:r>
            <a:r>
              <a:rPr lang="de-DE" dirty="0" smtClean="0">
                <a:solidFill>
                  <a:srgbClr val="0071B2"/>
                </a:solidFill>
                <a:latin typeface="Source Sans Pro" panose="020B0503030403020204" pitchFamily="34" charset="0"/>
              </a:rPr>
              <a:t> sind jedoch alle Abrechnungen, die von Kunden(3) stammen, oder solche Abrechnungen, die nach dem 01.01.2000 eingereicht wurden.</a:t>
            </a:r>
            <a:endParaRPr lang="de-DE" dirty="0">
              <a:solidFill>
                <a:srgbClr val="0071B2"/>
              </a:solidFill>
              <a:latin typeface="Source Sans Pro" panose="020B0503030403020204" pitchFamily="34" charset="0"/>
            </a:endParaRPr>
          </a:p>
          <a:p>
            <a:pPr lvl="0">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Die Lösung besteht dann darin, zunächst die Ausnahme zu formulieren, diese in Klammern zu setzen und den gesamten Klammerausdruck zu negieren:</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a:defRPr/>
            </a:pPr>
            <a:r>
              <a:rPr lang="de-DE" sz="2400" b="1" dirty="0" smtClean="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DELETE </a:t>
            </a:r>
            <a:r>
              <a:rPr lang="de-DE" sz="2000" b="1" dirty="0">
                <a:solidFill>
                  <a:srgbClr val="0071B2"/>
                </a:solidFill>
                <a:latin typeface="Source Sans Pro" panose="020B0503030403020204" pitchFamily="34" charset="0"/>
              </a:rPr>
              <a:t>FROM </a:t>
            </a:r>
            <a:r>
              <a:rPr lang="de-DE" sz="2000" dirty="0">
                <a:solidFill>
                  <a:srgbClr val="0071B2"/>
                </a:solidFill>
                <a:latin typeface="Source Sans Pro" panose="020B0503030403020204" pitchFamily="34" charset="0"/>
              </a:rPr>
              <a:t>Abrechnung </a:t>
            </a:r>
            <a:r>
              <a:rPr lang="de-DE" sz="2000" b="1" dirty="0">
                <a:solidFill>
                  <a:srgbClr val="0071B2"/>
                </a:solidFill>
                <a:latin typeface="Source Sans Pro" panose="020B0503030403020204" pitchFamily="34" charset="0"/>
              </a:rPr>
              <a:t>WHERE</a:t>
            </a:r>
            <a:r>
              <a:rPr lang="de-DE" sz="2000" dirty="0">
                <a:solidFill>
                  <a:srgbClr val="0071B2"/>
                </a:solidFill>
                <a:latin typeface="Source Sans Pro" panose="020B0503030403020204" pitchFamily="34" charset="0"/>
              </a:rPr>
              <a:t> </a:t>
            </a:r>
            <a:r>
              <a:rPr lang="de-DE" sz="2000" b="1" dirty="0">
                <a:solidFill>
                  <a:schemeClr val="accent2"/>
                </a:solidFill>
                <a:latin typeface="Source Sans Pro" panose="020B0503030403020204" pitchFamily="34" charset="0"/>
              </a:rPr>
              <a:t>NOT</a:t>
            </a:r>
            <a:r>
              <a:rPr lang="de-DE" sz="2000" b="1" dirty="0">
                <a:latin typeface="Source Sans Pro" panose="020B0503030403020204" pitchFamily="34" charset="0"/>
              </a:rPr>
              <a:t>(</a:t>
            </a:r>
            <a:r>
              <a:rPr lang="de-DE" sz="2000" dirty="0">
                <a:latin typeface="Source Sans Pro" panose="020B0503030403020204" pitchFamily="34" charset="0"/>
              </a:rPr>
              <a:t>Kunde_ID</a:t>
            </a:r>
            <a:r>
              <a:rPr lang="de-DE" sz="2000" b="1" dirty="0">
                <a:latin typeface="Source Sans Pro" panose="020B0503030403020204" pitchFamily="34" charset="0"/>
              </a:rPr>
              <a:t>=</a:t>
            </a:r>
            <a:r>
              <a:rPr lang="de-DE" sz="2000" dirty="0">
                <a:latin typeface="Source Sans Pro" panose="020B0503030403020204" pitchFamily="34" charset="0"/>
              </a:rPr>
              <a:t>3 </a:t>
            </a:r>
            <a:r>
              <a:rPr lang="de-DE" sz="2000" b="1" dirty="0">
                <a:solidFill>
                  <a:srgbClr val="0071B2"/>
                </a:solidFill>
                <a:latin typeface="Source Sans Pro" panose="020B0503030403020204" pitchFamily="34" charset="0"/>
              </a:rPr>
              <a:t>OR</a:t>
            </a:r>
            <a:r>
              <a:rPr lang="de-DE" sz="2000" dirty="0">
                <a:solidFill>
                  <a:srgbClr val="0071B2"/>
                </a:solidFill>
                <a:latin typeface="Source Sans Pro" panose="020B0503030403020204" pitchFamily="34" charset="0"/>
              </a:rPr>
              <a:t> Datum</a:t>
            </a:r>
            <a:r>
              <a:rPr lang="de-DE" sz="2000" b="1" dirty="0">
                <a:solidFill>
                  <a:srgbClr val="0071B2"/>
                </a:solidFill>
                <a:latin typeface="Source Sans Pro" panose="020B0503030403020204" pitchFamily="34" charset="0"/>
              </a:rPr>
              <a:t>&gt;</a:t>
            </a:r>
            <a:r>
              <a:rPr lang="de-DE" sz="2000" dirty="0">
                <a:solidFill>
                  <a:srgbClr val="0071B2"/>
                </a:solidFill>
                <a:latin typeface="Source Sans Pro" panose="020B0503030403020204" pitchFamily="34" charset="0"/>
              </a:rPr>
              <a:t>"</a:t>
            </a:r>
            <a:r>
              <a:rPr lang="de-DE" sz="2000" dirty="0" smtClean="0">
                <a:solidFill>
                  <a:srgbClr val="0071B2"/>
                </a:solidFill>
                <a:latin typeface="Source Sans Pro" panose="020B0503030403020204" pitchFamily="34" charset="0"/>
              </a:rPr>
              <a:t>2000-01-01</a:t>
            </a:r>
            <a:r>
              <a:rPr lang="de-DE" sz="2000" dirty="0">
                <a:solidFill>
                  <a:srgbClr val="0071B2"/>
                </a:solidFill>
                <a:latin typeface="Source Sans Pro" panose="020B0503030403020204" pitchFamily="34" charset="0"/>
              </a:rPr>
              <a:t>"</a:t>
            </a:r>
            <a:r>
              <a:rPr lang="de-DE" sz="2000" b="1"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Regel versus </a:t>
            </a:r>
            <a:r>
              <a:rPr lang="de-DE" sz="4000" dirty="0" smtClean="0">
                <a:solidFill>
                  <a:schemeClr val="accent2"/>
                </a:solidFill>
                <a:latin typeface="Source Sans Pro" panose="020B0503030403020204" pitchFamily="34" charset="0"/>
              </a:rPr>
              <a:t>Ausnahme</a:t>
            </a:r>
            <a:endParaRPr lang="de-DE" sz="4000" b="0" i="1" dirty="0">
              <a:solidFill>
                <a:schemeClr val="accent2"/>
              </a:solidFill>
              <a:latin typeface="Source Sans Pro" panose="020B0503030403020204" pitchFamily="34" charset="0"/>
            </a:endParaRPr>
          </a:p>
        </p:txBody>
      </p:sp>
      <p:sp>
        <p:nvSpPr>
          <p:cNvPr id="7" name="Rechteck 6"/>
          <p:cNvSpPr/>
          <p:nvPr/>
        </p:nvSpPr>
        <p:spPr>
          <a:xfrm>
            <a:off x="157285" y="4235571"/>
            <a:ext cx="11870575" cy="177704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smtClean="0">
                <a:solidFill>
                  <a:schemeClr val="accent2"/>
                </a:solidFill>
                <a:latin typeface="Source Sans Pro" panose="020B0503030403020204" pitchFamily="34" charset="0"/>
              </a:rPr>
              <a:t>Zusatzbemerkung</a:t>
            </a:r>
            <a:r>
              <a:rPr lang="de-DE" sz="2000" b="1" dirty="0" smtClean="0">
                <a:solidFill>
                  <a:schemeClr val="accent2"/>
                </a:solidFill>
                <a:latin typeface="Source Sans Pro" panose="020B0503030403020204" pitchFamily="34" charset="0"/>
              </a:rPr>
              <a:t>:</a:t>
            </a:r>
          </a:p>
          <a:p>
            <a:pPr algn="ctr"/>
            <a:endParaRPr lang="de-DE" sz="800" b="1" dirty="0" smtClean="0">
              <a:solidFill>
                <a:schemeClr val="tx1"/>
              </a:solidFill>
              <a:latin typeface="Source Sans Pro" panose="020B0503030403020204" pitchFamily="34" charset="0"/>
            </a:endParaRPr>
          </a:p>
          <a:p>
            <a:pPr algn="ctr"/>
            <a:r>
              <a:rPr lang="de-DE" sz="1400" dirty="0" smtClean="0">
                <a:solidFill>
                  <a:schemeClr val="tx1"/>
                </a:solidFill>
                <a:latin typeface="Source Sans Pro" panose="020B0503030403020204" pitchFamily="34" charset="0"/>
              </a:rPr>
              <a:t>Die obige Bemerkung gilt im Prinzip auch für die Formulierung „</a:t>
            </a:r>
            <a:r>
              <a:rPr lang="de-DE" sz="1400" b="1" dirty="0" smtClean="0">
                <a:solidFill>
                  <a:schemeClr val="tx1"/>
                </a:solidFill>
                <a:latin typeface="Source Sans Pro" panose="020B0503030403020204" pitchFamily="34" charset="0"/>
              </a:rPr>
              <a:t>weder noch</a:t>
            </a:r>
            <a:r>
              <a:rPr lang="de-DE" sz="1400" dirty="0" smtClean="0">
                <a:solidFill>
                  <a:schemeClr val="tx1"/>
                </a:solidFill>
                <a:latin typeface="Source Sans Pro" panose="020B0503030403020204" pitchFamily="34" charset="0"/>
              </a:rPr>
              <a:t>“,</a:t>
            </a:r>
          </a:p>
          <a:p>
            <a:pPr algn="ctr"/>
            <a:r>
              <a:rPr lang="de-DE" sz="1400" dirty="0" smtClean="0">
                <a:solidFill>
                  <a:schemeClr val="tx1"/>
                </a:solidFill>
                <a:latin typeface="Source Sans Pro" panose="020B0503030403020204" pitchFamily="34" charset="0"/>
              </a:rPr>
              <a:t>die man aber der Einfachheit halber in „</a:t>
            </a:r>
            <a:r>
              <a:rPr lang="de-DE" sz="1400" b="1" dirty="0" smtClean="0">
                <a:solidFill>
                  <a:schemeClr val="tx1"/>
                </a:solidFill>
                <a:latin typeface="Source Sans Pro" panose="020B0503030403020204" pitchFamily="34" charset="0"/>
              </a:rPr>
              <a:t>Das eine NICHT UND das andere auch NICHT</a:t>
            </a:r>
            <a:r>
              <a:rPr lang="de-DE" sz="1400" dirty="0" smtClean="0">
                <a:solidFill>
                  <a:schemeClr val="tx1"/>
                </a:solidFill>
                <a:latin typeface="Source Sans Pro" panose="020B0503030403020204" pitchFamily="34" charset="0"/>
              </a:rPr>
              <a:t>“ übersetzt.</a:t>
            </a:r>
          </a:p>
          <a:p>
            <a:pPr algn="ctr"/>
            <a:endParaRPr lang="de-DE" sz="1400" dirty="0">
              <a:solidFill>
                <a:schemeClr val="tx1"/>
              </a:solidFill>
              <a:latin typeface="Source Sans Pro" panose="020B0503030403020204" pitchFamily="34" charset="0"/>
            </a:endParaRPr>
          </a:p>
          <a:p>
            <a:pPr algn="ctr"/>
            <a:r>
              <a:rPr lang="de-DE" sz="1400" b="1" dirty="0" smtClean="0">
                <a:solidFill>
                  <a:schemeClr val="tx1"/>
                </a:solidFill>
                <a:latin typeface="Source Sans Pro" panose="020B0503030403020204" pitchFamily="34" charset="0"/>
              </a:rPr>
              <a:t>Beispiel: Löschen Sie bitte alle Kunden, die </a:t>
            </a:r>
            <a:r>
              <a:rPr lang="de-DE" sz="1400" b="1" u="sng" dirty="0" smtClean="0">
                <a:solidFill>
                  <a:schemeClr val="tx1"/>
                </a:solidFill>
                <a:latin typeface="Source Sans Pro" panose="020B0503030403020204" pitchFamily="34" charset="0"/>
              </a:rPr>
              <a:t>weder</a:t>
            </a:r>
            <a:r>
              <a:rPr lang="de-DE" sz="1400" b="1" dirty="0" smtClean="0">
                <a:solidFill>
                  <a:schemeClr val="tx1"/>
                </a:solidFill>
                <a:latin typeface="Source Sans Pro" panose="020B0503030403020204" pitchFamily="34" charset="0"/>
              </a:rPr>
              <a:t> mit Vornamen „Peter“ </a:t>
            </a:r>
            <a:r>
              <a:rPr lang="de-DE" sz="1400" b="1" u="sng" dirty="0" smtClean="0">
                <a:solidFill>
                  <a:schemeClr val="tx1"/>
                </a:solidFill>
                <a:latin typeface="Source Sans Pro" panose="020B0503030403020204" pitchFamily="34" charset="0"/>
              </a:rPr>
              <a:t>noch</a:t>
            </a:r>
            <a:r>
              <a:rPr lang="de-DE" sz="1400" b="1" dirty="0" smtClean="0">
                <a:solidFill>
                  <a:schemeClr val="tx1"/>
                </a:solidFill>
                <a:latin typeface="Source Sans Pro" panose="020B0503030403020204" pitchFamily="34" charset="0"/>
              </a:rPr>
              <a:t> mit Nachnamen „Müller“ heißen:</a:t>
            </a:r>
          </a:p>
          <a:p>
            <a:pPr algn="ctr"/>
            <a:r>
              <a:rPr lang="de-DE" sz="1600" dirty="0" smtClean="0">
                <a:solidFill>
                  <a:schemeClr val="tx1"/>
                </a:solidFill>
                <a:latin typeface="Source Sans Pro" panose="020B0503030403020204" pitchFamily="34" charset="0"/>
              </a:rPr>
              <a:t>DELETE FROM Kunde WHERE NOT Vorname=</a:t>
            </a:r>
            <a:r>
              <a:rPr lang="de-DE" sz="1600" dirty="0" smtClean="0">
                <a:solidFill>
                  <a:srgbClr val="0071B2"/>
                </a:solidFill>
                <a:latin typeface="Source Sans Pro" panose="020B0503030403020204" pitchFamily="34" charset="0"/>
              </a:rPr>
              <a:t>"Peter" AND NOT Nachname="Müller</a:t>
            </a:r>
            <a:r>
              <a:rPr lang="de-DE" sz="1600" dirty="0">
                <a:solidFill>
                  <a:srgbClr val="0071B2"/>
                </a:solidFill>
                <a:latin typeface="Source Sans Pro" panose="020B0503030403020204" pitchFamily="34" charset="0"/>
              </a:rPr>
              <a:t>"</a:t>
            </a:r>
            <a:r>
              <a:rPr lang="de-DE" sz="1600" dirty="0" smtClean="0">
                <a:solidFill>
                  <a:srgbClr val="0071B2"/>
                </a:solidFill>
                <a:latin typeface="Source Sans Pro" panose="020B0503030403020204" pitchFamily="34" charset="0"/>
              </a:rPr>
              <a:t>;</a:t>
            </a:r>
            <a:endParaRPr lang="de-DE" sz="1600" dirty="0" smtClean="0">
              <a:solidFill>
                <a:schemeClr val="tx1"/>
              </a:solidFill>
              <a:latin typeface="Source Sans Pro" panose="020B0503030403020204" pitchFamily="34" charset="0"/>
            </a:endParaRPr>
          </a:p>
          <a:p>
            <a:pPr algn="ctr"/>
            <a:endParaRPr lang="de-DE" sz="1200" dirty="0">
              <a:solidFill>
                <a:schemeClr val="tx1"/>
              </a:solidFill>
            </a:endParaRPr>
          </a:p>
        </p:txBody>
      </p:sp>
    </p:spTree>
    <p:extLst>
      <p:ext uri="{BB962C8B-B14F-4D97-AF65-F5344CB8AC3E}">
        <p14:creationId xmlns:p14="http://schemas.microsoft.com/office/powerpoint/2010/main" val="406964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52947" y="1428260"/>
            <a:ext cx="10485860" cy="326243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dirty="0" smtClean="0">
                <a:solidFill>
                  <a:srgbClr val="0071B2"/>
                </a:solidFill>
                <a:latin typeface="Source Sans Pro" panose="020B0503030403020204" pitchFamily="34" charset="0"/>
              </a:rPr>
              <a:t>Oft steht man lediglich vor der Frage, ob die Verknüpfung „AND“ oder „OR“ lauten soll. Falls man diesbezüglich (z.B. im Prüfungsstress) unsicher ist, so hilft es gelegentlich, sich zu überlegen, was das Gegenteil von der vermuteten Lösung bedeuten würde.</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indent="-342900">
              <a:buFont typeface="Arial" panose="020B0604020202020204" pitchFamily="34" charset="0"/>
              <a:buChar char="•"/>
              <a:defRPr/>
            </a:pPr>
            <a:r>
              <a:rPr lang="de-DE" b="1" dirty="0" smtClean="0">
                <a:solidFill>
                  <a:srgbClr val="0071B2"/>
                </a:solidFill>
                <a:latin typeface="Source Sans Pro" panose="020B0503030403020204" pitchFamily="34" charset="0"/>
              </a:rPr>
              <a:t>Beispiel: </a:t>
            </a:r>
            <a:r>
              <a:rPr lang="de-DE" dirty="0" smtClean="0">
                <a:solidFill>
                  <a:srgbClr val="0071B2"/>
                </a:solidFill>
                <a:latin typeface="Source Sans Pro" panose="020B0503030403020204" pitchFamily="34" charset="0"/>
              </a:rPr>
              <a:t>Es sollen alle Produkte gelöscht werden, die </a:t>
            </a:r>
            <a:r>
              <a:rPr lang="de-DE" dirty="0">
                <a:solidFill>
                  <a:srgbClr val="0071B2"/>
                </a:solidFill>
                <a:latin typeface="Source Sans Pro" panose="020B0503030403020204" pitchFamily="34" charset="0"/>
              </a:rPr>
              <a:t>billiger als 10 Euro </a:t>
            </a:r>
            <a:r>
              <a:rPr lang="de-DE" dirty="0" smtClean="0">
                <a:solidFill>
                  <a:srgbClr val="0071B2"/>
                </a:solidFill>
                <a:latin typeface="Source Sans Pro" panose="020B0503030403020204" pitchFamily="34" charset="0"/>
              </a:rPr>
              <a:t>oder teurer als 100 Euro sind. Man vermutet spontan, die folgende Lösung, ist sich aber </a:t>
            </a: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nicht sicher: </a:t>
            </a:r>
          </a:p>
          <a:p>
            <a:pPr>
              <a:defRPr/>
            </a:pPr>
            <a:endParaRPr lang="de-DE" sz="800" b="1" dirty="0" smtClean="0">
              <a:solidFill>
                <a:srgbClr val="0071B2"/>
              </a:solidFill>
              <a:latin typeface="Source Sans Pro" panose="020B0503030403020204" pitchFamily="34" charset="0"/>
            </a:endParaRPr>
          </a:p>
          <a:p>
            <a:pPr>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DELETE </a:t>
            </a:r>
            <a:r>
              <a:rPr lang="de-DE" b="1" dirty="0">
                <a:solidFill>
                  <a:srgbClr val="0071B2"/>
                </a:solidFill>
                <a:latin typeface="Source Sans Pro" panose="020B0503030403020204" pitchFamily="34" charset="0"/>
              </a:rPr>
              <a:t>FROM </a:t>
            </a:r>
            <a:r>
              <a:rPr lang="de-DE" dirty="0" smtClean="0">
                <a:solidFill>
                  <a:srgbClr val="0071B2"/>
                </a:solidFill>
                <a:latin typeface="Source Sans Pro" panose="020B0503030403020204" pitchFamily="34" charset="0"/>
              </a:rPr>
              <a:t>Produkt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a:t>
            </a:r>
            <a:r>
              <a:rPr lang="de-DE" dirty="0" smtClean="0">
                <a:latin typeface="Source Sans Pro" panose="020B0503030403020204" pitchFamily="34" charset="0"/>
              </a:rPr>
              <a:t>Euro_Preis</a:t>
            </a:r>
            <a:r>
              <a:rPr lang="de-DE" b="1" dirty="0" smtClean="0">
                <a:latin typeface="Source Sans Pro" panose="020B0503030403020204" pitchFamily="34" charset="0"/>
              </a:rPr>
              <a:t> &lt; </a:t>
            </a:r>
            <a:r>
              <a:rPr lang="de-DE" dirty="0" smtClean="0">
                <a:latin typeface="Source Sans Pro" panose="020B0503030403020204" pitchFamily="34" charset="0"/>
              </a:rPr>
              <a:t>10</a:t>
            </a:r>
            <a:r>
              <a:rPr lang="de-DE" b="1" dirty="0" smtClean="0">
                <a:latin typeface="Source Sans Pro" panose="020B0503030403020204" pitchFamily="34" charset="0"/>
              </a:rPr>
              <a:t> </a:t>
            </a:r>
            <a:r>
              <a:rPr lang="de-DE" b="1" dirty="0" smtClean="0">
                <a:solidFill>
                  <a:schemeClr val="accent2"/>
                </a:solidFill>
                <a:latin typeface="Source Sans Pro" panose="020B0503030403020204" pitchFamily="34" charset="0"/>
              </a:rPr>
              <a:t>OR</a:t>
            </a:r>
            <a:r>
              <a:rPr lang="de-DE" b="1" dirty="0" smtClean="0">
                <a:latin typeface="Source Sans Pro" panose="020B0503030403020204" pitchFamily="34" charset="0"/>
              </a:rPr>
              <a:t> </a:t>
            </a:r>
            <a:r>
              <a:rPr lang="de-DE" dirty="0" smtClean="0">
                <a:latin typeface="Source Sans Pro" panose="020B0503030403020204" pitchFamily="34" charset="0"/>
              </a:rPr>
              <a:t>Euro_Preis</a:t>
            </a:r>
            <a:r>
              <a:rPr lang="de-DE" b="1" dirty="0" smtClean="0">
                <a:latin typeface="Source Sans Pro" panose="020B0503030403020204" pitchFamily="34" charset="0"/>
              </a:rPr>
              <a:t> &gt; </a:t>
            </a:r>
            <a:r>
              <a:rPr lang="de-DE" dirty="0" smtClean="0">
                <a:latin typeface="Source Sans Pro" panose="020B0503030403020204" pitchFamily="34" charset="0"/>
              </a:rPr>
              <a:t>100</a:t>
            </a:r>
            <a:r>
              <a:rPr lang="de-DE" b="1" dirty="0" smtClean="0">
                <a:latin typeface="Source Sans Pro" panose="020B0503030403020204" pitchFamily="34" charset="0"/>
              </a:rPr>
              <a:t>;</a:t>
            </a:r>
            <a:endParaRPr lang="de-DE" dirty="0">
              <a:latin typeface="Source Sans Pro" panose="020B0503030403020204" pitchFamily="34" charset="0"/>
            </a:endParaRPr>
          </a:p>
          <a:p>
            <a:pPr lvl="0">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Was aber würde es bedeuten, wenn man sich für die folgende Lösung entschieden hätte?</a:t>
            </a:r>
          </a:p>
          <a:p>
            <a:pPr>
              <a:defRPr/>
            </a:pPr>
            <a:r>
              <a:rPr lang="de-DE" sz="2400" b="1"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Produkt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a:t>
            </a:r>
            <a:r>
              <a:rPr lang="de-DE" dirty="0">
                <a:latin typeface="Source Sans Pro" panose="020B0503030403020204" pitchFamily="34" charset="0"/>
              </a:rPr>
              <a:t>Euro_Preis</a:t>
            </a:r>
            <a:r>
              <a:rPr lang="de-DE" b="1" dirty="0">
                <a:latin typeface="Source Sans Pro" panose="020B0503030403020204" pitchFamily="34" charset="0"/>
              </a:rPr>
              <a:t> &lt; </a:t>
            </a:r>
            <a:r>
              <a:rPr lang="de-DE" dirty="0">
                <a:latin typeface="Source Sans Pro" panose="020B0503030403020204" pitchFamily="34" charset="0"/>
              </a:rPr>
              <a:t>10</a:t>
            </a:r>
            <a:r>
              <a:rPr lang="de-DE" b="1" dirty="0">
                <a:latin typeface="Source Sans Pro" panose="020B0503030403020204" pitchFamily="34" charset="0"/>
              </a:rPr>
              <a:t> </a:t>
            </a:r>
            <a:r>
              <a:rPr lang="de-DE" b="1" dirty="0" smtClean="0">
                <a:solidFill>
                  <a:schemeClr val="accent2"/>
                </a:solidFill>
                <a:latin typeface="Source Sans Pro" panose="020B0503030403020204" pitchFamily="34" charset="0"/>
              </a:rPr>
              <a:t>AND</a:t>
            </a:r>
            <a:r>
              <a:rPr lang="de-DE" b="1" dirty="0" smtClean="0">
                <a:latin typeface="Source Sans Pro" panose="020B0503030403020204" pitchFamily="34" charset="0"/>
              </a:rPr>
              <a:t> </a:t>
            </a:r>
            <a:r>
              <a:rPr lang="de-DE" dirty="0">
                <a:latin typeface="Source Sans Pro" panose="020B0503030403020204" pitchFamily="34" charset="0"/>
              </a:rPr>
              <a:t>Euro_Preis</a:t>
            </a:r>
            <a:r>
              <a:rPr lang="de-DE" b="1" dirty="0">
                <a:latin typeface="Source Sans Pro" panose="020B0503030403020204" pitchFamily="34" charset="0"/>
              </a:rPr>
              <a:t> &gt; </a:t>
            </a:r>
            <a:r>
              <a:rPr lang="de-DE" dirty="0">
                <a:latin typeface="Source Sans Pro" panose="020B0503030403020204" pitchFamily="34" charset="0"/>
              </a:rPr>
              <a:t>100</a:t>
            </a:r>
            <a:r>
              <a:rPr lang="de-DE" b="1" dirty="0">
                <a:latin typeface="Source Sans Pro" panose="020B0503030403020204" pitchFamily="34" charset="0"/>
              </a:rPr>
              <a:t>;</a:t>
            </a:r>
            <a:endParaRPr lang="de-DE" dirty="0">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Ein „etwas unseriöser“ </a:t>
            </a:r>
            <a:r>
              <a:rPr lang="de-DE" sz="4000" dirty="0" smtClean="0">
                <a:solidFill>
                  <a:schemeClr val="accent2"/>
                </a:solidFill>
                <a:latin typeface="Source Sans Pro" panose="020B0503030403020204" pitchFamily="34" charset="0"/>
              </a:rPr>
              <a:t>Tipp </a:t>
            </a:r>
            <a:r>
              <a:rPr lang="de-DE" sz="4000" dirty="0" smtClean="0">
                <a:latin typeface="Source Sans Pro" panose="020B0503030403020204" pitchFamily="34" charset="0"/>
                <a:sym typeface="Wingdings" panose="05000000000000000000" pitchFamily="2" charset="2"/>
              </a:rPr>
              <a:t></a:t>
            </a:r>
            <a:endParaRPr lang="de-DE" sz="4000" b="0" i="1" dirty="0">
              <a:latin typeface="Source Sans Pro" panose="020B0503030403020204" pitchFamily="34" charset="0"/>
            </a:endParaRPr>
          </a:p>
        </p:txBody>
      </p:sp>
      <p:sp>
        <p:nvSpPr>
          <p:cNvPr id="9" name="Rechteck 8"/>
          <p:cNvSpPr/>
          <p:nvPr/>
        </p:nvSpPr>
        <p:spPr>
          <a:xfrm>
            <a:off x="174538" y="4690692"/>
            <a:ext cx="11870575" cy="122797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b="1" dirty="0" smtClean="0">
              <a:solidFill>
                <a:schemeClr val="accent2"/>
              </a:solidFill>
            </a:endParaRPr>
          </a:p>
          <a:p>
            <a:pPr algn="ctr"/>
            <a:r>
              <a:rPr lang="de-DE" b="1" dirty="0" smtClean="0">
                <a:solidFill>
                  <a:schemeClr val="tx1"/>
                </a:solidFill>
                <a:latin typeface="Source Sans Pro" panose="020B0503030403020204" pitchFamily="34" charset="0"/>
              </a:rPr>
              <a:t>Hinweis:</a:t>
            </a:r>
          </a:p>
          <a:p>
            <a:pPr algn="ctr"/>
            <a:endParaRPr lang="de-DE" sz="800" b="1" dirty="0" smtClean="0">
              <a:solidFill>
                <a:schemeClr val="tx1"/>
              </a:solidFill>
              <a:latin typeface="Source Sans Pro" panose="020B0503030403020204" pitchFamily="34" charset="0"/>
            </a:endParaRPr>
          </a:p>
          <a:p>
            <a:pPr algn="ctr"/>
            <a:r>
              <a:rPr lang="de-DE" sz="1400" dirty="0" smtClean="0">
                <a:solidFill>
                  <a:schemeClr val="tx1"/>
                </a:solidFill>
                <a:latin typeface="Source Sans Pro" panose="020B0503030403020204" pitchFamily="34" charset="0"/>
              </a:rPr>
              <a:t>Falls Sie jemals ein </a:t>
            </a:r>
            <a:r>
              <a:rPr lang="de-DE" sz="1400" dirty="0">
                <a:solidFill>
                  <a:schemeClr val="tx1"/>
                </a:solidFill>
                <a:latin typeface="Source Sans Pro" panose="020B0503030403020204" pitchFamily="34" charset="0"/>
              </a:rPr>
              <a:t>P</a:t>
            </a:r>
            <a:r>
              <a:rPr lang="de-DE" sz="1400" dirty="0" smtClean="0">
                <a:solidFill>
                  <a:schemeClr val="tx1"/>
                </a:solidFill>
                <a:latin typeface="Source Sans Pro" panose="020B0503030403020204" pitchFamily="34" charset="0"/>
              </a:rPr>
              <a:t>rodukt finden sollten, dass </a:t>
            </a:r>
            <a:r>
              <a:rPr lang="de-DE" sz="1400" dirty="0" smtClean="0">
                <a:solidFill>
                  <a:schemeClr val="accent2"/>
                </a:solidFill>
                <a:latin typeface="Source Sans Pro" panose="020B0503030403020204" pitchFamily="34" charset="0"/>
              </a:rPr>
              <a:t>billiger als 10 Euro </a:t>
            </a:r>
            <a:r>
              <a:rPr lang="de-DE" sz="1400" b="1" dirty="0" smtClean="0">
                <a:solidFill>
                  <a:schemeClr val="tx1"/>
                </a:solidFill>
                <a:latin typeface="Source Sans Pro" panose="020B0503030403020204" pitchFamily="34" charset="0"/>
              </a:rPr>
              <a:t>UND </a:t>
            </a:r>
            <a:r>
              <a:rPr lang="de-DE" sz="1400" dirty="0" smtClean="0">
                <a:solidFill>
                  <a:schemeClr val="accent2"/>
                </a:solidFill>
                <a:latin typeface="Source Sans Pro" panose="020B0503030403020204" pitchFamily="34" charset="0"/>
              </a:rPr>
              <a:t>teurer als 100 Euro</a:t>
            </a:r>
            <a:r>
              <a:rPr lang="de-DE" sz="1400" dirty="0" smtClean="0">
                <a:solidFill>
                  <a:schemeClr val="tx1"/>
                </a:solidFill>
                <a:latin typeface="Source Sans Pro" panose="020B0503030403020204" pitchFamily="34" charset="0"/>
              </a:rPr>
              <a:t>, ist …</a:t>
            </a:r>
          </a:p>
          <a:p>
            <a:pPr algn="ctr"/>
            <a:r>
              <a:rPr lang="de-DE" sz="1400" dirty="0" smtClean="0">
                <a:solidFill>
                  <a:schemeClr val="tx1"/>
                </a:solidFill>
                <a:latin typeface="Source Sans Pro" panose="020B0503030403020204" pitchFamily="34" charset="0"/>
              </a:rPr>
              <a:t>… dann schlafen Sie sich am Besten erst einmal richtig aus ;-) </a:t>
            </a:r>
            <a:endParaRPr lang="de-DE" sz="1600" dirty="0" smtClean="0">
              <a:solidFill>
                <a:schemeClr val="tx1"/>
              </a:solidFill>
              <a:latin typeface="Source Sans Pro" panose="020B0503030403020204" pitchFamily="34" charset="0"/>
            </a:endParaRPr>
          </a:p>
          <a:p>
            <a:pPr algn="ctr"/>
            <a:endParaRPr lang="de-DE" sz="1200" dirty="0">
              <a:solidFill>
                <a:schemeClr val="tx1"/>
              </a:solidFill>
            </a:endParaRPr>
          </a:p>
        </p:txBody>
      </p:sp>
    </p:spTree>
    <p:extLst>
      <p:ext uri="{BB962C8B-B14F-4D97-AF65-F5344CB8AC3E}">
        <p14:creationId xmlns:p14="http://schemas.microsoft.com/office/powerpoint/2010/main" val="147762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28009" y="1271590"/>
            <a:ext cx="10976311" cy="498598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smtClean="0">
                <a:solidFill>
                  <a:srgbClr val="0071B2"/>
                </a:solidFill>
                <a:latin typeface="Source Sans Pro" panose="020B0503030403020204" pitchFamily="34" charset="0"/>
              </a:rPr>
              <a:t>Verknüpfte Aussagen sind nicht immer notwendig, sondern manchmal nur </a:t>
            </a:r>
            <a:r>
              <a:rPr lang="de-DE" sz="2000" b="1" dirty="0" smtClean="0">
                <a:solidFill>
                  <a:schemeClr val="accent2"/>
                </a:solidFill>
                <a:latin typeface="Source Sans Pro" panose="020B0503030403020204" pitchFamily="34" charset="0"/>
              </a:rPr>
              <a:t>komfortabel</a:t>
            </a:r>
            <a:r>
              <a:rPr lang="de-DE" sz="2000" dirty="0" smtClean="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2400"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Anstelle von …</a:t>
            </a: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DELETE FROM </a:t>
            </a:r>
            <a:r>
              <a:rPr lang="de-DE" dirty="0" smtClean="0">
                <a:solidFill>
                  <a:srgbClr val="0071B2"/>
                </a:solidFill>
                <a:latin typeface="Source Sans Pro" panose="020B0503030403020204" pitchFamily="34" charset="0"/>
              </a:rPr>
              <a:t>Kunde </a:t>
            </a:r>
            <a:r>
              <a:rPr lang="de-DE" b="1" dirty="0" smtClean="0">
                <a:solidFill>
                  <a:srgbClr val="0071B2"/>
                </a:solidFill>
                <a:latin typeface="Source Sans Pro" panose="020B0503030403020204" pitchFamily="34" charset="0"/>
              </a:rPr>
              <a:t>WHERE</a:t>
            </a:r>
            <a:r>
              <a:rPr lang="de-DE" dirty="0" smtClean="0">
                <a:solidFill>
                  <a:srgbClr val="0071B2"/>
                </a:solidFill>
                <a:latin typeface="Source Sans Pro" panose="020B0503030403020204" pitchFamily="34" charset="0"/>
              </a:rPr>
              <a:t> Kunde_ID</a:t>
            </a:r>
            <a:r>
              <a:rPr lang="de-DE" b="1" dirty="0" smtClean="0">
                <a:solidFill>
                  <a:srgbClr val="0071B2"/>
                </a:solidFill>
                <a:latin typeface="Source Sans Pro" panose="020B0503030403020204" pitchFamily="34" charset="0"/>
              </a:rPr>
              <a:t>=</a:t>
            </a:r>
            <a:r>
              <a:rPr lang="de-DE" dirty="0" smtClean="0">
                <a:solidFill>
                  <a:srgbClr val="0071B2"/>
                </a:solidFill>
                <a:latin typeface="Source Sans Pro" panose="020B0503030403020204" pitchFamily="34" charset="0"/>
              </a:rPr>
              <a:t>2 </a:t>
            </a:r>
            <a:r>
              <a:rPr lang="de-DE" b="1" dirty="0" smtClean="0">
                <a:solidFill>
                  <a:srgbClr val="0071B2"/>
                </a:solidFill>
                <a:latin typeface="Source Sans Pro" panose="020B0503030403020204" pitchFamily="34" charset="0"/>
              </a:rPr>
              <a:t>OR</a:t>
            </a:r>
            <a:r>
              <a:rPr lang="de-DE" dirty="0" smtClean="0">
                <a:solidFill>
                  <a:srgbClr val="0071B2"/>
                </a:solidFill>
                <a:latin typeface="Source Sans Pro" panose="020B0503030403020204" pitchFamily="34" charset="0"/>
              </a:rPr>
              <a:t> Kunde_ID</a:t>
            </a:r>
            <a:r>
              <a:rPr lang="de-DE" b="1" dirty="0" smtClean="0">
                <a:solidFill>
                  <a:srgbClr val="0071B2"/>
                </a:solidFill>
                <a:latin typeface="Source Sans Pro" panose="020B0503030403020204" pitchFamily="34" charset="0"/>
              </a:rPr>
              <a:t>=</a:t>
            </a:r>
            <a:r>
              <a:rPr lang="de-DE" dirty="0" smtClean="0">
                <a:solidFill>
                  <a:srgbClr val="0071B2"/>
                </a:solidFill>
                <a:latin typeface="Source Sans Pro" panose="020B0503030403020204" pitchFamily="34" charset="0"/>
              </a:rPr>
              <a:t>3</a:t>
            </a:r>
            <a:r>
              <a:rPr lang="de-DE" b="1" dirty="0" smtClean="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könnte man auch die beiden folgenden Befehle absenden:</a:t>
            </a:r>
          </a:p>
          <a:p>
            <a:pPr>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Kunde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Kunde_ID</a:t>
            </a:r>
            <a:r>
              <a:rPr lang="de-DE" b="1" dirty="0" smtClean="0">
                <a:solidFill>
                  <a:srgbClr val="0071B2"/>
                </a:solidFill>
                <a:latin typeface="Source Sans Pro" panose="020B0503030403020204" pitchFamily="34" charset="0"/>
              </a:rPr>
              <a:t>=</a:t>
            </a:r>
            <a:r>
              <a:rPr lang="de-DE" dirty="0" smtClean="0">
                <a:solidFill>
                  <a:srgbClr val="0071B2"/>
                </a:solidFill>
                <a:latin typeface="Source Sans Pro" panose="020B0503030403020204" pitchFamily="34" charset="0"/>
              </a:rPr>
              <a:t>2</a:t>
            </a:r>
            <a:r>
              <a:rPr lang="de-DE" b="1" dirty="0" smtClean="0">
                <a:solidFill>
                  <a:srgbClr val="0071B2"/>
                </a:solidFill>
                <a:latin typeface="Source Sans Pro" panose="020B0503030403020204" pitchFamily="34" charset="0"/>
              </a:rPr>
              <a:t>;</a:t>
            </a:r>
          </a:p>
          <a:p>
            <a:pPr>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Kunde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Kunde_ID</a:t>
            </a:r>
            <a:r>
              <a:rPr lang="de-DE" b="1" dirty="0" smtClean="0">
                <a:solidFill>
                  <a:srgbClr val="0071B2"/>
                </a:solidFill>
                <a:latin typeface="Source Sans Pro" panose="020B0503030403020204" pitchFamily="34" charset="0"/>
              </a:rPr>
              <a:t>=</a:t>
            </a:r>
            <a:r>
              <a:rPr lang="de-DE" dirty="0" smtClean="0">
                <a:solidFill>
                  <a:srgbClr val="0071B2"/>
                </a:solidFill>
                <a:latin typeface="Source Sans Pro" panose="020B0503030403020204" pitchFamily="34" charset="0"/>
              </a:rPr>
              <a:t>3</a:t>
            </a:r>
            <a:r>
              <a:rPr lang="de-DE" b="1"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lang="de-DE" sz="800" b="1" dirty="0" smtClean="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Gelegentlich ist aber die Verknüpfung auch </a:t>
            </a:r>
            <a:r>
              <a:rPr kumimoji="0" lang="de-DE" sz="2000" b="1" i="0" u="none" strike="noStrike" kern="1200" cap="none" spc="0" normalizeH="0" noProof="0" dirty="0" smtClean="0">
                <a:ln>
                  <a:noFill/>
                </a:ln>
                <a:solidFill>
                  <a:schemeClr val="accent2"/>
                </a:solidFill>
                <a:effectLst/>
                <a:uLnTx/>
                <a:uFillTx/>
                <a:latin typeface="Source Sans Pro" panose="020B0503030403020204" pitchFamily="34" charset="0"/>
                <a:ea typeface="+mn-ea"/>
                <a:cs typeface="+mn-cs"/>
              </a:rPr>
              <a:t>unverzichtbar</a:t>
            </a: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lvl="2">
              <a:defRPr/>
            </a:pPr>
            <a:r>
              <a:rPr lang="de-DE" dirty="0" smtClean="0">
                <a:solidFill>
                  <a:srgbClr val="0071B2"/>
                </a:solidFill>
                <a:latin typeface="Source Sans Pro" panose="020B0503030403020204" pitchFamily="34" charset="0"/>
              </a:rPr>
              <a:t>Mit dem folgenden Befehl …</a:t>
            </a:r>
            <a:endParaRPr lang="de-DE" dirty="0">
              <a:solidFill>
                <a:srgbClr val="0071B2"/>
              </a:solidFill>
              <a:latin typeface="Source Sans Pro" panose="020B0503030403020204" pitchFamily="34" charset="0"/>
            </a:endParaRPr>
          </a:p>
          <a:p>
            <a:pPr lvl="2">
              <a:defRPr/>
            </a:pPr>
            <a:r>
              <a:rPr lang="de-DE" b="1" dirty="0">
                <a:solidFill>
                  <a:srgbClr val="0071B2"/>
                </a:solidFill>
                <a:latin typeface="Source Sans Pro" panose="020B0503030403020204" pitchFamily="34" charset="0"/>
              </a:rPr>
              <a:t>		DELETE FROM </a:t>
            </a:r>
            <a:r>
              <a:rPr lang="de-DE" dirty="0" smtClean="0">
                <a:solidFill>
                  <a:srgbClr val="0071B2"/>
                </a:solidFill>
                <a:latin typeface="Source Sans Pro" panose="020B0503030403020204" pitchFamily="34" charset="0"/>
              </a:rPr>
              <a:t>Produkt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Euro_Preis </a:t>
            </a:r>
            <a:r>
              <a:rPr lang="de-DE" b="1" dirty="0" smtClean="0">
                <a:solidFill>
                  <a:srgbClr val="0071B2"/>
                </a:solidFill>
                <a:latin typeface="Source Sans Pro" panose="020B0503030403020204" pitchFamily="34" charset="0"/>
              </a:rPr>
              <a:t>&gt;=</a:t>
            </a:r>
            <a:r>
              <a:rPr lang="de-DE" dirty="0" smtClean="0">
                <a:solidFill>
                  <a:srgbClr val="0071B2"/>
                </a:solidFill>
                <a:latin typeface="Source Sans Pro" panose="020B0503030403020204" pitchFamily="34" charset="0"/>
              </a:rPr>
              <a:t> 10 </a:t>
            </a:r>
            <a:r>
              <a:rPr lang="de-DE" b="1" dirty="0" smtClean="0">
                <a:solidFill>
                  <a:srgbClr val="0071B2"/>
                </a:solidFill>
                <a:latin typeface="Source Sans Pro" panose="020B0503030403020204" pitchFamily="34" charset="0"/>
              </a:rPr>
              <a:t>AND</a:t>
            </a:r>
            <a:r>
              <a:rPr lang="de-DE" dirty="0" smtClean="0">
                <a:solidFill>
                  <a:srgbClr val="0071B2"/>
                </a:solidFill>
                <a:latin typeface="Source Sans Pro" panose="020B0503030403020204" pitchFamily="34" charset="0"/>
              </a:rPr>
              <a:t> Euro_Preis </a:t>
            </a:r>
            <a:r>
              <a:rPr lang="de-DE" b="1" dirty="0" smtClean="0">
                <a:solidFill>
                  <a:srgbClr val="0071B2"/>
                </a:solidFill>
                <a:latin typeface="Source Sans Pro" panose="020B0503030403020204" pitchFamily="34" charset="0"/>
              </a:rPr>
              <a:t>&lt;=</a:t>
            </a:r>
            <a:r>
              <a:rPr lang="de-DE" dirty="0" smtClean="0">
                <a:solidFill>
                  <a:srgbClr val="0071B2"/>
                </a:solidFill>
                <a:latin typeface="Source Sans Pro" panose="020B0503030403020204" pitchFamily="34" charset="0"/>
              </a:rPr>
              <a:t> 100</a:t>
            </a:r>
            <a:r>
              <a:rPr lang="de-DE" b="1" dirty="0" smtClean="0">
                <a:solidFill>
                  <a:srgbClr val="0071B2"/>
                </a:solidFill>
                <a:latin typeface="Source Sans Pro" panose="020B0503030403020204" pitchFamily="34" charset="0"/>
              </a:rPr>
              <a:t>;</a:t>
            </a:r>
            <a:endParaRPr lang="de-DE" b="1" dirty="0">
              <a:solidFill>
                <a:srgbClr val="0071B2"/>
              </a:solidFill>
              <a:latin typeface="Source Sans Pro" panose="020B0503030403020204" pitchFamily="34" charset="0"/>
            </a:endParaRPr>
          </a:p>
          <a:p>
            <a:pPr lvl="2">
              <a:defRPr/>
            </a:pPr>
            <a:r>
              <a:rPr lang="de-DE" b="1" dirty="0">
                <a:solidFill>
                  <a:srgbClr val="0071B2"/>
                </a:solidFill>
                <a:latin typeface="Source Sans Pro" panose="020B0503030403020204" pitchFamily="34" charset="0"/>
              </a:rPr>
              <a:t>	… </a:t>
            </a:r>
            <a:r>
              <a:rPr lang="de-DE" dirty="0" smtClean="0">
                <a:solidFill>
                  <a:srgbClr val="0071B2"/>
                </a:solidFill>
                <a:latin typeface="Source Sans Pro" panose="020B0503030403020204" pitchFamily="34" charset="0"/>
              </a:rPr>
              <a:t>werden alle </a:t>
            </a:r>
            <a:r>
              <a:rPr lang="de-DE" dirty="0">
                <a:solidFill>
                  <a:srgbClr val="0071B2"/>
                </a:solidFill>
                <a:latin typeface="Source Sans Pro" panose="020B0503030403020204" pitchFamily="34" charset="0"/>
              </a:rPr>
              <a:t>P</a:t>
            </a:r>
            <a:r>
              <a:rPr lang="de-DE" dirty="0" smtClean="0">
                <a:solidFill>
                  <a:srgbClr val="0071B2"/>
                </a:solidFill>
                <a:latin typeface="Source Sans Pro" panose="020B0503030403020204" pitchFamily="34" charset="0"/>
              </a:rPr>
              <a:t>rodukte gelöscht, deren Preis zwischen 10 und 100 Euro liegen.</a:t>
            </a:r>
          </a:p>
          <a:p>
            <a:pPr lvl="2">
              <a:defRPr/>
            </a:pPr>
            <a:endParaRPr lang="de-DE" dirty="0">
              <a:solidFill>
                <a:srgbClr val="0071B2"/>
              </a:solidFill>
              <a:latin typeface="Source Sans Pro" panose="020B0503030403020204" pitchFamily="34" charset="0"/>
            </a:endParaRPr>
          </a:p>
          <a:p>
            <a:pPr lvl="2">
              <a:defRPr/>
            </a:pPr>
            <a:r>
              <a:rPr lang="de-DE" dirty="0" smtClean="0">
                <a:solidFill>
                  <a:srgbClr val="0071B2"/>
                </a:solidFill>
                <a:latin typeface="Source Sans Pro" panose="020B0503030403020204" pitchFamily="34" charset="0"/>
              </a:rPr>
              <a:t>Die beiden folgenden Befehle löschen hingegen </a:t>
            </a:r>
            <a:r>
              <a:rPr lang="de-DE" b="1" dirty="0" smtClean="0">
                <a:solidFill>
                  <a:srgbClr val="0071B2"/>
                </a:solidFill>
                <a:latin typeface="Source Sans Pro" panose="020B0503030403020204" pitchFamily="34" charset="0"/>
              </a:rPr>
              <a:t>die</a:t>
            </a:r>
            <a:r>
              <a:rPr lang="de-DE" dirty="0" smtClean="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gesamte Tabelle </a:t>
            </a:r>
            <a:r>
              <a:rPr lang="de-DE" dirty="0" smtClean="0">
                <a:solidFill>
                  <a:srgbClr val="0071B2"/>
                </a:solidFill>
                <a:latin typeface="Source Sans Pro" panose="020B0503030403020204" pitchFamily="34" charset="0"/>
              </a:rPr>
              <a:t>Produkt</a:t>
            </a:r>
            <a:r>
              <a:rPr lang="de-DE" b="1" dirty="0" smtClean="0">
                <a:solidFill>
                  <a:srgbClr val="0071B2"/>
                </a:solidFill>
                <a:latin typeface="Source Sans Pro" panose="020B0503030403020204" pitchFamily="34" charset="0"/>
              </a:rPr>
              <a:t>(!)</a:t>
            </a:r>
            <a:r>
              <a:rPr lang="de-DE" dirty="0" smtClean="0">
                <a:solidFill>
                  <a:srgbClr val="0071B2"/>
                </a:solidFill>
                <a:latin typeface="Source Sans Pro" panose="020B0503030403020204" pitchFamily="34" charset="0"/>
              </a:rPr>
              <a:t>:</a:t>
            </a:r>
            <a:endParaRPr lang="de-DE" dirty="0">
              <a:solidFill>
                <a:srgbClr val="0071B2"/>
              </a:solidFill>
              <a:latin typeface="Source Sans Pro" panose="020B0503030403020204" pitchFamily="34" charset="0"/>
            </a:endParaRPr>
          </a:p>
          <a:p>
            <a:pPr lvl="2">
              <a:defRPr/>
            </a:pPr>
            <a:r>
              <a:rPr lang="de-DE" b="1" dirty="0">
                <a:solidFill>
                  <a:srgbClr val="0071B2"/>
                </a:solidFill>
                <a:latin typeface="Source Sans Pro" panose="020B0503030403020204" pitchFamily="34" charset="0"/>
              </a:rPr>
              <a:t>		DELETE FROM </a:t>
            </a:r>
            <a:r>
              <a:rPr lang="de-DE" dirty="0" smtClean="0">
                <a:solidFill>
                  <a:srgbClr val="0071B2"/>
                </a:solidFill>
                <a:latin typeface="Source Sans Pro" panose="020B0503030403020204" pitchFamily="34" charset="0"/>
              </a:rPr>
              <a:t>Produkt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Euro_Preis </a:t>
            </a:r>
            <a:r>
              <a:rPr lang="de-DE" b="1" dirty="0">
                <a:solidFill>
                  <a:srgbClr val="0071B2"/>
                </a:solidFill>
                <a:latin typeface="Source Sans Pro" panose="020B0503030403020204" pitchFamily="34" charset="0"/>
              </a:rPr>
              <a:t>&gt;=</a:t>
            </a:r>
            <a:r>
              <a:rPr lang="de-DE" dirty="0">
                <a:solidFill>
                  <a:srgbClr val="0071B2"/>
                </a:solidFill>
                <a:latin typeface="Source Sans Pro" panose="020B0503030403020204" pitchFamily="34" charset="0"/>
              </a:rPr>
              <a:t> 10 </a:t>
            </a:r>
            <a:r>
              <a:rPr lang="de-DE" b="1" dirty="0" smtClean="0">
                <a:solidFill>
                  <a:srgbClr val="0071B2"/>
                </a:solidFill>
                <a:latin typeface="Source Sans Pro" panose="020B0503030403020204" pitchFamily="34" charset="0"/>
              </a:rPr>
              <a:t>;</a:t>
            </a:r>
            <a:endParaRPr lang="de-DE" b="1" dirty="0">
              <a:solidFill>
                <a:srgbClr val="0071B2"/>
              </a:solidFill>
              <a:latin typeface="Source Sans Pro" panose="020B0503030403020204" pitchFamily="34" charset="0"/>
            </a:endParaRPr>
          </a:p>
          <a:p>
            <a:pPr lvl="2">
              <a:defRPr/>
            </a:pPr>
            <a:r>
              <a:rPr lang="de-DE" b="1" dirty="0">
                <a:solidFill>
                  <a:srgbClr val="0071B2"/>
                </a:solidFill>
                <a:latin typeface="Source Sans Pro" panose="020B0503030403020204" pitchFamily="34" charset="0"/>
              </a:rPr>
              <a:t>		DELETE FROM </a:t>
            </a:r>
            <a:r>
              <a:rPr lang="de-DE" dirty="0" smtClean="0">
                <a:solidFill>
                  <a:srgbClr val="0071B2"/>
                </a:solidFill>
                <a:latin typeface="Source Sans Pro" panose="020B0503030403020204" pitchFamily="34" charset="0"/>
              </a:rPr>
              <a:t>Produkt </a:t>
            </a:r>
            <a:r>
              <a:rPr lang="de-DE" b="1" dirty="0">
                <a:solidFill>
                  <a:srgbClr val="0071B2"/>
                </a:solidFill>
                <a:latin typeface="Source Sans Pro" panose="020B0503030403020204" pitchFamily="34" charset="0"/>
              </a:rPr>
              <a:t>WHERE</a:t>
            </a:r>
            <a:r>
              <a:rPr lang="de-DE" dirty="0">
                <a:solidFill>
                  <a:srgbClr val="0071B2"/>
                </a:solidFill>
                <a:latin typeface="Source Sans Pro" panose="020B0503030403020204" pitchFamily="34" charset="0"/>
              </a:rPr>
              <a:t> Euro_Preis </a:t>
            </a:r>
            <a:r>
              <a:rPr lang="de-DE" b="1" dirty="0">
                <a:solidFill>
                  <a:srgbClr val="0071B2"/>
                </a:solidFill>
                <a:latin typeface="Source Sans Pro" panose="020B0503030403020204" pitchFamily="34" charset="0"/>
              </a:rPr>
              <a:t>&lt;=</a:t>
            </a:r>
            <a:r>
              <a:rPr lang="de-DE" dirty="0">
                <a:solidFill>
                  <a:srgbClr val="0071B2"/>
                </a:solidFill>
                <a:latin typeface="Source Sans Pro" panose="020B0503030403020204" pitchFamily="34" charset="0"/>
              </a:rPr>
              <a:t> 100</a:t>
            </a:r>
            <a:r>
              <a:rPr lang="de-DE" b="1" dirty="0" smtClean="0">
                <a:solidFill>
                  <a:srgbClr val="0071B2"/>
                </a:solidFill>
                <a:latin typeface="Source Sans Pro" panose="020B0503030403020204" pitchFamily="34" charset="0"/>
              </a:rPr>
              <a:t>;</a:t>
            </a:r>
            <a:endParaRPr lang="de-DE" b="1"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Motivation </a:t>
            </a:r>
            <a:r>
              <a:rPr lang="de-DE" sz="4000" dirty="0" smtClean="0">
                <a:solidFill>
                  <a:schemeClr val="accent2"/>
                </a:solidFill>
                <a:latin typeface="Source Sans Pro" panose="020B0503030403020204" pitchFamily="34" charset="0"/>
              </a:rPr>
              <a:t>(Nachtrag)</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33050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A_02_04_01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6" name="Grafik 5"/>
          <p:cNvPicPr>
            <a:picLocks noChangeAspect="1"/>
          </p:cNvPicPr>
          <p:nvPr/>
        </p:nvPicPr>
        <p:blipFill>
          <a:blip r:embed="rId2"/>
          <a:stretch>
            <a:fillRect/>
          </a:stretch>
        </p:blipFill>
        <p:spPr>
          <a:xfrm>
            <a:off x="4796444" y="1321153"/>
            <a:ext cx="2999516" cy="4276374"/>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2076</Words>
  <Application>Microsoft Office PowerPoint</Application>
  <PresentationFormat>Breitbild</PresentationFormat>
  <Paragraphs>344</Paragraphs>
  <Slides>36</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36</vt:i4>
      </vt:variant>
    </vt:vector>
  </HeadingPairs>
  <TitlesOfParts>
    <vt:vector size="42"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A_02_04_01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Max Muster01</cp:lastModifiedBy>
  <cp:revision>429</cp:revision>
  <dcterms:created xsi:type="dcterms:W3CDTF">2022-02-01T13:48:14Z</dcterms:created>
  <dcterms:modified xsi:type="dcterms:W3CDTF">2022-05-30T14:23:48Z</dcterms:modified>
</cp:coreProperties>
</file>