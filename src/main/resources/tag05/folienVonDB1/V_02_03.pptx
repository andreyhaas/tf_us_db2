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01" r:id="rId5"/>
    <p:sldId id="314" r:id="rId6"/>
    <p:sldId id="310" r:id="rId7"/>
    <p:sldId id="322" r:id="rId8"/>
    <p:sldId id="324" r:id="rId9"/>
    <p:sldId id="311" r:id="rId10"/>
    <p:sldId id="312" r:id="rId11"/>
    <p:sldId id="313" r:id="rId12"/>
    <p:sldId id="315" r:id="rId13"/>
    <p:sldId id="318" r:id="rId14"/>
    <p:sldId id="319" r:id="rId15"/>
    <p:sldId id="320" r:id="rId16"/>
    <p:sldId id="317" r:id="rId17"/>
    <p:sldId id="321" r:id="rId18"/>
    <p:sldId id="277" r:id="rId19"/>
    <p:sldId id="259"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17.01.2024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17.01.2024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17.01.2024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17.01.2024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17.01.2024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17.01.2024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17.01.2024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17.01.2024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17.01.2024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17.01.2024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17.01.2024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17.01.2024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2 - Tag 3)</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955965" y="1104065"/>
            <a:ext cx="10713719" cy="4616648"/>
          </a:xfrm>
          <a:prstGeom prst="rect">
            <a:avLst/>
          </a:prstGeom>
          <a:noFill/>
        </p:spPr>
        <p:txBody>
          <a:bodyPr wrap="square" rtlCol="0">
            <a:spAutoFit/>
          </a:bodyPr>
          <a:lstStyle/>
          <a:p>
            <a:endParaRPr lang="de-DE" b="1" dirty="0">
              <a:latin typeface="Source Sans Pro" panose="020B0503030403020204" pitchFamily="34" charset="0"/>
            </a:endParaRPr>
          </a:p>
          <a:p>
            <a:r>
              <a:rPr lang="de-DE" sz="2400" b="1" dirty="0">
                <a:latin typeface="Source Sans Pro" panose="020B0503030403020204" pitchFamily="34" charset="0"/>
              </a:rPr>
              <a:t>Data Manipulation Language (DML) </a:t>
            </a:r>
          </a:p>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Definition + Motivation</a:t>
            </a:r>
          </a:p>
          <a:p>
            <a:pPr marL="742950" lvl="1" indent="-285750">
              <a:buFont typeface="Arial" panose="020B0604020202020204" pitchFamily="34" charset="0"/>
              <a:buChar char="•"/>
            </a:pPr>
            <a:endParaRPr lang="de-DE" sz="800"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INSERT INTO</a:t>
            </a:r>
          </a:p>
          <a:p>
            <a:pPr marL="1257300" lvl="2" indent="-342900">
              <a:buFont typeface="Courier New" panose="02070309020205020404" pitchFamily="49" charset="0"/>
              <a:buChar char="o"/>
            </a:pPr>
            <a:r>
              <a:rPr lang="de-DE" sz="1600" dirty="0">
                <a:latin typeface="Source Sans Pro" panose="020B0503030403020204" pitchFamily="34" charset="0"/>
              </a:rPr>
              <a:t>alle Attribute</a:t>
            </a:r>
          </a:p>
          <a:p>
            <a:pPr marL="1257300" lvl="2" indent="-342900">
              <a:buFont typeface="Courier New" panose="02070309020205020404" pitchFamily="49" charset="0"/>
              <a:buChar char="o"/>
            </a:pPr>
            <a:r>
              <a:rPr lang="de-DE" sz="1600" dirty="0">
                <a:latin typeface="Source Sans Pro" panose="020B0503030403020204" pitchFamily="34" charset="0"/>
              </a:rPr>
              <a:t>ausgewählte Attribute</a:t>
            </a:r>
          </a:p>
          <a:p>
            <a:pPr marL="1257300" lvl="2" indent="-342900">
              <a:buFont typeface="Courier New" panose="02070309020205020404" pitchFamily="49" charset="0"/>
              <a:buChar char="o"/>
            </a:pPr>
            <a:r>
              <a:rPr lang="de-DE" sz="1600" dirty="0">
                <a:latin typeface="Source Sans Pro" panose="020B0503030403020204" pitchFamily="34" charset="0"/>
              </a:rPr>
              <a:t>Übergabewert CURDATE()</a:t>
            </a:r>
          </a:p>
          <a:p>
            <a:pPr marL="1257300" lvl="2" indent="-342900">
              <a:buFont typeface="Courier New" panose="02070309020205020404" pitchFamily="49" charset="0"/>
              <a:buChar char="o"/>
            </a:pPr>
            <a:r>
              <a:rPr lang="de-DE" sz="1600" dirty="0">
                <a:latin typeface="Source Sans Pro" panose="020B0503030403020204" pitchFamily="34" charset="0"/>
              </a:rPr>
              <a:t>Wirkung des Constraints DEFAULT</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DELETE FROM</a:t>
            </a:r>
          </a:p>
          <a:p>
            <a:pPr marL="1257300" lvl="2" indent="-342900">
              <a:buFont typeface="Courier New" panose="02070309020205020404" pitchFamily="49" charset="0"/>
              <a:buChar char="o"/>
            </a:pPr>
            <a:r>
              <a:rPr lang="de-DE" sz="1600" dirty="0">
                <a:latin typeface="Source Sans Pro" panose="020B0503030403020204" pitchFamily="34" charset="0"/>
              </a:rPr>
              <a:t>Kurze Vorbemerkung zur internen Verarbeitung von SQL-Anweisungen</a:t>
            </a:r>
          </a:p>
          <a:p>
            <a:pPr marL="1257300" lvl="2" indent="-342900">
              <a:buFont typeface="Courier New" panose="02070309020205020404" pitchFamily="49" charset="0"/>
              <a:buChar char="o"/>
            </a:pPr>
            <a:r>
              <a:rPr lang="de-DE" sz="1600" u="sng" dirty="0">
                <a:latin typeface="Source Sans Pro" panose="020B0503030403020204" pitchFamily="34" charset="0"/>
              </a:rPr>
              <a:t>ohne</a:t>
            </a:r>
            <a:r>
              <a:rPr lang="de-DE" sz="1600" dirty="0">
                <a:latin typeface="Source Sans Pro" panose="020B0503030403020204" pitchFamily="34" charset="0"/>
              </a:rPr>
              <a:t> WHERE [vgl. TRUNCATE]</a:t>
            </a:r>
          </a:p>
          <a:p>
            <a:pPr marL="1257300" lvl="2" indent="-342900">
              <a:buFont typeface="Courier New" panose="02070309020205020404" pitchFamily="49" charset="0"/>
              <a:buChar char="o"/>
            </a:pPr>
            <a:r>
              <a:rPr lang="de-DE" sz="1600" u="sng" dirty="0">
                <a:latin typeface="Source Sans Pro" panose="020B0503030403020204" pitchFamily="34" charset="0"/>
              </a:rPr>
              <a:t>mit</a:t>
            </a:r>
            <a:r>
              <a:rPr lang="de-DE" sz="1600" dirty="0">
                <a:latin typeface="Source Sans Pro" panose="020B0503030403020204" pitchFamily="34" charset="0"/>
              </a:rPr>
              <a:t> WHERE</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UPDATE [+ WHERE]</a:t>
            </a:r>
          </a:p>
          <a:p>
            <a:pPr marL="742950" lvl="1" indent="-285750">
              <a:buFont typeface="Arial" panose="020B0604020202020204" pitchFamily="34" charset="0"/>
              <a:buChar char="•"/>
            </a:pPr>
            <a:endParaRPr lang="de-DE" sz="2000" dirty="0">
              <a:latin typeface="Source Sans Pro" panose="020B0503030403020204" pitchFamily="34" charset="0"/>
            </a:endParaRPr>
          </a:p>
          <a:p>
            <a:pPr lvl="2"/>
            <a:endParaRPr lang="de-DE" sz="800"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DML </a:t>
            </a:r>
            <a:r>
              <a:rPr lang="de-DE" sz="2800" dirty="0">
                <a:latin typeface="Source Sans Pro" panose="020B0503030403020204" pitchFamily="34" charset="0"/>
              </a:rPr>
              <a:t>(Data Manipulation Language)</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1533935"/>
            <a:ext cx="10909810" cy="3785652"/>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Wir haben uns zu Beginn ausschließlich mit der Implementierung von „leeren“ Datenbanken befasst, also mit der „</a:t>
            </a:r>
            <a:r>
              <a:rPr lang="de-DE" sz="2400" b="1" dirty="0">
                <a:solidFill>
                  <a:srgbClr val="0071B2"/>
                </a:solidFill>
                <a:latin typeface="Source Sans Pro" panose="020B0503030403020204" pitchFamily="34" charset="0"/>
              </a:rPr>
              <a:t>D</a:t>
            </a:r>
            <a:r>
              <a:rPr lang="de-DE" sz="2400" dirty="0">
                <a:solidFill>
                  <a:srgbClr val="0071B2"/>
                </a:solidFill>
                <a:latin typeface="Source Sans Pro" panose="020B0503030403020204" pitchFamily="34" charset="0"/>
              </a:rPr>
              <a:t>efinition“ des Schemas, bzw. der D</a:t>
            </a:r>
            <a:r>
              <a:rPr lang="de-DE" sz="2400" b="1" dirty="0">
                <a:solidFill>
                  <a:srgbClr val="0071B2"/>
                </a:solidFill>
                <a:latin typeface="Source Sans Pro" panose="020B0503030403020204" pitchFamily="34" charset="0"/>
              </a:rPr>
              <a:t>D</a:t>
            </a:r>
            <a:r>
              <a:rPr lang="de-DE" sz="2400" dirty="0">
                <a:solidFill>
                  <a:srgbClr val="0071B2"/>
                </a:solidFill>
                <a:latin typeface="Source Sans Pro" panose="020B0503030403020204" pitchFamily="34" charset="0"/>
              </a:rPr>
              <a:t>L.</a:t>
            </a:r>
          </a:p>
          <a:p>
            <a:pPr lvl="0">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Wir wollen uns nun anschauen, wie wir die Werte eines Datensatzes innerhalb einer Datenbank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einpflegen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aktualisieren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und/oder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löschen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können.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Auf diese Weise beeinflussen wir den Inhalt </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(bzw. führen eine </a:t>
            </a:r>
            <a:r>
              <a:rPr kumimoji="0" lang="de-DE" sz="16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M</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anipulation dieser Inhalte durch).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Daher gehören die kommenden Befehle zur Data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M</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anipulation Language“.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Die </a:t>
            </a:r>
            <a:r>
              <a:rPr lang="de-DE" sz="2400" b="1" dirty="0">
                <a:solidFill>
                  <a:srgbClr val="0071B2"/>
                </a:solidFill>
                <a:latin typeface="Source Sans Pro" panose="020B0503030403020204" pitchFamily="34" charset="0"/>
              </a:rPr>
              <a:t>Motivation</a:t>
            </a:r>
            <a:r>
              <a:rPr lang="de-DE" sz="2400" dirty="0">
                <a:solidFill>
                  <a:srgbClr val="0071B2"/>
                </a:solidFill>
                <a:latin typeface="Source Sans Pro" panose="020B0503030403020204" pitchFamily="34" charset="0"/>
              </a:rPr>
              <a:t> dieser Lerninhalte ergibt sich dann aber offensichtlich von selbst, denn natürlich wollen wir nach knapp 1,5 Wochen unseres Unterrichts nicht bei „leeren“ Datenbanken stehen bleiben, sondern (endlich) auch Daten eintragen </a:t>
            </a:r>
            <a:r>
              <a:rPr lang="de-DE" sz="2400" dirty="0">
                <a:solidFill>
                  <a:srgbClr val="0071B2"/>
                </a:solidFill>
                <a:latin typeface="Source Sans Pro" panose="020B0503030403020204" pitchFamily="34" charset="0"/>
                <a:sym typeface="Wingdings" panose="05000000000000000000" pitchFamily="2" charset="2"/>
              </a:rPr>
              <a:t>.</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a:solidFill>
                  <a:schemeClr val="accent2"/>
                </a:solidFill>
                <a:latin typeface="Source Sans Pro" panose="020B0503030403020204" pitchFamily="34" charset="0"/>
              </a:rPr>
              <a:t>Definition</a:t>
            </a:r>
            <a:r>
              <a:rPr lang="de-DE" sz="4000" dirty="0">
                <a:latin typeface="Source Sans Pro" panose="020B0503030403020204" pitchFamily="34" charset="0"/>
              </a:rPr>
              <a:t> + </a:t>
            </a:r>
            <a:r>
              <a:rPr lang="de-DE" sz="4000" dirty="0">
                <a:solidFill>
                  <a:schemeClr val="accent2"/>
                </a:solidFill>
                <a:latin typeface="Source Sans Pro" panose="020B0503030403020204" pitchFamily="34" charset="0"/>
              </a:rPr>
              <a:t>Motivation</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9351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INSERT INTO</a:t>
            </a:r>
            <a:endParaRPr lang="de-DE" sz="2800" dirty="0">
              <a:latin typeface="Source Sans Pro" panose="020B0503030403020204" pitchFamily="34" charset="0"/>
            </a:endParaRPr>
          </a:p>
        </p:txBody>
      </p:sp>
    </p:spTree>
    <p:extLst>
      <p:ext uri="{BB962C8B-B14F-4D97-AF65-F5344CB8AC3E}">
        <p14:creationId xmlns:p14="http://schemas.microsoft.com/office/powerpoint/2010/main" val="302272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624504" cy="720725"/>
          </a:xfrm>
        </p:spPr>
        <p:txBody>
          <a:bodyPr>
            <a:normAutofit fontScale="90000"/>
          </a:bodyPr>
          <a:lstStyle/>
          <a:p>
            <a:r>
              <a:rPr lang="de-DE" dirty="0">
                <a:solidFill>
                  <a:schemeClr val="accent2"/>
                </a:solidFill>
                <a:latin typeface="Source Sans Pro" panose="020B0503030403020204" pitchFamily="34" charset="0"/>
              </a:rPr>
              <a:t>INSERT INTO </a:t>
            </a:r>
            <a:r>
              <a:rPr lang="de-DE" b="0" dirty="0">
                <a:solidFill>
                  <a:srgbClr val="0070C0"/>
                </a:solidFill>
                <a:latin typeface="Source Sans Pro" panose="020B0503030403020204" pitchFamily="34" charset="0"/>
              </a:rPr>
              <a:t>Tabellen-Name</a:t>
            </a:r>
            <a:r>
              <a:rPr lang="de-DE" dirty="0">
                <a:solidFill>
                  <a:srgbClr val="0070C0"/>
                </a:solidFill>
                <a:latin typeface="Source Sans Pro" panose="020B0503030403020204" pitchFamily="34" charset="0"/>
              </a:rPr>
              <a:t>(</a:t>
            </a:r>
            <a:r>
              <a:rPr lang="de-DE" sz="1300" b="0" dirty="0">
                <a:solidFill>
                  <a:srgbClr val="0070C0"/>
                </a:solidFill>
                <a:latin typeface="Source Sans Pro" panose="020B0503030403020204" pitchFamily="34" charset="0"/>
              </a:rPr>
              <a:t>Liste der Attribute</a:t>
            </a:r>
            <a:r>
              <a:rPr lang="de-DE" dirty="0">
                <a:latin typeface="Source Sans Pro" panose="020B0503030403020204" pitchFamily="34" charset="0"/>
              </a:rPr>
              <a:t>)</a:t>
            </a:r>
            <a:r>
              <a:rPr lang="de-DE" dirty="0">
                <a:solidFill>
                  <a:schemeClr val="accent2"/>
                </a:solidFill>
                <a:latin typeface="Source Sans Pro" panose="020B0503030403020204" pitchFamily="34" charset="0"/>
              </a:rPr>
              <a:t> VALUES </a:t>
            </a:r>
            <a:r>
              <a:rPr lang="de-DE" dirty="0">
                <a:latin typeface="Source Sans Pro" panose="020B0503030403020204" pitchFamily="34" charset="0"/>
              </a:rPr>
              <a:t>(</a:t>
            </a:r>
            <a:r>
              <a:rPr lang="de-DE" sz="1300" u="sng" dirty="0">
                <a:solidFill>
                  <a:schemeClr val="accent2">
                    <a:lumMod val="50000"/>
                  </a:schemeClr>
                </a:solidFill>
                <a:latin typeface="Source Sans Pro" panose="020B0503030403020204" pitchFamily="34" charset="0"/>
              </a:rPr>
              <a:t>einziger</a:t>
            </a:r>
            <a:r>
              <a:rPr lang="de-DE" sz="1300" b="0" dirty="0">
                <a:solidFill>
                  <a:schemeClr val="accent2">
                    <a:lumMod val="50000"/>
                  </a:schemeClr>
                </a:solidFill>
                <a:latin typeface="Source Sans Pro" panose="020B0503030403020204" pitchFamily="34" charset="0"/>
              </a:rPr>
              <a:t> Datensatz</a:t>
            </a:r>
            <a:r>
              <a:rPr lang="de-DE" dirty="0">
                <a:latin typeface="Source Sans Pro" panose="020B0503030403020204" pitchFamily="34" charset="0"/>
              </a:rPr>
              <a: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42361" y="1628776"/>
            <a:ext cx="11649639" cy="341632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Einpflegen des </a:t>
            </a:r>
            <a:r>
              <a:rPr kumimoji="0" lang="de-DE" sz="2000" i="0" u="none" strike="noStrike" kern="1200" cap="none" spc="0" normalizeH="0" noProof="0" dirty="0">
                <a:ln>
                  <a:noFill/>
                </a:ln>
                <a:solidFill>
                  <a:schemeClr val="accent3">
                    <a:lumMod val="75000"/>
                  </a:schemeClr>
                </a:solidFill>
                <a:effectLst/>
                <a:uLnTx/>
                <a:uFillTx/>
                <a:latin typeface="Source Sans Pro" panose="020B0503030403020204" pitchFamily="34" charset="0"/>
                <a:ea typeface="+mn-ea"/>
                <a:cs typeface="+mn-cs"/>
              </a:rPr>
              <a:t>Kunden</a:t>
            </a:r>
            <a:r>
              <a:rPr kumimoji="0" lang="de-DE" sz="200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sz="2000"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Peter Müller</a:t>
            </a:r>
            <a:r>
              <a:rPr kumimoji="0" lang="de-DE" sz="2000" i="0" u="none" strike="noStrike" kern="1200" cap="none" spc="0" normalizeH="0" noProof="0" dirty="0">
                <a:ln>
                  <a:noFill/>
                </a:ln>
                <a:effectLst/>
                <a:uLnTx/>
                <a:uFillTx/>
                <a:latin typeface="Source Sans Pro" panose="020B0503030403020204" pitchFamily="34" charset="0"/>
                <a:ea typeface="+mn-ea"/>
                <a:cs typeface="+mn-cs"/>
              </a:rPr>
              <a:t>, Email-Adresse: </a:t>
            </a:r>
            <a:r>
              <a:rPr kumimoji="0" lang="de-DE" sz="2000" i="0" u="none" strike="noStrike" kern="1200" cap="none" spc="0" normalizeH="0" noProof="0" dirty="0">
                <a:ln>
                  <a:noFill/>
                </a:ln>
                <a:solidFill>
                  <a:schemeClr val="accent2">
                    <a:lumMod val="50000"/>
                  </a:schemeClr>
                </a:solidFill>
                <a:effectLst/>
                <a:uLnTx/>
                <a:uFillTx/>
                <a:latin typeface="Source Sans Pro" panose="020B0503030403020204" pitchFamily="34" charset="0"/>
                <a:ea typeface="+mn-ea"/>
                <a:cs typeface="+mn-cs"/>
              </a:rPr>
              <a:t>abc@xyz</a:t>
            </a:r>
            <a:r>
              <a:rPr kumimoji="0" lang="de-DE" sz="2000" i="0" u="none" strike="noStrike" kern="1200" cap="none" spc="0" normalizeH="0" noProof="0" dirty="0">
                <a:ln>
                  <a:noFill/>
                </a:ln>
                <a:effectLst/>
                <a:uLnTx/>
                <a:uFillTx/>
                <a:latin typeface="Source Sans Pro" panose="020B0503030403020204" pitchFamily="34" charset="0"/>
                <a:ea typeface="+mn-ea"/>
                <a:cs typeface="+mn-cs"/>
              </a:rPr>
              <a:t> </a:t>
            </a:r>
            <a:r>
              <a:rPr kumimoji="0" lang="de-DE" sz="120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(die </a:t>
            </a:r>
            <a:r>
              <a:rPr kumimoji="0" lang="de-DE" sz="12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ID</a:t>
            </a:r>
            <a:r>
              <a:rPr kumimoji="0" lang="de-DE" sz="120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soll </a:t>
            </a:r>
            <a:r>
              <a:rPr kumimoji="0" lang="de-DE" sz="12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automatisch</a:t>
            </a:r>
            <a:r>
              <a:rPr kumimoji="0" lang="de-DE" sz="120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vergeben werden)</a:t>
            </a:r>
            <a:r>
              <a:rPr kumimoji="0" lang="de-DE" sz="200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lvl="0">
              <a:defRPr/>
            </a:pPr>
            <a:r>
              <a:rPr lang="de-DE" sz="2000" baseline="0" dirty="0">
                <a:solidFill>
                  <a:srgbClr val="0071B2"/>
                </a:solidFill>
                <a:latin typeface="Source Sans Pro" panose="020B0503030403020204" pitchFamily="34" charset="0"/>
              </a:rPr>
              <a:t>	</a:t>
            </a:r>
            <a:r>
              <a:rPr lang="de-DE" sz="3200" b="1" baseline="0" dirty="0">
                <a:solidFill>
                  <a:srgbClr val="0071B2"/>
                </a:solidFill>
                <a:latin typeface="Source Sans Pro" panose="020B0503030403020204" pitchFamily="34" charset="0"/>
              </a:rPr>
              <a:t>INSERT INTO </a:t>
            </a:r>
            <a:r>
              <a:rPr lang="de-DE" sz="3200" baseline="0" dirty="0">
                <a:solidFill>
                  <a:schemeClr val="accent3">
                    <a:lumMod val="75000"/>
                  </a:schemeClr>
                </a:solidFill>
                <a:latin typeface="Source Sans Pro" panose="020B0503030403020204" pitchFamily="34" charset="0"/>
              </a:rPr>
              <a:t>Kunden</a:t>
            </a:r>
            <a:r>
              <a:rPr lang="de-DE" sz="3200" b="1" baseline="0" dirty="0">
                <a:latin typeface="Source Sans Pro" panose="020B0503030403020204" pitchFamily="34" charset="0"/>
              </a:rPr>
              <a:t>(</a:t>
            </a:r>
            <a:r>
              <a:rPr lang="de-DE" sz="3200" baseline="0" dirty="0">
                <a:solidFill>
                  <a:srgbClr val="0070C0"/>
                </a:solidFill>
                <a:latin typeface="Source Sans Pro" panose="020B0503030403020204" pitchFamily="34" charset="0"/>
              </a:rPr>
              <a:t>Vorname, Nachname, Email</a:t>
            </a:r>
            <a:r>
              <a:rPr lang="de-DE" sz="3200" b="1" baseline="0" dirty="0">
                <a:solidFill>
                  <a:srgbClr val="0070C0"/>
                </a:solidFill>
                <a:latin typeface="Source Sans Pro" panose="020B0503030403020204" pitchFamily="34" charset="0"/>
              </a:rPr>
              <a:t>) </a:t>
            </a:r>
          </a:p>
          <a:p>
            <a:pPr lvl="0">
              <a:defRPr/>
            </a:pPr>
            <a:r>
              <a:rPr lang="de-DE" sz="3200" b="1" dirty="0">
                <a:solidFill>
                  <a:srgbClr val="0071B2"/>
                </a:solidFill>
                <a:latin typeface="Source Sans Pro" panose="020B0503030403020204" pitchFamily="34" charset="0"/>
              </a:rPr>
              <a:t>	VALUES (</a:t>
            </a:r>
            <a:r>
              <a:rPr lang="de-DE" sz="3200" dirty="0">
                <a:solidFill>
                  <a:schemeClr val="accent2">
                    <a:lumMod val="50000"/>
                  </a:schemeClr>
                </a:solidFill>
                <a:latin typeface="Source Sans Pro" panose="020B0503030403020204" pitchFamily="34" charset="0"/>
              </a:rPr>
              <a:t>"Peter"</a:t>
            </a:r>
            <a:r>
              <a:rPr lang="de-DE" sz="3200" dirty="0">
                <a:latin typeface="Source Sans Pro" panose="020B0503030403020204" pitchFamily="34" charset="0"/>
              </a:rPr>
              <a:t>,</a:t>
            </a:r>
            <a:r>
              <a:rPr lang="de-DE" sz="3200" dirty="0">
                <a:solidFill>
                  <a:schemeClr val="accent2">
                    <a:lumMod val="50000"/>
                  </a:schemeClr>
                </a:solidFill>
                <a:latin typeface="Source Sans Pro" panose="020B0503030403020204" pitchFamily="34" charset="0"/>
              </a:rPr>
              <a:t> "Müller"</a:t>
            </a:r>
            <a:r>
              <a:rPr lang="de-DE" sz="3200" dirty="0">
                <a:solidFill>
                  <a:srgbClr val="0071B2"/>
                </a:solidFill>
                <a:latin typeface="Source Sans Pro" panose="020B0503030403020204" pitchFamily="34" charset="0"/>
              </a:rPr>
              <a:t>, </a:t>
            </a:r>
            <a:r>
              <a:rPr lang="de-DE" sz="3200" dirty="0">
                <a:solidFill>
                  <a:schemeClr val="accent2">
                    <a:lumMod val="50000"/>
                  </a:schemeClr>
                </a:solidFill>
                <a:latin typeface="Source Sans Pro" panose="020B0503030403020204" pitchFamily="34" charset="0"/>
              </a:rPr>
              <a:t>"abc@xyz"</a:t>
            </a:r>
            <a:r>
              <a:rPr lang="de-DE" sz="3200" b="1" dirty="0">
                <a:solidFill>
                  <a:srgbClr val="0071B2"/>
                </a:solidFill>
                <a:latin typeface="Source Sans Pro" panose="020B0503030403020204" pitchFamily="34" charset="0"/>
              </a:rPr>
              <a:t>);</a:t>
            </a:r>
            <a:endParaRPr lang="de-DE" sz="3200" b="1" baseline="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lvl="0">
              <a:defRPr/>
            </a:pPr>
            <a:r>
              <a:rPr lang="de-DE" sz="2000" dirty="0">
                <a:solidFill>
                  <a:srgbClr val="0071B2"/>
                </a:solidFill>
                <a:latin typeface="Source Sans Pro" panose="020B0503030403020204" pitchFamily="34" charset="0"/>
              </a:rPr>
              <a:t>Einpflegen der </a:t>
            </a:r>
            <a:r>
              <a:rPr lang="de-DE" sz="2000" b="1" dirty="0">
                <a:solidFill>
                  <a:srgbClr val="D2E8F4">
                    <a:lumMod val="75000"/>
                  </a:srgbClr>
                </a:solidFill>
                <a:latin typeface="Source Sans Pro" panose="020B0503030403020204" pitchFamily="34" charset="0"/>
              </a:rPr>
              <a:t>Abrechnung</a:t>
            </a:r>
            <a:r>
              <a:rPr lang="de-DE" sz="2000" dirty="0">
                <a:solidFill>
                  <a:srgbClr val="0071B2"/>
                </a:solidFill>
                <a:latin typeface="Source Sans Pro" panose="020B0503030403020204" pitchFamily="34" charset="0"/>
              </a:rPr>
              <a:t> (ID </a:t>
            </a:r>
            <a:r>
              <a:rPr lang="de-DE" sz="2000" b="1" dirty="0">
                <a:solidFill>
                  <a:schemeClr val="accent2">
                    <a:lumMod val="50000"/>
                  </a:schemeClr>
                </a:solidFill>
                <a:latin typeface="Source Sans Pro" panose="020B0503030403020204" pitchFamily="34" charset="0"/>
              </a:rPr>
              <a:t>1</a:t>
            </a:r>
            <a:r>
              <a:rPr lang="de-DE" sz="2000" dirty="0">
                <a:latin typeface="Source Sans Pro" panose="020B0503030403020204" pitchFamily="34" charset="0"/>
              </a:rPr>
              <a:t>) des Kunden (ID </a:t>
            </a:r>
            <a:r>
              <a:rPr lang="de-DE" sz="2000" b="1" dirty="0">
                <a:solidFill>
                  <a:schemeClr val="accent2">
                    <a:lumMod val="50000"/>
                  </a:schemeClr>
                </a:solidFill>
                <a:latin typeface="Source Sans Pro" panose="020B0503030403020204" pitchFamily="34" charset="0"/>
              </a:rPr>
              <a:t>3</a:t>
            </a:r>
            <a:r>
              <a:rPr lang="de-DE" sz="2000" dirty="0">
                <a:latin typeface="Source Sans Pro" panose="020B0503030403020204" pitchFamily="34" charset="0"/>
              </a:rPr>
              <a:t>) vom </a:t>
            </a:r>
            <a:r>
              <a:rPr lang="de-DE" sz="2000" b="1" dirty="0">
                <a:solidFill>
                  <a:schemeClr val="accent2">
                    <a:lumMod val="50000"/>
                  </a:schemeClr>
                </a:solidFill>
                <a:latin typeface="Source Sans Pro" panose="020B0503030403020204" pitchFamily="34" charset="0"/>
              </a:rPr>
              <a:t>2. Januar 2017 </a:t>
            </a:r>
            <a:r>
              <a:rPr lang="de-DE" sz="1200" dirty="0">
                <a:latin typeface="Source Sans Pro" panose="020B0503030403020204" pitchFamily="34" charset="0"/>
              </a:rPr>
              <a:t>(</a:t>
            </a:r>
            <a:r>
              <a:rPr lang="de-DE" sz="1200" b="1" dirty="0">
                <a:latin typeface="Source Sans Pro" panose="020B0503030403020204" pitchFamily="34" charset="0"/>
              </a:rPr>
              <a:t>ID</a:t>
            </a:r>
            <a:r>
              <a:rPr lang="de-DE" sz="1200" dirty="0">
                <a:latin typeface="Source Sans Pro" panose="020B0503030403020204" pitchFamily="34" charset="0"/>
              </a:rPr>
              <a:t> </a:t>
            </a:r>
            <a:r>
              <a:rPr lang="de-DE" sz="1200" dirty="0">
                <a:solidFill>
                  <a:srgbClr val="0071B2"/>
                </a:solidFill>
                <a:latin typeface="Source Sans Pro" panose="020B0503030403020204" pitchFamily="34" charset="0"/>
              </a:rPr>
              <a:t>wird </a:t>
            </a:r>
            <a:r>
              <a:rPr lang="de-DE" sz="1200" b="1" dirty="0">
                <a:solidFill>
                  <a:srgbClr val="0071B2"/>
                </a:solidFill>
                <a:latin typeface="Source Sans Pro" panose="020B0503030403020204" pitchFamily="34" charset="0"/>
              </a:rPr>
              <a:t>händisch </a:t>
            </a:r>
            <a:r>
              <a:rPr lang="de-DE" sz="1200" dirty="0">
                <a:solidFill>
                  <a:srgbClr val="0071B2"/>
                </a:solidFill>
                <a:latin typeface="Source Sans Pro" panose="020B0503030403020204" pitchFamily="34" charset="0"/>
              </a:rPr>
              <a:t>gesetzt)</a:t>
            </a:r>
            <a:r>
              <a:rPr lang="de-DE" sz="2000"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lvl="0">
              <a:defRPr/>
            </a:pPr>
            <a:r>
              <a:rPr lang="de-DE" sz="2000" dirty="0">
                <a:solidFill>
                  <a:srgbClr val="0071B2"/>
                </a:solidFill>
                <a:latin typeface="Source Sans Pro" panose="020B0503030403020204" pitchFamily="34" charset="0"/>
              </a:rPr>
              <a:t>	</a:t>
            </a:r>
            <a:r>
              <a:rPr lang="de-DE" sz="3200" b="1" dirty="0">
                <a:solidFill>
                  <a:srgbClr val="0071B2"/>
                </a:solidFill>
                <a:latin typeface="Source Sans Pro" panose="020B0503030403020204" pitchFamily="34" charset="0"/>
              </a:rPr>
              <a:t>INSERT INTO </a:t>
            </a:r>
            <a:r>
              <a:rPr lang="de-DE" sz="3200" dirty="0">
                <a:solidFill>
                  <a:srgbClr val="D2E8F4">
                    <a:lumMod val="75000"/>
                  </a:srgbClr>
                </a:solidFill>
                <a:latin typeface="Source Sans Pro" panose="020B0503030403020204" pitchFamily="34" charset="0"/>
              </a:rPr>
              <a:t>Abrechnung</a:t>
            </a:r>
            <a:r>
              <a:rPr lang="de-DE" sz="3200" b="1" dirty="0">
                <a:solidFill>
                  <a:srgbClr val="0071B2"/>
                </a:solidFill>
                <a:latin typeface="Source Sans Pro" panose="020B0503030403020204" pitchFamily="34" charset="0"/>
              </a:rPr>
              <a:t>(</a:t>
            </a:r>
            <a:r>
              <a:rPr lang="de-DE" sz="3200" dirty="0">
                <a:solidFill>
                  <a:srgbClr val="0070C0"/>
                </a:solidFill>
                <a:latin typeface="Source Sans Pro" panose="020B0503030403020204" pitchFamily="34" charset="0"/>
              </a:rPr>
              <a:t>Abrechnung_ID, Kunde_ID, Datum</a:t>
            </a:r>
            <a:r>
              <a:rPr lang="de-DE" sz="3200" b="1" dirty="0">
                <a:solidFill>
                  <a:srgbClr val="0070C0"/>
                </a:solidFill>
                <a:latin typeface="Source Sans Pro" panose="020B0503030403020204" pitchFamily="34" charset="0"/>
              </a:rPr>
              <a:t>) </a:t>
            </a:r>
          </a:p>
          <a:p>
            <a:pPr lvl="0">
              <a:defRPr/>
            </a:pPr>
            <a:r>
              <a:rPr lang="de-DE" sz="3200" b="1" dirty="0">
                <a:solidFill>
                  <a:srgbClr val="0071B2"/>
                </a:solidFill>
                <a:latin typeface="Source Sans Pro" panose="020B0503030403020204" pitchFamily="34" charset="0"/>
              </a:rPr>
              <a:t>	VALUES (</a:t>
            </a:r>
            <a:r>
              <a:rPr lang="de-DE" sz="3200" dirty="0">
                <a:solidFill>
                  <a:srgbClr val="FE5000">
                    <a:lumMod val="50000"/>
                  </a:srgbClr>
                </a:solidFill>
                <a:latin typeface="Source Sans Pro" panose="020B0503030403020204" pitchFamily="34" charset="0"/>
              </a:rPr>
              <a:t>1</a:t>
            </a:r>
            <a:r>
              <a:rPr lang="de-DE" sz="3200" dirty="0">
                <a:latin typeface="Source Sans Pro" panose="020B0503030403020204" pitchFamily="34" charset="0"/>
              </a:rPr>
              <a:t>,</a:t>
            </a:r>
            <a:r>
              <a:rPr lang="de-DE" sz="3200" dirty="0">
                <a:solidFill>
                  <a:srgbClr val="FE5000">
                    <a:lumMod val="50000"/>
                  </a:srgbClr>
                </a:solidFill>
                <a:latin typeface="Source Sans Pro" panose="020B0503030403020204" pitchFamily="34" charset="0"/>
              </a:rPr>
              <a:t> 3</a:t>
            </a:r>
            <a:r>
              <a:rPr lang="de-DE" sz="3200" dirty="0">
                <a:solidFill>
                  <a:srgbClr val="0071B2"/>
                </a:solidFill>
                <a:latin typeface="Source Sans Pro" panose="020B0503030403020204" pitchFamily="34" charset="0"/>
              </a:rPr>
              <a:t>, </a:t>
            </a:r>
            <a:r>
              <a:rPr lang="de-DE" sz="3200" dirty="0">
                <a:solidFill>
                  <a:srgbClr val="FE5000">
                    <a:lumMod val="50000"/>
                  </a:srgbClr>
                </a:solidFill>
                <a:latin typeface="Source Sans Pro" panose="020B0503030403020204" pitchFamily="34" charset="0"/>
              </a:rPr>
              <a:t>"2017-01-02"</a:t>
            </a:r>
            <a:r>
              <a:rPr lang="de-DE" sz="3200" b="1" dirty="0">
                <a:solidFill>
                  <a:srgbClr val="0071B2"/>
                </a:solidFill>
                <a:latin typeface="Source Sans Pro" panose="020B0503030403020204" pitchFamily="34" charset="0"/>
              </a:rPr>
              <a:t>);</a:t>
            </a:r>
          </a:p>
        </p:txBody>
      </p:sp>
      <p:sp>
        <p:nvSpPr>
          <p:cNvPr id="9" name="Rechteck 8"/>
          <p:cNvSpPr/>
          <p:nvPr/>
        </p:nvSpPr>
        <p:spPr>
          <a:xfrm>
            <a:off x="420609" y="5205757"/>
            <a:ext cx="7136131" cy="53943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solidFill>
            </a:endParaRPr>
          </a:p>
          <a:p>
            <a:pPr algn="ctr"/>
            <a:endParaRPr lang="de-DE" sz="800" b="1" dirty="0">
              <a:solidFill>
                <a:srgbClr val="0070C0"/>
              </a:solidFill>
            </a:endParaRPr>
          </a:p>
          <a:p>
            <a:r>
              <a:rPr lang="de-DE" sz="1600" dirty="0">
                <a:solidFill>
                  <a:srgbClr val="0070C0"/>
                </a:solidFill>
              </a:rPr>
              <a:t>Bei MariaDB ist der </a:t>
            </a:r>
            <a:r>
              <a:rPr lang="de-DE" sz="1600" b="1" dirty="0">
                <a:solidFill>
                  <a:srgbClr val="0070C0"/>
                </a:solidFill>
              </a:rPr>
              <a:t>Kalender-Datums-Typ</a:t>
            </a:r>
            <a:r>
              <a:rPr lang="de-DE" sz="1600" dirty="0">
                <a:solidFill>
                  <a:srgbClr val="0070C0"/>
                </a:solidFill>
              </a:rPr>
              <a:t> standardmäßig vom Format </a:t>
            </a:r>
            <a:r>
              <a:rPr lang="de-DE" sz="1600" b="1" dirty="0">
                <a:solidFill>
                  <a:srgbClr val="0070C0"/>
                </a:solidFill>
                <a:latin typeface="Source Sans Pro" panose="020B0503030403020204" pitchFamily="34" charset="0"/>
              </a:rPr>
              <a:t>"jjjj-mm-tt"</a:t>
            </a:r>
            <a:endParaRPr lang="de-DE" sz="1600" dirty="0">
              <a:solidFill>
                <a:schemeClr val="tx1"/>
              </a:solidFill>
            </a:endParaRPr>
          </a:p>
          <a:p>
            <a:pPr algn="ctr"/>
            <a:endParaRPr lang="de-DE" sz="1600" dirty="0">
              <a:solidFill>
                <a:schemeClr val="tx1"/>
              </a:solidFill>
            </a:endParaRPr>
          </a:p>
          <a:p>
            <a:pPr algn="ctr"/>
            <a:endParaRPr lang="de-DE" sz="1200" dirty="0">
              <a:solidFill>
                <a:schemeClr val="tx1"/>
              </a:solidFill>
            </a:endParaRPr>
          </a:p>
        </p:txBody>
      </p:sp>
    </p:spTree>
    <p:extLst>
      <p:ext uri="{BB962C8B-B14F-4D97-AF65-F5344CB8AC3E}">
        <p14:creationId xmlns:p14="http://schemas.microsoft.com/office/powerpoint/2010/main" val="131247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624504" cy="720725"/>
          </a:xfrm>
        </p:spPr>
        <p:txBody>
          <a:bodyPr>
            <a:normAutofit fontScale="90000"/>
          </a:bodyPr>
          <a:lstStyle/>
          <a:p>
            <a:r>
              <a:rPr lang="de-DE" dirty="0">
                <a:solidFill>
                  <a:srgbClr val="0070C0"/>
                </a:solidFill>
                <a:latin typeface="Source Sans Pro" panose="020B0503030403020204" pitchFamily="34" charset="0"/>
              </a:rPr>
              <a:t>INSERT INTO </a:t>
            </a:r>
            <a:r>
              <a:rPr lang="de-DE" b="0" dirty="0">
                <a:solidFill>
                  <a:srgbClr val="0070C0"/>
                </a:solidFill>
                <a:latin typeface="Source Sans Pro" panose="020B0503030403020204" pitchFamily="34" charset="0"/>
              </a:rPr>
              <a:t>Tabellen-Name</a:t>
            </a:r>
            <a:r>
              <a:rPr lang="de-DE" dirty="0">
                <a:solidFill>
                  <a:srgbClr val="0070C0"/>
                </a:solidFill>
                <a:latin typeface="Source Sans Pro" panose="020B0503030403020204" pitchFamily="34" charset="0"/>
              </a:rPr>
              <a:t>(</a:t>
            </a:r>
            <a:r>
              <a:rPr lang="de-DE" sz="1300" b="0" dirty="0">
                <a:solidFill>
                  <a:srgbClr val="0070C0"/>
                </a:solidFill>
                <a:latin typeface="Source Sans Pro" panose="020B0503030403020204" pitchFamily="34" charset="0"/>
              </a:rPr>
              <a:t>Liste der Attribute</a:t>
            </a:r>
            <a:r>
              <a:rPr lang="de-DE" dirty="0">
                <a:solidFill>
                  <a:srgbClr val="0070C0"/>
                </a:solidFill>
                <a:latin typeface="Source Sans Pro" panose="020B0503030403020204" pitchFamily="34" charset="0"/>
              </a:rPr>
              <a:t>) VALUES (</a:t>
            </a:r>
            <a:r>
              <a:rPr lang="de-DE" sz="1300" u="sng" dirty="0">
                <a:solidFill>
                  <a:srgbClr val="0070C0"/>
                </a:solidFill>
                <a:latin typeface="Source Sans Pro" panose="020B0503030403020204" pitchFamily="34" charset="0"/>
              </a:rPr>
              <a:t>einziger</a:t>
            </a:r>
            <a:r>
              <a:rPr lang="de-DE" sz="1300" b="0" dirty="0">
                <a:solidFill>
                  <a:srgbClr val="0070C0"/>
                </a:solidFill>
                <a:latin typeface="Source Sans Pro" panose="020B0503030403020204" pitchFamily="34" charset="0"/>
              </a:rPr>
              <a:t> Datensatz</a:t>
            </a:r>
            <a:r>
              <a:rPr lang="de-DE" dirty="0">
                <a:solidFill>
                  <a:srgbClr val="0070C0"/>
                </a:solidFill>
                <a:latin typeface="Source Sans Pro" panose="020B0503030403020204" pitchFamily="34" charset="0"/>
              </a:rPr>
              <a:t>);</a:t>
            </a:r>
            <a:endParaRPr lang="de-DE" sz="20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61949" y="1530382"/>
            <a:ext cx="11495754" cy="714373"/>
          </a:xfrm>
        </p:spPr>
        <p:txBody>
          <a:bodyPr/>
          <a:lstStyle/>
          <a:p>
            <a:endParaRPr lang="de-DE" dirty="0"/>
          </a:p>
          <a:p>
            <a:endParaRPr lang="de-DE" dirty="0"/>
          </a:p>
        </p:txBody>
      </p:sp>
      <p:sp>
        <p:nvSpPr>
          <p:cNvPr id="6" name="Textfeld 5"/>
          <p:cNvSpPr txBox="1"/>
          <p:nvPr/>
        </p:nvSpPr>
        <p:spPr>
          <a:xfrm>
            <a:off x="645512" y="2575853"/>
            <a:ext cx="11649639" cy="1846659"/>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Einpflegen des </a:t>
            </a:r>
            <a:r>
              <a:rPr kumimoji="0" lang="de-DE" sz="2000" b="1" i="0" u="none" strike="noStrike" kern="1200" cap="none" spc="0" normalizeH="0" noProof="0" dirty="0">
                <a:ln>
                  <a:noFill/>
                </a:ln>
                <a:solidFill>
                  <a:schemeClr val="accent3">
                    <a:lumMod val="75000"/>
                  </a:schemeClr>
                </a:solidFill>
                <a:effectLst/>
                <a:uLnTx/>
                <a:uFillTx/>
                <a:latin typeface="Source Sans Pro" panose="020B0503030403020204" pitchFamily="34" charset="0"/>
                <a:ea typeface="+mn-ea"/>
                <a:cs typeface="+mn-cs"/>
              </a:rPr>
              <a:t>Kunden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sz="2000" b="1" i="0" u="none" strike="noStrike" kern="1200" cap="none" spc="0" normalizeH="0" noProof="0" dirty="0">
                <a:ln>
                  <a:noFill/>
                </a:ln>
                <a:effectLst/>
                <a:uLnTx/>
                <a:uFillTx/>
                <a:latin typeface="Source Sans Pro" panose="020B0503030403020204" pitchFamily="34" charset="0"/>
                <a:ea typeface="+mn-ea"/>
                <a:cs typeface="+mn-cs"/>
              </a:rPr>
              <a:t>Peter Müller</a:t>
            </a:r>
            <a:r>
              <a:rPr kumimoji="0" lang="de-DE" sz="2000" b="0" i="0" u="none" strike="noStrike" kern="1200" cap="none" spc="0" normalizeH="0" noProof="0" dirty="0">
                <a:ln>
                  <a:noFill/>
                </a:ln>
                <a:effectLst/>
                <a:uLnTx/>
                <a:uFillTx/>
                <a:latin typeface="Source Sans Pro" panose="020B0503030403020204" pitchFamily="34" charset="0"/>
                <a:ea typeface="+mn-ea"/>
                <a:cs typeface="+mn-cs"/>
              </a:rPr>
              <a:t>, Email-Adresse: </a:t>
            </a:r>
            <a:r>
              <a:rPr kumimoji="0" lang="de-DE" sz="2000" b="1" i="0" u="none" strike="noStrike" kern="1200" cap="none" spc="0" normalizeH="0" noProof="0" dirty="0">
                <a:ln>
                  <a:noFill/>
                </a:ln>
                <a:effectLst/>
                <a:uLnTx/>
                <a:uFillTx/>
                <a:latin typeface="Source Sans Pro" panose="020B0503030403020204" pitchFamily="34" charset="0"/>
                <a:ea typeface="+mn-ea"/>
                <a:cs typeface="+mn-cs"/>
              </a:rPr>
              <a:t>abc@xyz</a:t>
            </a:r>
            <a:r>
              <a:rPr kumimoji="0" lang="de-DE" sz="2000" b="0" i="0" u="none" strike="noStrike" kern="1200" cap="none" spc="0" normalizeH="0" noProof="0" dirty="0">
                <a:ln>
                  <a:noFill/>
                </a:ln>
                <a:effectLst/>
                <a:uLnTx/>
                <a:uFillTx/>
                <a:latin typeface="Source Sans Pro" panose="020B0503030403020204" pitchFamily="34" charset="0"/>
                <a:ea typeface="+mn-ea"/>
                <a:cs typeface="+mn-cs"/>
              </a:rPr>
              <a:t>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(die </a:t>
            </a:r>
            <a:r>
              <a:rPr kumimoji="0" lang="de-DE" sz="12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ID</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soll </a:t>
            </a:r>
            <a:r>
              <a:rPr kumimoji="0" lang="de-DE" sz="12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automatisch</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vergeben werden)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lvl="0">
              <a:defRPr/>
            </a:pPr>
            <a:r>
              <a:rPr lang="de-DE" sz="2000" baseline="0" dirty="0">
                <a:solidFill>
                  <a:srgbClr val="0071B2"/>
                </a:solidFill>
                <a:latin typeface="Source Sans Pro" panose="020B0503030403020204" pitchFamily="34" charset="0"/>
              </a:rPr>
              <a:t>	</a:t>
            </a:r>
            <a:r>
              <a:rPr lang="de-DE" sz="3200" b="1" baseline="0" dirty="0">
                <a:solidFill>
                  <a:srgbClr val="0071B2"/>
                </a:solidFill>
                <a:latin typeface="Source Sans Pro" panose="020B0503030403020204" pitchFamily="34" charset="0"/>
              </a:rPr>
              <a:t>INSERT INTO </a:t>
            </a:r>
            <a:r>
              <a:rPr lang="de-DE" sz="3200" baseline="0" dirty="0">
                <a:solidFill>
                  <a:schemeClr val="accent3">
                    <a:lumMod val="75000"/>
                  </a:schemeClr>
                </a:solidFill>
                <a:latin typeface="Source Sans Pro" panose="020B0503030403020204" pitchFamily="34" charset="0"/>
              </a:rPr>
              <a:t>Kunden</a:t>
            </a:r>
            <a:r>
              <a:rPr lang="de-DE" sz="3200" b="1" baseline="0" dirty="0">
                <a:latin typeface="Source Sans Pro" panose="020B0503030403020204" pitchFamily="34" charset="0"/>
              </a:rPr>
              <a:t>(</a:t>
            </a:r>
            <a:r>
              <a:rPr lang="de-DE" sz="3200" baseline="0" dirty="0">
                <a:solidFill>
                  <a:schemeClr val="accent2"/>
                </a:solidFill>
                <a:latin typeface="Source Sans Pro" panose="020B0503030403020204" pitchFamily="34" charset="0"/>
              </a:rPr>
              <a:t>Nachname</a:t>
            </a:r>
            <a:r>
              <a:rPr lang="de-DE" sz="3200" baseline="0" dirty="0">
                <a:solidFill>
                  <a:srgbClr val="0070C0"/>
                </a:solidFill>
                <a:latin typeface="Source Sans Pro" panose="020B0503030403020204" pitchFamily="34" charset="0"/>
              </a:rPr>
              <a:t>, </a:t>
            </a:r>
            <a:r>
              <a:rPr lang="de-DE" sz="3200" baseline="0" dirty="0">
                <a:solidFill>
                  <a:schemeClr val="accent2"/>
                </a:solidFill>
                <a:latin typeface="Source Sans Pro" panose="020B0503030403020204" pitchFamily="34" charset="0"/>
              </a:rPr>
              <a:t>Email</a:t>
            </a:r>
            <a:r>
              <a:rPr lang="de-DE" sz="3200" baseline="0" dirty="0">
                <a:solidFill>
                  <a:srgbClr val="0070C0"/>
                </a:solidFill>
                <a:latin typeface="Source Sans Pro" panose="020B0503030403020204" pitchFamily="34" charset="0"/>
              </a:rPr>
              <a:t>, </a:t>
            </a:r>
            <a:r>
              <a:rPr lang="de-DE" sz="3200" baseline="0" dirty="0">
                <a:solidFill>
                  <a:schemeClr val="accent2"/>
                </a:solidFill>
                <a:latin typeface="Source Sans Pro" panose="020B0503030403020204" pitchFamily="34" charset="0"/>
              </a:rPr>
              <a:t>Vorname</a:t>
            </a:r>
            <a:r>
              <a:rPr lang="de-DE" sz="3200" b="1" baseline="0" dirty="0">
                <a:latin typeface="Source Sans Pro" panose="020B0503030403020204" pitchFamily="34" charset="0"/>
              </a:rPr>
              <a:t>)</a:t>
            </a:r>
            <a:r>
              <a:rPr lang="de-DE" sz="3200" b="1" baseline="0" dirty="0">
                <a:solidFill>
                  <a:srgbClr val="0071B2"/>
                </a:solidFill>
                <a:latin typeface="Source Sans Pro" panose="020B0503030403020204" pitchFamily="34" charset="0"/>
              </a:rPr>
              <a:t> </a:t>
            </a:r>
          </a:p>
          <a:p>
            <a:pPr lvl="0">
              <a:defRPr/>
            </a:pPr>
            <a:r>
              <a:rPr lang="de-DE" sz="3200" b="1" dirty="0">
                <a:solidFill>
                  <a:srgbClr val="0071B2"/>
                </a:solidFill>
                <a:latin typeface="Source Sans Pro" panose="020B0503030403020204" pitchFamily="34" charset="0"/>
              </a:rPr>
              <a:t>	VALUES (</a:t>
            </a:r>
            <a:r>
              <a:rPr lang="de-DE" sz="3200" dirty="0">
                <a:solidFill>
                  <a:schemeClr val="accent2"/>
                </a:solidFill>
                <a:latin typeface="Source Sans Pro" panose="020B0503030403020204" pitchFamily="34" charset="0"/>
              </a:rPr>
              <a:t>"Müller"</a:t>
            </a:r>
            <a:r>
              <a:rPr lang="de-DE" sz="3200" dirty="0">
                <a:solidFill>
                  <a:srgbClr val="0071B2"/>
                </a:solidFill>
                <a:latin typeface="Source Sans Pro" panose="020B0503030403020204" pitchFamily="34" charset="0"/>
              </a:rPr>
              <a:t>, </a:t>
            </a:r>
            <a:r>
              <a:rPr lang="de-DE" sz="3200" dirty="0">
                <a:solidFill>
                  <a:schemeClr val="accent2"/>
                </a:solidFill>
                <a:latin typeface="Source Sans Pro" panose="020B0503030403020204" pitchFamily="34" charset="0"/>
              </a:rPr>
              <a:t>"abc@xyz"</a:t>
            </a:r>
            <a:r>
              <a:rPr lang="de-DE" sz="3200" dirty="0">
                <a:solidFill>
                  <a:srgbClr val="0070C0"/>
                </a:solidFill>
                <a:latin typeface="Source Sans Pro" panose="020B0503030403020204" pitchFamily="34" charset="0"/>
              </a:rPr>
              <a:t>,</a:t>
            </a:r>
            <a:r>
              <a:rPr lang="de-DE" sz="3200" b="1" dirty="0">
                <a:solidFill>
                  <a:srgbClr val="0071B2"/>
                </a:solidFill>
                <a:latin typeface="Source Sans Pro" panose="020B0503030403020204" pitchFamily="34" charset="0"/>
              </a:rPr>
              <a:t> </a:t>
            </a:r>
            <a:r>
              <a:rPr lang="de-DE" sz="3200" dirty="0">
                <a:solidFill>
                  <a:schemeClr val="accent2"/>
                </a:solidFill>
                <a:latin typeface="Source Sans Pro" panose="020B0503030403020204" pitchFamily="34" charset="0"/>
              </a:rPr>
              <a:t>"</a:t>
            </a:r>
            <a:r>
              <a:rPr lang="de-DE" sz="3200">
                <a:solidFill>
                  <a:schemeClr val="accent2"/>
                </a:solidFill>
                <a:latin typeface="Source Sans Pro" panose="020B0503030403020204" pitchFamily="34" charset="0"/>
              </a:rPr>
              <a:t>Peter"</a:t>
            </a:r>
            <a:r>
              <a:rPr lang="de-DE" sz="3200" b="1">
                <a:solidFill>
                  <a:srgbClr val="0071B2"/>
                </a:solidFill>
                <a:latin typeface="Source Sans Pro" panose="020B0503030403020204" pitchFamily="34" charset="0"/>
              </a:rPr>
              <a:t>);</a:t>
            </a:r>
            <a:endParaRPr lang="de-DE" sz="3200" b="1" baseline="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74538" y="1530054"/>
            <a:ext cx="11870575" cy="96994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Die </a:t>
            </a:r>
            <a:r>
              <a:rPr lang="de-DE" sz="1600" b="1" dirty="0">
                <a:solidFill>
                  <a:schemeClr val="accent2"/>
                </a:solidFill>
              </a:rPr>
              <a:t>Reihenfolge</a:t>
            </a:r>
            <a:r>
              <a:rPr lang="de-DE" sz="1600" dirty="0">
                <a:solidFill>
                  <a:schemeClr val="tx1"/>
                </a:solidFill>
              </a:rPr>
              <a:t> der Attribute (die in den Klammern hinter dem Tabellennamen eingetragen werden) kann </a:t>
            </a:r>
            <a:r>
              <a:rPr lang="de-DE" sz="1600" b="1" dirty="0">
                <a:solidFill>
                  <a:schemeClr val="accent2"/>
                </a:solidFill>
              </a:rPr>
              <a:t>frei gewählt </a:t>
            </a:r>
            <a:r>
              <a:rPr lang="de-DE" sz="1600" dirty="0">
                <a:solidFill>
                  <a:schemeClr val="tx1"/>
                </a:solidFill>
              </a:rPr>
              <a:t>werden. Selbstverständlich müssen dann aber alle Daten des Datensatzes genau dieser zuvor gewählten Attribut-Reihenfolge entsprechen:</a:t>
            </a:r>
          </a:p>
        </p:txBody>
      </p:sp>
    </p:spTree>
    <p:extLst>
      <p:ext uri="{BB962C8B-B14F-4D97-AF65-F5344CB8AC3E}">
        <p14:creationId xmlns:p14="http://schemas.microsoft.com/office/powerpoint/2010/main" val="385752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624504" cy="720725"/>
          </a:xfrm>
        </p:spPr>
        <p:txBody>
          <a:bodyPr>
            <a:normAutofit fontScale="90000"/>
          </a:bodyPr>
          <a:lstStyle/>
          <a:p>
            <a:r>
              <a:rPr lang="de-DE" dirty="0">
                <a:solidFill>
                  <a:srgbClr val="0070C0"/>
                </a:solidFill>
                <a:latin typeface="Source Sans Pro" panose="020B0503030403020204" pitchFamily="34" charset="0"/>
              </a:rPr>
              <a:t>INSERT INTO </a:t>
            </a:r>
            <a:r>
              <a:rPr lang="de-DE" b="0" dirty="0">
                <a:solidFill>
                  <a:srgbClr val="0070C0"/>
                </a:solidFill>
                <a:latin typeface="Source Sans Pro" panose="020B0503030403020204" pitchFamily="34" charset="0"/>
              </a:rPr>
              <a:t>Tabellen-Name</a:t>
            </a:r>
            <a:r>
              <a:rPr lang="de-DE" dirty="0">
                <a:solidFill>
                  <a:srgbClr val="0070C0"/>
                </a:solidFill>
                <a:latin typeface="Source Sans Pro" panose="020B0503030403020204" pitchFamily="34" charset="0"/>
              </a:rPr>
              <a:t>(</a:t>
            </a:r>
            <a:r>
              <a:rPr lang="de-DE" sz="1300" b="0" dirty="0">
                <a:solidFill>
                  <a:srgbClr val="0070C0"/>
                </a:solidFill>
                <a:latin typeface="Source Sans Pro" panose="020B0503030403020204" pitchFamily="34" charset="0"/>
              </a:rPr>
              <a:t>Liste der Attribute</a:t>
            </a:r>
            <a:r>
              <a:rPr lang="de-DE" dirty="0">
                <a:solidFill>
                  <a:srgbClr val="0070C0"/>
                </a:solidFill>
                <a:latin typeface="Source Sans Pro" panose="020B0503030403020204" pitchFamily="34" charset="0"/>
              </a:rPr>
              <a:t>) VALUES (</a:t>
            </a:r>
            <a:r>
              <a:rPr lang="de-DE" sz="1300" u="sng" dirty="0">
                <a:solidFill>
                  <a:srgbClr val="0070C0"/>
                </a:solidFill>
                <a:latin typeface="Source Sans Pro" panose="020B0503030403020204" pitchFamily="34" charset="0"/>
              </a:rPr>
              <a:t>einziger</a:t>
            </a:r>
            <a:r>
              <a:rPr lang="de-DE" sz="1300" b="0" dirty="0">
                <a:solidFill>
                  <a:srgbClr val="0070C0"/>
                </a:solidFill>
                <a:latin typeface="Source Sans Pro" panose="020B0503030403020204" pitchFamily="34" charset="0"/>
              </a:rPr>
              <a:t> Datensatz</a:t>
            </a:r>
            <a:r>
              <a:rPr lang="de-DE" dirty="0">
                <a:solidFill>
                  <a:srgbClr val="0070C0"/>
                </a:solidFill>
                <a:latin typeface="Source Sans Pro" panose="020B0503030403020204" pitchFamily="34" charset="0"/>
              </a:rPr>
              <a:t>);</a:t>
            </a:r>
            <a:endParaRPr lang="de-DE" sz="20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61949" y="1530382"/>
            <a:ext cx="11495754" cy="714373"/>
          </a:xfrm>
        </p:spPr>
        <p:txBody>
          <a:bodyPr/>
          <a:lstStyle/>
          <a:p>
            <a:endParaRPr lang="de-DE" dirty="0"/>
          </a:p>
          <a:p>
            <a:endParaRPr lang="de-DE" dirty="0"/>
          </a:p>
        </p:txBody>
      </p:sp>
      <p:sp>
        <p:nvSpPr>
          <p:cNvPr id="6" name="Textfeld 5"/>
          <p:cNvSpPr txBox="1"/>
          <p:nvPr/>
        </p:nvSpPr>
        <p:spPr>
          <a:xfrm>
            <a:off x="645512" y="2575853"/>
            <a:ext cx="11649639" cy="326243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Einpflegen des </a:t>
            </a:r>
            <a:r>
              <a:rPr kumimoji="0" lang="de-DE" sz="2000" b="1" i="0" u="none" strike="noStrike" kern="1200" cap="none" spc="0" normalizeH="0" noProof="0" dirty="0">
                <a:ln>
                  <a:noFill/>
                </a:ln>
                <a:solidFill>
                  <a:schemeClr val="accent3">
                    <a:lumMod val="75000"/>
                  </a:schemeClr>
                </a:solidFill>
                <a:effectLst/>
                <a:uLnTx/>
                <a:uFillTx/>
                <a:latin typeface="Source Sans Pro" panose="020B0503030403020204" pitchFamily="34" charset="0"/>
                <a:ea typeface="+mn-ea"/>
                <a:cs typeface="+mn-cs"/>
              </a:rPr>
              <a:t>Kunden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r>
              <a:rPr kumimoji="0" lang="de-DE" sz="2000" b="1" i="0" u="none" strike="noStrike" kern="1200" cap="none" spc="0" normalizeH="0" noProof="0" dirty="0">
                <a:ln>
                  <a:noFill/>
                </a:ln>
                <a:effectLst/>
                <a:uLnTx/>
                <a:uFillTx/>
                <a:latin typeface="Source Sans Pro" panose="020B0503030403020204" pitchFamily="34" charset="0"/>
                <a:ea typeface="+mn-ea"/>
                <a:cs typeface="+mn-cs"/>
              </a:rPr>
              <a:t>Peter Müller</a:t>
            </a:r>
            <a:r>
              <a:rPr kumimoji="0" lang="de-DE" sz="2000" b="0" i="0" u="none" strike="noStrike" kern="1200" cap="none" spc="0" normalizeH="0" noProof="0" dirty="0">
                <a:ln>
                  <a:noFill/>
                </a:ln>
                <a:effectLst/>
                <a:uLnTx/>
                <a:uFillTx/>
                <a:latin typeface="Source Sans Pro" panose="020B0503030403020204" pitchFamily="34" charset="0"/>
                <a:ea typeface="+mn-ea"/>
                <a:cs typeface="+mn-cs"/>
              </a:rPr>
              <a:t>, Email-Adresse: </a:t>
            </a:r>
            <a:r>
              <a:rPr kumimoji="0" lang="de-DE" sz="2000" b="1" i="0" u="none" strike="noStrike" kern="1200" cap="none" spc="0" normalizeH="0" noProof="0" dirty="0">
                <a:ln>
                  <a:noFill/>
                </a:ln>
                <a:effectLst/>
                <a:uLnTx/>
                <a:uFillTx/>
                <a:latin typeface="Source Sans Pro" panose="020B0503030403020204" pitchFamily="34" charset="0"/>
                <a:ea typeface="+mn-ea"/>
                <a:cs typeface="+mn-cs"/>
              </a:rPr>
              <a:t>abc@xyz</a:t>
            </a:r>
            <a:r>
              <a:rPr kumimoji="0" lang="de-DE" sz="2000" b="0" i="0" u="none" strike="noStrike" kern="1200" cap="none" spc="0" normalizeH="0" noProof="0" dirty="0">
                <a:ln>
                  <a:noFill/>
                </a:ln>
                <a:effectLst/>
                <a:uLnTx/>
                <a:uFillTx/>
                <a:latin typeface="Source Sans Pro" panose="020B0503030403020204" pitchFamily="34" charset="0"/>
                <a:ea typeface="+mn-ea"/>
                <a:cs typeface="+mn-cs"/>
              </a:rPr>
              <a:t>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(die </a:t>
            </a:r>
            <a:r>
              <a:rPr kumimoji="0" lang="de-DE" sz="12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ID</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(=1)soll </a:t>
            </a:r>
            <a:r>
              <a:rPr kumimoji="0" lang="de-DE" sz="1200" b="1" i="0" u="none" strike="noStrike" kern="1200" cap="none" spc="0" normalizeH="0" noProof="0" dirty="0">
                <a:ln>
                  <a:noFill/>
                </a:ln>
                <a:solidFill>
                  <a:srgbClr val="FF0000"/>
                </a:solidFill>
                <a:effectLst/>
                <a:uLnTx/>
                <a:uFillTx/>
                <a:latin typeface="Source Sans Pro" panose="020B0503030403020204" pitchFamily="34" charset="0"/>
                <a:ea typeface="+mn-ea"/>
                <a:cs typeface="+mn-cs"/>
              </a:rPr>
              <a:t>händisch</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vergeben werden)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lvl="0">
              <a:defRPr/>
            </a:pPr>
            <a:r>
              <a:rPr lang="de-DE" sz="3200" dirty="0">
                <a:solidFill>
                  <a:srgbClr val="0071B2"/>
                </a:solidFill>
                <a:latin typeface="Source Sans Pro" panose="020B0503030403020204" pitchFamily="34" charset="0"/>
              </a:rPr>
              <a:t>   </a:t>
            </a:r>
            <a:r>
              <a:rPr lang="de-DE" sz="2800" b="1" baseline="0" dirty="0">
                <a:solidFill>
                  <a:srgbClr val="0071B2"/>
                </a:solidFill>
                <a:latin typeface="Source Sans Pro" panose="020B0503030403020204" pitchFamily="34" charset="0"/>
              </a:rPr>
              <a:t>INSERT INTO </a:t>
            </a:r>
            <a:r>
              <a:rPr lang="de-DE" sz="2800" baseline="0" dirty="0">
                <a:solidFill>
                  <a:schemeClr val="accent3">
                    <a:lumMod val="75000"/>
                  </a:schemeClr>
                </a:solidFill>
                <a:latin typeface="Source Sans Pro" panose="020B0503030403020204" pitchFamily="34" charset="0"/>
              </a:rPr>
              <a:t>Kunden</a:t>
            </a:r>
            <a:r>
              <a:rPr lang="de-DE" sz="2800" b="1" dirty="0">
                <a:solidFill>
                  <a:srgbClr val="0071B2"/>
                </a:solidFill>
                <a:latin typeface="Source Sans Pro" panose="020B0503030403020204" pitchFamily="34" charset="0"/>
              </a:rPr>
              <a:t> VALUES (</a:t>
            </a:r>
            <a:r>
              <a:rPr lang="de-DE" sz="2800" dirty="0">
                <a:solidFill>
                  <a:srgbClr val="FF0000"/>
                </a:solidFill>
                <a:latin typeface="Source Sans Pro" panose="020B0503030403020204" pitchFamily="34" charset="0"/>
              </a:rPr>
              <a:t>1</a:t>
            </a:r>
            <a:r>
              <a:rPr lang="de-DE" sz="2800" dirty="0">
                <a:solidFill>
                  <a:srgbClr val="0071B2"/>
                </a:solidFill>
                <a:latin typeface="Source Sans Pro" panose="020B0503030403020204" pitchFamily="34" charset="0"/>
              </a:rPr>
              <a:t>, </a:t>
            </a:r>
            <a:r>
              <a:rPr lang="de-DE" sz="2800" dirty="0">
                <a:solidFill>
                  <a:schemeClr val="accent2"/>
                </a:solidFill>
                <a:latin typeface="Source Sans Pro" panose="020B0503030403020204" pitchFamily="34" charset="0"/>
              </a:rPr>
              <a:t>"Peter"</a:t>
            </a:r>
            <a:r>
              <a:rPr lang="de-DE" sz="2800" dirty="0">
                <a:latin typeface="Source Sans Pro" panose="020B0503030403020204" pitchFamily="34" charset="0"/>
              </a:rPr>
              <a:t>,</a:t>
            </a:r>
            <a:r>
              <a:rPr lang="de-DE" sz="2800" dirty="0">
                <a:solidFill>
                  <a:schemeClr val="accent2">
                    <a:lumMod val="50000"/>
                  </a:schemeClr>
                </a:solidFill>
                <a:latin typeface="Source Sans Pro" panose="020B0503030403020204" pitchFamily="34" charset="0"/>
              </a:rPr>
              <a:t> </a:t>
            </a:r>
            <a:r>
              <a:rPr lang="de-DE" sz="2800" dirty="0">
                <a:solidFill>
                  <a:schemeClr val="accent2"/>
                </a:solidFill>
                <a:latin typeface="Source Sans Pro" panose="020B0503030403020204" pitchFamily="34" charset="0"/>
              </a:rPr>
              <a:t>"Müller"</a:t>
            </a:r>
            <a:r>
              <a:rPr lang="de-DE" sz="2800" dirty="0">
                <a:solidFill>
                  <a:srgbClr val="0071B2"/>
                </a:solidFill>
                <a:latin typeface="Source Sans Pro" panose="020B0503030403020204" pitchFamily="34" charset="0"/>
              </a:rPr>
              <a:t>, </a:t>
            </a:r>
            <a:r>
              <a:rPr lang="de-DE" sz="2800" dirty="0">
                <a:solidFill>
                  <a:schemeClr val="accent2"/>
                </a:solidFill>
                <a:latin typeface="Source Sans Pro" panose="020B0503030403020204" pitchFamily="34" charset="0"/>
              </a:rPr>
              <a:t>"abc@xyz"</a:t>
            </a:r>
            <a:r>
              <a:rPr lang="de-DE" sz="2800" b="1" dirty="0">
                <a:solidFill>
                  <a:srgbClr val="0071B2"/>
                </a:solidFill>
                <a:latin typeface="Source Sans Pro" panose="020B0503030403020204" pitchFamily="34" charset="0"/>
              </a:rPr>
              <a:t>);</a:t>
            </a:r>
          </a:p>
          <a:p>
            <a:pPr lvl="0">
              <a:defRPr/>
            </a:pPr>
            <a:endParaRPr lang="de-DE" sz="3200" b="1" baseline="0" dirty="0">
              <a:solidFill>
                <a:srgbClr val="0071B2"/>
              </a:solidFill>
              <a:latin typeface="Source Sans Pro" panose="020B0503030403020204" pitchFamily="34" charset="0"/>
            </a:endParaRPr>
          </a:p>
          <a:p>
            <a:pPr lvl="0">
              <a:defRPr/>
            </a:pPr>
            <a:r>
              <a:rPr lang="de-DE" sz="2000" dirty="0">
                <a:solidFill>
                  <a:srgbClr val="0071B2"/>
                </a:solidFill>
                <a:latin typeface="Source Sans Pro" panose="020B0503030403020204" pitchFamily="34" charset="0"/>
              </a:rPr>
              <a:t>Einpflegen des </a:t>
            </a:r>
            <a:r>
              <a:rPr lang="de-DE" sz="2000" b="1" dirty="0">
                <a:solidFill>
                  <a:srgbClr val="D2E8F4">
                    <a:lumMod val="75000"/>
                  </a:srgbClr>
                </a:solidFill>
                <a:latin typeface="Source Sans Pro" panose="020B0503030403020204" pitchFamily="34" charset="0"/>
              </a:rPr>
              <a:t>Kunden</a:t>
            </a: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Peter Müller</a:t>
            </a:r>
            <a:r>
              <a:rPr lang="de-DE" sz="2000" dirty="0">
                <a:solidFill>
                  <a:srgbClr val="0071B2"/>
                </a:solidFill>
                <a:latin typeface="Source Sans Pro" panose="020B0503030403020204" pitchFamily="34" charset="0"/>
              </a:rPr>
              <a:t>, Email-Adresse: </a:t>
            </a:r>
            <a:r>
              <a:rPr lang="de-DE" sz="2000" b="1" dirty="0">
                <a:solidFill>
                  <a:srgbClr val="0071B2"/>
                </a:solidFill>
                <a:latin typeface="Source Sans Pro" panose="020B0503030403020204" pitchFamily="34" charset="0"/>
              </a:rPr>
              <a:t>abc@xyz</a:t>
            </a:r>
            <a:r>
              <a:rPr lang="de-DE" sz="2000" dirty="0">
                <a:solidFill>
                  <a:srgbClr val="0071B2"/>
                </a:solidFill>
                <a:latin typeface="Source Sans Pro" panose="020B0503030403020204" pitchFamily="34" charset="0"/>
              </a:rPr>
              <a:t> </a:t>
            </a:r>
            <a:r>
              <a:rPr lang="de-DE" sz="1200" dirty="0">
                <a:solidFill>
                  <a:srgbClr val="0071B2"/>
                </a:solidFill>
                <a:latin typeface="Source Sans Pro" panose="020B0503030403020204" pitchFamily="34" charset="0"/>
              </a:rPr>
              <a:t>(die </a:t>
            </a:r>
            <a:r>
              <a:rPr lang="de-DE" sz="1200" b="1" dirty="0">
                <a:solidFill>
                  <a:srgbClr val="0071B2"/>
                </a:solidFill>
                <a:latin typeface="Source Sans Pro" panose="020B0503030403020204" pitchFamily="34" charset="0"/>
              </a:rPr>
              <a:t>ID</a:t>
            </a:r>
            <a:r>
              <a:rPr lang="de-DE" sz="1200" dirty="0">
                <a:solidFill>
                  <a:srgbClr val="0071B2"/>
                </a:solidFill>
                <a:latin typeface="Source Sans Pro" panose="020B0503030403020204" pitchFamily="34" charset="0"/>
              </a:rPr>
              <a:t> soll </a:t>
            </a:r>
            <a:r>
              <a:rPr lang="de-DE" sz="1200" b="1" dirty="0">
                <a:solidFill>
                  <a:srgbClr val="FF0000"/>
                </a:solidFill>
                <a:latin typeface="Source Sans Pro" panose="020B0503030403020204" pitchFamily="34" charset="0"/>
              </a:rPr>
              <a:t>automatisch</a:t>
            </a:r>
            <a:r>
              <a:rPr lang="de-DE" sz="1200" dirty="0">
                <a:solidFill>
                  <a:srgbClr val="0071B2"/>
                </a:solidFill>
                <a:latin typeface="Source Sans Pro" panose="020B0503030403020204" pitchFamily="34" charset="0"/>
              </a:rPr>
              <a:t> vergeben werden)</a:t>
            </a:r>
            <a:r>
              <a:rPr lang="de-DE" sz="2000"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lvl="0">
              <a:defRPr/>
            </a:pPr>
            <a:r>
              <a:rPr lang="de-DE" sz="3200" dirty="0">
                <a:solidFill>
                  <a:srgbClr val="0071B2"/>
                </a:solidFill>
                <a:latin typeface="Source Sans Pro" panose="020B0503030403020204" pitchFamily="34" charset="0"/>
              </a:rPr>
              <a:t>   </a:t>
            </a:r>
            <a:r>
              <a:rPr lang="de-DE" sz="2800" b="1" dirty="0">
                <a:solidFill>
                  <a:srgbClr val="0071B2"/>
                </a:solidFill>
                <a:latin typeface="Source Sans Pro" panose="020B0503030403020204" pitchFamily="34" charset="0"/>
              </a:rPr>
              <a:t>INSERT INTO </a:t>
            </a:r>
            <a:r>
              <a:rPr lang="de-DE" sz="2800" dirty="0">
                <a:solidFill>
                  <a:srgbClr val="D2E8F4">
                    <a:lumMod val="75000"/>
                  </a:srgbClr>
                </a:solidFill>
                <a:latin typeface="Source Sans Pro" panose="020B0503030403020204" pitchFamily="34" charset="0"/>
              </a:rPr>
              <a:t>Kunden</a:t>
            </a:r>
            <a:r>
              <a:rPr lang="de-DE" sz="2800" b="1" dirty="0">
                <a:solidFill>
                  <a:srgbClr val="0071B2"/>
                </a:solidFill>
                <a:latin typeface="Source Sans Pro" panose="020B0503030403020204" pitchFamily="34" charset="0"/>
              </a:rPr>
              <a:t> VALUES (</a:t>
            </a:r>
            <a:r>
              <a:rPr lang="de-DE" sz="2800" dirty="0">
                <a:solidFill>
                  <a:srgbClr val="FF0000"/>
                </a:solidFill>
                <a:latin typeface="Source Sans Pro" panose="020B0503030403020204" pitchFamily="34" charset="0"/>
              </a:rPr>
              <a:t>DEFAULT</a:t>
            </a:r>
            <a:r>
              <a:rPr lang="de-DE" sz="2800" dirty="0">
                <a:solidFill>
                  <a:srgbClr val="0071B2"/>
                </a:solidFill>
                <a:latin typeface="Source Sans Pro" panose="020B0503030403020204" pitchFamily="34" charset="0"/>
              </a:rPr>
              <a:t>, </a:t>
            </a:r>
            <a:r>
              <a:rPr lang="de-DE" sz="2800" dirty="0">
                <a:solidFill>
                  <a:srgbClr val="FE5000"/>
                </a:solidFill>
                <a:latin typeface="Source Sans Pro" panose="020B0503030403020204" pitchFamily="34" charset="0"/>
              </a:rPr>
              <a:t>"Peter"</a:t>
            </a:r>
            <a:r>
              <a:rPr lang="de-DE" sz="2800" dirty="0">
                <a:solidFill>
                  <a:srgbClr val="0071B2"/>
                </a:solidFill>
                <a:latin typeface="Source Sans Pro" panose="020B0503030403020204" pitchFamily="34" charset="0"/>
              </a:rPr>
              <a:t>,</a:t>
            </a:r>
            <a:r>
              <a:rPr lang="de-DE" sz="2800" dirty="0">
                <a:solidFill>
                  <a:srgbClr val="FE5000">
                    <a:lumMod val="50000"/>
                  </a:srgbClr>
                </a:solidFill>
                <a:latin typeface="Source Sans Pro" panose="020B0503030403020204" pitchFamily="34" charset="0"/>
              </a:rPr>
              <a:t> </a:t>
            </a:r>
            <a:r>
              <a:rPr lang="de-DE" sz="2800" dirty="0">
                <a:solidFill>
                  <a:srgbClr val="FE5000"/>
                </a:solidFill>
                <a:latin typeface="Source Sans Pro" panose="020B0503030403020204" pitchFamily="34" charset="0"/>
              </a:rPr>
              <a:t>"Müller"</a:t>
            </a:r>
            <a:r>
              <a:rPr lang="de-DE" sz="2800" dirty="0">
                <a:solidFill>
                  <a:srgbClr val="0071B2"/>
                </a:solidFill>
                <a:latin typeface="Source Sans Pro" panose="020B0503030403020204" pitchFamily="34" charset="0"/>
              </a:rPr>
              <a:t>, </a:t>
            </a:r>
            <a:r>
              <a:rPr lang="de-DE" sz="2800" dirty="0">
                <a:solidFill>
                  <a:srgbClr val="FE5000"/>
                </a:solidFill>
                <a:latin typeface="Source Sans Pro" panose="020B0503030403020204" pitchFamily="34" charset="0"/>
              </a:rPr>
              <a:t>"abc@xyz"</a:t>
            </a:r>
            <a:r>
              <a:rPr lang="de-DE" sz="2800" b="1" dirty="0">
                <a:solidFill>
                  <a:srgbClr val="0071B2"/>
                </a:solidFill>
                <a:latin typeface="Source Sans Pro" panose="020B0503030403020204" pitchFamily="34" charset="0"/>
              </a:rPr>
              <a:t>);</a:t>
            </a:r>
          </a:p>
          <a:p>
            <a:pPr lvl="0">
              <a:defRPr/>
            </a:pPr>
            <a:endParaRPr lang="de-DE" sz="3200" b="1" baseline="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74538" y="1530054"/>
            <a:ext cx="11870575" cy="96994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Falls man </a:t>
            </a:r>
            <a:r>
              <a:rPr lang="de-DE" sz="1600" b="1" dirty="0">
                <a:solidFill>
                  <a:schemeClr val="accent2"/>
                </a:solidFill>
              </a:rPr>
              <a:t>alle</a:t>
            </a:r>
            <a:r>
              <a:rPr lang="de-DE" sz="1600" dirty="0">
                <a:solidFill>
                  <a:schemeClr val="accent2"/>
                </a:solidFill>
              </a:rPr>
              <a:t> Attribute </a:t>
            </a:r>
            <a:r>
              <a:rPr lang="de-DE" sz="1600" dirty="0">
                <a:solidFill>
                  <a:schemeClr val="tx1"/>
                </a:solidFill>
              </a:rPr>
              <a:t>eintragen möchte, so kann man auf die Klammer hinter dem Tabellennamen verzichten,</a:t>
            </a:r>
          </a:p>
          <a:p>
            <a:pPr algn="ctr"/>
            <a:r>
              <a:rPr lang="de-DE" sz="1600" dirty="0">
                <a:solidFill>
                  <a:schemeClr val="tx1"/>
                </a:solidFill>
              </a:rPr>
              <a:t>muss dann aber beim Datensatz genau jene Reihenfolge beachten, die bei CREATE TABLE festgelegt wurde:</a:t>
            </a:r>
          </a:p>
        </p:txBody>
      </p:sp>
    </p:spTree>
    <p:extLst>
      <p:ext uri="{BB962C8B-B14F-4D97-AF65-F5344CB8AC3E}">
        <p14:creationId xmlns:p14="http://schemas.microsoft.com/office/powerpoint/2010/main" val="207862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09" y="383340"/>
            <a:ext cx="11624504" cy="720725"/>
          </a:xfrm>
        </p:spPr>
        <p:txBody>
          <a:bodyPr>
            <a:normAutofit/>
          </a:bodyPr>
          <a:lstStyle/>
          <a:p>
            <a:r>
              <a:rPr lang="de-DE" sz="1400" dirty="0">
                <a:latin typeface="Source Sans Pro" panose="020B0503030403020204" pitchFamily="34" charset="0"/>
              </a:rPr>
              <a:t>INSERT INTO </a:t>
            </a:r>
            <a:r>
              <a:rPr lang="de-DE" sz="1400" b="0" dirty="0">
                <a:latin typeface="Source Sans Pro" panose="020B0503030403020204" pitchFamily="34" charset="0"/>
              </a:rPr>
              <a:t>Tabellen-Name</a:t>
            </a:r>
            <a:r>
              <a:rPr lang="de-DE" sz="1400" dirty="0">
                <a:latin typeface="Source Sans Pro" panose="020B0503030403020204" pitchFamily="34" charset="0"/>
              </a:rPr>
              <a:t>(</a:t>
            </a:r>
            <a:r>
              <a:rPr lang="de-DE" sz="1400" b="0" dirty="0">
                <a:latin typeface="Source Sans Pro" panose="020B0503030403020204" pitchFamily="34" charset="0"/>
              </a:rPr>
              <a:t>Liste der Attribute</a:t>
            </a:r>
            <a:r>
              <a:rPr lang="de-DE" sz="1400" dirty="0">
                <a:latin typeface="Source Sans Pro" panose="020B0503030403020204" pitchFamily="34" charset="0"/>
              </a:rPr>
              <a:t>) VALUES </a:t>
            </a:r>
            <a:r>
              <a:rPr lang="de-DE" sz="2800" dirty="0">
                <a:latin typeface="Source Sans Pro" panose="020B0503030403020204" pitchFamily="34" charset="0"/>
              </a:rPr>
              <a:t>(</a:t>
            </a:r>
            <a:r>
              <a:rPr lang="de-DE" sz="2800" b="0" dirty="0">
                <a:latin typeface="Source Sans Pro" panose="020B0503030403020204" pitchFamily="34" charset="0"/>
              </a:rPr>
              <a:t>Datensatz 1</a:t>
            </a:r>
            <a:r>
              <a:rPr lang="de-DE" sz="2800" dirty="0">
                <a:latin typeface="Source Sans Pro" panose="020B0503030403020204" pitchFamily="34" charset="0"/>
              </a:rPr>
              <a:t>)</a:t>
            </a:r>
            <a:r>
              <a:rPr lang="de-DE" sz="2800" dirty="0">
                <a:solidFill>
                  <a:schemeClr val="accent2"/>
                </a:solidFill>
                <a:latin typeface="Source Sans Pro" panose="020B0503030403020204" pitchFamily="34" charset="0"/>
              </a:rPr>
              <a:t>,</a:t>
            </a:r>
            <a:r>
              <a:rPr lang="de-DE" sz="2800" dirty="0">
                <a:solidFill>
                  <a:schemeClr val="accent2">
                    <a:lumMod val="50000"/>
                  </a:schemeClr>
                </a:solidFill>
                <a:latin typeface="Source Sans Pro" panose="020B0503030403020204" pitchFamily="34" charset="0"/>
              </a:rPr>
              <a:t> </a:t>
            </a:r>
            <a:r>
              <a:rPr lang="de-DE" sz="2800" dirty="0">
                <a:latin typeface="Source Sans Pro" panose="020B0503030403020204" pitchFamily="34" charset="0"/>
              </a:rPr>
              <a:t>(</a:t>
            </a:r>
            <a:r>
              <a:rPr lang="de-DE" sz="2800" b="0" dirty="0">
                <a:latin typeface="Source Sans Pro" panose="020B0503030403020204" pitchFamily="34" charset="0"/>
              </a:rPr>
              <a:t>Datensatz 2</a:t>
            </a:r>
            <a:r>
              <a:rPr lang="de-DE" sz="2800" dirty="0">
                <a:latin typeface="Source Sans Pro" panose="020B0503030403020204" pitchFamily="34" charset="0"/>
              </a:rPr>
              <a:t>)</a:t>
            </a:r>
            <a:r>
              <a:rPr lang="de-DE" sz="2800" dirty="0">
                <a:solidFill>
                  <a:schemeClr val="accent2"/>
                </a:solidFill>
                <a:latin typeface="Source Sans Pro" panose="020B0503030403020204" pitchFamily="34" charset="0"/>
              </a:rPr>
              <a:t>,</a:t>
            </a:r>
            <a:r>
              <a:rPr lang="de-DE" sz="2800" dirty="0">
                <a:latin typeface="Source Sans Pro" panose="020B0503030403020204" pitchFamily="34" charset="0"/>
              </a:rPr>
              <a:t> (</a:t>
            </a:r>
            <a:r>
              <a:rPr lang="de-DE" sz="2800" b="0" dirty="0">
                <a:latin typeface="Source Sans Pro" panose="020B0503030403020204" pitchFamily="34" charset="0"/>
              </a:rPr>
              <a:t>Datensatz 3</a:t>
            </a:r>
            <a:r>
              <a:rPr lang="de-DE" sz="2800" dirty="0">
                <a:latin typeface="Source Sans Pro" panose="020B0503030403020204" pitchFamily="34" charset="0"/>
              </a:rPr>
              <a:t>)</a:t>
            </a:r>
            <a:r>
              <a:rPr lang="de-DE" sz="2800" dirty="0">
                <a:solidFill>
                  <a:schemeClr val="accent2"/>
                </a:solidFill>
                <a:latin typeface="Source Sans Pro" panose="020B0503030403020204" pitchFamily="34" charset="0"/>
              </a:rPr>
              <a:t>,</a:t>
            </a:r>
            <a:r>
              <a:rPr lang="de-DE" sz="2800" dirty="0">
                <a:latin typeface="Source Sans Pro" panose="020B0503030403020204" pitchFamily="34" charset="0"/>
              </a:rPr>
              <a:t> </a:t>
            </a:r>
            <a:r>
              <a:rPr lang="de-DE" sz="1300" dirty="0">
                <a:latin typeface="Source Sans Pro" panose="020B0503030403020204" pitchFamily="34" charset="0"/>
              </a:rPr>
              <a:t>… </a:t>
            </a:r>
            <a:r>
              <a:rPr lang="de-DE" sz="2800" dirty="0">
                <a:solidFill>
                  <a:schemeClr val="accent2"/>
                </a:solidFill>
                <a:latin typeface="Source Sans Pro" panose="020B0503030403020204" pitchFamily="34" charset="0"/>
              </a:rPr>
              <a:t>;</a:t>
            </a:r>
            <a:endParaRPr lang="de-DE" sz="2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9" y="1342879"/>
            <a:ext cx="11649639" cy="301621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Einpflegen von (z.B.) den folgenden 5 </a:t>
            </a:r>
            <a:r>
              <a:rPr kumimoji="0" lang="de-DE" sz="2000" b="1" i="0" u="none" strike="noStrike" kern="1200" cap="none" spc="0" normalizeH="0" baseline="0" noProof="0" dirty="0">
                <a:ln>
                  <a:noFill/>
                </a:ln>
                <a:effectLst/>
                <a:uLnTx/>
                <a:uFillTx/>
                <a:latin typeface="Source Sans Pro" panose="020B0503030403020204" pitchFamily="34" charset="0"/>
                <a:ea typeface="+mn-ea"/>
                <a:cs typeface="+mn-cs"/>
              </a:rPr>
              <a:t>Produkten</a:t>
            </a:r>
            <a:r>
              <a:rPr kumimoji="0" lang="de-DE" sz="2000" b="1" i="0" u="none" strike="noStrike" kern="1200" cap="none" spc="0" normalizeH="0" baseline="0" noProof="0" dirty="0">
                <a:ln>
                  <a:noFill/>
                </a:ln>
                <a:solidFill>
                  <a:schemeClr val="accent3">
                    <a:lumMod val="75000"/>
                  </a:schemeClr>
                </a:solidFill>
                <a:effectLst/>
                <a:uLnTx/>
                <a:uFillTx/>
                <a:latin typeface="Source Sans Pro" panose="020B0503030403020204" pitchFamily="34" charset="0"/>
                <a:ea typeface="+mn-ea"/>
                <a:cs typeface="+mn-cs"/>
              </a:rPr>
              <a:t> </a:t>
            </a:r>
            <a:r>
              <a:rPr kumimoji="0" lang="de-DE" sz="1200" i="0" u="none" strike="noStrike" kern="1200" cap="none" spc="0" normalizeH="0" baseline="0" noProof="0" dirty="0">
                <a:ln>
                  <a:noFill/>
                </a:ln>
                <a:effectLst/>
                <a:uLnTx/>
                <a:uFillTx/>
                <a:latin typeface="Source Sans Pro" panose="020B0503030403020204" pitchFamily="34" charset="0"/>
                <a:ea typeface="+mn-ea"/>
                <a:cs typeface="+mn-cs"/>
              </a:rPr>
              <a:t>(nur Produktname und </a:t>
            </a:r>
            <a:r>
              <a:rPr lang="de-DE" sz="1200" dirty="0">
                <a:latin typeface="Source Sans Pro" panose="020B0503030403020204" pitchFamily="34" charset="0"/>
              </a:rPr>
              <a:t>P</a:t>
            </a:r>
            <a:r>
              <a:rPr kumimoji="0" lang="de-DE" sz="1200" i="0" u="none" strike="noStrike" kern="1200" cap="none" spc="0" normalizeH="0" baseline="0" noProof="0" dirty="0">
                <a:ln>
                  <a:noFill/>
                </a:ln>
                <a:effectLst/>
                <a:uLnTx/>
                <a:uFillTx/>
                <a:latin typeface="Source Sans Pro" panose="020B0503030403020204" pitchFamily="34" charset="0"/>
                <a:ea typeface="+mn-ea"/>
                <a:cs typeface="+mn-cs"/>
              </a:rPr>
              <a:t>reis, AUTO_INCREMENT soll genutzt werden)</a:t>
            </a:r>
            <a:r>
              <a:rPr kumimoji="0" lang="de-DE" sz="2000" i="0" u="none" strike="noStrike" kern="1200" cap="none" spc="0" normalizeH="0" baseline="0" noProof="0" dirty="0">
                <a:ln>
                  <a:noFill/>
                </a:ln>
                <a:effectLst/>
                <a:uLnTx/>
                <a:uFillTx/>
                <a:latin typeface="Source Sans Pro" panose="020B0503030403020204" pitchFamily="34" charset="0"/>
                <a:ea typeface="+mn-ea"/>
                <a:cs typeface="+mn-cs"/>
              </a:rPr>
              <a:t>:</a:t>
            </a:r>
            <a:endParaRPr kumimoji="0" lang="de-DE" sz="2000" i="0" u="none" strike="noStrike" kern="1200" cap="none" spc="0" normalizeH="0" noProof="0" dirty="0">
              <a:ln>
                <a:noFill/>
              </a:ln>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lvl="0">
              <a:defRPr/>
            </a:pPr>
            <a:r>
              <a:rPr lang="de-DE" sz="2000" baseline="0" dirty="0">
                <a:solidFill>
                  <a:srgbClr val="0071B2"/>
                </a:solidFill>
                <a:latin typeface="Source Sans Pro" panose="020B0503030403020204" pitchFamily="34" charset="0"/>
              </a:rPr>
              <a:t>	</a:t>
            </a:r>
            <a:r>
              <a:rPr lang="de-DE" sz="2000" b="1" baseline="0" dirty="0">
                <a:solidFill>
                  <a:srgbClr val="0071B2"/>
                </a:solidFill>
                <a:latin typeface="Source Sans Pro" panose="020B0503030403020204" pitchFamily="34" charset="0"/>
              </a:rPr>
              <a:t>INSERT INTO </a:t>
            </a:r>
            <a:r>
              <a:rPr lang="de-DE" sz="2000" baseline="0" dirty="0">
                <a:latin typeface="Source Sans Pro" panose="020B0503030403020204" pitchFamily="34" charset="0"/>
              </a:rPr>
              <a:t>Produkt</a:t>
            </a:r>
            <a:r>
              <a:rPr lang="de-DE" sz="2000" b="1" baseline="0" dirty="0">
                <a:latin typeface="Source Sans Pro" panose="020B0503030403020204" pitchFamily="34" charset="0"/>
              </a:rPr>
              <a:t>(</a:t>
            </a:r>
            <a:r>
              <a:rPr lang="de-DE" sz="2000" baseline="0" dirty="0">
                <a:latin typeface="Source Sans Pro" panose="020B0503030403020204" pitchFamily="34" charset="0"/>
              </a:rPr>
              <a:t>Produkt_Name, Euro_Preis</a:t>
            </a:r>
            <a:r>
              <a:rPr lang="de-DE" sz="2000" b="1" baseline="0" dirty="0">
                <a:latin typeface="Source Sans Pro" panose="020B0503030403020204" pitchFamily="34" charset="0"/>
              </a:rPr>
              <a:t>)</a:t>
            </a:r>
            <a:r>
              <a:rPr lang="de-DE" sz="2000" b="1" baseline="0" dirty="0">
                <a:solidFill>
                  <a:srgbClr val="0071B2"/>
                </a:solidFill>
                <a:latin typeface="Source Sans Pro" panose="020B0503030403020204" pitchFamily="34" charset="0"/>
              </a:rPr>
              <a:t> </a:t>
            </a:r>
          </a:p>
          <a:p>
            <a:pPr lvl="0">
              <a:defRPr/>
            </a:pPr>
            <a:r>
              <a:rPr lang="de-DE" sz="2000" b="1" dirty="0">
                <a:solidFill>
                  <a:srgbClr val="0071B2"/>
                </a:solidFill>
                <a:latin typeface="Source Sans Pro" panose="020B0503030403020204" pitchFamily="34" charset="0"/>
              </a:rPr>
              <a:t>	VALUES </a:t>
            </a:r>
          </a:p>
          <a:p>
            <a:pPr lvl="0">
              <a:defRPr/>
            </a:pPr>
            <a:r>
              <a:rPr lang="de-DE" sz="2000" b="1" dirty="0">
                <a:solidFill>
                  <a:srgbClr val="0071B2"/>
                </a:solidFill>
                <a:latin typeface="Source Sans Pro" panose="020B0503030403020204" pitchFamily="34" charset="0"/>
              </a:rPr>
              <a:t>	</a:t>
            </a:r>
            <a:r>
              <a:rPr lang="de-DE" sz="2000" b="1" dirty="0">
                <a:latin typeface="Source Sans Pro" panose="020B0503030403020204" pitchFamily="34" charset="0"/>
              </a:rPr>
              <a:t>(</a:t>
            </a:r>
            <a:r>
              <a:rPr lang="de-DE" sz="2000" dirty="0">
                <a:latin typeface="Source Sans Pro" panose="020B0503030403020204" pitchFamily="34" charset="0"/>
              </a:rPr>
              <a:t>"Produkt A", 25.99</a:t>
            </a:r>
            <a:r>
              <a:rPr lang="de-DE" sz="2000" b="1" dirty="0">
                <a:latin typeface="Source Sans Pro" panose="020B0503030403020204" pitchFamily="34" charset="0"/>
              </a:rPr>
              <a:t>)</a:t>
            </a:r>
            <a:r>
              <a:rPr lang="de-DE" sz="2000" b="1" dirty="0">
                <a:solidFill>
                  <a:schemeClr val="accent2"/>
                </a:solidFill>
                <a:latin typeface="Source Sans Pro" panose="020B0503030403020204" pitchFamily="34" charset="0"/>
              </a:rPr>
              <a:t>,</a:t>
            </a:r>
          </a:p>
          <a:p>
            <a:pPr>
              <a:defRPr/>
            </a:pPr>
            <a:r>
              <a:rPr lang="de-DE" sz="2000" b="1" dirty="0">
                <a:latin typeface="Source Sans Pro" panose="020B0503030403020204" pitchFamily="34" charset="0"/>
              </a:rPr>
              <a:t>	(</a:t>
            </a:r>
            <a:r>
              <a:rPr lang="de-DE" sz="2000" dirty="0">
                <a:latin typeface="Source Sans Pro" panose="020B0503030403020204" pitchFamily="34" charset="0"/>
              </a:rPr>
              <a:t>"Produkt B", 2.22</a:t>
            </a:r>
            <a:r>
              <a:rPr lang="de-DE" sz="2000" b="1" dirty="0">
                <a:latin typeface="Source Sans Pro" panose="020B0503030403020204" pitchFamily="34" charset="0"/>
              </a:rPr>
              <a:t>)</a:t>
            </a:r>
            <a:r>
              <a:rPr lang="de-DE" sz="2000" b="1" dirty="0">
                <a:solidFill>
                  <a:schemeClr val="accent2"/>
                </a:solidFill>
                <a:latin typeface="Source Sans Pro" panose="020B0503030403020204" pitchFamily="34" charset="0"/>
              </a:rPr>
              <a:t>,</a:t>
            </a:r>
          </a:p>
          <a:p>
            <a:pPr>
              <a:defRPr/>
            </a:pPr>
            <a:r>
              <a:rPr lang="de-DE" sz="2000" b="1" dirty="0">
                <a:latin typeface="Source Sans Pro" panose="020B0503030403020204" pitchFamily="34" charset="0"/>
              </a:rPr>
              <a:t>	(</a:t>
            </a:r>
            <a:r>
              <a:rPr lang="de-DE" sz="2000" dirty="0">
                <a:latin typeface="Source Sans Pro" panose="020B0503030403020204" pitchFamily="34" charset="0"/>
              </a:rPr>
              <a:t>"Produkt C", 179.8</a:t>
            </a:r>
            <a:r>
              <a:rPr lang="de-DE" sz="2000" b="1" dirty="0">
                <a:latin typeface="Source Sans Pro" panose="020B0503030403020204" pitchFamily="34" charset="0"/>
              </a:rPr>
              <a:t>)</a:t>
            </a:r>
            <a:r>
              <a:rPr lang="de-DE" sz="2000" b="1" dirty="0">
                <a:solidFill>
                  <a:schemeClr val="accent2"/>
                </a:solidFill>
                <a:latin typeface="Source Sans Pro" panose="020B0503030403020204" pitchFamily="34" charset="0"/>
              </a:rPr>
              <a:t>,</a:t>
            </a:r>
          </a:p>
          <a:p>
            <a:pPr>
              <a:defRPr/>
            </a:pPr>
            <a:r>
              <a:rPr lang="de-DE" sz="2000" b="1" dirty="0">
                <a:latin typeface="Source Sans Pro" panose="020B0503030403020204" pitchFamily="34" charset="0"/>
              </a:rPr>
              <a:t>	(</a:t>
            </a:r>
            <a:r>
              <a:rPr lang="de-DE" sz="2000" dirty="0">
                <a:latin typeface="Source Sans Pro" panose="020B0503030403020204" pitchFamily="34" charset="0"/>
              </a:rPr>
              <a:t>"Produkt D", 0.95</a:t>
            </a:r>
            <a:r>
              <a:rPr lang="de-DE" sz="2000" b="1" dirty="0">
                <a:latin typeface="Source Sans Pro" panose="020B0503030403020204" pitchFamily="34" charset="0"/>
              </a:rPr>
              <a:t>)</a:t>
            </a:r>
            <a:r>
              <a:rPr lang="de-DE" sz="2000" b="1" dirty="0">
                <a:solidFill>
                  <a:schemeClr val="accent2"/>
                </a:solidFill>
                <a:latin typeface="Source Sans Pro" panose="020B0503030403020204" pitchFamily="34" charset="0"/>
              </a:rPr>
              <a:t>,</a:t>
            </a:r>
          </a:p>
          <a:p>
            <a:pPr>
              <a:defRPr/>
            </a:pPr>
            <a:r>
              <a:rPr lang="de-DE" sz="2000" b="1" dirty="0">
                <a:latin typeface="Source Sans Pro" panose="020B0503030403020204" pitchFamily="34" charset="0"/>
              </a:rPr>
              <a:t>	(</a:t>
            </a:r>
            <a:r>
              <a:rPr lang="de-DE" sz="2000" dirty="0">
                <a:latin typeface="Source Sans Pro" panose="020B0503030403020204" pitchFamily="34" charset="0"/>
              </a:rPr>
              <a:t>"Produkt E", 2</a:t>
            </a:r>
            <a:r>
              <a:rPr lang="de-DE" sz="2000" b="1" dirty="0">
                <a:latin typeface="Source Sans Pro" panose="020B0503030403020204" pitchFamily="34" charset="0"/>
              </a:rPr>
              <a:t>)</a:t>
            </a:r>
            <a:r>
              <a:rPr lang="de-DE" sz="2000" b="1" dirty="0">
                <a:solidFill>
                  <a:schemeClr val="accent2"/>
                </a:solidFill>
                <a:latin typeface="Source Sans Pro" panose="020B0503030403020204" pitchFamily="34" charset="0"/>
              </a:rPr>
              <a:t>;</a:t>
            </a:r>
            <a:endParaRPr lang="de-DE" sz="2000" b="1" baseline="0" dirty="0">
              <a:solidFill>
                <a:schemeClr val="accent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Rechteck 7"/>
          <p:cNvSpPr/>
          <p:nvPr/>
        </p:nvSpPr>
        <p:spPr>
          <a:xfrm>
            <a:off x="116349" y="4234397"/>
            <a:ext cx="11870575" cy="163438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solidFill>
            </a:endParaRPr>
          </a:p>
          <a:p>
            <a:pPr algn="ctr"/>
            <a:endParaRPr lang="de-DE" sz="800" b="1" dirty="0">
              <a:solidFill>
                <a:schemeClr val="accent2"/>
              </a:solidFill>
            </a:endParaRPr>
          </a:p>
          <a:p>
            <a:endParaRPr lang="de-DE" sz="1600" dirty="0">
              <a:solidFill>
                <a:schemeClr val="tx1"/>
              </a:solidFill>
            </a:endParaRPr>
          </a:p>
          <a:p>
            <a:pPr algn="ctr"/>
            <a:r>
              <a:rPr lang="de-DE" sz="2400" b="1" dirty="0">
                <a:solidFill>
                  <a:schemeClr val="accent2"/>
                </a:solidFill>
              </a:rPr>
              <a:t>Hinweise:</a:t>
            </a:r>
          </a:p>
          <a:p>
            <a:pPr algn="ctr"/>
            <a:endParaRPr lang="de-DE" sz="800" b="1" dirty="0">
              <a:solidFill>
                <a:schemeClr val="accent2"/>
              </a:solidFill>
            </a:endParaRPr>
          </a:p>
          <a:p>
            <a:pPr algn="ctr"/>
            <a:r>
              <a:rPr lang="de-DE" sz="1600" dirty="0">
                <a:solidFill>
                  <a:schemeClr val="tx1"/>
                </a:solidFill>
              </a:rPr>
              <a:t>Falls ein Attribut mit dem Constraint </a:t>
            </a:r>
            <a:r>
              <a:rPr lang="de-DE" sz="1600" b="1" dirty="0">
                <a:solidFill>
                  <a:schemeClr val="tx1"/>
                </a:solidFill>
              </a:rPr>
              <a:t>NOT NULL </a:t>
            </a:r>
            <a:r>
              <a:rPr lang="de-DE" sz="1600" dirty="0">
                <a:solidFill>
                  <a:schemeClr val="tx1"/>
                </a:solidFill>
              </a:rPr>
              <a:t>versehen wurde, so </a:t>
            </a:r>
            <a:r>
              <a:rPr lang="de-DE" sz="1600" b="1" dirty="0">
                <a:solidFill>
                  <a:schemeClr val="tx1"/>
                </a:solidFill>
              </a:rPr>
              <a:t>muss</a:t>
            </a:r>
            <a:r>
              <a:rPr lang="de-DE" sz="1600" dirty="0">
                <a:solidFill>
                  <a:schemeClr val="tx1"/>
                </a:solidFill>
              </a:rPr>
              <a:t> es bei INSERT INTO </a:t>
            </a:r>
            <a:r>
              <a:rPr lang="de-DE" sz="1600" b="1" dirty="0">
                <a:solidFill>
                  <a:schemeClr val="tx1"/>
                </a:solidFill>
              </a:rPr>
              <a:t>mit einem Wert </a:t>
            </a:r>
            <a:r>
              <a:rPr lang="de-DE" sz="1600" dirty="0">
                <a:solidFill>
                  <a:schemeClr val="tx1"/>
                </a:solidFill>
              </a:rPr>
              <a:t>belegt werden.</a:t>
            </a:r>
          </a:p>
          <a:p>
            <a:pPr algn="ctr"/>
            <a:endParaRPr lang="de-DE" sz="800" dirty="0">
              <a:solidFill>
                <a:schemeClr val="tx1"/>
              </a:solidFill>
            </a:endParaRPr>
          </a:p>
          <a:p>
            <a:pPr algn="ctr"/>
            <a:r>
              <a:rPr lang="de-DE" sz="1600" dirty="0">
                <a:solidFill>
                  <a:schemeClr val="tx1"/>
                </a:solidFill>
              </a:rPr>
              <a:t>Bei Zahlen vom Typ </a:t>
            </a:r>
            <a:r>
              <a:rPr lang="de-DE" sz="1600" b="1" dirty="0">
                <a:solidFill>
                  <a:schemeClr val="tx1"/>
                </a:solidFill>
              </a:rPr>
              <a:t>FLOAT</a:t>
            </a:r>
            <a:r>
              <a:rPr lang="de-DE" sz="1600" dirty="0">
                <a:solidFill>
                  <a:schemeClr val="tx1"/>
                </a:solidFill>
              </a:rPr>
              <a:t> (oder DOUBLE) müssen nicht alle (laut Typ festgelegten) Nachkommastellen explizit benannt werden:</a:t>
            </a:r>
          </a:p>
          <a:p>
            <a:pPr algn="ctr"/>
            <a:r>
              <a:rPr lang="de-DE" sz="1400" dirty="0">
                <a:solidFill>
                  <a:schemeClr val="tx1"/>
                </a:solidFill>
              </a:rPr>
              <a:t>Wenn (z.B.) </a:t>
            </a:r>
            <a:r>
              <a:rPr lang="de-DE" sz="1400" b="1" dirty="0">
                <a:solidFill>
                  <a:schemeClr val="tx1"/>
                </a:solidFill>
              </a:rPr>
              <a:t>laut FLOAT(7,2) </a:t>
            </a:r>
            <a:r>
              <a:rPr lang="de-DE" sz="1400" dirty="0">
                <a:solidFill>
                  <a:schemeClr val="tx1"/>
                </a:solidFill>
              </a:rPr>
              <a:t>maximal</a:t>
            </a:r>
            <a:r>
              <a:rPr lang="de-DE" sz="1400" b="1" dirty="0">
                <a:solidFill>
                  <a:schemeClr val="tx1"/>
                </a:solidFill>
              </a:rPr>
              <a:t> </a:t>
            </a:r>
            <a:r>
              <a:rPr lang="de-DE" sz="1400" dirty="0">
                <a:solidFill>
                  <a:schemeClr val="tx1"/>
                </a:solidFill>
              </a:rPr>
              <a:t>2 Nachkommastellen vorgesehen sind, so werden die Werte „179.8“ und „2“ automatisch zu 179.80 und 2.00 ergänzt.  </a:t>
            </a:r>
          </a:p>
          <a:p>
            <a:pPr marL="342900" indent="-342900" algn="ctr">
              <a:buAutoNum type="alphaLcParenR"/>
            </a:pPr>
            <a:endParaRPr lang="de-DE" sz="1600" dirty="0">
              <a:solidFill>
                <a:schemeClr val="tx1"/>
              </a:solidFill>
            </a:endParaRPr>
          </a:p>
          <a:p>
            <a:pPr algn="ctr"/>
            <a:endParaRPr lang="de-DE" sz="1600" dirty="0">
              <a:solidFill>
                <a:schemeClr val="tx1"/>
              </a:solidFill>
            </a:endParaRPr>
          </a:p>
          <a:p>
            <a:pPr algn="ctr"/>
            <a:endParaRPr lang="de-DE" sz="1200" dirty="0">
              <a:solidFill>
                <a:schemeClr val="tx1"/>
              </a:solidFill>
            </a:endParaRPr>
          </a:p>
        </p:txBody>
      </p:sp>
    </p:spTree>
    <p:extLst>
      <p:ext uri="{BB962C8B-B14F-4D97-AF65-F5344CB8AC3E}">
        <p14:creationId xmlns:p14="http://schemas.microsoft.com/office/powerpoint/2010/main" val="326555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effectLst/>
                <a:uLnTx/>
                <a:uFillTx/>
                <a:latin typeface="Source Sans Pro" panose="020B0503030403020204" pitchFamily="34" charset="0"/>
                <a:ea typeface="+mj-ea"/>
                <a:cs typeface="+mj-cs"/>
              </a:rPr>
              <a:t>Übergabewert</a:t>
            </a:r>
            <a:r>
              <a:rPr kumimoji="0" lang="de-DE" sz="40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 CURDATE()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9" name="Textfeld 8"/>
          <p:cNvSpPr txBox="1"/>
          <p:nvPr/>
        </p:nvSpPr>
        <p:spPr>
          <a:xfrm>
            <a:off x="747056" y="1628776"/>
            <a:ext cx="10725540" cy="3508653"/>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Wenn sich ein Kunde </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(z.B. der Kunde mit ID 5)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auf der Website von „Geld_her“ einloggt, so wird ihm automatisch eine Abrechnung zugeordnet. </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800100" lvl="1" indent="-342900">
              <a:buFont typeface="Wingdings" panose="05000000000000000000" pitchFamily="2" charset="2"/>
              <a:buChar char="Ø"/>
              <a:defRPr/>
            </a:pPr>
            <a:r>
              <a:rPr lang="de-DE" sz="1400" noProof="0" dirty="0">
                <a:solidFill>
                  <a:srgbClr val="0071B2"/>
                </a:solidFill>
                <a:latin typeface="Source Sans Pro" panose="020B0503030403020204" pitchFamily="34" charset="0"/>
              </a:rPr>
              <a:t>D</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ie Abrechnung_ID wird durch </a:t>
            </a:r>
            <a:r>
              <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rPr>
              <a:t>AUTO_INCREMENT</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 gesetzt.</a:t>
            </a:r>
          </a:p>
          <a:p>
            <a:pPr marL="800100" lvl="1" indent="-342900">
              <a:buFont typeface="Wingdings" panose="05000000000000000000" pitchFamily="2" charset="2"/>
              <a:buChar char="Ø"/>
              <a:defRPr/>
            </a:pPr>
            <a:r>
              <a:rPr lang="de-DE" sz="1400" dirty="0">
                <a:solidFill>
                  <a:srgbClr val="0071B2"/>
                </a:solidFill>
                <a:latin typeface="Source Sans Pro" panose="020B0503030403020204" pitchFamily="34" charset="0"/>
              </a:rPr>
              <a:t>De</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r </a:t>
            </a:r>
            <a:r>
              <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rPr>
              <a:t>Fremdschlüssel</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 ist die </a:t>
            </a:r>
            <a:r>
              <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rPr>
              <a:t>ID</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 des sich anmeldenden </a:t>
            </a:r>
            <a:r>
              <a:rPr kumimoji="0" lang="de-DE" sz="1400" b="1" i="0" u="none" strike="noStrike" kern="1200" cap="none" spc="0" normalizeH="0" baseline="0" noProof="0" dirty="0">
                <a:ln>
                  <a:noFill/>
                </a:ln>
                <a:solidFill>
                  <a:srgbClr val="0071B2"/>
                </a:solidFill>
                <a:effectLst/>
                <a:uLnTx/>
                <a:uFillTx/>
                <a:latin typeface="Source Sans Pro" panose="020B0503030403020204" pitchFamily="34" charset="0"/>
              </a:rPr>
              <a:t>Kunden</a:t>
            </a:r>
            <a:r>
              <a:rPr kumimoji="0" lang="de-DE" sz="1400" i="0" u="none" strike="noStrike" kern="1200" cap="none" spc="0" normalizeH="0" baseline="0" noProof="0" dirty="0">
                <a:ln>
                  <a:noFill/>
                </a:ln>
                <a:solidFill>
                  <a:srgbClr val="0071B2"/>
                </a:solidFill>
                <a:effectLst/>
                <a:uLnTx/>
                <a:uFillTx/>
                <a:latin typeface="Source Sans Pro" panose="020B0503030403020204" pitchFamily="34" charset="0"/>
              </a:rPr>
              <a:t>.</a:t>
            </a:r>
            <a:endParaRPr lang="de-DE" sz="1400" dirty="0">
              <a:solidFill>
                <a:srgbClr val="0071B2"/>
              </a:solidFill>
              <a:latin typeface="Source Sans Pro" panose="020B0503030403020204" pitchFamily="34" charset="0"/>
            </a:endParaRPr>
          </a:p>
          <a:p>
            <a:pPr marL="800100" lvl="1" indent="-342900">
              <a:buFont typeface="Wingdings" panose="05000000000000000000" pitchFamily="2" charset="2"/>
              <a:buChar char="Ø"/>
              <a:defRPr/>
            </a:pPr>
            <a:r>
              <a:rPr lang="de-DE" sz="1400" dirty="0">
                <a:solidFill>
                  <a:srgbClr val="0071B2"/>
                </a:solidFill>
                <a:latin typeface="Source Sans Pro" panose="020B0503030403020204" pitchFamily="34" charset="0"/>
              </a:rPr>
              <a:t>D</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as Kalender-Datum soll das jeweils </a:t>
            </a:r>
            <a:r>
              <a:rPr kumimoji="0" lang="de-DE" sz="1400" b="1" i="0" u="none" strike="noStrike" kern="1200" cap="none" spc="0" normalizeH="0" baseline="0" noProof="0" dirty="0">
                <a:ln>
                  <a:noFill/>
                </a:ln>
                <a:solidFill>
                  <a:schemeClr val="accent2"/>
                </a:solidFill>
                <a:effectLst/>
                <a:uLnTx/>
                <a:uFillTx/>
                <a:latin typeface="Source Sans Pro" panose="020B0503030403020204" pitchFamily="34" charset="0"/>
              </a:rPr>
              <a:t>aktuelle</a:t>
            </a:r>
            <a:r>
              <a:rPr kumimoji="0" lang="de-DE" sz="1400" b="1" i="0" u="none" strike="noStrike" kern="1200" cap="none" spc="0" normalizeH="0" noProof="0" dirty="0">
                <a:ln>
                  <a:noFill/>
                </a:ln>
                <a:solidFill>
                  <a:schemeClr val="accent2"/>
                </a:solidFill>
                <a:effectLst/>
                <a:uLnTx/>
                <a:uFillTx/>
                <a:latin typeface="Source Sans Pro" panose="020B0503030403020204" pitchFamily="34" charset="0"/>
              </a:rPr>
              <a:t> Datum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sein.</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Dies können wir durch folgenden Befehl erreichen:</a:t>
            </a:r>
          </a:p>
          <a:p>
            <a:pPr marR="0" lvl="0" algn="l" defTabSz="914400" rtl="0" eaLnBrk="1" fontAlgn="auto" latinLnBrk="0" hangingPunct="1">
              <a:lnSpc>
                <a:spcPct val="100000"/>
              </a:lnSpc>
              <a:spcBef>
                <a:spcPts val="0"/>
              </a:spcBef>
              <a:spcAft>
                <a:spcPts val="0"/>
              </a:spcAft>
              <a:buClrTx/>
              <a:buSzTx/>
              <a:tabLst/>
              <a:defRPr/>
            </a:pPr>
            <a:endParaRPr lang="de-DE" sz="2000" dirty="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INSERT INTO </a:t>
            </a:r>
            <a:r>
              <a:rPr lang="de-DE" sz="2400" dirty="0">
                <a:solidFill>
                  <a:srgbClr val="D2E8F4">
                    <a:lumMod val="75000"/>
                  </a:srgbClr>
                </a:solidFill>
                <a:latin typeface="Source Sans Pro" panose="020B0503030403020204" pitchFamily="34" charset="0"/>
              </a:rPr>
              <a:t>Abrechnung</a:t>
            </a:r>
            <a:r>
              <a:rPr lang="de-DE" sz="2400" b="1" dirty="0">
                <a:latin typeface="Source Sans Pro" panose="020B0503030403020204" pitchFamily="34" charset="0"/>
              </a:rPr>
              <a:t>(</a:t>
            </a:r>
            <a:r>
              <a:rPr lang="de-DE" sz="2400" dirty="0">
                <a:latin typeface="Source Sans Pro" panose="020B0503030403020204" pitchFamily="34" charset="0"/>
              </a:rPr>
              <a:t>Kunde_ID, Datum</a:t>
            </a:r>
            <a:r>
              <a:rPr lang="de-DE" sz="2400" b="1" dirty="0">
                <a:latin typeface="Source Sans Pro" panose="020B0503030403020204" pitchFamily="34" charset="0"/>
              </a:rPr>
              <a:t>) </a:t>
            </a:r>
            <a:r>
              <a:rPr lang="de-DE" sz="2400" b="1" dirty="0">
                <a:solidFill>
                  <a:srgbClr val="0071B2"/>
                </a:solidFill>
                <a:latin typeface="Source Sans Pro" panose="020B0503030403020204" pitchFamily="34" charset="0"/>
              </a:rPr>
              <a:t>VALUES </a:t>
            </a:r>
            <a:r>
              <a:rPr lang="de-DE" sz="2400" b="1" dirty="0">
                <a:latin typeface="Source Sans Pro" panose="020B0503030403020204" pitchFamily="34" charset="0"/>
              </a:rPr>
              <a:t>(</a:t>
            </a:r>
            <a:r>
              <a:rPr lang="de-DE" sz="2400" dirty="0">
                <a:latin typeface="Source Sans Pro" panose="020B0503030403020204" pitchFamily="34" charset="0"/>
              </a:rPr>
              <a:t>5, </a:t>
            </a:r>
            <a:r>
              <a:rPr lang="de-DE" sz="2400" b="1" dirty="0">
                <a:solidFill>
                  <a:schemeClr val="accent2"/>
                </a:solidFill>
                <a:latin typeface="Source Sans Pro" panose="020B0503030403020204" pitchFamily="34" charset="0"/>
              </a:rPr>
              <a:t>CURDATE()</a:t>
            </a:r>
            <a:r>
              <a:rPr lang="de-DE" sz="2400" b="1"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de-DE" sz="2000" baseline="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endParaRPr lang="de-DE" sz="2000" b="1" dirty="0">
              <a:solidFill>
                <a:srgbClr val="0071B2"/>
              </a:solidFill>
              <a:latin typeface="Source Sans Pro" panose="020B0503030403020204" pitchFamily="34" charset="0"/>
            </a:endParaRPr>
          </a:p>
        </p:txBody>
      </p:sp>
    </p:spTree>
    <p:extLst>
      <p:ext uri="{BB962C8B-B14F-4D97-AF65-F5344CB8AC3E}">
        <p14:creationId xmlns:p14="http://schemas.microsoft.com/office/powerpoint/2010/main" val="425119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effectLst/>
                <a:uLnTx/>
                <a:uFillTx/>
                <a:latin typeface="Source Sans Pro" panose="020B0503030403020204" pitchFamily="34" charset="0"/>
                <a:ea typeface="+mj-ea"/>
                <a:cs typeface="+mj-cs"/>
              </a:rPr>
              <a:t>Wirkung des Constraints</a:t>
            </a:r>
            <a:r>
              <a:rPr kumimoji="0" lang="de-DE" sz="40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 DEFAULT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9" name="Textfeld 8"/>
          <p:cNvSpPr txBox="1"/>
          <p:nvPr/>
        </p:nvSpPr>
        <p:spPr>
          <a:xfrm>
            <a:off x="747056" y="1628776"/>
            <a:ext cx="10725540" cy="3108543"/>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Um diesen Constraint erläutern zu können, ändern</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wir zunächst das Attribut „Euro_Preis“:</a:t>
            </a:r>
          </a:p>
          <a:p>
            <a:pPr lvl="0">
              <a:defRPr/>
            </a:pPr>
            <a:r>
              <a:rPr lang="de-DE" sz="2000" dirty="0">
                <a:solidFill>
                  <a:srgbClr val="0071B2"/>
                </a:solidFill>
                <a:latin typeface="Source Sans Pro" panose="020B0503030403020204" pitchFamily="34" charset="0"/>
              </a:rPr>
              <a:t>	</a:t>
            </a:r>
            <a:r>
              <a:rPr lang="de-DE" sz="2000" b="1" dirty="0">
                <a:solidFill>
                  <a:srgbClr val="0071B2"/>
                </a:solidFill>
                <a:latin typeface="Source Sans Pro" panose="020B0503030403020204" pitchFamily="34" charset="0"/>
              </a:rPr>
              <a:t>ALTER TABLE </a:t>
            </a:r>
            <a:r>
              <a:rPr lang="de-DE" sz="2000" dirty="0">
                <a:solidFill>
                  <a:srgbClr val="0071B2"/>
                </a:solidFill>
                <a:latin typeface="Source Sans Pro" panose="020B0503030403020204" pitchFamily="34" charset="0"/>
              </a:rPr>
              <a:t>Produkt </a:t>
            </a:r>
            <a:r>
              <a:rPr lang="de-DE" sz="2000" b="1" dirty="0">
                <a:solidFill>
                  <a:srgbClr val="0071B2"/>
                </a:solidFill>
                <a:latin typeface="Source Sans Pro" panose="020B0503030403020204" pitchFamily="34" charset="0"/>
              </a:rPr>
              <a:t>CHANGE</a:t>
            </a:r>
            <a:r>
              <a:rPr lang="de-DE" sz="2000" dirty="0">
                <a:solidFill>
                  <a:srgbClr val="0071B2"/>
                </a:solidFill>
                <a:latin typeface="Source Sans Pro" panose="020B0503030403020204" pitchFamily="34" charset="0"/>
              </a:rPr>
              <a:t> Euro_Preis Euro_Preis </a:t>
            </a:r>
            <a:r>
              <a:rPr lang="de-DE" sz="2000" b="1" dirty="0">
                <a:solidFill>
                  <a:srgbClr val="0071B2"/>
                </a:solidFill>
                <a:latin typeface="Source Sans Pro" panose="020B0503030403020204" pitchFamily="34" charset="0"/>
              </a:rPr>
              <a:t>FLOAT(</a:t>
            </a:r>
            <a:r>
              <a:rPr lang="de-DE" sz="2000" dirty="0">
                <a:solidFill>
                  <a:srgbClr val="0071B2"/>
                </a:solidFill>
                <a:latin typeface="Source Sans Pro" panose="020B0503030403020204" pitchFamily="34" charset="0"/>
              </a:rPr>
              <a:t>7,2</a:t>
            </a:r>
            <a:r>
              <a:rPr lang="de-DE" sz="2000" b="1" dirty="0">
                <a:solidFill>
                  <a:srgbClr val="0071B2"/>
                </a:solidFill>
                <a:latin typeface="Source Sans Pro" panose="020B0503030403020204" pitchFamily="34" charset="0"/>
              </a:rPr>
              <a:t>)</a:t>
            </a:r>
            <a:r>
              <a:rPr lang="de-DE" sz="2000" dirty="0">
                <a:solidFill>
                  <a:srgbClr val="0071B2"/>
                </a:solidFill>
                <a:latin typeface="Source Sans Pro" panose="020B0503030403020204" pitchFamily="34" charset="0"/>
              </a:rPr>
              <a:t> </a:t>
            </a:r>
            <a:r>
              <a:rPr lang="de-DE" sz="2000" b="1" dirty="0">
                <a:solidFill>
                  <a:schemeClr val="accent2"/>
                </a:solidFill>
                <a:latin typeface="Source Sans Pro" panose="020B0503030403020204" pitchFamily="34" charset="0"/>
              </a:rPr>
              <a:t>DEFAULT</a:t>
            </a:r>
            <a:r>
              <a:rPr lang="de-DE" sz="2000" dirty="0">
                <a:solidFill>
                  <a:srgbClr val="0071B2"/>
                </a:solidFill>
                <a:latin typeface="Source Sans Pro" panose="020B0503030403020204" pitchFamily="34" charset="0"/>
              </a:rPr>
              <a:t> 0.99;</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000" dirty="0">
                <a:solidFill>
                  <a:srgbClr val="0071B2"/>
                </a:solidFill>
                <a:latin typeface="Source Sans Pro" panose="020B0503030403020204" pitchFamily="34" charset="0"/>
              </a:rPr>
              <a:t>Falls wir nun ein neues Produkt (Produkt-ID 77, Hersteller-ID 15, Produktname „ABC“) einpflegen (und also </a:t>
            </a:r>
            <a:r>
              <a:rPr lang="de-DE" sz="2000" u="sng" dirty="0">
                <a:solidFill>
                  <a:srgbClr val="0071B2"/>
                </a:solidFill>
                <a:latin typeface="Source Sans Pro" panose="020B0503030403020204" pitchFamily="34" charset="0"/>
              </a:rPr>
              <a:t>keinen</a:t>
            </a:r>
            <a:r>
              <a:rPr lang="de-DE" sz="2000" dirty="0">
                <a:solidFill>
                  <a:srgbClr val="0071B2"/>
                </a:solidFill>
                <a:latin typeface="Source Sans Pro" panose="020B0503030403020204" pitchFamily="34" charset="0"/>
              </a:rPr>
              <a:t> Wert für das Attribut Euro_Preis eintragen), so lautet der entsprechende Befehl:</a:t>
            </a:r>
            <a:endPar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de-DE" sz="2000" dirty="0">
              <a:solidFill>
                <a:srgbClr val="0071B2"/>
              </a:solidFill>
              <a:latin typeface="Source Sans Pro" panose="020B0503030403020204" pitchFamily="34" charset="0"/>
            </a:endParaRPr>
          </a:p>
          <a:p>
            <a:pPr>
              <a:defRPr/>
            </a:pPr>
            <a:r>
              <a:rPr lang="de-DE" sz="2000" b="1" dirty="0">
                <a:solidFill>
                  <a:srgbClr val="0071B2"/>
                </a:solidFill>
                <a:latin typeface="Source Sans Pro" panose="020B0503030403020204" pitchFamily="34" charset="0"/>
              </a:rPr>
              <a:t>	INSERT INTO </a:t>
            </a:r>
            <a:r>
              <a:rPr lang="de-DE" sz="2000" dirty="0">
                <a:latin typeface="Source Sans Pro" panose="020B0503030403020204" pitchFamily="34" charset="0"/>
              </a:rPr>
              <a:t>Produkt</a:t>
            </a:r>
            <a:r>
              <a:rPr lang="de-DE" sz="2000" b="1" dirty="0">
                <a:latin typeface="Source Sans Pro" panose="020B0503030403020204" pitchFamily="34" charset="0"/>
              </a:rPr>
              <a:t>(</a:t>
            </a:r>
            <a:r>
              <a:rPr lang="de-DE" sz="2000" dirty="0">
                <a:latin typeface="Source Sans Pro" panose="020B0503030403020204" pitchFamily="34" charset="0"/>
              </a:rPr>
              <a:t>Produkt_ID, Hersteller_ID, Produkt_Name</a:t>
            </a:r>
            <a:r>
              <a:rPr lang="de-DE" sz="2000" b="1" dirty="0">
                <a:latin typeface="Source Sans Pro" panose="020B0503030403020204" pitchFamily="34" charset="0"/>
              </a:rPr>
              <a:t>) </a:t>
            </a:r>
            <a:r>
              <a:rPr lang="de-DE" sz="2000" b="1" dirty="0">
                <a:solidFill>
                  <a:srgbClr val="0071B2"/>
                </a:solidFill>
                <a:latin typeface="Source Sans Pro" panose="020B0503030403020204" pitchFamily="34" charset="0"/>
              </a:rPr>
              <a:t>VALUES </a:t>
            </a:r>
            <a:r>
              <a:rPr lang="de-DE" sz="2000" b="1" dirty="0">
                <a:latin typeface="Source Sans Pro" panose="020B0503030403020204" pitchFamily="34" charset="0"/>
              </a:rPr>
              <a:t>(</a:t>
            </a:r>
            <a:r>
              <a:rPr lang="de-DE" sz="2000" dirty="0">
                <a:latin typeface="Source Sans Pro" panose="020B0503030403020204" pitchFamily="34" charset="0"/>
              </a:rPr>
              <a:t>77, 15, "ABC"</a:t>
            </a:r>
            <a:r>
              <a:rPr lang="de-DE" sz="2000" b="1"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baseline="0" dirty="0">
                <a:solidFill>
                  <a:srgbClr val="0071B2"/>
                </a:solidFill>
                <a:latin typeface="Source Sans Pro" panose="020B0503030403020204" pitchFamily="34" charset="0"/>
              </a:rPr>
              <a:t>Wenn wir anschließend nachschauen, was in der Tabelle </a:t>
            </a:r>
            <a:r>
              <a:rPr lang="de-DE" sz="2000" dirty="0">
                <a:solidFill>
                  <a:srgbClr val="0071B2"/>
                </a:solidFill>
                <a:latin typeface="Source Sans Pro" panose="020B0503030403020204" pitchFamily="34" charset="0"/>
              </a:rPr>
              <a:t>P</a:t>
            </a:r>
            <a:r>
              <a:rPr lang="de-DE" sz="2000" baseline="0" dirty="0">
                <a:solidFill>
                  <a:srgbClr val="0071B2"/>
                </a:solidFill>
                <a:latin typeface="Source Sans Pro" panose="020B0503030403020204" pitchFamily="34" charset="0"/>
              </a:rPr>
              <a:t>rodukt „ankam“, so werden </a:t>
            </a:r>
            <a:r>
              <a:rPr lang="de-DE" sz="2000" dirty="0">
                <a:solidFill>
                  <a:srgbClr val="0071B2"/>
                </a:solidFill>
                <a:latin typeface="Source Sans Pro" panose="020B0503030403020204" pitchFamily="34" charset="0"/>
              </a:rPr>
              <a:t>wir feststellen, dass der Euro_Preis </a:t>
            </a:r>
            <a:r>
              <a:rPr lang="de-DE" sz="2000" b="1" dirty="0">
                <a:solidFill>
                  <a:schemeClr val="accent2"/>
                </a:solidFill>
                <a:latin typeface="Source Sans Pro" panose="020B0503030403020204" pitchFamily="34" charset="0"/>
              </a:rPr>
              <a:t>„Default-mäßig“ </a:t>
            </a:r>
            <a:r>
              <a:rPr lang="de-DE" sz="2000" dirty="0">
                <a:solidFill>
                  <a:srgbClr val="0071B2"/>
                </a:solidFill>
                <a:latin typeface="Source Sans Pro" panose="020B0503030403020204" pitchFamily="34" charset="0"/>
              </a:rPr>
              <a:t>auf den Betrag 0.99 (€) gesetzt wurde.</a:t>
            </a:r>
            <a:endParaRPr lang="de-DE" sz="2000" baseline="0" dirty="0">
              <a:solidFill>
                <a:srgbClr val="0071B2"/>
              </a:solidFill>
              <a:latin typeface="Source Sans Pro" panose="020B0503030403020204" pitchFamily="34" charset="0"/>
            </a:endParaRPr>
          </a:p>
        </p:txBody>
      </p:sp>
    </p:spTree>
    <p:extLst>
      <p:ext uri="{BB962C8B-B14F-4D97-AF65-F5344CB8AC3E}">
        <p14:creationId xmlns:p14="http://schemas.microsoft.com/office/powerpoint/2010/main" val="43033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DELETE FROM</a:t>
            </a:r>
            <a:endParaRPr lang="de-DE" sz="2800" dirty="0">
              <a:latin typeface="Source Sans Pro" panose="020B0503030403020204" pitchFamily="34" charset="0"/>
            </a:endParaRPr>
          </a:p>
        </p:txBody>
      </p:sp>
    </p:spTree>
    <p:extLst>
      <p:ext uri="{BB962C8B-B14F-4D97-AF65-F5344CB8AC3E}">
        <p14:creationId xmlns:p14="http://schemas.microsoft.com/office/powerpoint/2010/main" val="3888396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784948"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solidFill>
                  <a:schemeClr val="accent2"/>
                </a:solidFill>
                <a:latin typeface="Source Sans Pro" panose="020B0503030403020204" pitchFamily="34" charset="0"/>
              </a:rPr>
              <a:t>Interne Verarbeitung </a:t>
            </a:r>
            <a:r>
              <a:rPr lang="de-DE" sz="4000" dirty="0">
                <a:solidFill>
                  <a:srgbClr val="0071B2"/>
                </a:solidFill>
                <a:latin typeface="Source Sans Pro" panose="020B0503030403020204" pitchFamily="34" charset="0"/>
              </a:rPr>
              <a:t>(vieler) SQL-Anweisungen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7" name="Textfeld 6"/>
          <p:cNvSpPr txBox="1"/>
          <p:nvPr/>
        </p:nvSpPr>
        <p:spPr>
          <a:xfrm>
            <a:off x="736321" y="1533935"/>
            <a:ext cx="10943062" cy="3785652"/>
          </a:xfrm>
          <a:prstGeom prst="rect">
            <a:avLst/>
          </a:prstGeom>
          <a:noFill/>
        </p:spPr>
        <p:txBody>
          <a:bodyPr wrap="square" rtlCol="0">
            <a:spAutoFit/>
          </a:bodyPr>
          <a:lstStyle/>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Wir werden beim kommenden Befehl (DELETE FROM) erstmalig eine typische Vorgehensweise eines </a:t>
            </a:r>
            <a:r>
              <a:rPr lang="de-DE" sz="2400" b="1" dirty="0">
                <a:solidFill>
                  <a:srgbClr val="0071B2"/>
                </a:solidFill>
                <a:latin typeface="Source Sans Pro" panose="020B0503030403020204" pitchFamily="34" charset="0"/>
              </a:rPr>
              <a:t>SQL-Parsers </a:t>
            </a:r>
            <a:r>
              <a:rPr lang="de-DE" sz="1600" dirty="0">
                <a:solidFill>
                  <a:srgbClr val="0071B2"/>
                </a:solidFill>
                <a:latin typeface="Source Sans Pro" panose="020B0503030403020204" pitchFamily="34" charset="0"/>
              </a:rPr>
              <a:t>(grob gesprochen: „eine Art von Compiler“) </a:t>
            </a:r>
            <a:r>
              <a:rPr lang="de-DE" sz="2400" dirty="0">
                <a:solidFill>
                  <a:srgbClr val="0071B2"/>
                </a:solidFill>
                <a:latin typeface="Source Sans Pro" panose="020B0503030403020204" pitchFamily="34" charset="0"/>
              </a:rPr>
              <a:t>kennenlernen.</a:t>
            </a:r>
          </a:p>
          <a:p>
            <a:pPr lvl="0">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Diese Vorgehensweise ist Ausdruck der Tatsache, dass es sich bei SQL um eine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„Deklarative Sprache“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handelt. Wer diese Sprache nutzt, der formuliert lediglich „Ziele“, der Parser entscheidet „auf welche Weise“ dieses Ziel erreicht wird.</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Viele SQL-Statements teilen nun aber „Ziele“ mit, die bzgl. einer </a:t>
            </a:r>
            <a:r>
              <a:rPr kumimoji="0" lang="de-DE" sz="12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(explizit angesprochenen)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Tabelle abgearbeitet werden sollen. Intern wird dann eine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Schleife</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gestartet, die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jeden Datensatz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der angesprochenen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Tabelle</a:t>
            </a:r>
            <a:r>
              <a:rPr lang="de-DE" sz="2400" dirty="0">
                <a:solidFill>
                  <a:srgbClr val="0071B2"/>
                </a:solidFill>
                <a:latin typeface="Source Sans Pro" panose="020B0503030403020204" pitchFamily="34" charset="0"/>
              </a:rPr>
              <a:t> </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durchläuft.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Was dies bedeutet schauen wir uns nun am </a:t>
            </a:r>
            <a:r>
              <a:rPr lang="de-DE" sz="2400" b="1" dirty="0">
                <a:solidFill>
                  <a:srgbClr val="0071B2"/>
                </a:solidFill>
                <a:latin typeface="Source Sans Pro" panose="020B0503030403020204" pitchFamily="34" charset="0"/>
              </a:rPr>
              <a:t>konkreten Beispiel </a:t>
            </a:r>
            <a:r>
              <a:rPr lang="de-DE" sz="2400" dirty="0">
                <a:solidFill>
                  <a:srgbClr val="0071B2"/>
                </a:solidFill>
                <a:latin typeface="Source Sans Pro" panose="020B0503030403020204" pitchFamily="34" charset="0"/>
              </a:rPr>
              <a:t>an:</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118509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DELETE FROM </a:t>
            </a:r>
            <a:r>
              <a:rPr kumimoji="0" lang="de-DE" sz="4000" b="1" i="0" u="none" strike="noStrike" kern="1200" cap="none" spc="0" normalizeH="0" baseline="0" noProof="0" dirty="0">
                <a:ln>
                  <a:noFill/>
                </a:ln>
                <a:effectLst/>
                <a:uLnTx/>
                <a:uFillTx/>
                <a:latin typeface="Source Sans Pro" panose="020B0503030403020204" pitchFamily="34" charset="0"/>
                <a:ea typeface="+mj-ea"/>
                <a:cs typeface="+mj-cs"/>
              </a:rPr>
              <a:t>Tabellen-Name; </a:t>
            </a:r>
            <a:r>
              <a:rPr kumimoji="0" lang="de-DE" sz="2100" b="1" i="0" u="none" strike="noStrike" kern="1200" cap="none" spc="0" normalizeH="0" baseline="0" noProof="0" dirty="0">
                <a:ln>
                  <a:noFill/>
                </a:ln>
                <a:effectLst/>
                <a:uLnTx/>
                <a:uFillTx/>
                <a:latin typeface="Source Sans Pro" panose="020B0503030403020204" pitchFamily="34" charset="0"/>
                <a:ea typeface="+mj-ea"/>
                <a:cs typeface="+mj-cs"/>
              </a:rPr>
              <a:t>[ohne „WHERE“]</a:t>
            </a:r>
            <a:endParaRPr kumimoji="0" lang="de-DE" sz="2100" b="0" i="1" u="none" strike="noStrike" kern="1200" cap="none" spc="0" normalizeH="0" baseline="0" noProof="0" dirty="0">
              <a:ln>
                <a:noFill/>
              </a:ln>
              <a:effectLst/>
              <a:uLnTx/>
              <a:uFillTx/>
              <a:latin typeface="Source Sans Pro" panose="020B0503030403020204" pitchFamily="34" charset="0"/>
              <a:ea typeface="+mj-ea"/>
              <a:cs typeface="+mj-cs"/>
            </a:endParaRPr>
          </a:p>
        </p:txBody>
      </p:sp>
      <p:sp>
        <p:nvSpPr>
          <p:cNvPr id="9" name="Textfeld 8"/>
          <p:cNvSpPr txBox="1"/>
          <p:nvPr/>
        </p:nvSpPr>
        <p:spPr>
          <a:xfrm>
            <a:off x="747055" y="1503137"/>
            <a:ext cx="10725540"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DELETE</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(=„Löschen“) </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teilt das „Ziel“ mit.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FROM</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fragt nach der Tabelle, in der</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dieses Ziel umgesetzt werden soll.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000" dirty="0">
              <a:solidFill>
                <a:srgbClr val="0071B2"/>
              </a:solidFill>
              <a:latin typeface="Source Sans Pro" panose="020B0503030403020204" pitchFamily="34" charset="0"/>
            </a:endParaRPr>
          </a:p>
          <a:p>
            <a:pPr lvl="0">
              <a:defRPr/>
            </a:pP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Wenn wir nun also </a:t>
            </a:r>
            <a:r>
              <a:rPr kumimoji="0" lang="de-DE" sz="2000" b="1"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alle</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 Datensätze </a:t>
            </a:r>
            <a:r>
              <a:rPr lang="de-DE" sz="2000" dirty="0">
                <a:solidFill>
                  <a:srgbClr val="0071B2"/>
                </a:solidFill>
                <a:latin typeface="Source Sans Pro" panose="020B0503030403020204" pitchFamily="34" charset="0"/>
              </a:rPr>
              <a:t>(z.B.) der T</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abelle</a:t>
            </a:r>
            <a:r>
              <a:rPr lang="de-DE" sz="2000" dirty="0">
                <a:solidFill>
                  <a:srgbClr val="0071B2"/>
                </a:solidFill>
                <a:latin typeface="Source Sans Pro" panose="020B0503030403020204" pitchFamily="34" charset="0"/>
              </a:rPr>
              <a:t> </a:t>
            </a:r>
            <a:r>
              <a:rPr kumimoji="0" lang="de-DE" sz="20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rPr>
              <a:t>Produkt löschen wollen, so notieren wir: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DELETE FROM </a:t>
            </a:r>
            <a:r>
              <a:rPr kumimoji="0" lang="de-DE" sz="3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Produkt</a:t>
            </a:r>
            <a:r>
              <a:rPr kumimoji="0" lang="de-DE" sz="32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3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2000" dirty="0">
                <a:solidFill>
                  <a:srgbClr val="0071B2"/>
                </a:solidFill>
                <a:latin typeface="Source Sans Pro" panose="020B0503030403020204" pitchFamily="34" charset="0"/>
              </a:rPr>
              <a:t>Intern wird dann - wie erwähnt - eine Schleife gestartet, die </a:t>
            </a:r>
            <a:r>
              <a:rPr lang="de-DE" sz="2000" b="1" dirty="0">
                <a:solidFill>
                  <a:srgbClr val="0071B2"/>
                </a:solidFill>
                <a:latin typeface="Source Sans Pro" panose="020B0503030403020204" pitchFamily="34" charset="0"/>
              </a:rPr>
              <a:t>jeden</a:t>
            </a:r>
            <a:r>
              <a:rPr lang="de-DE" sz="2000" dirty="0">
                <a:solidFill>
                  <a:srgbClr val="0071B2"/>
                </a:solidFill>
                <a:latin typeface="Source Sans Pro" panose="020B0503030403020204" pitchFamily="34" charset="0"/>
              </a:rPr>
              <a:t> Datensatz der Tabelle Produkt durchläuft und (in diesem Fall) jeden dieser Datensätze </a:t>
            </a:r>
            <a:r>
              <a:rPr lang="de-DE" sz="2000" b="1" dirty="0">
                <a:solidFill>
                  <a:srgbClr val="0071B2"/>
                </a:solidFill>
                <a:latin typeface="Source Sans Pro" panose="020B0503030403020204" pitchFamily="34" charset="0"/>
              </a:rPr>
              <a:t>löscht</a:t>
            </a:r>
            <a:r>
              <a:rPr lang="de-DE" sz="2000" dirty="0">
                <a:solidFill>
                  <a:srgbClr val="0071B2"/>
                </a:solidFill>
                <a:latin typeface="Source Sans Pro" panose="020B0503030403020204" pitchFamily="34" charset="0"/>
              </a:rPr>
              <a:t>.</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7" name="Rechteck 6"/>
          <p:cNvSpPr/>
          <p:nvPr/>
        </p:nvSpPr>
        <p:spPr>
          <a:xfrm>
            <a:off x="174537" y="4481649"/>
            <a:ext cx="11870575" cy="1399001"/>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b="1" dirty="0">
              <a:solidFill>
                <a:schemeClr val="accent2"/>
              </a:solidFill>
            </a:endParaRPr>
          </a:p>
          <a:p>
            <a:pPr algn="ctr"/>
            <a:endParaRPr lang="de-DE" sz="800" b="1" dirty="0">
              <a:solidFill>
                <a:schemeClr val="accent2"/>
              </a:solidFill>
            </a:endParaRPr>
          </a:p>
          <a:p>
            <a:endParaRPr lang="de-DE" sz="1600" dirty="0">
              <a:solidFill>
                <a:schemeClr val="tx1"/>
              </a:solidFill>
            </a:endParaRPr>
          </a:p>
          <a:p>
            <a:pPr algn="ctr"/>
            <a:r>
              <a:rPr lang="de-DE" b="1" dirty="0">
                <a:solidFill>
                  <a:schemeClr val="accent2"/>
                </a:solidFill>
              </a:rPr>
              <a:t>Hinweis:</a:t>
            </a:r>
          </a:p>
          <a:p>
            <a:pPr algn="ctr"/>
            <a:endParaRPr lang="de-DE" sz="800" b="1" dirty="0">
              <a:solidFill>
                <a:schemeClr val="accent2"/>
              </a:solidFill>
            </a:endParaRPr>
          </a:p>
          <a:p>
            <a:pPr algn="ctr"/>
            <a:r>
              <a:rPr lang="de-DE" sz="1600" dirty="0">
                <a:solidFill>
                  <a:schemeClr val="tx1"/>
                </a:solidFill>
              </a:rPr>
              <a:t>Mit „</a:t>
            </a:r>
            <a:r>
              <a:rPr lang="de-DE" sz="1600" b="1" dirty="0">
                <a:solidFill>
                  <a:schemeClr val="tx1"/>
                </a:solidFill>
              </a:rPr>
              <a:t>DELETE FROM </a:t>
            </a:r>
            <a:r>
              <a:rPr lang="de-DE" sz="1600" dirty="0">
                <a:solidFill>
                  <a:schemeClr val="tx1"/>
                </a:solidFill>
              </a:rPr>
              <a:t>Tabellen_Name</a:t>
            </a:r>
            <a:r>
              <a:rPr lang="de-DE" sz="1600" b="1" dirty="0">
                <a:solidFill>
                  <a:schemeClr val="tx1"/>
                </a:solidFill>
              </a:rPr>
              <a:t>;</a:t>
            </a:r>
            <a:r>
              <a:rPr lang="de-DE" sz="1600" dirty="0">
                <a:solidFill>
                  <a:schemeClr val="tx1"/>
                </a:solidFill>
              </a:rPr>
              <a:t>“</a:t>
            </a:r>
            <a:r>
              <a:rPr lang="de-DE" sz="1600" b="1" dirty="0">
                <a:solidFill>
                  <a:schemeClr val="tx1"/>
                </a:solidFill>
              </a:rPr>
              <a:t> </a:t>
            </a:r>
            <a:r>
              <a:rPr lang="de-DE" sz="1600" dirty="0">
                <a:solidFill>
                  <a:schemeClr val="tx1"/>
                </a:solidFill>
              </a:rPr>
              <a:t>werden alle Datensätze „physisch“ gelöscht (und können also nicht rekonstruiert werden).</a:t>
            </a:r>
          </a:p>
          <a:p>
            <a:pPr algn="ctr"/>
            <a:r>
              <a:rPr lang="de-DE" sz="1600" dirty="0">
                <a:solidFill>
                  <a:schemeClr val="tx1"/>
                </a:solidFill>
              </a:rPr>
              <a:t>Mit „</a:t>
            </a:r>
            <a:r>
              <a:rPr lang="de-DE" sz="1600" b="1" dirty="0">
                <a:solidFill>
                  <a:schemeClr val="tx1"/>
                </a:solidFill>
              </a:rPr>
              <a:t>TRUNCATE TABLE </a:t>
            </a:r>
            <a:r>
              <a:rPr lang="de-DE" sz="1600" dirty="0">
                <a:solidFill>
                  <a:schemeClr val="tx1"/>
                </a:solidFill>
              </a:rPr>
              <a:t>Tabellen_Name</a:t>
            </a:r>
            <a:r>
              <a:rPr lang="de-DE" sz="1600" b="1" dirty="0">
                <a:solidFill>
                  <a:schemeClr val="tx1"/>
                </a:solidFill>
              </a:rPr>
              <a:t>;</a:t>
            </a:r>
            <a:r>
              <a:rPr lang="de-DE" sz="1600" dirty="0">
                <a:solidFill>
                  <a:schemeClr val="tx1"/>
                </a:solidFill>
              </a:rPr>
              <a:t>“ wird lediglich die Verlinkung auf diese Daten gelöscht (und der Speicherplatz freigegeben).</a:t>
            </a:r>
          </a:p>
          <a:p>
            <a:pPr algn="ctr"/>
            <a:endParaRPr lang="de-DE" sz="800" dirty="0">
              <a:solidFill>
                <a:schemeClr val="tx1"/>
              </a:solidFill>
            </a:endParaRPr>
          </a:p>
          <a:p>
            <a:pPr algn="ctr"/>
            <a:r>
              <a:rPr lang="de-DE" sz="1600" dirty="0">
                <a:solidFill>
                  <a:schemeClr val="tx1"/>
                </a:solidFill>
              </a:rPr>
              <a:t>TRUNCATE ist daher (insbesondere bei sehr großen Datenmengen) </a:t>
            </a:r>
            <a:r>
              <a:rPr lang="de-DE" sz="1600" b="1" dirty="0">
                <a:solidFill>
                  <a:schemeClr val="tx1"/>
                </a:solidFill>
              </a:rPr>
              <a:t>performanter</a:t>
            </a:r>
            <a:r>
              <a:rPr lang="de-DE" sz="1600" dirty="0">
                <a:solidFill>
                  <a:schemeClr val="tx1"/>
                </a:solidFill>
              </a:rPr>
              <a:t>, aber „Datenschutz-technisch“ </a:t>
            </a:r>
            <a:r>
              <a:rPr lang="de-DE" sz="1600" b="1" dirty="0">
                <a:solidFill>
                  <a:schemeClr val="tx1"/>
                </a:solidFill>
              </a:rPr>
              <a:t>unsicherer</a:t>
            </a:r>
            <a:r>
              <a:rPr lang="de-DE" sz="1600" dirty="0">
                <a:solidFill>
                  <a:schemeClr val="tx1"/>
                </a:solidFill>
              </a:rPr>
              <a:t>.</a:t>
            </a:r>
            <a:endParaRPr lang="de-DE" sz="1400" dirty="0">
              <a:solidFill>
                <a:schemeClr val="tx1"/>
              </a:solidFill>
            </a:endParaRPr>
          </a:p>
          <a:p>
            <a:pPr marL="342900" indent="-342900" algn="ctr">
              <a:buAutoNum type="alphaLcParenR"/>
            </a:pPr>
            <a:endParaRPr lang="de-DE" sz="1600" dirty="0">
              <a:solidFill>
                <a:schemeClr val="tx1"/>
              </a:solidFill>
            </a:endParaRPr>
          </a:p>
          <a:p>
            <a:pPr algn="ctr"/>
            <a:endParaRPr lang="de-DE" sz="1600" dirty="0">
              <a:solidFill>
                <a:schemeClr val="tx1"/>
              </a:solidFill>
            </a:endParaRPr>
          </a:p>
          <a:p>
            <a:pPr algn="ctr"/>
            <a:endParaRPr lang="de-DE" sz="1200" dirty="0">
              <a:solidFill>
                <a:schemeClr val="tx1"/>
              </a:solidFill>
            </a:endParaRPr>
          </a:p>
        </p:txBody>
      </p:sp>
    </p:spTree>
    <p:extLst>
      <p:ext uri="{BB962C8B-B14F-4D97-AF65-F5344CB8AC3E}">
        <p14:creationId xmlns:p14="http://schemas.microsoft.com/office/powerpoint/2010/main" val="166074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effectLst/>
                <a:uLnTx/>
                <a:uFillTx/>
                <a:latin typeface="Source Sans Pro" panose="020B0503030403020204" pitchFamily="34" charset="0"/>
                <a:ea typeface="+mj-ea"/>
                <a:cs typeface="+mj-cs"/>
              </a:rPr>
              <a:t>DELETE FROM Tabellen-Name; </a:t>
            </a:r>
            <a:r>
              <a:rPr kumimoji="0" lang="de-DE" sz="2100" b="1" i="0" u="none" strike="noStrike" kern="1200" cap="none" spc="0" normalizeH="0" baseline="0" noProof="0" dirty="0">
                <a:ln>
                  <a:noFill/>
                </a:ln>
                <a:effectLst/>
                <a:uLnTx/>
                <a:uFillTx/>
                <a:latin typeface="Source Sans Pro" panose="020B0503030403020204" pitchFamily="34" charset="0"/>
                <a:ea typeface="+mj-ea"/>
                <a:cs typeface="+mj-cs"/>
              </a:rPr>
              <a:t>[</a:t>
            </a:r>
            <a:r>
              <a:rPr kumimoji="0" lang="de-DE" sz="21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mit</a:t>
            </a:r>
            <a:r>
              <a:rPr kumimoji="0" lang="de-DE" sz="2100" b="1" i="0" u="none" strike="noStrike" kern="1200" cap="none" spc="0" normalizeH="0" baseline="0" noProof="0" dirty="0">
                <a:ln>
                  <a:noFill/>
                </a:ln>
                <a:effectLst/>
                <a:uLnTx/>
                <a:uFillTx/>
                <a:latin typeface="Source Sans Pro" panose="020B0503030403020204" pitchFamily="34" charset="0"/>
                <a:ea typeface="+mj-ea"/>
                <a:cs typeface="+mj-cs"/>
              </a:rPr>
              <a:t> „WHERE“]</a:t>
            </a:r>
            <a:endParaRPr kumimoji="0" lang="de-DE" sz="2100" b="0" i="1" u="none" strike="noStrike" kern="1200" cap="none" spc="0" normalizeH="0" baseline="0" noProof="0" dirty="0">
              <a:ln>
                <a:noFill/>
              </a:ln>
              <a:effectLst/>
              <a:uLnTx/>
              <a:uFillTx/>
              <a:latin typeface="Source Sans Pro" panose="020B0503030403020204" pitchFamily="34" charset="0"/>
              <a:ea typeface="+mj-ea"/>
              <a:cs typeface="+mj-cs"/>
            </a:endParaRPr>
          </a:p>
        </p:txBody>
      </p:sp>
      <p:sp>
        <p:nvSpPr>
          <p:cNvPr id="9" name="Textfeld 8"/>
          <p:cNvSpPr txBox="1"/>
          <p:nvPr/>
        </p:nvSpPr>
        <p:spPr>
          <a:xfrm>
            <a:off x="747055" y="1263620"/>
            <a:ext cx="11015454" cy="51398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i="0" u="none" strike="noStrike" kern="1200" cap="none" spc="0" normalizeH="0" baseline="0" noProof="0" dirty="0">
                <a:ln>
                  <a:noFill/>
                </a:ln>
                <a:solidFill>
                  <a:srgbClr val="0071B2"/>
                </a:solidFill>
                <a:effectLst/>
                <a:uLnTx/>
                <a:uFillTx/>
                <a:latin typeface="Source Sans Pro" panose="020B0503030403020204" pitchFamily="34" charset="0"/>
              </a:rPr>
              <a:t>Üblicherweise werden wir </a:t>
            </a:r>
            <a:r>
              <a:rPr kumimoji="0" lang="de-DE" sz="1600" i="0" u="sng" strike="noStrike" kern="1200" cap="none" spc="0" normalizeH="0" baseline="0" noProof="0" dirty="0">
                <a:ln>
                  <a:noFill/>
                </a:ln>
                <a:solidFill>
                  <a:srgbClr val="0071B2"/>
                </a:solidFill>
                <a:effectLst/>
                <a:uLnTx/>
                <a:uFillTx/>
                <a:latin typeface="Source Sans Pro" panose="020B0503030403020204" pitchFamily="34" charset="0"/>
              </a:rPr>
              <a:t>nicht</a:t>
            </a:r>
            <a:r>
              <a:rPr kumimoji="0" lang="de-DE" sz="1600" i="0" u="none" strike="noStrike" kern="1200" cap="none" spc="0" normalizeH="0" baseline="0" noProof="0" dirty="0">
                <a:ln>
                  <a:noFill/>
                </a:ln>
                <a:solidFill>
                  <a:srgbClr val="0071B2"/>
                </a:solidFill>
                <a:effectLst/>
                <a:uLnTx/>
                <a:uFillTx/>
                <a:latin typeface="Source Sans Pro" panose="020B0503030403020204" pitchFamily="34" charset="0"/>
              </a:rPr>
              <a:t> alle Datensätze einer Tabelle löschen wollen, sondern nur solche, die eine bestimmte </a:t>
            </a: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rPr>
              <a:t>Bedingung</a:t>
            </a:r>
            <a:r>
              <a:rPr kumimoji="0" lang="de-DE" sz="1600" i="0" u="none" strike="noStrike" kern="1200" cap="none" spc="0" normalizeH="0" baseline="0" noProof="0" dirty="0">
                <a:ln>
                  <a:noFill/>
                </a:ln>
                <a:solidFill>
                  <a:srgbClr val="0071B2"/>
                </a:solidFill>
                <a:effectLst/>
                <a:uLnTx/>
                <a:uFillTx/>
                <a:latin typeface="Source Sans Pro" panose="020B0503030403020204" pitchFamily="34" charset="0"/>
              </a:rPr>
              <a:t> erfüllen.</a:t>
            </a:r>
            <a:r>
              <a:rPr kumimoji="0" lang="de-DE" sz="1600" i="0" u="none" strike="noStrike" kern="1200" cap="none" spc="0" normalizeH="0" noProof="0" dirty="0">
                <a:ln>
                  <a:noFill/>
                </a:ln>
                <a:solidFill>
                  <a:srgbClr val="0071B2"/>
                </a:solidFill>
                <a:effectLst/>
                <a:uLnTx/>
                <a:uFillTx/>
                <a:latin typeface="Source Sans Pro" panose="020B0503030403020204" pitchFamily="34" charset="0"/>
              </a:rPr>
              <a:t> (</a:t>
            </a:r>
            <a:r>
              <a:rPr lang="de-DE" sz="1600" noProof="0" dirty="0">
                <a:solidFill>
                  <a:srgbClr val="0071B2"/>
                </a:solidFill>
                <a:latin typeface="Source Sans Pro" panose="020B0503030403020204" pitchFamily="34" charset="0"/>
              </a:rPr>
              <a:t>Alternative Formulierung: Nur solche Datensätze,</a:t>
            </a:r>
            <a:r>
              <a:rPr lang="de-DE" sz="1600" dirty="0">
                <a:solidFill>
                  <a:srgbClr val="0071B2"/>
                </a:solidFill>
                <a:latin typeface="Source Sans Pro" panose="020B0503030403020204" pitchFamily="34" charset="0"/>
              </a:rPr>
              <a:t> </a:t>
            </a: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rPr>
              <a:t>„wo“ </a:t>
            </a:r>
            <a:r>
              <a:rPr lang="de-DE" sz="1600" dirty="0">
                <a:solidFill>
                  <a:srgbClr val="0071B2"/>
                </a:solidFill>
                <a:latin typeface="Source Sans Pro" panose="020B0503030403020204" pitchFamily="34" charset="0"/>
              </a:rPr>
              <a:t>diese</a:t>
            </a:r>
            <a:r>
              <a:rPr kumimoji="0" lang="de-DE" sz="1600" i="0" u="none" strike="noStrike" kern="1200" cap="none" spc="0" normalizeH="0" noProof="0" dirty="0">
                <a:ln>
                  <a:noFill/>
                </a:ln>
                <a:solidFill>
                  <a:srgbClr val="0071B2"/>
                </a:solidFill>
                <a:effectLst/>
                <a:uLnTx/>
                <a:uFillTx/>
                <a:latin typeface="Source Sans Pro" panose="020B0503030403020204" pitchFamily="34" charset="0"/>
              </a:rPr>
              <a:t> Bedingung erfüllt 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Solche Bedingungen werden wir mit </a:t>
            </a:r>
            <a:r>
              <a:rPr kumimoji="0" lang="de-DE" sz="1600" b="1" i="0" u="none" strike="noStrike" kern="1200" cap="none" spc="0" normalizeH="0" noProof="0" dirty="0">
                <a:ln>
                  <a:noFill/>
                </a:ln>
                <a:solidFill>
                  <a:srgbClr val="0071B2"/>
                </a:solidFill>
                <a:effectLst/>
                <a:uLnTx/>
                <a:uFillTx/>
                <a:latin typeface="Source Sans Pro" panose="020B0503030403020204" pitchFamily="34" charset="0"/>
              </a:rPr>
              <a:t>WHERE</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 einleiten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(und das </a:t>
            </a:r>
            <a:r>
              <a:rPr lang="de-DE" sz="1400" noProof="0" dirty="0">
                <a:solidFill>
                  <a:srgbClr val="0071B2"/>
                </a:solidFill>
                <a:latin typeface="Source Sans Pro" panose="020B0503030403020204" pitchFamily="34" charset="0"/>
              </a:rPr>
              <a:t>Ko</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nstrukt „WHERE+Bedingung“ als </a:t>
            </a:r>
            <a:r>
              <a:rPr kumimoji="0" lang="de-DE" sz="1400" b="1" i="0" u="none" strike="noStrike" kern="1200" cap="none" spc="0" normalizeH="0" noProof="0" dirty="0">
                <a:ln>
                  <a:noFill/>
                </a:ln>
                <a:solidFill>
                  <a:srgbClr val="0071B2"/>
                </a:solidFill>
                <a:effectLst/>
                <a:uLnTx/>
                <a:uFillTx/>
                <a:latin typeface="Source Sans Pro" panose="020B0503030403020204" pitchFamily="34" charset="0"/>
              </a:rPr>
              <a:t>WHERE-Klausel</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 bezeichnen</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60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noProof="0" dirty="0">
                <a:ln>
                  <a:noFill/>
                </a:ln>
                <a:solidFill>
                  <a:srgbClr val="0071B2"/>
                </a:solidFill>
                <a:effectLst/>
                <a:uLnTx/>
                <a:uFillTx/>
                <a:latin typeface="Source Sans Pro" panose="020B0503030403020204" pitchFamily="34" charset="0"/>
              </a:rPr>
              <a:t>Wir betrachten einige erste Beispiele: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dirty="0">
              <a:solidFill>
                <a:srgbClr val="0071B2"/>
              </a:solidFill>
              <a:latin typeface="Source Sans Pro" panose="020B0503030403020204" pitchFamily="34" charset="0"/>
            </a:endParaRPr>
          </a:p>
          <a:p>
            <a:pPr lvl="1">
              <a:defRPr/>
            </a:pPr>
            <a:r>
              <a:rPr kumimoji="0" lang="de-DE" sz="1400" b="0" i="0" u="none" strike="noStrike" kern="1200" cap="none" spc="0" normalizeH="0" noProof="0" dirty="0">
                <a:ln>
                  <a:noFill/>
                </a:ln>
                <a:effectLst/>
                <a:uLnTx/>
                <a:uFillTx/>
                <a:latin typeface="Source Sans Pro" panose="020B0503030403020204" pitchFamily="34" charset="0"/>
                <a:ea typeface="+mn-ea"/>
                <a:cs typeface="+mn-cs"/>
              </a:rPr>
              <a:t>Es sollen alle </a:t>
            </a:r>
            <a:r>
              <a:rPr lang="de-DE" sz="1400" noProof="0" dirty="0">
                <a:latin typeface="Source Sans Pro" panose="020B0503030403020204" pitchFamily="34" charset="0"/>
              </a:rPr>
              <a:t>Pr</a:t>
            </a:r>
            <a:r>
              <a:rPr kumimoji="0" lang="de-DE" sz="1400" b="0" i="0" u="none" strike="noStrike" kern="1200" cap="none" spc="0" normalizeH="0" noProof="0" dirty="0">
                <a:ln>
                  <a:noFill/>
                </a:ln>
                <a:effectLst/>
                <a:uLnTx/>
                <a:uFillTx/>
                <a:latin typeface="Source Sans Pro" panose="020B0503030403020204" pitchFamily="34" charset="0"/>
                <a:ea typeface="+mn-ea"/>
                <a:cs typeface="+mn-cs"/>
              </a:rPr>
              <a:t>odukte gelöscht werden, die teurer als 20 Euro sind:</a:t>
            </a:r>
          </a:p>
          <a:p>
            <a:pPr marR="0" lvl="0" algn="l" defTabSz="914400" rtl="0" eaLnBrk="1" fontAlgn="auto" latinLnBrk="0" hangingPunct="1">
              <a:lnSpc>
                <a:spcPct val="100000"/>
              </a:lnSpc>
              <a:spcBef>
                <a:spcPts val="0"/>
              </a:spcBef>
              <a:spcAft>
                <a:spcPts val="0"/>
              </a:spcAft>
              <a:buClrTx/>
              <a:buSzTx/>
              <a:tabLst/>
              <a:defRPr/>
            </a:pPr>
            <a:r>
              <a:rPr lang="de-DE" sz="1400"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Produkt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&gt;</a:t>
            </a:r>
            <a:r>
              <a:rPr lang="de-DE" dirty="0">
                <a:solidFill>
                  <a:srgbClr val="0071B2"/>
                </a:solidFill>
                <a:latin typeface="Source Sans Pro" panose="020B0503030403020204" pitchFamily="34" charset="0"/>
              </a:rPr>
              <a:t> 20</a:t>
            </a:r>
            <a:r>
              <a:rPr lang="de-DE"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lvl="1">
              <a:defRPr/>
            </a:pPr>
            <a:r>
              <a:rPr lang="de-DE" sz="1400" dirty="0">
                <a:latin typeface="Source Sans Pro" panose="020B0503030403020204" pitchFamily="34" charset="0"/>
              </a:rPr>
              <a:t>Es sollen alle Abrechnungen gelöscht werden, die am „10. März 2022“ eingereicht wurden:</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Abrechnung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Datum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a:t>
            </a:r>
            <a:r>
              <a:rPr lang="de-DE" dirty="0">
                <a:latin typeface="Source Sans Pro" panose="020B0503030403020204" pitchFamily="34" charset="0"/>
              </a:rPr>
              <a:t>2022-03-10</a:t>
            </a:r>
            <a:r>
              <a:rPr lang="de-DE" b="1" dirty="0">
                <a:latin typeface="Source Sans Pro" panose="020B0503030403020204" pitchFamily="34" charset="0"/>
              </a:rPr>
              <a:t>"</a:t>
            </a:r>
            <a:r>
              <a:rPr lang="de-DE" b="1" dirty="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         </a:t>
            </a:r>
            <a:r>
              <a:rPr lang="de-DE" sz="1400" dirty="0">
                <a:solidFill>
                  <a:schemeClr val="accent2">
                    <a:lumMod val="50000"/>
                  </a:schemeClr>
                </a:solidFill>
                <a:latin typeface="Source Sans Pro" panose="020B0503030403020204" pitchFamily="34" charset="0"/>
              </a:rPr>
              <a:t># </a:t>
            </a:r>
            <a:r>
              <a:rPr lang="de-DE" sz="1400" b="1" dirty="0">
                <a:solidFill>
                  <a:schemeClr val="accent2">
                    <a:lumMod val="50000"/>
                  </a:schemeClr>
                </a:solidFill>
                <a:latin typeface="Source Sans Pro" panose="020B0503030403020204" pitchFamily="34" charset="0"/>
              </a:rPr>
              <a:t>Achtung: </a:t>
            </a:r>
            <a:r>
              <a:rPr lang="de-DE" sz="1400" dirty="0">
                <a:solidFill>
                  <a:schemeClr val="accent2">
                    <a:lumMod val="50000"/>
                  </a:schemeClr>
                </a:solidFill>
                <a:latin typeface="Source Sans Pro" panose="020B0503030403020204" pitchFamily="34" charset="0"/>
              </a:rPr>
              <a:t>Es wird mit </a:t>
            </a:r>
            <a:r>
              <a:rPr lang="de-DE" sz="1400" b="1" dirty="0">
                <a:solidFill>
                  <a:schemeClr val="accent2">
                    <a:lumMod val="50000"/>
                  </a:schemeClr>
                </a:solidFill>
                <a:latin typeface="Source Sans Pro" panose="020B0503030403020204" pitchFamily="34" charset="0"/>
              </a:rPr>
              <a:t>=</a:t>
            </a:r>
            <a:r>
              <a:rPr lang="de-DE" sz="1400" dirty="0">
                <a:solidFill>
                  <a:schemeClr val="accent2">
                    <a:lumMod val="50000"/>
                  </a:schemeClr>
                </a:solidFill>
                <a:latin typeface="Source Sans Pro" panose="020B0503030403020204" pitchFamily="34" charset="0"/>
              </a:rPr>
              <a:t> </a:t>
            </a:r>
            <a:r>
              <a:rPr lang="de-DE" sz="1000" dirty="0">
                <a:solidFill>
                  <a:schemeClr val="accent2">
                    <a:lumMod val="50000"/>
                  </a:schemeClr>
                </a:solidFill>
                <a:latin typeface="Source Sans Pro" panose="020B0503030403020204" pitchFamily="34" charset="0"/>
              </a:rPr>
              <a:t>( und </a:t>
            </a:r>
            <a:r>
              <a:rPr lang="de-DE" sz="1000" u="sng" dirty="0">
                <a:solidFill>
                  <a:schemeClr val="accent2">
                    <a:lumMod val="50000"/>
                  </a:schemeClr>
                </a:solidFill>
                <a:latin typeface="Source Sans Pro" panose="020B0503030403020204" pitchFamily="34" charset="0"/>
              </a:rPr>
              <a:t>nicht</a:t>
            </a:r>
            <a:r>
              <a:rPr lang="de-DE" sz="1000" dirty="0">
                <a:solidFill>
                  <a:schemeClr val="accent2">
                    <a:lumMod val="50000"/>
                  </a:schemeClr>
                </a:solidFill>
                <a:latin typeface="Source Sans Pro" panose="020B0503030403020204" pitchFamily="34" charset="0"/>
              </a:rPr>
              <a:t> mit ==) </a:t>
            </a:r>
            <a:r>
              <a:rPr lang="de-DE" sz="1400" dirty="0">
                <a:solidFill>
                  <a:schemeClr val="accent2">
                    <a:lumMod val="50000"/>
                  </a:schemeClr>
                </a:solidFill>
                <a:latin typeface="Source Sans Pro" panose="020B0503030403020204" pitchFamily="34" charset="0"/>
              </a:rPr>
              <a:t>gearbeitet!</a:t>
            </a:r>
          </a:p>
          <a:p>
            <a:pPr lvl="0">
              <a:defRPr/>
            </a:pPr>
            <a:endParaRPr lang="de-DE" sz="800" dirty="0">
              <a:solidFill>
                <a:srgbClr val="0071B2"/>
              </a:solidFill>
              <a:latin typeface="Source Sans Pro" panose="020B0503030403020204" pitchFamily="34" charset="0"/>
            </a:endParaRPr>
          </a:p>
          <a:p>
            <a:pPr lvl="1">
              <a:defRPr/>
            </a:pPr>
            <a:r>
              <a:rPr lang="de-DE" sz="1400" dirty="0">
                <a:latin typeface="Source Sans Pro" panose="020B0503030403020204" pitchFamily="34" charset="0"/>
              </a:rPr>
              <a:t>Es sollen alle Kunden gelöscht werden, die mit Nachnamen „Müller“ heißen:</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Kunde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Nachname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a:t>
            </a:r>
            <a:r>
              <a:rPr lang="de-DE" dirty="0">
                <a:latin typeface="Source Sans Pro" panose="020B0503030403020204" pitchFamily="34" charset="0"/>
              </a:rPr>
              <a:t>Müller</a:t>
            </a:r>
            <a:r>
              <a:rPr lang="de-DE" b="1" dirty="0">
                <a:latin typeface="Source Sans Pro" panose="020B0503030403020204" pitchFamily="34" charset="0"/>
              </a:rPr>
              <a:t>"</a:t>
            </a:r>
            <a:r>
              <a:rPr lang="de-DE" b="1" dirty="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                       </a:t>
            </a:r>
            <a:r>
              <a:rPr lang="de-DE" sz="1400" dirty="0">
                <a:solidFill>
                  <a:schemeClr val="accent2">
                    <a:lumMod val="50000"/>
                  </a:schemeClr>
                </a:solidFill>
                <a:latin typeface="Source Sans Pro" panose="020B0503030403020204" pitchFamily="34" charset="0"/>
              </a:rPr>
              <a:t># </a:t>
            </a:r>
            <a:r>
              <a:rPr lang="de-DE" sz="1400" b="1" dirty="0">
                <a:solidFill>
                  <a:schemeClr val="accent2">
                    <a:lumMod val="50000"/>
                  </a:schemeClr>
                </a:solidFill>
                <a:latin typeface="Source Sans Pro" panose="020B0503030403020204" pitchFamily="34" charset="0"/>
              </a:rPr>
              <a:t>Texte</a:t>
            </a:r>
            <a:r>
              <a:rPr lang="de-DE" sz="1400" dirty="0">
                <a:solidFill>
                  <a:schemeClr val="accent2">
                    <a:lumMod val="50000"/>
                  </a:schemeClr>
                </a:solidFill>
                <a:latin typeface="Source Sans Pro" panose="020B0503030403020204" pitchFamily="34" charset="0"/>
              </a:rPr>
              <a:t> wie üblich in </a:t>
            </a:r>
            <a:r>
              <a:rPr lang="de-DE" sz="1400" b="1" dirty="0">
                <a:solidFill>
                  <a:schemeClr val="accent2">
                    <a:lumMod val="50000"/>
                  </a:schemeClr>
                </a:solidFill>
                <a:latin typeface="Source Sans Pro" panose="020B0503030403020204" pitchFamily="34" charset="0"/>
              </a:rPr>
              <a:t>„Anführungszeichen“</a:t>
            </a:r>
          </a:p>
          <a:p>
            <a:pPr lvl="0">
              <a:defRPr/>
            </a:pPr>
            <a:endParaRPr lang="de-DE" sz="800" dirty="0">
              <a:solidFill>
                <a:srgbClr val="0071B2"/>
              </a:solidFill>
              <a:latin typeface="Source Sans Pro" panose="020B0503030403020204" pitchFamily="34" charset="0"/>
            </a:endParaRPr>
          </a:p>
          <a:p>
            <a:pPr lvl="1">
              <a:defRPr/>
            </a:pPr>
            <a:r>
              <a:rPr lang="de-DE" sz="1400" dirty="0">
                <a:latin typeface="Source Sans Pro" panose="020B0503030403020204" pitchFamily="34" charset="0"/>
              </a:rPr>
              <a:t>Es sollen alle Hersteller gelöscht werden, deren ID kleiner oder gleich 3 ist:</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Hersteller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Hersteller_ID </a:t>
            </a:r>
            <a:r>
              <a:rPr lang="de-DE" b="1" dirty="0">
                <a:solidFill>
                  <a:srgbClr val="0071B2"/>
                </a:solidFill>
                <a:latin typeface="Source Sans Pro" panose="020B0503030403020204" pitchFamily="34" charset="0"/>
              </a:rPr>
              <a:t>&lt;=</a:t>
            </a:r>
            <a:r>
              <a:rPr lang="de-DE" dirty="0">
                <a:solidFill>
                  <a:srgbClr val="0071B2"/>
                </a:solidFill>
                <a:latin typeface="Source Sans Pro" panose="020B0503030403020204" pitchFamily="34" charset="0"/>
              </a:rPr>
              <a:t> 3</a:t>
            </a:r>
            <a:r>
              <a:rPr lang="de-DE" b="1"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lvl="1">
              <a:defRPr/>
            </a:pPr>
            <a:r>
              <a:rPr lang="de-DE" sz="1400" dirty="0">
                <a:latin typeface="Source Sans Pro" panose="020B0503030403020204" pitchFamily="34" charset="0"/>
              </a:rPr>
              <a:t>Es sollen alle Speditionen gelöscht werden, deren Name alphabetisch hinter „ABC Spedition“ liegen:</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DELETE FROM </a:t>
            </a:r>
            <a:r>
              <a:rPr lang="de-DE" dirty="0">
                <a:solidFill>
                  <a:srgbClr val="0071B2"/>
                </a:solidFill>
                <a:latin typeface="Source Sans Pro" panose="020B0503030403020204" pitchFamily="34" charset="0"/>
              </a:rPr>
              <a:t>Spedition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Spedition_Name </a:t>
            </a:r>
            <a:r>
              <a:rPr lang="de-DE" b="1" dirty="0">
                <a:solidFill>
                  <a:srgbClr val="0071B2"/>
                </a:solidFill>
                <a:latin typeface="Source Sans Pro" panose="020B0503030403020204" pitchFamily="34" charset="0"/>
              </a:rPr>
              <a:t>&gt;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a:t>
            </a:r>
            <a:r>
              <a:rPr lang="de-DE" dirty="0">
                <a:latin typeface="Source Sans Pro" panose="020B0503030403020204" pitchFamily="34" charset="0"/>
              </a:rPr>
              <a:t>ABC Spedition</a:t>
            </a:r>
            <a:r>
              <a:rPr lang="de-DE" b="1" dirty="0">
                <a:latin typeface="Source Sans Pro" panose="020B0503030403020204" pitchFamily="34" charset="0"/>
              </a:rPr>
              <a:t>"</a:t>
            </a:r>
            <a:r>
              <a:rPr lang="de-DE" b="1" dirty="0">
                <a:solidFill>
                  <a:srgbClr val="0071B2"/>
                </a:solidFill>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57841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8" end="1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UPDATE</a:t>
            </a:r>
            <a:endParaRPr lang="de-DE" sz="2800" dirty="0">
              <a:latin typeface="Source Sans Pro" panose="020B0503030403020204" pitchFamily="34" charset="0"/>
            </a:endParaRPr>
          </a:p>
        </p:txBody>
      </p:sp>
    </p:spTree>
    <p:extLst>
      <p:ext uri="{BB962C8B-B14F-4D97-AF65-F5344CB8AC3E}">
        <p14:creationId xmlns:p14="http://schemas.microsoft.com/office/powerpoint/2010/main" val="2078625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341900"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1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UPDATE </a:t>
            </a:r>
            <a:r>
              <a:rPr kumimoji="0" lang="de-DE" sz="41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Tabellen-Name </a:t>
            </a:r>
            <a:r>
              <a:rPr kumimoji="0" lang="de-DE" sz="41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SET</a:t>
            </a:r>
            <a:r>
              <a:rPr kumimoji="0" lang="de-DE" sz="41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Attribut </a:t>
            </a:r>
            <a:r>
              <a:rPr kumimoji="0" lang="de-DE" sz="18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[WHERE+Bedingung] </a:t>
            </a:r>
            <a:r>
              <a:rPr kumimoji="0" lang="de-DE" sz="41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a:t>
            </a:r>
            <a:endParaRPr kumimoji="0" lang="de-DE" sz="24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sp>
        <p:nvSpPr>
          <p:cNvPr id="9" name="Textfeld 8"/>
          <p:cNvSpPr txBox="1"/>
          <p:nvPr/>
        </p:nvSpPr>
        <p:spPr>
          <a:xfrm>
            <a:off x="747055" y="1628776"/>
            <a:ext cx="10874137" cy="45858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rPr>
              <a:t>UPDATE</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rPr>
              <a:t> </a:t>
            </a:r>
            <a:r>
              <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rPr>
              <a:t>(=„Aktualisieren“) </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rPr>
              <a:t>teilt das „Ziel“ mit.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rPr>
              <a:t>Tabellen-Name</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rPr>
              <a:t> teilt mit, in welcher</a:t>
            </a:r>
            <a:r>
              <a:rPr kumimoji="0" lang="de-DE" sz="1600" b="0" i="0" u="none" strike="noStrike" kern="1200" cap="none" spc="0" normalizeH="0" noProof="0" dirty="0">
                <a:ln>
                  <a:noFill/>
                </a:ln>
                <a:solidFill>
                  <a:srgbClr val="0071B2"/>
                </a:solidFill>
                <a:effectLst/>
                <a:uLnTx/>
                <a:uFillTx/>
                <a:latin typeface="Source Sans Pro" panose="020B0503030403020204" pitchFamily="34" charset="0"/>
              </a:rPr>
              <a:t> Tabelle</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rPr>
              <a:t> dieses Ziel umgesetzt werden soll.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1B2"/>
                </a:solidFill>
                <a:effectLst/>
                <a:uLnTx/>
                <a:uFillTx/>
                <a:latin typeface="Source Sans Pro" panose="020B0503030403020204" pitchFamily="34" charset="0"/>
              </a:rPr>
              <a:t>SET</a:t>
            </a:r>
            <a:r>
              <a:rPr kumimoji="0" lang="de-DE" sz="1600" b="0" i="0" u="none" strike="noStrike" kern="1200" cap="none" spc="0" normalizeH="0" baseline="0" noProof="0" dirty="0">
                <a:ln>
                  <a:noFill/>
                </a:ln>
                <a:solidFill>
                  <a:srgbClr val="0071B2"/>
                </a:solidFill>
                <a:effectLst/>
                <a:uLnTx/>
                <a:uFillTx/>
                <a:latin typeface="Source Sans Pro" panose="020B0503030403020204" pitchFamily="34" charset="0"/>
              </a:rPr>
              <a:t> </a:t>
            </a:r>
            <a:r>
              <a:rPr lang="de-DE" sz="1600" noProof="0" dirty="0">
                <a:solidFill>
                  <a:srgbClr val="0071B2"/>
                </a:solidFill>
                <a:latin typeface="Source Sans Pro" panose="020B0503030403020204" pitchFamily="34" charset="0"/>
              </a:rPr>
              <a:t>kündigt die Attribute an, die es in dieser Tabelle zu aktualisieren gilt.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000" dirty="0">
              <a:solidFill>
                <a:srgbClr val="0071B2"/>
              </a:solidFill>
              <a:latin typeface="Source Sans Pro" panose="020B0503030403020204" pitchFamily="34" charset="0"/>
            </a:endParaRPr>
          </a:p>
          <a:p>
            <a:pPr lvl="0">
              <a:defRPr/>
            </a:pPr>
            <a:r>
              <a:rPr lang="de-DE" sz="1600" b="1" dirty="0">
                <a:solidFill>
                  <a:srgbClr val="0071B2"/>
                </a:solidFill>
                <a:latin typeface="Source Sans Pro" panose="020B0503030403020204" pitchFamily="34" charset="0"/>
              </a:rPr>
              <a:t>Beispiele:</a:t>
            </a:r>
          </a:p>
          <a:p>
            <a:pPr lvl="0">
              <a:defRPr/>
            </a:pPr>
            <a:endParaRPr lang="de-DE" sz="800" dirty="0">
              <a:solidFill>
                <a:srgbClr val="0071B2"/>
              </a:solidFill>
              <a:latin typeface="Source Sans Pro" panose="020B0503030403020204" pitchFamily="34" charset="0"/>
            </a:endParaRPr>
          </a:p>
          <a:p>
            <a:pPr marL="742950" lvl="1" indent="-285750">
              <a:buFont typeface="Wingdings" panose="05000000000000000000" pitchFamily="2" charset="2"/>
              <a:buChar char="Ø"/>
              <a:defRPr/>
            </a:pPr>
            <a:r>
              <a:rPr lang="de-DE" sz="1400" dirty="0">
                <a:solidFill>
                  <a:schemeClr val="accent3">
                    <a:lumMod val="75000"/>
                  </a:schemeClr>
                </a:solidFill>
                <a:latin typeface="Source Sans Pro" panose="020B0503030403020204" pitchFamily="34" charset="0"/>
              </a:rPr>
              <a:t>Die Preise </a:t>
            </a:r>
            <a:r>
              <a:rPr lang="de-DE" sz="1400" u="sng" dirty="0">
                <a:solidFill>
                  <a:schemeClr val="accent3">
                    <a:lumMod val="75000"/>
                  </a:schemeClr>
                </a:solidFill>
                <a:latin typeface="Source Sans Pro" panose="020B0503030403020204" pitchFamily="34" charset="0"/>
              </a:rPr>
              <a:t>aller</a:t>
            </a:r>
            <a:r>
              <a:rPr lang="de-DE" sz="1400" dirty="0">
                <a:solidFill>
                  <a:schemeClr val="accent3">
                    <a:lumMod val="75000"/>
                  </a:schemeClr>
                </a:solidFill>
                <a:latin typeface="Source Sans Pro" panose="020B0503030403020204" pitchFamily="34" charset="0"/>
              </a:rPr>
              <a:t> Produkte sollen auf 0.99 (€) gesetzt werden.</a:t>
            </a:r>
          </a:p>
          <a:p>
            <a:pPr lvl="0">
              <a:defRPr/>
            </a:pPr>
            <a:r>
              <a:rPr lang="de-DE" sz="1400"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UPDATE </a:t>
            </a:r>
            <a:r>
              <a:rPr lang="de-DE" dirty="0">
                <a:solidFill>
                  <a:srgbClr val="0071B2"/>
                </a:solidFill>
                <a:latin typeface="Source Sans Pro" panose="020B0503030403020204" pitchFamily="34" charset="0"/>
              </a:rPr>
              <a:t>Produkt </a:t>
            </a:r>
            <a:r>
              <a:rPr lang="de-DE" b="1" dirty="0">
                <a:latin typeface="Source Sans Pro" panose="020B0503030403020204" pitchFamily="34" charset="0"/>
              </a:rPr>
              <a:t>SET</a:t>
            </a:r>
            <a:r>
              <a:rPr lang="de-DE" dirty="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0.99</a:t>
            </a:r>
            <a:r>
              <a:rPr lang="de-DE" b="1"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marL="742950" lvl="1" indent="-285750">
              <a:buFont typeface="Wingdings" panose="05000000000000000000" pitchFamily="2" charset="2"/>
              <a:buChar char="Ø"/>
              <a:defRPr/>
            </a:pPr>
            <a:r>
              <a:rPr lang="de-DE" sz="1400" dirty="0">
                <a:solidFill>
                  <a:schemeClr val="accent3">
                    <a:lumMod val="75000"/>
                  </a:schemeClr>
                </a:solidFill>
                <a:latin typeface="Source Sans Pro" panose="020B0503030403020204" pitchFamily="34" charset="0"/>
              </a:rPr>
              <a:t>Alle Produkte mit einer ID&gt;2 sollen den Preis 100 (€) erhalten.</a:t>
            </a:r>
          </a:p>
          <a:p>
            <a:pPr>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UPDATE </a:t>
            </a:r>
            <a:r>
              <a:rPr lang="de-DE" dirty="0">
                <a:solidFill>
                  <a:srgbClr val="0071B2"/>
                </a:solidFill>
                <a:latin typeface="Source Sans Pro" panose="020B0503030403020204" pitchFamily="34" charset="0"/>
              </a:rPr>
              <a:t>Produkt </a:t>
            </a:r>
            <a:r>
              <a:rPr lang="de-DE" b="1" dirty="0">
                <a:latin typeface="Source Sans Pro" panose="020B0503030403020204" pitchFamily="34" charset="0"/>
              </a:rPr>
              <a:t>SET</a:t>
            </a:r>
            <a:r>
              <a:rPr lang="de-DE" dirty="0">
                <a:solidFill>
                  <a:srgbClr val="0071B2"/>
                </a:solidFill>
                <a:latin typeface="Source Sans Pro" panose="020B0503030403020204" pitchFamily="34" charset="0"/>
              </a:rPr>
              <a:t> Euro_Preis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100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Produkt_ID </a:t>
            </a:r>
            <a:r>
              <a:rPr lang="de-DE" b="1" dirty="0">
                <a:solidFill>
                  <a:srgbClr val="0071B2"/>
                </a:solidFill>
                <a:latin typeface="Source Sans Pro" panose="020B0503030403020204" pitchFamily="34" charset="0"/>
              </a:rPr>
              <a:t>&gt;</a:t>
            </a:r>
            <a:r>
              <a:rPr lang="de-DE" dirty="0">
                <a:solidFill>
                  <a:srgbClr val="0071B2"/>
                </a:solidFill>
                <a:latin typeface="Source Sans Pro" panose="020B0503030403020204" pitchFamily="34" charset="0"/>
              </a:rPr>
              <a:t> 2</a:t>
            </a:r>
            <a:r>
              <a:rPr lang="de-DE" b="1" dirty="0">
                <a:solidFill>
                  <a:srgbClr val="0071B2"/>
                </a:solidFill>
                <a:latin typeface="Source Sans Pro" panose="020B0503030403020204" pitchFamily="34" charset="0"/>
              </a:rPr>
              <a:t>;</a:t>
            </a:r>
          </a:p>
          <a:p>
            <a:pPr>
              <a:defRPr/>
            </a:pPr>
            <a:endParaRPr lang="de-DE" sz="800" dirty="0">
              <a:solidFill>
                <a:srgbClr val="0071B2"/>
              </a:solidFill>
              <a:latin typeface="Source Sans Pro" panose="020B0503030403020204" pitchFamily="34" charset="0"/>
            </a:endParaRPr>
          </a:p>
          <a:p>
            <a:pPr marL="742950" lvl="1" indent="-285750">
              <a:buFont typeface="Wingdings" panose="05000000000000000000" pitchFamily="2" charset="2"/>
              <a:buChar char="Ø"/>
              <a:defRPr/>
            </a:pPr>
            <a:r>
              <a:rPr lang="de-DE" sz="1400" dirty="0">
                <a:solidFill>
                  <a:schemeClr val="accent3">
                    <a:lumMod val="75000"/>
                  </a:schemeClr>
                </a:solidFill>
                <a:latin typeface="Source Sans Pro" panose="020B0503030403020204" pitchFamily="34" charset="0"/>
              </a:rPr>
              <a:t>Die Abrechnung mit ID 3 muss korrigiert werden: sie stammt vom Kunden mit ID 5 und fand am 3. August 2019 statt.</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UPDATE </a:t>
            </a:r>
            <a:r>
              <a:rPr lang="de-DE" dirty="0">
                <a:solidFill>
                  <a:srgbClr val="0071B2"/>
                </a:solidFill>
                <a:latin typeface="Source Sans Pro" panose="020B0503030403020204" pitchFamily="34" charset="0"/>
              </a:rPr>
              <a:t>Abrechnung </a:t>
            </a:r>
            <a:r>
              <a:rPr lang="de-DE" b="1" dirty="0">
                <a:solidFill>
                  <a:srgbClr val="0071B2"/>
                </a:solidFill>
                <a:latin typeface="Source Sans Pro" panose="020B0503030403020204" pitchFamily="34" charset="0"/>
              </a:rPr>
              <a:t>SET</a:t>
            </a:r>
            <a:r>
              <a:rPr lang="de-DE" dirty="0">
                <a:solidFill>
                  <a:srgbClr val="0071B2"/>
                </a:solidFill>
                <a:latin typeface="Source Sans Pro" panose="020B0503030403020204" pitchFamily="34" charset="0"/>
              </a:rPr>
              <a:t> Kunde_ID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5</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Datum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a:t>
            </a:r>
            <a:r>
              <a:rPr lang="de-DE" dirty="0">
                <a:latin typeface="Source Sans Pro" panose="020B0503030403020204" pitchFamily="34" charset="0"/>
              </a:rPr>
              <a:t>2019-08-03</a:t>
            </a:r>
            <a:r>
              <a:rPr lang="de-DE" b="1" dirty="0">
                <a:latin typeface="Source Sans Pro" panose="020B0503030403020204" pitchFamily="34" charset="0"/>
              </a:rPr>
              <a:t>"</a:t>
            </a:r>
            <a:r>
              <a:rPr lang="de-DE" dirty="0">
                <a:solidFill>
                  <a:srgbClr val="0071B2"/>
                </a:solidFill>
                <a:latin typeface="Source Sans Pro" panose="020B0503030403020204" pitchFamily="34" charset="0"/>
              </a:rPr>
              <a:t> </a:t>
            </a:r>
            <a:r>
              <a:rPr lang="de-DE" b="1" dirty="0">
                <a:latin typeface="Source Sans Pro" panose="020B0503030403020204" pitchFamily="34" charset="0"/>
              </a:rPr>
              <a:t>WHERE</a:t>
            </a:r>
            <a:r>
              <a:rPr lang="de-DE" dirty="0">
                <a:solidFill>
                  <a:srgbClr val="0071B2"/>
                </a:solidFill>
                <a:latin typeface="Source Sans Pro" panose="020B0503030403020204" pitchFamily="34" charset="0"/>
              </a:rPr>
              <a:t> Abrechnung_ID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3</a:t>
            </a:r>
            <a:r>
              <a:rPr lang="de-DE" b="1"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marL="742950" lvl="1" indent="-285750">
              <a:buFont typeface="Wingdings" panose="05000000000000000000" pitchFamily="2" charset="2"/>
              <a:buChar char="Ø"/>
              <a:defRPr/>
            </a:pPr>
            <a:r>
              <a:rPr lang="de-DE" sz="1400" dirty="0">
                <a:solidFill>
                  <a:schemeClr val="accent3">
                    <a:lumMod val="75000"/>
                  </a:schemeClr>
                </a:solidFill>
                <a:latin typeface="Source Sans Pro" panose="020B0503030403020204" pitchFamily="34" charset="0"/>
              </a:rPr>
              <a:t>Der Kunde mit der ID 2 hat geheiratet und trägt nun den Nachnamen „Blume“.</a:t>
            </a:r>
          </a:p>
          <a:p>
            <a:pPr lvl="0">
              <a:defRPr/>
            </a:pPr>
            <a:r>
              <a:rPr lang="de-DE" sz="1400" b="1" dirty="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UPDATE </a:t>
            </a:r>
            <a:r>
              <a:rPr lang="de-DE" dirty="0">
                <a:solidFill>
                  <a:srgbClr val="0071B2"/>
                </a:solidFill>
                <a:latin typeface="Source Sans Pro" panose="020B0503030403020204" pitchFamily="34" charset="0"/>
              </a:rPr>
              <a:t>Kunde </a:t>
            </a:r>
            <a:r>
              <a:rPr lang="de-DE" b="1" dirty="0">
                <a:latin typeface="Source Sans Pro" panose="020B0503030403020204" pitchFamily="34" charset="0"/>
              </a:rPr>
              <a:t>SET </a:t>
            </a:r>
            <a:r>
              <a:rPr lang="de-DE" dirty="0">
                <a:latin typeface="Source Sans Pro" panose="020B0503030403020204" pitchFamily="34" charset="0"/>
              </a:rPr>
              <a:t>Nachname</a:t>
            </a:r>
            <a:r>
              <a:rPr lang="de-DE" b="1" dirty="0">
                <a:latin typeface="Source Sans Pro" panose="020B0503030403020204" pitchFamily="34" charset="0"/>
              </a:rPr>
              <a:t> = "</a:t>
            </a:r>
            <a:r>
              <a:rPr lang="de-DE" dirty="0">
                <a:latin typeface="Source Sans Pro" panose="020B0503030403020204" pitchFamily="34" charset="0"/>
              </a:rPr>
              <a:t>Blume</a:t>
            </a:r>
            <a:r>
              <a:rPr lang="de-DE" b="1" dirty="0">
                <a:latin typeface="Source Sans Pro" panose="020B0503030403020204" pitchFamily="34" charset="0"/>
              </a:rPr>
              <a:t>" WHERE</a:t>
            </a:r>
            <a:r>
              <a:rPr lang="de-DE" dirty="0">
                <a:solidFill>
                  <a:srgbClr val="0071B2"/>
                </a:solidFill>
                <a:latin typeface="Source Sans Pro" panose="020B0503030403020204" pitchFamily="34" charset="0"/>
              </a:rPr>
              <a:t> Kunde_ID </a:t>
            </a:r>
            <a:r>
              <a:rPr lang="de-DE" b="1" dirty="0">
                <a:solidFill>
                  <a:srgbClr val="0071B2"/>
                </a:solidFill>
                <a:latin typeface="Source Sans Pro" panose="020B0503030403020204" pitchFamily="34" charset="0"/>
              </a:rPr>
              <a:t>=</a:t>
            </a:r>
            <a:r>
              <a:rPr lang="de-DE" dirty="0">
                <a:solidFill>
                  <a:srgbClr val="0071B2"/>
                </a:solidFill>
                <a:latin typeface="Source Sans Pro" panose="020B0503030403020204" pitchFamily="34" charset="0"/>
              </a:rPr>
              <a:t> 2</a:t>
            </a:r>
            <a:r>
              <a:rPr lang="de-DE" b="1" dirty="0">
                <a:solidFill>
                  <a:srgbClr val="0071B2"/>
                </a:solidFill>
                <a:latin typeface="Source Sans Pro" panose="020B0503030403020204" pitchFamily="34" charset="0"/>
              </a:rPr>
              <a:t>;</a:t>
            </a:r>
          </a:p>
          <a:p>
            <a:pPr lvl="0">
              <a:defRPr/>
            </a:pPr>
            <a:endParaRPr lang="de-DE" sz="80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000" noProof="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259193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A_02_03_01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3981797" y="1181241"/>
            <a:ext cx="3241963" cy="4604182"/>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1702</Words>
  <Application>Microsoft Office PowerPoint</Application>
  <PresentationFormat>Breitbild</PresentationFormat>
  <Paragraphs>210</Paragraphs>
  <Slides>19</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19</vt:i4>
      </vt:variant>
    </vt:vector>
  </HeadingPairs>
  <TitlesOfParts>
    <vt:vector size="25"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INSERT INTO Tabellen-Name(Liste der Attribute) VALUES (einziger Datensatz);</vt:lpstr>
      <vt:lpstr>INSERT INTO Tabellen-Name(Liste der Attribute) VALUES (einziger Datensatz);</vt:lpstr>
      <vt:lpstr>INSERT INTO Tabellen-Name(Liste der Attribute) VALUES (einziger Datensatz);</vt:lpstr>
      <vt:lpstr>INSERT INTO Tabellen-Name(Liste der Attribute) VALUES (Datensatz 1), (Datensatz 2), (Datensatz 3), … ;</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A_02_03_01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Andreas Passon</cp:lastModifiedBy>
  <cp:revision>388</cp:revision>
  <dcterms:created xsi:type="dcterms:W3CDTF">2022-02-01T13:48:14Z</dcterms:created>
  <dcterms:modified xsi:type="dcterms:W3CDTF">2024-01-17T07:30:05Z</dcterms:modified>
</cp:coreProperties>
</file>