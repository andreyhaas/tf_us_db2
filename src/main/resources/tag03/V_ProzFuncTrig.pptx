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363" r:id="rId5"/>
    <p:sldId id="377" r:id="rId6"/>
    <p:sldId id="371" r:id="rId7"/>
    <p:sldId id="374" r:id="rId8"/>
    <p:sldId id="369" r:id="rId9"/>
    <p:sldId id="370" r:id="rId10"/>
    <p:sldId id="372" r:id="rId11"/>
    <p:sldId id="375" r:id="rId12"/>
    <p:sldId id="373" r:id="rId13"/>
    <p:sldId id="376" r:id="rId14"/>
    <p:sldId id="259" r:id="rId1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1" d="100"/>
          <a:sy n="101" d="100"/>
        </p:scale>
        <p:origin x="132"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11.05.2023</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extLst>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11.05.2023</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a:solidFill>
                  <a:schemeClr val="tx1"/>
                </a:solidFill>
                <a:latin typeface="+mn-lt"/>
              </a:rPr>
              <a:t>Untertitel</a:t>
            </a: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a:t>Bild durch klick auf das Symbol hinzufügen und in den Hintergrund verschieben.</a:t>
            </a:r>
          </a:p>
        </p:txBody>
      </p:sp>
    </p:spTree>
    <p:extLst>
      <p:ext uri="{BB962C8B-B14F-4D97-AF65-F5344CB8AC3E}">
        <p14:creationId xmlns:p14="http://schemas.microsoft.com/office/powerpoint/2010/main" val="40227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11.05.2023</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spTree>
    <p:extLst>
      <p:ext uri="{BB962C8B-B14F-4D97-AF65-F5344CB8AC3E}">
        <p14:creationId xmlns:p14="http://schemas.microsoft.com/office/powerpoint/2010/main" val="145677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11.05.2023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a:t>Lernziele</a:t>
            </a:r>
          </a:p>
        </p:txBody>
      </p:sp>
    </p:spTree>
    <p:extLst>
      <p:ext uri="{BB962C8B-B14F-4D97-AF65-F5344CB8AC3E}">
        <p14:creationId xmlns:p14="http://schemas.microsoft.com/office/powerpoint/2010/main" val="262840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11.05.2023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a:t>Lernziele</a:t>
            </a:r>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Tree>
    <p:extLst>
      <p:ext uri="{BB962C8B-B14F-4D97-AF65-F5344CB8AC3E}">
        <p14:creationId xmlns:p14="http://schemas.microsoft.com/office/powerpoint/2010/main" val="79210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11.05.2023</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40871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a:t>Bild durch klick auf das Symbol hinzufügen und in den Hintergrund verschieben.</a:t>
            </a:r>
          </a:p>
          <a:p>
            <a:endParaRPr lang="de-DE" dirty="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11.05.2023</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a:t>Thementitel</a:t>
            </a:r>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278670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EE6B0DF4-9D6B-4CDB-97A0-C9570C62FA77}" type="datetime1">
              <a:rPr lang="de-DE" smtClean="0"/>
              <a:t>11.05.2023</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49B7AE18-FA3D-4C6C-87A7-F7D224EBB6B4}" type="datetime1">
              <a:rPr lang="de-DE" smtClean="0"/>
              <a:t>11.05.2023</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a:t>Optional kann hier eine zweite Überschrift eingefügt werden.</a:t>
            </a:r>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a:t>Optional kann hier eine zweite Überschrift eingefügt werden.</a:t>
            </a:r>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03DF2EA-616A-4F49-A635-283653D9B8E0}" type="datetime1">
              <a:rPr lang="de-DE" smtClean="0"/>
              <a:t>11.05.2023</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371A257-B4BD-49B9-8C71-F79D07B630C8}" type="datetime1">
              <a:rPr lang="de-DE" smtClean="0"/>
              <a:t>11.05.2023</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11.05.2023</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11.05.2023</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11.05.2023</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11.05.2023</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a:t>Formatvorlagen des Textmasters</a:t>
            </a:r>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a:t>Formatvorlagen des Textmasters</a:t>
            </a:r>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11.05.2023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a:t>– Hier wird die zitierte Person aufgeführt.</a:t>
            </a:r>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11.05.2023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11.05.2023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11.05.2023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11.05.2023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a:t>Diagramm</a:t>
            </a:r>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a:t>Hier können zusätzliche Informationen aufgelistet werden</a:t>
            </a:r>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11.05.2023</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11.05.2023</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11.05.2023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11.05.2023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11.05.2023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11.05.2023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11.05.2023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11.05.2023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11.05.2023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11.05.2023</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11.05.2023</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11.05.2023</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Präsentationsthema</a:t>
            </a:r>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hyperlink" Target="https://www.mysqltutorial.org/mysql-sample-database.aspx" TargetMode="External"/><Relationship Id="rId2" Type="http://schemas.openxmlformats.org/officeDocument/2006/relationships/hyperlink" Target="https://www.mysqltutorial.org/mysql-stored-procedure-tutorial.aspx" TargetMode="External"/><Relationship Id="rId1" Type="http://schemas.openxmlformats.org/officeDocument/2006/relationships/slideLayout" Target="../slideLayouts/slideLayout8.xml"/><Relationship Id="rId5" Type="http://schemas.openxmlformats.org/officeDocument/2006/relationships/hyperlink" Target="https://www.mysqltutorial.org/create-the-first-trigger-in-mysql.aspx" TargetMode="External"/><Relationship Id="rId4" Type="http://schemas.openxmlformats.org/officeDocument/2006/relationships/hyperlink" Target="https://www.w3schools.com/mysql/mysql_ref_functions.as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a:latin typeface="Source Sans Pro" panose="020B0503030403020204" pitchFamily="34" charset="0"/>
              </a:rPr>
              <a:t>Datenbanken und SQL</a:t>
            </a:r>
          </a:p>
        </p:txBody>
      </p:sp>
      <p:sp>
        <p:nvSpPr>
          <p:cNvPr id="6" name="Untertitel 5"/>
          <p:cNvSpPr>
            <a:spLocks noGrp="1"/>
          </p:cNvSpPr>
          <p:nvPr>
            <p:ph type="subTitle" idx="1"/>
          </p:nvPr>
        </p:nvSpPr>
        <p:spPr/>
        <p:txBody>
          <a:bodyPr/>
          <a:lstStyle/>
          <a:p>
            <a:pPr algn="ctr"/>
            <a:r>
              <a:rPr lang="de-DE" dirty="0">
                <a:latin typeface="Source Sans Pro" panose="020B0503030403020204" pitchFamily="34" charset="0"/>
              </a:rPr>
              <a:t>(Prozeduren / Funktionen)</a:t>
            </a: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sp>
    </p:spTree>
    <p:extLst>
      <p:ext uri="{BB962C8B-B14F-4D97-AF65-F5344CB8AC3E}">
        <p14:creationId xmlns:p14="http://schemas.microsoft.com/office/powerpoint/2010/main" val="167504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Agenda</a:t>
            </a: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1040388"/>
            <a:ext cx="10713719" cy="2585323"/>
          </a:xfrm>
          <a:prstGeom prst="rect">
            <a:avLst/>
          </a:prstGeom>
          <a:noFill/>
        </p:spPr>
        <p:txBody>
          <a:bodyPr wrap="square" rtlCol="0">
            <a:spAutoFit/>
          </a:bodyPr>
          <a:lstStyle/>
          <a:p>
            <a:endParaRPr lang="de-DE" b="1" dirty="0">
              <a:latin typeface="Source Sans Pro" panose="020B0503030403020204" pitchFamily="34" charset="0"/>
            </a:endParaRPr>
          </a:p>
          <a:p>
            <a:endParaRPr lang="de-DE" sz="800" b="1" dirty="0">
              <a:latin typeface="Source Sans Pro" panose="020B0503030403020204" pitchFamily="34" charset="0"/>
            </a:endParaRPr>
          </a:p>
          <a:p>
            <a:pPr lvl="1"/>
            <a:r>
              <a:rPr lang="de-DE" sz="2400" b="1" dirty="0">
                <a:latin typeface="Source Sans Pro" panose="020B0503030403020204" pitchFamily="34" charset="0"/>
              </a:rPr>
              <a:t>Prozeduren / Funktionen / Trigger</a:t>
            </a:r>
          </a:p>
          <a:p>
            <a:pPr lvl="1"/>
            <a:endParaRPr lang="de-DE" sz="800" b="1" dirty="0">
              <a:latin typeface="Source Sans Pro" panose="020B0503030403020204" pitchFamily="34" charset="0"/>
            </a:endParaRPr>
          </a:p>
          <a:p>
            <a:pPr marL="1257300" lvl="2" indent="-342900">
              <a:buFont typeface="Courier New" panose="02070309020205020404" pitchFamily="49" charset="0"/>
              <a:buChar char="o"/>
            </a:pPr>
            <a:r>
              <a:rPr lang="de-DE" dirty="0">
                <a:solidFill>
                  <a:srgbClr val="0071B2"/>
                </a:solidFill>
                <a:latin typeface="Source Sans Pro" panose="020B0503030403020204" pitchFamily="34" charset="0"/>
              </a:rPr>
              <a:t>Vorwort / Einführung</a:t>
            </a:r>
          </a:p>
          <a:p>
            <a:pPr lvl="3"/>
            <a:endParaRPr lang="de-DE" sz="800" dirty="0">
              <a:solidFill>
                <a:srgbClr val="0071B2"/>
              </a:solidFill>
              <a:latin typeface="Source Sans Pro" panose="020B0503030403020204" pitchFamily="34" charset="0"/>
            </a:endParaRPr>
          </a:p>
          <a:p>
            <a:pPr marL="1257300" lvl="2" indent="-342900">
              <a:buFont typeface="Courier New" panose="02070309020205020404" pitchFamily="49" charset="0"/>
              <a:buChar char="o"/>
            </a:pPr>
            <a:r>
              <a:rPr lang="de-DE" dirty="0">
                <a:solidFill>
                  <a:srgbClr val="0071B2"/>
                </a:solidFill>
                <a:latin typeface="Source Sans Pro" panose="020B0503030403020204" pitchFamily="34" charset="0"/>
              </a:rPr>
              <a:t>Unterschiede: Prozeduren vs. Funktionen</a:t>
            </a:r>
          </a:p>
          <a:p>
            <a:pPr marL="1257300" lvl="2" indent="-342900">
              <a:buFont typeface="Courier New" panose="02070309020205020404" pitchFamily="49" charset="0"/>
              <a:buChar char="o"/>
            </a:pPr>
            <a:endParaRPr lang="de-DE" sz="800" dirty="0">
              <a:solidFill>
                <a:srgbClr val="0071B2"/>
              </a:solidFill>
              <a:latin typeface="Source Sans Pro" panose="020B0503030403020204" pitchFamily="34" charset="0"/>
            </a:endParaRPr>
          </a:p>
          <a:p>
            <a:pPr marL="1257300" lvl="2" indent="-342900">
              <a:buFont typeface="Courier New" panose="02070309020205020404" pitchFamily="49" charset="0"/>
              <a:buChar char="o"/>
            </a:pPr>
            <a:r>
              <a:rPr lang="de-DE" dirty="0">
                <a:solidFill>
                  <a:srgbClr val="0071B2"/>
                </a:solidFill>
                <a:latin typeface="Source Sans Pro" panose="020B0503030403020204" pitchFamily="34" charset="0"/>
              </a:rPr>
              <a:t>Trigger</a:t>
            </a:r>
          </a:p>
          <a:p>
            <a:pPr lvl="3"/>
            <a:endParaRPr lang="de-DE" sz="800" dirty="0">
              <a:solidFill>
                <a:srgbClr val="0071B2"/>
              </a:solidFill>
              <a:latin typeface="Source Sans Pro" panose="020B0503030403020204" pitchFamily="34" charset="0"/>
            </a:endParaRPr>
          </a:p>
          <a:p>
            <a:pPr marL="1257300" lvl="2" indent="-342900">
              <a:buFont typeface="Courier New" panose="02070309020205020404" pitchFamily="49" charset="0"/>
              <a:buChar char="o"/>
            </a:pPr>
            <a:r>
              <a:rPr lang="de-DE" dirty="0">
                <a:solidFill>
                  <a:srgbClr val="0071B2"/>
                </a:solidFill>
                <a:latin typeface="Source Sans Pro" panose="020B0503030403020204" pitchFamily="34" charset="0"/>
              </a:rPr>
              <a:t>Syntax (Beispiele)</a:t>
            </a:r>
          </a:p>
          <a:p>
            <a:pPr lvl="3"/>
            <a:endParaRPr lang="de-DE" sz="800" dirty="0">
              <a:latin typeface="Source Sans Pro" panose="020B0503030403020204" pitchFamily="34" charset="0"/>
            </a:endParaRPr>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b="1" dirty="0">
                <a:latin typeface="Source Sans Pro" panose="020B0503030403020204" pitchFamily="34" charset="0"/>
              </a:rPr>
              <a:t>Vorwort / Einführung</a:t>
            </a:r>
            <a:endParaRPr lang="de-DE" sz="2800" dirty="0">
              <a:latin typeface="Source Sans Pro" panose="020B0503030403020204" pitchFamily="34" charset="0"/>
            </a:endParaRPr>
          </a:p>
          <a:p>
            <a:endParaRPr lang="de-DE" sz="5400" dirty="0">
              <a:latin typeface="Source Sans Pro" panose="020B0503030403020204" pitchFamily="34" charset="0"/>
            </a:endParaRPr>
          </a:p>
        </p:txBody>
      </p:sp>
    </p:spTree>
    <p:extLst>
      <p:ext uri="{BB962C8B-B14F-4D97-AF65-F5344CB8AC3E}">
        <p14:creationId xmlns:p14="http://schemas.microsoft.com/office/powerpoint/2010/main" val="93759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6" name="Textfeld 5"/>
          <p:cNvSpPr txBox="1"/>
          <p:nvPr/>
        </p:nvSpPr>
        <p:spPr>
          <a:xfrm>
            <a:off x="757659" y="1251384"/>
            <a:ext cx="11241301" cy="29238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lvl="0" indent="-342900">
              <a:buFont typeface="Arial" panose="020B0604020202020204" pitchFamily="34" charset="0"/>
              <a:buChar char="•"/>
              <a:defRPr/>
            </a:pPr>
            <a:r>
              <a:rPr lang="de-DE" sz="2400" noProof="0" dirty="0">
                <a:solidFill>
                  <a:srgbClr val="0071B2"/>
                </a:solidFill>
                <a:latin typeface="Source Sans Pro" panose="020B0503030403020204" pitchFamily="34" charset="0"/>
              </a:rPr>
              <a:t>Dies ist nur ein </a:t>
            </a:r>
            <a:r>
              <a:rPr lang="de-DE" sz="2400" u="sng" noProof="0" dirty="0">
                <a:solidFill>
                  <a:srgbClr val="0071B2"/>
                </a:solidFill>
                <a:latin typeface="Source Sans Pro" panose="020B0503030403020204" pitchFamily="34" charset="0"/>
              </a:rPr>
              <a:t>Einstieg</a:t>
            </a:r>
            <a:r>
              <a:rPr lang="de-DE" sz="2400" noProof="0" dirty="0">
                <a:solidFill>
                  <a:srgbClr val="0071B2"/>
                </a:solidFill>
                <a:latin typeface="Source Sans Pro" panose="020B0503030403020204" pitchFamily="34" charset="0"/>
              </a:rPr>
              <a:t> in die Welt der Prozeduren, Funktionen und Trigger. Es hat einen Grund, warum darüber zahlreiche Bücher geschrieben wurden </a:t>
            </a:r>
            <a:r>
              <a:rPr lang="de-DE" sz="2400" dirty="0">
                <a:solidFill>
                  <a:srgbClr val="0071B2"/>
                </a:solidFill>
                <a:latin typeface="Source Sans Pro" panose="020B0503030403020204" pitchFamily="34" charset="0"/>
                <a:sym typeface="Wingdings" panose="05000000000000000000" pitchFamily="2" charset="2"/>
              </a:rPr>
              <a:t></a:t>
            </a:r>
            <a:br>
              <a:rPr lang="de-DE" sz="2400" dirty="0">
                <a:solidFill>
                  <a:srgbClr val="0071B2"/>
                </a:solidFill>
                <a:latin typeface="Source Sans Pro" panose="020B0503030403020204" pitchFamily="34" charset="0"/>
                <a:sym typeface="Wingdings" panose="05000000000000000000" pitchFamily="2" charset="2"/>
              </a:rPr>
            </a:br>
            <a:endParaRPr lang="de-DE" sz="2400" noProof="0" dirty="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noProof="0" dirty="0">
                <a:solidFill>
                  <a:srgbClr val="0071B2"/>
                </a:solidFill>
                <a:latin typeface="Source Sans Pro" panose="020B0503030403020204" pitchFamily="34" charset="0"/>
              </a:rPr>
              <a:t>Wir betrachten nur mySQL</a:t>
            </a:r>
            <a:br>
              <a:rPr lang="de-DE" sz="2400" noProof="0" dirty="0">
                <a:solidFill>
                  <a:srgbClr val="0071B2"/>
                </a:solidFill>
                <a:latin typeface="Source Sans Pro" panose="020B0503030403020204" pitchFamily="34" charset="0"/>
              </a:rPr>
            </a:br>
            <a:endParaRPr lang="de-DE" sz="2400" noProof="0" dirty="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Art und Umfang von Prozeduren, Funktionen und Triggern können in anderen SQL-Systemen (z.B. MSSQL) variieren</a:t>
            </a:r>
            <a:endPar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Vorwort</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3212439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Einführung</a:t>
            </a:r>
            <a:endParaRPr lang="de-DE" sz="4000" b="0" i="1" dirty="0">
              <a:solidFill>
                <a:schemeClr val="accent2"/>
              </a:solidFill>
              <a:latin typeface="Source Sans Pro" panose="020B0503030403020204" pitchFamily="34" charset="0"/>
            </a:endParaRPr>
          </a:p>
        </p:txBody>
      </p:sp>
      <p:sp>
        <p:nvSpPr>
          <p:cNvPr id="2" name="Textfeld 1">
            <a:extLst>
              <a:ext uri="{FF2B5EF4-FFF2-40B4-BE49-F238E27FC236}">
                <a16:creationId xmlns:a16="http://schemas.microsoft.com/office/drawing/2014/main" id="{F3A46EE8-86D7-79B6-23FC-12A8E78CF531}"/>
              </a:ext>
            </a:extLst>
          </p:cNvPr>
          <p:cNvSpPr txBox="1"/>
          <p:nvPr/>
        </p:nvSpPr>
        <p:spPr>
          <a:xfrm>
            <a:off x="757659" y="1251384"/>
            <a:ext cx="11241301" cy="36625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lvl="0" indent="-342900">
              <a:buFont typeface="Arial" panose="020B0604020202020204" pitchFamily="34" charset="0"/>
              <a:buChar char="•"/>
              <a:defRPr/>
            </a:pPr>
            <a:r>
              <a:rPr lang="de-DE" sz="2400" dirty="0">
                <a:solidFill>
                  <a:srgbClr val="0071B2"/>
                </a:solidFill>
                <a:latin typeface="Source Sans Pro" panose="020B0503030403020204" pitchFamily="34" charset="0"/>
              </a:rPr>
              <a:t>Prozeduren und Funktionen erweitern den Funktionsumfang von </a:t>
            </a:r>
            <a:r>
              <a:rPr lang="de-DE" sz="2400" dirty="0" err="1">
                <a:solidFill>
                  <a:srgbClr val="0071B2"/>
                </a:solidFill>
                <a:latin typeface="Source Sans Pro" panose="020B0503030403020204" pitchFamily="34" charset="0"/>
              </a:rPr>
              <a:t>mySQL</a:t>
            </a:r>
            <a:r>
              <a:rPr lang="de-DE" sz="2400" dirty="0">
                <a:solidFill>
                  <a:srgbClr val="0071B2"/>
                </a:solidFill>
                <a:latin typeface="Source Sans Pro" panose="020B0503030403020204" pitchFamily="34" charset="0"/>
              </a:rPr>
              <a:t> erheblich.</a:t>
            </a:r>
            <a:br>
              <a:rPr lang="de-DE" sz="2400" dirty="0">
                <a:solidFill>
                  <a:srgbClr val="0071B2"/>
                </a:solidFill>
                <a:latin typeface="Source Sans Pro" panose="020B0503030403020204" pitchFamily="34" charset="0"/>
                <a:sym typeface="Wingdings" panose="05000000000000000000" pitchFamily="2" charset="2"/>
              </a:rPr>
            </a:br>
            <a:r>
              <a:rPr lang="de-DE" sz="2400" dirty="0">
                <a:solidFill>
                  <a:srgbClr val="0071B2"/>
                </a:solidFill>
                <a:latin typeface="Source Sans Pro" panose="020B0503030403020204" pitchFamily="34" charset="0"/>
              </a:rPr>
              <a:t>Sie können für wiederkehrende Aufgaben und Berechnungen eingesetzt werden</a:t>
            </a:r>
          </a:p>
          <a:p>
            <a:pPr marL="342900" lvl="0" indent="-342900">
              <a:buFont typeface="Arial" panose="020B0604020202020204" pitchFamily="34" charset="0"/>
              <a:buChar char="•"/>
              <a:defRPr/>
            </a:pPr>
            <a:endParaRPr lang="de-DE" sz="2400" dirty="0">
              <a:solidFill>
                <a:srgbClr val="0071B2"/>
              </a:solidFill>
              <a:latin typeface="Source Sans Pro" panose="020B0503030403020204" pitchFamily="34" charset="0"/>
            </a:endParaRPr>
          </a:p>
          <a:p>
            <a:pPr marL="342900" lvl="0" indent="-342900">
              <a:buFont typeface="Arial" panose="020B0604020202020204" pitchFamily="34" charset="0"/>
              <a:buChar char="•"/>
              <a:defRPr/>
            </a:pPr>
            <a:r>
              <a:rPr lang="de-DE" sz="2400" noProof="0" dirty="0">
                <a:solidFill>
                  <a:srgbClr val="0071B2"/>
                </a:solidFill>
                <a:latin typeface="Source Sans Pro" panose="020B0503030403020204" pitchFamily="34" charset="0"/>
              </a:rPr>
              <a:t>Trigger bieten verschiedene Möglichkeiten bei Änderungen am Datenbestand zu reagieren (UPDATE- INSERT- DELETE-Trigger). Trigger können vor oder nach dem Ausführen eines UPDATE- INSERT- DELETE-Befehls aktiv werden)</a:t>
            </a:r>
            <a:br>
              <a:rPr lang="de-DE" sz="2400" noProof="0" dirty="0">
                <a:solidFill>
                  <a:srgbClr val="0071B2"/>
                </a:solidFill>
                <a:latin typeface="Source Sans Pro" panose="020B0503030403020204" pitchFamily="34" charset="0"/>
              </a:rPr>
            </a:b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defRPr/>
            </a:pPr>
            <a:r>
              <a:rPr lang="de-DE" sz="2400" dirty="0">
                <a:solidFill>
                  <a:srgbClr val="0071B2"/>
                </a:solidFill>
                <a:latin typeface="Source Sans Pro" panose="020B0503030403020204" pitchFamily="34" charset="0"/>
              </a:rPr>
              <a:t>Sie verfügen über ähnliche Funktionalitäten, wie wir sie aus C kennen (Variablen, Schleifen, IF-Statements, …)</a:t>
            </a:r>
            <a:endPar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3134696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Einführung</a:t>
            </a:r>
            <a:endParaRPr lang="de-DE" sz="4000" b="0" i="1" dirty="0">
              <a:solidFill>
                <a:schemeClr val="accent2"/>
              </a:solidFill>
              <a:latin typeface="Source Sans Pro" panose="020B0503030403020204" pitchFamily="34" charset="0"/>
            </a:endParaRPr>
          </a:p>
        </p:txBody>
      </p:sp>
      <p:sp>
        <p:nvSpPr>
          <p:cNvPr id="2" name="Textfeld 1">
            <a:extLst>
              <a:ext uri="{FF2B5EF4-FFF2-40B4-BE49-F238E27FC236}">
                <a16:creationId xmlns:a16="http://schemas.microsoft.com/office/drawing/2014/main" id="{F3A46EE8-86D7-79B6-23FC-12A8E78CF531}"/>
              </a:ext>
            </a:extLst>
          </p:cNvPr>
          <p:cNvSpPr txBox="1"/>
          <p:nvPr/>
        </p:nvSpPr>
        <p:spPr>
          <a:xfrm>
            <a:off x="757659" y="1251384"/>
            <a:ext cx="11241301"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lvl="0" indent="-342900">
              <a:buFont typeface="Arial" panose="020B0604020202020204" pitchFamily="34" charset="0"/>
              <a:buChar char="•"/>
              <a:defRPr/>
            </a:pPr>
            <a:r>
              <a:rPr lang="de-DE" sz="2400" dirty="0">
                <a:solidFill>
                  <a:srgbClr val="0071B2"/>
                </a:solidFill>
                <a:latin typeface="Source Sans Pro" panose="020B0503030403020204" pitchFamily="34" charset="0"/>
              </a:rPr>
              <a:t>Prozeduren, Funktionen und Trigger werden in eigenen Bereichen der Datenbank gespeichert (Prozeduren/Funktionen global, Trigger tabellenbezogen)</a:t>
            </a:r>
          </a:p>
          <a:p>
            <a:pPr marL="342900" lvl="0" indent="-342900">
              <a:buFont typeface="Arial" panose="020B0604020202020204" pitchFamily="34" charset="0"/>
              <a:buChar char="•"/>
              <a:defRP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pic>
        <p:nvPicPr>
          <p:cNvPr id="6" name="Grafik 5">
            <a:extLst>
              <a:ext uri="{FF2B5EF4-FFF2-40B4-BE49-F238E27FC236}">
                <a16:creationId xmlns:a16="http://schemas.microsoft.com/office/drawing/2014/main" id="{450FC921-D80A-9E87-E114-A71E2FB51C70}"/>
              </a:ext>
            </a:extLst>
          </p:cNvPr>
          <p:cNvPicPr>
            <a:picLocks noChangeAspect="1"/>
          </p:cNvPicPr>
          <p:nvPr/>
        </p:nvPicPr>
        <p:blipFill>
          <a:blip r:embed="rId2"/>
          <a:stretch>
            <a:fillRect/>
          </a:stretch>
        </p:blipFill>
        <p:spPr>
          <a:xfrm>
            <a:off x="1190096" y="2574823"/>
            <a:ext cx="1971675" cy="2324100"/>
          </a:xfrm>
          <a:prstGeom prst="rect">
            <a:avLst/>
          </a:prstGeom>
        </p:spPr>
      </p:pic>
      <p:cxnSp>
        <p:nvCxnSpPr>
          <p:cNvPr id="9" name="Gerade Verbindung mit Pfeil 8">
            <a:extLst>
              <a:ext uri="{FF2B5EF4-FFF2-40B4-BE49-F238E27FC236}">
                <a16:creationId xmlns:a16="http://schemas.microsoft.com/office/drawing/2014/main" id="{75E98507-11A1-E433-1A43-E3C4496F1C86}"/>
              </a:ext>
            </a:extLst>
          </p:cNvPr>
          <p:cNvCxnSpPr>
            <a:cxnSpLocks/>
          </p:cNvCxnSpPr>
          <p:nvPr/>
        </p:nvCxnSpPr>
        <p:spPr>
          <a:xfrm flipH="1">
            <a:off x="2638425" y="2888192"/>
            <a:ext cx="1076325"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11" name="Gerade Verbindung mit Pfeil 10">
            <a:extLst>
              <a:ext uri="{FF2B5EF4-FFF2-40B4-BE49-F238E27FC236}">
                <a16:creationId xmlns:a16="http://schemas.microsoft.com/office/drawing/2014/main" id="{2DB6FBD8-96BE-9A31-8DB2-825D660EA413}"/>
              </a:ext>
            </a:extLst>
          </p:cNvPr>
          <p:cNvCxnSpPr>
            <a:cxnSpLocks/>
          </p:cNvCxnSpPr>
          <p:nvPr/>
        </p:nvCxnSpPr>
        <p:spPr>
          <a:xfrm flipH="1">
            <a:off x="2638424" y="3097742"/>
            <a:ext cx="1076325"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13" name="Gerade Verbindung mit Pfeil 12">
            <a:extLst>
              <a:ext uri="{FF2B5EF4-FFF2-40B4-BE49-F238E27FC236}">
                <a16:creationId xmlns:a16="http://schemas.microsoft.com/office/drawing/2014/main" id="{2C1659BC-C21D-5D39-DF77-8A6C0CAEE902}"/>
              </a:ext>
            </a:extLst>
          </p:cNvPr>
          <p:cNvCxnSpPr>
            <a:cxnSpLocks/>
          </p:cNvCxnSpPr>
          <p:nvPr/>
        </p:nvCxnSpPr>
        <p:spPr>
          <a:xfrm flipH="1">
            <a:off x="2623608" y="4793192"/>
            <a:ext cx="1076325"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15" name="Rechteck 14">
            <a:extLst>
              <a:ext uri="{FF2B5EF4-FFF2-40B4-BE49-F238E27FC236}">
                <a16:creationId xmlns:a16="http://schemas.microsoft.com/office/drawing/2014/main" id="{F42D9908-ED77-654E-940D-86879F48BF6D}"/>
              </a:ext>
            </a:extLst>
          </p:cNvPr>
          <p:cNvSpPr/>
          <p:nvPr/>
        </p:nvSpPr>
        <p:spPr>
          <a:xfrm>
            <a:off x="1195388" y="2554921"/>
            <a:ext cx="2586037" cy="714364"/>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a:extLst>
              <a:ext uri="{FF2B5EF4-FFF2-40B4-BE49-F238E27FC236}">
                <a16:creationId xmlns:a16="http://schemas.microsoft.com/office/drawing/2014/main" id="{3B665E57-08B1-C6AB-11F8-D8011766C818}"/>
              </a:ext>
            </a:extLst>
          </p:cNvPr>
          <p:cNvSpPr/>
          <p:nvPr/>
        </p:nvSpPr>
        <p:spPr>
          <a:xfrm>
            <a:off x="1195388" y="4029076"/>
            <a:ext cx="2586037" cy="889750"/>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529657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121382" cy="526297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285750" lvl="0" indent="-285750">
              <a:buFont typeface="Arial" panose="020B0604020202020204" pitchFamily="34" charset="0"/>
              <a:buChar char="•"/>
              <a:defRPr/>
            </a:pPr>
            <a:r>
              <a:rPr lang="de-DE" sz="2400" dirty="0">
                <a:solidFill>
                  <a:srgbClr val="0071B2"/>
                </a:solidFill>
                <a:latin typeface="Source Sans Pro" panose="020B0503030403020204" pitchFamily="34" charset="0"/>
              </a:rPr>
              <a:t>Umfangreiches Tutorial zu </a:t>
            </a:r>
            <a:r>
              <a:rPr lang="de-DE" sz="2400" dirty="0" err="1">
                <a:solidFill>
                  <a:srgbClr val="0071B2"/>
                </a:solidFill>
                <a:latin typeface="Source Sans Pro" panose="020B0503030403020204" pitchFamily="34" charset="0"/>
              </a:rPr>
              <a:t>Stored</a:t>
            </a:r>
            <a:r>
              <a:rPr lang="de-DE" sz="2400" dirty="0">
                <a:solidFill>
                  <a:srgbClr val="0071B2"/>
                </a:solidFill>
                <a:latin typeface="Source Sans Pro" panose="020B0503030403020204" pitchFamily="34" charset="0"/>
              </a:rPr>
              <a:t> </a:t>
            </a:r>
            <a:r>
              <a:rPr lang="de-DE" sz="2400" dirty="0" err="1">
                <a:solidFill>
                  <a:srgbClr val="0071B2"/>
                </a:solidFill>
                <a:latin typeface="Source Sans Pro" panose="020B0503030403020204" pitchFamily="34" charset="0"/>
              </a:rPr>
              <a:t>Procedures</a:t>
            </a:r>
            <a:r>
              <a:rPr lang="de-DE" sz="2400" dirty="0">
                <a:solidFill>
                  <a:srgbClr val="0071B2"/>
                </a:solidFill>
                <a:latin typeface="Source Sans Pro" panose="020B0503030403020204" pitchFamily="34" charset="0"/>
              </a:rPr>
              <a:t> und Funktionen (Funktionen in Kapitel 6)</a:t>
            </a:r>
            <a:endParaRPr lang="de-DE" sz="2400" dirty="0">
              <a:solidFill>
                <a:srgbClr val="0071B2"/>
              </a:solidFill>
              <a:latin typeface="Source Sans Pro" panose="020B0503030403020204" pitchFamily="34" charset="0"/>
              <a:hlinkClick r:id="rId2"/>
            </a:endParaRPr>
          </a:p>
          <a:p>
            <a:pPr marL="742950" lvl="1" indent="-285750">
              <a:buFont typeface="Arial" panose="020B0604020202020204" pitchFamily="34" charset="0"/>
              <a:buChar char="•"/>
              <a:defRPr/>
            </a:pPr>
            <a:r>
              <a:rPr lang="de-DE" sz="2400" dirty="0">
                <a:solidFill>
                  <a:srgbClr val="0071B2"/>
                </a:solidFill>
                <a:latin typeface="Source Sans Pro" panose="020B0503030403020204" pitchFamily="34" charset="0"/>
                <a:hlinkClick r:id="rId2"/>
              </a:rPr>
              <a:t>https://www.mysqltutorial.org/mysql-stored-procedure-tutorial.aspx</a:t>
            </a:r>
            <a:endParaRPr lang="de-DE" sz="2400" dirty="0">
              <a:solidFill>
                <a:srgbClr val="0071B2"/>
              </a:solidFill>
              <a:latin typeface="Source Sans Pro" panose="020B0503030403020204" pitchFamily="34" charset="0"/>
            </a:endParaRPr>
          </a:p>
          <a:p>
            <a:pPr marL="285750" lvl="0" indent="-285750">
              <a:buFont typeface="Arial" panose="020B0604020202020204" pitchFamily="34" charset="0"/>
              <a:buChar char="•"/>
              <a:defRPr/>
            </a:pPr>
            <a:endParaRPr lang="de-DE" sz="2400" dirty="0">
              <a:solidFill>
                <a:srgbClr val="0071B2"/>
              </a:solidFill>
              <a:latin typeface="Source Sans Pro" panose="020B0503030403020204" pitchFamily="34" charset="0"/>
            </a:endParaRPr>
          </a:p>
          <a:p>
            <a:pPr marL="285750" lvl="0" indent="-285750">
              <a:buFont typeface="Arial" panose="020B0604020202020204" pitchFamily="34" charset="0"/>
              <a:buChar char="•"/>
              <a:defRPr/>
            </a:pPr>
            <a:r>
              <a:rPr lang="de-DE" sz="2400" dirty="0">
                <a:solidFill>
                  <a:srgbClr val="0071B2"/>
                </a:solidFill>
                <a:latin typeface="Source Sans Pro" panose="020B0503030403020204" pitchFamily="34" charset="0"/>
              </a:rPr>
              <a:t>Beispieldatenbank, die im Tutorial verwendet werden kann</a:t>
            </a:r>
          </a:p>
          <a:p>
            <a:pPr marL="742950" lvl="1" indent="-285750">
              <a:buFont typeface="Arial" panose="020B0604020202020204" pitchFamily="34" charset="0"/>
              <a:buChar char="•"/>
              <a:defRPr/>
            </a:pPr>
            <a:r>
              <a:rPr lang="de-DE" sz="2400" dirty="0">
                <a:solidFill>
                  <a:srgbClr val="0071B2"/>
                </a:solidFill>
                <a:latin typeface="Source Sans Pro" panose="020B0503030403020204" pitchFamily="34" charset="0"/>
                <a:hlinkClick r:id="rId3"/>
              </a:rPr>
              <a:t>https://www.mysqltutorial.org/mysql-sample-database.aspx</a:t>
            </a:r>
            <a:endParaRPr lang="de-DE" sz="2400" dirty="0">
              <a:solidFill>
                <a:srgbClr val="0071B2"/>
              </a:solidFill>
              <a:latin typeface="Source Sans Pro" panose="020B0503030403020204" pitchFamily="34" charset="0"/>
            </a:endParaRPr>
          </a:p>
          <a:p>
            <a:pPr marL="285750" lvl="0" indent="-285750">
              <a:buFont typeface="Arial" panose="020B0604020202020204" pitchFamily="34" charset="0"/>
              <a:buChar char="•"/>
              <a:defRPr/>
            </a:pPr>
            <a:endParaRPr lang="de-DE" sz="2400" dirty="0">
              <a:solidFill>
                <a:srgbClr val="0071B2"/>
              </a:solidFill>
              <a:latin typeface="Source Sans Pro" panose="020B0503030403020204" pitchFamily="34" charset="0"/>
            </a:endParaRPr>
          </a:p>
          <a:p>
            <a:pPr marL="285750" lvl="0" indent="-285750">
              <a:buFont typeface="Arial" panose="020B0604020202020204" pitchFamily="34" charset="0"/>
              <a:buChar char="•"/>
              <a:defRPr/>
            </a:pPr>
            <a:r>
              <a:rPr lang="de-DE" sz="2400" dirty="0">
                <a:solidFill>
                  <a:srgbClr val="0071B2"/>
                </a:solidFill>
                <a:latin typeface="Source Sans Pro" panose="020B0503030403020204" pitchFamily="34" charset="0"/>
              </a:rPr>
              <a:t>Übersicht über eingebaute Funktionen in mySQL</a:t>
            </a:r>
          </a:p>
          <a:p>
            <a:pPr marL="742950" lvl="1" indent="-285750">
              <a:buFont typeface="Arial" panose="020B0604020202020204" pitchFamily="34" charset="0"/>
              <a:buChar char="•"/>
              <a:defRPr/>
            </a:pPr>
            <a:r>
              <a:rPr lang="de-DE" sz="2400" dirty="0">
                <a:solidFill>
                  <a:srgbClr val="0071B2"/>
                </a:solidFill>
                <a:latin typeface="Source Sans Pro" panose="020B0503030403020204" pitchFamily="34" charset="0"/>
                <a:hlinkClick r:id="rId4"/>
              </a:rPr>
              <a:t>https://www.w3schools.com/mysql/mysql_ref_functions.asp</a:t>
            </a:r>
            <a:endParaRPr lang="de-DE" sz="2400" dirty="0">
              <a:solidFill>
                <a:srgbClr val="0071B2"/>
              </a:solidFill>
              <a:latin typeface="Source Sans Pro" panose="020B0503030403020204" pitchFamily="34" charset="0"/>
            </a:endParaRPr>
          </a:p>
          <a:p>
            <a:pPr lvl="0">
              <a:defRPr/>
            </a:pPr>
            <a:endParaRPr lang="de-DE" sz="2400" dirty="0">
              <a:solidFill>
                <a:srgbClr val="0071B2"/>
              </a:solidFill>
              <a:latin typeface="Source Sans Pro" panose="020B0503030403020204" pitchFamily="34" charset="0"/>
            </a:endParaRPr>
          </a:p>
          <a:p>
            <a:pPr marL="285750" marR="0" indent="-285750" fontAlgn="auto">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Einführung in Trigger</a:t>
            </a:r>
          </a:p>
          <a:p>
            <a:pPr marL="800100" lvl="1" indent="-342900">
              <a:buFont typeface="Arial" panose="020B0604020202020204" pitchFamily="34" charset="0"/>
              <a:buChar char="•"/>
              <a:defRPr/>
            </a:pPr>
            <a:r>
              <a:rPr lang="de-DE" sz="2400" dirty="0">
                <a:solidFill>
                  <a:srgbClr val="0071B2"/>
                </a:solidFill>
                <a:latin typeface="Source Sans Pro" panose="020B0503030403020204" pitchFamily="34" charset="0"/>
                <a:hlinkClick r:id="rId5"/>
              </a:rPr>
              <a:t>https://www.mysqltutorial.org/create-the-first-trigger-in-mysql.aspx</a:t>
            </a:r>
            <a:endParaRPr lang="de-DE" sz="24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sz="2400" dirty="0">
              <a:solidFill>
                <a:srgbClr val="0071B2"/>
              </a:solidFill>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Einführung</a:t>
            </a:r>
            <a:endParaRPr lang="de-DE" sz="4000" b="0" i="1" dirty="0">
              <a:solidFill>
                <a:schemeClr val="accent2"/>
              </a:solidFill>
              <a:latin typeface="Source Sans Pro" panose="020B0503030403020204" pitchFamily="34" charset="0"/>
            </a:endParaRPr>
          </a:p>
        </p:txBody>
      </p:sp>
    </p:spTree>
    <p:extLst>
      <p:ext uri="{BB962C8B-B14F-4D97-AF65-F5344CB8AC3E}">
        <p14:creationId xmlns:p14="http://schemas.microsoft.com/office/powerpoint/2010/main" val="1334421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Unterschiede</a:t>
            </a:r>
          </a:p>
          <a:p>
            <a:r>
              <a:rPr lang="de-DE" sz="4000" dirty="0">
                <a:latin typeface="Source Sans Pro" panose="020B0503030403020204" pitchFamily="34" charset="0"/>
              </a:rPr>
              <a:t>Prozeduren vs. Funktionen</a:t>
            </a:r>
          </a:p>
          <a:p>
            <a:endParaRPr lang="de-DE" sz="2800" dirty="0">
              <a:latin typeface="Source Sans Pro" panose="020B0503030403020204" pitchFamily="34" charset="0"/>
            </a:endParaRPr>
          </a:p>
        </p:txBody>
      </p:sp>
    </p:spTree>
    <p:extLst>
      <p:ext uri="{BB962C8B-B14F-4D97-AF65-F5344CB8AC3E}">
        <p14:creationId xmlns:p14="http://schemas.microsoft.com/office/powerpoint/2010/main" val="3456702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495754"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Wichtige Unterschiede (Auszug)</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graphicFrame>
        <p:nvGraphicFramePr>
          <p:cNvPr id="2" name="Tabelle 2">
            <a:extLst>
              <a:ext uri="{FF2B5EF4-FFF2-40B4-BE49-F238E27FC236}">
                <a16:creationId xmlns:a16="http://schemas.microsoft.com/office/drawing/2014/main" id="{AECB908F-40FE-4D4D-773A-A5D46E49DFB0}"/>
              </a:ext>
            </a:extLst>
          </p:cNvPr>
          <p:cNvGraphicFramePr>
            <a:graphicFrameLocks noGrp="1"/>
          </p:cNvGraphicFramePr>
          <p:nvPr>
            <p:extLst>
              <p:ext uri="{D42A27DB-BD31-4B8C-83A1-F6EECF244321}">
                <p14:modId xmlns:p14="http://schemas.microsoft.com/office/powerpoint/2010/main" val="2491345565"/>
              </p:ext>
            </p:extLst>
          </p:nvPr>
        </p:nvGraphicFramePr>
        <p:xfrm>
          <a:off x="800100" y="1344300"/>
          <a:ext cx="10591800" cy="3774440"/>
        </p:xfrm>
        <a:graphic>
          <a:graphicData uri="http://schemas.openxmlformats.org/drawingml/2006/table">
            <a:tbl>
              <a:tblPr firstRow="1" bandRow="1">
                <a:tableStyleId>{5C22544A-7EE6-4342-B048-85BDC9FD1C3A}</a:tableStyleId>
              </a:tblPr>
              <a:tblGrid>
                <a:gridCol w="5295900">
                  <a:extLst>
                    <a:ext uri="{9D8B030D-6E8A-4147-A177-3AD203B41FA5}">
                      <a16:colId xmlns:a16="http://schemas.microsoft.com/office/drawing/2014/main" val="209637411"/>
                    </a:ext>
                  </a:extLst>
                </a:gridCol>
                <a:gridCol w="5295900">
                  <a:extLst>
                    <a:ext uri="{9D8B030D-6E8A-4147-A177-3AD203B41FA5}">
                      <a16:colId xmlns:a16="http://schemas.microsoft.com/office/drawing/2014/main" val="3178457011"/>
                    </a:ext>
                  </a:extLst>
                </a:gridCol>
              </a:tblGrid>
              <a:tr h="370840">
                <a:tc>
                  <a:txBody>
                    <a:bodyPr/>
                    <a:lstStyle/>
                    <a:p>
                      <a:r>
                        <a:rPr lang="de-DE" dirty="0"/>
                        <a:t>Prozeduren</a:t>
                      </a:r>
                    </a:p>
                  </a:txBody>
                  <a:tcPr/>
                </a:tc>
                <a:tc>
                  <a:txBody>
                    <a:bodyPr/>
                    <a:lstStyle/>
                    <a:p>
                      <a:r>
                        <a:rPr lang="de-DE" dirty="0"/>
                        <a:t>Funktionen</a:t>
                      </a:r>
                    </a:p>
                  </a:txBody>
                  <a:tcPr/>
                </a:tc>
                <a:extLst>
                  <a:ext uri="{0D108BD9-81ED-4DB2-BD59-A6C34878D82A}">
                    <a16:rowId xmlns:a16="http://schemas.microsoft.com/office/drawing/2014/main" val="69059907"/>
                  </a:ext>
                </a:extLst>
              </a:tr>
              <a:tr h="370840">
                <a:tc>
                  <a:txBody>
                    <a:bodyPr/>
                    <a:lstStyle/>
                    <a:p>
                      <a:r>
                        <a:rPr lang="de-DE" dirty="0"/>
                        <a:t>Aufrufbar von außerhalb SQL (externe Software)</a:t>
                      </a:r>
                    </a:p>
                  </a:txBody>
                  <a:tcPr/>
                </a:tc>
                <a:tc>
                  <a:txBody>
                    <a:bodyPr/>
                    <a:lstStyle/>
                    <a:p>
                      <a:r>
                        <a:rPr lang="de-DE" dirty="0"/>
                        <a:t>Nur intern (innerhalb SQL) verwendbar</a:t>
                      </a:r>
                    </a:p>
                  </a:txBody>
                  <a:tcPr/>
                </a:tc>
                <a:extLst>
                  <a:ext uri="{0D108BD9-81ED-4DB2-BD59-A6C34878D82A}">
                    <a16:rowId xmlns:a16="http://schemas.microsoft.com/office/drawing/2014/main" val="3230359354"/>
                  </a:ext>
                </a:extLst>
              </a:tr>
              <a:tr h="370840">
                <a:tc>
                  <a:txBody>
                    <a:bodyPr/>
                    <a:lstStyle/>
                    <a:p>
                      <a:r>
                        <a:rPr lang="de-DE" dirty="0"/>
                        <a:t>Können Änderungen vornehmen (INSERT, UPDATE, ..)</a:t>
                      </a:r>
                    </a:p>
                  </a:txBody>
                  <a:tcPr/>
                </a:tc>
                <a:tc>
                  <a:txBody>
                    <a:bodyPr/>
                    <a:lstStyle/>
                    <a:p>
                      <a:r>
                        <a:rPr lang="de-DE" dirty="0"/>
                        <a:t>Können keine Änderungen vornehmen (nur SELECT, SHOW DATABASES, …)</a:t>
                      </a:r>
                    </a:p>
                  </a:txBody>
                  <a:tcPr/>
                </a:tc>
                <a:extLst>
                  <a:ext uri="{0D108BD9-81ED-4DB2-BD59-A6C34878D82A}">
                    <a16:rowId xmlns:a16="http://schemas.microsoft.com/office/drawing/2014/main" val="964624384"/>
                  </a:ext>
                </a:extLst>
              </a:tr>
              <a:tr h="370840">
                <a:tc>
                  <a:txBody>
                    <a:bodyPr/>
                    <a:lstStyle/>
                    <a:p>
                      <a:r>
                        <a:rPr lang="de-DE" dirty="0"/>
                        <a:t>Können NICHT in SQL-Queries benutzt werden</a:t>
                      </a:r>
                    </a:p>
                  </a:txBody>
                  <a:tcPr/>
                </a:tc>
                <a:tc>
                  <a:txBody>
                    <a:bodyPr/>
                    <a:lstStyle/>
                    <a:p>
                      <a:r>
                        <a:rPr lang="de-DE" dirty="0"/>
                        <a:t>Können in SQL-Queries benutzt werden</a:t>
                      </a:r>
                    </a:p>
                  </a:txBody>
                  <a:tcPr/>
                </a:tc>
                <a:extLst>
                  <a:ext uri="{0D108BD9-81ED-4DB2-BD59-A6C34878D82A}">
                    <a16:rowId xmlns:a16="http://schemas.microsoft.com/office/drawing/2014/main" val="2708150663"/>
                  </a:ext>
                </a:extLst>
              </a:tr>
              <a:tr h="370840">
                <a:tc>
                  <a:txBody>
                    <a:bodyPr/>
                    <a:lstStyle/>
                    <a:p>
                      <a:r>
                        <a:rPr lang="de-DE" dirty="0"/>
                        <a:t>Können Eingabe und Ausgabe-Parameter haben</a:t>
                      </a:r>
                    </a:p>
                  </a:txBody>
                  <a:tcPr/>
                </a:tc>
                <a:tc>
                  <a:txBody>
                    <a:bodyPr/>
                    <a:lstStyle/>
                    <a:p>
                      <a:r>
                        <a:rPr lang="de-DE" dirty="0"/>
                        <a:t>Müssen mindestens einen Eingabe-Parameter haben und geben einen Return-Wert zurück</a:t>
                      </a:r>
                    </a:p>
                  </a:txBody>
                  <a:tcPr/>
                </a:tc>
                <a:extLst>
                  <a:ext uri="{0D108BD9-81ED-4DB2-BD59-A6C34878D82A}">
                    <a16:rowId xmlns:a16="http://schemas.microsoft.com/office/drawing/2014/main" val="1857469341"/>
                  </a:ext>
                </a:extLst>
              </a:tr>
              <a:tr h="370840">
                <a:tc>
                  <a:txBody>
                    <a:bodyPr/>
                    <a:lstStyle/>
                    <a:p>
                      <a:r>
                        <a:rPr lang="de-DE" dirty="0"/>
                        <a:t>Können Funktionen aufrufen</a:t>
                      </a:r>
                    </a:p>
                  </a:txBody>
                  <a:tcPr/>
                </a:tc>
                <a:tc>
                  <a:txBody>
                    <a:bodyPr/>
                    <a:lstStyle/>
                    <a:p>
                      <a:r>
                        <a:rPr lang="de-DE" dirty="0"/>
                        <a:t>Können keine Prozeduren aufrufen</a:t>
                      </a:r>
                    </a:p>
                  </a:txBody>
                  <a:tcPr/>
                </a:tc>
                <a:extLst>
                  <a:ext uri="{0D108BD9-81ED-4DB2-BD59-A6C34878D82A}">
                    <a16:rowId xmlns:a16="http://schemas.microsoft.com/office/drawing/2014/main" val="1025112566"/>
                  </a:ext>
                </a:extLst>
              </a:tr>
              <a:tr h="370840">
                <a:tc>
                  <a:txBody>
                    <a:bodyPr/>
                    <a:lstStyle/>
                    <a:p>
                      <a:r>
                        <a:rPr lang="de-DE" dirty="0"/>
                        <a:t>Werden i.d.R. mit „Call [name]“ aufgerufen</a:t>
                      </a:r>
                    </a:p>
                  </a:txBody>
                  <a:tcPr/>
                </a:tc>
                <a:tc>
                  <a:txBody>
                    <a:bodyPr/>
                    <a:lstStyle/>
                    <a:p>
                      <a:r>
                        <a:rPr lang="de-DE" dirty="0"/>
                        <a:t>Werden über ihren Namen aufgerufen</a:t>
                      </a:r>
                      <a:br>
                        <a:rPr lang="de-DE" dirty="0"/>
                      </a:br>
                      <a:r>
                        <a:rPr lang="de-DE" dirty="0"/>
                        <a:t>„SELECT spalte, TolleFunktion(param) FROM …“</a:t>
                      </a:r>
                    </a:p>
                  </a:txBody>
                  <a:tcPr/>
                </a:tc>
                <a:extLst>
                  <a:ext uri="{0D108BD9-81ED-4DB2-BD59-A6C34878D82A}">
                    <a16:rowId xmlns:a16="http://schemas.microsoft.com/office/drawing/2014/main" val="1491880686"/>
                  </a:ext>
                </a:extLst>
              </a:tr>
              <a:tr h="370840">
                <a:tc>
                  <a:txBody>
                    <a:bodyPr/>
                    <a:lstStyle/>
                    <a:p>
                      <a:endParaRPr lang="de-DE" dirty="0"/>
                    </a:p>
                  </a:txBody>
                  <a:tcPr/>
                </a:tc>
                <a:tc>
                  <a:txBody>
                    <a:bodyPr/>
                    <a:lstStyle/>
                    <a:p>
                      <a:endParaRPr lang="de-DE" dirty="0"/>
                    </a:p>
                  </a:txBody>
                  <a:tcPr/>
                </a:tc>
                <a:extLst>
                  <a:ext uri="{0D108BD9-81ED-4DB2-BD59-A6C34878D82A}">
                    <a16:rowId xmlns:a16="http://schemas.microsoft.com/office/drawing/2014/main" val="2880131138"/>
                  </a:ext>
                </a:extLst>
              </a:tr>
            </a:tbl>
          </a:graphicData>
        </a:graphic>
      </p:graphicFrame>
    </p:spTree>
    <p:extLst>
      <p:ext uri="{BB962C8B-B14F-4D97-AF65-F5344CB8AC3E}">
        <p14:creationId xmlns:p14="http://schemas.microsoft.com/office/powerpoint/2010/main" val="4011541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Syntax</a:t>
            </a:r>
          </a:p>
          <a:p>
            <a:endParaRPr lang="de-DE" sz="2800" dirty="0">
              <a:latin typeface="Source Sans Pro" panose="020B0503030403020204" pitchFamily="34" charset="0"/>
            </a:endParaRPr>
          </a:p>
          <a:p>
            <a:endParaRPr lang="de-DE" sz="5400" dirty="0">
              <a:latin typeface="Source Sans Pro" panose="020B0503030403020204" pitchFamily="34" charset="0"/>
            </a:endParaRPr>
          </a:p>
        </p:txBody>
      </p:sp>
    </p:spTree>
    <p:extLst>
      <p:ext uri="{BB962C8B-B14F-4D97-AF65-F5344CB8AC3E}">
        <p14:creationId xmlns:p14="http://schemas.microsoft.com/office/powerpoint/2010/main" val="540142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Syntax (Procedure)</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7" name="Textfeld 6">
            <a:extLst>
              <a:ext uri="{FF2B5EF4-FFF2-40B4-BE49-F238E27FC236}">
                <a16:creationId xmlns:a16="http://schemas.microsoft.com/office/drawing/2014/main" id="{72846145-BC43-5309-8CC2-855F6B942620}"/>
              </a:ext>
            </a:extLst>
          </p:cNvPr>
          <p:cNvSpPr txBox="1"/>
          <p:nvPr/>
        </p:nvSpPr>
        <p:spPr>
          <a:xfrm>
            <a:off x="508000" y="1214249"/>
            <a:ext cx="10591799" cy="4524315"/>
          </a:xfrm>
          <a:prstGeom prst="rect">
            <a:avLst/>
          </a:prstGeom>
          <a:solidFill>
            <a:srgbClr val="2C3235"/>
          </a:solidFill>
        </p:spPr>
        <p:txBody>
          <a:bodyPr wrap="square">
            <a:spAutoFit/>
          </a:bodyPr>
          <a:lstStyle/>
          <a:p>
            <a:r>
              <a:rPr lang="de-DE" sz="1200" dirty="0">
                <a:solidFill>
                  <a:srgbClr val="E0E2E4"/>
                </a:solidFill>
                <a:highlight>
                  <a:srgbClr val="293134"/>
                </a:highlight>
              </a:rPr>
              <a:t>DELIMITER $$</a:t>
            </a:r>
          </a:p>
          <a:p>
            <a:r>
              <a:rPr lang="de-DE" sz="1200" b="1" dirty="0">
                <a:solidFill>
                  <a:srgbClr val="93C763"/>
                </a:solidFill>
                <a:highlight>
                  <a:srgbClr val="293134"/>
                </a:highlight>
              </a:rPr>
              <a:t>CREATE</a:t>
            </a:r>
            <a:r>
              <a:rPr lang="de-DE" sz="1200" b="0" dirty="0">
                <a:solidFill>
                  <a:srgbClr val="E0E2E4"/>
                </a:solidFill>
                <a:highlight>
                  <a:srgbClr val="293134"/>
                </a:highlight>
              </a:rPr>
              <a:t> </a:t>
            </a:r>
            <a:r>
              <a:rPr lang="de-DE" sz="1200" b="1" dirty="0">
                <a:solidFill>
                  <a:srgbClr val="93C763"/>
                </a:solidFill>
                <a:highlight>
                  <a:srgbClr val="293134"/>
                </a:highlight>
              </a:rPr>
              <a:t>PROCEDURE</a:t>
            </a:r>
            <a:r>
              <a:rPr lang="de-DE" sz="1200" b="0" dirty="0">
                <a:solidFill>
                  <a:srgbClr val="E0E2E4"/>
                </a:solidFill>
                <a:highlight>
                  <a:srgbClr val="293134"/>
                </a:highlight>
              </a:rPr>
              <a:t> DatenErzeugen</a:t>
            </a:r>
            <a:r>
              <a:rPr lang="de-DE" sz="1200" b="0" dirty="0">
                <a:solidFill>
                  <a:srgbClr val="E8E2B7"/>
                </a:solidFill>
                <a:highlight>
                  <a:srgbClr val="293134"/>
                </a:highlight>
              </a:rPr>
              <a:t>()</a:t>
            </a:r>
            <a:endParaRPr lang="de-DE" sz="1200" b="0" dirty="0">
              <a:solidFill>
                <a:srgbClr val="E0E2E4"/>
              </a:solidFill>
              <a:highlight>
                <a:srgbClr val="293134"/>
              </a:highlight>
            </a:endParaRPr>
          </a:p>
          <a:p>
            <a:r>
              <a:rPr lang="de-DE" sz="1200" b="1" dirty="0">
                <a:solidFill>
                  <a:srgbClr val="93C763"/>
                </a:solidFill>
                <a:highlight>
                  <a:srgbClr val="293134"/>
                </a:highlight>
              </a:rPr>
              <a:t>BEGIN</a:t>
            </a:r>
            <a:endParaRPr lang="de-DE" sz="1200" b="0" dirty="0">
              <a:solidFill>
                <a:srgbClr val="E0E2E4"/>
              </a:solidFill>
              <a:highlight>
                <a:srgbClr val="293134"/>
              </a:highlight>
            </a:endParaRPr>
          </a:p>
          <a:p>
            <a:pPr lvl="1"/>
            <a:r>
              <a:rPr lang="de-DE" sz="1200" b="1" dirty="0">
                <a:solidFill>
                  <a:srgbClr val="93C763"/>
                </a:solidFill>
                <a:highlight>
                  <a:srgbClr val="293134"/>
                </a:highlight>
              </a:rPr>
              <a:t>DECLARE</a:t>
            </a:r>
            <a:r>
              <a:rPr lang="de-DE" sz="1200" b="0" dirty="0">
                <a:solidFill>
                  <a:srgbClr val="E0E2E4"/>
                </a:solidFill>
                <a:highlight>
                  <a:srgbClr val="293134"/>
                </a:highlight>
              </a:rPr>
              <a:t> geld  </a:t>
            </a:r>
            <a:r>
              <a:rPr lang="de-DE" sz="1200" b="1" dirty="0">
                <a:solidFill>
                  <a:srgbClr val="007FFF"/>
                </a:solidFill>
                <a:highlight>
                  <a:srgbClr val="293134"/>
                </a:highlight>
              </a:rPr>
              <a:t>float</a:t>
            </a:r>
            <a:r>
              <a:rPr lang="de-DE" sz="1200" b="0" dirty="0">
                <a:solidFill>
                  <a:srgbClr val="E8E2B7"/>
                </a:solidFill>
                <a:highlight>
                  <a:srgbClr val="293134"/>
                </a:highlight>
              </a:rPr>
              <a:t>(</a:t>
            </a:r>
            <a:r>
              <a:rPr lang="de-DE" sz="1200" b="0" dirty="0">
                <a:solidFill>
                  <a:srgbClr val="FFCD22"/>
                </a:solidFill>
                <a:highlight>
                  <a:srgbClr val="293134"/>
                </a:highlight>
              </a:rPr>
              <a:t>10</a:t>
            </a:r>
            <a:r>
              <a:rPr lang="de-DE" sz="1200" b="0" dirty="0">
                <a:solidFill>
                  <a:srgbClr val="E8E2B7"/>
                </a:solidFill>
                <a:highlight>
                  <a:srgbClr val="293134"/>
                </a:highlight>
              </a:rPr>
              <a:t>,</a:t>
            </a:r>
            <a:r>
              <a:rPr lang="de-DE" sz="1200" b="0" dirty="0">
                <a:solidFill>
                  <a:srgbClr val="FFCD22"/>
                </a:solidFill>
                <a:highlight>
                  <a:srgbClr val="293134"/>
                </a:highlight>
              </a:rPr>
              <a:t>2</a:t>
            </a:r>
            <a:r>
              <a:rPr lang="de-DE" sz="1200" b="0" dirty="0">
                <a:solidFill>
                  <a:srgbClr val="E8E2B7"/>
                </a:solidFill>
                <a:highlight>
                  <a:srgbClr val="293134"/>
                </a:highlight>
              </a:rPr>
              <a:t>);</a:t>
            </a:r>
            <a:endParaRPr lang="de-DE" sz="1200" b="0" dirty="0">
              <a:solidFill>
                <a:srgbClr val="E0E2E4"/>
              </a:solidFill>
              <a:highlight>
                <a:srgbClr val="293134"/>
              </a:highlight>
            </a:endParaRPr>
          </a:p>
          <a:p>
            <a:pPr lvl="1"/>
            <a:r>
              <a:rPr lang="de-DE" sz="1200" b="1" dirty="0">
                <a:solidFill>
                  <a:srgbClr val="93C763"/>
                </a:solidFill>
                <a:highlight>
                  <a:srgbClr val="293134"/>
                </a:highlight>
              </a:rPr>
              <a:t>DECLARE</a:t>
            </a:r>
            <a:r>
              <a:rPr lang="de-DE" sz="1200" b="0" dirty="0">
                <a:solidFill>
                  <a:srgbClr val="E0E2E4"/>
                </a:solidFill>
                <a:highlight>
                  <a:srgbClr val="293134"/>
                </a:highlight>
              </a:rPr>
              <a:t> vor  </a:t>
            </a:r>
            <a:r>
              <a:rPr lang="de-DE" sz="1200" b="1" dirty="0">
                <a:solidFill>
                  <a:srgbClr val="007FFF"/>
                </a:solidFill>
                <a:highlight>
                  <a:srgbClr val="293134"/>
                </a:highlight>
              </a:rPr>
              <a:t>VARCHAR</a:t>
            </a:r>
            <a:r>
              <a:rPr lang="de-DE" sz="1200" b="0" dirty="0">
                <a:solidFill>
                  <a:srgbClr val="E8E2B7"/>
                </a:solidFill>
                <a:highlight>
                  <a:srgbClr val="293134"/>
                </a:highlight>
              </a:rPr>
              <a:t>(</a:t>
            </a:r>
            <a:r>
              <a:rPr lang="de-DE" sz="1200" b="0" dirty="0">
                <a:solidFill>
                  <a:srgbClr val="FFCD22"/>
                </a:solidFill>
                <a:highlight>
                  <a:srgbClr val="293134"/>
                </a:highlight>
              </a:rPr>
              <a:t>255</a:t>
            </a:r>
            <a:r>
              <a:rPr lang="de-DE" sz="1200" b="0" dirty="0">
                <a:solidFill>
                  <a:srgbClr val="E8E2B7"/>
                </a:solidFill>
                <a:highlight>
                  <a:srgbClr val="293134"/>
                </a:highlight>
              </a:rPr>
              <a:t>);</a:t>
            </a:r>
            <a:endParaRPr lang="de-DE" sz="1200" b="0" dirty="0">
              <a:solidFill>
                <a:srgbClr val="E0E2E4"/>
              </a:solidFill>
              <a:highlight>
                <a:srgbClr val="293134"/>
              </a:highlight>
            </a:endParaRPr>
          </a:p>
          <a:p>
            <a:pPr lvl="1"/>
            <a:r>
              <a:rPr lang="de-DE" sz="1200" b="1" dirty="0">
                <a:solidFill>
                  <a:srgbClr val="93C763"/>
                </a:solidFill>
                <a:highlight>
                  <a:srgbClr val="293134"/>
                </a:highlight>
              </a:rPr>
              <a:t>DECLARE</a:t>
            </a:r>
            <a:r>
              <a:rPr lang="de-DE" sz="1200" b="0" dirty="0">
                <a:solidFill>
                  <a:srgbClr val="E0E2E4"/>
                </a:solidFill>
                <a:highlight>
                  <a:srgbClr val="293134"/>
                </a:highlight>
              </a:rPr>
              <a:t> nach  </a:t>
            </a:r>
            <a:r>
              <a:rPr lang="de-DE" sz="1200" b="1" dirty="0">
                <a:solidFill>
                  <a:srgbClr val="007FFF"/>
                </a:solidFill>
                <a:highlight>
                  <a:srgbClr val="293134"/>
                </a:highlight>
              </a:rPr>
              <a:t>VARCHAR</a:t>
            </a:r>
            <a:r>
              <a:rPr lang="de-DE" sz="1200" b="0" dirty="0">
                <a:solidFill>
                  <a:srgbClr val="E8E2B7"/>
                </a:solidFill>
                <a:highlight>
                  <a:srgbClr val="293134"/>
                </a:highlight>
              </a:rPr>
              <a:t>(</a:t>
            </a:r>
            <a:r>
              <a:rPr lang="de-DE" sz="1200" b="0" dirty="0">
                <a:solidFill>
                  <a:srgbClr val="FFCD22"/>
                </a:solidFill>
                <a:highlight>
                  <a:srgbClr val="293134"/>
                </a:highlight>
              </a:rPr>
              <a:t>255</a:t>
            </a:r>
            <a:r>
              <a:rPr lang="de-DE" sz="1200" b="0" dirty="0">
                <a:solidFill>
                  <a:srgbClr val="E8E2B7"/>
                </a:solidFill>
                <a:highlight>
                  <a:srgbClr val="293134"/>
                </a:highlight>
              </a:rPr>
              <a:t>);</a:t>
            </a:r>
            <a:endParaRPr lang="de-DE" sz="1200" dirty="0">
              <a:solidFill>
                <a:srgbClr val="E0E2E4"/>
              </a:solidFill>
              <a:highlight>
                <a:srgbClr val="293134"/>
              </a:highlight>
            </a:endParaRPr>
          </a:p>
          <a:p>
            <a:pPr lvl="1"/>
            <a:r>
              <a:rPr lang="de-DE" sz="1200" b="1" dirty="0">
                <a:solidFill>
                  <a:srgbClr val="93C763"/>
                </a:solidFill>
                <a:highlight>
                  <a:srgbClr val="293134"/>
                </a:highlight>
              </a:rPr>
              <a:t>DECLARE</a:t>
            </a:r>
            <a:r>
              <a:rPr lang="de-DE" sz="1200" b="0" dirty="0">
                <a:solidFill>
                  <a:srgbClr val="E0E2E4"/>
                </a:solidFill>
                <a:highlight>
                  <a:srgbClr val="293134"/>
                </a:highlight>
              </a:rPr>
              <a:t> zaehler </a:t>
            </a:r>
            <a:r>
              <a:rPr lang="de-DE" sz="1200" b="1" dirty="0">
                <a:solidFill>
                  <a:srgbClr val="007FFF"/>
                </a:solidFill>
                <a:highlight>
                  <a:srgbClr val="293134"/>
                </a:highlight>
              </a:rPr>
              <a:t>INT</a:t>
            </a:r>
            <a:r>
              <a:rPr lang="de-DE" sz="1200" b="0" dirty="0">
                <a:solidFill>
                  <a:srgbClr val="E8E2B7"/>
                </a:solidFill>
                <a:highlight>
                  <a:srgbClr val="293134"/>
                </a:highlight>
              </a:rPr>
              <a:t>(</a:t>
            </a:r>
            <a:r>
              <a:rPr lang="de-DE" sz="1200" b="0" dirty="0">
                <a:solidFill>
                  <a:srgbClr val="FFCD22"/>
                </a:solidFill>
                <a:highlight>
                  <a:srgbClr val="293134"/>
                </a:highlight>
              </a:rPr>
              <a:t>11</a:t>
            </a:r>
            <a:r>
              <a:rPr lang="de-DE" sz="1200" b="0" dirty="0">
                <a:solidFill>
                  <a:srgbClr val="E8E2B7"/>
                </a:solidFill>
                <a:highlight>
                  <a:srgbClr val="293134"/>
                </a:highlight>
              </a:rPr>
              <a:t>);</a:t>
            </a:r>
            <a:endParaRPr lang="de-DE" sz="1200" b="0" dirty="0">
              <a:solidFill>
                <a:srgbClr val="E0E2E4"/>
              </a:solidFill>
              <a:highlight>
                <a:srgbClr val="293134"/>
              </a:highlight>
            </a:endParaRPr>
          </a:p>
          <a:p>
            <a:pPr lvl="1"/>
            <a:r>
              <a:rPr lang="de-DE" sz="1200" b="1" dirty="0">
                <a:solidFill>
                  <a:srgbClr val="93C763"/>
                </a:solidFill>
                <a:highlight>
                  <a:srgbClr val="293134"/>
                </a:highlight>
              </a:rPr>
              <a:t>DECLARE</a:t>
            </a:r>
            <a:r>
              <a:rPr lang="de-DE" sz="1200" b="0" dirty="0">
                <a:solidFill>
                  <a:srgbClr val="E0E2E4"/>
                </a:solidFill>
                <a:highlight>
                  <a:srgbClr val="293134"/>
                </a:highlight>
              </a:rPr>
              <a:t> maxwert </a:t>
            </a:r>
            <a:r>
              <a:rPr lang="de-DE" sz="1200" b="1" dirty="0">
                <a:solidFill>
                  <a:srgbClr val="007FFF"/>
                </a:solidFill>
                <a:highlight>
                  <a:srgbClr val="293134"/>
                </a:highlight>
              </a:rPr>
              <a:t>INT</a:t>
            </a:r>
            <a:r>
              <a:rPr lang="de-DE" sz="1200" b="0" dirty="0">
                <a:solidFill>
                  <a:srgbClr val="E8E2B7"/>
                </a:solidFill>
                <a:highlight>
                  <a:srgbClr val="293134"/>
                </a:highlight>
              </a:rPr>
              <a:t>(</a:t>
            </a:r>
            <a:r>
              <a:rPr lang="de-DE" sz="1200" b="0" dirty="0">
                <a:solidFill>
                  <a:srgbClr val="FFCD22"/>
                </a:solidFill>
                <a:highlight>
                  <a:srgbClr val="293134"/>
                </a:highlight>
              </a:rPr>
              <a:t>11</a:t>
            </a:r>
            <a:r>
              <a:rPr lang="de-DE" sz="1200" b="0" dirty="0">
                <a:solidFill>
                  <a:srgbClr val="E8E2B7"/>
                </a:solidFill>
                <a:highlight>
                  <a:srgbClr val="293134"/>
                </a:highlight>
              </a:rPr>
              <a:t>);</a:t>
            </a:r>
            <a:endParaRPr lang="de-DE" sz="1200" b="0" dirty="0">
              <a:solidFill>
                <a:srgbClr val="E0E2E4"/>
              </a:solidFill>
              <a:highlight>
                <a:srgbClr val="293134"/>
              </a:highlight>
            </a:endParaRPr>
          </a:p>
          <a:p>
            <a:pPr lvl="1"/>
            <a:r>
              <a:rPr lang="de-DE" sz="1200" b="1" dirty="0">
                <a:solidFill>
                  <a:srgbClr val="93C763"/>
                </a:solidFill>
                <a:highlight>
                  <a:srgbClr val="293134"/>
                </a:highlight>
              </a:rPr>
              <a:t>DECLARE</a:t>
            </a:r>
            <a:r>
              <a:rPr lang="de-DE" sz="1200" b="0" dirty="0">
                <a:solidFill>
                  <a:srgbClr val="E0E2E4"/>
                </a:solidFill>
                <a:highlight>
                  <a:srgbClr val="293134"/>
                </a:highlight>
              </a:rPr>
              <a:t> zufall </a:t>
            </a:r>
            <a:r>
              <a:rPr lang="de-DE" sz="1200" b="1" dirty="0">
                <a:solidFill>
                  <a:srgbClr val="007FFF"/>
                </a:solidFill>
                <a:highlight>
                  <a:srgbClr val="293134"/>
                </a:highlight>
              </a:rPr>
              <a:t>INT</a:t>
            </a:r>
            <a:r>
              <a:rPr lang="de-DE" sz="1200" b="0" dirty="0">
                <a:solidFill>
                  <a:srgbClr val="E8E2B7"/>
                </a:solidFill>
                <a:highlight>
                  <a:srgbClr val="293134"/>
                </a:highlight>
              </a:rPr>
              <a:t>(</a:t>
            </a:r>
            <a:r>
              <a:rPr lang="de-DE" sz="1200" b="0" dirty="0">
                <a:solidFill>
                  <a:srgbClr val="FFCD22"/>
                </a:solidFill>
                <a:highlight>
                  <a:srgbClr val="293134"/>
                </a:highlight>
              </a:rPr>
              <a:t>11</a:t>
            </a:r>
            <a:r>
              <a:rPr lang="de-DE" sz="1200" b="0" dirty="0">
                <a:solidFill>
                  <a:srgbClr val="E8E2B7"/>
                </a:solidFill>
                <a:highlight>
                  <a:srgbClr val="293134"/>
                </a:highlight>
              </a:rPr>
              <a:t>);</a:t>
            </a:r>
            <a:endParaRPr lang="de-DE" sz="1200" b="0" dirty="0">
              <a:solidFill>
                <a:srgbClr val="E0E2E4"/>
              </a:solidFill>
              <a:highlight>
                <a:srgbClr val="293134"/>
              </a:highlight>
            </a:endParaRPr>
          </a:p>
          <a:p>
            <a:endParaRPr lang="de-DE" sz="1200" b="0" dirty="0">
              <a:solidFill>
                <a:srgbClr val="E0E2E4"/>
              </a:solidFill>
              <a:highlight>
                <a:srgbClr val="293134"/>
              </a:highlight>
            </a:endParaRPr>
          </a:p>
          <a:p>
            <a:pPr lvl="1"/>
            <a:r>
              <a:rPr lang="de-DE" sz="1200" b="1" dirty="0">
                <a:solidFill>
                  <a:srgbClr val="93C763"/>
                </a:solidFill>
                <a:highlight>
                  <a:srgbClr val="293134"/>
                </a:highlight>
              </a:rPr>
              <a:t>SET</a:t>
            </a:r>
            <a:r>
              <a:rPr lang="de-DE" sz="1200" b="0" dirty="0">
                <a:solidFill>
                  <a:srgbClr val="E0E2E4"/>
                </a:solidFill>
                <a:highlight>
                  <a:srgbClr val="293134"/>
                </a:highlight>
              </a:rPr>
              <a:t> zaehler </a:t>
            </a:r>
            <a:r>
              <a:rPr lang="de-DE" sz="1200" b="0" dirty="0">
                <a:solidFill>
                  <a:srgbClr val="E8E2B7"/>
                </a:solidFill>
                <a:highlight>
                  <a:srgbClr val="293134"/>
                </a:highlight>
              </a:rPr>
              <a:t>=</a:t>
            </a:r>
            <a:r>
              <a:rPr lang="de-DE" sz="1200" b="0" dirty="0">
                <a:solidFill>
                  <a:srgbClr val="E0E2E4"/>
                </a:solidFill>
                <a:highlight>
                  <a:srgbClr val="293134"/>
                </a:highlight>
              </a:rPr>
              <a:t> </a:t>
            </a:r>
            <a:r>
              <a:rPr lang="de-DE" sz="1200" b="0" dirty="0">
                <a:solidFill>
                  <a:srgbClr val="FFCD22"/>
                </a:solidFill>
                <a:highlight>
                  <a:srgbClr val="293134"/>
                </a:highlight>
              </a:rPr>
              <a:t>0</a:t>
            </a:r>
            <a:r>
              <a:rPr lang="de-DE" sz="1200" b="0" dirty="0">
                <a:solidFill>
                  <a:srgbClr val="E8E2B7"/>
                </a:solidFill>
                <a:highlight>
                  <a:srgbClr val="293134"/>
                </a:highlight>
              </a:rPr>
              <a:t>;</a:t>
            </a:r>
            <a:endParaRPr lang="de-DE" sz="1200" b="0" dirty="0">
              <a:solidFill>
                <a:srgbClr val="E0E2E4"/>
              </a:solidFill>
              <a:highlight>
                <a:srgbClr val="293134"/>
              </a:highlight>
            </a:endParaRPr>
          </a:p>
          <a:p>
            <a:pPr lvl="1"/>
            <a:r>
              <a:rPr lang="de-DE" sz="1200" b="1" dirty="0">
                <a:solidFill>
                  <a:srgbClr val="93C763"/>
                </a:solidFill>
                <a:highlight>
                  <a:srgbClr val="293134"/>
                </a:highlight>
              </a:rPr>
              <a:t>SET</a:t>
            </a:r>
            <a:r>
              <a:rPr lang="de-DE" sz="1200" b="0" dirty="0">
                <a:solidFill>
                  <a:srgbClr val="E0E2E4"/>
                </a:solidFill>
                <a:highlight>
                  <a:srgbClr val="293134"/>
                </a:highlight>
              </a:rPr>
              <a:t> maxwert </a:t>
            </a:r>
            <a:r>
              <a:rPr lang="de-DE" sz="1200" b="0" dirty="0">
                <a:solidFill>
                  <a:srgbClr val="E8E2B7"/>
                </a:solidFill>
                <a:highlight>
                  <a:srgbClr val="293134"/>
                </a:highlight>
              </a:rPr>
              <a:t>=</a:t>
            </a:r>
            <a:r>
              <a:rPr lang="de-DE" sz="1200" b="0" dirty="0">
                <a:solidFill>
                  <a:srgbClr val="E0E2E4"/>
                </a:solidFill>
                <a:highlight>
                  <a:srgbClr val="293134"/>
                </a:highlight>
              </a:rPr>
              <a:t>  </a:t>
            </a:r>
            <a:r>
              <a:rPr lang="de-DE" sz="1200" b="0" dirty="0">
                <a:solidFill>
                  <a:srgbClr val="FFCD22"/>
                </a:solidFill>
                <a:highlight>
                  <a:srgbClr val="293134"/>
                </a:highlight>
              </a:rPr>
              <a:t>1000</a:t>
            </a:r>
            <a:r>
              <a:rPr lang="de-DE" sz="1200" b="0" dirty="0">
                <a:solidFill>
                  <a:srgbClr val="E8E2B7"/>
                </a:solidFill>
                <a:highlight>
                  <a:srgbClr val="293134"/>
                </a:highlight>
              </a:rPr>
              <a:t>;</a:t>
            </a:r>
            <a:endParaRPr lang="de-DE" sz="1200" b="0" dirty="0">
              <a:solidFill>
                <a:srgbClr val="E0E2E4"/>
              </a:solidFill>
              <a:highlight>
                <a:srgbClr val="293134"/>
              </a:highlight>
            </a:endParaRPr>
          </a:p>
          <a:p>
            <a:r>
              <a:rPr lang="de-DE" sz="1200" b="0" dirty="0">
                <a:solidFill>
                  <a:srgbClr val="E0E2E4"/>
                </a:solidFill>
                <a:highlight>
                  <a:srgbClr val="293134"/>
                </a:highlight>
              </a:rPr>
              <a:t>        </a:t>
            </a:r>
          </a:p>
          <a:p>
            <a:pPr lvl="1"/>
            <a:r>
              <a:rPr lang="de-DE" sz="1200" b="1" dirty="0">
                <a:solidFill>
                  <a:srgbClr val="93C763"/>
                </a:solidFill>
                <a:highlight>
                  <a:srgbClr val="293134"/>
                </a:highlight>
              </a:rPr>
              <a:t>while</a:t>
            </a:r>
            <a:r>
              <a:rPr lang="de-DE" sz="1200" b="0" dirty="0">
                <a:solidFill>
                  <a:srgbClr val="E0E2E4"/>
                </a:solidFill>
                <a:highlight>
                  <a:srgbClr val="293134"/>
                </a:highlight>
              </a:rPr>
              <a:t> zaehler </a:t>
            </a:r>
            <a:r>
              <a:rPr lang="de-DE" sz="1200" b="0" dirty="0">
                <a:solidFill>
                  <a:srgbClr val="E8E2B7"/>
                </a:solidFill>
                <a:highlight>
                  <a:srgbClr val="293134"/>
                </a:highlight>
              </a:rPr>
              <a:t>&lt;</a:t>
            </a:r>
            <a:r>
              <a:rPr lang="de-DE" sz="1200" b="0" dirty="0">
                <a:solidFill>
                  <a:srgbClr val="E0E2E4"/>
                </a:solidFill>
                <a:highlight>
                  <a:srgbClr val="293134"/>
                </a:highlight>
              </a:rPr>
              <a:t> maxwert </a:t>
            </a:r>
            <a:r>
              <a:rPr lang="de-DE" sz="1200" b="1" dirty="0">
                <a:solidFill>
                  <a:srgbClr val="93C763"/>
                </a:solidFill>
                <a:highlight>
                  <a:srgbClr val="293134"/>
                </a:highlight>
              </a:rPr>
              <a:t>do</a:t>
            </a:r>
            <a:endParaRPr lang="de-DE" sz="1200" b="0" dirty="0">
              <a:solidFill>
                <a:srgbClr val="E0E2E4"/>
              </a:solidFill>
              <a:highlight>
                <a:srgbClr val="293134"/>
              </a:highlight>
            </a:endParaRPr>
          </a:p>
          <a:p>
            <a:pPr lvl="2"/>
            <a:r>
              <a:rPr lang="en-US" sz="1200" b="1" dirty="0">
                <a:solidFill>
                  <a:srgbClr val="93C763"/>
                </a:solidFill>
                <a:highlight>
                  <a:srgbClr val="293134"/>
                </a:highlight>
              </a:rPr>
              <a:t>SET</a:t>
            </a:r>
            <a:r>
              <a:rPr lang="en-US" sz="1200" b="0" dirty="0">
                <a:solidFill>
                  <a:srgbClr val="E0E2E4"/>
                </a:solidFill>
                <a:highlight>
                  <a:srgbClr val="293134"/>
                </a:highlight>
              </a:rPr>
              <a:t> geld </a:t>
            </a:r>
            <a:r>
              <a:rPr lang="en-US" sz="1200" b="0" dirty="0">
                <a:solidFill>
                  <a:srgbClr val="E8E2B7"/>
                </a:solidFill>
                <a:highlight>
                  <a:srgbClr val="293134"/>
                </a:highlight>
              </a:rPr>
              <a:t>=</a:t>
            </a:r>
            <a:r>
              <a:rPr lang="en-US" sz="1200" b="0" dirty="0">
                <a:solidFill>
                  <a:srgbClr val="E0E2E4"/>
                </a:solidFill>
                <a:highlight>
                  <a:srgbClr val="293134"/>
                </a:highlight>
              </a:rPr>
              <a:t> </a:t>
            </a:r>
            <a:r>
              <a:rPr lang="en-US" sz="1200" b="0" dirty="0">
                <a:solidFill>
                  <a:srgbClr val="E8E2B7"/>
                </a:solidFill>
                <a:highlight>
                  <a:srgbClr val="293134"/>
                </a:highlight>
              </a:rPr>
              <a:t>(</a:t>
            </a:r>
            <a:r>
              <a:rPr lang="en-US" sz="1200" b="1" dirty="0">
                <a:solidFill>
                  <a:srgbClr val="93C763"/>
                </a:solidFill>
                <a:highlight>
                  <a:srgbClr val="293134"/>
                </a:highlight>
              </a:rPr>
              <a:t>SELECT</a:t>
            </a:r>
            <a:r>
              <a:rPr lang="en-US" sz="1200" b="0" dirty="0">
                <a:solidFill>
                  <a:srgbClr val="E0E2E4"/>
                </a:solidFill>
                <a:highlight>
                  <a:srgbClr val="293134"/>
                </a:highlight>
              </a:rPr>
              <a:t> </a:t>
            </a:r>
            <a:r>
              <a:rPr lang="en-US" sz="1200" b="1" dirty="0">
                <a:solidFill>
                  <a:srgbClr val="93C763"/>
                </a:solidFill>
                <a:highlight>
                  <a:srgbClr val="293134"/>
                </a:highlight>
              </a:rPr>
              <a:t>FLOOR</a:t>
            </a:r>
            <a:r>
              <a:rPr lang="en-US" sz="1200" b="0" dirty="0">
                <a:solidFill>
                  <a:srgbClr val="E8E2B7"/>
                </a:solidFill>
                <a:highlight>
                  <a:srgbClr val="293134"/>
                </a:highlight>
              </a:rPr>
              <a:t>(</a:t>
            </a:r>
            <a:r>
              <a:rPr lang="en-US" sz="1200" b="1" dirty="0">
                <a:solidFill>
                  <a:srgbClr val="93C763"/>
                </a:solidFill>
                <a:highlight>
                  <a:srgbClr val="293134"/>
                </a:highlight>
              </a:rPr>
              <a:t>RAND</a:t>
            </a:r>
            <a:r>
              <a:rPr lang="en-US" sz="1200" b="0" dirty="0">
                <a:solidFill>
                  <a:srgbClr val="E8E2B7"/>
                </a:solidFill>
                <a:highlight>
                  <a:srgbClr val="293134"/>
                </a:highlight>
              </a:rPr>
              <a:t>()*(</a:t>
            </a:r>
            <a:r>
              <a:rPr lang="en-US" sz="1200" b="0" dirty="0">
                <a:solidFill>
                  <a:srgbClr val="FFCD22"/>
                </a:solidFill>
                <a:highlight>
                  <a:srgbClr val="293134"/>
                </a:highlight>
              </a:rPr>
              <a:t>80000</a:t>
            </a:r>
            <a:r>
              <a:rPr lang="en-US" sz="1200" b="0" dirty="0">
                <a:solidFill>
                  <a:srgbClr val="E8E2B7"/>
                </a:solidFill>
                <a:highlight>
                  <a:srgbClr val="293134"/>
                </a:highlight>
              </a:rPr>
              <a:t>-</a:t>
            </a:r>
            <a:r>
              <a:rPr lang="en-US" sz="1200" b="0" dirty="0">
                <a:solidFill>
                  <a:srgbClr val="FFCD22"/>
                </a:solidFill>
                <a:highlight>
                  <a:srgbClr val="293134"/>
                </a:highlight>
              </a:rPr>
              <a:t>1</a:t>
            </a:r>
            <a:r>
              <a:rPr lang="en-US" sz="1200" b="0" dirty="0">
                <a:solidFill>
                  <a:srgbClr val="E8E2B7"/>
                </a:solidFill>
                <a:highlight>
                  <a:srgbClr val="293134"/>
                </a:highlight>
              </a:rPr>
              <a:t>+</a:t>
            </a:r>
            <a:r>
              <a:rPr lang="en-US" sz="1200" b="0" dirty="0">
                <a:solidFill>
                  <a:srgbClr val="FFCD22"/>
                </a:solidFill>
                <a:highlight>
                  <a:srgbClr val="293134"/>
                </a:highlight>
              </a:rPr>
              <a:t>1</a:t>
            </a:r>
            <a:r>
              <a:rPr lang="en-US" sz="1200" b="0" dirty="0">
                <a:solidFill>
                  <a:srgbClr val="E8E2B7"/>
                </a:solidFill>
                <a:highlight>
                  <a:srgbClr val="293134"/>
                </a:highlight>
              </a:rPr>
              <a:t>)</a:t>
            </a:r>
            <a:r>
              <a:rPr lang="en-US" sz="1200" b="0" dirty="0">
                <a:solidFill>
                  <a:srgbClr val="FFCD22"/>
                </a:solidFill>
                <a:highlight>
                  <a:srgbClr val="293134"/>
                </a:highlight>
              </a:rPr>
              <a:t>+1</a:t>
            </a:r>
            <a:r>
              <a:rPr lang="en-US" sz="1200" b="0" dirty="0">
                <a:solidFill>
                  <a:srgbClr val="E8E2B7"/>
                </a:solidFill>
                <a:highlight>
                  <a:srgbClr val="293134"/>
                </a:highlight>
              </a:rPr>
              <a:t>));</a:t>
            </a:r>
            <a:endParaRPr lang="en-US" sz="1200" b="0" dirty="0">
              <a:solidFill>
                <a:srgbClr val="E0E2E4"/>
              </a:solidFill>
              <a:highlight>
                <a:srgbClr val="293134"/>
              </a:highlight>
            </a:endParaRPr>
          </a:p>
          <a:p>
            <a:pPr lvl="2"/>
            <a:r>
              <a:rPr lang="en-US" sz="1200" b="1" dirty="0">
                <a:solidFill>
                  <a:srgbClr val="93C763"/>
                </a:solidFill>
                <a:highlight>
                  <a:srgbClr val="293134"/>
                </a:highlight>
              </a:rPr>
              <a:t>SET</a:t>
            </a:r>
            <a:r>
              <a:rPr lang="en-US" sz="1200" b="0" dirty="0">
                <a:solidFill>
                  <a:srgbClr val="E0E2E4"/>
                </a:solidFill>
                <a:highlight>
                  <a:srgbClr val="293134"/>
                </a:highlight>
              </a:rPr>
              <a:t> zufall </a:t>
            </a:r>
            <a:r>
              <a:rPr lang="en-US" sz="1200" b="0" dirty="0">
                <a:solidFill>
                  <a:srgbClr val="E8E2B7"/>
                </a:solidFill>
                <a:highlight>
                  <a:srgbClr val="293134"/>
                </a:highlight>
              </a:rPr>
              <a:t>=</a:t>
            </a:r>
            <a:r>
              <a:rPr lang="en-US" sz="1200" b="0" dirty="0">
                <a:solidFill>
                  <a:srgbClr val="E0E2E4"/>
                </a:solidFill>
                <a:highlight>
                  <a:srgbClr val="293134"/>
                </a:highlight>
              </a:rPr>
              <a:t> </a:t>
            </a:r>
            <a:r>
              <a:rPr lang="en-US" sz="1200" b="0" dirty="0">
                <a:solidFill>
                  <a:srgbClr val="E8E2B7"/>
                </a:solidFill>
                <a:highlight>
                  <a:srgbClr val="293134"/>
                </a:highlight>
              </a:rPr>
              <a:t>(</a:t>
            </a:r>
            <a:r>
              <a:rPr lang="en-US" sz="1200" b="1" dirty="0">
                <a:solidFill>
                  <a:srgbClr val="93C763"/>
                </a:solidFill>
                <a:highlight>
                  <a:srgbClr val="293134"/>
                </a:highlight>
              </a:rPr>
              <a:t>SELECT</a:t>
            </a:r>
            <a:r>
              <a:rPr lang="en-US" sz="1200" b="0" dirty="0">
                <a:solidFill>
                  <a:srgbClr val="E0E2E4"/>
                </a:solidFill>
                <a:highlight>
                  <a:srgbClr val="293134"/>
                </a:highlight>
              </a:rPr>
              <a:t> </a:t>
            </a:r>
            <a:r>
              <a:rPr lang="en-US" sz="1200" b="1" dirty="0">
                <a:solidFill>
                  <a:srgbClr val="93C763"/>
                </a:solidFill>
                <a:highlight>
                  <a:srgbClr val="293134"/>
                </a:highlight>
              </a:rPr>
              <a:t>FLOOR</a:t>
            </a:r>
            <a:r>
              <a:rPr lang="en-US" sz="1200" b="0" dirty="0">
                <a:solidFill>
                  <a:srgbClr val="E8E2B7"/>
                </a:solidFill>
                <a:highlight>
                  <a:srgbClr val="293134"/>
                </a:highlight>
              </a:rPr>
              <a:t>(</a:t>
            </a:r>
            <a:r>
              <a:rPr lang="en-US" sz="1200" b="1" dirty="0">
                <a:solidFill>
                  <a:srgbClr val="93C763"/>
                </a:solidFill>
                <a:highlight>
                  <a:srgbClr val="293134"/>
                </a:highlight>
              </a:rPr>
              <a:t>RAND</a:t>
            </a:r>
            <a:r>
              <a:rPr lang="en-US" sz="1200" b="0" dirty="0">
                <a:solidFill>
                  <a:srgbClr val="E8E2B7"/>
                </a:solidFill>
                <a:highlight>
                  <a:srgbClr val="293134"/>
                </a:highlight>
              </a:rPr>
              <a:t>()*(</a:t>
            </a:r>
            <a:r>
              <a:rPr lang="en-US" sz="1200" b="0" dirty="0">
                <a:solidFill>
                  <a:srgbClr val="E0E2E4"/>
                </a:solidFill>
                <a:highlight>
                  <a:srgbClr val="293134"/>
                </a:highlight>
              </a:rPr>
              <a:t>  </a:t>
            </a:r>
            <a:r>
              <a:rPr lang="en-US" sz="1200" b="0" dirty="0">
                <a:solidFill>
                  <a:srgbClr val="FFCD22"/>
                </a:solidFill>
                <a:highlight>
                  <a:srgbClr val="293134"/>
                </a:highlight>
              </a:rPr>
              <a:t>100</a:t>
            </a:r>
            <a:r>
              <a:rPr lang="en-US" sz="1200" b="0" dirty="0">
                <a:solidFill>
                  <a:srgbClr val="E8E2B7"/>
                </a:solidFill>
                <a:highlight>
                  <a:srgbClr val="293134"/>
                </a:highlight>
              </a:rPr>
              <a:t>-</a:t>
            </a:r>
            <a:r>
              <a:rPr lang="en-US" sz="1200" b="0" dirty="0">
                <a:solidFill>
                  <a:srgbClr val="FFCD22"/>
                </a:solidFill>
                <a:highlight>
                  <a:srgbClr val="293134"/>
                </a:highlight>
              </a:rPr>
              <a:t>1</a:t>
            </a:r>
            <a:r>
              <a:rPr lang="en-US" sz="1200" b="0" dirty="0">
                <a:solidFill>
                  <a:srgbClr val="E8E2B7"/>
                </a:solidFill>
                <a:highlight>
                  <a:srgbClr val="293134"/>
                </a:highlight>
              </a:rPr>
              <a:t>+</a:t>
            </a:r>
            <a:r>
              <a:rPr lang="en-US" sz="1200" b="0" dirty="0">
                <a:solidFill>
                  <a:srgbClr val="FFCD22"/>
                </a:solidFill>
                <a:highlight>
                  <a:srgbClr val="293134"/>
                </a:highlight>
              </a:rPr>
              <a:t>1</a:t>
            </a:r>
            <a:r>
              <a:rPr lang="en-US" sz="1200" b="0" dirty="0">
                <a:solidFill>
                  <a:srgbClr val="E8E2B7"/>
                </a:solidFill>
                <a:highlight>
                  <a:srgbClr val="293134"/>
                </a:highlight>
              </a:rPr>
              <a:t>)</a:t>
            </a:r>
            <a:r>
              <a:rPr lang="en-US" sz="1200" b="0" dirty="0">
                <a:solidFill>
                  <a:srgbClr val="FFCD22"/>
                </a:solidFill>
                <a:highlight>
                  <a:srgbClr val="293134"/>
                </a:highlight>
              </a:rPr>
              <a:t>+1</a:t>
            </a:r>
            <a:r>
              <a:rPr lang="en-US" sz="1200" b="0" dirty="0">
                <a:solidFill>
                  <a:srgbClr val="E8E2B7"/>
                </a:solidFill>
                <a:highlight>
                  <a:srgbClr val="293134"/>
                </a:highlight>
              </a:rPr>
              <a:t>));</a:t>
            </a:r>
            <a:endParaRPr lang="en-US" sz="1200" b="0" dirty="0">
              <a:solidFill>
                <a:srgbClr val="E0E2E4"/>
              </a:solidFill>
              <a:highlight>
                <a:srgbClr val="293134"/>
              </a:highlight>
            </a:endParaRPr>
          </a:p>
          <a:p>
            <a:pPr lvl="2"/>
            <a:r>
              <a:rPr lang="de-DE" sz="1200" b="1" dirty="0">
                <a:solidFill>
                  <a:srgbClr val="93C763"/>
                </a:solidFill>
                <a:highlight>
                  <a:srgbClr val="293134"/>
                </a:highlight>
              </a:rPr>
              <a:t>SET</a:t>
            </a:r>
            <a:r>
              <a:rPr lang="de-DE" sz="1200" b="0" dirty="0">
                <a:solidFill>
                  <a:srgbClr val="E0E2E4"/>
                </a:solidFill>
                <a:highlight>
                  <a:srgbClr val="293134"/>
                </a:highlight>
              </a:rPr>
              <a:t> vor </a:t>
            </a:r>
            <a:r>
              <a:rPr lang="de-DE" sz="1200" b="0" dirty="0">
                <a:solidFill>
                  <a:srgbClr val="E8E2B7"/>
                </a:solidFill>
                <a:highlight>
                  <a:srgbClr val="293134"/>
                </a:highlight>
              </a:rPr>
              <a:t>=</a:t>
            </a:r>
            <a:r>
              <a:rPr lang="de-DE" sz="1200" b="0" dirty="0">
                <a:solidFill>
                  <a:srgbClr val="E0E2E4"/>
                </a:solidFill>
                <a:highlight>
                  <a:srgbClr val="293134"/>
                </a:highlight>
              </a:rPr>
              <a:t> </a:t>
            </a:r>
            <a:r>
              <a:rPr lang="de-DE" sz="1200" b="0" dirty="0">
                <a:solidFill>
                  <a:srgbClr val="E8E2B7"/>
                </a:solidFill>
                <a:highlight>
                  <a:srgbClr val="293134"/>
                </a:highlight>
              </a:rPr>
              <a:t>(</a:t>
            </a:r>
            <a:r>
              <a:rPr lang="de-DE" sz="1200" b="1" dirty="0">
                <a:solidFill>
                  <a:srgbClr val="93C763"/>
                </a:solidFill>
                <a:highlight>
                  <a:srgbClr val="293134"/>
                </a:highlight>
              </a:rPr>
              <a:t>SELECT</a:t>
            </a:r>
            <a:r>
              <a:rPr lang="de-DE" sz="1200" b="0" dirty="0">
                <a:solidFill>
                  <a:srgbClr val="E0E2E4"/>
                </a:solidFill>
                <a:highlight>
                  <a:srgbClr val="293134"/>
                </a:highlight>
              </a:rPr>
              <a:t> namen</a:t>
            </a:r>
            <a:r>
              <a:rPr lang="de-DE" sz="1200" b="0" dirty="0">
                <a:solidFill>
                  <a:srgbClr val="E8E2B7"/>
                </a:solidFill>
                <a:highlight>
                  <a:srgbClr val="293134"/>
                </a:highlight>
              </a:rPr>
              <a:t>.</a:t>
            </a:r>
            <a:r>
              <a:rPr lang="de-DE" sz="1200" b="0" dirty="0">
                <a:solidFill>
                  <a:srgbClr val="E0E2E4"/>
                </a:solidFill>
                <a:highlight>
                  <a:srgbClr val="293134"/>
                </a:highlight>
              </a:rPr>
              <a:t>Vorname1 </a:t>
            </a:r>
            <a:r>
              <a:rPr lang="de-DE" sz="1200" b="1" dirty="0">
                <a:solidFill>
                  <a:srgbClr val="93C763"/>
                </a:solidFill>
                <a:highlight>
                  <a:srgbClr val="293134"/>
                </a:highlight>
              </a:rPr>
              <a:t>FROM</a:t>
            </a:r>
            <a:r>
              <a:rPr lang="de-DE" sz="1200" b="0" dirty="0">
                <a:solidFill>
                  <a:srgbClr val="E0E2E4"/>
                </a:solidFill>
                <a:highlight>
                  <a:srgbClr val="293134"/>
                </a:highlight>
              </a:rPr>
              <a:t> namen </a:t>
            </a:r>
            <a:r>
              <a:rPr lang="de-DE" sz="1200" b="1" dirty="0">
                <a:solidFill>
                  <a:srgbClr val="93C763"/>
                </a:solidFill>
                <a:highlight>
                  <a:srgbClr val="293134"/>
                </a:highlight>
              </a:rPr>
              <a:t>WHERE</a:t>
            </a:r>
            <a:r>
              <a:rPr lang="de-DE" sz="1200" b="0" dirty="0">
                <a:solidFill>
                  <a:srgbClr val="E0E2E4"/>
                </a:solidFill>
                <a:highlight>
                  <a:srgbClr val="293134"/>
                </a:highlight>
              </a:rPr>
              <a:t> namen</a:t>
            </a:r>
            <a:r>
              <a:rPr lang="de-DE" sz="1200" b="0" dirty="0">
                <a:solidFill>
                  <a:srgbClr val="E8E2B7"/>
                </a:solidFill>
                <a:highlight>
                  <a:srgbClr val="293134"/>
                </a:highlight>
              </a:rPr>
              <a:t>.</a:t>
            </a:r>
            <a:r>
              <a:rPr lang="de-DE" sz="1200" b="0" dirty="0">
                <a:solidFill>
                  <a:srgbClr val="E0E2E4"/>
                </a:solidFill>
                <a:highlight>
                  <a:srgbClr val="293134"/>
                </a:highlight>
              </a:rPr>
              <a:t>ID </a:t>
            </a:r>
            <a:r>
              <a:rPr lang="de-DE" sz="1200" b="0" dirty="0">
                <a:solidFill>
                  <a:srgbClr val="E8E2B7"/>
                </a:solidFill>
                <a:highlight>
                  <a:srgbClr val="293134"/>
                </a:highlight>
              </a:rPr>
              <a:t>=</a:t>
            </a:r>
            <a:r>
              <a:rPr lang="de-DE" sz="1200" b="0" dirty="0">
                <a:solidFill>
                  <a:srgbClr val="E0E2E4"/>
                </a:solidFill>
                <a:highlight>
                  <a:srgbClr val="293134"/>
                </a:highlight>
              </a:rPr>
              <a:t> zufall</a:t>
            </a:r>
            <a:r>
              <a:rPr lang="de-DE" sz="1200" b="0" dirty="0">
                <a:solidFill>
                  <a:srgbClr val="E8E2B7"/>
                </a:solidFill>
                <a:highlight>
                  <a:srgbClr val="293134"/>
                </a:highlight>
              </a:rPr>
              <a:t>);</a:t>
            </a:r>
            <a:endParaRPr lang="de-DE" sz="1200" b="0" dirty="0">
              <a:solidFill>
                <a:srgbClr val="E0E2E4"/>
              </a:solidFill>
              <a:highlight>
                <a:srgbClr val="293134"/>
              </a:highlight>
            </a:endParaRPr>
          </a:p>
          <a:p>
            <a:pPr lvl="2"/>
            <a:r>
              <a:rPr lang="en-US" sz="1200" b="1" dirty="0">
                <a:solidFill>
                  <a:srgbClr val="93C763"/>
                </a:solidFill>
                <a:highlight>
                  <a:srgbClr val="293134"/>
                </a:highlight>
              </a:rPr>
              <a:t>SET</a:t>
            </a:r>
            <a:r>
              <a:rPr lang="en-US" sz="1200" b="0" dirty="0">
                <a:solidFill>
                  <a:srgbClr val="E0E2E4"/>
                </a:solidFill>
                <a:highlight>
                  <a:srgbClr val="293134"/>
                </a:highlight>
              </a:rPr>
              <a:t> zufall </a:t>
            </a:r>
            <a:r>
              <a:rPr lang="en-US" sz="1200" b="0" dirty="0">
                <a:solidFill>
                  <a:srgbClr val="E8E2B7"/>
                </a:solidFill>
                <a:highlight>
                  <a:srgbClr val="293134"/>
                </a:highlight>
              </a:rPr>
              <a:t>=</a:t>
            </a:r>
            <a:r>
              <a:rPr lang="en-US" sz="1200" b="0" dirty="0">
                <a:solidFill>
                  <a:srgbClr val="E0E2E4"/>
                </a:solidFill>
                <a:highlight>
                  <a:srgbClr val="293134"/>
                </a:highlight>
              </a:rPr>
              <a:t> </a:t>
            </a:r>
            <a:r>
              <a:rPr lang="en-US" sz="1200" b="0" dirty="0">
                <a:solidFill>
                  <a:srgbClr val="E8E2B7"/>
                </a:solidFill>
                <a:highlight>
                  <a:srgbClr val="293134"/>
                </a:highlight>
              </a:rPr>
              <a:t>(</a:t>
            </a:r>
            <a:r>
              <a:rPr lang="en-US" sz="1200" b="1" dirty="0">
                <a:solidFill>
                  <a:srgbClr val="93C763"/>
                </a:solidFill>
                <a:highlight>
                  <a:srgbClr val="293134"/>
                </a:highlight>
              </a:rPr>
              <a:t>SELECT</a:t>
            </a:r>
            <a:r>
              <a:rPr lang="en-US" sz="1200" b="0" dirty="0">
                <a:solidFill>
                  <a:srgbClr val="E0E2E4"/>
                </a:solidFill>
                <a:highlight>
                  <a:srgbClr val="293134"/>
                </a:highlight>
              </a:rPr>
              <a:t> </a:t>
            </a:r>
            <a:r>
              <a:rPr lang="en-US" sz="1200" b="1" dirty="0">
                <a:solidFill>
                  <a:srgbClr val="93C763"/>
                </a:solidFill>
                <a:highlight>
                  <a:srgbClr val="293134"/>
                </a:highlight>
              </a:rPr>
              <a:t>FLOOR</a:t>
            </a:r>
            <a:r>
              <a:rPr lang="en-US" sz="1200" b="0" dirty="0">
                <a:solidFill>
                  <a:srgbClr val="E8E2B7"/>
                </a:solidFill>
                <a:highlight>
                  <a:srgbClr val="293134"/>
                </a:highlight>
              </a:rPr>
              <a:t>(</a:t>
            </a:r>
            <a:r>
              <a:rPr lang="en-US" sz="1200" b="1" dirty="0">
                <a:solidFill>
                  <a:srgbClr val="93C763"/>
                </a:solidFill>
                <a:highlight>
                  <a:srgbClr val="293134"/>
                </a:highlight>
              </a:rPr>
              <a:t>RAND</a:t>
            </a:r>
            <a:r>
              <a:rPr lang="en-US" sz="1200" b="0" dirty="0">
                <a:solidFill>
                  <a:srgbClr val="E8E2B7"/>
                </a:solidFill>
                <a:highlight>
                  <a:srgbClr val="293134"/>
                </a:highlight>
              </a:rPr>
              <a:t>()*(</a:t>
            </a:r>
            <a:r>
              <a:rPr lang="en-US" sz="1200" b="0" dirty="0">
                <a:solidFill>
                  <a:srgbClr val="E0E2E4"/>
                </a:solidFill>
                <a:highlight>
                  <a:srgbClr val="293134"/>
                </a:highlight>
              </a:rPr>
              <a:t>  </a:t>
            </a:r>
            <a:r>
              <a:rPr lang="en-US" sz="1200" b="0" dirty="0">
                <a:solidFill>
                  <a:srgbClr val="FFCD22"/>
                </a:solidFill>
                <a:highlight>
                  <a:srgbClr val="293134"/>
                </a:highlight>
              </a:rPr>
              <a:t>100</a:t>
            </a:r>
            <a:r>
              <a:rPr lang="en-US" sz="1200" b="0" dirty="0">
                <a:solidFill>
                  <a:srgbClr val="E8E2B7"/>
                </a:solidFill>
                <a:highlight>
                  <a:srgbClr val="293134"/>
                </a:highlight>
              </a:rPr>
              <a:t>-</a:t>
            </a:r>
            <a:r>
              <a:rPr lang="en-US" sz="1200" b="0" dirty="0">
                <a:solidFill>
                  <a:srgbClr val="FFCD22"/>
                </a:solidFill>
                <a:highlight>
                  <a:srgbClr val="293134"/>
                </a:highlight>
              </a:rPr>
              <a:t>1</a:t>
            </a:r>
            <a:r>
              <a:rPr lang="en-US" sz="1200" b="0" dirty="0">
                <a:solidFill>
                  <a:srgbClr val="E8E2B7"/>
                </a:solidFill>
                <a:highlight>
                  <a:srgbClr val="293134"/>
                </a:highlight>
              </a:rPr>
              <a:t>+</a:t>
            </a:r>
            <a:r>
              <a:rPr lang="en-US" sz="1200" b="0" dirty="0">
                <a:solidFill>
                  <a:srgbClr val="FFCD22"/>
                </a:solidFill>
                <a:highlight>
                  <a:srgbClr val="293134"/>
                </a:highlight>
              </a:rPr>
              <a:t>1</a:t>
            </a:r>
            <a:r>
              <a:rPr lang="en-US" sz="1200" b="0" dirty="0">
                <a:solidFill>
                  <a:srgbClr val="E8E2B7"/>
                </a:solidFill>
                <a:highlight>
                  <a:srgbClr val="293134"/>
                </a:highlight>
              </a:rPr>
              <a:t>)</a:t>
            </a:r>
            <a:r>
              <a:rPr lang="en-US" sz="1200" b="0" dirty="0">
                <a:solidFill>
                  <a:srgbClr val="FFCD22"/>
                </a:solidFill>
                <a:highlight>
                  <a:srgbClr val="293134"/>
                </a:highlight>
              </a:rPr>
              <a:t>+1</a:t>
            </a:r>
            <a:r>
              <a:rPr lang="en-US" sz="1200" b="0" dirty="0">
                <a:solidFill>
                  <a:srgbClr val="E8E2B7"/>
                </a:solidFill>
                <a:highlight>
                  <a:srgbClr val="293134"/>
                </a:highlight>
              </a:rPr>
              <a:t>));</a:t>
            </a:r>
            <a:endParaRPr lang="en-US" sz="1200" b="0" dirty="0">
              <a:solidFill>
                <a:srgbClr val="E0E2E4"/>
              </a:solidFill>
              <a:highlight>
                <a:srgbClr val="293134"/>
              </a:highlight>
            </a:endParaRPr>
          </a:p>
          <a:p>
            <a:pPr lvl="2"/>
            <a:r>
              <a:rPr lang="de-DE" sz="1200" b="1" dirty="0">
                <a:solidFill>
                  <a:srgbClr val="93C763"/>
                </a:solidFill>
                <a:highlight>
                  <a:srgbClr val="293134"/>
                </a:highlight>
              </a:rPr>
              <a:t>SET</a:t>
            </a:r>
            <a:r>
              <a:rPr lang="de-DE" sz="1200" b="0" dirty="0">
                <a:solidFill>
                  <a:srgbClr val="E0E2E4"/>
                </a:solidFill>
                <a:highlight>
                  <a:srgbClr val="293134"/>
                </a:highlight>
              </a:rPr>
              <a:t> nach </a:t>
            </a:r>
            <a:r>
              <a:rPr lang="de-DE" sz="1200" b="0" dirty="0">
                <a:solidFill>
                  <a:srgbClr val="E8E2B7"/>
                </a:solidFill>
                <a:highlight>
                  <a:srgbClr val="293134"/>
                </a:highlight>
              </a:rPr>
              <a:t>=</a:t>
            </a:r>
            <a:r>
              <a:rPr lang="de-DE" sz="1200" b="0" dirty="0">
                <a:solidFill>
                  <a:srgbClr val="E0E2E4"/>
                </a:solidFill>
                <a:highlight>
                  <a:srgbClr val="293134"/>
                </a:highlight>
              </a:rPr>
              <a:t> </a:t>
            </a:r>
            <a:r>
              <a:rPr lang="de-DE" sz="1200" b="0" dirty="0">
                <a:solidFill>
                  <a:srgbClr val="E8E2B7"/>
                </a:solidFill>
                <a:highlight>
                  <a:srgbClr val="293134"/>
                </a:highlight>
              </a:rPr>
              <a:t>(</a:t>
            </a:r>
            <a:r>
              <a:rPr lang="de-DE" sz="1200" b="1" dirty="0">
                <a:solidFill>
                  <a:srgbClr val="93C763"/>
                </a:solidFill>
                <a:highlight>
                  <a:srgbClr val="293134"/>
                </a:highlight>
              </a:rPr>
              <a:t>SELECT</a:t>
            </a:r>
            <a:r>
              <a:rPr lang="de-DE" sz="1200" b="0" dirty="0">
                <a:solidFill>
                  <a:srgbClr val="E0E2E4"/>
                </a:solidFill>
                <a:highlight>
                  <a:srgbClr val="293134"/>
                </a:highlight>
              </a:rPr>
              <a:t> namen</a:t>
            </a:r>
            <a:r>
              <a:rPr lang="de-DE" sz="1200" b="0" dirty="0">
                <a:solidFill>
                  <a:srgbClr val="E8E2B7"/>
                </a:solidFill>
                <a:highlight>
                  <a:srgbClr val="293134"/>
                </a:highlight>
              </a:rPr>
              <a:t>.</a:t>
            </a:r>
            <a:r>
              <a:rPr lang="de-DE" sz="1200" b="0" dirty="0">
                <a:solidFill>
                  <a:srgbClr val="E0E2E4"/>
                </a:solidFill>
                <a:highlight>
                  <a:srgbClr val="293134"/>
                </a:highlight>
              </a:rPr>
              <a:t>Nachname </a:t>
            </a:r>
            <a:r>
              <a:rPr lang="de-DE" sz="1200" b="1" dirty="0">
                <a:solidFill>
                  <a:srgbClr val="93C763"/>
                </a:solidFill>
                <a:highlight>
                  <a:srgbClr val="293134"/>
                </a:highlight>
              </a:rPr>
              <a:t>FROM</a:t>
            </a:r>
            <a:r>
              <a:rPr lang="de-DE" sz="1200" b="0" dirty="0">
                <a:solidFill>
                  <a:srgbClr val="E0E2E4"/>
                </a:solidFill>
                <a:highlight>
                  <a:srgbClr val="293134"/>
                </a:highlight>
              </a:rPr>
              <a:t> namen </a:t>
            </a:r>
            <a:r>
              <a:rPr lang="de-DE" sz="1200" b="1" dirty="0">
                <a:solidFill>
                  <a:srgbClr val="93C763"/>
                </a:solidFill>
                <a:highlight>
                  <a:srgbClr val="293134"/>
                </a:highlight>
              </a:rPr>
              <a:t>WHERE</a:t>
            </a:r>
            <a:r>
              <a:rPr lang="de-DE" sz="1200" b="0" dirty="0">
                <a:solidFill>
                  <a:srgbClr val="E0E2E4"/>
                </a:solidFill>
                <a:highlight>
                  <a:srgbClr val="293134"/>
                </a:highlight>
              </a:rPr>
              <a:t> namen</a:t>
            </a:r>
            <a:r>
              <a:rPr lang="de-DE" sz="1200" b="0" dirty="0">
                <a:solidFill>
                  <a:srgbClr val="E8E2B7"/>
                </a:solidFill>
                <a:highlight>
                  <a:srgbClr val="293134"/>
                </a:highlight>
              </a:rPr>
              <a:t>.</a:t>
            </a:r>
            <a:r>
              <a:rPr lang="de-DE" sz="1200" b="0" dirty="0">
                <a:solidFill>
                  <a:srgbClr val="E0E2E4"/>
                </a:solidFill>
                <a:highlight>
                  <a:srgbClr val="293134"/>
                </a:highlight>
              </a:rPr>
              <a:t>ID </a:t>
            </a:r>
            <a:r>
              <a:rPr lang="de-DE" sz="1200" b="0" dirty="0">
                <a:solidFill>
                  <a:srgbClr val="E8E2B7"/>
                </a:solidFill>
                <a:highlight>
                  <a:srgbClr val="293134"/>
                </a:highlight>
              </a:rPr>
              <a:t>=</a:t>
            </a:r>
            <a:r>
              <a:rPr lang="de-DE" sz="1200" b="0" dirty="0">
                <a:solidFill>
                  <a:srgbClr val="E0E2E4"/>
                </a:solidFill>
                <a:highlight>
                  <a:srgbClr val="293134"/>
                </a:highlight>
              </a:rPr>
              <a:t> zufall</a:t>
            </a:r>
            <a:r>
              <a:rPr lang="de-DE" sz="1200" b="0" dirty="0">
                <a:solidFill>
                  <a:srgbClr val="E8E2B7"/>
                </a:solidFill>
                <a:highlight>
                  <a:srgbClr val="293134"/>
                </a:highlight>
              </a:rPr>
              <a:t>);</a:t>
            </a:r>
            <a:endParaRPr lang="de-DE" sz="1200" b="0" dirty="0">
              <a:solidFill>
                <a:srgbClr val="E0E2E4"/>
              </a:solidFill>
              <a:highlight>
                <a:srgbClr val="293134"/>
              </a:highlight>
            </a:endParaRPr>
          </a:p>
          <a:p>
            <a:pPr lvl="2"/>
            <a:r>
              <a:rPr lang="de-DE" sz="1200" b="1" dirty="0">
                <a:solidFill>
                  <a:srgbClr val="93C763"/>
                </a:solidFill>
                <a:highlight>
                  <a:srgbClr val="293134"/>
                </a:highlight>
              </a:rPr>
              <a:t>INSERT</a:t>
            </a:r>
            <a:r>
              <a:rPr lang="de-DE" sz="1200" b="0" dirty="0">
                <a:solidFill>
                  <a:srgbClr val="E0E2E4"/>
                </a:solidFill>
                <a:highlight>
                  <a:srgbClr val="293134"/>
                </a:highlight>
              </a:rPr>
              <a:t> </a:t>
            </a:r>
            <a:r>
              <a:rPr lang="de-DE" sz="1200" b="1" dirty="0">
                <a:solidFill>
                  <a:srgbClr val="93C763"/>
                </a:solidFill>
                <a:highlight>
                  <a:srgbClr val="293134"/>
                </a:highlight>
              </a:rPr>
              <a:t>INTO</a:t>
            </a:r>
            <a:r>
              <a:rPr lang="de-DE" sz="1200" b="0" dirty="0">
                <a:solidFill>
                  <a:srgbClr val="E0E2E4"/>
                </a:solidFill>
                <a:highlight>
                  <a:srgbClr val="293134"/>
                </a:highlight>
              </a:rPr>
              <a:t> testdaten </a:t>
            </a:r>
            <a:r>
              <a:rPr lang="de-DE" sz="1200" b="0" dirty="0">
                <a:solidFill>
                  <a:srgbClr val="E8E2B7"/>
                </a:solidFill>
                <a:highlight>
                  <a:srgbClr val="293134"/>
                </a:highlight>
              </a:rPr>
              <a:t>(</a:t>
            </a:r>
            <a:r>
              <a:rPr lang="de-DE" sz="1200" b="0" dirty="0">
                <a:solidFill>
                  <a:srgbClr val="E0E2E4"/>
                </a:solidFill>
                <a:highlight>
                  <a:srgbClr val="293134"/>
                </a:highlight>
              </a:rPr>
              <a:t>Vorname</a:t>
            </a:r>
            <a:r>
              <a:rPr lang="de-DE" sz="1200" b="0" dirty="0">
                <a:solidFill>
                  <a:srgbClr val="E8E2B7"/>
                </a:solidFill>
                <a:highlight>
                  <a:srgbClr val="293134"/>
                </a:highlight>
              </a:rPr>
              <a:t>,</a:t>
            </a:r>
            <a:r>
              <a:rPr lang="de-DE" sz="1200" b="0" dirty="0">
                <a:solidFill>
                  <a:srgbClr val="E0E2E4"/>
                </a:solidFill>
                <a:highlight>
                  <a:srgbClr val="293134"/>
                </a:highlight>
              </a:rPr>
              <a:t> Nachname</a:t>
            </a:r>
            <a:r>
              <a:rPr lang="de-DE" sz="1200" b="0" dirty="0">
                <a:solidFill>
                  <a:srgbClr val="E8E2B7"/>
                </a:solidFill>
                <a:highlight>
                  <a:srgbClr val="293134"/>
                </a:highlight>
              </a:rPr>
              <a:t>,</a:t>
            </a:r>
            <a:r>
              <a:rPr lang="de-DE" sz="1200" b="0" dirty="0">
                <a:solidFill>
                  <a:srgbClr val="E0E2E4"/>
                </a:solidFill>
                <a:highlight>
                  <a:srgbClr val="293134"/>
                </a:highlight>
              </a:rPr>
              <a:t> Kontostand</a:t>
            </a:r>
            <a:r>
              <a:rPr lang="de-DE" sz="1200" b="0" dirty="0">
                <a:solidFill>
                  <a:srgbClr val="E8E2B7"/>
                </a:solidFill>
                <a:highlight>
                  <a:srgbClr val="293134"/>
                </a:highlight>
              </a:rPr>
              <a:t>)</a:t>
            </a:r>
            <a:r>
              <a:rPr lang="de-DE" sz="1200" b="0" dirty="0">
                <a:solidFill>
                  <a:srgbClr val="E0E2E4"/>
                </a:solidFill>
                <a:highlight>
                  <a:srgbClr val="293134"/>
                </a:highlight>
              </a:rPr>
              <a:t> </a:t>
            </a:r>
            <a:r>
              <a:rPr lang="de-DE" sz="1200" b="1" dirty="0">
                <a:solidFill>
                  <a:srgbClr val="93C763"/>
                </a:solidFill>
                <a:highlight>
                  <a:srgbClr val="293134"/>
                </a:highlight>
              </a:rPr>
              <a:t>VALUES</a:t>
            </a:r>
            <a:r>
              <a:rPr lang="de-DE" sz="1200" b="0" dirty="0">
                <a:solidFill>
                  <a:srgbClr val="E8E2B7"/>
                </a:solidFill>
                <a:highlight>
                  <a:srgbClr val="293134"/>
                </a:highlight>
              </a:rPr>
              <a:t>(</a:t>
            </a:r>
            <a:r>
              <a:rPr lang="de-DE" sz="1200" b="0" dirty="0">
                <a:solidFill>
                  <a:srgbClr val="E0E2E4"/>
                </a:solidFill>
                <a:highlight>
                  <a:srgbClr val="293134"/>
                </a:highlight>
              </a:rPr>
              <a:t>vor</a:t>
            </a:r>
            <a:r>
              <a:rPr lang="de-DE" sz="1200" b="0" dirty="0">
                <a:solidFill>
                  <a:srgbClr val="E8E2B7"/>
                </a:solidFill>
                <a:highlight>
                  <a:srgbClr val="293134"/>
                </a:highlight>
              </a:rPr>
              <a:t>,</a:t>
            </a:r>
            <a:r>
              <a:rPr lang="de-DE" sz="1200" b="0" dirty="0">
                <a:solidFill>
                  <a:srgbClr val="E0E2E4"/>
                </a:solidFill>
                <a:highlight>
                  <a:srgbClr val="293134"/>
                </a:highlight>
              </a:rPr>
              <a:t> nach</a:t>
            </a:r>
            <a:r>
              <a:rPr lang="de-DE" sz="1200" b="0" dirty="0">
                <a:solidFill>
                  <a:srgbClr val="E8E2B7"/>
                </a:solidFill>
                <a:highlight>
                  <a:srgbClr val="293134"/>
                </a:highlight>
              </a:rPr>
              <a:t>,</a:t>
            </a:r>
            <a:r>
              <a:rPr lang="de-DE" sz="1200" b="0" dirty="0">
                <a:solidFill>
                  <a:srgbClr val="E0E2E4"/>
                </a:solidFill>
                <a:highlight>
                  <a:srgbClr val="293134"/>
                </a:highlight>
              </a:rPr>
              <a:t> geld</a:t>
            </a:r>
            <a:r>
              <a:rPr lang="de-DE" sz="1200" b="0" dirty="0">
                <a:solidFill>
                  <a:srgbClr val="E8E2B7"/>
                </a:solidFill>
                <a:highlight>
                  <a:srgbClr val="293134"/>
                </a:highlight>
              </a:rPr>
              <a:t>);</a:t>
            </a:r>
            <a:endParaRPr lang="de-DE" sz="1200" b="0" dirty="0">
              <a:solidFill>
                <a:srgbClr val="E0E2E4"/>
              </a:solidFill>
              <a:highlight>
                <a:srgbClr val="293134"/>
              </a:highlight>
            </a:endParaRPr>
          </a:p>
          <a:p>
            <a:pPr lvl="2"/>
            <a:r>
              <a:rPr lang="de-DE" sz="1200" b="1" dirty="0">
                <a:solidFill>
                  <a:srgbClr val="93C763"/>
                </a:solidFill>
                <a:highlight>
                  <a:srgbClr val="293134"/>
                </a:highlight>
              </a:rPr>
              <a:t>SET</a:t>
            </a:r>
            <a:r>
              <a:rPr lang="de-DE" sz="1200" b="0" dirty="0">
                <a:solidFill>
                  <a:srgbClr val="E0E2E4"/>
                </a:solidFill>
                <a:highlight>
                  <a:srgbClr val="293134"/>
                </a:highlight>
              </a:rPr>
              <a:t> zaehler </a:t>
            </a:r>
            <a:r>
              <a:rPr lang="de-DE" sz="1200" b="0" dirty="0">
                <a:solidFill>
                  <a:srgbClr val="E8E2B7"/>
                </a:solidFill>
                <a:highlight>
                  <a:srgbClr val="293134"/>
                </a:highlight>
              </a:rPr>
              <a:t>=</a:t>
            </a:r>
            <a:r>
              <a:rPr lang="de-DE" sz="1200" b="0" dirty="0">
                <a:solidFill>
                  <a:srgbClr val="E0E2E4"/>
                </a:solidFill>
                <a:highlight>
                  <a:srgbClr val="293134"/>
                </a:highlight>
              </a:rPr>
              <a:t> zaehler </a:t>
            </a:r>
            <a:r>
              <a:rPr lang="de-DE" sz="1200" b="0" dirty="0">
                <a:solidFill>
                  <a:srgbClr val="E8E2B7"/>
                </a:solidFill>
                <a:highlight>
                  <a:srgbClr val="293134"/>
                </a:highlight>
              </a:rPr>
              <a:t>+</a:t>
            </a:r>
            <a:r>
              <a:rPr lang="de-DE" sz="1200" b="0" dirty="0">
                <a:solidFill>
                  <a:srgbClr val="E0E2E4"/>
                </a:solidFill>
                <a:highlight>
                  <a:srgbClr val="293134"/>
                </a:highlight>
              </a:rPr>
              <a:t> </a:t>
            </a:r>
            <a:r>
              <a:rPr lang="de-DE" sz="1200" b="0" dirty="0">
                <a:solidFill>
                  <a:srgbClr val="FFCD22"/>
                </a:solidFill>
                <a:highlight>
                  <a:srgbClr val="293134"/>
                </a:highlight>
              </a:rPr>
              <a:t>1</a:t>
            </a:r>
            <a:r>
              <a:rPr lang="de-DE" sz="1200" b="0" dirty="0">
                <a:solidFill>
                  <a:srgbClr val="E8E2B7"/>
                </a:solidFill>
                <a:highlight>
                  <a:srgbClr val="293134"/>
                </a:highlight>
              </a:rPr>
              <a:t>;</a:t>
            </a:r>
            <a:endParaRPr lang="de-DE" sz="1200" b="0" dirty="0">
              <a:solidFill>
                <a:srgbClr val="E0E2E4"/>
              </a:solidFill>
              <a:highlight>
                <a:srgbClr val="293134"/>
              </a:highlight>
            </a:endParaRPr>
          </a:p>
          <a:p>
            <a:pPr lvl="1"/>
            <a:r>
              <a:rPr lang="de-DE" sz="1200" b="1" dirty="0">
                <a:solidFill>
                  <a:srgbClr val="93C763"/>
                </a:solidFill>
                <a:highlight>
                  <a:srgbClr val="293134"/>
                </a:highlight>
              </a:rPr>
              <a:t>end</a:t>
            </a:r>
            <a:r>
              <a:rPr lang="de-DE" sz="1200" b="0" dirty="0">
                <a:solidFill>
                  <a:srgbClr val="E0E2E4"/>
                </a:solidFill>
                <a:highlight>
                  <a:srgbClr val="293134"/>
                </a:highlight>
              </a:rPr>
              <a:t> </a:t>
            </a:r>
            <a:r>
              <a:rPr lang="de-DE" sz="1200" b="1" dirty="0">
                <a:solidFill>
                  <a:srgbClr val="93C763"/>
                </a:solidFill>
                <a:highlight>
                  <a:srgbClr val="293134"/>
                </a:highlight>
              </a:rPr>
              <a:t>while</a:t>
            </a:r>
            <a:r>
              <a:rPr lang="de-DE" sz="1200" b="0" dirty="0">
                <a:solidFill>
                  <a:srgbClr val="E8E2B7"/>
                </a:solidFill>
                <a:highlight>
                  <a:srgbClr val="293134"/>
                </a:highlight>
              </a:rPr>
              <a:t>;</a:t>
            </a:r>
            <a:endParaRPr lang="de-DE" sz="1200" b="0" dirty="0">
              <a:solidFill>
                <a:srgbClr val="E0E2E4"/>
              </a:solidFill>
              <a:highlight>
                <a:srgbClr val="293134"/>
              </a:highlight>
            </a:endParaRPr>
          </a:p>
          <a:p>
            <a:r>
              <a:rPr lang="de-DE" sz="1200" b="1" dirty="0">
                <a:solidFill>
                  <a:srgbClr val="93C763"/>
                </a:solidFill>
                <a:highlight>
                  <a:srgbClr val="293134"/>
                </a:highlight>
              </a:rPr>
              <a:t>END</a:t>
            </a:r>
            <a:r>
              <a:rPr lang="de-DE" sz="1200" b="0" dirty="0">
                <a:solidFill>
                  <a:srgbClr val="E0E2E4"/>
                </a:solidFill>
                <a:highlight>
                  <a:srgbClr val="293134"/>
                </a:highlight>
              </a:rPr>
              <a:t>$$</a:t>
            </a:r>
          </a:p>
          <a:p>
            <a:r>
              <a:rPr lang="de-DE" sz="1200" b="0" dirty="0">
                <a:solidFill>
                  <a:srgbClr val="E0E2E4"/>
                </a:solidFill>
                <a:highlight>
                  <a:srgbClr val="293134"/>
                </a:highlight>
              </a:rPr>
              <a:t>DELIMITER </a:t>
            </a:r>
            <a:r>
              <a:rPr lang="de-DE" sz="1200" b="0" dirty="0">
                <a:solidFill>
                  <a:srgbClr val="E8E2B7"/>
                </a:solidFill>
                <a:highlight>
                  <a:srgbClr val="293134"/>
                </a:highlight>
              </a:rPr>
              <a:t>;</a:t>
            </a:r>
            <a:endParaRPr lang="de-DE" sz="1200" b="0" dirty="0">
              <a:solidFill>
                <a:srgbClr val="E0E2E4"/>
              </a:solidFill>
              <a:highlight>
                <a:srgbClr val="293134"/>
              </a:highlight>
              <a:latin typeface="Source Sans Pro" panose="020B0503030403020204" pitchFamily="34" charset="0"/>
            </a:endParaRPr>
          </a:p>
        </p:txBody>
      </p:sp>
    </p:spTree>
    <p:extLst>
      <p:ext uri="{BB962C8B-B14F-4D97-AF65-F5344CB8AC3E}">
        <p14:creationId xmlns:p14="http://schemas.microsoft.com/office/powerpoint/2010/main" val="3762877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Syntax (Function)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7" name="Textfeld 6">
            <a:extLst>
              <a:ext uri="{FF2B5EF4-FFF2-40B4-BE49-F238E27FC236}">
                <a16:creationId xmlns:a16="http://schemas.microsoft.com/office/drawing/2014/main" id="{72846145-BC43-5309-8CC2-855F6B942620}"/>
              </a:ext>
            </a:extLst>
          </p:cNvPr>
          <p:cNvSpPr txBox="1"/>
          <p:nvPr/>
        </p:nvSpPr>
        <p:spPr>
          <a:xfrm>
            <a:off x="496810" y="1201710"/>
            <a:ext cx="7294033" cy="3970318"/>
          </a:xfrm>
          <a:prstGeom prst="rect">
            <a:avLst/>
          </a:prstGeom>
          <a:solidFill>
            <a:srgbClr val="2C3235"/>
          </a:solidFill>
        </p:spPr>
        <p:txBody>
          <a:bodyPr wrap="square">
            <a:spAutoFit/>
          </a:bodyPr>
          <a:lstStyle/>
          <a:p>
            <a:r>
              <a:rPr lang="de-DE" sz="1800" dirty="0">
                <a:solidFill>
                  <a:srgbClr val="E0E2E4"/>
                </a:solidFill>
                <a:highlight>
                  <a:srgbClr val="293134"/>
                </a:highlight>
              </a:rPr>
              <a:t>DELIMITER $$</a:t>
            </a:r>
          </a:p>
          <a:p>
            <a:r>
              <a:rPr lang="en-US" sz="1800" b="1" dirty="0">
                <a:solidFill>
                  <a:srgbClr val="93C763"/>
                </a:solidFill>
                <a:highlight>
                  <a:srgbClr val="293134"/>
                </a:highlight>
              </a:rPr>
              <a:t>CREATE</a:t>
            </a:r>
            <a:r>
              <a:rPr lang="en-US" sz="1800" b="0" dirty="0">
                <a:solidFill>
                  <a:srgbClr val="E0E2E4"/>
                </a:solidFill>
                <a:highlight>
                  <a:srgbClr val="293134"/>
                </a:highlight>
              </a:rPr>
              <a:t> </a:t>
            </a:r>
            <a:r>
              <a:rPr lang="en-US" sz="1800" b="1" dirty="0">
                <a:solidFill>
                  <a:srgbClr val="93C763"/>
                </a:solidFill>
                <a:highlight>
                  <a:srgbClr val="293134"/>
                </a:highlight>
              </a:rPr>
              <a:t>FUNCTION</a:t>
            </a:r>
            <a:r>
              <a:rPr lang="en-US" sz="1800" b="0" dirty="0">
                <a:solidFill>
                  <a:srgbClr val="E0E2E4"/>
                </a:solidFill>
                <a:highlight>
                  <a:srgbClr val="293134"/>
                </a:highlight>
              </a:rPr>
              <a:t> auswerten</a:t>
            </a:r>
            <a:r>
              <a:rPr lang="en-US" sz="1800" b="0" dirty="0">
                <a:solidFill>
                  <a:srgbClr val="E8E2B7"/>
                </a:solidFill>
                <a:highlight>
                  <a:srgbClr val="293134"/>
                </a:highlight>
              </a:rPr>
              <a:t>(</a:t>
            </a:r>
            <a:r>
              <a:rPr lang="en-US" sz="1800" b="0" dirty="0">
                <a:solidFill>
                  <a:srgbClr val="E0E2E4"/>
                </a:solidFill>
                <a:highlight>
                  <a:srgbClr val="293134"/>
                </a:highlight>
              </a:rPr>
              <a:t>wert </a:t>
            </a:r>
            <a:r>
              <a:rPr lang="en-US" sz="1800" b="1" dirty="0">
                <a:solidFill>
                  <a:srgbClr val="007FFF"/>
                </a:solidFill>
                <a:highlight>
                  <a:srgbClr val="293134"/>
                </a:highlight>
              </a:rPr>
              <a:t>FLOAT</a:t>
            </a:r>
            <a:r>
              <a:rPr lang="en-US" sz="1800" b="0" dirty="0">
                <a:solidFill>
                  <a:srgbClr val="E8E2B7"/>
                </a:solidFill>
                <a:highlight>
                  <a:srgbClr val="293134"/>
                </a:highlight>
              </a:rPr>
              <a:t>(</a:t>
            </a:r>
            <a:r>
              <a:rPr lang="en-US" sz="1800" b="0" dirty="0">
                <a:solidFill>
                  <a:srgbClr val="FFCD22"/>
                </a:solidFill>
                <a:highlight>
                  <a:srgbClr val="293134"/>
                </a:highlight>
              </a:rPr>
              <a:t>10</a:t>
            </a:r>
            <a:r>
              <a:rPr lang="en-US" sz="1800" b="0" dirty="0">
                <a:solidFill>
                  <a:srgbClr val="E8E2B7"/>
                </a:solidFill>
                <a:highlight>
                  <a:srgbClr val="293134"/>
                </a:highlight>
              </a:rPr>
              <a:t>,</a:t>
            </a:r>
            <a:r>
              <a:rPr lang="en-US" sz="1800" b="0" dirty="0">
                <a:solidFill>
                  <a:srgbClr val="FFCD22"/>
                </a:solidFill>
                <a:highlight>
                  <a:srgbClr val="293134"/>
                </a:highlight>
              </a:rPr>
              <a:t>2</a:t>
            </a:r>
            <a:r>
              <a:rPr lang="en-US" sz="1800" b="0" dirty="0">
                <a:solidFill>
                  <a:srgbClr val="E8E2B7"/>
                </a:solidFill>
                <a:highlight>
                  <a:srgbClr val="293134"/>
                </a:highlight>
              </a:rPr>
              <a:t>))</a:t>
            </a:r>
            <a:r>
              <a:rPr lang="en-US" sz="1800" b="0" dirty="0">
                <a:solidFill>
                  <a:srgbClr val="E0E2E4"/>
                </a:solidFill>
                <a:highlight>
                  <a:srgbClr val="293134"/>
                </a:highlight>
              </a:rPr>
              <a:t> </a:t>
            </a:r>
            <a:r>
              <a:rPr lang="en-US" sz="1800" b="1" dirty="0">
                <a:solidFill>
                  <a:srgbClr val="93C763"/>
                </a:solidFill>
                <a:highlight>
                  <a:srgbClr val="293134"/>
                </a:highlight>
              </a:rPr>
              <a:t>RETURNS</a:t>
            </a:r>
            <a:r>
              <a:rPr lang="en-US" sz="1800" b="0" dirty="0">
                <a:solidFill>
                  <a:srgbClr val="E0E2E4"/>
                </a:solidFill>
                <a:highlight>
                  <a:srgbClr val="293134"/>
                </a:highlight>
              </a:rPr>
              <a:t> </a:t>
            </a:r>
            <a:r>
              <a:rPr lang="en-US" sz="1800" b="1" dirty="0">
                <a:solidFill>
                  <a:srgbClr val="007FFF"/>
                </a:solidFill>
                <a:highlight>
                  <a:srgbClr val="293134"/>
                </a:highlight>
              </a:rPr>
              <a:t>varchar</a:t>
            </a:r>
            <a:r>
              <a:rPr lang="en-US" sz="1800" b="0" dirty="0">
                <a:solidFill>
                  <a:srgbClr val="E8E2B7"/>
                </a:solidFill>
                <a:highlight>
                  <a:srgbClr val="293134"/>
                </a:highlight>
              </a:rPr>
              <a:t>(</a:t>
            </a:r>
            <a:r>
              <a:rPr lang="en-US" sz="1800" b="0" dirty="0">
                <a:solidFill>
                  <a:srgbClr val="FFCD22"/>
                </a:solidFill>
                <a:highlight>
                  <a:srgbClr val="293134"/>
                </a:highlight>
              </a:rPr>
              <a:t>20</a:t>
            </a:r>
            <a:r>
              <a:rPr lang="en-US" sz="1800" b="0" dirty="0">
                <a:solidFill>
                  <a:srgbClr val="E8E2B7"/>
                </a:solidFill>
                <a:highlight>
                  <a:srgbClr val="293134"/>
                </a:highlight>
              </a:rPr>
              <a:t>)</a:t>
            </a:r>
            <a:endParaRPr lang="en-US" sz="1800" b="0" dirty="0">
              <a:solidFill>
                <a:srgbClr val="E0E2E4"/>
              </a:solidFill>
              <a:highlight>
                <a:srgbClr val="293134"/>
              </a:highlight>
            </a:endParaRPr>
          </a:p>
          <a:p>
            <a:r>
              <a:rPr lang="de-DE" sz="1800" b="1" dirty="0">
                <a:solidFill>
                  <a:srgbClr val="93C763"/>
                </a:solidFill>
                <a:highlight>
                  <a:srgbClr val="293134"/>
                </a:highlight>
              </a:rPr>
              <a:t>BEGIN</a:t>
            </a:r>
            <a:endParaRPr lang="de-DE" sz="1800" b="0" dirty="0">
              <a:solidFill>
                <a:srgbClr val="E0E2E4"/>
              </a:solidFill>
              <a:highlight>
                <a:srgbClr val="293134"/>
              </a:highlight>
            </a:endParaRPr>
          </a:p>
          <a:p>
            <a:r>
              <a:rPr lang="de-DE" sz="1800" b="0" dirty="0">
                <a:solidFill>
                  <a:srgbClr val="E0E2E4"/>
                </a:solidFill>
                <a:highlight>
                  <a:srgbClr val="293134"/>
                </a:highlight>
              </a:rPr>
              <a:t>    </a:t>
            </a:r>
            <a:r>
              <a:rPr lang="de-DE" sz="1800" b="1" dirty="0">
                <a:solidFill>
                  <a:srgbClr val="93C763"/>
                </a:solidFill>
                <a:highlight>
                  <a:srgbClr val="293134"/>
                </a:highlight>
              </a:rPr>
              <a:t>DECLARE</a:t>
            </a:r>
            <a:r>
              <a:rPr lang="de-DE" sz="1800" b="0" dirty="0">
                <a:solidFill>
                  <a:srgbClr val="E0E2E4"/>
                </a:solidFill>
                <a:highlight>
                  <a:srgbClr val="293134"/>
                </a:highlight>
              </a:rPr>
              <a:t> antwort </a:t>
            </a:r>
            <a:r>
              <a:rPr lang="de-DE" sz="1800" b="1" dirty="0">
                <a:solidFill>
                  <a:srgbClr val="007FFF"/>
                </a:solidFill>
                <a:highlight>
                  <a:srgbClr val="293134"/>
                </a:highlight>
              </a:rPr>
              <a:t>VARCHAR</a:t>
            </a:r>
            <a:r>
              <a:rPr lang="de-DE" sz="1800" b="0" dirty="0">
                <a:solidFill>
                  <a:srgbClr val="E8E2B7"/>
                </a:solidFill>
                <a:highlight>
                  <a:srgbClr val="293134"/>
                </a:highlight>
              </a:rPr>
              <a:t>(</a:t>
            </a:r>
            <a:r>
              <a:rPr lang="de-DE" sz="1800" b="0" dirty="0">
                <a:solidFill>
                  <a:srgbClr val="FFCD22"/>
                </a:solidFill>
                <a:highlight>
                  <a:srgbClr val="293134"/>
                </a:highlight>
              </a:rPr>
              <a:t>20</a:t>
            </a:r>
            <a:r>
              <a:rPr lang="de-DE" sz="1800" b="0" dirty="0">
                <a:solidFill>
                  <a:srgbClr val="E8E2B7"/>
                </a:solidFill>
                <a:highlight>
                  <a:srgbClr val="293134"/>
                </a:highlight>
              </a:rPr>
              <a:t>);</a:t>
            </a:r>
            <a:endParaRPr lang="de-DE" sz="1800" b="0" dirty="0">
              <a:solidFill>
                <a:srgbClr val="E0E2E4"/>
              </a:solidFill>
              <a:highlight>
                <a:srgbClr val="293134"/>
              </a:highlight>
            </a:endParaRPr>
          </a:p>
          <a:p>
            <a:r>
              <a:rPr lang="de-DE" sz="1800" b="0" dirty="0">
                <a:solidFill>
                  <a:srgbClr val="E0E2E4"/>
                </a:solidFill>
                <a:highlight>
                  <a:srgbClr val="293134"/>
                </a:highlight>
              </a:rPr>
              <a:t>    </a:t>
            </a:r>
            <a:r>
              <a:rPr lang="de-DE" sz="1800" b="1" dirty="0">
                <a:solidFill>
                  <a:srgbClr val="93C763"/>
                </a:solidFill>
                <a:highlight>
                  <a:srgbClr val="293134"/>
                </a:highlight>
              </a:rPr>
              <a:t>IF</a:t>
            </a:r>
            <a:r>
              <a:rPr lang="de-DE" sz="1800" b="0" dirty="0">
                <a:solidFill>
                  <a:srgbClr val="E0E2E4"/>
                </a:solidFill>
                <a:highlight>
                  <a:srgbClr val="293134"/>
                </a:highlight>
              </a:rPr>
              <a:t> wert </a:t>
            </a:r>
            <a:r>
              <a:rPr lang="de-DE" sz="1800" b="0" dirty="0">
                <a:solidFill>
                  <a:srgbClr val="E8E2B7"/>
                </a:solidFill>
                <a:highlight>
                  <a:srgbClr val="293134"/>
                </a:highlight>
              </a:rPr>
              <a:t>&gt;</a:t>
            </a:r>
            <a:r>
              <a:rPr lang="de-DE" sz="1800" b="0" dirty="0">
                <a:solidFill>
                  <a:srgbClr val="E0E2E4"/>
                </a:solidFill>
                <a:highlight>
                  <a:srgbClr val="293134"/>
                </a:highlight>
              </a:rPr>
              <a:t> </a:t>
            </a:r>
            <a:r>
              <a:rPr lang="de-DE" sz="1800" b="0" dirty="0">
                <a:solidFill>
                  <a:srgbClr val="FFCD22"/>
                </a:solidFill>
                <a:highlight>
                  <a:srgbClr val="293134"/>
                </a:highlight>
              </a:rPr>
              <a:t>50000</a:t>
            </a:r>
            <a:r>
              <a:rPr lang="de-DE" sz="1800" b="0" dirty="0">
                <a:solidFill>
                  <a:srgbClr val="E0E2E4"/>
                </a:solidFill>
                <a:highlight>
                  <a:srgbClr val="293134"/>
                </a:highlight>
              </a:rPr>
              <a:t> </a:t>
            </a:r>
            <a:r>
              <a:rPr lang="de-DE" sz="1800" b="1" dirty="0">
                <a:solidFill>
                  <a:srgbClr val="93C763"/>
                </a:solidFill>
                <a:highlight>
                  <a:srgbClr val="293134"/>
                </a:highlight>
              </a:rPr>
              <a:t>THEN</a:t>
            </a:r>
            <a:endParaRPr lang="de-DE" sz="1800" b="0" dirty="0">
              <a:solidFill>
                <a:srgbClr val="E0E2E4"/>
              </a:solidFill>
              <a:highlight>
                <a:srgbClr val="293134"/>
              </a:highlight>
            </a:endParaRPr>
          </a:p>
          <a:p>
            <a:r>
              <a:rPr lang="de-DE" sz="1800" b="0" dirty="0">
                <a:solidFill>
                  <a:srgbClr val="E0E2E4"/>
                </a:solidFill>
                <a:highlight>
                  <a:srgbClr val="293134"/>
                </a:highlight>
              </a:rPr>
              <a:t>	</a:t>
            </a:r>
            <a:r>
              <a:rPr lang="de-DE" sz="1800" b="1" dirty="0">
                <a:solidFill>
                  <a:srgbClr val="93C763"/>
                </a:solidFill>
                <a:highlight>
                  <a:srgbClr val="293134"/>
                </a:highlight>
              </a:rPr>
              <a:t>SET</a:t>
            </a:r>
            <a:r>
              <a:rPr lang="de-DE" sz="1800" b="0" dirty="0">
                <a:solidFill>
                  <a:srgbClr val="E0E2E4"/>
                </a:solidFill>
                <a:highlight>
                  <a:srgbClr val="293134"/>
                </a:highlight>
              </a:rPr>
              <a:t> antwort </a:t>
            </a:r>
            <a:r>
              <a:rPr lang="de-DE" sz="1800" b="0" dirty="0">
                <a:solidFill>
                  <a:srgbClr val="E8E2B7"/>
                </a:solidFill>
                <a:highlight>
                  <a:srgbClr val="293134"/>
                </a:highlight>
              </a:rPr>
              <a:t>=</a:t>
            </a:r>
            <a:r>
              <a:rPr lang="de-DE" sz="1800" b="0" dirty="0">
                <a:solidFill>
                  <a:srgbClr val="E0E2E4"/>
                </a:solidFill>
                <a:highlight>
                  <a:srgbClr val="293134"/>
                </a:highlight>
              </a:rPr>
              <a:t> </a:t>
            </a:r>
            <a:r>
              <a:rPr lang="de-DE" sz="1800" b="0" dirty="0">
                <a:solidFill>
                  <a:srgbClr val="EC7600"/>
                </a:solidFill>
                <a:highlight>
                  <a:srgbClr val="293134"/>
                </a:highlight>
              </a:rPr>
              <a:t>'REICH'</a:t>
            </a:r>
            <a:r>
              <a:rPr lang="de-DE" sz="1800" b="0" dirty="0">
                <a:solidFill>
                  <a:srgbClr val="E8E2B7"/>
                </a:solidFill>
                <a:highlight>
                  <a:srgbClr val="293134"/>
                </a:highlight>
              </a:rPr>
              <a:t>;</a:t>
            </a:r>
            <a:endParaRPr lang="de-DE" sz="1800" b="0" dirty="0">
              <a:solidFill>
                <a:srgbClr val="E0E2E4"/>
              </a:solidFill>
              <a:highlight>
                <a:srgbClr val="293134"/>
              </a:highlight>
            </a:endParaRPr>
          </a:p>
          <a:p>
            <a:r>
              <a:rPr lang="de-DE" sz="1800" b="0" dirty="0">
                <a:solidFill>
                  <a:srgbClr val="E0E2E4"/>
                </a:solidFill>
                <a:highlight>
                  <a:srgbClr val="293134"/>
                </a:highlight>
              </a:rPr>
              <a:t>    ELSEIF </a:t>
            </a:r>
            <a:r>
              <a:rPr lang="de-DE" sz="1800" b="0" dirty="0">
                <a:solidFill>
                  <a:srgbClr val="E8E2B7"/>
                </a:solidFill>
                <a:highlight>
                  <a:srgbClr val="293134"/>
                </a:highlight>
              </a:rPr>
              <a:t>(</a:t>
            </a:r>
            <a:r>
              <a:rPr lang="de-DE" sz="1800" b="0" dirty="0">
                <a:solidFill>
                  <a:srgbClr val="E0E2E4"/>
                </a:solidFill>
                <a:highlight>
                  <a:srgbClr val="293134"/>
                </a:highlight>
              </a:rPr>
              <a:t>wert </a:t>
            </a:r>
            <a:r>
              <a:rPr lang="de-DE" sz="1800" b="0" dirty="0">
                <a:solidFill>
                  <a:srgbClr val="E8E2B7"/>
                </a:solidFill>
                <a:highlight>
                  <a:srgbClr val="293134"/>
                </a:highlight>
              </a:rPr>
              <a:t>&lt;=</a:t>
            </a:r>
            <a:r>
              <a:rPr lang="de-DE" sz="1800" b="0" dirty="0">
                <a:solidFill>
                  <a:srgbClr val="E0E2E4"/>
                </a:solidFill>
                <a:highlight>
                  <a:srgbClr val="293134"/>
                </a:highlight>
              </a:rPr>
              <a:t> </a:t>
            </a:r>
            <a:r>
              <a:rPr lang="de-DE" sz="1800" b="0" dirty="0">
                <a:solidFill>
                  <a:srgbClr val="FFCD22"/>
                </a:solidFill>
                <a:highlight>
                  <a:srgbClr val="293134"/>
                </a:highlight>
              </a:rPr>
              <a:t>50000</a:t>
            </a:r>
            <a:r>
              <a:rPr lang="de-DE" sz="1800" b="0" dirty="0">
                <a:solidFill>
                  <a:srgbClr val="E0E2E4"/>
                </a:solidFill>
                <a:highlight>
                  <a:srgbClr val="293134"/>
                </a:highlight>
              </a:rPr>
              <a:t> </a:t>
            </a:r>
            <a:r>
              <a:rPr lang="de-DE" sz="1800" b="1" dirty="0">
                <a:solidFill>
                  <a:srgbClr val="93C763"/>
                </a:solidFill>
                <a:highlight>
                  <a:srgbClr val="293134"/>
                </a:highlight>
              </a:rPr>
              <a:t>AND</a:t>
            </a:r>
            <a:r>
              <a:rPr lang="de-DE" sz="1800" b="0" dirty="0">
                <a:solidFill>
                  <a:srgbClr val="E0E2E4"/>
                </a:solidFill>
                <a:highlight>
                  <a:srgbClr val="293134"/>
                </a:highlight>
              </a:rPr>
              <a:t> wert </a:t>
            </a:r>
            <a:r>
              <a:rPr lang="de-DE" sz="1800" b="0" dirty="0">
                <a:solidFill>
                  <a:srgbClr val="E8E2B7"/>
                </a:solidFill>
                <a:highlight>
                  <a:srgbClr val="293134"/>
                </a:highlight>
              </a:rPr>
              <a:t>&gt;=</a:t>
            </a:r>
            <a:r>
              <a:rPr lang="de-DE" sz="1800" b="0" dirty="0">
                <a:solidFill>
                  <a:srgbClr val="E0E2E4"/>
                </a:solidFill>
                <a:highlight>
                  <a:srgbClr val="293134"/>
                </a:highlight>
              </a:rPr>
              <a:t> </a:t>
            </a:r>
            <a:r>
              <a:rPr lang="de-DE" sz="1800" b="0" dirty="0">
                <a:solidFill>
                  <a:srgbClr val="FFCD22"/>
                </a:solidFill>
                <a:highlight>
                  <a:srgbClr val="293134"/>
                </a:highlight>
              </a:rPr>
              <a:t>10000</a:t>
            </a:r>
            <a:r>
              <a:rPr lang="de-DE" sz="1800" b="0" dirty="0">
                <a:solidFill>
                  <a:srgbClr val="E8E2B7"/>
                </a:solidFill>
                <a:highlight>
                  <a:srgbClr val="293134"/>
                </a:highlight>
              </a:rPr>
              <a:t>)</a:t>
            </a:r>
            <a:r>
              <a:rPr lang="de-DE" sz="1800" b="0" dirty="0">
                <a:solidFill>
                  <a:srgbClr val="E0E2E4"/>
                </a:solidFill>
                <a:highlight>
                  <a:srgbClr val="293134"/>
                </a:highlight>
              </a:rPr>
              <a:t> </a:t>
            </a:r>
            <a:r>
              <a:rPr lang="de-DE" sz="1800" b="1" dirty="0">
                <a:solidFill>
                  <a:srgbClr val="93C763"/>
                </a:solidFill>
                <a:highlight>
                  <a:srgbClr val="293134"/>
                </a:highlight>
              </a:rPr>
              <a:t>THEN</a:t>
            </a:r>
            <a:endParaRPr lang="de-DE" sz="1800" b="0" dirty="0">
              <a:solidFill>
                <a:srgbClr val="E0E2E4"/>
              </a:solidFill>
              <a:highlight>
                <a:srgbClr val="293134"/>
              </a:highlight>
            </a:endParaRPr>
          </a:p>
          <a:p>
            <a:r>
              <a:rPr lang="de-DE" sz="1800" b="1" dirty="0">
                <a:solidFill>
                  <a:srgbClr val="93C763"/>
                </a:solidFill>
                <a:highlight>
                  <a:srgbClr val="293134"/>
                </a:highlight>
              </a:rPr>
              <a:t>	SET</a:t>
            </a:r>
            <a:r>
              <a:rPr lang="de-DE" sz="1800" b="0" dirty="0">
                <a:solidFill>
                  <a:srgbClr val="E0E2E4"/>
                </a:solidFill>
                <a:highlight>
                  <a:srgbClr val="293134"/>
                </a:highlight>
              </a:rPr>
              <a:t> antwort </a:t>
            </a:r>
            <a:r>
              <a:rPr lang="de-DE" sz="1800" b="0" dirty="0">
                <a:solidFill>
                  <a:srgbClr val="E8E2B7"/>
                </a:solidFill>
                <a:highlight>
                  <a:srgbClr val="293134"/>
                </a:highlight>
              </a:rPr>
              <a:t>=</a:t>
            </a:r>
            <a:r>
              <a:rPr lang="de-DE" sz="1800" b="0" dirty="0">
                <a:solidFill>
                  <a:srgbClr val="E0E2E4"/>
                </a:solidFill>
                <a:highlight>
                  <a:srgbClr val="293134"/>
                </a:highlight>
              </a:rPr>
              <a:t> </a:t>
            </a:r>
            <a:r>
              <a:rPr lang="de-DE" sz="1800" b="0" dirty="0">
                <a:solidFill>
                  <a:srgbClr val="EC7600"/>
                </a:solidFill>
                <a:highlight>
                  <a:srgbClr val="293134"/>
                </a:highlight>
              </a:rPr>
              <a:t>'WOHLHABEND'</a:t>
            </a:r>
            <a:r>
              <a:rPr lang="de-DE" sz="1800" b="0" dirty="0">
                <a:solidFill>
                  <a:srgbClr val="E8E2B7"/>
                </a:solidFill>
                <a:highlight>
                  <a:srgbClr val="293134"/>
                </a:highlight>
              </a:rPr>
              <a:t>;</a:t>
            </a:r>
            <a:endParaRPr lang="de-DE" sz="1800" b="0" dirty="0">
              <a:solidFill>
                <a:srgbClr val="E0E2E4"/>
              </a:solidFill>
              <a:highlight>
                <a:srgbClr val="293134"/>
              </a:highlight>
            </a:endParaRPr>
          </a:p>
          <a:p>
            <a:r>
              <a:rPr lang="de-DE" sz="1800" b="0" dirty="0">
                <a:solidFill>
                  <a:srgbClr val="E0E2E4"/>
                </a:solidFill>
                <a:highlight>
                  <a:srgbClr val="293134"/>
                </a:highlight>
              </a:rPr>
              <a:t>    ELSEIF wert </a:t>
            </a:r>
            <a:r>
              <a:rPr lang="de-DE" sz="1800" b="0" dirty="0">
                <a:solidFill>
                  <a:srgbClr val="E8E2B7"/>
                </a:solidFill>
                <a:highlight>
                  <a:srgbClr val="293134"/>
                </a:highlight>
              </a:rPr>
              <a:t>&lt;</a:t>
            </a:r>
            <a:r>
              <a:rPr lang="de-DE" sz="1800" b="0" dirty="0">
                <a:solidFill>
                  <a:srgbClr val="E0E2E4"/>
                </a:solidFill>
                <a:highlight>
                  <a:srgbClr val="293134"/>
                </a:highlight>
              </a:rPr>
              <a:t> </a:t>
            </a:r>
            <a:r>
              <a:rPr lang="de-DE" sz="1800" b="0" dirty="0">
                <a:solidFill>
                  <a:srgbClr val="FFCD22"/>
                </a:solidFill>
                <a:highlight>
                  <a:srgbClr val="293134"/>
                </a:highlight>
              </a:rPr>
              <a:t>10000</a:t>
            </a:r>
            <a:r>
              <a:rPr lang="de-DE" sz="1800" b="0" dirty="0">
                <a:solidFill>
                  <a:srgbClr val="E0E2E4"/>
                </a:solidFill>
                <a:highlight>
                  <a:srgbClr val="293134"/>
                </a:highlight>
              </a:rPr>
              <a:t> </a:t>
            </a:r>
            <a:r>
              <a:rPr lang="de-DE" sz="1800" b="1" dirty="0">
                <a:solidFill>
                  <a:srgbClr val="93C763"/>
                </a:solidFill>
                <a:highlight>
                  <a:srgbClr val="293134"/>
                </a:highlight>
              </a:rPr>
              <a:t>THEN</a:t>
            </a:r>
            <a:endParaRPr lang="de-DE" sz="1800" b="0" dirty="0">
              <a:solidFill>
                <a:srgbClr val="E0E2E4"/>
              </a:solidFill>
              <a:highlight>
                <a:srgbClr val="293134"/>
              </a:highlight>
            </a:endParaRPr>
          </a:p>
          <a:p>
            <a:pPr lvl="1"/>
            <a:r>
              <a:rPr lang="de-DE" b="0" dirty="0">
                <a:solidFill>
                  <a:srgbClr val="E0E2E4"/>
                </a:solidFill>
                <a:highlight>
                  <a:srgbClr val="293134"/>
                </a:highlight>
              </a:rPr>
              <a:t>        </a:t>
            </a:r>
            <a:r>
              <a:rPr lang="de-DE" b="1" dirty="0">
                <a:solidFill>
                  <a:srgbClr val="93C763"/>
                </a:solidFill>
                <a:highlight>
                  <a:srgbClr val="293134"/>
                </a:highlight>
              </a:rPr>
              <a:t>SET</a:t>
            </a:r>
            <a:r>
              <a:rPr lang="de-DE" b="0" dirty="0">
                <a:solidFill>
                  <a:srgbClr val="E0E2E4"/>
                </a:solidFill>
                <a:highlight>
                  <a:srgbClr val="293134"/>
                </a:highlight>
              </a:rPr>
              <a:t> antwort </a:t>
            </a:r>
            <a:r>
              <a:rPr lang="de-DE" b="0" dirty="0">
                <a:solidFill>
                  <a:srgbClr val="E8E2B7"/>
                </a:solidFill>
                <a:highlight>
                  <a:srgbClr val="293134"/>
                </a:highlight>
              </a:rPr>
              <a:t>=</a:t>
            </a:r>
            <a:r>
              <a:rPr lang="de-DE" b="0" dirty="0">
                <a:solidFill>
                  <a:srgbClr val="E0E2E4"/>
                </a:solidFill>
                <a:highlight>
                  <a:srgbClr val="293134"/>
                </a:highlight>
              </a:rPr>
              <a:t> </a:t>
            </a:r>
            <a:r>
              <a:rPr lang="de-DE" b="0" dirty="0">
                <a:solidFill>
                  <a:srgbClr val="EC7600"/>
                </a:solidFill>
                <a:highlight>
                  <a:srgbClr val="293134"/>
                </a:highlight>
              </a:rPr>
              <a:t>'KOMMT ZURECHT'</a:t>
            </a:r>
            <a:r>
              <a:rPr lang="de-DE" b="0" dirty="0">
                <a:solidFill>
                  <a:srgbClr val="E8E2B7"/>
                </a:solidFill>
                <a:highlight>
                  <a:srgbClr val="293134"/>
                </a:highlight>
              </a:rPr>
              <a:t>;</a:t>
            </a:r>
            <a:endParaRPr lang="de-DE" b="0" dirty="0">
              <a:solidFill>
                <a:srgbClr val="E0E2E4"/>
              </a:solidFill>
              <a:highlight>
                <a:srgbClr val="293134"/>
              </a:highlight>
            </a:endParaRPr>
          </a:p>
          <a:p>
            <a:r>
              <a:rPr lang="de-DE" sz="1800" b="0" dirty="0">
                <a:solidFill>
                  <a:srgbClr val="E0E2E4"/>
                </a:solidFill>
                <a:highlight>
                  <a:srgbClr val="293134"/>
                </a:highlight>
              </a:rPr>
              <a:t>    </a:t>
            </a:r>
            <a:r>
              <a:rPr lang="de-DE" sz="1800" b="1" dirty="0">
                <a:solidFill>
                  <a:srgbClr val="93C763"/>
                </a:solidFill>
                <a:highlight>
                  <a:srgbClr val="293134"/>
                </a:highlight>
              </a:rPr>
              <a:t>END</a:t>
            </a:r>
            <a:r>
              <a:rPr lang="de-DE" sz="1800" b="0" dirty="0">
                <a:solidFill>
                  <a:srgbClr val="E0E2E4"/>
                </a:solidFill>
                <a:highlight>
                  <a:srgbClr val="293134"/>
                </a:highlight>
              </a:rPr>
              <a:t> </a:t>
            </a:r>
            <a:r>
              <a:rPr lang="de-DE" sz="1800" b="1" dirty="0">
                <a:solidFill>
                  <a:srgbClr val="93C763"/>
                </a:solidFill>
                <a:highlight>
                  <a:srgbClr val="293134"/>
                </a:highlight>
              </a:rPr>
              <a:t>IF</a:t>
            </a:r>
            <a:r>
              <a:rPr lang="de-DE" sz="1800" b="0" dirty="0">
                <a:solidFill>
                  <a:srgbClr val="E8E2B7"/>
                </a:solidFill>
                <a:highlight>
                  <a:srgbClr val="293134"/>
                </a:highlight>
              </a:rPr>
              <a:t>;</a:t>
            </a:r>
            <a:endParaRPr lang="de-DE" dirty="0">
              <a:solidFill>
                <a:srgbClr val="E0E2E4"/>
              </a:solidFill>
              <a:highlight>
                <a:srgbClr val="293134"/>
              </a:highlight>
            </a:endParaRPr>
          </a:p>
          <a:p>
            <a:r>
              <a:rPr lang="de-DE" b="1" dirty="0">
                <a:solidFill>
                  <a:srgbClr val="E0E2E4"/>
                </a:solidFill>
                <a:highlight>
                  <a:srgbClr val="293134"/>
                </a:highlight>
              </a:rPr>
              <a:t>    </a:t>
            </a:r>
            <a:r>
              <a:rPr lang="de-DE" b="1" dirty="0">
                <a:solidFill>
                  <a:srgbClr val="93C763"/>
                </a:solidFill>
                <a:highlight>
                  <a:srgbClr val="293134"/>
                </a:highlight>
              </a:rPr>
              <a:t>RETURN</a:t>
            </a:r>
            <a:r>
              <a:rPr lang="de-DE" b="0" dirty="0">
                <a:solidFill>
                  <a:srgbClr val="E0E2E4"/>
                </a:solidFill>
                <a:highlight>
                  <a:srgbClr val="293134"/>
                </a:highlight>
              </a:rPr>
              <a:t> </a:t>
            </a:r>
            <a:r>
              <a:rPr lang="de-DE" b="0" dirty="0">
                <a:solidFill>
                  <a:srgbClr val="E8E2B7"/>
                </a:solidFill>
                <a:highlight>
                  <a:srgbClr val="293134"/>
                </a:highlight>
              </a:rPr>
              <a:t>(</a:t>
            </a:r>
            <a:r>
              <a:rPr lang="de-DE" b="0" dirty="0">
                <a:solidFill>
                  <a:srgbClr val="E0E2E4"/>
                </a:solidFill>
                <a:highlight>
                  <a:srgbClr val="293134"/>
                </a:highlight>
              </a:rPr>
              <a:t>antwort</a:t>
            </a:r>
            <a:r>
              <a:rPr lang="de-DE" b="0" dirty="0">
                <a:solidFill>
                  <a:srgbClr val="E8E2B7"/>
                </a:solidFill>
                <a:highlight>
                  <a:srgbClr val="293134"/>
                </a:highlight>
              </a:rPr>
              <a:t>);</a:t>
            </a:r>
            <a:endParaRPr lang="de-DE" b="0" dirty="0">
              <a:solidFill>
                <a:srgbClr val="E0E2E4"/>
              </a:solidFill>
              <a:highlight>
                <a:srgbClr val="293134"/>
              </a:highlight>
            </a:endParaRPr>
          </a:p>
          <a:p>
            <a:r>
              <a:rPr lang="de-DE" sz="1800" b="1" dirty="0">
                <a:solidFill>
                  <a:srgbClr val="93C763"/>
                </a:solidFill>
                <a:highlight>
                  <a:srgbClr val="293134"/>
                </a:highlight>
              </a:rPr>
              <a:t>END</a:t>
            </a:r>
            <a:r>
              <a:rPr lang="de-DE" sz="1800" b="0" dirty="0">
                <a:solidFill>
                  <a:srgbClr val="E0E2E4"/>
                </a:solidFill>
                <a:highlight>
                  <a:srgbClr val="293134"/>
                </a:highlight>
              </a:rPr>
              <a:t>$$</a:t>
            </a:r>
          </a:p>
          <a:p>
            <a:r>
              <a:rPr lang="de-DE" sz="1800" b="0" dirty="0">
                <a:solidFill>
                  <a:srgbClr val="E0E2E4"/>
                </a:solidFill>
                <a:highlight>
                  <a:srgbClr val="293134"/>
                </a:highlight>
              </a:rPr>
              <a:t>DELIMITER </a:t>
            </a:r>
            <a:r>
              <a:rPr lang="de-DE" sz="1800" b="0" dirty="0">
                <a:solidFill>
                  <a:srgbClr val="E8E2B7"/>
                </a:solidFill>
                <a:highlight>
                  <a:srgbClr val="293134"/>
                </a:highlight>
              </a:rPr>
              <a:t>;</a:t>
            </a:r>
            <a:endParaRPr lang="de-DE" sz="1200" b="0" dirty="0">
              <a:solidFill>
                <a:srgbClr val="E0E2E4"/>
              </a:solidFill>
              <a:highlight>
                <a:srgbClr val="293134"/>
              </a:highlight>
              <a:latin typeface="Source Sans Pro" panose="020B0503030403020204" pitchFamily="34" charset="0"/>
            </a:endParaRPr>
          </a:p>
        </p:txBody>
      </p:sp>
    </p:spTree>
    <p:extLst>
      <p:ext uri="{BB962C8B-B14F-4D97-AF65-F5344CB8AC3E}">
        <p14:creationId xmlns:p14="http://schemas.microsoft.com/office/powerpoint/2010/main" val="2579522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Syntax (Trigger)</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
        <p:nvSpPr>
          <p:cNvPr id="7" name="Textfeld 6">
            <a:extLst>
              <a:ext uri="{FF2B5EF4-FFF2-40B4-BE49-F238E27FC236}">
                <a16:creationId xmlns:a16="http://schemas.microsoft.com/office/drawing/2014/main" id="{72846145-BC43-5309-8CC2-855F6B942620}"/>
              </a:ext>
            </a:extLst>
          </p:cNvPr>
          <p:cNvSpPr txBox="1"/>
          <p:nvPr/>
        </p:nvSpPr>
        <p:spPr>
          <a:xfrm>
            <a:off x="496810" y="1201710"/>
            <a:ext cx="10221990" cy="4801314"/>
          </a:xfrm>
          <a:prstGeom prst="rect">
            <a:avLst/>
          </a:prstGeom>
          <a:solidFill>
            <a:srgbClr val="2C3235"/>
          </a:solidFill>
        </p:spPr>
        <p:txBody>
          <a:bodyPr wrap="square">
            <a:spAutoFit/>
          </a:bodyPr>
          <a:lstStyle/>
          <a:p>
            <a:r>
              <a:rPr lang="de-DE" sz="1800" dirty="0">
                <a:solidFill>
                  <a:srgbClr val="E0E2E4"/>
                </a:solidFill>
                <a:highlight>
                  <a:srgbClr val="293134"/>
                </a:highlight>
                <a:cs typeface="Calibri" panose="020F0502020204030204" pitchFamily="34" charset="0"/>
              </a:rPr>
              <a:t>DELIMITER $$</a:t>
            </a:r>
          </a:p>
          <a:p>
            <a:r>
              <a:rPr lang="en-US" sz="1800" b="1" dirty="0">
                <a:solidFill>
                  <a:srgbClr val="93C763"/>
                </a:solidFill>
                <a:highlight>
                  <a:srgbClr val="293134"/>
                </a:highlight>
                <a:cs typeface="Calibri" panose="020F0502020204030204" pitchFamily="34" charset="0"/>
              </a:rPr>
              <a:t>CREATE</a:t>
            </a:r>
            <a:r>
              <a:rPr lang="en-US" sz="1800" b="0" dirty="0">
                <a:solidFill>
                  <a:srgbClr val="E0E2E4"/>
                </a:solidFill>
                <a:highlight>
                  <a:srgbClr val="293134"/>
                </a:highlight>
                <a:cs typeface="Calibri" panose="020F0502020204030204" pitchFamily="34" charset="0"/>
              </a:rPr>
              <a:t> </a:t>
            </a:r>
            <a:r>
              <a:rPr lang="en-US" sz="1800" b="1" dirty="0">
                <a:solidFill>
                  <a:srgbClr val="93C763"/>
                </a:solidFill>
                <a:highlight>
                  <a:srgbClr val="293134"/>
                </a:highlight>
                <a:cs typeface="Calibri" panose="020F0502020204030204" pitchFamily="34" charset="0"/>
              </a:rPr>
              <a:t>TRIGGER</a:t>
            </a:r>
            <a:r>
              <a:rPr lang="en-US" sz="1800" b="0" dirty="0">
                <a:solidFill>
                  <a:srgbClr val="E0E2E4"/>
                </a:solidFill>
                <a:highlight>
                  <a:srgbClr val="293134"/>
                </a:highlight>
                <a:cs typeface="Calibri" panose="020F0502020204030204" pitchFamily="34" charset="0"/>
              </a:rPr>
              <a:t> </a:t>
            </a:r>
            <a:r>
              <a:rPr lang="en-US" sz="1800" b="0" dirty="0">
                <a:solidFill>
                  <a:srgbClr val="EC7600"/>
                </a:solidFill>
                <a:highlight>
                  <a:srgbClr val="293134"/>
                </a:highlight>
                <a:cs typeface="Calibri" panose="020F0502020204030204" pitchFamily="34" charset="0"/>
              </a:rPr>
              <a:t>'</a:t>
            </a:r>
            <a:r>
              <a:rPr lang="en-US" sz="1800" b="0" dirty="0" err="1">
                <a:solidFill>
                  <a:srgbClr val="EC7600"/>
                </a:solidFill>
                <a:highlight>
                  <a:srgbClr val="293134"/>
                </a:highlight>
                <a:cs typeface="Calibri" panose="020F0502020204030204" pitchFamily="34" charset="0"/>
              </a:rPr>
              <a:t>NachUpdate</a:t>
            </a:r>
            <a:r>
              <a:rPr lang="en-US" sz="1800" b="0" dirty="0">
                <a:solidFill>
                  <a:srgbClr val="EC7600"/>
                </a:solidFill>
                <a:highlight>
                  <a:srgbClr val="293134"/>
                </a:highlight>
                <a:cs typeface="Calibri" panose="020F0502020204030204" pitchFamily="34" charset="0"/>
              </a:rPr>
              <a:t>'</a:t>
            </a:r>
            <a:r>
              <a:rPr lang="en-US" sz="1800" b="0" dirty="0">
                <a:solidFill>
                  <a:srgbClr val="E0E2E4"/>
                </a:solidFill>
                <a:highlight>
                  <a:srgbClr val="293134"/>
                </a:highlight>
                <a:cs typeface="Calibri" panose="020F0502020204030204" pitchFamily="34" charset="0"/>
              </a:rPr>
              <a:t> </a:t>
            </a:r>
            <a:r>
              <a:rPr lang="en-US" sz="1800" b="1" dirty="0">
                <a:solidFill>
                  <a:srgbClr val="93C763"/>
                </a:solidFill>
                <a:highlight>
                  <a:srgbClr val="293134"/>
                </a:highlight>
                <a:cs typeface="Calibri" panose="020F0502020204030204" pitchFamily="34" charset="0"/>
              </a:rPr>
              <a:t>AFTER</a:t>
            </a:r>
            <a:r>
              <a:rPr lang="en-US" sz="1800" b="0" dirty="0">
                <a:solidFill>
                  <a:srgbClr val="E0E2E4"/>
                </a:solidFill>
                <a:highlight>
                  <a:srgbClr val="293134"/>
                </a:highlight>
                <a:cs typeface="Calibri" panose="020F0502020204030204" pitchFamily="34" charset="0"/>
              </a:rPr>
              <a:t> </a:t>
            </a:r>
            <a:r>
              <a:rPr lang="en-US" sz="1800" b="1" dirty="0">
                <a:solidFill>
                  <a:srgbClr val="93C763"/>
                </a:solidFill>
                <a:highlight>
                  <a:srgbClr val="293134"/>
                </a:highlight>
                <a:cs typeface="Calibri" panose="020F0502020204030204" pitchFamily="34" charset="0"/>
              </a:rPr>
              <a:t>UPDATE</a:t>
            </a:r>
            <a:r>
              <a:rPr lang="en-US" sz="1800" b="0" dirty="0">
                <a:solidFill>
                  <a:srgbClr val="E0E2E4"/>
                </a:solidFill>
                <a:highlight>
                  <a:srgbClr val="293134"/>
                </a:highlight>
                <a:cs typeface="Calibri" panose="020F0502020204030204" pitchFamily="34" charset="0"/>
              </a:rPr>
              <a:t> </a:t>
            </a:r>
            <a:r>
              <a:rPr lang="en-US" sz="1800" b="1" dirty="0">
                <a:solidFill>
                  <a:srgbClr val="93C763"/>
                </a:solidFill>
                <a:highlight>
                  <a:srgbClr val="293134"/>
                </a:highlight>
                <a:cs typeface="Calibri" panose="020F0502020204030204" pitchFamily="34" charset="0"/>
              </a:rPr>
              <a:t>ON</a:t>
            </a:r>
            <a:r>
              <a:rPr lang="en-US" sz="1800" b="0" dirty="0">
                <a:solidFill>
                  <a:srgbClr val="E0E2E4"/>
                </a:solidFill>
                <a:highlight>
                  <a:srgbClr val="293134"/>
                </a:highlight>
                <a:cs typeface="Calibri" panose="020F0502020204030204" pitchFamily="34" charset="0"/>
              </a:rPr>
              <a:t> </a:t>
            </a:r>
            <a:r>
              <a:rPr lang="en-US" sz="1800" b="0" dirty="0">
                <a:solidFill>
                  <a:srgbClr val="EC7600"/>
                </a:solidFill>
                <a:highlight>
                  <a:srgbClr val="293134"/>
                </a:highlight>
                <a:cs typeface="Calibri" panose="020F0502020204030204" pitchFamily="34" charset="0"/>
              </a:rPr>
              <a:t>'</a:t>
            </a:r>
            <a:r>
              <a:rPr lang="en-US" sz="1800" b="0" dirty="0" err="1">
                <a:solidFill>
                  <a:srgbClr val="EC7600"/>
                </a:solidFill>
                <a:highlight>
                  <a:srgbClr val="293134"/>
                </a:highlight>
                <a:cs typeface="Calibri" panose="020F0502020204030204" pitchFamily="34" charset="0"/>
              </a:rPr>
              <a:t>testdaten</a:t>
            </a:r>
            <a:r>
              <a:rPr lang="en-US" sz="1800" b="0" dirty="0">
                <a:solidFill>
                  <a:srgbClr val="EC7600"/>
                </a:solidFill>
                <a:highlight>
                  <a:srgbClr val="293134"/>
                </a:highlight>
                <a:cs typeface="Calibri" panose="020F0502020204030204" pitchFamily="34" charset="0"/>
              </a:rPr>
              <a:t>'</a:t>
            </a:r>
            <a:endParaRPr lang="en-US" sz="1800" b="0" dirty="0">
              <a:solidFill>
                <a:srgbClr val="E0E2E4"/>
              </a:solidFill>
              <a:highlight>
                <a:srgbClr val="293134"/>
              </a:highlight>
              <a:cs typeface="Calibri" panose="020F0502020204030204" pitchFamily="34" charset="0"/>
            </a:endParaRPr>
          </a:p>
          <a:p>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FOR</a:t>
            </a:r>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EACH</a:t>
            </a:r>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ROW</a:t>
            </a:r>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BEGIN</a:t>
            </a:r>
            <a:endParaRPr lang="de-DE" sz="1800" b="0" dirty="0">
              <a:solidFill>
                <a:srgbClr val="E0E2E4"/>
              </a:solidFill>
              <a:highlight>
                <a:srgbClr val="293134"/>
              </a:highlight>
              <a:cs typeface="Calibri" panose="020F0502020204030204" pitchFamily="34" charset="0"/>
            </a:endParaRPr>
          </a:p>
          <a:p>
            <a:r>
              <a:rPr lang="en-US" sz="1800" b="0" dirty="0">
                <a:solidFill>
                  <a:srgbClr val="E0E2E4"/>
                </a:solidFill>
                <a:highlight>
                  <a:srgbClr val="293134"/>
                </a:highlight>
                <a:cs typeface="Calibri" panose="020F0502020204030204" pitchFamily="34" charset="0"/>
              </a:rPr>
              <a:t>    </a:t>
            </a:r>
            <a:r>
              <a:rPr lang="en-US" sz="1800" b="1" dirty="0">
                <a:solidFill>
                  <a:srgbClr val="93C763"/>
                </a:solidFill>
                <a:highlight>
                  <a:srgbClr val="293134"/>
                </a:highlight>
                <a:cs typeface="Calibri" panose="020F0502020204030204" pitchFamily="34" charset="0"/>
              </a:rPr>
              <a:t>IF</a:t>
            </a:r>
            <a:r>
              <a:rPr lang="en-US" sz="1800" b="0" dirty="0">
                <a:solidFill>
                  <a:srgbClr val="E0E2E4"/>
                </a:solidFill>
                <a:highlight>
                  <a:srgbClr val="293134"/>
                </a:highlight>
                <a:cs typeface="Calibri" panose="020F0502020204030204" pitchFamily="34" charset="0"/>
              </a:rPr>
              <a:t> </a:t>
            </a:r>
            <a:r>
              <a:rPr lang="en-US" sz="1800" b="1" dirty="0" err="1">
                <a:solidFill>
                  <a:srgbClr val="93C763"/>
                </a:solidFill>
                <a:highlight>
                  <a:srgbClr val="293134"/>
                </a:highlight>
                <a:cs typeface="Calibri" panose="020F0502020204030204" pitchFamily="34" charset="0"/>
              </a:rPr>
              <a:t>OLD</a:t>
            </a:r>
            <a:r>
              <a:rPr lang="en-US" sz="1800" b="0" dirty="0" err="1">
                <a:solidFill>
                  <a:srgbClr val="E8E2B7"/>
                </a:solidFill>
                <a:highlight>
                  <a:srgbClr val="293134"/>
                </a:highlight>
                <a:cs typeface="Calibri" panose="020F0502020204030204" pitchFamily="34" charset="0"/>
              </a:rPr>
              <a:t>.</a:t>
            </a:r>
            <a:r>
              <a:rPr lang="en-US" sz="1800" b="0" dirty="0" err="1">
                <a:solidFill>
                  <a:srgbClr val="E0E2E4"/>
                </a:solidFill>
                <a:highlight>
                  <a:srgbClr val="293134"/>
                </a:highlight>
                <a:cs typeface="Calibri" panose="020F0502020204030204" pitchFamily="34" charset="0"/>
              </a:rPr>
              <a:t>Vorname</a:t>
            </a:r>
            <a:r>
              <a:rPr lang="en-US" sz="1800" b="0" dirty="0">
                <a:solidFill>
                  <a:srgbClr val="E0E2E4"/>
                </a:solidFill>
                <a:highlight>
                  <a:srgbClr val="293134"/>
                </a:highlight>
                <a:cs typeface="Calibri" panose="020F0502020204030204" pitchFamily="34" charset="0"/>
              </a:rPr>
              <a:t> </a:t>
            </a:r>
            <a:r>
              <a:rPr lang="en-US" sz="1800" b="0" dirty="0">
                <a:solidFill>
                  <a:srgbClr val="E8E2B7"/>
                </a:solidFill>
                <a:highlight>
                  <a:srgbClr val="293134"/>
                </a:highlight>
                <a:cs typeface="Calibri" panose="020F0502020204030204" pitchFamily="34" charset="0"/>
              </a:rPr>
              <a:t>&lt;&gt;</a:t>
            </a:r>
            <a:r>
              <a:rPr lang="en-US" sz="1800" b="0" dirty="0">
                <a:solidFill>
                  <a:srgbClr val="E0E2E4"/>
                </a:solidFill>
                <a:highlight>
                  <a:srgbClr val="293134"/>
                </a:highlight>
                <a:cs typeface="Calibri" panose="020F0502020204030204" pitchFamily="34" charset="0"/>
              </a:rPr>
              <a:t> </a:t>
            </a:r>
            <a:r>
              <a:rPr lang="en-US" sz="1800" b="1" dirty="0" err="1">
                <a:solidFill>
                  <a:srgbClr val="93C763"/>
                </a:solidFill>
                <a:highlight>
                  <a:srgbClr val="293134"/>
                </a:highlight>
                <a:cs typeface="Calibri" panose="020F0502020204030204" pitchFamily="34" charset="0"/>
              </a:rPr>
              <a:t>NEW</a:t>
            </a:r>
            <a:r>
              <a:rPr lang="en-US" sz="1800" b="0" dirty="0" err="1">
                <a:solidFill>
                  <a:srgbClr val="E8E2B7"/>
                </a:solidFill>
                <a:highlight>
                  <a:srgbClr val="293134"/>
                </a:highlight>
                <a:cs typeface="Calibri" panose="020F0502020204030204" pitchFamily="34" charset="0"/>
              </a:rPr>
              <a:t>.</a:t>
            </a:r>
            <a:r>
              <a:rPr lang="en-US" sz="1800" b="0" dirty="0" err="1">
                <a:solidFill>
                  <a:srgbClr val="E0E2E4"/>
                </a:solidFill>
                <a:highlight>
                  <a:srgbClr val="293134"/>
                </a:highlight>
                <a:cs typeface="Calibri" panose="020F0502020204030204" pitchFamily="34" charset="0"/>
              </a:rPr>
              <a:t>Vorname</a:t>
            </a:r>
            <a:r>
              <a:rPr lang="en-US" sz="1800" b="0" dirty="0">
                <a:solidFill>
                  <a:srgbClr val="E0E2E4"/>
                </a:solidFill>
                <a:highlight>
                  <a:srgbClr val="293134"/>
                </a:highlight>
                <a:cs typeface="Calibri" panose="020F0502020204030204" pitchFamily="34" charset="0"/>
              </a:rPr>
              <a:t> </a:t>
            </a:r>
            <a:r>
              <a:rPr lang="en-US" sz="1800" b="1" dirty="0">
                <a:solidFill>
                  <a:srgbClr val="93C763"/>
                </a:solidFill>
                <a:highlight>
                  <a:srgbClr val="293134"/>
                </a:highlight>
                <a:cs typeface="Calibri" panose="020F0502020204030204" pitchFamily="34" charset="0"/>
              </a:rPr>
              <a:t>THEN</a:t>
            </a:r>
            <a:endParaRPr lang="en-US" sz="1800" b="0" dirty="0">
              <a:solidFill>
                <a:srgbClr val="E0E2E4"/>
              </a:solidFill>
              <a:highlight>
                <a:srgbClr val="293134"/>
              </a:highlight>
              <a:cs typeface="Calibri" panose="020F0502020204030204" pitchFamily="34" charset="0"/>
            </a:endParaRPr>
          </a:p>
          <a:p>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INSERT</a:t>
            </a:r>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INTO</a:t>
            </a:r>
            <a:r>
              <a:rPr lang="de-DE" sz="1800" b="0" dirty="0">
                <a:solidFill>
                  <a:srgbClr val="E0E2E4"/>
                </a:solidFill>
                <a:highlight>
                  <a:srgbClr val="293134"/>
                </a:highlight>
                <a:cs typeface="Calibri" panose="020F0502020204030204" pitchFamily="34" charset="0"/>
              </a:rPr>
              <a:t> </a:t>
            </a:r>
            <a:r>
              <a:rPr lang="de-DE" sz="1800" b="0" dirty="0" err="1">
                <a:solidFill>
                  <a:srgbClr val="E0E2E4"/>
                </a:solidFill>
                <a:highlight>
                  <a:srgbClr val="293134"/>
                </a:highlight>
                <a:cs typeface="Calibri" panose="020F0502020204030204" pitchFamily="34" charset="0"/>
              </a:rPr>
              <a:t>logtable</a:t>
            </a:r>
            <a:r>
              <a:rPr lang="de-DE" sz="1800" b="0" dirty="0">
                <a:solidFill>
                  <a:srgbClr val="E8E2B7"/>
                </a:solidFill>
                <a:highlight>
                  <a:srgbClr val="293134"/>
                </a:highlight>
                <a:cs typeface="Calibri" panose="020F0502020204030204" pitchFamily="34" charset="0"/>
              </a:rPr>
              <a:t>(</a:t>
            </a:r>
            <a:r>
              <a:rPr lang="de-DE" sz="1800" b="0" dirty="0" err="1">
                <a:solidFill>
                  <a:srgbClr val="E0E2E4"/>
                </a:solidFill>
                <a:highlight>
                  <a:srgbClr val="293134"/>
                </a:highlight>
                <a:cs typeface="Calibri" panose="020F0502020204030204" pitchFamily="34" charset="0"/>
              </a:rPr>
              <a:t>Testdaten_ID</a:t>
            </a:r>
            <a:r>
              <a:rPr lang="de-DE" sz="1800" b="0" dirty="0">
                <a:solidFill>
                  <a:srgbClr val="E8E2B7"/>
                </a:solidFill>
                <a:highlight>
                  <a:srgbClr val="293134"/>
                </a:highlight>
                <a:cs typeface="Calibri" panose="020F0502020204030204" pitchFamily="34" charset="0"/>
              </a:rPr>
              <a:t>,</a:t>
            </a:r>
            <a:r>
              <a:rPr lang="de-DE" sz="1800" b="0" dirty="0">
                <a:solidFill>
                  <a:srgbClr val="E0E2E4"/>
                </a:solidFill>
                <a:highlight>
                  <a:srgbClr val="293134"/>
                </a:highlight>
                <a:cs typeface="Calibri" panose="020F0502020204030204" pitchFamily="34" charset="0"/>
              </a:rPr>
              <a:t> Alt</a:t>
            </a:r>
            <a:r>
              <a:rPr lang="de-DE" sz="1800" b="0" dirty="0">
                <a:solidFill>
                  <a:srgbClr val="E8E2B7"/>
                </a:solidFill>
                <a:highlight>
                  <a:srgbClr val="293134"/>
                </a:highlight>
                <a:cs typeface="Calibri" panose="020F0502020204030204" pitchFamily="34" charset="0"/>
              </a:rPr>
              <a:t>,</a:t>
            </a:r>
            <a:r>
              <a:rPr lang="de-DE" sz="1800" b="0" dirty="0">
                <a:solidFill>
                  <a:srgbClr val="E0E2E4"/>
                </a:solidFill>
                <a:highlight>
                  <a:srgbClr val="293134"/>
                </a:highlight>
                <a:cs typeface="Calibri" panose="020F0502020204030204" pitchFamily="34" charset="0"/>
              </a:rPr>
              <a:t> Neu</a:t>
            </a:r>
            <a:r>
              <a:rPr lang="de-DE" sz="1800" b="0" dirty="0">
                <a:solidFill>
                  <a:srgbClr val="E8E2B7"/>
                </a:solidFill>
                <a:highlight>
                  <a:srgbClr val="293134"/>
                </a:highlight>
                <a:cs typeface="Calibri" panose="020F0502020204030204" pitchFamily="34" charset="0"/>
              </a:rPr>
              <a:t>,</a:t>
            </a:r>
            <a:r>
              <a:rPr lang="de-DE" sz="1800" b="0" dirty="0">
                <a:solidFill>
                  <a:srgbClr val="E0E2E4"/>
                </a:solidFill>
                <a:highlight>
                  <a:srgbClr val="293134"/>
                </a:highlight>
                <a:cs typeface="Calibri" panose="020F0502020204030204" pitchFamily="34" charset="0"/>
              </a:rPr>
              <a:t> Datum</a:t>
            </a:r>
            <a:r>
              <a:rPr lang="de-DE" sz="1800" b="0" dirty="0">
                <a:solidFill>
                  <a:srgbClr val="E8E2B7"/>
                </a:solidFill>
                <a:highlight>
                  <a:srgbClr val="293134"/>
                </a:highlight>
                <a:cs typeface="Calibri" panose="020F0502020204030204" pitchFamily="34" charset="0"/>
              </a:rPr>
              <a:t>)</a:t>
            </a:r>
            <a:endParaRPr lang="de-DE" sz="1800" b="0" dirty="0">
              <a:solidFill>
                <a:srgbClr val="E0E2E4"/>
              </a:solidFill>
              <a:highlight>
                <a:srgbClr val="293134"/>
              </a:highlight>
              <a:cs typeface="Calibri" panose="020F0502020204030204" pitchFamily="34" charset="0"/>
            </a:endParaRPr>
          </a:p>
          <a:p>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VALUES</a:t>
            </a:r>
            <a:r>
              <a:rPr lang="de-DE" sz="1800" b="0" dirty="0">
                <a:solidFill>
                  <a:srgbClr val="E8E2B7"/>
                </a:solidFill>
                <a:highlight>
                  <a:srgbClr val="293134"/>
                </a:highlight>
                <a:cs typeface="Calibri" panose="020F0502020204030204" pitchFamily="34" charset="0"/>
              </a:rPr>
              <a:t>(</a:t>
            </a:r>
            <a:r>
              <a:rPr lang="de-DE" sz="1800" b="1" dirty="0" err="1">
                <a:solidFill>
                  <a:srgbClr val="93C763"/>
                </a:solidFill>
                <a:highlight>
                  <a:srgbClr val="293134"/>
                </a:highlight>
                <a:cs typeface="Calibri" panose="020F0502020204030204" pitchFamily="34" charset="0"/>
              </a:rPr>
              <a:t>OLD</a:t>
            </a:r>
            <a:r>
              <a:rPr lang="de-DE" sz="1800" b="0" dirty="0" err="1">
                <a:solidFill>
                  <a:srgbClr val="E8E2B7"/>
                </a:solidFill>
                <a:highlight>
                  <a:srgbClr val="293134"/>
                </a:highlight>
                <a:cs typeface="Calibri" panose="020F0502020204030204" pitchFamily="34" charset="0"/>
              </a:rPr>
              <a:t>.</a:t>
            </a:r>
            <a:r>
              <a:rPr lang="de-DE" sz="1800" b="0" dirty="0" err="1">
                <a:solidFill>
                  <a:srgbClr val="E0E2E4"/>
                </a:solidFill>
                <a:highlight>
                  <a:srgbClr val="293134"/>
                </a:highlight>
                <a:cs typeface="Calibri" panose="020F0502020204030204" pitchFamily="34" charset="0"/>
              </a:rPr>
              <a:t>Eine_ID</a:t>
            </a:r>
            <a:r>
              <a:rPr lang="de-DE" sz="1800" b="0" dirty="0">
                <a:solidFill>
                  <a:srgbClr val="E8E2B7"/>
                </a:solidFill>
                <a:highlight>
                  <a:srgbClr val="293134"/>
                </a:highlight>
                <a:cs typeface="Calibri" panose="020F0502020204030204" pitchFamily="34" charset="0"/>
              </a:rPr>
              <a:t>,</a:t>
            </a:r>
            <a:r>
              <a:rPr lang="de-DE" sz="1800" b="0" dirty="0">
                <a:solidFill>
                  <a:srgbClr val="E0E2E4"/>
                </a:solidFill>
                <a:highlight>
                  <a:srgbClr val="293134"/>
                </a:highlight>
                <a:cs typeface="Calibri" panose="020F0502020204030204" pitchFamily="34" charset="0"/>
              </a:rPr>
              <a:t> </a:t>
            </a:r>
            <a:r>
              <a:rPr lang="de-DE" sz="1800" b="1" dirty="0" err="1">
                <a:solidFill>
                  <a:srgbClr val="93C763"/>
                </a:solidFill>
                <a:highlight>
                  <a:srgbClr val="293134"/>
                </a:highlight>
                <a:cs typeface="Calibri" panose="020F0502020204030204" pitchFamily="34" charset="0"/>
              </a:rPr>
              <a:t>OLD</a:t>
            </a:r>
            <a:r>
              <a:rPr lang="de-DE" sz="1800" b="0" dirty="0" err="1">
                <a:solidFill>
                  <a:srgbClr val="E8E2B7"/>
                </a:solidFill>
                <a:highlight>
                  <a:srgbClr val="293134"/>
                </a:highlight>
                <a:cs typeface="Calibri" panose="020F0502020204030204" pitchFamily="34" charset="0"/>
              </a:rPr>
              <a:t>.</a:t>
            </a:r>
            <a:r>
              <a:rPr lang="de-DE" sz="1800" b="0" dirty="0" err="1">
                <a:solidFill>
                  <a:srgbClr val="E0E2E4"/>
                </a:solidFill>
                <a:highlight>
                  <a:srgbClr val="293134"/>
                </a:highlight>
                <a:cs typeface="Calibri" panose="020F0502020204030204" pitchFamily="34" charset="0"/>
              </a:rPr>
              <a:t>Vorname</a:t>
            </a:r>
            <a:r>
              <a:rPr lang="de-DE" sz="1800" b="0" dirty="0">
                <a:solidFill>
                  <a:srgbClr val="E8E2B7"/>
                </a:solidFill>
                <a:highlight>
                  <a:srgbClr val="293134"/>
                </a:highlight>
                <a:cs typeface="Calibri" panose="020F0502020204030204" pitchFamily="34" charset="0"/>
              </a:rPr>
              <a:t>,</a:t>
            </a:r>
            <a:r>
              <a:rPr lang="de-DE" sz="1800" b="0" dirty="0">
                <a:solidFill>
                  <a:srgbClr val="E0E2E4"/>
                </a:solidFill>
                <a:highlight>
                  <a:srgbClr val="293134"/>
                </a:highlight>
                <a:cs typeface="Calibri" panose="020F0502020204030204" pitchFamily="34" charset="0"/>
              </a:rPr>
              <a:t> </a:t>
            </a:r>
            <a:r>
              <a:rPr lang="de-DE" sz="1800" b="1" dirty="0" err="1">
                <a:solidFill>
                  <a:srgbClr val="93C763"/>
                </a:solidFill>
                <a:highlight>
                  <a:srgbClr val="293134"/>
                </a:highlight>
                <a:cs typeface="Calibri" panose="020F0502020204030204" pitchFamily="34" charset="0"/>
              </a:rPr>
              <a:t>NEW</a:t>
            </a:r>
            <a:r>
              <a:rPr lang="de-DE" sz="1800" b="0" dirty="0" err="1">
                <a:solidFill>
                  <a:srgbClr val="E8E2B7"/>
                </a:solidFill>
                <a:highlight>
                  <a:srgbClr val="293134"/>
                </a:highlight>
                <a:cs typeface="Calibri" panose="020F0502020204030204" pitchFamily="34" charset="0"/>
              </a:rPr>
              <a:t>.</a:t>
            </a:r>
            <a:r>
              <a:rPr lang="de-DE" sz="1800" b="0" dirty="0" err="1">
                <a:solidFill>
                  <a:srgbClr val="E0E2E4"/>
                </a:solidFill>
                <a:highlight>
                  <a:srgbClr val="293134"/>
                </a:highlight>
                <a:cs typeface="Calibri" panose="020F0502020204030204" pitchFamily="34" charset="0"/>
              </a:rPr>
              <a:t>Vorname</a:t>
            </a:r>
            <a:r>
              <a:rPr lang="de-DE" sz="1800" b="0" dirty="0">
                <a:solidFill>
                  <a:srgbClr val="E8E2B7"/>
                </a:solidFill>
                <a:highlight>
                  <a:srgbClr val="293134"/>
                </a:highlight>
                <a:cs typeface="Calibri" panose="020F0502020204030204" pitchFamily="34" charset="0"/>
              </a:rPr>
              <a:t>,</a:t>
            </a:r>
            <a:r>
              <a:rPr lang="de-DE" sz="1800" b="0" dirty="0">
                <a:solidFill>
                  <a:srgbClr val="E0E2E4"/>
                </a:solidFill>
                <a:highlight>
                  <a:srgbClr val="293134"/>
                </a:highlight>
                <a:cs typeface="Calibri" panose="020F0502020204030204" pitchFamily="34" charset="0"/>
              </a:rPr>
              <a:t> CURDATE</a:t>
            </a:r>
            <a:r>
              <a:rPr lang="de-DE" sz="1800" b="0" dirty="0">
                <a:solidFill>
                  <a:srgbClr val="E8E2B7"/>
                </a:solidFill>
                <a:highlight>
                  <a:srgbClr val="293134"/>
                </a:highlight>
                <a:cs typeface="Calibri" panose="020F0502020204030204" pitchFamily="34" charset="0"/>
              </a:rPr>
              <a:t>());</a:t>
            </a:r>
            <a:endParaRPr lang="de-DE" sz="1800" b="0" dirty="0">
              <a:solidFill>
                <a:srgbClr val="E0E2E4"/>
              </a:solidFill>
              <a:highlight>
                <a:srgbClr val="293134"/>
              </a:highlight>
              <a:cs typeface="Calibri" panose="020F0502020204030204" pitchFamily="34" charset="0"/>
            </a:endParaRPr>
          </a:p>
          <a:p>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END</a:t>
            </a:r>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IF</a:t>
            </a:r>
            <a:r>
              <a:rPr lang="de-DE" sz="1800" b="0" dirty="0">
                <a:solidFill>
                  <a:srgbClr val="E8E2B7"/>
                </a:solidFill>
                <a:highlight>
                  <a:srgbClr val="293134"/>
                </a:highlight>
                <a:cs typeface="Calibri" panose="020F0502020204030204" pitchFamily="34" charset="0"/>
              </a:rPr>
              <a:t>;</a:t>
            </a:r>
            <a:endParaRPr lang="de-DE" sz="1800" b="0" dirty="0">
              <a:solidFill>
                <a:srgbClr val="E0E2E4"/>
              </a:solidFill>
              <a:highlight>
                <a:srgbClr val="293134"/>
              </a:highlight>
              <a:cs typeface="Calibri" panose="020F0502020204030204" pitchFamily="34" charset="0"/>
            </a:endParaRPr>
          </a:p>
          <a:p>
            <a:r>
              <a:rPr lang="en-US" sz="1800" b="0" dirty="0">
                <a:solidFill>
                  <a:srgbClr val="E0E2E4"/>
                </a:solidFill>
                <a:highlight>
                  <a:srgbClr val="293134"/>
                </a:highlight>
                <a:cs typeface="Calibri" panose="020F0502020204030204" pitchFamily="34" charset="0"/>
              </a:rPr>
              <a:t>    </a:t>
            </a:r>
            <a:r>
              <a:rPr lang="en-US" sz="1800" b="1" dirty="0">
                <a:solidFill>
                  <a:srgbClr val="93C763"/>
                </a:solidFill>
                <a:highlight>
                  <a:srgbClr val="293134"/>
                </a:highlight>
                <a:cs typeface="Calibri" panose="020F0502020204030204" pitchFamily="34" charset="0"/>
              </a:rPr>
              <a:t>IF</a:t>
            </a:r>
            <a:r>
              <a:rPr lang="en-US" sz="1800" b="0" dirty="0">
                <a:solidFill>
                  <a:srgbClr val="E0E2E4"/>
                </a:solidFill>
                <a:highlight>
                  <a:srgbClr val="293134"/>
                </a:highlight>
                <a:cs typeface="Calibri" panose="020F0502020204030204" pitchFamily="34" charset="0"/>
              </a:rPr>
              <a:t> </a:t>
            </a:r>
            <a:r>
              <a:rPr lang="en-US" sz="1800" b="1" dirty="0" err="1">
                <a:solidFill>
                  <a:srgbClr val="93C763"/>
                </a:solidFill>
                <a:highlight>
                  <a:srgbClr val="293134"/>
                </a:highlight>
                <a:cs typeface="Calibri" panose="020F0502020204030204" pitchFamily="34" charset="0"/>
              </a:rPr>
              <a:t>OLD</a:t>
            </a:r>
            <a:r>
              <a:rPr lang="en-US" sz="1800" b="0" dirty="0" err="1">
                <a:solidFill>
                  <a:srgbClr val="E8E2B7"/>
                </a:solidFill>
                <a:highlight>
                  <a:srgbClr val="293134"/>
                </a:highlight>
                <a:cs typeface="Calibri" panose="020F0502020204030204" pitchFamily="34" charset="0"/>
              </a:rPr>
              <a:t>.</a:t>
            </a:r>
            <a:r>
              <a:rPr lang="en-US" sz="1800" b="0" dirty="0" err="1">
                <a:solidFill>
                  <a:srgbClr val="E0E2E4"/>
                </a:solidFill>
                <a:highlight>
                  <a:srgbClr val="293134"/>
                </a:highlight>
                <a:cs typeface="Calibri" panose="020F0502020204030204" pitchFamily="34" charset="0"/>
              </a:rPr>
              <a:t>Nachname</a:t>
            </a:r>
            <a:r>
              <a:rPr lang="en-US" sz="1800" b="0" dirty="0">
                <a:solidFill>
                  <a:srgbClr val="E0E2E4"/>
                </a:solidFill>
                <a:highlight>
                  <a:srgbClr val="293134"/>
                </a:highlight>
                <a:cs typeface="Calibri" panose="020F0502020204030204" pitchFamily="34" charset="0"/>
              </a:rPr>
              <a:t> </a:t>
            </a:r>
            <a:r>
              <a:rPr lang="en-US" sz="1800" b="0" dirty="0">
                <a:solidFill>
                  <a:srgbClr val="E8E2B7"/>
                </a:solidFill>
                <a:highlight>
                  <a:srgbClr val="293134"/>
                </a:highlight>
                <a:cs typeface="Calibri" panose="020F0502020204030204" pitchFamily="34" charset="0"/>
              </a:rPr>
              <a:t>&lt;&gt;</a:t>
            </a:r>
            <a:r>
              <a:rPr lang="en-US" sz="1800" b="0" dirty="0">
                <a:solidFill>
                  <a:srgbClr val="E0E2E4"/>
                </a:solidFill>
                <a:highlight>
                  <a:srgbClr val="293134"/>
                </a:highlight>
                <a:cs typeface="Calibri" panose="020F0502020204030204" pitchFamily="34" charset="0"/>
              </a:rPr>
              <a:t> </a:t>
            </a:r>
            <a:r>
              <a:rPr lang="en-US" sz="1800" b="1" dirty="0" err="1">
                <a:solidFill>
                  <a:srgbClr val="93C763"/>
                </a:solidFill>
                <a:highlight>
                  <a:srgbClr val="293134"/>
                </a:highlight>
                <a:cs typeface="Calibri" panose="020F0502020204030204" pitchFamily="34" charset="0"/>
              </a:rPr>
              <a:t>NEW</a:t>
            </a:r>
            <a:r>
              <a:rPr lang="en-US" sz="1800" b="0" dirty="0" err="1">
                <a:solidFill>
                  <a:srgbClr val="E8E2B7"/>
                </a:solidFill>
                <a:highlight>
                  <a:srgbClr val="293134"/>
                </a:highlight>
                <a:cs typeface="Calibri" panose="020F0502020204030204" pitchFamily="34" charset="0"/>
              </a:rPr>
              <a:t>.</a:t>
            </a:r>
            <a:r>
              <a:rPr lang="en-US" sz="1800" b="0" dirty="0" err="1">
                <a:solidFill>
                  <a:srgbClr val="E0E2E4"/>
                </a:solidFill>
                <a:highlight>
                  <a:srgbClr val="293134"/>
                </a:highlight>
                <a:cs typeface="Calibri" panose="020F0502020204030204" pitchFamily="34" charset="0"/>
              </a:rPr>
              <a:t>Nachname</a:t>
            </a:r>
            <a:r>
              <a:rPr lang="en-US" sz="1800" b="0" dirty="0">
                <a:solidFill>
                  <a:srgbClr val="E0E2E4"/>
                </a:solidFill>
                <a:highlight>
                  <a:srgbClr val="293134"/>
                </a:highlight>
                <a:cs typeface="Calibri" panose="020F0502020204030204" pitchFamily="34" charset="0"/>
              </a:rPr>
              <a:t> </a:t>
            </a:r>
            <a:r>
              <a:rPr lang="en-US" sz="1800" b="1" dirty="0">
                <a:solidFill>
                  <a:srgbClr val="93C763"/>
                </a:solidFill>
                <a:highlight>
                  <a:srgbClr val="293134"/>
                </a:highlight>
                <a:cs typeface="Calibri" panose="020F0502020204030204" pitchFamily="34" charset="0"/>
              </a:rPr>
              <a:t>THEN</a:t>
            </a:r>
            <a:endParaRPr lang="en-US" sz="1800" b="0" dirty="0">
              <a:solidFill>
                <a:srgbClr val="E0E2E4"/>
              </a:solidFill>
              <a:highlight>
                <a:srgbClr val="293134"/>
              </a:highlight>
              <a:cs typeface="Calibri" panose="020F0502020204030204" pitchFamily="34" charset="0"/>
            </a:endParaRPr>
          </a:p>
          <a:p>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INSERT</a:t>
            </a:r>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INTO</a:t>
            </a:r>
            <a:r>
              <a:rPr lang="de-DE" sz="1800" b="0" dirty="0">
                <a:solidFill>
                  <a:srgbClr val="E0E2E4"/>
                </a:solidFill>
                <a:highlight>
                  <a:srgbClr val="293134"/>
                </a:highlight>
                <a:cs typeface="Calibri" panose="020F0502020204030204" pitchFamily="34" charset="0"/>
              </a:rPr>
              <a:t> </a:t>
            </a:r>
            <a:r>
              <a:rPr lang="de-DE" sz="1800" b="0" dirty="0" err="1">
                <a:solidFill>
                  <a:srgbClr val="E0E2E4"/>
                </a:solidFill>
                <a:highlight>
                  <a:srgbClr val="293134"/>
                </a:highlight>
                <a:cs typeface="Calibri" panose="020F0502020204030204" pitchFamily="34" charset="0"/>
              </a:rPr>
              <a:t>logtable</a:t>
            </a:r>
            <a:r>
              <a:rPr lang="de-DE" sz="1800" b="0" dirty="0">
                <a:solidFill>
                  <a:srgbClr val="E8E2B7"/>
                </a:solidFill>
                <a:highlight>
                  <a:srgbClr val="293134"/>
                </a:highlight>
                <a:cs typeface="Calibri" panose="020F0502020204030204" pitchFamily="34" charset="0"/>
              </a:rPr>
              <a:t>(</a:t>
            </a:r>
            <a:r>
              <a:rPr lang="de-DE" sz="1800" b="0" dirty="0" err="1">
                <a:solidFill>
                  <a:srgbClr val="E0E2E4"/>
                </a:solidFill>
                <a:highlight>
                  <a:srgbClr val="293134"/>
                </a:highlight>
                <a:cs typeface="Calibri" panose="020F0502020204030204" pitchFamily="34" charset="0"/>
              </a:rPr>
              <a:t>Testdaten_ID</a:t>
            </a:r>
            <a:r>
              <a:rPr lang="de-DE" sz="1800" b="0" dirty="0">
                <a:solidFill>
                  <a:srgbClr val="E8E2B7"/>
                </a:solidFill>
                <a:highlight>
                  <a:srgbClr val="293134"/>
                </a:highlight>
                <a:cs typeface="Calibri" panose="020F0502020204030204" pitchFamily="34" charset="0"/>
              </a:rPr>
              <a:t>,</a:t>
            </a:r>
            <a:r>
              <a:rPr lang="de-DE" sz="1800" b="0" dirty="0">
                <a:solidFill>
                  <a:srgbClr val="E0E2E4"/>
                </a:solidFill>
                <a:highlight>
                  <a:srgbClr val="293134"/>
                </a:highlight>
                <a:cs typeface="Calibri" panose="020F0502020204030204" pitchFamily="34" charset="0"/>
              </a:rPr>
              <a:t> Alt</a:t>
            </a:r>
            <a:r>
              <a:rPr lang="de-DE" sz="1800" b="0" dirty="0">
                <a:solidFill>
                  <a:srgbClr val="E8E2B7"/>
                </a:solidFill>
                <a:highlight>
                  <a:srgbClr val="293134"/>
                </a:highlight>
                <a:cs typeface="Calibri" panose="020F0502020204030204" pitchFamily="34" charset="0"/>
              </a:rPr>
              <a:t>,</a:t>
            </a:r>
            <a:r>
              <a:rPr lang="de-DE" sz="1800" b="0" dirty="0">
                <a:solidFill>
                  <a:srgbClr val="E0E2E4"/>
                </a:solidFill>
                <a:highlight>
                  <a:srgbClr val="293134"/>
                </a:highlight>
                <a:cs typeface="Calibri" panose="020F0502020204030204" pitchFamily="34" charset="0"/>
              </a:rPr>
              <a:t> Neu</a:t>
            </a:r>
            <a:r>
              <a:rPr lang="de-DE" sz="1800" b="0" dirty="0">
                <a:solidFill>
                  <a:srgbClr val="E8E2B7"/>
                </a:solidFill>
                <a:highlight>
                  <a:srgbClr val="293134"/>
                </a:highlight>
                <a:cs typeface="Calibri" panose="020F0502020204030204" pitchFamily="34" charset="0"/>
              </a:rPr>
              <a:t>,</a:t>
            </a:r>
            <a:r>
              <a:rPr lang="de-DE" sz="1800" b="0" dirty="0">
                <a:solidFill>
                  <a:srgbClr val="E0E2E4"/>
                </a:solidFill>
                <a:highlight>
                  <a:srgbClr val="293134"/>
                </a:highlight>
                <a:cs typeface="Calibri" panose="020F0502020204030204" pitchFamily="34" charset="0"/>
              </a:rPr>
              <a:t> Datum</a:t>
            </a:r>
            <a:r>
              <a:rPr lang="de-DE" sz="1800" b="0" dirty="0">
                <a:solidFill>
                  <a:srgbClr val="E8E2B7"/>
                </a:solidFill>
                <a:highlight>
                  <a:srgbClr val="293134"/>
                </a:highlight>
                <a:cs typeface="Calibri" panose="020F0502020204030204" pitchFamily="34" charset="0"/>
              </a:rPr>
              <a:t>)</a:t>
            </a:r>
            <a:endParaRPr lang="de-DE" sz="1800" b="0" dirty="0">
              <a:solidFill>
                <a:srgbClr val="E0E2E4"/>
              </a:solidFill>
              <a:highlight>
                <a:srgbClr val="293134"/>
              </a:highlight>
              <a:cs typeface="Calibri" panose="020F0502020204030204" pitchFamily="34" charset="0"/>
            </a:endParaRPr>
          </a:p>
          <a:p>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VALUES</a:t>
            </a:r>
            <a:r>
              <a:rPr lang="de-DE" sz="1800" b="0" dirty="0">
                <a:solidFill>
                  <a:srgbClr val="E8E2B7"/>
                </a:solidFill>
                <a:highlight>
                  <a:srgbClr val="293134"/>
                </a:highlight>
                <a:cs typeface="Calibri" panose="020F0502020204030204" pitchFamily="34" charset="0"/>
              </a:rPr>
              <a:t>(</a:t>
            </a:r>
            <a:r>
              <a:rPr lang="de-DE" sz="1800" b="1" dirty="0" err="1">
                <a:solidFill>
                  <a:srgbClr val="93C763"/>
                </a:solidFill>
                <a:highlight>
                  <a:srgbClr val="293134"/>
                </a:highlight>
                <a:cs typeface="Calibri" panose="020F0502020204030204" pitchFamily="34" charset="0"/>
              </a:rPr>
              <a:t>OLD</a:t>
            </a:r>
            <a:r>
              <a:rPr lang="de-DE" sz="1800" b="0" dirty="0" err="1">
                <a:solidFill>
                  <a:srgbClr val="E8E2B7"/>
                </a:solidFill>
                <a:highlight>
                  <a:srgbClr val="293134"/>
                </a:highlight>
                <a:cs typeface="Calibri" panose="020F0502020204030204" pitchFamily="34" charset="0"/>
              </a:rPr>
              <a:t>.</a:t>
            </a:r>
            <a:r>
              <a:rPr lang="de-DE" sz="1800" b="0" dirty="0" err="1">
                <a:solidFill>
                  <a:srgbClr val="E0E2E4"/>
                </a:solidFill>
                <a:highlight>
                  <a:srgbClr val="293134"/>
                </a:highlight>
                <a:cs typeface="Calibri" panose="020F0502020204030204" pitchFamily="34" charset="0"/>
              </a:rPr>
              <a:t>Eine_ID</a:t>
            </a:r>
            <a:r>
              <a:rPr lang="de-DE" sz="1800" b="0" dirty="0">
                <a:solidFill>
                  <a:srgbClr val="E8E2B7"/>
                </a:solidFill>
                <a:highlight>
                  <a:srgbClr val="293134"/>
                </a:highlight>
                <a:cs typeface="Calibri" panose="020F0502020204030204" pitchFamily="34" charset="0"/>
              </a:rPr>
              <a:t>,</a:t>
            </a:r>
            <a:r>
              <a:rPr lang="de-DE" sz="1800" b="0" dirty="0">
                <a:solidFill>
                  <a:srgbClr val="E0E2E4"/>
                </a:solidFill>
                <a:highlight>
                  <a:srgbClr val="293134"/>
                </a:highlight>
                <a:cs typeface="Calibri" panose="020F0502020204030204" pitchFamily="34" charset="0"/>
              </a:rPr>
              <a:t> </a:t>
            </a:r>
            <a:r>
              <a:rPr lang="de-DE" sz="1800" b="1" dirty="0" err="1">
                <a:solidFill>
                  <a:srgbClr val="93C763"/>
                </a:solidFill>
                <a:highlight>
                  <a:srgbClr val="293134"/>
                </a:highlight>
                <a:cs typeface="Calibri" panose="020F0502020204030204" pitchFamily="34" charset="0"/>
              </a:rPr>
              <a:t>OLD</a:t>
            </a:r>
            <a:r>
              <a:rPr lang="de-DE" sz="1800" b="0" dirty="0" err="1">
                <a:solidFill>
                  <a:srgbClr val="E8E2B7"/>
                </a:solidFill>
                <a:highlight>
                  <a:srgbClr val="293134"/>
                </a:highlight>
                <a:cs typeface="Calibri" panose="020F0502020204030204" pitchFamily="34" charset="0"/>
              </a:rPr>
              <a:t>.</a:t>
            </a:r>
            <a:r>
              <a:rPr lang="de-DE" sz="1800" b="0" dirty="0" err="1">
                <a:solidFill>
                  <a:srgbClr val="E0E2E4"/>
                </a:solidFill>
                <a:highlight>
                  <a:srgbClr val="293134"/>
                </a:highlight>
                <a:cs typeface="Calibri" panose="020F0502020204030204" pitchFamily="34" charset="0"/>
              </a:rPr>
              <a:t>Nachname</a:t>
            </a:r>
            <a:r>
              <a:rPr lang="de-DE" sz="1800" b="0" dirty="0">
                <a:solidFill>
                  <a:srgbClr val="E8E2B7"/>
                </a:solidFill>
                <a:highlight>
                  <a:srgbClr val="293134"/>
                </a:highlight>
                <a:cs typeface="Calibri" panose="020F0502020204030204" pitchFamily="34" charset="0"/>
              </a:rPr>
              <a:t>,</a:t>
            </a:r>
            <a:r>
              <a:rPr lang="de-DE" sz="1800" b="0" dirty="0">
                <a:solidFill>
                  <a:srgbClr val="E0E2E4"/>
                </a:solidFill>
                <a:highlight>
                  <a:srgbClr val="293134"/>
                </a:highlight>
                <a:cs typeface="Calibri" panose="020F0502020204030204" pitchFamily="34" charset="0"/>
              </a:rPr>
              <a:t> </a:t>
            </a:r>
            <a:r>
              <a:rPr lang="de-DE" sz="1800" b="1" dirty="0" err="1">
                <a:solidFill>
                  <a:srgbClr val="93C763"/>
                </a:solidFill>
                <a:highlight>
                  <a:srgbClr val="293134"/>
                </a:highlight>
                <a:cs typeface="Calibri" panose="020F0502020204030204" pitchFamily="34" charset="0"/>
              </a:rPr>
              <a:t>NEW</a:t>
            </a:r>
            <a:r>
              <a:rPr lang="de-DE" sz="1800" b="0" dirty="0" err="1">
                <a:solidFill>
                  <a:srgbClr val="E8E2B7"/>
                </a:solidFill>
                <a:highlight>
                  <a:srgbClr val="293134"/>
                </a:highlight>
                <a:cs typeface="Calibri" panose="020F0502020204030204" pitchFamily="34" charset="0"/>
              </a:rPr>
              <a:t>.</a:t>
            </a:r>
            <a:r>
              <a:rPr lang="de-DE" sz="1800" b="0" dirty="0" err="1">
                <a:solidFill>
                  <a:srgbClr val="E0E2E4"/>
                </a:solidFill>
                <a:highlight>
                  <a:srgbClr val="293134"/>
                </a:highlight>
                <a:cs typeface="Calibri" panose="020F0502020204030204" pitchFamily="34" charset="0"/>
              </a:rPr>
              <a:t>Nachname</a:t>
            </a:r>
            <a:r>
              <a:rPr lang="de-DE" sz="1800" b="0" dirty="0">
                <a:solidFill>
                  <a:srgbClr val="E8E2B7"/>
                </a:solidFill>
                <a:highlight>
                  <a:srgbClr val="293134"/>
                </a:highlight>
                <a:cs typeface="Calibri" panose="020F0502020204030204" pitchFamily="34" charset="0"/>
              </a:rPr>
              <a:t>,</a:t>
            </a:r>
            <a:r>
              <a:rPr lang="de-DE" sz="1800" b="0" dirty="0">
                <a:solidFill>
                  <a:srgbClr val="E0E2E4"/>
                </a:solidFill>
                <a:highlight>
                  <a:srgbClr val="293134"/>
                </a:highlight>
                <a:cs typeface="Calibri" panose="020F0502020204030204" pitchFamily="34" charset="0"/>
              </a:rPr>
              <a:t> CURDATE</a:t>
            </a:r>
            <a:r>
              <a:rPr lang="de-DE" sz="1800" b="0" dirty="0">
                <a:solidFill>
                  <a:srgbClr val="E8E2B7"/>
                </a:solidFill>
                <a:highlight>
                  <a:srgbClr val="293134"/>
                </a:highlight>
                <a:cs typeface="Calibri" panose="020F0502020204030204" pitchFamily="34" charset="0"/>
              </a:rPr>
              <a:t>());</a:t>
            </a:r>
            <a:endParaRPr lang="de-DE" sz="1800" b="0" dirty="0">
              <a:solidFill>
                <a:srgbClr val="E0E2E4"/>
              </a:solidFill>
              <a:highlight>
                <a:srgbClr val="293134"/>
              </a:highlight>
              <a:cs typeface="Calibri" panose="020F0502020204030204" pitchFamily="34" charset="0"/>
            </a:endParaRPr>
          </a:p>
          <a:p>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END</a:t>
            </a:r>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IF</a:t>
            </a:r>
            <a:r>
              <a:rPr lang="de-DE" sz="1800" b="0" dirty="0">
                <a:solidFill>
                  <a:srgbClr val="E8E2B7"/>
                </a:solidFill>
                <a:highlight>
                  <a:srgbClr val="293134"/>
                </a:highlight>
                <a:cs typeface="Calibri" panose="020F0502020204030204" pitchFamily="34" charset="0"/>
              </a:rPr>
              <a:t>;</a:t>
            </a:r>
            <a:endParaRPr lang="de-DE" sz="1800" b="0" dirty="0">
              <a:solidFill>
                <a:srgbClr val="E0E2E4"/>
              </a:solidFill>
              <a:highlight>
                <a:srgbClr val="293134"/>
              </a:highlight>
              <a:cs typeface="Calibri" panose="020F0502020204030204" pitchFamily="34" charset="0"/>
            </a:endParaRPr>
          </a:p>
          <a:p>
            <a:r>
              <a:rPr lang="en-US" sz="1800" b="0" dirty="0">
                <a:solidFill>
                  <a:srgbClr val="E0E2E4"/>
                </a:solidFill>
                <a:highlight>
                  <a:srgbClr val="293134"/>
                </a:highlight>
                <a:cs typeface="Calibri" panose="020F0502020204030204" pitchFamily="34" charset="0"/>
              </a:rPr>
              <a:t>    </a:t>
            </a:r>
            <a:r>
              <a:rPr lang="en-US" sz="1800" b="1" dirty="0">
                <a:solidFill>
                  <a:srgbClr val="93C763"/>
                </a:solidFill>
                <a:highlight>
                  <a:srgbClr val="293134"/>
                </a:highlight>
                <a:cs typeface="Calibri" panose="020F0502020204030204" pitchFamily="34" charset="0"/>
              </a:rPr>
              <a:t>IF</a:t>
            </a:r>
            <a:r>
              <a:rPr lang="en-US" sz="1800" b="0" dirty="0">
                <a:solidFill>
                  <a:srgbClr val="E0E2E4"/>
                </a:solidFill>
                <a:highlight>
                  <a:srgbClr val="293134"/>
                </a:highlight>
                <a:cs typeface="Calibri" panose="020F0502020204030204" pitchFamily="34" charset="0"/>
              </a:rPr>
              <a:t> </a:t>
            </a:r>
            <a:r>
              <a:rPr lang="en-US" sz="1800" b="1" dirty="0" err="1">
                <a:solidFill>
                  <a:srgbClr val="93C763"/>
                </a:solidFill>
                <a:highlight>
                  <a:srgbClr val="293134"/>
                </a:highlight>
                <a:cs typeface="Calibri" panose="020F0502020204030204" pitchFamily="34" charset="0"/>
              </a:rPr>
              <a:t>OLD</a:t>
            </a:r>
            <a:r>
              <a:rPr lang="en-US" sz="1800" b="0" dirty="0" err="1">
                <a:solidFill>
                  <a:srgbClr val="E8E2B7"/>
                </a:solidFill>
                <a:highlight>
                  <a:srgbClr val="293134"/>
                </a:highlight>
                <a:cs typeface="Calibri" panose="020F0502020204030204" pitchFamily="34" charset="0"/>
              </a:rPr>
              <a:t>.</a:t>
            </a:r>
            <a:r>
              <a:rPr lang="en-US" sz="1800" b="0" dirty="0" err="1">
                <a:solidFill>
                  <a:srgbClr val="E0E2E4"/>
                </a:solidFill>
                <a:highlight>
                  <a:srgbClr val="293134"/>
                </a:highlight>
                <a:cs typeface="Calibri" panose="020F0502020204030204" pitchFamily="34" charset="0"/>
              </a:rPr>
              <a:t>Kontostand</a:t>
            </a:r>
            <a:r>
              <a:rPr lang="en-US" sz="1800" b="0" dirty="0">
                <a:solidFill>
                  <a:srgbClr val="E0E2E4"/>
                </a:solidFill>
                <a:highlight>
                  <a:srgbClr val="293134"/>
                </a:highlight>
                <a:cs typeface="Calibri" panose="020F0502020204030204" pitchFamily="34" charset="0"/>
              </a:rPr>
              <a:t> </a:t>
            </a:r>
            <a:r>
              <a:rPr lang="en-US" sz="1800" b="0" dirty="0">
                <a:solidFill>
                  <a:srgbClr val="E8E2B7"/>
                </a:solidFill>
                <a:highlight>
                  <a:srgbClr val="293134"/>
                </a:highlight>
                <a:cs typeface="Calibri" panose="020F0502020204030204" pitchFamily="34" charset="0"/>
              </a:rPr>
              <a:t>&lt;&gt;</a:t>
            </a:r>
            <a:r>
              <a:rPr lang="en-US" sz="1800" b="0" dirty="0">
                <a:solidFill>
                  <a:srgbClr val="E0E2E4"/>
                </a:solidFill>
                <a:highlight>
                  <a:srgbClr val="293134"/>
                </a:highlight>
                <a:cs typeface="Calibri" panose="020F0502020204030204" pitchFamily="34" charset="0"/>
              </a:rPr>
              <a:t> </a:t>
            </a:r>
            <a:r>
              <a:rPr lang="en-US" sz="1800" b="1" dirty="0" err="1">
                <a:solidFill>
                  <a:srgbClr val="93C763"/>
                </a:solidFill>
                <a:highlight>
                  <a:srgbClr val="293134"/>
                </a:highlight>
                <a:cs typeface="Calibri" panose="020F0502020204030204" pitchFamily="34" charset="0"/>
              </a:rPr>
              <a:t>NEW</a:t>
            </a:r>
            <a:r>
              <a:rPr lang="en-US" sz="1800" b="0" dirty="0" err="1">
                <a:solidFill>
                  <a:srgbClr val="E8E2B7"/>
                </a:solidFill>
                <a:highlight>
                  <a:srgbClr val="293134"/>
                </a:highlight>
                <a:cs typeface="Calibri" panose="020F0502020204030204" pitchFamily="34" charset="0"/>
              </a:rPr>
              <a:t>.</a:t>
            </a:r>
            <a:r>
              <a:rPr lang="en-US" sz="1800" b="0" dirty="0" err="1">
                <a:solidFill>
                  <a:srgbClr val="E0E2E4"/>
                </a:solidFill>
                <a:highlight>
                  <a:srgbClr val="293134"/>
                </a:highlight>
                <a:cs typeface="Calibri" panose="020F0502020204030204" pitchFamily="34" charset="0"/>
              </a:rPr>
              <a:t>Kontostand</a:t>
            </a:r>
            <a:r>
              <a:rPr lang="en-US" sz="1800" b="0" dirty="0">
                <a:solidFill>
                  <a:srgbClr val="E0E2E4"/>
                </a:solidFill>
                <a:highlight>
                  <a:srgbClr val="293134"/>
                </a:highlight>
                <a:cs typeface="Calibri" panose="020F0502020204030204" pitchFamily="34" charset="0"/>
              </a:rPr>
              <a:t> </a:t>
            </a:r>
            <a:r>
              <a:rPr lang="en-US" sz="1800" b="1" dirty="0">
                <a:solidFill>
                  <a:srgbClr val="93C763"/>
                </a:solidFill>
                <a:highlight>
                  <a:srgbClr val="293134"/>
                </a:highlight>
                <a:cs typeface="Calibri" panose="020F0502020204030204" pitchFamily="34" charset="0"/>
              </a:rPr>
              <a:t>THEN</a:t>
            </a:r>
            <a:endParaRPr lang="en-US" sz="1800" b="0" dirty="0">
              <a:solidFill>
                <a:srgbClr val="E0E2E4"/>
              </a:solidFill>
              <a:highlight>
                <a:srgbClr val="293134"/>
              </a:highlight>
              <a:cs typeface="Calibri" panose="020F0502020204030204" pitchFamily="34" charset="0"/>
            </a:endParaRPr>
          </a:p>
          <a:p>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INSERT</a:t>
            </a:r>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INTO</a:t>
            </a:r>
            <a:r>
              <a:rPr lang="de-DE" sz="1800" b="0" dirty="0">
                <a:solidFill>
                  <a:srgbClr val="E0E2E4"/>
                </a:solidFill>
                <a:highlight>
                  <a:srgbClr val="293134"/>
                </a:highlight>
                <a:cs typeface="Calibri" panose="020F0502020204030204" pitchFamily="34" charset="0"/>
              </a:rPr>
              <a:t> </a:t>
            </a:r>
            <a:r>
              <a:rPr lang="de-DE" sz="1800" b="0" dirty="0" err="1">
                <a:solidFill>
                  <a:srgbClr val="E0E2E4"/>
                </a:solidFill>
                <a:highlight>
                  <a:srgbClr val="293134"/>
                </a:highlight>
                <a:cs typeface="Calibri" panose="020F0502020204030204" pitchFamily="34" charset="0"/>
              </a:rPr>
              <a:t>logtable</a:t>
            </a:r>
            <a:r>
              <a:rPr lang="de-DE" sz="1800" b="0" dirty="0">
                <a:solidFill>
                  <a:srgbClr val="E8E2B7"/>
                </a:solidFill>
                <a:highlight>
                  <a:srgbClr val="293134"/>
                </a:highlight>
                <a:cs typeface="Calibri" panose="020F0502020204030204" pitchFamily="34" charset="0"/>
              </a:rPr>
              <a:t>(</a:t>
            </a:r>
            <a:r>
              <a:rPr lang="de-DE" sz="1800" b="0" dirty="0" err="1">
                <a:solidFill>
                  <a:srgbClr val="E0E2E4"/>
                </a:solidFill>
                <a:highlight>
                  <a:srgbClr val="293134"/>
                </a:highlight>
                <a:cs typeface="Calibri" panose="020F0502020204030204" pitchFamily="34" charset="0"/>
              </a:rPr>
              <a:t>Testdaten_ID</a:t>
            </a:r>
            <a:r>
              <a:rPr lang="de-DE" sz="1800" b="0" dirty="0">
                <a:solidFill>
                  <a:srgbClr val="E8E2B7"/>
                </a:solidFill>
                <a:highlight>
                  <a:srgbClr val="293134"/>
                </a:highlight>
                <a:cs typeface="Calibri" panose="020F0502020204030204" pitchFamily="34" charset="0"/>
              </a:rPr>
              <a:t>,</a:t>
            </a:r>
            <a:r>
              <a:rPr lang="de-DE" sz="1800" b="0" dirty="0">
                <a:solidFill>
                  <a:srgbClr val="E0E2E4"/>
                </a:solidFill>
                <a:highlight>
                  <a:srgbClr val="293134"/>
                </a:highlight>
                <a:cs typeface="Calibri" panose="020F0502020204030204" pitchFamily="34" charset="0"/>
              </a:rPr>
              <a:t> Alt</a:t>
            </a:r>
            <a:r>
              <a:rPr lang="de-DE" sz="1800" b="0" dirty="0">
                <a:solidFill>
                  <a:srgbClr val="E8E2B7"/>
                </a:solidFill>
                <a:highlight>
                  <a:srgbClr val="293134"/>
                </a:highlight>
                <a:cs typeface="Calibri" panose="020F0502020204030204" pitchFamily="34" charset="0"/>
              </a:rPr>
              <a:t>,</a:t>
            </a:r>
            <a:r>
              <a:rPr lang="de-DE" sz="1800" b="0" dirty="0">
                <a:solidFill>
                  <a:srgbClr val="E0E2E4"/>
                </a:solidFill>
                <a:highlight>
                  <a:srgbClr val="293134"/>
                </a:highlight>
                <a:cs typeface="Calibri" panose="020F0502020204030204" pitchFamily="34" charset="0"/>
              </a:rPr>
              <a:t> Neu</a:t>
            </a:r>
            <a:r>
              <a:rPr lang="de-DE" sz="1800" b="0" dirty="0">
                <a:solidFill>
                  <a:srgbClr val="E8E2B7"/>
                </a:solidFill>
                <a:highlight>
                  <a:srgbClr val="293134"/>
                </a:highlight>
                <a:cs typeface="Calibri" panose="020F0502020204030204" pitchFamily="34" charset="0"/>
              </a:rPr>
              <a:t>,</a:t>
            </a:r>
            <a:r>
              <a:rPr lang="de-DE" sz="1800" b="0" dirty="0">
                <a:solidFill>
                  <a:srgbClr val="E0E2E4"/>
                </a:solidFill>
                <a:highlight>
                  <a:srgbClr val="293134"/>
                </a:highlight>
                <a:cs typeface="Calibri" panose="020F0502020204030204" pitchFamily="34" charset="0"/>
              </a:rPr>
              <a:t> Datum</a:t>
            </a:r>
            <a:r>
              <a:rPr lang="de-DE" sz="1800" b="0" dirty="0">
                <a:solidFill>
                  <a:srgbClr val="E8E2B7"/>
                </a:solidFill>
                <a:highlight>
                  <a:srgbClr val="293134"/>
                </a:highlight>
                <a:cs typeface="Calibri" panose="020F0502020204030204" pitchFamily="34" charset="0"/>
              </a:rPr>
              <a:t>)</a:t>
            </a:r>
            <a:endParaRPr lang="de-DE" sz="1800" b="0" dirty="0">
              <a:solidFill>
                <a:srgbClr val="E0E2E4"/>
              </a:solidFill>
              <a:highlight>
                <a:srgbClr val="293134"/>
              </a:highlight>
              <a:cs typeface="Calibri" panose="020F0502020204030204" pitchFamily="34" charset="0"/>
            </a:endParaRPr>
          </a:p>
          <a:p>
            <a:r>
              <a:rPr lang="en-US" sz="1800" b="0" dirty="0">
                <a:solidFill>
                  <a:srgbClr val="E0E2E4"/>
                </a:solidFill>
                <a:highlight>
                  <a:srgbClr val="293134"/>
                </a:highlight>
                <a:cs typeface="Calibri" panose="020F0502020204030204" pitchFamily="34" charset="0"/>
              </a:rPr>
              <a:t>        </a:t>
            </a:r>
            <a:r>
              <a:rPr lang="en-US" sz="1800" b="1" dirty="0">
                <a:solidFill>
                  <a:srgbClr val="93C763"/>
                </a:solidFill>
                <a:highlight>
                  <a:srgbClr val="293134"/>
                </a:highlight>
                <a:cs typeface="Calibri" panose="020F0502020204030204" pitchFamily="34" charset="0"/>
              </a:rPr>
              <a:t>VALUES</a:t>
            </a:r>
            <a:r>
              <a:rPr lang="en-US" sz="1800" b="0" dirty="0">
                <a:solidFill>
                  <a:srgbClr val="E8E2B7"/>
                </a:solidFill>
                <a:highlight>
                  <a:srgbClr val="293134"/>
                </a:highlight>
                <a:cs typeface="Calibri" panose="020F0502020204030204" pitchFamily="34" charset="0"/>
              </a:rPr>
              <a:t>(</a:t>
            </a:r>
            <a:r>
              <a:rPr lang="en-US" sz="1800" b="1" dirty="0" err="1">
                <a:solidFill>
                  <a:srgbClr val="93C763"/>
                </a:solidFill>
                <a:highlight>
                  <a:srgbClr val="293134"/>
                </a:highlight>
                <a:cs typeface="Calibri" panose="020F0502020204030204" pitchFamily="34" charset="0"/>
              </a:rPr>
              <a:t>OLD</a:t>
            </a:r>
            <a:r>
              <a:rPr lang="en-US" sz="1800" b="0" dirty="0" err="1">
                <a:solidFill>
                  <a:srgbClr val="E8E2B7"/>
                </a:solidFill>
                <a:highlight>
                  <a:srgbClr val="293134"/>
                </a:highlight>
                <a:cs typeface="Calibri" panose="020F0502020204030204" pitchFamily="34" charset="0"/>
              </a:rPr>
              <a:t>.</a:t>
            </a:r>
            <a:r>
              <a:rPr lang="en-US" sz="1800" b="0" dirty="0" err="1">
                <a:solidFill>
                  <a:srgbClr val="E0E2E4"/>
                </a:solidFill>
                <a:highlight>
                  <a:srgbClr val="293134"/>
                </a:highlight>
                <a:cs typeface="Calibri" panose="020F0502020204030204" pitchFamily="34" charset="0"/>
              </a:rPr>
              <a:t>Eine_ID</a:t>
            </a:r>
            <a:r>
              <a:rPr lang="en-US" sz="1800" b="0" dirty="0">
                <a:solidFill>
                  <a:srgbClr val="E8E2B7"/>
                </a:solidFill>
                <a:highlight>
                  <a:srgbClr val="293134"/>
                </a:highlight>
                <a:cs typeface="Calibri" panose="020F0502020204030204" pitchFamily="34" charset="0"/>
              </a:rPr>
              <a:t>,</a:t>
            </a:r>
            <a:r>
              <a:rPr lang="en-US" sz="1800" b="0" dirty="0">
                <a:solidFill>
                  <a:srgbClr val="E0E2E4"/>
                </a:solidFill>
                <a:highlight>
                  <a:srgbClr val="293134"/>
                </a:highlight>
                <a:cs typeface="Calibri" panose="020F0502020204030204" pitchFamily="34" charset="0"/>
              </a:rPr>
              <a:t> </a:t>
            </a:r>
            <a:r>
              <a:rPr lang="en-US" sz="1800" b="1" dirty="0">
                <a:solidFill>
                  <a:srgbClr val="93C763"/>
                </a:solidFill>
                <a:highlight>
                  <a:srgbClr val="293134"/>
                </a:highlight>
                <a:cs typeface="Calibri" panose="020F0502020204030204" pitchFamily="34" charset="0"/>
              </a:rPr>
              <a:t>ROUND</a:t>
            </a:r>
            <a:r>
              <a:rPr lang="en-US" sz="1800" b="0" dirty="0">
                <a:solidFill>
                  <a:srgbClr val="E8E2B7"/>
                </a:solidFill>
                <a:highlight>
                  <a:srgbClr val="293134"/>
                </a:highlight>
                <a:cs typeface="Calibri" panose="020F0502020204030204" pitchFamily="34" charset="0"/>
              </a:rPr>
              <a:t>(</a:t>
            </a:r>
            <a:r>
              <a:rPr lang="en-US" sz="1800" b="1" dirty="0" err="1">
                <a:solidFill>
                  <a:srgbClr val="93C763"/>
                </a:solidFill>
                <a:highlight>
                  <a:srgbClr val="293134"/>
                </a:highlight>
                <a:cs typeface="Calibri" panose="020F0502020204030204" pitchFamily="34" charset="0"/>
              </a:rPr>
              <a:t>OLD</a:t>
            </a:r>
            <a:r>
              <a:rPr lang="en-US" sz="1800" b="0" dirty="0" err="1">
                <a:solidFill>
                  <a:srgbClr val="E8E2B7"/>
                </a:solidFill>
                <a:highlight>
                  <a:srgbClr val="293134"/>
                </a:highlight>
                <a:cs typeface="Calibri" panose="020F0502020204030204" pitchFamily="34" charset="0"/>
              </a:rPr>
              <a:t>.</a:t>
            </a:r>
            <a:r>
              <a:rPr lang="en-US" sz="1800" b="0" dirty="0" err="1">
                <a:solidFill>
                  <a:srgbClr val="E0E2E4"/>
                </a:solidFill>
                <a:highlight>
                  <a:srgbClr val="293134"/>
                </a:highlight>
                <a:cs typeface="Calibri" panose="020F0502020204030204" pitchFamily="34" charset="0"/>
              </a:rPr>
              <a:t>Kontostand</a:t>
            </a:r>
            <a:r>
              <a:rPr lang="en-US" sz="1800" b="0" dirty="0">
                <a:solidFill>
                  <a:srgbClr val="E8E2B7"/>
                </a:solidFill>
                <a:highlight>
                  <a:srgbClr val="293134"/>
                </a:highlight>
                <a:cs typeface="Calibri" panose="020F0502020204030204" pitchFamily="34" charset="0"/>
              </a:rPr>
              <a:t>,</a:t>
            </a:r>
            <a:r>
              <a:rPr lang="en-US" sz="1800" b="0" dirty="0">
                <a:solidFill>
                  <a:srgbClr val="E0E2E4"/>
                </a:solidFill>
                <a:highlight>
                  <a:srgbClr val="293134"/>
                </a:highlight>
                <a:cs typeface="Calibri" panose="020F0502020204030204" pitchFamily="34" charset="0"/>
              </a:rPr>
              <a:t> </a:t>
            </a:r>
            <a:r>
              <a:rPr lang="en-US" sz="1800" b="0" dirty="0">
                <a:solidFill>
                  <a:srgbClr val="FFCD22"/>
                </a:solidFill>
                <a:highlight>
                  <a:srgbClr val="293134"/>
                </a:highlight>
                <a:cs typeface="Calibri" panose="020F0502020204030204" pitchFamily="34" charset="0"/>
              </a:rPr>
              <a:t>2</a:t>
            </a:r>
            <a:r>
              <a:rPr lang="en-US" sz="1800" b="0" dirty="0">
                <a:solidFill>
                  <a:srgbClr val="E8E2B7"/>
                </a:solidFill>
                <a:highlight>
                  <a:srgbClr val="293134"/>
                </a:highlight>
                <a:cs typeface="Calibri" panose="020F0502020204030204" pitchFamily="34" charset="0"/>
              </a:rPr>
              <a:t>),</a:t>
            </a:r>
            <a:r>
              <a:rPr lang="en-US" sz="1800" b="0" dirty="0">
                <a:solidFill>
                  <a:srgbClr val="E0E2E4"/>
                </a:solidFill>
                <a:highlight>
                  <a:srgbClr val="293134"/>
                </a:highlight>
                <a:cs typeface="Calibri" panose="020F0502020204030204" pitchFamily="34" charset="0"/>
              </a:rPr>
              <a:t> </a:t>
            </a:r>
            <a:r>
              <a:rPr lang="en-US" sz="1800" b="1" dirty="0">
                <a:solidFill>
                  <a:srgbClr val="93C763"/>
                </a:solidFill>
                <a:highlight>
                  <a:srgbClr val="293134"/>
                </a:highlight>
                <a:cs typeface="Calibri" panose="020F0502020204030204" pitchFamily="34" charset="0"/>
              </a:rPr>
              <a:t>ROUND</a:t>
            </a:r>
            <a:r>
              <a:rPr lang="en-US" sz="1800" b="0" dirty="0">
                <a:solidFill>
                  <a:srgbClr val="E8E2B7"/>
                </a:solidFill>
                <a:highlight>
                  <a:srgbClr val="293134"/>
                </a:highlight>
                <a:cs typeface="Calibri" panose="020F0502020204030204" pitchFamily="34" charset="0"/>
              </a:rPr>
              <a:t>(</a:t>
            </a:r>
            <a:r>
              <a:rPr lang="en-US" sz="1800" b="1" dirty="0" err="1">
                <a:solidFill>
                  <a:srgbClr val="93C763"/>
                </a:solidFill>
                <a:highlight>
                  <a:srgbClr val="293134"/>
                </a:highlight>
                <a:cs typeface="Calibri" panose="020F0502020204030204" pitchFamily="34" charset="0"/>
              </a:rPr>
              <a:t>NEW</a:t>
            </a:r>
            <a:r>
              <a:rPr lang="en-US" sz="1800" b="0" dirty="0" err="1">
                <a:solidFill>
                  <a:srgbClr val="E8E2B7"/>
                </a:solidFill>
                <a:highlight>
                  <a:srgbClr val="293134"/>
                </a:highlight>
                <a:cs typeface="Calibri" panose="020F0502020204030204" pitchFamily="34" charset="0"/>
              </a:rPr>
              <a:t>.</a:t>
            </a:r>
            <a:r>
              <a:rPr lang="en-US" sz="1800" b="0" dirty="0" err="1">
                <a:solidFill>
                  <a:srgbClr val="E0E2E4"/>
                </a:solidFill>
                <a:highlight>
                  <a:srgbClr val="293134"/>
                </a:highlight>
                <a:cs typeface="Calibri" panose="020F0502020204030204" pitchFamily="34" charset="0"/>
              </a:rPr>
              <a:t>Kontostand</a:t>
            </a:r>
            <a:r>
              <a:rPr lang="en-US" sz="1800" b="0" dirty="0">
                <a:solidFill>
                  <a:srgbClr val="E8E2B7"/>
                </a:solidFill>
                <a:highlight>
                  <a:srgbClr val="293134"/>
                </a:highlight>
                <a:cs typeface="Calibri" panose="020F0502020204030204" pitchFamily="34" charset="0"/>
              </a:rPr>
              <a:t>,</a:t>
            </a:r>
            <a:r>
              <a:rPr lang="en-US" sz="1800" b="0" dirty="0">
                <a:solidFill>
                  <a:srgbClr val="E0E2E4"/>
                </a:solidFill>
                <a:highlight>
                  <a:srgbClr val="293134"/>
                </a:highlight>
                <a:cs typeface="Calibri" panose="020F0502020204030204" pitchFamily="34" charset="0"/>
              </a:rPr>
              <a:t> </a:t>
            </a:r>
            <a:r>
              <a:rPr lang="en-US" sz="1800" b="0" dirty="0">
                <a:solidFill>
                  <a:srgbClr val="FFCD22"/>
                </a:solidFill>
                <a:highlight>
                  <a:srgbClr val="293134"/>
                </a:highlight>
                <a:cs typeface="Calibri" panose="020F0502020204030204" pitchFamily="34" charset="0"/>
              </a:rPr>
              <a:t>2</a:t>
            </a:r>
            <a:r>
              <a:rPr lang="en-US" sz="1800" b="0" dirty="0">
                <a:solidFill>
                  <a:srgbClr val="E8E2B7"/>
                </a:solidFill>
                <a:highlight>
                  <a:srgbClr val="293134"/>
                </a:highlight>
                <a:cs typeface="Calibri" panose="020F0502020204030204" pitchFamily="34" charset="0"/>
              </a:rPr>
              <a:t>),</a:t>
            </a:r>
            <a:r>
              <a:rPr lang="en-US" sz="1800" b="0" dirty="0">
                <a:solidFill>
                  <a:srgbClr val="E0E2E4"/>
                </a:solidFill>
                <a:highlight>
                  <a:srgbClr val="293134"/>
                </a:highlight>
                <a:cs typeface="Calibri" panose="020F0502020204030204" pitchFamily="34" charset="0"/>
              </a:rPr>
              <a:t> CURDATE</a:t>
            </a:r>
            <a:r>
              <a:rPr lang="en-US" sz="1800" b="0" dirty="0">
                <a:solidFill>
                  <a:srgbClr val="E8E2B7"/>
                </a:solidFill>
                <a:highlight>
                  <a:srgbClr val="293134"/>
                </a:highlight>
                <a:cs typeface="Calibri" panose="020F0502020204030204" pitchFamily="34" charset="0"/>
              </a:rPr>
              <a:t>());</a:t>
            </a:r>
            <a:endParaRPr lang="en-US" sz="1800" b="0" dirty="0">
              <a:solidFill>
                <a:srgbClr val="E0E2E4"/>
              </a:solidFill>
              <a:highlight>
                <a:srgbClr val="293134"/>
              </a:highlight>
              <a:cs typeface="Calibri" panose="020F0502020204030204" pitchFamily="34" charset="0"/>
            </a:endParaRPr>
          </a:p>
          <a:p>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END</a:t>
            </a:r>
            <a:r>
              <a:rPr lang="de-DE" sz="1800" b="0" dirty="0">
                <a:solidFill>
                  <a:srgbClr val="E0E2E4"/>
                </a:solidFill>
                <a:highlight>
                  <a:srgbClr val="293134"/>
                </a:highlight>
                <a:cs typeface="Calibri" panose="020F0502020204030204" pitchFamily="34" charset="0"/>
              </a:rPr>
              <a:t> </a:t>
            </a:r>
            <a:r>
              <a:rPr lang="de-DE" sz="1800" b="1" dirty="0">
                <a:solidFill>
                  <a:srgbClr val="93C763"/>
                </a:solidFill>
                <a:highlight>
                  <a:srgbClr val="293134"/>
                </a:highlight>
                <a:cs typeface="Calibri" panose="020F0502020204030204" pitchFamily="34" charset="0"/>
              </a:rPr>
              <a:t>IF</a:t>
            </a:r>
            <a:r>
              <a:rPr lang="de-DE" sz="1800" b="0" dirty="0">
                <a:solidFill>
                  <a:srgbClr val="E8E2B7"/>
                </a:solidFill>
                <a:highlight>
                  <a:srgbClr val="293134"/>
                </a:highlight>
                <a:cs typeface="Calibri" panose="020F0502020204030204" pitchFamily="34" charset="0"/>
              </a:rPr>
              <a:t>;</a:t>
            </a:r>
            <a:endParaRPr lang="de-DE" sz="1800" b="0" dirty="0">
              <a:solidFill>
                <a:srgbClr val="E0E2E4"/>
              </a:solidFill>
              <a:highlight>
                <a:srgbClr val="293134"/>
              </a:highlight>
              <a:cs typeface="Calibri" panose="020F0502020204030204" pitchFamily="34" charset="0"/>
            </a:endParaRPr>
          </a:p>
          <a:p>
            <a:r>
              <a:rPr lang="de-DE" sz="1800" b="1" dirty="0">
                <a:solidFill>
                  <a:srgbClr val="93C763"/>
                </a:solidFill>
                <a:highlight>
                  <a:srgbClr val="293134"/>
                </a:highlight>
                <a:cs typeface="Calibri" panose="020F0502020204030204" pitchFamily="34" charset="0"/>
              </a:rPr>
              <a:t>END</a:t>
            </a:r>
            <a:r>
              <a:rPr lang="de-DE" sz="1800" b="0" dirty="0">
                <a:solidFill>
                  <a:srgbClr val="E0E2E4"/>
                </a:solidFill>
                <a:highlight>
                  <a:srgbClr val="293134"/>
                </a:highlight>
                <a:cs typeface="Calibri" panose="020F0502020204030204" pitchFamily="34" charset="0"/>
              </a:rPr>
              <a:t>$$</a:t>
            </a:r>
          </a:p>
          <a:p>
            <a:r>
              <a:rPr lang="de-DE" sz="1800" b="0" dirty="0">
                <a:solidFill>
                  <a:srgbClr val="E0E2E4"/>
                </a:solidFill>
                <a:highlight>
                  <a:srgbClr val="293134"/>
                </a:highlight>
                <a:cs typeface="Calibri" panose="020F0502020204030204" pitchFamily="34" charset="0"/>
              </a:rPr>
              <a:t>DELIMITER </a:t>
            </a:r>
            <a:r>
              <a:rPr lang="de-DE" sz="1800" b="0" dirty="0">
                <a:solidFill>
                  <a:srgbClr val="E8E2B7"/>
                </a:solidFill>
                <a:highlight>
                  <a:srgbClr val="293134"/>
                </a:highlight>
                <a:cs typeface="Calibri" panose="020F0502020204030204" pitchFamily="34" charset="0"/>
              </a:rPr>
              <a:t>;</a:t>
            </a:r>
            <a:endParaRPr lang="de-DE" sz="1200" b="0" dirty="0">
              <a:solidFill>
                <a:srgbClr val="E0E2E4"/>
              </a:solidFill>
              <a:highlight>
                <a:srgbClr val="293134"/>
              </a:highlight>
              <a:cs typeface="Calibri" panose="020F0502020204030204" pitchFamily="34" charset="0"/>
            </a:endParaRPr>
          </a:p>
        </p:txBody>
      </p:sp>
    </p:spTree>
    <p:extLst>
      <p:ext uri="{BB962C8B-B14F-4D97-AF65-F5344CB8AC3E}">
        <p14:creationId xmlns:p14="http://schemas.microsoft.com/office/powerpoint/2010/main" val="1110668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a:latin typeface="Source Sans Pro" panose="020B0503030403020204" pitchFamily="34" charset="0"/>
              </a:rPr>
              <a:t>Vielen Dank für Ihre Aufmerksamkeit!</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847</Words>
  <Application>Microsoft Office PowerPoint</Application>
  <PresentationFormat>Breitbild</PresentationFormat>
  <Paragraphs>142</Paragraphs>
  <Slides>14</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14</vt:i4>
      </vt:variant>
    </vt:vector>
  </HeadingPairs>
  <TitlesOfParts>
    <vt:vector size="19" baseType="lpstr">
      <vt:lpstr>Arial</vt:lpstr>
      <vt:lpstr>Calibri</vt:lpstr>
      <vt:lpstr>Courier New</vt:lpstr>
      <vt:lpstr>Source Sans Pro</vt:lpstr>
      <vt:lpstr>1_Office</vt:lpstr>
      <vt:lpstr>Datenbanken und SQL</vt:lpstr>
      <vt:lpstr>Agenda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Peter Schwertner</cp:lastModifiedBy>
  <cp:revision>725</cp:revision>
  <dcterms:created xsi:type="dcterms:W3CDTF">2022-02-01T13:48:14Z</dcterms:created>
  <dcterms:modified xsi:type="dcterms:W3CDTF">2023-05-11T12:06:56Z</dcterms:modified>
</cp:coreProperties>
</file>