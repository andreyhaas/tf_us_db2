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60" r:id="rId4"/>
    <p:sldId id="261" r:id="rId5"/>
    <p:sldId id="262" r:id="rId6"/>
    <p:sldId id="263" r:id="rId7"/>
    <p:sldId id="264" r:id="rId8"/>
    <p:sldId id="265" r:id="rId9"/>
    <p:sldId id="266" r:id="rId10"/>
    <p:sldId id="267" r:id="rId11"/>
    <p:sldId id="268" r:id="rId12"/>
    <p:sldId id="269" r:id="rId13"/>
    <p:sldId id="279" r:id="rId14"/>
    <p:sldId id="278" r:id="rId15"/>
    <p:sldId id="270" r:id="rId16"/>
    <p:sldId id="271" r:id="rId17"/>
    <p:sldId id="272" r:id="rId18"/>
    <p:sldId id="274" r:id="rId19"/>
    <p:sldId id="275" r:id="rId20"/>
    <p:sldId id="273" r:id="rId21"/>
    <p:sldId id="276" r:id="rId22"/>
    <p:sldId id="277" r:id="rId23"/>
    <p:sldId id="259" r:id="rId24"/>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04" d="100"/>
          <a:sy n="104" d="100"/>
        </p:scale>
        <p:origin x="150" y="3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hyperlink" Target="https://pixabay.com/DE/users" TargetMode="External"/><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_ohne Bild">
    <p:spTree>
      <p:nvGrpSpPr>
        <p:cNvPr id="1" name=""/>
        <p:cNvGrpSpPr/>
        <p:nvPr/>
      </p:nvGrpSpPr>
      <p:grpSpPr>
        <a:xfrm>
          <a:off x="0" y="0"/>
          <a:ext cx="0" cy="0"/>
          <a:chOff x="0" y="0"/>
          <a:chExt cx="0" cy="0"/>
        </a:xfrm>
      </p:grpSpPr>
      <p:grpSp>
        <p:nvGrpSpPr>
          <p:cNvPr id="16" name="Gruppieren 15"/>
          <p:cNvGrpSpPr/>
          <p:nvPr userDrawn="1"/>
        </p:nvGrpSpPr>
        <p:grpSpPr>
          <a:xfrm>
            <a:off x="0" y="6083955"/>
            <a:ext cx="12192000" cy="792064"/>
            <a:chOff x="0" y="6083955"/>
            <a:chExt cx="12192000" cy="792064"/>
          </a:xfrm>
        </p:grpSpPr>
        <p:sp>
          <p:nvSpPr>
            <p:cNvPr id="14" name="Freihandform 13"/>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5" name="Grafik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4" name="Datumsplatzhalter 3"/>
          <p:cNvSpPr>
            <a:spLocks noGrp="1"/>
          </p:cNvSpPr>
          <p:nvPr>
            <p:ph type="dt" sz="half" idx="10"/>
          </p:nvPr>
        </p:nvSpPr>
        <p:spPr/>
        <p:txBody>
          <a:bodyPr/>
          <a:lstStyle/>
          <a:p>
            <a:fld id="{2683B5D4-1447-4674-AF43-D7F554FE08B3}" type="datetime1">
              <a:rPr lang="de-DE" smtClean="0"/>
              <a:t>25.02.2024</a:t>
            </a:fld>
            <a:endParaRPr lang="de-DE" dirty="0"/>
          </a:p>
        </p:txBody>
      </p:sp>
      <p:sp>
        <p:nvSpPr>
          <p:cNvPr id="5" name="Fußzeilenplatzhalter 4"/>
          <p:cNvSpPr>
            <a:spLocks noGrp="1"/>
          </p:cNvSpPr>
          <p:nvPr>
            <p:ph type="ftr" sz="quarter" idx="11"/>
          </p:nvPr>
        </p:nvSpPr>
        <p:spPr/>
        <p:txBody>
          <a:bodyPr/>
          <a:lstStyle/>
          <a:p>
            <a:r>
              <a:rPr lang="de-DE" dirty="0"/>
              <a:t>Präsentationsthema</a:t>
            </a:r>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sp>
        <p:nvSpPr>
          <p:cNvPr id="12" name="Title 1"/>
          <p:cNvSpPr>
            <a:spLocks noGrp="1"/>
          </p:cNvSpPr>
          <p:nvPr>
            <p:ph type="ctrTitle" hasCustomPrompt="1"/>
          </p:nvPr>
        </p:nvSpPr>
        <p:spPr>
          <a:xfrm>
            <a:off x="1782038" y="556181"/>
            <a:ext cx="8625153" cy="3590305"/>
          </a:xfrm>
        </p:spPr>
        <p:txBody>
          <a:bodyPr wrap="square" anchor="b" anchorCtr="1">
            <a:normAutofit/>
          </a:bodyPr>
          <a:lstStyle>
            <a:lvl1pPr algn="ctr">
              <a:defRPr sz="6000" baseline="0"/>
            </a:lvl1pPr>
          </a:lstStyle>
          <a:p>
            <a:r>
              <a:rPr lang="de-DE" dirty="0"/>
              <a:t>Lernmodul oder Titel der</a:t>
            </a:r>
            <a:br>
              <a:rPr lang="de-DE" dirty="0"/>
            </a:br>
            <a:r>
              <a:rPr lang="de-DE" dirty="0"/>
              <a:t>Präsentation</a:t>
            </a:r>
            <a:endParaRPr lang="en-US" dirty="0"/>
          </a:p>
        </p:txBody>
      </p:sp>
      <p:sp>
        <p:nvSpPr>
          <p:cNvPr id="13" name="Subtitle 2"/>
          <p:cNvSpPr>
            <a:spLocks noGrp="1"/>
          </p:cNvSpPr>
          <p:nvPr>
            <p:ph type="subTitle" idx="1" hasCustomPrompt="1"/>
          </p:nvPr>
        </p:nvSpPr>
        <p:spPr>
          <a:xfrm>
            <a:off x="1783013" y="4146486"/>
            <a:ext cx="8624170" cy="70059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Untertitel</a:t>
            </a:r>
            <a:endParaRPr lang="en-US" dirty="0"/>
          </a:p>
        </p:txBody>
      </p:sp>
      <p:pic>
        <p:nvPicPr>
          <p:cNvPr id="17" name="Grafik 1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Tree>
    <p:extLst>
      <p:ext uri="{BB962C8B-B14F-4D97-AF65-F5344CB8AC3E}">
        <p14:creationId xmlns:p14="http://schemas.microsoft.com/office/powerpoint/2010/main" val="2899352684"/>
      </p:ext>
    </p:extLst>
  </p:cSld>
  <p:clrMapOvr>
    <a:masterClrMapping/>
  </p:clrMapOvr>
  <p:extLst>
    <p:ext uri="{DCECCB84-F9BA-43D5-87BE-67443E8EF086}">
      <p15:sldGuideLst xmlns:p15="http://schemas.microsoft.com/office/powerpoint/2012/main">
        <p15:guide id="1" orient="horz" pos="232">
          <p15:clr>
            <a:srgbClr val="000000"/>
          </p15:clr>
        </p15:guide>
        <p15:guide id="2" orient="horz" pos="3861">
          <p15:clr>
            <a:srgbClr val="000000"/>
          </p15:clr>
        </p15:guide>
        <p15:guide id="3" pos="7469">
          <p15:clr>
            <a:srgbClr val="000000"/>
          </p15:clr>
        </p15:guide>
        <p15:guide id="4" pos="211">
          <p15:clr>
            <a:srgbClr val="00000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_mit Bild">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fld id="{2B21F94E-F092-4943-BFCD-C473A8B2BCE8}" type="datetime1">
              <a:rPr lang="de-DE" smtClean="0"/>
              <a:t>25.02.2024</a:t>
            </a:fld>
            <a:endParaRPr lang="de-DE" dirty="0"/>
          </a:p>
        </p:txBody>
      </p:sp>
      <p:sp>
        <p:nvSpPr>
          <p:cNvPr id="5" name="Fußzeilenplatzhalter 4"/>
          <p:cNvSpPr>
            <a:spLocks noGrp="1"/>
          </p:cNvSpPr>
          <p:nvPr>
            <p:ph type="ftr" sz="quarter" idx="11"/>
          </p:nvPr>
        </p:nvSpPr>
        <p:spPr/>
        <p:txBody>
          <a:bodyPr/>
          <a:lstStyle/>
          <a:p>
            <a:r>
              <a:rPr lang="de-DE" dirty="0"/>
              <a:t>Präsentationsthema</a:t>
            </a:r>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sp>
        <p:nvSpPr>
          <p:cNvPr id="10" name="Titel"/>
          <p:cNvSpPr>
            <a:spLocks noGrp="1"/>
          </p:cNvSpPr>
          <p:nvPr>
            <p:ph type="ctrTitle"/>
          </p:nvPr>
        </p:nvSpPr>
        <p:spPr>
          <a:xfrm>
            <a:off x="1819747" y="3424238"/>
            <a:ext cx="8555524" cy="2158673"/>
          </a:xfrm>
        </p:spPr>
        <p:txBody>
          <a:bodyPr>
            <a:normAutofit/>
          </a:bodyPr>
          <a:lstStyle>
            <a:lvl1pPr algn="ctr">
              <a:defRPr/>
            </a:lvl1pPr>
          </a:lstStyle>
          <a:p>
            <a:pPr algn="ctr"/>
            <a:r>
              <a:rPr lang="de-DE" sz="5000" dirty="0">
                <a:solidFill>
                  <a:schemeClr val="tx1"/>
                </a:solidFill>
                <a:latin typeface="+mj-lt"/>
              </a:rPr>
              <a:t>Titel des Videos oder Lernmoduls</a:t>
            </a:r>
          </a:p>
        </p:txBody>
      </p:sp>
      <p:sp>
        <p:nvSpPr>
          <p:cNvPr id="11" name="Untertitel"/>
          <p:cNvSpPr>
            <a:spLocks noGrp="1"/>
          </p:cNvSpPr>
          <p:nvPr>
            <p:ph type="subTitle" idx="1" hasCustomPrompt="1"/>
          </p:nvPr>
        </p:nvSpPr>
        <p:spPr>
          <a:xfrm>
            <a:off x="1819747" y="5584494"/>
            <a:ext cx="8555524" cy="725823"/>
          </a:xfrm>
        </p:spPr>
        <p:txBody>
          <a:bodyPr/>
          <a:lstStyle>
            <a:lvl1pPr marL="0" indent="0" algn="ctr">
              <a:buNone/>
              <a:defRPr/>
            </a:lvl1pPr>
          </a:lstStyle>
          <a:p>
            <a:pPr algn="ctr"/>
            <a:r>
              <a:rPr lang="de-DE" dirty="0">
                <a:solidFill>
                  <a:schemeClr val="tx1"/>
                </a:solidFill>
                <a:latin typeface="+mn-lt"/>
              </a:rPr>
              <a:t>Untertitel</a:t>
            </a:r>
          </a:p>
        </p:txBody>
      </p:sp>
      <p:sp>
        <p:nvSpPr>
          <p:cNvPr id="13" name="Bildplatzhalter 12"/>
          <p:cNvSpPr>
            <a:spLocks noGrp="1"/>
          </p:cNvSpPr>
          <p:nvPr>
            <p:ph type="pic" sz="quarter" idx="13" hasCustomPrompt="1"/>
          </p:nvPr>
        </p:nvSpPr>
        <p:spPr>
          <a:xfrm>
            <a:off x="0" y="0"/>
            <a:ext cx="12192000" cy="4186238"/>
          </a:xfrm>
        </p:spPr>
        <p:txBody>
          <a:bodyPr/>
          <a:lstStyle>
            <a:lvl1pPr>
              <a:defRPr/>
            </a:lvl1pPr>
          </a:lstStyle>
          <a:p>
            <a:r>
              <a:rPr lang="de-DE" dirty="0"/>
              <a:t>Bild durch klick auf das Symbol hinzufügen und in den Hintergrund verschieben.</a:t>
            </a:r>
          </a:p>
        </p:txBody>
      </p:sp>
    </p:spTree>
    <p:extLst>
      <p:ext uri="{BB962C8B-B14F-4D97-AF65-F5344CB8AC3E}">
        <p14:creationId xmlns:p14="http://schemas.microsoft.com/office/powerpoint/2010/main" val="4022750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hemenübersicht">
    <p:spTree>
      <p:nvGrpSpPr>
        <p:cNvPr id="1" name=""/>
        <p:cNvGrpSpPr/>
        <p:nvPr/>
      </p:nvGrpSpPr>
      <p:grpSpPr>
        <a:xfrm>
          <a:off x="0" y="0"/>
          <a:ext cx="0" cy="0"/>
          <a:chOff x="0" y="0"/>
          <a:chExt cx="0" cy="0"/>
        </a:xfrm>
      </p:grpSpPr>
      <p:grpSp>
        <p:nvGrpSpPr>
          <p:cNvPr id="7" name="Gruppieren 6"/>
          <p:cNvGrpSpPr/>
          <p:nvPr userDrawn="1"/>
        </p:nvGrpSpPr>
        <p:grpSpPr>
          <a:xfrm>
            <a:off x="-908" y="1229964"/>
            <a:ext cx="12193814" cy="5668603"/>
            <a:chOff x="-908" y="6783671"/>
            <a:chExt cx="12193814" cy="5668603"/>
          </a:xfrm>
        </p:grpSpPr>
        <p:sp>
          <p:nvSpPr>
            <p:cNvPr id="8" name="Freihandform 7"/>
            <p:cNvSpPr/>
            <p:nvPr userDrawn="1"/>
          </p:nvSpPr>
          <p:spPr>
            <a:xfrm>
              <a:off x="-908" y="6783671"/>
              <a:ext cx="12193814" cy="5668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3814" h="5668603">
                  <a:moveTo>
                    <a:pt x="908" y="0"/>
                  </a:moveTo>
                  <a:lnTo>
                    <a:pt x="3455177" y="0"/>
                  </a:lnTo>
                  <a:lnTo>
                    <a:pt x="3825998" y="351771"/>
                  </a:lnTo>
                  <a:lnTo>
                    <a:pt x="4196818" y="0"/>
                  </a:lnTo>
                  <a:lnTo>
                    <a:pt x="12192908" y="0"/>
                  </a:lnTo>
                  <a:cubicBezTo>
                    <a:pt x="12189766" y="1886392"/>
                    <a:pt x="12196049" y="3782211"/>
                    <a:pt x="12192907" y="5668603"/>
                  </a:cubicBezTo>
                  <a:lnTo>
                    <a:pt x="908" y="5630895"/>
                  </a:lnTo>
                  <a:cubicBezTo>
                    <a:pt x="4050" y="3515117"/>
                    <a:pt x="-2234" y="2115778"/>
                    <a:pt x="908"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783671"/>
              <a:ext cx="12192000" cy="409956"/>
            </a:xfrm>
            <a:prstGeom prst="rect">
              <a:avLst/>
            </a:prstGeom>
          </p:spPr>
        </p:pic>
      </p:grpSp>
      <p:sp>
        <p:nvSpPr>
          <p:cNvPr id="4" name="Datumsplatzhalter 3"/>
          <p:cNvSpPr>
            <a:spLocks noGrp="1"/>
          </p:cNvSpPr>
          <p:nvPr>
            <p:ph type="dt" sz="half" idx="10"/>
          </p:nvPr>
        </p:nvSpPr>
        <p:spPr/>
        <p:txBody>
          <a:bodyPr/>
          <a:lstStyle/>
          <a:p>
            <a:fld id="{CA52A6E7-51B3-4CF0-8F47-DAACA7061ACA}" type="datetime1">
              <a:rPr lang="de-DE" smtClean="0"/>
              <a:t>25.02.2024</a:t>
            </a:fld>
            <a:endParaRPr lang="de-DE" dirty="0"/>
          </a:p>
        </p:txBody>
      </p:sp>
      <p:sp>
        <p:nvSpPr>
          <p:cNvPr id="5" name="Fußzeilenplatzhalter 4"/>
          <p:cNvSpPr>
            <a:spLocks noGrp="1"/>
          </p:cNvSpPr>
          <p:nvPr>
            <p:ph type="ftr" sz="quarter" idx="11"/>
          </p:nvPr>
        </p:nvSpPr>
        <p:spPr/>
        <p:txBody>
          <a:bodyPr/>
          <a:lstStyle/>
          <a:p>
            <a:r>
              <a:rPr lang="de-DE" dirty="0"/>
              <a:t>Präsentationsthema</a:t>
            </a:r>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33" name="Textplatzhalter 32"/>
          <p:cNvSpPr>
            <a:spLocks noGrp="1"/>
          </p:cNvSpPr>
          <p:nvPr>
            <p:ph type="body" sz="quarter" idx="13" hasCustomPrompt="1"/>
          </p:nvPr>
        </p:nvSpPr>
        <p:spPr>
          <a:xfrm>
            <a:off x="352995" y="2002314"/>
            <a:ext cx="2149475" cy="706356"/>
          </a:xfrm>
        </p:spPr>
        <p:txBody>
          <a:bodyPr>
            <a:normAutofit/>
          </a:bodyPr>
          <a:lstStyle>
            <a:lvl1pPr marL="0" indent="0" algn="ctr">
              <a:buNone/>
              <a:defRPr sz="4800" b="1">
                <a:solidFill>
                  <a:schemeClr val="accent2"/>
                </a:solidFill>
              </a:defRPr>
            </a:lvl1pPr>
          </a:lstStyle>
          <a:p>
            <a:pPr lvl="0"/>
            <a:r>
              <a:rPr lang="de-DE" dirty="0"/>
              <a:t>01</a:t>
            </a:r>
          </a:p>
        </p:txBody>
      </p:sp>
      <p:sp>
        <p:nvSpPr>
          <p:cNvPr id="34" name="Textplatzhalter 32"/>
          <p:cNvSpPr>
            <a:spLocks noGrp="1"/>
          </p:cNvSpPr>
          <p:nvPr>
            <p:ph type="body" sz="quarter" idx="14" hasCustomPrompt="1"/>
          </p:nvPr>
        </p:nvSpPr>
        <p:spPr>
          <a:xfrm>
            <a:off x="352995" y="2721925"/>
            <a:ext cx="2149475" cy="706356"/>
          </a:xfrm>
        </p:spPr>
        <p:txBody>
          <a:bodyPr>
            <a:normAutofit/>
          </a:bodyPr>
          <a:lstStyle>
            <a:lvl1pPr marL="0" indent="0" algn="ctr">
              <a:buNone/>
              <a:defRPr sz="2400" b="1">
                <a:solidFill>
                  <a:schemeClr val="tx1"/>
                </a:solidFill>
              </a:defRPr>
            </a:lvl1pPr>
          </a:lstStyle>
          <a:p>
            <a:pPr lvl="0"/>
            <a:r>
              <a:rPr lang="de-DE" dirty="0"/>
              <a:t>Das erste Thema/Tag</a:t>
            </a:r>
          </a:p>
        </p:txBody>
      </p:sp>
      <p:sp>
        <p:nvSpPr>
          <p:cNvPr id="35" name="Textplatzhalter 32"/>
          <p:cNvSpPr>
            <a:spLocks noGrp="1"/>
          </p:cNvSpPr>
          <p:nvPr>
            <p:ph type="body" sz="quarter" idx="15" hasCustomPrompt="1"/>
          </p:nvPr>
        </p:nvSpPr>
        <p:spPr>
          <a:xfrm>
            <a:off x="352995"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1.1 </a:t>
            </a:r>
            <a:br>
              <a:rPr lang="de-DE" dirty="0"/>
            </a:br>
            <a:r>
              <a:rPr lang="de-DE" dirty="0"/>
              <a:t>Oder das Thema untergliedert werden</a:t>
            </a:r>
          </a:p>
        </p:txBody>
      </p:sp>
      <p:sp>
        <p:nvSpPr>
          <p:cNvPr id="45" name="Textplatzhalter 32"/>
          <p:cNvSpPr>
            <a:spLocks noGrp="1"/>
          </p:cNvSpPr>
          <p:nvPr>
            <p:ph type="body" sz="quarter" idx="16" hasCustomPrompt="1"/>
          </p:nvPr>
        </p:nvSpPr>
        <p:spPr>
          <a:xfrm>
            <a:off x="2502470" y="2002314"/>
            <a:ext cx="2149475" cy="706356"/>
          </a:xfrm>
        </p:spPr>
        <p:txBody>
          <a:bodyPr>
            <a:normAutofit/>
          </a:bodyPr>
          <a:lstStyle>
            <a:lvl1pPr marL="0" indent="0" algn="ctr">
              <a:buNone/>
              <a:defRPr sz="4800" b="1">
                <a:solidFill>
                  <a:schemeClr val="accent2"/>
                </a:solidFill>
              </a:defRPr>
            </a:lvl1pPr>
          </a:lstStyle>
          <a:p>
            <a:pPr lvl="0"/>
            <a:r>
              <a:rPr lang="de-DE" dirty="0"/>
              <a:t>02</a:t>
            </a:r>
          </a:p>
        </p:txBody>
      </p:sp>
      <p:sp>
        <p:nvSpPr>
          <p:cNvPr id="46" name="Textplatzhalter 32"/>
          <p:cNvSpPr>
            <a:spLocks noGrp="1"/>
          </p:cNvSpPr>
          <p:nvPr>
            <p:ph type="body" sz="quarter" idx="17" hasCustomPrompt="1"/>
          </p:nvPr>
        </p:nvSpPr>
        <p:spPr>
          <a:xfrm>
            <a:off x="2502470" y="2721925"/>
            <a:ext cx="2149475" cy="706356"/>
          </a:xfrm>
        </p:spPr>
        <p:txBody>
          <a:bodyPr>
            <a:normAutofit/>
          </a:bodyPr>
          <a:lstStyle>
            <a:lvl1pPr marL="0" indent="0" algn="ctr">
              <a:buNone/>
              <a:defRPr sz="2400" b="1">
                <a:solidFill>
                  <a:schemeClr val="tx1"/>
                </a:solidFill>
              </a:defRPr>
            </a:lvl1pPr>
          </a:lstStyle>
          <a:p>
            <a:pPr lvl="0"/>
            <a:r>
              <a:rPr lang="de-DE" dirty="0"/>
              <a:t>Das zweite Thema/Tag</a:t>
            </a:r>
          </a:p>
        </p:txBody>
      </p:sp>
      <p:sp>
        <p:nvSpPr>
          <p:cNvPr id="47" name="Textplatzhalter 32"/>
          <p:cNvSpPr>
            <a:spLocks noGrp="1"/>
          </p:cNvSpPr>
          <p:nvPr>
            <p:ph type="body" sz="quarter" idx="18" hasCustomPrompt="1"/>
          </p:nvPr>
        </p:nvSpPr>
        <p:spPr>
          <a:xfrm>
            <a:off x="2502470"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2.1 </a:t>
            </a:r>
            <a:br>
              <a:rPr lang="de-DE" dirty="0"/>
            </a:br>
            <a:r>
              <a:rPr lang="de-DE" dirty="0"/>
              <a:t>Oder das Thema untergliedert werden</a:t>
            </a:r>
          </a:p>
        </p:txBody>
      </p:sp>
      <p:sp>
        <p:nvSpPr>
          <p:cNvPr id="48" name="Textplatzhalter 32"/>
          <p:cNvSpPr>
            <a:spLocks noGrp="1"/>
          </p:cNvSpPr>
          <p:nvPr>
            <p:ph type="body" sz="quarter" idx="19" hasCustomPrompt="1"/>
          </p:nvPr>
        </p:nvSpPr>
        <p:spPr>
          <a:xfrm>
            <a:off x="4651945" y="2002314"/>
            <a:ext cx="2149475" cy="706356"/>
          </a:xfrm>
        </p:spPr>
        <p:txBody>
          <a:bodyPr>
            <a:normAutofit/>
          </a:bodyPr>
          <a:lstStyle>
            <a:lvl1pPr marL="0" indent="0" algn="ctr">
              <a:buNone/>
              <a:defRPr sz="4800" b="1">
                <a:solidFill>
                  <a:schemeClr val="accent2"/>
                </a:solidFill>
              </a:defRPr>
            </a:lvl1pPr>
          </a:lstStyle>
          <a:p>
            <a:pPr lvl="0"/>
            <a:r>
              <a:rPr lang="de-DE" dirty="0"/>
              <a:t>03</a:t>
            </a:r>
          </a:p>
        </p:txBody>
      </p:sp>
      <p:sp>
        <p:nvSpPr>
          <p:cNvPr id="49" name="Textplatzhalter 32"/>
          <p:cNvSpPr>
            <a:spLocks noGrp="1"/>
          </p:cNvSpPr>
          <p:nvPr>
            <p:ph type="body" sz="quarter" idx="20" hasCustomPrompt="1"/>
          </p:nvPr>
        </p:nvSpPr>
        <p:spPr>
          <a:xfrm>
            <a:off x="4651945" y="2721925"/>
            <a:ext cx="2149475" cy="706356"/>
          </a:xfrm>
        </p:spPr>
        <p:txBody>
          <a:bodyPr>
            <a:normAutofit/>
          </a:bodyPr>
          <a:lstStyle>
            <a:lvl1pPr marL="0" indent="0" algn="ctr">
              <a:buNone/>
              <a:defRPr sz="2400" b="1">
                <a:solidFill>
                  <a:schemeClr val="tx1"/>
                </a:solidFill>
              </a:defRPr>
            </a:lvl1pPr>
          </a:lstStyle>
          <a:p>
            <a:pPr lvl="0"/>
            <a:r>
              <a:rPr lang="de-DE" dirty="0"/>
              <a:t>Das dritte Thema/Tag</a:t>
            </a:r>
          </a:p>
        </p:txBody>
      </p:sp>
      <p:sp>
        <p:nvSpPr>
          <p:cNvPr id="50" name="Textplatzhalter 32"/>
          <p:cNvSpPr>
            <a:spLocks noGrp="1"/>
          </p:cNvSpPr>
          <p:nvPr>
            <p:ph type="body" sz="quarter" idx="21" hasCustomPrompt="1"/>
          </p:nvPr>
        </p:nvSpPr>
        <p:spPr>
          <a:xfrm>
            <a:off x="4651945"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3.1 </a:t>
            </a:r>
            <a:br>
              <a:rPr lang="de-DE" dirty="0"/>
            </a:br>
            <a:r>
              <a:rPr lang="de-DE" dirty="0"/>
              <a:t>Oder das Thema untergliedert werden</a:t>
            </a:r>
          </a:p>
        </p:txBody>
      </p:sp>
      <p:sp>
        <p:nvSpPr>
          <p:cNvPr id="51" name="Textplatzhalter 32"/>
          <p:cNvSpPr>
            <a:spLocks noGrp="1"/>
          </p:cNvSpPr>
          <p:nvPr>
            <p:ph type="body" sz="quarter" idx="22" hasCustomPrompt="1"/>
          </p:nvPr>
        </p:nvSpPr>
        <p:spPr>
          <a:xfrm>
            <a:off x="6801420" y="2002314"/>
            <a:ext cx="2149475" cy="706356"/>
          </a:xfrm>
        </p:spPr>
        <p:txBody>
          <a:bodyPr>
            <a:normAutofit/>
          </a:bodyPr>
          <a:lstStyle>
            <a:lvl1pPr marL="0" indent="0" algn="ctr">
              <a:buNone/>
              <a:defRPr sz="4800" b="1">
                <a:solidFill>
                  <a:schemeClr val="accent2"/>
                </a:solidFill>
              </a:defRPr>
            </a:lvl1pPr>
          </a:lstStyle>
          <a:p>
            <a:pPr lvl="0"/>
            <a:r>
              <a:rPr lang="de-DE" dirty="0"/>
              <a:t>04</a:t>
            </a:r>
          </a:p>
        </p:txBody>
      </p:sp>
      <p:sp>
        <p:nvSpPr>
          <p:cNvPr id="52" name="Textplatzhalter 32"/>
          <p:cNvSpPr>
            <a:spLocks noGrp="1"/>
          </p:cNvSpPr>
          <p:nvPr>
            <p:ph type="body" sz="quarter" idx="23" hasCustomPrompt="1"/>
          </p:nvPr>
        </p:nvSpPr>
        <p:spPr>
          <a:xfrm>
            <a:off x="6801420" y="2721925"/>
            <a:ext cx="2149475" cy="706356"/>
          </a:xfrm>
        </p:spPr>
        <p:txBody>
          <a:bodyPr>
            <a:normAutofit/>
          </a:bodyPr>
          <a:lstStyle>
            <a:lvl1pPr marL="0" indent="0" algn="ctr">
              <a:buNone/>
              <a:defRPr sz="2400" b="1">
                <a:solidFill>
                  <a:schemeClr val="tx1"/>
                </a:solidFill>
              </a:defRPr>
            </a:lvl1pPr>
          </a:lstStyle>
          <a:p>
            <a:pPr lvl="0"/>
            <a:r>
              <a:rPr lang="de-DE" dirty="0"/>
              <a:t>Das vierte Thema/Tag</a:t>
            </a:r>
          </a:p>
        </p:txBody>
      </p:sp>
      <p:sp>
        <p:nvSpPr>
          <p:cNvPr id="53" name="Textplatzhalter 32"/>
          <p:cNvSpPr>
            <a:spLocks noGrp="1"/>
          </p:cNvSpPr>
          <p:nvPr>
            <p:ph type="body" sz="quarter" idx="24" hasCustomPrompt="1"/>
          </p:nvPr>
        </p:nvSpPr>
        <p:spPr>
          <a:xfrm>
            <a:off x="6801420"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4.1 </a:t>
            </a:r>
            <a:br>
              <a:rPr lang="de-DE" dirty="0"/>
            </a:br>
            <a:r>
              <a:rPr lang="de-DE" dirty="0"/>
              <a:t>Oder das Thema untergliedert werden</a:t>
            </a:r>
          </a:p>
        </p:txBody>
      </p:sp>
      <p:sp>
        <p:nvSpPr>
          <p:cNvPr id="60" name="Textplatzhalter 32"/>
          <p:cNvSpPr>
            <a:spLocks noGrp="1"/>
          </p:cNvSpPr>
          <p:nvPr>
            <p:ph type="body" sz="quarter" idx="25" hasCustomPrompt="1"/>
          </p:nvPr>
        </p:nvSpPr>
        <p:spPr>
          <a:xfrm>
            <a:off x="8969749" y="2002314"/>
            <a:ext cx="2149475" cy="706356"/>
          </a:xfrm>
        </p:spPr>
        <p:txBody>
          <a:bodyPr>
            <a:normAutofit/>
          </a:bodyPr>
          <a:lstStyle>
            <a:lvl1pPr marL="0" indent="0" algn="ctr">
              <a:buNone/>
              <a:defRPr sz="4800" b="1">
                <a:solidFill>
                  <a:schemeClr val="accent2"/>
                </a:solidFill>
              </a:defRPr>
            </a:lvl1pPr>
          </a:lstStyle>
          <a:p>
            <a:pPr lvl="0"/>
            <a:r>
              <a:rPr lang="de-DE" dirty="0"/>
              <a:t>05</a:t>
            </a:r>
          </a:p>
        </p:txBody>
      </p:sp>
      <p:sp>
        <p:nvSpPr>
          <p:cNvPr id="61" name="Textplatzhalter 32"/>
          <p:cNvSpPr>
            <a:spLocks noGrp="1"/>
          </p:cNvSpPr>
          <p:nvPr>
            <p:ph type="body" sz="quarter" idx="26" hasCustomPrompt="1"/>
          </p:nvPr>
        </p:nvSpPr>
        <p:spPr>
          <a:xfrm>
            <a:off x="8969749" y="2721925"/>
            <a:ext cx="2149475" cy="706356"/>
          </a:xfrm>
        </p:spPr>
        <p:txBody>
          <a:bodyPr>
            <a:normAutofit/>
          </a:bodyPr>
          <a:lstStyle>
            <a:lvl1pPr marL="0" indent="0" algn="ctr">
              <a:buNone/>
              <a:defRPr sz="2400" b="1">
                <a:solidFill>
                  <a:schemeClr val="tx1"/>
                </a:solidFill>
              </a:defRPr>
            </a:lvl1pPr>
          </a:lstStyle>
          <a:p>
            <a:pPr lvl="0"/>
            <a:r>
              <a:rPr lang="de-DE" dirty="0"/>
              <a:t>Das fünfte Thema/Tag</a:t>
            </a:r>
          </a:p>
        </p:txBody>
      </p:sp>
      <p:sp>
        <p:nvSpPr>
          <p:cNvPr id="62" name="Textplatzhalter 32"/>
          <p:cNvSpPr>
            <a:spLocks noGrp="1"/>
          </p:cNvSpPr>
          <p:nvPr>
            <p:ph type="body" sz="quarter" idx="27" hasCustomPrompt="1"/>
          </p:nvPr>
        </p:nvSpPr>
        <p:spPr>
          <a:xfrm>
            <a:off x="8969749" y="3441535"/>
            <a:ext cx="2149475" cy="2870365"/>
          </a:xfrm>
        </p:spPr>
        <p:txBody>
          <a:bodyPr>
            <a:normAutofit/>
          </a:bodyPr>
          <a:lstStyle>
            <a:lvl1pPr marL="0" indent="0" algn="ctr">
              <a:buNone/>
              <a:defRPr sz="1800" b="0" baseline="0">
                <a:solidFill>
                  <a:schemeClr val="tx1"/>
                </a:solidFill>
              </a:defRPr>
            </a:lvl1pPr>
          </a:lstStyle>
          <a:p>
            <a:pPr lvl="0"/>
            <a:r>
              <a:rPr lang="de-DE" dirty="0"/>
              <a:t>Optional kann hier eine Beschreibung hinterlegt werden</a:t>
            </a:r>
          </a:p>
          <a:p>
            <a:pPr lvl="0"/>
            <a:r>
              <a:rPr lang="de-DE" dirty="0"/>
              <a:t>5.1 </a:t>
            </a:r>
            <a:br>
              <a:rPr lang="de-DE" dirty="0"/>
            </a:br>
            <a:r>
              <a:rPr lang="de-DE" dirty="0"/>
              <a:t>Oder das Thema untergliedert werden</a:t>
            </a:r>
          </a:p>
        </p:txBody>
      </p:sp>
      <p:sp>
        <p:nvSpPr>
          <p:cNvPr id="63" name="Titel 62"/>
          <p:cNvSpPr>
            <a:spLocks noGrp="1"/>
          </p:cNvSpPr>
          <p:nvPr>
            <p:ph type="title" hasCustomPrompt="1"/>
          </p:nvPr>
        </p:nvSpPr>
        <p:spPr>
          <a:xfrm>
            <a:off x="352995" y="556221"/>
            <a:ext cx="5010857" cy="673743"/>
          </a:xfrm>
        </p:spPr>
        <p:txBody>
          <a:bodyPr anchor="t" anchorCtr="0"/>
          <a:lstStyle>
            <a:lvl1pPr>
              <a:defRPr/>
            </a:lvl1pPr>
          </a:lstStyle>
          <a:p>
            <a:r>
              <a:rPr lang="de-DE" dirty="0"/>
              <a:t>Themenübersicht</a:t>
            </a:r>
          </a:p>
        </p:txBody>
      </p:sp>
    </p:spTree>
    <p:extLst>
      <p:ext uri="{BB962C8B-B14F-4D97-AF65-F5344CB8AC3E}">
        <p14:creationId xmlns:p14="http://schemas.microsoft.com/office/powerpoint/2010/main" val="14567726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ernziele">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5" name="Datumsplatzhalter 4"/>
          <p:cNvSpPr>
            <a:spLocks noGrp="1"/>
          </p:cNvSpPr>
          <p:nvPr>
            <p:ph type="dt" sz="half" idx="10"/>
          </p:nvPr>
        </p:nvSpPr>
        <p:spPr/>
        <p:txBody>
          <a:bodyPr/>
          <a:lstStyle/>
          <a:p>
            <a:fld id="{D68AE64B-F625-4BED-967E-AC8D2D6E44A7}" type="datetime1">
              <a:rPr lang="de-DE" smtClean="0"/>
              <a:t>25.02.2024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1055688" y="1979613"/>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5" name="Textplatzhalter 13"/>
          <p:cNvSpPr>
            <a:spLocks noGrp="1"/>
          </p:cNvSpPr>
          <p:nvPr>
            <p:ph type="body" sz="quarter" idx="14" hasCustomPrompt="1"/>
          </p:nvPr>
        </p:nvSpPr>
        <p:spPr>
          <a:xfrm>
            <a:off x="3949046" y="4147541"/>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6" name="Textplatzhalter 13"/>
          <p:cNvSpPr>
            <a:spLocks noGrp="1"/>
          </p:cNvSpPr>
          <p:nvPr>
            <p:ph type="body" sz="quarter" idx="15" hasCustomPrompt="1"/>
          </p:nvPr>
        </p:nvSpPr>
        <p:spPr>
          <a:xfrm>
            <a:off x="6107898" y="558360"/>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7" name="Textplatzhalter 13"/>
          <p:cNvSpPr>
            <a:spLocks noGrp="1"/>
          </p:cNvSpPr>
          <p:nvPr>
            <p:ph type="body" sz="quarter" idx="16" hasCustomPrompt="1"/>
          </p:nvPr>
        </p:nvSpPr>
        <p:spPr>
          <a:xfrm>
            <a:off x="8266750" y="2696566"/>
            <a:ext cx="2158852" cy="1450975"/>
          </a:xfrm>
          <a:solidFill>
            <a:schemeClr val="bg1"/>
          </a:solidFill>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8" name="Titel 17"/>
          <p:cNvSpPr>
            <a:spLocks noGrp="1"/>
          </p:cNvSpPr>
          <p:nvPr>
            <p:ph type="title" hasCustomPrompt="1"/>
          </p:nvPr>
        </p:nvSpPr>
        <p:spPr>
          <a:xfrm>
            <a:off x="347893" y="558360"/>
            <a:ext cx="3601153" cy="691320"/>
          </a:xfrm>
        </p:spPr>
        <p:txBody>
          <a:bodyPr anchor="t" anchorCtr="0"/>
          <a:lstStyle>
            <a:lvl1pPr>
              <a:defRPr/>
            </a:lvl1pPr>
          </a:lstStyle>
          <a:p>
            <a:r>
              <a:rPr lang="de-DE" dirty="0"/>
              <a:t>Lernziele</a:t>
            </a:r>
          </a:p>
        </p:txBody>
      </p:sp>
    </p:spTree>
    <p:extLst>
      <p:ext uri="{BB962C8B-B14F-4D97-AF65-F5344CB8AC3E}">
        <p14:creationId xmlns:p14="http://schemas.microsoft.com/office/powerpoint/2010/main" val="26284083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rnziele_mit_Bild">
    <p:spTree>
      <p:nvGrpSpPr>
        <p:cNvPr id="1" name=""/>
        <p:cNvGrpSpPr/>
        <p:nvPr/>
      </p:nvGrpSpPr>
      <p:grpSpPr>
        <a:xfrm>
          <a:off x="0" y="0"/>
          <a:ext cx="0" cy="0"/>
          <a:chOff x="0" y="0"/>
          <a:chExt cx="0" cy="0"/>
        </a:xfrm>
      </p:grpSpPr>
      <p:sp>
        <p:nvSpPr>
          <p:cNvPr id="3" name="Bildplatzhalter 2"/>
          <p:cNvSpPr>
            <a:spLocks noGrp="1"/>
          </p:cNvSpPr>
          <p:nvPr>
            <p:ph type="pic" sz="quarter" idx="17" hasCustomPrompt="1"/>
          </p:nvPr>
        </p:nvSpPr>
        <p:spPr>
          <a:xfrm>
            <a:off x="0" y="1263650"/>
            <a:ext cx="12192000" cy="5378450"/>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5" name="Datumsplatzhalter 4"/>
          <p:cNvSpPr>
            <a:spLocks noGrp="1"/>
          </p:cNvSpPr>
          <p:nvPr>
            <p:ph type="dt" sz="half" idx="10"/>
          </p:nvPr>
        </p:nvSpPr>
        <p:spPr/>
        <p:txBody>
          <a:bodyPr/>
          <a:lstStyle/>
          <a:p>
            <a:fld id="{487523B2-4D63-4A9B-9A7C-462B7722D6B8}" type="datetime1">
              <a:rPr lang="de-DE" smtClean="0"/>
              <a:t>25.02.2024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1055688" y="1979613"/>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18" name="Titel 17"/>
          <p:cNvSpPr>
            <a:spLocks noGrp="1"/>
          </p:cNvSpPr>
          <p:nvPr>
            <p:ph type="title" hasCustomPrompt="1"/>
          </p:nvPr>
        </p:nvSpPr>
        <p:spPr>
          <a:xfrm>
            <a:off x="347893" y="558360"/>
            <a:ext cx="3601153" cy="1132328"/>
          </a:xfrm>
        </p:spPr>
        <p:txBody>
          <a:bodyPr anchor="t" anchorCtr="0"/>
          <a:lstStyle>
            <a:lvl1pPr>
              <a:defRPr/>
            </a:lvl1pPr>
          </a:lstStyle>
          <a:p>
            <a:r>
              <a:rPr lang="de-DE" dirty="0"/>
              <a:t>Lernziele</a:t>
            </a:r>
          </a:p>
        </p:txBody>
      </p:sp>
      <p:sp>
        <p:nvSpPr>
          <p:cNvPr id="19" name="Textplatzhalter 13"/>
          <p:cNvSpPr>
            <a:spLocks noGrp="1"/>
          </p:cNvSpPr>
          <p:nvPr>
            <p:ph type="body" sz="quarter" idx="18" hasCustomPrompt="1"/>
          </p:nvPr>
        </p:nvSpPr>
        <p:spPr>
          <a:xfrm>
            <a:off x="3949046" y="3430588"/>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20" name="Textplatzhalter 13"/>
          <p:cNvSpPr>
            <a:spLocks noGrp="1"/>
          </p:cNvSpPr>
          <p:nvPr>
            <p:ph type="body" sz="quarter" idx="19" hasCustomPrompt="1"/>
          </p:nvPr>
        </p:nvSpPr>
        <p:spPr>
          <a:xfrm>
            <a:off x="6842404" y="1979612"/>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
        <p:nvSpPr>
          <p:cNvPr id="21" name="Textplatzhalter 13"/>
          <p:cNvSpPr>
            <a:spLocks noGrp="1"/>
          </p:cNvSpPr>
          <p:nvPr>
            <p:ph type="body" sz="quarter" idx="20" hasCustomPrompt="1"/>
          </p:nvPr>
        </p:nvSpPr>
        <p:spPr>
          <a:xfrm>
            <a:off x="8249124" y="4135877"/>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a:t>Hier könnte das erste kompetenzorientierte Lernziel stehen.</a:t>
            </a:r>
          </a:p>
        </p:txBody>
      </p:sp>
    </p:spTree>
    <p:extLst>
      <p:ext uri="{BB962C8B-B14F-4D97-AF65-F5344CB8AC3E}">
        <p14:creationId xmlns:p14="http://schemas.microsoft.com/office/powerpoint/2010/main" val="792101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emenabschnitt">
    <p:spTree>
      <p:nvGrpSpPr>
        <p:cNvPr id="1" name=""/>
        <p:cNvGrpSpPr/>
        <p:nvPr/>
      </p:nvGrpSpPr>
      <p:grpSpPr>
        <a:xfrm>
          <a:off x="0" y="0"/>
          <a:ext cx="0" cy="0"/>
          <a:chOff x="0" y="0"/>
          <a:chExt cx="0" cy="0"/>
        </a:xfrm>
      </p:grpSpPr>
      <p:grpSp>
        <p:nvGrpSpPr>
          <p:cNvPr id="18" name="Gruppieren 17"/>
          <p:cNvGrpSpPr/>
          <p:nvPr userDrawn="1"/>
        </p:nvGrpSpPr>
        <p:grpSpPr>
          <a:xfrm>
            <a:off x="-13606" y="532132"/>
            <a:ext cx="12205606" cy="6351728"/>
            <a:chOff x="-13606" y="532132"/>
            <a:chExt cx="12205606" cy="6351728"/>
          </a:xfrm>
        </p:grpSpPr>
        <p:sp>
          <p:nvSpPr>
            <p:cNvPr id="10" name="Freihandform 9"/>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1" name="Grafik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sp>
        <p:nvSpPr>
          <p:cNvPr id="7" name="Datumsplatzhalter 6"/>
          <p:cNvSpPr>
            <a:spLocks noGrp="1"/>
          </p:cNvSpPr>
          <p:nvPr>
            <p:ph type="dt" sz="half" idx="10"/>
          </p:nvPr>
        </p:nvSpPr>
        <p:spPr/>
        <p:txBody>
          <a:bodyPr/>
          <a:lstStyle/>
          <a:p>
            <a:fld id="{DD314261-164A-4255-B9B6-AF93A144F92A}" type="datetime1">
              <a:rPr lang="de-DE" smtClean="0"/>
              <a:t>25.02.2024</a:t>
            </a:fld>
            <a:endParaRPr lang="de-DE" dirty="0"/>
          </a:p>
        </p:txBody>
      </p:sp>
      <p:sp>
        <p:nvSpPr>
          <p:cNvPr id="8" name="Fußzeilenplatzhalter 7"/>
          <p:cNvSpPr>
            <a:spLocks noGrp="1"/>
          </p:cNvSpPr>
          <p:nvPr>
            <p:ph type="ftr" sz="quarter" idx="11"/>
          </p:nvPr>
        </p:nvSpPr>
        <p:spPr/>
        <p:txBody>
          <a:bodyPr/>
          <a:lstStyle/>
          <a:p>
            <a:r>
              <a:rPr lang="de-DE" dirty="0"/>
              <a:t>Präsentationsthema</a:t>
            </a:r>
          </a:p>
        </p:txBody>
      </p:sp>
      <p:sp>
        <p:nvSpPr>
          <p:cNvPr id="9" name="Foliennummernplatzhalter 8"/>
          <p:cNvSpPr>
            <a:spLocks noGrp="1"/>
          </p:cNvSpPr>
          <p:nvPr>
            <p:ph type="sldNum" sz="quarter" idx="12"/>
          </p:nvPr>
        </p:nvSpPr>
        <p:spPr/>
        <p:txBody>
          <a:bodyPr/>
          <a:lstStyle/>
          <a:p>
            <a:fld id="{220551C3-A462-45EE-8D4B-53AADAADD6D4}" type="slidenum">
              <a:rPr lang="de-DE" smtClean="0"/>
              <a:t>‹Nr.›</a:t>
            </a:fld>
            <a:endParaRPr lang="de-DE" dirty="0"/>
          </a:p>
        </p:txBody>
      </p:sp>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5389392" y="2001809"/>
            <a:ext cx="5751512" cy="707704"/>
          </a:xfrm>
        </p:spPr>
        <p:txBody>
          <a:bodyPr/>
          <a:lstStyle>
            <a:lvl1pPr marL="0" indent="0">
              <a:buNone/>
              <a:defRPr sz="4800" b="1"/>
            </a:lvl1pPr>
          </a:lstStyle>
          <a:p>
            <a:pPr lvl="0"/>
            <a:r>
              <a:rPr lang="de-DE" dirty="0"/>
              <a:t>Thementitel</a:t>
            </a:r>
          </a:p>
        </p:txBody>
      </p:sp>
      <p:sp>
        <p:nvSpPr>
          <p:cNvPr id="15" name="Textplatzhalter 13"/>
          <p:cNvSpPr>
            <a:spLocks noGrp="1"/>
          </p:cNvSpPr>
          <p:nvPr>
            <p:ph type="body" sz="quarter" idx="14" hasCustomPrompt="1"/>
          </p:nvPr>
        </p:nvSpPr>
        <p:spPr>
          <a:xfrm>
            <a:off x="5389392" y="2709513"/>
            <a:ext cx="5751512" cy="711867"/>
          </a:xfrm>
        </p:spPr>
        <p:txBody>
          <a:bodyPr/>
          <a:lstStyle>
            <a:lvl1pPr marL="0" indent="0">
              <a:buNone/>
              <a:defRPr sz="2000" i="1"/>
            </a:lvl1pPr>
          </a:lstStyle>
          <a:p>
            <a:pPr lvl="0"/>
            <a:r>
              <a:rPr lang="de-DE" dirty="0"/>
              <a:t>Themenbeschreibung</a:t>
            </a:r>
          </a:p>
        </p:txBody>
      </p:sp>
      <p:sp>
        <p:nvSpPr>
          <p:cNvPr id="17" name="Textplatzhalter 16"/>
          <p:cNvSpPr>
            <a:spLocks noGrp="1"/>
          </p:cNvSpPr>
          <p:nvPr>
            <p:ph type="body" sz="quarter" idx="15" hasCustomPrompt="1"/>
          </p:nvPr>
        </p:nvSpPr>
        <p:spPr>
          <a:xfrm>
            <a:off x="3949046" y="2000250"/>
            <a:ext cx="1219200" cy="1123950"/>
          </a:xfrm>
        </p:spPr>
        <p:txBody>
          <a:bodyPr/>
          <a:lstStyle>
            <a:lvl1pPr marL="0" indent="0">
              <a:buNone/>
              <a:defRPr sz="7200" b="1"/>
            </a:lvl1pPr>
          </a:lstStyle>
          <a:p>
            <a:pPr lvl="0"/>
            <a:r>
              <a:rPr lang="de-DE" dirty="0"/>
              <a:t>01</a:t>
            </a:r>
          </a:p>
        </p:txBody>
      </p:sp>
    </p:spTree>
    <p:extLst>
      <p:ext uri="{BB962C8B-B14F-4D97-AF65-F5344CB8AC3E}">
        <p14:creationId xmlns:p14="http://schemas.microsoft.com/office/powerpoint/2010/main" val="408718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emenabschnitt_mit Bild">
    <p:spTree>
      <p:nvGrpSpPr>
        <p:cNvPr id="1" name=""/>
        <p:cNvGrpSpPr/>
        <p:nvPr/>
      </p:nvGrpSpPr>
      <p:grpSpPr>
        <a:xfrm>
          <a:off x="0" y="0"/>
          <a:ext cx="0" cy="0"/>
          <a:chOff x="0" y="0"/>
          <a:chExt cx="0" cy="0"/>
        </a:xfrm>
      </p:grpSpPr>
      <p:sp>
        <p:nvSpPr>
          <p:cNvPr id="6" name="Rechteck 5"/>
          <p:cNvSpPr/>
          <p:nvPr userDrawn="1"/>
        </p:nvSpPr>
        <p:spPr>
          <a:xfrm>
            <a:off x="8983980" y="0"/>
            <a:ext cx="3208020" cy="6311900"/>
          </a:xfrm>
          <a:prstGeom prst="rect">
            <a:avLst/>
          </a:prstGeom>
          <a:solidFill>
            <a:schemeClr val="bg2">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 name="Bildplatzhalter 3"/>
          <p:cNvSpPr>
            <a:spLocks noGrp="1"/>
          </p:cNvSpPr>
          <p:nvPr>
            <p:ph type="pic" sz="quarter" idx="16" hasCustomPrompt="1"/>
          </p:nvPr>
        </p:nvSpPr>
        <p:spPr>
          <a:xfrm>
            <a:off x="0" y="561951"/>
            <a:ext cx="11140904" cy="6069471"/>
          </a:xfrm>
        </p:spPr>
        <p:txBody>
          <a:bodyPr/>
          <a:lstStyle/>
          <a:p>
            <a:r>
              <a:rPr lang="de-DE" dirty="0"/>
              <a:t>Bild durch klick auf das Symbol hinzufügen und in den Hintergrund verschieben.</a:t>
            </a:r>
          </a:p>
          <a:p>
            <a:endParaRPr lang="de-DE" dirty="0"/>
          </a:p>
          <a:p>
            <a:endParaRPr lang="de-DE" dirty="0"/>
          </a:p>
        </p:txBody>
      </p:sp>
      <p:grpSp>
        <p:nvGrpSpPr>
          <p:cNvPr id="18" name="Gruppieren 17"/>
          <p:cNvGrpSpPr/>
          <p:nvPr userDrawn="1"/>
        </p:nvGrpSpPr>
        <p:grpSpPr>
          <a:xfrm>
            <a:off x="0" y="6083955"/>
            <a:ext cx="12192000" cy="792064"/>
            <a:chOff x="0" y="6083955"/>
            <a:chExt cx="12192000" cy="792064"/>
          </a:xfrm>
        </p:grpSpPr>
        <p:sp>
          <p:nvSpPr>
            <p:cNvPr id="19" name="Freihandform 1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20" name="Grafik 1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7" name="Datumsplatzhalter 6"/>
          <p:cNvSpPr>
            <a:spLocks noGrp="1"/>
          </p:cNvSpPr>
          <p:nvPr>
            <p:ph type="dt" sz="half" idx="10"/>
          </p:nvPr>
        </p:nvSpPr>
        <p:spPr/>
        <p:txBody>
          <a:bodyPr/>
          <a:lstStyle/>
          <a:p>
            <a:fld id="{C9BAFDB5-3D8D-466A-9849-BDB04F0B17F7}" type="datetime1">
              <a:rPr lang="de-DE" smtClean="0"/>
              <a:t>25.02.2024</a:t>
            </a:fld>
            <a:endParaRPr lang="de-DE" dirty="0"/>
          </a:p>
        </p:txBody>
      </p:sp>
      <p:sp>
        <p:nvSpPr>
          <p:cNvPr id="8" name="Fußzeilenplatzhalter 7"/>
          <p:cNvSpPr>
            <a:spLocks noGrp="1"/>
          </p:cNvSpPr>
          <p:nvPr>
            <p:ph type="ftr" sz="quarter" idx="11"/>
          </p:nvPr>
        </p:nvSpPr>
        <p:spPr/>
        <p:txBody>
          <a:bodyPr/>
          <a:lstStyle/>
          <a:p>
            <a:r>
              <a:rPr lang="de-DE" dirty="0"/>
              <a:t>Präsentationsthema</a:t>
            </a:r>
          </a:p>
        </p:txBody>
      </p:sp>
      <p:sp>
        <p:nvSpPr>
          <p:cNvPr id="9" name="Foliennummernplatzhalter 8"/>
          <p:cNvSpPr>
            <a:spLocks noGrp="1"/>
          </p:cNvSpPr>
          <p:nvPr>
            <p:ph type="sldNum" sz="quarter" idx="12"/>
          </p:nvPr>
        </p:nvSpPr>
        <p:spPr/>
        <p:txBody>
          <a:bodyPr/>
          <a:lstStyle/>
          <a:p>
            <a:fld id="{220551C3-A462-45EE-8D4B-53AADAADD6D4}" type="slidenum">
              <a:rPr lang="de-DE" smtClean="0"/>
              <a:t>‹Nr.›</a:t>
            </a:fld>
            <a:endParaRPr lang="de-DE" dirty="0"/>
          </a:p>
        </p:txBody>
      </p:sp>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5389392" y="2006889"/>
            <a:ext cx="5751512" cy="707704"/>
          </a:xfrm>
          <a:solidFill>
            <a:srgbClr val="FFFFFF"/>
          </a:solidFill>
          <a:ln w="63500">
            <a:noFill/>
          </a:ln>
        </p:spPr>
        <p:txBody>
          <a:bodyPr/>
          <a:lstStyle>
            <a:lvl1pPr marL="0" indent="0">
              <a:buNone/>
              <a:defRPr sz="4800"/>
            </a:lvl1pPr>
          </a:lstStyle>
          <a:p>
            <a:pPr lvl="0"/>
            <a:r>
              <a:rPr lang="de-DE" dirty="0"/>
              <a:t>Thementitel</a:t>
            </a:r>
          </a:p>
        </p:txBody>
      </p:sp>
      <p:sp>
        <p:nvSpPr>
          <p:cNvPr id="15" name="Textplatzhalter 13"/>
          <p:cNvSpPr>
            <a:spLocks noGrp="1"/>
          </p:cNvSpPr>
          <p:nvPr>
            <p:ph type="body" sz="quarter" idx="14" hasCustomPrompt="1"/>
          </p:nvPr>
        </p:nvSpPr>
        <p:spPr>
          <a:xfrm>
            <a:off x="5389392" y="2714593"/>
            <a:ext cx="5751512" cy="711867"/>
          </a:xfrm>
          <a:solidFill>
            <a:srgbClr val="FFFFFF"/>
          </a:solidFill>
        </p:spPr>
        <p:txBody>
          <a:bodyPr/>
          <a:lstStyle>
            <a:lvl1pPr marL="0" indent="0">
              <a:buNone/>
              <a:defRPr sz="2000" i="1"/>
            </a:lvl1pPr>
          </a:lstStyle>
          <a:p>
            <a:pPr lvl="0"/>
            <a:r>
              <a:rPr lang="de-DE" dirty="0"/>
              <a:t>Themenbeschreibung</a:t>
            </a:r>
          </a:p>
        </p:txBody>
      </p:sp>
      <p:sp>
        <p:nvSpPr>
          <p:cNvPr id="17" name="Textplatzhalter 16"/>
          <p:cNvSpPr>
            <a:spLocks noGrp="1"/>
          </p:cNvSpPr>
          <p:nvPr>
            <p:ph type="body" sz="quarter" idx="15" hasCustomPrompt="1"/>
          </p:nvPr>
        </p:nvSpPr>
        <p:spPr>
          <a:xfrm>
            <a:off x="3949046" y="1997710"/>
            <a:ext cx="1219200" cy="1123950"/>
          </a:xfrm>
          <a:solidFill>
            <a:srgbClr val="FFFFFF"/>
          </a:solidFill>
          <a:ln w="63500">
            <a:solidFill>
              <a:schemeClr val="tx1"/>
            </a:solidFill>
          </a:ln>
        </p:spPr>
        <p:txBody>
          <a:bodyPr/>
          <a:lstStyle>
            <a:lvl1pPr marL="0" indent="0">
              <a:buNone/>
              <a:defRPr sz="7200" b="1"/>
            </a:lvl1pPr>
          </a:lstStyle>
          <a:p>
            <a:pPr lvl="0"/>
            <a:r>
              <a:rPr lang="de-DE" dirty="0"/>
              <a:t>01</a:t>
            </a:r>
          </a:p>
        </p:txBody>
      </p:sp>
    </p:spTree>
    <p:extLst>
      <p:ext uri="{BB962C8B-B14F-4D97-AF65-F5344CB8AC3E}">
        <p14:creationId xmlns:p14="http://schemas.microsoft.com/office/powerpoint/2010/main" val="27867033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folien">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EE6B0DF4-9D6B-4CDB-97A0-C9570C62FA77}" type="datetime1">
              <a:rPr lang="de-DE" smtClean="0"/>
              <a:t>25.02.2024</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11495754" cy="714373"/>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49" y="1985963"/>
            <a:ext cx="11495753" cy="3602037"/>
          </a:xfrm>
        </p:spPr>
        <p:txBody>
          <a:bodyPr>
            <a:normAutofit/>
          </a:bodyPr>
          <a:lstStyle>
            <a:lvl1pPr>
              <a:defRPr sz="2400"/>
            </a:lvl1pPr>
          </a:lstStyle>
          <a:p>
            <a:pPr lvl="0"/>
            <a:r>
              <a:rPr lang="de-DE" dirty="0"/>
              <a:t>Formatvorlagen des Textmasters bearbeiten</a:t>
            </a:r>
          </a:p>
        </p:txBody>
      </p:sp>
    </p:spTree>
    <p:extLst>
      <p:ext uri="{BB962C8B-B14F-4D97-AF65-F5344CB8AC3E}">
        <p14:creationId xmlns:p14="http://schemas.microsoft.com/office/powerpoint/2010/main" val="12089396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folie_Zwei_Spalten">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49B7AE18-FA3D-4C6C-87A7-F7D224EBB6B4}" type="datetime1">
              <a:rPr lang="de-DE" smtClean="0"/>
              <a:t>25.02.2024</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11495754" cy="714373"/>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51" y="2706688"/>
            <a:ext cx="5001902" cy="2881312"/>
          </a:xfrm>
        </p:spPr>
        <p:txBody>
          <a:bodyPr>
            <a:normAutofit/>
          </a:bodyPr>
          <a:lstStyle>
            <a:lvl1pPr>
              <a:defRPr sz="2400"/>
            </a:lvl1pPr>
          </a:lstStyle>
          <a:p>
            <a:pPr lvl="0"/>
            <a:r>
              <a:rPr lang="de-DE" dirty="0"/>
              <a:t>Formatvorlagen des Textmasters bearbeiten</a:t>
            </a:r>
          </a:p>
        </p:txBody>
      </p:sp>
      <p:sp>
        <p:nvSpPr>
          <p:cNvPr id="12" name="Textplatzhalter 12"/>
          <p:cNvSpPr>
            <a:spLocks noGrp="1"/>
          </p:cNvSpPr>
          <p:nvPr>
            <p:ph type="body" sz="quarter" idx="15"/>
          </p:nvPr>
        </p:nvSpPr>
        <p:spPr>
          <a:xfrm>
            <a:off x="6810375" y="2706688"/>
            <a:ext cx="5047328" cy="2916138"/>
          </a:xfrm>
        </p:spPr>
        <p:txBody>
          <a:bodyPr>
            <a:normAutofit/>
          </a:bodyPr>
          <a:lstStyle>
            <a:lvl1pPr>
              <a:defRPr sz="2400"/>
            </a:lvl1pPr>
            <a:lvl2pPr>
              <a:defRPr sz="2200"/>
            </a:lvl2pPr>
            <a:lvl3pPr>
              <a:defRPr sz="2200"/>
            </a:lvl3pPr>
            <a:lvl4pPr>
              <a:defRPr sz="2200"/>
            </a:lvl4pPr>
            <a:lvl5pPr>
              <a:defRPr sz="2200"/>
            </a:lvl5pPr>
          </a:lstStyle>
          <a:p>
            <a:pPr lvl="0"/>
            <a:r>
              <a:rPr lang="de-DE" dirty="0"/>
              <a:t>Formatvorlagen des Textmasters bearbeiten</a:t>
            </a:r>
          </a:p>
        </p:txBody>
      </p:sp>
      <p:sp>
        <p:nvSpPr>
          <p:cNvPr id="14" name="Textplatzhalter 13"/>
          <p:cNvSpPr>
            <a:spLocks noGrp="1"/>
          </p:cNvSpPr>
          <p:nvPr>
            <p:ph type="body" sz="quarter" idx="16" hasCustomPrompt="1"/>
          </p:nvPr>
        </p:nvSpPr>
        <p:spPr>
          <a:xfrm>
            <a:off x="6810374" y="1981200"/>
            <a:ext cx="5046664" cy="725488"/>
          </a:xfrm>
        </p:spPr>
        <p:txBody>
          <a:bodyPr/>
          <a:lstStyle>
            <a:lvl1pPr marL="0" indent="0">
              <a:buNone/>
              <a:defRPr sz="2200" b="1" baseline="0"/>
            </a:lvl1pPr>
          </a:lstStyle>
          <a:p>
            <a:pPr lvl="0"/>
            <a:r>
              <a:rPr lang="de-DE" dirty="0"/>
              <a:t>Optional kann hier eine zweite Überschrift eingefügt werden.</a:t>
            </a:r>
          </a:p>
        </p:txBody>
      </p:sp>
      <p:sp>
        <p:nvSpPr>
          <p:cNvPr id="15" name="Textplatzhalter 13"/>
          <p:cNvSpPr>
            <a:spLocks noGrp="1"/>
          </p:cNvSpPr>
          <p:nvPr>
            <p:ph type="body" sz="quarter" idx="17" hasCustomPrompt="1"/>
          </p:nvPr>
        </p:nvSpPr>
        <p:spPr>
          <a:xfrm>
            <a:off x="336445" y="1992314"/>
            <a:ext cx="5027407" cy="714373"/>
          </a:xfrm>
        </p:spPr>
        <p:txBody>
          <a:bodyPr/>
          <a:lstStyle>
            <a:lvl1pPr marL="0" indent="0">
              <a:buNone/>
              <a:defRPr sz="2200" b="1" baseline="0"/>
            </a:lvl1pPr>
          </a:lstStyle>
          <a:p>
            <a:pPr lvl="0"/>
            <a:r>
              <a:rPr lang="de-DE" dirty="0"/>
              <a:t>Optional kann hier eine zweite Überschrift eingefügt werden.</a:t>
            </a:r>
          </a:p>
        </p:txBody>
      </p:sp>
    </p:spTree>
    <p:extLst>
      <p:ext uri="{BB962C8B-B14F-4D97-AF65-F5344CB8AC3E}">
        <p14:creationId xmlns:p14="http://schemas.microsoft.com/office/powerpoint/2010/main" val="35106581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folie_mit_Bild">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703DF2EA-616A-4F49-A635-283653D9B8E0}" type="datetime1">
              <a:rPr lang="de-DE" smtClean="0"/>
              <a:t>25.02.2024</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7181851" cy="714373"/>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49" y="1985963"/>
            <a:ext cx="7181851" cy="3602037"/>
          </a:xfrm>
        </p:spPr>
        <p:txBody>
          <a:bodyPr/>
          <a:lstStyle>
            <a:lvl1pPr>
              <a:defRPr sz="2400"/>
            </a:lvl1pPr>
          </a:lstStyle>
          <a:p>
            <a:pPr lvl="0"/>
            <a:r>
              <a:rPr lang="de-DE" dirty="0"/>
              <a:t>Formatvorlagen des Textmasters bearbeiten</a:t>
            </a:r>
          </a:p>
        </p:txBody>
      </p:sp>
      <p:sp>
        <p:nvSpPr>
          <p:cNvPr id="12" name="Bildplatzhalter 11"/>
          <p:cNvSpPr>
            <a:spLocks noGrp="1"/>
          </p:cNvSpPr>
          <p:nvPr>
            <p:ph type="pic" sz="quarter" idx="15"/>
          </p:nvPr>
        </p:nvSpPr>
        <p:spPr>
          <a:xfrm>
            <a:off x="7552150" y="549275"/>
            <a:ext cx="4628738" cy="2606040"/>
          </a:xfrm>
        </p:spPr>
        <p:txBody>
          <a:bodyPr/>
          <a:lstStyle/>
          <a:p>
            <a:endParaRPr lang="de-DE" dirty="0"/>
          </a:p>
        </p:txBody>
      </p:sp>
      <p:sp>
        <p:nvSpPr>
          <p:cNvPr id="14" name="Bildplatzhalter 11"/>
          <p:cNvSpPr>
            <a:spLocks noGrp="1"/>
          </p:cNvSpPr>
          <p:nvPr>
            <p:ph type="pic" sz="quarter" idx="16"/>
          </p:nvPr>
        </p:nvSpPr>
        <p:spPr>
          <a:xfrm>
            <a:off x="7552150" y="3439042"/>
            <a:ext cx="4628738" cy="2606040"/>
          </a:xfrm>
        </p:spPr>
        <p:txBody>
          <a:bodyPr/>
          <a:lstStyle/>
          <a:p>
            <a:endParaRPr lang="de-DE" dirty="0"/>
          </a:p>
        </p:txBody>
      </p:sp>
    </p:spTree>
    <p:extLst>
      <p:ext uri="{BB962C8B-B14F-4D97-AF65-F5344CB8AC3E}">
        <p14:creationId xmlns:p14="http://schemas.microsoft.com/office/powerpoint/2010/main" val="5688111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_mit_Bild_quer">
    <p:spTree>
      <p:nvGrpSpPr>
        <p:cNvPr id="1" name=""/>
        <p:cNvGrpSpPr/>
        <p:nvPr/>
      </p:nvGrpSpPr>
      <p:grpSpPr>
        <a:xfrm>
          <a:off x="0" y="0"/>
          <a:ext cx="0" cy="0"/>
          <a:chOff x="0" y="0"/>
          <a:chExt cx="0" cy="0"/>
        </a:xfrm>
      </p:grpSpPr>
      <p:sp>
        <p:nvSpPr>
          <p:cNvPr id="12" name="Bildplatzhalter 11"/>
          <p:cNvSpPr>
            <a:spLocks noGrp="1"/>
          </p:cNvSpPr>
          <p:nvPr>
            <p:ph type="pic" sz="quarter" idx="15" hasCustomPrompt="1"/>
          </p:nvPr>
        </p:nvSpPr>
        <p:spPr>
          <a:xfrm>
            <a:off x="0" y="1"/>
            <a:ext cx="12192000" cy="2709884"/>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2729922"/>
            <a:ext cx="7181378" cy="720725"/>
          </a:xfrm>
        </p:spPr>
        <p:txBody>
          <a:bodyPr anchor="t" anchorCtr="0"/>
          <a:lstStyle>
            <a:lvl1pPr>
              <a:defRPr b="1"/>
            </a:lvl1pPr>
          </a:lstStyle>
          <a:p>
            <a:r>
              <a:rPr lang="de-DE" dirty="0"/>
              <a:t>Überschrift</a:t>
            </a:r>
          </a:p>
        </p:txBody>
      </p:sp>
      <p:sp>
        <p:nvSpPr>
          <p:cNvPr id="3" name="Datumsplatzhalter 2"/>
          <p:cNvSpPr>
            <a:spLocks noGrp="1"/>
          </p:cNvSpPr>
          <p:nvPr>
            <p:ph type="dt" sz="half" idx="10"/>
          </p:nvPr>
        </p:nvSpPr>
        <p:spPr/>
        <p:txBody>
          <a:bodyPr/>
          <a:lstStyle/>
          <a:p>
            <a:fld id="{7371A257-B4BD-49B9-8C71-F79D07B630C8}" type="datetime1">
              <a:rPr lang="de-DE" smtClean="0"/>
              <a:t>25.02.2024</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3440846"/>
            <a:ext cx="7181851" cy="712054"/>
          </a:xfrm>
        </p:spPr>
        <p:txBody>
          <a:bodyPr>
            <a:normAutofit/>
          </a:bodyPr>
          <a:lstStyle>
            <a:lvl1pPr marL="0" indent="0">
              <a:buNone/>
              <a:defRPr sz="1800" i="1" baseline="0"/>
            </a:lvl1pPr>
          </a:lstStyle>
          <a:p>
            <a:pPr lvl="0"/>
            <a:r>
              <a:rPr lang="de-DE" dirty="0"/>
              <a:t>Hier kann optional eine Unterüberschrift oder eine Erklärung eingefügt werden</a:t>
            </a:r>
          </a:p>
        </p:txBody>
      </p:sp>
      <p:sp>
        <p:nvSpPr>
          <p:cNvPr id="13" name="Textplatzhalter 12"/>
          <p:cNvSpPr>
            <a:spLocks noGrp="1"/>
          </p:cNvSpPr>
          <p:nvPr>
            <p:ph type="body" sz="quarter" idx="14"/>
          </p:nvPr>
        </p:nvSpPr>
        <p:spPr>
          <a:xfrm>
            <a:off x="361949" y="4152899"/>
            <a:ext cx="11495089" cy="2159021"/>
          </a:xfrm>
        </p:spPr>
        <p:txBody>
          <a:bodyPr numCol="2" spcCol="0">
            <a:normAutofit/>
          </a:bodyPr>
          <a:lstStyle>
            <a:lvl1pPr>
              <a:defRPr sz="2400"/>
            </a:lvl1pPr>
            <a:lvl2pPr>
              <a:defRPr/>
            </a:lvl2pPr>
            <a:lvl4pPr>
              <a:defRPr/>
            </a:lvl4pPr>
          </a:lstStyle>
          <a:p>
            <a:pPr lvl="0"/>
            <a:r>
              <a:rPr lang="de-DE" dirty="0"/>
              <a:t>Formatvorlagen des Textmasters bearbeiten</a:t>
            </a:r>
          </a:p>
        </p:txBody>
      </p:sp>
    </p:spTree>
    <p:extLst>
      <p:ext uri="{BB962C8B-B14F-4D97-AF65-F5344CB8AC3E}">
        <p14:creationId xmlns:p14="http://schemas.microsoft.com/office/powerpoint/2010/main" val="36103252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bbildungsseite_Vollbild">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25890B50-E583-4F9A-9F5C-F8632A40B7F9}" type="datetime1">
              <a:rPr lang="de-DE" smtClean="0"/>
              <a:t>25.02.2024</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11522075"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35486292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bbildungsseite_mit_Erklärung">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E865C805-59C9-447E-AC16-D3DD7FBB636D}" type="datetime1">
              <a:rPr lang="de-DE" smtClean="0"/>
              <a:t>25.02.2024</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11522075"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
        <p:nvSpPr>
          <p:cNvPr id="10" name="Textplatzhalter 9"/>
          <p:cNvSpPr>
            <a:spLocks noGrp="1"/>
          </p:cNvSpPr>
          <p:nvPr>
            <p:ph type="body" sz="quarter" idx="14"/>
          </p:nvPr>
        </p:nvSpPr>
        <p:spPr>
          <a:xfrm>
            <a:off x="334963" y="4895850"/>
            <a:ext cx="11522075" cy="692150"/>
          </a:xfrm>
        </p:spPr>
        <p:txBody>
          <a:bodyPr>
            <a:normAutofit/>
          </a:bodyPr>
          <a:lstStyle>
            <a:lvl1pPr marL="0" indent="0">
              <a:buNone/>
              <a:defRPr sz="2200" i="1"/>
            </a:lvl1pPr>
          </a:lstStyle>
          <a:p>
            <a:pPr lvl="0"/>
            <a:r>
              <a:rPr lang="de-DE" dirty="0"/>
              <a:t>Formatvorlagen des Textmasters bearbeiten</a:t>
            </a:r>
          </a:p>
        </p:txBody>
      </p:sp>
    </p:spTree>
    <p:extLst>
      <p:ext uri="{BB962C8B-B14F-4D97-AF65-F5344CB8AC3E}">
        <p14:creationId xmlns:p14="http://schemas.microsoft.com/office/powerpoint/2010/main" val="5450291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bbildungsseite_Zwei_Bilder">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43143C5F-7DED-4B57-9F55-B801BE6EA299}" type="datetime1">
              <a:rPr lang="de-DE" smtClean="0"/>
              <a:t>25.02.2024</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5761037"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
        <p:nvSpPr>
          <p:cNvPr id="10" name="Bildplatzhalter 10"/>
          <p:cNvSpPr>
            <a:spLocks noGrp="1"/>
          </p:cNvSpPr>
          <p:nvPr>
            <p:ph type="pic" sz="quarter" idx="14" hasCustomPrompt="1"/>
          </p:nvPr>
        </p:nvSpPr>
        <p:spPr>
          <a:xfrm>
            <a:off x="6096000" y="549275"/>
            <a:ext cx="5761037"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4328882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Abbildungsseite_Zwei_Bilder">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5D1B84DE-ED62-4170-B17A-A12B89CD8221}" type="datetime1">
              <a:rPr lang="de-DE" smtClean="0"/>
              <a:t>25.02.2024</a:t>
            </a:fld>
            <a:endParaRPr lang="de-DE" dirty="0"/>
          </a:p>
        </p:txBody>
      </p:sp>
      <p:sp>
        <p:nvSpPr>
          <p:cNvPr id="3" name="Fußzeilenplatzhalter 2"/>
          <p:cNvSpPr>
            <a:spLocks noGrp="1"/>
          </p:cNvSpPr>
          <p:nvPr>
            <p:ph type="ftr" sz="quarter" idx="11"/>
          </p:nvPr>
        </p:nvSpPr>
        <p:spPr/>
        <p:txBody>
          <a:bodyPr/>
          <a:lstStyle/>
          <a:p>
            <a:r>
              <a:rPr lang="de-DE" dirty="0"/>
              <a:t>Präsentationsthema</a:t>
            </a:r>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5761037"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a:t>
            </a:r>
          </a:p>
        </p:txBody>
      </p:sp>
      <p:sp>
        <p:nvSpPr>
          <p:cNvPr id="10" name="Bildplatzhalter 10"/>
          <p:cNvSpPr>
            <a:spLocks noGrp="1"/>
          </p:cNvSpPr>
          <p:nvPr>
            <p:ph type="pic" sz="quarter" idx="14" hasCustomPrompt="1"/>
          </p:nvPr>
        </p:nvSpPr>
        <p:spPr>
          <a:xfrm>
            <a:off x="6096000" y="549275"/>
            <a:ext cx="5761037"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a:t>
            </a:r>
          </a:p>
        </p:txBody>
      </p:sp>
      <p:sp>
        <p:nvSpPr>
          <p:cNvPr id="12" name="Textplatzhalter 11"/>
          <p:cNvSpPr>
            <a:spLocks noGrp="1"/>
          </p:cNvSpPr>
          <p:nvPr>
            <p:ph type="body" sz="quarter" idx="15"/>
          </p:nvPr>
        </p:nvSpPr>
        <p:spPr>
          <a:xfrm>
            <a:off x="334963" y="4867275"/>
            <a:ext cx="5761037" cy="733425"/>
          </a:xfrm>
        </p:spPr>
        <p:txBody>
          <a:bodyPr>
            <a:normAutofit/>
          </a:bodyPr>
          <a:lstStyle>
            <a:lvl1pPr marL="0" indent="0">
              <a:buNone/>
              <a:defRPr sz="2200" i="1"/>
            </a:lvl1pPr>
          </a:lstStyle>
          <a:p>
            <a:pPr lvl="0"/>
            <a:r>
              <a:rPr lang="de-DE" dirty="0"/>
              <a:t>Formatvorlagen des Textmasters</a:t>
            </a:r>
          </a:p>
        </p:txBody>
      </p:sp>
      <p:sp>
        <p:nvSpPr>
          <p:cNvPr id="13" name="Textplatzhalter 11"/>
          <p:cNvSpPr>
            <a:spLocks noGrp="1"/>
          </p:cNvSpPr>
          <p:nvPr>
            <p:ph type="body" sz="quarter" idx="16"/>
          </p:nvPr>
        </p:nvSpPr>
        <p:spPr>
          <a:xfrm>
            <a:off x="6095999" y="4867275"/>
            <a:ext cx="5761037" cy="733425"/>
          </a:xfrm>
        </p:spPr>
        <p:txBody>
          <a:bodyPr>
            <a:normAutofit/>
          </a:bodyPr>
          <a:lstStyle>
            <a:lvl1pPr marL="0" indent="0">
              <a:buNone/>
              <a:defRPr sz="2200" i="1"/>
            </a:lvl1pPr>
          </a:lstStyle>
          <a:p>
            <a:pPr lvl="0"/>
            <a:r>
              <a:rPr lang="de-DE" dirty="0"/>
              <a:t>Formatvorlagen des Textmasters</a:t>
            </a:r>
          </a:p>
        </p:txBody>
      </p:sp>
    </p:spTree>
    <p:extLst>
      <p:ext uri="{BB962C8B-B14F-4D97-AF65-F5344CB8AC3E}">
        <p14:creationId xmlns:p14="http://schemas.microsoft.com/office/powerpoint/2010/main" val="12686679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Zitat_Weiß">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8ADFA7FF-7089-4E48-98BE-85BF99ED458D}" type="datetime1">
              <a:rPr lang="de-DE" smtClean="0"/>
              <a:t>25.02.2024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1249363"/>
            <a:ext cx="8686800" cy="2865437"/>
          </a:xfrm>
        </p:spPr>
        <p:txBody>
          <a:bodyPr>
            <a:noAutofit/>
          </a:bodyPr>
          <a:lstStyle>
            <a:lvl1pPr marL="0" indent="0">
              <a:buNone/>
              <a:defRPr sz="7200" baseline="0">
                <a:solidFill>
                  <a:schemeClr val="accent2"/>
                </a:solidFill>
              </a:defRPr>
            </a:lvl1pPr>
          </a:lstStyle>
          <a:p>
            <a:pPr lvl="0"/>
            <a:r>
              <a:rPr lang="de-DE" dirty="0"/>
              <a:t>„Hier kann ein Zitat eingefügt werden.“</a:t>
            </a:r>
          </a:p>
        </p:txBody>
      </p:sp>
      <p:sp>
        <p:nvSpPr>
          <p:cNvPr id="15" name="Textplatzhalter 14"/>
          <p:cNvSpPr>
            <a:spLocks noGrp="1"/>
          </p:cNvSpPr>
          <p:nvPr>
            <p:ph type="body" sz="quarter" idx="14" hasCustomPrompt="1"/>
          </p:nvPr>
        </p:nvSpPr>
        <p:spPr>
          <a:xfrm>
            <a:off x="1768475" y="4876800"/>
            <a:ext cx="8686800" cy="701675"/>
          </a:xfrm>
        </p:spPr>
        <p:txBody>
          <a:bodyPr>
            <a:normAutofit/>
          </a:bodyPr>
          <a:lstStyle>
            <a:lvl1pPr marL="0" indent="0">
              <a:buNone/>
              <a:defRPr sz="2000" i="1" baseline="0"/>
            </a:lvl1pPr>
          </a:lstStyle>
          <a:p>
            <a:pPr lvl="0"/>
            <a:r>
              <a:rPr lang="de-DE" dirty="0"/>
              <a:t>– Hier wird die zitierte Person aufgeführt.</a:t>
            </a:r>
          </a:p>
        </p:txBody>
      </p:sp>
    </p:spTree>
    <p:extLst>
      <p:ext uri="{BB962C8B-B14F-4D97-AF65-F5344CB8AC3E}">
        <p14:creationId xmlns:p14="http://schemas.microsoft.com/office/powerpoint/2010/main" val="7742395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Zitat_Blau_Bild">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2"/>
          <a:stretch>
            <a:fillRect/>
          </a:stretch>
        </p:blipFill>
        <p:spPr>
          <a:xfrm>
            <a:off x="-529" y="6065451"/>
            <a:ext cx="12193057" cy="792549"/>
          </a:xfrm>
          <a:prstGeom prst="rect">
            <a:avLst/>
          </a:prstGeom>
        </p:spPr>
      </p:pic>
      <p:sp>
        <p:nvSpPr>
          <p:cNvPr id="5" name="Datumsplatzhalter 4"/>
          <p:cNvSpPr>
            <a:spLocks noGrp="1"/>
          </p:cNvSpPr>
          <p:nvPr>
            <p:ph type="dt" sz="half" idx="10"/>
          </p:nvPr>
        </p:nvSpPr>
        <p:spPr/>
        <p:txBody>
          <a:bodyPr/>
          <a:lstStyle/>
          <a:p>
            <a:fld id="{E59FF18C-A25A-4E85-BD71-DA8789E0546F}" type="datetime1">
              <a:rPr lang="de-DE" smtClean="0"/>
              <a:t>25.02.2024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2738438"/>
            <a:ext cx="8686800" cy="2865437"/>
          </a:xfrm>
        </p:spPr>
        <p:txBody>
          <a:bodyPr>
            <a:noAutofit/>
          </a:bodyPr>
          <a:lstStyle>
            <a:lvl1pPr marL="0" indent="0">
              <a:buNone/>
              <a:defRPr sz="7200" baseline="0">
                <a:solidFill>
                  <a:schemeClr val="accent2"/>
                </a:solidFill>
              </a:defRPr>
            </a:lvl1pPr>
          </a:lstStyle>
          <a:p>
            <a:pPr lvl="0"/>
            <a:r>
              <a:rPr lang="de-DE" dirty="0"/>
              <a:t>„Hier kann ein Zitat eingefügt werden.“</a:t>
            </a:r>
          </a:p>
        </p:txBody>
      </p:sp>
      <p:sp>
        <p:nvSpPr>
          <p:cNvPr id="15" name="Textplatzhalter 14"/>
          <p:cNvSpPr>
            <a:spLocks noGrp="1"/>
          </p:cNvSpPr>
          <p:nvPr>
            <p:ph type="body" sz="quarter" idx="14" hasCustomPrompt="1"/>
          </p:nvPr>
        </p:nvSpPr>
        <p:spPr>
          <a:xfrm>
            <a:off x="1768475" y="5607050"/>
            <a:ext cx="8686800" cy="701675"/>
          </a:xfrm>
        </p:spPr>
        <p:txBody>
          <a:bodyPr>
            <a:normAutofit/>
          </a:bodyPr>
          <a:lstStyle>
            <a:lvl1pPr marL="0" indent="0">
              <a:buNone/>
              <a:defRPr sz="2000" i="1" baseline="0"/>
            </a:lvl1pPr>
          </a:lstStyle>
          <a:p>
            <a:pPr lvl="0"/>
            <a:r>
              <a:rPr lang="de-DE" dirty="0"/>
              <a:t>– Hier wird die zitierte Person aufgeführt.</a:t>
            </a:r>
          </a:p>
        </p:txBody>
      </p:sp>
      <p:sp>
        <p:nvSpPr>
          <p:cNvPr id="3" name="Bildplatzhalter 2"/>
          <p:cNvSpPr>
            <a:spLocks noGrp="1"/>
          </p:cNvSpPr>
          <p:nvPr>
            <p:ph type="pic" sz="quarter" idx="15" hasCustomPrompt="1"/>
          </p:nvPr>
        </p:nvSpPr>
        <p:spPr>
          <a:xfrm>
            <a:off x="0" y="0"/>
            <a:ext cx="12180888" cy="350996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10183809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Zahl_mit_Erklärung">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30B5D481-2576-4099-B2C9-258619686BD9}" type="datetime1">
              <a:rPr lang="de-DE" smtClean="0"/>
              <a:t>25.02.2024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2713703"/>
            <a:ext cx="8686800" cy="1401097"/>
          </a:xfrm>
        </p:spPr>
        <p:txBody>
          <a:bodyPr>
            <a:noAutofit/>
          </a:bodyPr>
          <a:lstStyle>
            <a:lvl1pPr marL="0" indent="0" algn="ctr">
              <a:buNone/>
              <a:defRPr sz="7200" b="1" baseline="0">
                <a:solidFill>
                  <a:schemeClr val="accent2"/>
                </a:solidFill>
              </a:defRPr>
            </a:lvl1pPr>
          </a:lstStyle>
          <a:p>
            <a:pPr lvl="0"/>
            <a:r>
              <a:rPr lang="de-DE" dirty="0"/>
              <a:t>83.200.000,24</a:t>
            </a:r>
          </a:p>
        </p:txBody>
      </p:sp>
      <p:sp>
        <p:nvSpPr>
          <p:cNvPr id="15" name="Textplatzhalter 14"/>
          <p:cNvSpPr>
            <a:spLocks noGrp="1"/>
          </p:cNvSpPr>
          <p:nvPr>
            <p:ph type="body" sz="quarter" idx="14" hasCustomPrompt="1"/>
          </p:nvPr>
        </p:nvSpPr>
        <p:spPr>
          <a:xfrm>
            <a:off x="1768475" y="4149626"/>
            <a:ext cx="8686800" cy="1428849"/>
          </a:xfrm>
        </p:spPr>
        <p:txBody>
          <a:bodyPr>
            <a:normAutofit/>
          </a:bodyPr>
          <a:lstStyle>
            <a:lvl1pPr marL="0" indent="0" algn="ctr">
              <a:buNone/>
              <a:defRPr sz="2000" i="1" baseline="0"/>
            </a:lvl1pPr>
          </a:lstStyle>
          <a:p>
            <a:pPr lvl="0"/>
            <a:r>
              <a:rPr lang="de-DE" dirty="0"/>
              <a:t>Hier kann sich eine Erklärung zu der Zahl befinden.</a:t>
            </a:r>
          </a:p>
        </p:txBody>
      </p:sp>
    </p:spTree>
    <p:extLst>
      <p:ext uri="{BB962C8B-B14F-4D97-AF65-F5344CB8AC3E}">
        <p14:creationId xmlns:p14="http://schemas.microsoft.com/office/powerpoint/2010/main" val="33521732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Zahl_Erklärung_Bild">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2"/>
          <a:stretch>
            <a:fillRect/>
          </a:stretch>
        </p:blipFill>
        <p:spPr>
          <a:xfrm>
            <a:off x="-529" y="6065451"/>
            <a:ext cx="12193057" cy="792549"/>
          </a:xfrm>
          <a:prstGeom prst="rect">
            <a:avLst/>
          </a:prstGeom>
        </p:spPr>
      </p:pic>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B675D297-4DC4-46BE-A465-23DDBFC4C257}" type="datetime1">
              <a:rPr lang="de-DE" smtClean="0"/>
              <a:t>25.02.2024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3447128"/>
            <a:ext cx="8686800" cy="1401097"/>
          </a:xfrm>
        </p:spPr>
        <p:txBody>
          <a:bodyPr>
            <a:noAutofit/>
          </a:bodyPr>
          <a:lstStyle>
            <a:lvl1pPr marL="0" indent="0" algn="ctr">
              <a:buNone/>
              <a:defRPr sz="7200" b="1" baseline="0">
                <a:solidFill>
                  <a:schemeClr val="accent2"/>
                </a:solidFill>
              </a:defRPr>
            </a:lvl1pPr>
          </a:lstStyle>
          <a:p>
            <a:pPr lvl="0"/>
            <a:r>
              <a:rPr lang="de-DE" dirty="0"/>
              <a:t>83.200.000,24</a:t>
            </a:r>
          </a:p>
        </p:txBody>
      </p:sp>
      <p:sp>
        <p:nvSpPr>
          <p:cNvPr id="15" name="Textplatzhalter 14"/>
          <p:cNvSpPr>
            <a:spLocks noGrp="1"/>
          </p:cNvSpPr>
          <p:nvPr>
            <p:ph type="body" sz="quarter" idx="14" hasCustomPrompt="1"/>
          </p:nvPr>
        </p:nvSpPr>
        <p:spPr>
          <a:xfrm>
            <a:off x="1768475" y="4883051"/>
            <a:ext cx="8686800" cy="1428849"/>
          </a:xfrm>
        </p:spPr>
        <p:txBody>
          <a:bodyPr>
            <a:normAutofit/>
          </a:bodyPr>
          <a:lstStyle>
            <a:lvl1pPr marL="0" indent="0" algn="ctr">
              <a:buNone/>
              <a:defRPr sz="2000" i="1" baseline="0"/>
            </a:lvl1pPr>
          </a:lstStyle>
          <a:p>
            <a:pPr lvl="0"/>
            <a:r>
              <a:rPr lang="de-DE" dirty="0"/>
              <a:t>Hier kann sich eine Erklärung zu der Zahl befinden.</a:t>
            </a:r>
          </a:p>
        </p:txBody>
      </p:sp>
      <p:sp>
        <p:nvSpPr>
          <p:cNvPr id="3" name="Bildplatzhalter 2"/>
          <p:cNvSpPr>
            <a:spLocks noGrp="1"/>
          </p:cNvSpPr>
          <p:nvPr>
            <p:ph type="pic" sz="quarter" idx="15" hasCustomPrompt="1"/>
          </p:nvPr>
        </p:nvSpPr>
        <p:spPr>
          <a:xfrm>
            <a:off x="0" y="0"/>
            <a:ext cx="12192000" cy="3932238"/>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a:t>Bild durch klick auf das Symbol hinzufügen und in den Hintergrund verschieben.</a:t>
            </a:r>
          </a:p>
          <a:p>
            <a:endParaRPr lang="de-DE" dirty="0"/>
          </a:p>
        </p:txBody>
      </p:sp>
    </p:spTree>
    <p:extLst>
      <p:ext uri="{BB962C8B-B14F-4D97-AF65-F5344CB8AC3E}">
        <p14:creationId xmlns:p14="http://schemas.microsoft.com/office/powerpoint/2010/main" val="26549207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agramm">
    <p:spTree>
      <p:nvGrpSpPr>
        <p:cNvPr id="1" name=""/>
        <p:cNvGrpSpPr/>
        <p:nvPr/>
      </p:nvGrpSpPr>
      <p:grpSpPr>
        <a:xfrm>
          <a:off x="0" y="0"/>
          <a:ext cx="0" cy="0"/>
          <a:chOff x="0" y="0"/>
          <a:chExt cx="0" cy="0"/>
        </a:xfrm>
      </p:grpSpPr>
      <p:pic>
        <p:nvPicPr>
          <p:cNvPr id="23" name="Grafik 22"/>
          <p:cNvPicPr>
            <a:picLocks noChangeAspect="1"/>
          </p:cNvPicPr>
          <p:nvPr userDrawn="1"/>
        </p:nvPicPr>
        <p:blipFill>
          <a:blip r:embed="rId2"/>
          <a:stretch>
            <a:fillRect/>
          </a:stretch>
        </p:blipFill>
        <p:spPr>
          <a:xfrm>
            <a:off x="-529" y="6070354"/>
            <a:ext cx="12193057" cy="792549"/>
          </a:xfrm>
          <a:prstGeom prst="rect">
            <a:avLst/>
          </a:prstGeom>
        </p:spPr>
      </p:pic>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37EBD2F8-3758-4848-936D-B687B1995CF5}" type="datetime1">
              <a:rPr lang="de-DE" smtClean="0"/>
              <a:t>25.02.2024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0" name="T: Erläuterung"/>
          <p:cNvSpPr>
            <a:spLocks noGrp="1"/>
          </p:cNvSpPr>
          <p:nvPr>
            <p:ph type="body" sz="quarter" idx="13" hasCustomPrompt="1"/>
          </p:nvPr>
        </p:nvSpPr>
        <p:spPr>
          <a:xfrm>
            <a:off x="362422" y="1295857"/>
            <a:ext cx="11494616" cy="685344"/>
          </a:xfrm>
        </p:spPr>
        <p:txBody>
          <a:bodyPr>
            <a:noAutofit/>
          </a:bodyPr>
          <a:lstStyle>
            <a:lvl1pPr marL="0" indent="0">
              <a:buNone/>
              <a:defRPr sz="2400" i="1"/>
            </a:lvl1pPr>
          </a:lstStyle>
          <a:p>
            <a:r>
              <a:rPr lang="de-DE" dirty="0"/>
              <a:t>Hier ist Platz für einen erklärenden Text. Um ein anderes Diagramm anzulegen, klicken Sie mit </a:t>
            </a:r>
            <a:r>
              <a:rPr lang="de-DE" b="1" dirty="0"/>
              <a:t>Rechtsklick</a:t>
            </a:r>
            <a:r>
              <a:rPr lang="de-DE" dirty="0"/>
              <a:t> auf das Diagramm und wählen </a:t>
            </a:r>
            <a:r>
              <a:rPr lang="de-DE" b="1" dirty="0"/>
              <a:t>Diagrammtyp</a:t>
            </a:r>
            <a:r>
              <a:rPr lang="de-DE" dirty="0"/>
              <a:t> ändern.</a:t>
            </a:r>
          </a:p>
        </p:txBody>
      </p:sp>
      <p:sp>
        <p:nvSpPr>
          <p:cNvPr id="12" name="Titel 17"/>
          <p:cNvSpPr>
            <a:spLocks noGrp="1"/>
          </p:cNvSpPr>
          <p:nvPr>
            <p:ph type="title" hasCustomPrompt="1"/>
          </p:nvPr>
        </p:nvSpPr>
        <p:spPr>
          <a:xfrm>
            <a:off x="347893" y="549275"/>
            <a:ext cx="7173784" cy="700405"/>
          </a:xfrm>
        </p:spPr>
        <p:txBody>
          <a:bodyPr anchor="t" anchorCtr="0"/>
          <a:lstStyle>
            <a:lvl1pPr>
              <a:defRPr/>
            </a:lvl1pPr>
          </a:lstStyle>
          <a:p>
            <a:r>
              <a:rPr lang="de-DE" dirty="0"/>
              <a:t>Diagramm</a:t>
            </a:r>
          </a:p>
        </p:txBody>
      </p:sp>
      <p:sp>
        <p:nvSpPr>
          <p:cNvPr id="8" name="Textplatzhalter 7"/>
          <p:cNvSpPr>
            <a:spLocks noGrp="1"/>
          </p:cNvSpPr>
          <p:nvPr>
            <p:ph type="body" sz="quarter" idx="14" hasCustomPrompt="1"/>
          </p:nvPr>
        </p:nvSpPr>
        <p:spPr>
          <a:xfrm>
            <a:off x="8259762" y="2743199"/>
            <a:ext cx="3597275" cy="3527981"/>
          </a:xfrm>
        </p:spPr>
        <p:txBody>
          <a:bodyPr>
            <a:normAutofit/>
          </a:bodyPr>
          <a:lstStyle>
            <a:lvl1pPr>
              <a:defRPr sz="2200" baseline="0"/>
            </a:lvl1pPr>
          </a:lstStyle>
          <a:p>
            <a:pPr lvl="0"/>
            <a:r>
              <a:rPr lang="de-DE" dirty="0"/>
              <a:t>Hier können zusätzliche Informationen aufgelistet werden</a:t>
            </a:r>
          </a:p>
        </p:txBody>
      </p:sp>
    </p:spTree>
    <p:extLst>
      <p:ext uri="{BB962C8B-B14F-4D97-AF65-F5344CB8AC3E}">
        <p14:creationId xmlns:p14="http://schemas.microsoft.com/office/powerpoint/2010/main" val="18486401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abellenfolie">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34962" y="588144"/>
            <a:ext cx="11522075" cy="680217"/>
          </a:xfrm>
        </p:spPr>
        <p:txBody>
          <a:bodyPr anchor="t" anchorCtr="0"/>
          <a:lstStyle>
            <a:lvl1pPr>
              <a:defRPr/>
            </a:lvl1pPr>
          </a:lstStyle>
          <a:p>
            <a:r>
              <a:rPr lang="de-DE" dirty="0"/>
              <a:t>Tabelle</a:t>
            </a:r>
          </a:p>
        </p:txBody>
      </p:sp>
      <p:sp>
        <p:nvSpPr>
          <p:cNvPr id="3" name="Datumsplatzhalter 2"/>
          <p:cNvSpPr>
            <a:spLocks noGrp="1"/>
          </p:cNvSpPr>
          <p:nvPr>
            <p:ph type="dt" sz="half" idx="10"/>
          </p:nvPr>
        </p:nvSpPr>
        <p:spPr/>
        <p:txBody>
          <a:bodyPr/>
          <a:lstStyle/>
          <a:p>
            <a:fld id="{1A0B7B53-5BEF-46CB-AA4D-6ABE8D6DBF1A}" type="datetime1">
              <a:rPr lang="de-DE" smtClean="0"/>
              <a:t>25.02.2024</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7" name="T: Erläuterung"/>
          <p:cNvSpPr>
            <a:spLocks noGrp="1"/>
          </p:cNvSpPr>
          <p:nvPr>
            <p:ph type="body" sz="quarter" idx="14"/>
          </p:nvPr>
        </p:nvSpPr>
        <p:spPr>
          <a:xfrm>
            <a:off x="347663" y="1209036"/>
            <a:ext cx="11436350" cy="924563"/>
          </a:xfrm>
        </p:spPr>
        <p:txBody>
          <a:bodyPr>
            <a:noAutofit/>
          </a:bodyPr>
          <a:lstStyle>
            <a:lvl1pPr marL="0" indent="0">
              <a:buNone/>
              <a:defRPr sz="2200" i="1"/>
            </a:lvl1pPr>
          </a:lstStyle>
          <a:p>
            <a:r>
              <a:rPr lang="de-DE" dirty="0"/>
              <a:t>Hier ist Platz für einen erklärenden Text. Bearbeiten Sie diese Tabelle oder legen Sie eine neue an. Um eine neue Tabelle anzulegen, entfernen Sie die vorhandene und klicken Sie im Anschluss auf das Tabellensymbol, um eine neue Tabelle nach Ihrem Bedarf zu konfigurieren.</a:t>
            </a:r>
          </a:p>
        </p:txBody>
      </p:sp>
    </p:spTree>
    <p:extLst>
      <p:ext uri="{BB962C8B-B14F-4D97-AF65-F5344CB8AC3E}">
        <p14:creationId xmlns:p14="http://schemas.microsoft.com/office/powerpoint/2010/main" val="39440406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ellenfolie_klassisch">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34962" y="588144"/>
            <a:ext cx="11522075" cy="680217"/>
          </a:xfrm>
        </p:spPr>
        <p:txBody>
          <a:bodyPr anchor="t" anchorCtr="0"/>
          <a:lstStyle>
            <a:lvl1pPr>
              <a:defRPr/>
            </a:lvl1pPr>
          </a:lstStyle>
          <a:p>
            <a:r>
              <a:rPr lang="de-DE" dirty="0"/>
              <a:t>Tabelle</a:t>
            </a:r>
          </a:p>
        </p:txBody>
      </p:sp>
      <p:sp>
        <p:nvSpPr>
          <p:cNvPr id="3" name="Datumsplatzhalter 2"/>
          <p:cNvSpPr>
            <a:spLocks noGrp="1"/>
          </p:cNvSpPr>
          <p:nvPr>
            <p:ph type="dt" sz="half" idx="10"/>
          </p:nvPr>
        </p:nvSpPr>
        <p:spPr/>
        <p:txBody>
          <a:bodyPr/>
          <a:lstStyle/>
          <a:p>
            <a:fld id="{1A0B7B53-5BEF-46CB-AA4D-6ABE8D6DBF1A}" type="datetime1">
              <a:rPr lang="de-DE" smtClean="0"/>
              <a:t>25.02.2024</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7" name="T: Erläuterung"/>
          <p:cNvSpPr>
            <a:spLocks noGrp="1"/>
          </p:cNvSpPr>
          <p:nvPr>
            <p:ph type="body" sz="quarter" idx="14"/>
          </p:nvPr>
        </p:nvSpPr>
        <p:spPr>
          <a:xfrm>
            <a:off x="347663" y="1209036"/>
            <a:ext cx="11436350" cy="924563"/>
          </a:xfrm>
        </p:spPr>
        <p:txBody>
          <a:bodyPr>
            <a:noAutofit/>
          </a:bodyPr>
          <a:lstStyle>
            <a:lvl1pPr marL="0" indent="0">
              <a:buNone/>
              <a:defRPr sz="2200" i="1"/>
            </a:lvl1pPr>
          </a:lstStyle>
          <a:p>
            <a:r>
              <a:rPr lang="de-DE" dirty="0"/>
              <a:t>Hier ist Platz für einen erklärenden Text. Bearbeiten Sie diese Tabelle oder legen Sie eine neue an. Um eine neue Tabelle anzulegen, entfernen Sie die vorhandene und klicken Sie im Anschluss auf das Tabellensymbol, um eine neue Tabelle nach Ihrem Bedarf zu konfigurieren.</a:t>
            </a:r>
          </a:p>
        </p:txBody>
      </p:sp>
    </p:spTree>
    <p:extLst>
      <p:ext uri="{BB962C8B-B14F-4D97-AF65-F5344CB8AC3E}">
        <p14:creationId xmlns:p14="http://schemas.microsoft.com/office/powerpoint/2010/main" val="1339116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blauf Zeitstrahl">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09A41F59-D1B4-47FC-9829-347B78D65809}" type="datetime1">
              <a:rPr lang="de-DE" smtClean="0"/>
              <a:t>25.02.2024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9110456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Wochenpla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75A80F1E-E73D-4A41-9363-48042CF4C8E0}" type="datetime1">
              <a:rPr lang="de-DE" smtClean="0"/>
              <a:t>25.02.2024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16432735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Monatspla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4DB0B0BF-0278-4808-BA5F-2CB548659F1D}" type="datetime1">
              <a:rPr lang="de-DE" smtClean="0"/>
              <a:t>25.02.2024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7193933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o">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4DB0B0BF-0278-4808-BA5F-2CB548659F1D}" type="datetime1">
              <a:rPr lang="de-DE" smtClean="0"/>
              <a:t>25.02.2024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148421030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ufgabenblatt">
    <p:spTree>
      <p:nvGrpSpPr>
        <p:cNvPr id="1" name=""/>
        <p:cNvGrpSpPr/>
        <p:nvPr/>
      </p:nvGrpSpPr>
      <p:grpSpPr>
        <a:xfrm>
          <a:off x="0" y="0"/>
          <a:ext cx="0" cy="0"/>
          <a:chOff x="0" y="0"/>
          <a:chExt cx="0" cy="0"/>
        </a:xfrm>
      </p:grpSpPr>
      <p:grpSp>
        <p:nvGrpSpPr>
          <p:cNvPr id="8" name="Gruppieren 7"/>
          <p:cNvGrpSpPr/>
          <p:nvPr userDrawn="1"/>
        </p:nvGrpSpPr>
        <p:grpSpPr>
          <a:xfrm>
            <a:off x="-13606" y="549275"/>
            <a:ext cx="12205606" cy="6351728"/>
            <a:chOff x="-13606" y="532132"/>
            <a:chExt cx="12205606" cy="6351728"/>
          </a:xfrm>
        </p:grpSpPr>
        <p:sp>
          <p:nvSpPr>
            <p:cNvPr id="9" name="Freihandform 8"/>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6B1CE842-6F89-4182-A9D8-84E9C2148958}" type="datetime1">
              <a:rPr lang="de-DE" smtClean="0"/>
              <a:t>25.02.2024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39" name="Textplatzhalter 37"/>
          <p:cNvSpPr>
            <a:spLocks noGrp="1"/>
          </p:cNvSpPr>
          <p:nvPr>
            <p:ph type="body" sz="quarter" idx="13" hasCustomPrompt="1"/>
          </p:nvPr>
        </p:nvSpPr>
        <p:spPr>
          <a:xfrm>
            <a:off x="8258175" y="1280479"/>
            <a:ext cx="3598863" cy="746098"/>
          </a:xfrm>
        </p:spPr>
        <p:txBody>
          <a:bodyPr anchor="ctr" anchorCtr="0">
            <a:normAutofit/>
          </a:bodyPr>
          <a:lstStyle>
            <a:lvl1pPr marL="0" indent="0">
              <a:buNone/>
              <a:defRPr sz="2400" i="1"/>
            </a:lvl1pPr>
          </a:lstStyle>
          <a:p>
            <a:pPr lvl="0"/>
            <a:r>
              <a:rPr lang="de-DE" dirty="0"/>
              <a:t>Lernziele</a:t>
            </a:r>
          </a:p>
        </p:txBody>
      </p:sp>
      <p:sp>
        <p:nvSpPr>
          <p:cNvPr id="40" name="Textplatzhalter 37"/>
          <p:cNvSpPr>
            <a:spLocks noGrp="1"/>
          </p:cNvSpPr>
          <p:nvPr>
            <p:ph type="body" sz="quarter" idx="14" hasCustomPrompt="1"/>
          </p:nvPr>
        </p:nvSpPr>
        <p:spPr>
          <a:xfrm>
            <a:off x="8258175" y="2011971"/>
            <a:ext cx="3598863" cy="4296754"/>
          </a:xfrm>
        </p:spPr>
        <p:txBody>
          <a:bodyPr anchor="t" anchorCtr="0">
            <a:normAutofit/>
          </a:bodyPr>
          <a:lstStyle>
            <a:lvl1pPr marL="457200" marR="0" indent="-457200" algn="l" defTabSz="914400" rtl="0" eaLnBrk="1" fontAlgn="auto" latinLnBrk="0" hangingPunct="1">
              <a:lnSpc>
                <a:spcPct val="90000"/>
              </a:lnSpc>
              <a:spcBef>
                <a:spcPts val="1000"/>
              </a:spcBef>
              <a:spcAft>
                <a:spcPts val="0"/>
              </a:spcAft>
              <a:buClrTx/>
              <a:buSzTx/>
              <a:buFont typeface="+mj-lt"/>
              <a:buAutoNum type="arabicPeriod"/>
              <a:tabLst/>
              <a:defRPr sz="2000" i="1"/>
            </a:lvl1pPr>
          </a:lstStyle>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erste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zweite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dritte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vierte kompetenzorientierte Lernziel eingefügt werden.</a:t>
            </a:r>
          </a:p>
          <a:p>
            <a:pPr lvl="0"/>
            <a:endParaRPr lang="de-DE" dirty="0"/>
          </a:p>
        </p:txBody>
      </p:sp>
      <p:sp>
        <p:nvSpPr>
          <p:cNvPr id="43" name="Textplatzhalter 41"/>
          <p:cNvSpPr>
            <a:spLocks noGrp="1"/>
          </p:cNvSpPr>
          <p:nvPr>
            <p:ph type="body" sz="quarter" idx="15" hasCustomPrompt="1"/>
          </p:nvPr>
        </p:nvSpPr>
        <p:spPr>
          <a:xfrm>
            <a:off x="334963" y="2732088"/>
            <a:ext cx="7934325" cy="3576637"/>
          </a:xfrm>
        </p:spPr>
        <p:txBody>
          <a:bodyPr>
            <a:normAutofit/>
          </a:bodyPr>
          <a:lstStyle>
            <a:lvl1pPr marL="0" indent="0">
              <a:buNone/>
              <a:defRPr sz="2400" baseline="0"/>
            </a:lvl1pPr>
          </a:lstStyle>
          <a:p>
            <a:pPr lvl="0"/>
            <a:r>
              <a:rPr lang="de-DE" dirty="0"/>
              <a:t>Aufgabenstellung</a:t>
            </a:r>
          </a:p>
          <a:p>
            <a:pPr lvl="0"/>
            <a:r>
              <a:rPr lang="de-DE" dirty="0"/>
              <a:t>Hier kann die Aufgabenstellung eingefügt werden.</a:t>
            </a:r>
          </a:p>
        </p:txBody>
      </p:sp>
      <p:sp>
        <p:nvSpPr>
          <p:cNvPr id="46" name="Textplatzhalter 44"/>
          <p:cNvSpPr>
            <a:spLocks noGrp="1"/>
          </p:cNvSpPr>
          <p:nvPr>
            <p:ph type="body" sz="quarter" idx="16" hasCustomPrompt="1"/>
          </p:nvPr>
        </p:nvSpPr>
        <p:spPr>
          <a:xfrm>
            <a:off x="334963" y="1270000"/>
            <a:ext cx="5757862" cy="741363"/>
          </a:xfrm>
        </p:spPr>
        <p:txBody>
          <a:bodyPr>
            <a:noAutofit/>
          </a:bodyPr>
          <a:lstStyle>
            <a:lvl1pPr marL="0" indent="0">
              <a:buNone/>
              <a:defRPr sz="4800" b="1" baseline="0"/>
            </a:lvl1pPr>
          </a:lstStyle>
          <a:p>
            <a:pPr lvl="0"/>
            <a:r>
              <a:rPr lang="de-DE" dirty="0"/>
              <a:t>Titel der Aufgabe</a:t>
            </a:r>
          </a:p>
        </p:txBody>
      </p:sp>
      <p:sp>
        <p:nvSpPr>
          <p:cNvPr id="48" name="Textplatzhalter 47"/>
          <p:cNvSpPr>
            <a:spLocks noGrp="1"/>
          </p:cNvSpPr>
          <p:nvPr>
            <p:ph type="body" sz="quarter" idx="17" hasCustomPrompt="1"/>
          </p:nvPr>
        </p:nvSpPr>
        <p:spPr>
          <a:xfrm>
            <a:off x="8256588" y="566230"/>
            <a:ext cx="3600450" cy="711074"/>
          </a:xfrm>
        </p:spPr>
        <p:txBody>
          <a:bodyPr anchor="ctr" anchorCtr="0">
            <a:normAutofit/>
          </a:bodyPr>
          <a:lstStyle>
            <a:lvl1pPr marL="0" indent="0">
              <a:buNone/>
              <a:defRPr sz="2400" i="1"/>
            </a:lvl1pPr>
          </a:lstStyle>
          <a:p>
            <a:pPr lvl="0"/>
            <a:r>
              <a:rPr lang="de-DE" dirty="0"/>
              <a:t>Zeitumfang: 45min</a:t>
            </a:r>
          </a:p>
        </p:txBody>
      </p:sp>
    </p:spTree>
    <p:extLst>
      <p:ext uri="{BB962C8B-B14F-4D97-AF65-F5344CB8AC3E}">
        <p14:creationId xmlns:p14="http://schemas.microsoft.com/office/powerpoint/2010/main" val="312965982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ufgabenblatt_Fortsetzung">
    <p:spTree>
      <p:nvGrpSpPr>
        <p:cNvPr id="1" name=""/>
        <p:cNvGrpSpPr/>
        <p:nvPr/>
      </p:nvGrpSpPr>
      <p:grpSpPr>
        <a:xfrm>
          <a:off x="0" y="0"/>
          <a:ext cx="0" cy="0"/>
          <a:chOff x="0" y="0"/>
          <a:chExt cx="0" cy="0"/>
        </a:xfrm>
      </p:grpSpPr>
      <p:grpSp>
        <p:nvGrpSpPr>
          <p:cNvPr id="8" name="Gruppieren 7"/>
          <p:cNvGrpSpPr/>
          <p:nvPr userDrawn="1"/>
        </p:nvGrpSpPr>
        <p:grpSpPr>
          <a:xfrm>
            <a:off x="-13606" y="549275"/>
            <a:ext cx="12205606" cy="6351728"/>
            <a:chOff x="-13606" y="532132"/>
            <a:chExt cx="12205606" cy="6351728"/>
          </a:xfrm>
        </p:grpSpPr>
        <p:sp>
          <p:nvSpPr>
            <p:cNvPr id="9" name="Freihandform 8"/>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C1E2B63B-BC06-4DE2-AB38-48B65140DEE2}" type="datetime1">
              <a:rPr lang="de-DE" smtClean="0"/>
              <a:t>25.02.2024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39" name="Textplatzhalter 37"/>
          <p:cNvSpPr>
            <a:spLocks noGrp="1"/>
          </p:cNvSpPr>
          <p:nvPr>
            <p:ph type="body" sz="quarter" idx="13" hasCustomPrompt="1"/>
          </p:nvPr>
        </p:nvSpPr>
        <p:spPr>
          <a:xfrm>
            <a:off x="8258175" y="1280479"/>
            <a:ext cx="3598863" cy="746098"/>
          </a:xfrm>
        </p:spPr>
        <p:txBody>
          <a:bodyPr anchor="ctr" anchorCtr="0">
            <a:normAutofit/>
          </a:bodyPr>
          <a:lstStyle>
            <a:lvl1pPr marL="0" indent="0">
              <a:buNone/>
              <a:defRPr sz="2400" i="1"/>
            </a:lvl1pPr>
          </a:lstStyle>
          <a:p>
            <a:pPr lvl="0"/>
            <a:r>
              <a:rPr lang="de-DE" dirty="0"/>
              <a:t>Lernziele</a:t>
            </a:r>
          </a:p>
        </p:txBody>
      </p:sp>
      <p:sp>
        <p:nvSpPr>
          <p:cNvPr id="40" name="Textplatzhalter 37"/>
          <p:cNvSpPr>
            <a:spLocks noGrp="1"/>
          </p:cNvSpPr>
          <p:nvPr>
            <p:ph type="body" sz="quarter" idx="14" hasCustomPrompt="1"/>
          </p:nvPr>
        </p:nvSpPr>
        <p:spPr>
          <a:xfrm>
            <a:off x="8258175" y="2011971"/>
            <a:ext cx="3598863" cy="4296754"/>
          </a:xfrm>
        </p:spPr>
        <p:txBody>
          <a:bodyPr anchor="t" anchorCtr="0">
            <a:normAutofit/>
          </a:bodyPr>
          <a:lstStyle>
            <a:lvl1pPr marL="457200" marR="0" indent="-457200" algn="l" defTabSz="914400" rtl="0" eaLnBrk="1" fontAlgn="auto" latinLnBrk="0" hangingPunct="1">
              <a:lnSpc>
                <a:spcPct val="90000"/>
              </a:lnSpc>
              <a:spcBef>
                <a:spcPts val="1000"/>
              </a:spcBef>
              <a:spcAft>
                <a:spcPts val="0"/>
              </a:spcAft>
              <a:buClrTx/>
              <a:buSzTx/>
              <a:buFont typeface="+mj-lt"/>
              <a:buAutoNum type="arabicPeriod"/>
              <a:tabLst/>
              <a:defRPr sz="2000" i="1"/>
            </a:lvl1pPr>
          </a:lstStyle>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erste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zweite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dritte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a:t>Hier kann</a:t>
            </a:r>
            <a:r>
              <a:rPr lang="de-DE" sz="2000" b="0" i="1" baseline="0" dirty="0"/>
              <a:t> das vierte kompetenzorientierte Lernziel eingefügt werden.</a:t>
            </a:r>
          </a:p>
          <a:p>
            <a:pPr lvl="0"/>
            <a:endParaRPr lang="de-DE" dirty="0"/>
          </a:p>
        </p:txBody>
      </p:sp>
      <p:sp>
        <p:nvSpPr>
          <p:cNvPr id="43" name="Textplatzhalter 41"/>
          <p:cNvSpPr>
            <a:spLocks noGrp="1"/>
          </p:cNvSpPr>
          <p:nvPr>
            <p:ph type="body" sz="quarter" idx="15" hasCustomPrompt="1"/>
          </p:nvPr>
        </p:nvSpPr>
        <p:spPr>
          <a:xfrm>
            <a:off x="334963" y="1277304"/>
            <a:ext cx="7197407" cy="5031421"/>
          </a:xfrm>
        </p:spPr>
        <p:txBody>
          <a:bodyPr>
            <a:normAutofit/>
          </a:bodyPr>
          <a:lstStyle>
            <a:lvl1pPr marL="0" indent="0">
              <a:buNone/>
              <a:defRPr sz="2400" baseline="0"/>
            </a:lvl1pPr>
          </a:lstStyle>
          <a:p>
            <a:pPr lvl="0"/>
            <a:r>
              <a:rPr lang="de-DE" dirty="0"/>
              <a:t>Aufgabenstellung</a:t>
            </a:r>
          </a:p>
          <a:p>
            <a:pPr lvl="0"/>
            <a:r>
              <a:rPr lang="de-DE" dirty="0"/>
              <a:t>Hier kann die Aufgabenstellung eingefügt werden.</a:t>
            </a:r>
          </a:p>
        </p:txBody>
      </p:sp>
      <p:sp>
        <p:nvSpPr>
          <p:cNvPr id="48" name="Textplatzhalter 47"/>
          <p:cNvSpPr>
            <a:spLocks noGrp="1"/>
          </p:cNvSpPr>
          <p:nvPr>
            <p:ph type="body" sz="quarter" idx="17" hasCustomPrompt="1"/>
          </p:nvPr>
        </p:nvSpPr>
        <p:spPr>
          <a:xfrm>
            <a:off x="8256588" y="566230"/>
            <a:ext cx="3600450" cy="711074"/>
          </a:xfrm>
        </p:spPr>
        <p:txBody>
          <a:bodyPr anchor="ctr" anchorCtr="0">
            <a:normAutofit/>
          </a:bodyPr>
          <a:lstStyle>
            <a:lvl1pPr marL="0" indent="0">
              <a:buNone/>
              <a:defRPr sz="2400" i="1"/>
            </a:lvl1pPr>
          </a:lstStyle>
          <a:p>
            <a:pPr lvl="0"/>
            <a:r>
              <a:rPr lang="de-DE" dirty="0"/>
              <a:t>Zeitumfang: 45min</a:t>
            </a:r>
          </a:p>
        </p:txBody>
      </p:sp>
    </p:spTree>
    <p:extLst>
      <p:ext uri="{BB962C8B-B14F-4D97-AF65-F5344CB8AC3E}">
        <p14:creationId xmlns:p14="http://schemas.microsoft.com/office/powerpoint/2010/main" val="23667131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Ressource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AD7474C8-E081-47A0-8148-238CC5CD1BDE}" type="datetime1">
              <a:rPr lang="de-DE" smtClean="0"/>
              <a:t>25.02.2024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2" name="T:1 Beschreibung"/>
          <p:cNvSpPr>
            <a:spLocks noGrp="1"/>
          </p:cNvSpPr>
          <p:nvPr>
            <p:ph type="body" sz="quarter" idx="14"/>
          </p:nvPr>
        </p:nvSpPr>
        <p:spPr>
          <a:xfrm>
            <a:off x="1115702" y="2718606"/>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3" name="T:1"/>
          <p:cNvSpPr>
            <a:spLocks noGrp="1"/>
          </p:cNvSpPr>
          <p:nvPr>
            <p:ph type="body" sz="quarter" idx="15"/>
          </p:nvPr>
        </p:nvSpPr>
        <p:spPr>
          <a:xfrm>
            <a:off x="1115701" y="2011014"/>
            <a:ext cx="4248150" cy="707592"/>
          </a:xfrm>
          <a:noFill/>
        </p:spPr>
        <p:txBody>
          <a:bodyPr>
            <a:normAutofit fontScale="92500" lnSpcReduction="10000"/>
          </a:bodyPr>
          <a:lstStyle>
            <a:lvl1pPr marL="0" indent="0">
              <a:buNone/>
              <a:defRPr b="1"/>
            </a:lvl1pPr>
          </a:lstStyle>
          <a:p>
            <a:r>
              <a:rPr lang="de-DE" dirty="0"/>
              <a:t>Ressource 1</a:t>
            </a:r>
          </a:p>
          <a:p>
            <a:endParaRPr lang="de-DE" dirty="0"/>
          </a:p>
        </p:txBody>
      </p:sp>
      <p:sp>
        <p:nvSpPr>
          <p:cNvPr id="14" name="T:1 Beschreibung"/>
          <p:cNvSpPr>
            <a:spLocks noGrp="1"/>
          </p:cNvSpPr>
          <p:nvPr>
            <p:ph type="body" sz="quarter" idx="16"/>
          </p:nvPr>
        </p:nvSpPr>
        <p:spPr>
          <a:xfrm>
            <a:off x="1115702" y="4878962"/>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5" name="T:1"/>
          <p:cNvSpPr>
            <a:spLocks noGrp="1"/>
          </p:cNvSpPr>
          <p:nvPr>
            <p:ph type="body" sz="quarter" idx="17" hasCustomPrompt="1"/>
          </p:nvPr>
        </p:nvSpPr>
        <p:spPr>
          <a:xfrm>
            <a:off x="1115701" y="4171370"/>
            <a:ext cx="4248150" cy="707592"/>
          </a:xfrm>
          <a:noFill/>
        </p:spPr>
        <p:txBody>
          <a:bodyPr>
            <a:normAutofit fontScale="92500" lnSpcReduction="10000"/>
          </a:bodyPr>
          <a:lstStyle>
            <a:lvl1pPr marL="0" indent="0">
              <a:buNone/>
              <a:defRPr b="1"/>
            </a:lvl1pPr>
          </a:lstStyle>
          <a:p>
            <a:r>
              <a:rPr lang="de-DE" dirty="0"/>
              <a:t>Ressource 3</a:t>
            </a:r>
          </a:p>
          <a:p>
            <a:endParaRPr lang="de-DE" dirty="0"/>
          </a:p>
        </p:txBody>
      </p:sp>
      <p:sp>
        <p:nvSpPr>
          <p:cNvPr id="16" name="T:1 Beschreibung"/>
          <p:cNvSpPr>
            <a:spLocks noGrp="1"/>
          </p:cNvSpPr>
          <p:nvPr>
            <p:ph type="body" sz="quarter" idx="18"/>
          </p:nvPr>
        </p:nvSpPr>
        <p:spPr>
          <a:xfrm>
            <a:off x="6144591" y="4878962"/>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7" name="T:1"/>
          <p:cNvSpPr>
            <a:spLocks noGrp="1"/>
          </p:cNvSpPr>
          <p:nvPr>
            <p:ph type="body" sz="quarter" idx="19" hasCustomPrompt="1"/>
          </p:nvPr>
        </p:nvSpPr>
        <p:spPr>
          <a:xfrm>
            <a:off x="6144590" y="4171370"/>
            <a:ext cx="4248150" cy="707592"/>
          </a:xfrm>
          <a:noFill/>
        </p:spPr>
        <p:txBody>
          <a:bodyPr>
            <a:normAutofit fontScale="92500" lnSpcReduction="10000"/>
          </a:bodyPr>
          <a:lstStyle>
            <a:lvl1pPr marL="0" indent="0">
              <a:buNone/>
              <a:defRPr b="1"/>
            </a:lvl1pPr>
          </a:lstStyle>
          <a:p>
            <a:r>
              <a:rPr lang="de-DE" dirty="0"/>
              <a:t>Ressource 4</a:t>
            </a:r>
          </a:p>
          <a:p>
            <a:endParaRPr lang="de-DE" dirty="0"/>
          </a:p>
        </p:txBody>
      </p:sp>
      <p:sp>
        <p:nvSpPr>
          <p:cNvPr id="18" name="T:1 Beschreibung"/>
          <p:cNvSpPr>
            <a:spLocks noGrp="1"/>
          </p:cNvSpPr>
          <p:nvPr>
            <p:ph type="body" sz="quarter" idx="20"/>
          </p:nvPr>
        </p:nvSpPr>
        <p:spPr>
          <a:xfrm>
            <a:off x="6144591" y="2718808"/>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9" name="T:1"/>
          <p:cNvSpPr>
            <a:spLocks noGrp="1"/>
          </p:cNvSpPr>
          <p:nvPr>
            <p:ph type="body" sz="quarter" idx="21" hasCustomPrompt="1"/>
          </p:nvPr>
        </p:nvSpPr>
        <p:spPr>
          <a:xfrm>
            <a:off x="6144590" y="2011216"/>
            <a:ext cx="4248150" cy="707592"/>
          </a:xfrm>
          <a:noFill/>
        </p:spPr>
        <p:txBody>
          <a:bodyPr>
            <a:normAutofit fontScale="92500" lnSpcReduction="10000"/>
          </a:bodyPr>
          <a:lstStyle>
            <a:lvl1pPr marL="0" indent="0">
              <a:buNone/>
              <a:defRPr b="1"/>
            </a:lvl1pPr>
          </a:lstStyle>
          <a:p>
            <a:r>
              <a:rPr lang="de-DE" dirty="0"/>
              <a:t>Ressource 2</a:t>
            </a:r>
          </a:p>
          <a:p>
            <a:endParaRPr lang="de-DE" dirty="0"/>
          </a:p>
        </p:txBody>
      </p:sp>
      <p:sp>
        <p:nvSpPr>
          <p:cNvPr id="20" name="Titel 19"/>
          <p:cNvSpPr>
            <a:spLocks noGrp="1"/>
          </p:cNvSpPr>
          <p:nvPr>
            <p:ph type="title" hasCustomPrompt="1"/>
          </p:nvPr>
        </p:nvSpPr>
        <p:spPr>
          <a:xfrm>
            <a:off x="334963" y="549275"/>
            <a:ext cx="11018837" cy="716047"/>
          </a:xfrm>
        </p:spPr>
        <p:txBody>
          <a:bodyPr anchor="t" anchorCtr="0"/>
          <a:lstStyle>
            <a:lvl1pPr>
              <a:defRPr/>
            </a:lvl1pPr>
          </a:lstStyle>
          <a:p>
            <a:r>
              <a:rPr lang="de-DE" dirty="0"/>
              <a:t>Ressourcen</a:t>
            </a:r>
          </a:p>
        </p:txBody>
      </p:sp>
    </p:spTree>
    <p:extLst>
      <p:ext uri="{BB962C8B-B14F-4D97-AF65-F5344CB8AC3E}">
        <p14:creationId xmlns:p14="http://schemas.microsoft.com/office/powerpoint/2010/main" val="383773502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Quelle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1F0E6A95-0BE1-48C9-B3C7-390BA69C50FE}" type="datetime1">
              <a:rPr lang="de-DE" smtClean="0"/>
              <a:t>25.02.2024</a:t>
            </a:fld>
            <a:endParaRPr lang="de-DE" dirty="0"/>
          </a:p>
        </p:txBody>
      </p:sp>
      <p:sp>
        <p:nvSpPr>
          <p:cNvPr id="6" name="Fußzeilenplatzhalter 5"/>
          <p:cNvSpPr>
            <a:spLocks noGrp="1"/>
          </p:cNvSpPr>
          <p:nvPr>
            <p:ph type="ftr" sz="quarter" idx="11"/>
          </p:nvPr>
        </p:nvSpPr>
        <p:spPr/>
        <p:txBody>
          <a:bodyPr/>
          <a:lstStyle/>
          <a:p>
            <a:r>
              <a:rPr lang="de-DE" dirty="0"/>
              <a:t>Präsentationsthema</a:t>
            </a:r>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20" name="Titel 19"/>
          <p:cNvSpPr>
            <a:spLocks noGrp="1"/>
          </p:cNvSpPr>
          <p:nvPr>
            <p:ph type="title" hasCustomPrompt="1"/>
          </p:nvPr>
        </p:nvSpPr>
        <p:spPr>
          <a:xfrm>
            <a:off x="334963" y="549275"/>
            <a:ext cx="11018837" cy="716047"/>
          </a:xfrm>
        </p:spPr>
        <p:txBody>
          <a:bodyPr anchor="t" anchorCtr="0"/>
          <a:lstStyle>
            <a:lvl1pPr>
              <a:defRPr/>
            </a:lvl1pPr>
          </a:lstStyle>
          <a:p>
            <a:r>
              <a:rPr lang="de-DE" dirty="0"/>
              <a:t>Quellen</a:t>
            </a:r>
          </a:p>
        </p:txBody>
      </p:sp>
      <p:sp>
        <p:nvSpPr>
          <p:cNvPr id="21" name="T: Quellentext"/>
          <p:cNvSpPr>
            <a:spLocks noGrp="1"/>
          </p:cNvSpPr>
          <p:nvPr>
            <p:ph type="body" sz="quarter" idx="13" hasCustomPrompt="1"/>
          </p:nvPr>
        </p:nvSpPr>
        <p:spPr>
          <a:xfrm>
            <a:off x="345452" y="1992398"/>
            <a:ext cx="5018400" cy="4316326"/>
          </a:xfrm>
        </p:spPr>
        <p:txBody>
          <a:bodyPr>
            <a:normAutofit/>
          </a:bodyPr>
          <a:lstStyle>
            <a:lvl1pPr marL="71438" indent="-71438">
              <a:buNone/>
              <a:defRPr sz="1600"/>
            </a:lvl1pPr>
          </a:lstStyle>
          <a:p>
            <a:pPr marL="72000" indent="-468000">
              <a:spcAft>
                <a:spcPts val="600"/>
              </a:spcAft>
            </a:pPr>
            <a:r>
              <a:rPr lang="de-DE" baseline="30000" dirty="0"/>
              <a:t>1</a:t>
            </a:r>
            <a:r>
              <a:rPr lang="de-DE" dirty="0"/>
              <a:t> Name, Vorname (Erscheinungsjahr): Titel. Untertitel, Erscheinungsort.</a:t>
            </a:r>
          </a:p>
          <a:p>
            <a:pPr marL="72000" indent="-468000">
              <a:spcAft>
                <a:spcPts val="600"/>
              </a:spcAft>
            </a:pPr>
            <a:r>
              <a:rPr lang="de-DE" baseline="30000" dirty="0"/>
              <a:t>2</a:t>
            </a:r>
            <a:r>
              <a:rPr lang="de-DE" dirty="0"/>
              <a:t> Name, Vorname (Erscheinungsjahr): Titel. Untertitel, Erscheinungsort.</a:t>
            </a:r>
            <a:endParaRPr lang="de-DE" u="sng" dirty="0">
              <a:solidFill>
                <a:schemeClr val="tx2"/>
              </a:solidFill>
            </a:endParaRPr>
          </a:p>
        </p:txBody>
      </p:sp>
      <p:sp>
        <p:nvSpPr>
          <p:cNvPr id="4" name="Textplatzhalter 3"/>
          <p:cNvSpPr>
            <a:spLocks noGrp="1"/>
          </p:cNvSpPr>
          <p:nvPr>
            <p:ph type="body" sz="quarter" idx="14" hasCustomPrompt="1"/>
          </p:nvPr>
        </p:nvSpPr>
        <p:spPr>
          <a:xfrm>
            <a:off x="334963" y="1268498"/>
            <a:ext cx="5029200" cy="723900"/>
          </a:xfrm>
        </p:spPr>
        <p:txBody>
          <a:bodyPr/>
          <a:lstStyle>
            <a:lvl1pPr marL="0" indent="0">
              <a:buNone/>
              <a:defRPr/>
            </a:lvl1pPr>
          </a:lstStyle>
          <a:p>
            <a:pPr lvl="0"/>
            <a:r>
              <a:rPr lang="de-DE" dirty="0"/>
              <a:t>Buchquelle</a:t>
            </a:r>
          </a:p>
        </p:txBody>
      </p:sp>
      <p:sp>
        <p:nvSpPr>
          <p:cNvPr id="10" name="T: Quellentext"/>
          <p:cNvSpPr>
            <a:spLocks noGrp="1"/>
          </p:cNvSpPr>
          <p:nvPr>
            <p:ph type="body" sz="quarter" idx="15" hasCustomPrompt="1"/>
          </p:nvPr>
        </p:nvSpPr>
        <p:spPr>
          <a:xfrm>
            <a:off x="6115424" y="1992398"/>
            <a:ext cx="5018400" cy="4077214"/>
          </a:xfrm>
        </p:spPr>
        <p:txBody>
          <a:bodyPr>
            <a:normAutofit/>
          </a:bodyPr>
          <a:lstStyle>
            <a:lvl1pPr marL="177800" marR="0" indent="-1778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a:lvl1pPr>
          </a:lstStyle>
          <a:p>
            <a:r>
              <a:rPr lang="de-DE" baseline="30000" dirty="0"/>
              <a:t>1 </a:t>
            </a:r>
            <a:r>
              <a:rPr lang="de-DE" dirty="0"/>
              <a:t>„Titel des Materials“ von Urheber A und Urheber B : </a:t>
            </a:r>
            <a:r>
              <a:rPr lang="de-DE" dirty="0">
                <a:hlinkClick r:id="rId3"/>
              </a:rPr>
              <a:t>https://pixabay.com/DE/users</a:t>
            </a:r>
            <a:r>
              <a:rPr lang="de-DE" dirty="0"/>
              <a:t> (link) ist lizensiert unter (CC-Lizenz) CC BY 4.0 International, in schwarz-weiß Bild umgewandelt (Angabe Veränderungen)</a:t>
            </a:r>
          </a:p>
          <a:p>
            <a:r>
              <a:rPr lang="de-DE" baseline="30000" dirty="0"/>
              <a:t>2 </a:t>
            </a:r>
            <a:r>
              <a:rPr lang="de-DE" dirty="0"/>
              <a:t>„Titel des Materials“ von Urheber A und Urheber B : </a:t>
            </a:r>
            <a:r>
              <a:rPr lang="de-DE" dirty="0">
                <a:hlinkClick r:id="rId3"/>
              </a:rPr>
              <a:t>https://pixabay.com/DE/users</a:t>
            </a:r>
            <a:r>
              <a:rPr lang="de-DE" dirty="0"/>
              <a:t> (link) ist lizensiert unter (CC-Lizenz) CC BY 4.0 International, in schwarz-weiß Bild umgewandelt (Angabe Veränderungen)</a:t>
            </a:r>
          </a:p>
          <a:p>
            <a:endParaRPr lang="de-DE" dirty="0"/>
          </a:p>
        </p:txBody>
      </p:sp>
      <p:sp>
        <p:nvSpPr>
          <p:cNvPr id="11" name="Textplatzhalter 3"/>
          <p:cNvSpPr>
            <a:spLocks noGrp="1"/>
          </p:cNvSpPr>
          <p:nvPr>
            <p:ph type="body" sz="quarter" idx="16" hasCustomPrompt="1"/>
          </p:nvPr>
        </p:nvSpPr>
        <p:spPr>
          <a:xfrm>
            <a:off x="6104935" y="1268498"/>
            <a:ext cx="5029200" cy="723900"/>
          </a:xfrm>
        </p:spPr>
        <p:txBody>
          <a:bodyPr/>
          <a:lstStyle>
            <a:lvl1pPr marL="0" indent="0">
              <a:buNone/>
              <a:defRPr/>
            </a:lvl1pPr>
          </a:lstStyle>
          <a:p>
            <a:pPr lvl="0"/>
            <a:r>
              <a:rPr lang="de-DE" dirty="0"/>
              <a:t>Abbildungen</a:t>
            </a:r>
          </a:p>
        </p:txBody>
      </p:sp>
    </p:spTree>
    <p:extLst>
      <p:ext uri="{BB962C8B-B14F-4D97-AF65-F5344CB8AC3E}">
        <p14:creationId xmlns:p14="http://schemas.microsoft.com/office/powerpoint/2010/main" val="37413612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bschlussfolie">
    <p:spTree>
      <p:nvGrpSpPr>
        <p:cNvPr id="1" name=""/>
        <p:cNvGrpSpPr/>
        <p:nvPr/>
      </p:nvGrpSpPr>
      <p:grpSpPr>
        <a:xfrm>
          <a:off x="0" y="0"/>
          <a:ext cx="0" cy="0"/>
          <a:chOff x="0" y="0"/>
          <a:chExt cx="0" cy="0"/>
        </a:xfrm>
      </p:grpSpPr>
      <p:grpSp>
        <p:nvGrpSpPr>
          <p:cNvPr id="6" name="Gruppieren 5"/>
          <p:cNvGrpSpPr/>
          <p:nvPr userDrawn="1"/>
        </p:nvGrpSpPr>
        <p:grpSpPr>
          <a:xfrm>
            <a:off x="-13606" y="532132"/>
            <a:ext cx="12205606" cy="6351728"/>
            <a:chOff x="-13606" y="532132"/>
            <a:chExt cx="12205606" cy="6351728"/>
          </a:xfrm>
        </p:grpSpPr>
        <p:sp>
          <p:nvSpPr>
            <p:cNvPr id="7" name="Freihandform 6"/>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sp>
        <p:nvSpPr>
          <p:cNvPr id="3" name="Datumsplatzhalter 2"/>
          <p:cNvSpPr>
            <a:spLocks noGrp="1"/>
          </p:cNvSpPr>
          <p:nvPr>
            <p:ph type="dt" sz="half" idx="10"/>
          </p:nvPr>
        </p:nvSpPr>
        <p:spPr/>
        <p:txBody>
          <a:bodyPr/>
          <a:lstStyle/>
          <a:p>
            <a:fld id="{EA1F796F-474B-49D8-80F8-F810CDE790FA}" type="datetime1">
              <a:rPr lang="de-DE" smtClean="0"/>
              <a:t>25.02.2024</a:t>
            </a:fld>
            <a:endParaRPr lang="de-DE" dirty="0"/>
          </a:p>
        </p:txBody>
      </p:sp>
      <p:sp>
        <p:nvSpPr>
          <p:cNvPr id="4" name="Fußzeilenplatzhalter 3"/>
          <p:cNvSpPr>
            <a:spLocks noGrp="1"/>
          </p:cNvSpPr>
          <p:nvPr>
            <p:ph type="ftr" sz="quarter" idx="11"/>
          </p:nvPr>
        </p:nvSpPr>
        <p:spPr/>
        <p:txBody>
          <a:bodyPr/>
          <a:lstStyle/>
          <a:p>
            <a:r>
              <a:rPr lang="de-DE" dirty="0"/>
              <a:t>Präsentationsthema</a:t>
            </a:r>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0" name="Textplatzhalter 12"/>
          <p:cNvSpPr>
            <a:spLocks noGrp="1"/>
          </p:cNvSpPr>
          <p:nvPr>
            <p:ph type="body" sz="quarter" idx="13" hasCustomPrompt="1"/>
          </p:nvPr>
        </p:nvSpPr>
        <p:spPr>
          <a:xfrm>
            <a:off x="1736725" y="2709863"/>
            <a:ext cx="8686800" cy="1455737"/>
          </a:xfrm>
        </p:spPr>
        <p:txBody>
          <a:bodyPr>
            <a:noAutofit/>
          </a:bodyPr>
          <a:lstStyle>
            <a:lvl1pPr marL="0" indent="0" algn="ctr">
              <a:buNone/>
              <a:defRPr sz="7200" b="1" baseline="0">
                <a:solidFill>
                  <a:schemeClr val="accent2"/>
                </a:solidFill>
              </a:defRPr>
            </a:lvl1pPr>
          </a:lstStyle>
          <a:p>
            <a:pPr lvl="0"/>
            <a:r>
              <a:rPr lang="de-DE" dirty="0"/>
              <a:t>VIELEN DANK!</a:t>
            </a:r>
          </a:p>
        </p:txBody>
      </p:sp>
    </p:spTree>
    <p:extLst>
      <p:ext uri="{BB962C8B-B14F-4D97-AF65-F5344CB8AC3E}">
        <p14:creationId xmlns:p14="http://schemas.microsoft.com/office/powerpoint/2010/main" val="3506817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conpool">
    <p:spTree>
      <p:nvGrpSpPr>
        <p:cNvPr id="1" name=""/>
        <p:cNvGrpSpPr/>
        <p:nvPr/>
      </p:nvGrpSpPr>
      <p:grpSpPr>
        <a:xfrm>
          <a:off x="0" y="0"/>
          <a:ext cx="0" cy="0"/>
          <a:chOff x="0" y="0"/>
          <a:chExt cx="0" cy="0"/>
        </a:xfrm>
      </p:grpSpPr>
      <p:sp>
        <p:nvSpPr>
          <p:cNvPr id="11" name="Rechteck 10"/>
          <p:cNvSpPr/>
          <p:nvPr userDrawn="1"/>
        </p:nvSpPr>
        <p:spPr>
          <a:xfrm>
            <a:off x="0" y="0"/>
            <a:ext cx="12192000" cy="68580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de-DE" dirty="0"/>
          </a:p>
        </p:txBody>
      </p:sp>
      <p:grpSp>
        <p:nvGrpSpPr>
          <p:cNvPr id="7" name="Gruppieren 6"/>
          <p:cNvGrpSpPr/>
          <p:nvPr userDrawn="1"/>
        </p:nvGrpSpPr>
        <p:grpSpPr>
          <a:xfrm>
            <a:off x="0" y="6083955"/>
            <a:ext cx="12192000" cy="792064"/>
            <a:chOff x="0" y="6083955"/>
            <a:chExt cx="12192000" cy="792064"/>
          </a:xfrm>
        </p:grpSpPr>
        <p:sp>
          <p:nvSpPr>
            <p:cNvPr id="8" name="Freihandform 7"/>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Tree>
    <p:extLst>
      <p:ext uri="{BB962C8B-B14F-4D97-AF65-F5344CB8AC3E}">
        <p14:creationId xmlns:p14="http://schemas.microsoft.com/office/powerpoint/2010/main" val="46458642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9" name="Grafik 8"/>
          <p:cNvPicPr>
            <a:picLocks noChangeAspect="1"/>
          </p:cNvPicPr>
          <p:nvPr userDrawn="1"/>
        </p:nvPicPr>
        <p:blipFill>
          <a:blip r:embed="rId34"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platzhalt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Titelmasterformat durch Klicken bearbeiten</a:t>
            </a:r>
          </a:p>
        </p:txBody>
      </p:sp>
      <p:sp>
        <p:nvSpPr>
          <p:cNvPr id="3" name="Textplatzhalt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2"/>
          </p:nvPr>
        </p:nvSpPr>
        <p:spPr>
          <a:xfrm>
            <a:off x="3949046" y="6311900"/>
            <a:ext cx="1414806" cy="409575"/>
          </a:xfrm>
          <a:prstGeom prst="rect">
            <a:avLst/>
          </a:prstGeom>
        </p:spPr>
        <p:txBody>
          <a:bodyPr vert="horz" lIns="91440" tIns="45720" rIns="91440" bIns="45720" rtlCol="0" anchor="ctr"/>
          <a:lstStyle>
            <a:lvl1pPr algn="l">
              <a:defRPr sz="1200">
                <a:solidFill>
                  <a:schemeClr val="tx1">
                    <a:tint val="75000"/>
                  </a:schemeClr>
                </a:solidFill>
              </a:defRPr>
            </a:lvl1pPr>
          </a:lstStyle>
          <a:p>
            <a:fld id="{531AF126-75A8-4461-AC2D-D5AEDEB06E31}" type="datetime1">
              <a:rPr lang="de-DE" smtClean="0"/>
              <a:t>25.02.2024</a:t>
            </a:fld>
            <a:endParaRPr lang="de-DE" dirty="0"/>
          </a:p>
        </p:txBody>
      </p:sp>
      <p:sp>
        <p:nvSpPr>
          <p:cNvPr id="5" name="Fußzeilenplatzhalter 4"/>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dirty="0"/>
              <a:t>Präsentationsthema</a:t>
            </a:r>
          </a:p>
        </p:txBody>
      </p:sp>
      <p:sp>
        <p:nvSpPr>
          <p:cNvPr id="6" name="Foliennummernplatzhalter 5"/>
          <p:cNvSpPr>
            <a:spLocks noGrp="1"/>
          </p:cNvSpPr>
          <p:nvPr>
            <p:ph type="sldNum" sz="quarter" idx="4"/>
          </p:nvPr>
        </p:nvSpPr>
        <p:spPr>
          <a:xfrm>
            <a:off x="9690754" y="6311900"/>
            <a:ext cx="1663045" cy="409575"/>
          </a:xfrm>
          <a:prstGeom prst="rect">
            <a:avLst/>
          </a:prstGeom>
        </p:spPr>
        <p:txBody>
          <a:bodyPr vert="horz" lIns="91440" tIns="45720" rIns="91440" bIns="45720" rtlCol="0" anchor="ctr"/>
          <a:lstStyle>
            <a:lvl1pPr algn="r">
              <a:defRPr sz="1200">
                <a:solidFill>
                  <a:schemeClr val="tx1">
                    <a:tint val="75000"/>
                  </a:schemeClr>
                </a:solidFill>
              </a:defRPr>
            </a:lvl1pPr>
          </a:lstStyle>
          <a:p>
            <a:fld id="{220551C3-A462-45EE-8D4B-53AADAADD6D4}" type="slidenum">
              <a:rPr lang="de-DE" smtClean="0"/>
              <a:t>‹Nr.›</a:t>
            </a:fld>
            <a:endParaRPr lang="de-DE" dirty="0"/>
          </a:p>
        </p:txBody>
      </p:sp>
    </p:spTree>
    <p:extLst>
      <p:ext uri="{BB962C8B-B14F-4D97-AF65-F5344CB8AC3E}">
        <p14:creationId xmlns:p14="http://schemas.microsoft.com/office/powerpoint/2010/main" val="37217071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000000"/>
          </p15:clr>
        </p15:guide>
        <p15:guide id="2" pos="211">
          <p15:clr>
            <a:srgbClr val="000000"/>
          </p15:clr>
        </p15:guide>
        <p15:guide id="3" orient="horz" pos="4320">
          <p15:clr>
            <a:srgbClr val="000000"/>
          </p15:clr>
        </p15:guide>
        <p15:guide id="4" orient="horz" pos="3974">
          <p15:clr>
            <a:srgbClr val="000000"/>
          </p15:clr>
        </p15:guide>
        <p15:guide id="5" pos="7673">
          <p15:clr>
            <a:srgbClr val="000000"/>
          </p15:clr>
        </p15:guide>
        <p15:guide id="6" pos="7469">
          <p15:clr>
            <a:srgbClr val="000000"/>
          </p15:clr>
        </p15:guide>
        <p15:guide id="7" orient="horz">
          <p15:clr>
            <a:srgbClr val="000000"/>
          </p15:clr>
        </p15:guide>
        <p15:guide id="8" orient="horz" pos="346">
          <p15:clr>
            <a:srgbClr val="00000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uppieren 6"/>
          <p:cNvGrpSpPr/>
          <p:nvPr/>
        </p:nvGrpSpPr>
        <p:grpSpPr>
          <a:xfrm>
            <a:off x="0" y="2716918"/>
            <a:ext cx="12201054" cy="4142572"/>
            <a:chOff x="0" y="2716065"/>
            <a:chExt cx="12201054" cy="4142572"/>
          </a:xfrm>
        </p:grpSpPr>
        <p:sp>
          <p:nvSpPr>
            <p:cNvPr id="8" name="Freihandform 7"/>
            <p:cNvSpPr/>
            <p:nvPr/>
          </p:nvSpPr>
          <p:spPr>
            <a:xfrm>
              <a:off x="0" y="2760670"/>
              <a:ext cx="12201054" cy="4097967"/>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757238 h 4125127"/>
                <a:gd name="connsiteX7" fmla="*/ 0 w 12201054"/>
                <a:gd name="connsiteY7" fmla="*/ 0 h 4125127"/>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4097967 h 4125127"/>
                <a:gd name="connsiteX7" fmla="*/ 0 w 12201054"/>
                <a:gd name="connsiteY7" fmla="*/ 0 h 4125127"/>
                <a:gd name="connsiteX0" fmla="*/ 0 w 12201054"/>
                <a:gd name="connsiteY0" fmla="*/ 0 h 4097967"/>
                <a:gd name="connsiteX1" fmla="*/ 3454269 w 12201054"/>
                <a:gd name="connsiteY1" fmla="*/ 0 h 4097967"/>
                <a:gd name="connsiteX2" fmla="*/ 3825090 w 12201054"/>
                <a:gd name="connsiteY2" fmla="*/ 351771 h 4097967"/>
                <a:gd name="connsiteX3" fmla="*/ 4195910 w 12201054"/>
                <a:gd name="connsiteY3" fmla="*/ 0 h 4097967"/>
                <a:gd name="connsiteX4" fmla="*/ 12192000 w 12201054"/>
                <a:gd name="connsiteY4" fmla="*/ 0 h 4097967"/>
                <a:gd name="connsiteX5" fmla="*/ 12201054 w 12201054"/>
                <a:gd name="connsiteY5" fmla="*/ 4097966 h 4097967"/>
                <a:gd name="connsiteX6" fmla="*/ 0 w 12201054"/>
                <a:gd name="connsiteY6" fmla="*/ 4097967 h 4097967"/>
                <a:gd name="connsiteX7" fmla="*/ 0 w 12201054"/>
                <a:gd name="connsiteY7" fmla="*/ 0 h 4097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1054" h="4097967">
                  <a:moveTo>
                    <a:pt x="0" y="0"/>
                  </a:moveTo>
                  <a:lnTo>
                    <a:pt x="3454269" y="0"/>
                  </a:lnTo>
                  <a:lnTo>
                    <a:pt x="3825090" y="351771"/>
                  </a:lnTo>
                  <a:lnTo>
                    <a:pt x="4195910" y="0"/>
                  </a:lnTo>
                  <a:lnTo>
                    <a:pt x="12192000" y="0"/>
                  </a:lnTo>
                  <a:lnTo>
                    <a:pt x="12201054" y="4097966"/>
                  </a:lnTo>
                  <a:lnTo>
                    <a:pt x="0" y="4097967"/>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D2E8F4"/>
                </a:solidFill>
                <a:effectLst/>
                <a:uLnTx/>
                <a:uFillTx/>
                <a:latin typeface="Calibri" panose="020F0502020204030204"/>
                <a:ea typeface="+mn-ea"/>
                <a:cs typeface="+mn-cs"/>
              </a:endParaRPr>
            </a:p>
          </p:txBody>
        </p:sp>
        <p:pic>
          <p:nvPicPr>
            <p:cNvPr id="9" name="Grafik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716065"/>
              <a:ext cx="12192000" cy="409956"/>
            </a:xfrm>
            <a:prstGeom prst="rect">
              <a:avLst/>
            </a:prstGeom>
          </p:spPr>
        </p:pic>
      </p:grpSp>
      <p:sp>
        <p:nvSpPr>
          <p:cNvPr id="4" name="Foliennummernplatzhalt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Titel 4"/>
          <p:cNvSpPr>
            <a:spLocks noGrp="1"/>
          </p:cNvSpPr>
          <p:nvPr>
            <p:ph type="ctrTitle"/>
          </p:nvPr>
        </p:nvSpPr>
        <p:spPr>
          <a:xfrm>
            <a:off x="0" y="3424238"/>
            <a:ext cx="12192000" cy="2158673"/>
          </a:xfrm>
        </p:spPr>
        <p:txBody>
          <a:bodyPr>
            <a:normAutofit/>
          </a:bodyPr>
          <a:lstStyle/>
          <a:p>
            <a:r>
              <a:rPr lang="de-DE" sz="7200" b="1" dirty="0">
                <a:latin typeface="Source Sans Pro" panose="020B0503030403020204" pitchFamily="34" charset="0"/>
              </a:rPr>
              <a:t>Datenbanken und SQL</a:t>
            </a:r>
          </a:p>
        </p:txBody>
      </p:sp>
      <p:sp>
        <p:nvSpPr>
          <p:cNvPr id="6" name="Untertitel 5"/>
          <p:cNvSpPr>
            <a:spLocks noGrp="1"/>
          </p:cNvSpPr>
          <p:nvPr>
            <p:ph type="subTitle" idx="1"/>
          </p:nvPr>
        </p:nvSpPr>
        <p:spPr/>
        <p:txBody>
          <a:bodyPr/>
          <a:lstStyle/>
          <a:p>
            <a:pPr algn="ctr"/>
            <a:r>
              <a:rPr lang="de-DE" dirty="0">
                <a:latin typeface="Source Sans Pro" panose="020B0503030403020204" pitchFamily="34" charset="0"/>
              </a:rPr>
              <a:t>(Woche 1 - Tag 1)</a:t>
            </a:r>
          </a:p>
        </p:txBody>
      </p:sp>
      <p:pic>
        <p:nvPicPr>
          <p:cNvPr id="10" name="Grafik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Grafik 20" descr="Bücher">
            <a:extLst>
              <a:ext uri="{FF2B5EF4-FFF2-40B4-BE49-F238E27FC236}">
                <a16:creationId xmlns:a16="http://schemas.microsoft.com/office/drawing/2014/main" id="{43D00B49-42D5-4163-8350-6A7AE38C9954}"/>
              </a:ext>
            </a:extLst>
          </p:cNvPr>
          <p:cNvSpPr/>
          <p:nvPr/>
        </p:nvSpPr>
        <p:spPr>
          <a:xfrm>
            <a:off x="352641" y="4810506"/>
            <a:ext cx="821809" cy="766829"/>
          </a:xfrm>
          <a:custGeom>
            <a:avLst/>
            <a:gdLst>
              <a:gd name="connsiteX0" fmla="*/ 578750 w 578750"/>
              <a:gd name="connsiteY0" fmla="*/ 190200 h 540031"/>
              <a:gd name="connsiteX1" fmla="*/ 543428 w 578750"/>
              <a:gd name="connsiteY1" fmla="*/ 177293 h 540031"/>
              <a:gd name="connsiteX2" fmla="*/ 543428 w 578750"/>
              <a:gd name="connsiteY2" fmla="*/ 103251 h 540031"/>
              <a:gd name="connsiteX3" fmla="*/ 578750 w 578750"/>
              <a:gd name="connsiteY3" fmla="*/ 88307 h 540031"/>
              <a:gd name="connsiteX4" fmla="*/ 339642 w 578750"/>
              <a:gd name="connsiteY4" fmla="*/ 0 h 540031"/>
              <a:gd name="connsiteX5" fmla="*/ 48908 w 578750"/>
              <a:gd name="connsiteY5" fmla="*/ 101893 h 540031"/>
              <a:gd name="connsiteX6" fmla="*/ 20379 w 578750"/>
              <a:gd name="connsiteY6" fmla="*/ 183407 h 540031"/>
              <a:gd name="connsiteX7" fmla="*/ 23775 w 578750"/>
              <a:gd name="connsiteY7" fmla="*/ 213295 h 540031"/>
              <a:gd name="connsiteX8" fmla="*/ 0 w 578750"/>
              <a:gd name="connsiteY8" fmla="*/ 292092 h 540031"/>
              <a:gd name="connsiteX9" fmla="*/ 20379 w 578750"/>
              <a:gd name="connsiteY9" fmla="*/ 351190 h 540031"/>
              <a:gd name="connsiteX10" fmla="*/ 19020 w 578750"/>
              <a:gd name="connsiteY10" fmla="*/ 393985 h 540031"/>
              <a:gd name="connsiteX11" fmla="*/ 54343 w 578750"/>
              <a:gd name="connsiteY11" fmla="*/ 461913 h 540031"/>
              <a:gd name="connsiteX12" fmla="*/ 243184 w 578750"/>
              <a:gd name="connsiteY12" fmla="*/ 540031 h 540031"/>
              <a:gd name="connsiteX13" fmla="*/ 577392 w 578750"/>
              <a:gd name="connsiteY13" fmla="*/ 401457 h 540031"/>
              <a:gd name="connsiteX14" fmla="*/ 542069 w 578750"/>
              <a:gd name="connsiteY14" fmla="*/ 388551 h 540031"/>
              <a:gd name="connsiteX15" fmla="*/ 542069 w 578750"/>
              <a:gd name="connsiteY15" fmla="*/ 313829 h 540031"/>
              <a:gd name="connsiteX16" fmla="*/ 577392 w 578750"/>
              <a:gd name="connsiteY16" fmla="*/ 298885 h 540031"/>
              <a:gd name="connsiteX17" fmla="*/ 523049 w 578750"/>
              <a:gd name="connsiteY17" fmla="*/ 278507 h 540031"/>
              <a:gd name="connsiteX18" fmla="*/ 523049 w 578750"/>
              <a:gd name="connsiteY18" fmla="*/ 213295 h 540031"/>
              <a:gd name="connsiteX19" fmla="*/ 578750 w 578750"/>
              <a:gd name="connsiteY19" fmla="*/ 190200 h 540031"/>
              <a:gd name="connsiteX20" fmla="*/ 57060 w 578750"/>
              <a:gd name="connsiteY20" fmla="*/ 149443 h 540031"/>
              <a:gd name="connsiteX21" fmla="*/ 245901 w 578750"/>
              <a:gd name="connsiteY21" fmla="*/ 223485 h 540031"/>
              <a:gd name="connsiteX22" fmla="*/ 516935 w 578750"/>
              <a:gd name="connsiteY22" fmla="*/ 114120 h 540031"/>
              <a:gd name="connsiteX23" fmla="*/ 516935 w 578750"/>
              <a:gd name="connsiteY23" fmla="*/ 172538 h 540031"/>
              <a:gd name="connsiteX24" fmla="*/ 245901 w 578750"/>
              <a:gd name="connsiteY24" fmla="*/ 285299 h 540031"/>
              <a:gd name="connsiteX25" fmla="*/ 57060 w 578750"/>
              <a:gd name="connsiteY25" fmla="*/ 210578 h 540031"/>
              <a:gd name="connsiteX26" fmla="*/ 57060 w 578750"/>
              <a:gd name="connsiteY26" fmla="*/ 149443 h 540031"/>
              <a:gd name="connsiteX27" fmla="*/ 515577 w 578750"/>
              <a:gd name="connsiteY27" fmla="*/ 383796 h 540031"/>
              <a:gd name="connsiteX28" fmla="*/ 244542 w 578750"/>
              <a:gd name="connsiteY28" fmla="*/ 495878 h 540031"/>
              <a:gd name="connsiteX29" fmla="*/ 55022 w 578750"/>
              <a:gd name="connsiteY29" fmla="*/ 421156 h 540031"/>
              <a:gd name="connsiteX30" fmla="*/ 55022 w 578750"/>
              <a:gd name="connsiteY30" fmla="*/ 368172 h 540031"/>
              <a:gd name="connsiteX31" fmla="*/ 224164 w 578750"/>
              <a:gd name="connsiteY31" fmla="*/ 437459 h 540031"/>
              <a:gd name="connsiteX32" fmla="*/ 516256 w 578750"/>
              <a:gd name="connsiteY32" fmla="*/ 321981 h 540031"/>
              <a:gd name="connsiteX33" fmla="*/ 515577 w 578750"/>
              <a:gd name="connsiteY33" fmla="*/ 383796 h 540031"/>
              <a:gd name="connsiteX34" fmla="*/ 496557 w 578750"/>
              <a:gd name="connsiteY34" fmla="*/ 281903 h 540031"/>
              <a:gd name="connsiteX35" fmla="*/ 225522 w 578750"/>
              <a:gd name="connsiteY35" fmla="*/ 393985 h 540031"/>
              <a:gd name="connsiteX36" fmla="*/ 36681 w 578750"/>
              <a:gd name="connsiteY36" fmla="*/ 319264 h 540031"/>
              <a:gd name="connsiteX37" fmla="*/ 36681 w 578750"/>
              <a:gd name="connsiteY37" fmla="*/ 258128 h 540031"/>
              <a:gd name="connsiteX38" fmla="*/ 230957 w 578750"/>
              <a:gd name="connsiteY38" fmla="*/ 335567 h 540031"/>
              <a:gd name="connsiteX39" fmla="*/ 497236 w 578750"/>
              <a:gd name="connsiteY39" fmla="*/ 224164 h 540031"/>
              <a:gd name="connsiteX40" fmla="*/ 497236 w 578750"/>
              <a:gd name="connsiteY40" fmla="*/ 281903 h 540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8750" h="540031">
                <a:moveTo>
                  <a:pt x="578750" y="190200"/>
                </a:moveTo>
                <a:lnTo>
                  <a:pt x="543428" y="177293"/>
                </a:lnTo>
                <a:lnTo>
                  <a:pt x="543428" y="103251"/>
                </a:lnTo>
                <a:lnTo>
                  <a:pt x="578750" y="88307"/>
                </a:lnTo>
                <a:lnTo>
                  <a:pt x="339642" y="0"/>
                </a:lnTo>
                <a:lnTo>
                  <a:pt x="48908" y="101893"/>
                </a:lnTo>
                <a:cubicBezTo>
                  <a:pt x="21058" y="115478"/>
                  <a:pt x="20379" y="152839"/>
                  <a:pt x="20379" y="183407"/>
                </a:cubicBezTo>
                <a:cubicBezTo>
                  <a:pt x="20379" y="193596"/>
                  <a:pt x="21737" y="203785"/>
                  <a:pt x="23775" y="213295"/>
                </a:cubicBezTo>
                <a:cubicBezTo>
                  <a:pt x="679" y="228240"/>
                  <a:pt x="0" y="262883"/>
                  <a:pt x="0" y="292092"/>
                </a:cubicBezTo>
                <a:cubicBezTo>
                  <a:pt x="0" y="315867"/>
                  <a:pt x="5434" y="337604"/>
                  <a:pt x="20379" y="351190"/>
                </a:cubicBezTo>
                <a:cubicBezTo>
                  <a:pt x="16982" y="362738"/>
                  <a:pt x="19020" y="377003"/>
                  <a:pt x="19020" y="393985"/>
                </a:cubicBezTo>
                <a:cubicBezTo>
                  <a:pt x="19020" y="424553"/>
                  <a:pt x="27171" y="452403"/>
                  <a:pt x="54343" y="461913"/>
                </a:cubicBezTo>
                <a:lnTo>
                  <a:pt x="243184" y="540031"/>
                </a:lnTo>
                <a:lnTo>
                  <a:pt x="577392" y="401457"/>
                </a:lnTo>
                <a:lnTo>
                  <a:pt x="542069" y="388551"/>
                </a:lnTo>
                <a:lnTo>
                  <a:pt x="542069" y="313829"/>
                </a:lnTo>
                <a:lnTo>
                  <a:pt x="577392" y="298885"/>
                </a:lnTo>
                <a:lnTo>
                  <a:pt x="523049" y="278507"/>
                </a:lnTo>
                <a:lnTo>
                  <a:pt x="523049" y="213295"/>
                </a:lnTo>
                <a:lnTo>
                  <a:pt x="578750" y="190200"/>
                </a:lnTo>
                <a:close/>
                <a:moveTo>
                  <a:pt x="57060" y="149443"/>
                </a:moveTo>
                <a:lnTo>
                  <a:pt x="245901" y="223485"/>
                </a:lnTo>
                <a:lnTo>
                  <a:pt x="516935" y="114120"/>
                </a:lnTo>
                <a:lnTo>
                  <a:pt x="516935" y="172538"/>
                </a:lnTo>
                <a:lnTo>
                  <a:pt x="245901" y="285299"/>
                </a:lnTo>
                <a:lnTo>
                  <a:pt x="57060" y="210578"/>
                </a:lnTo>
                <a:lnTo>
                  <a:pt x="57060" y="149443"/>
                </a:lnTo>
                <a:close/>
                <a:moveTo>
                  <a:pt x="515577" y="383796"/>
                </a:moveTo>
                <a:lnTo>
                  <a:pt x="244542" y="495878"/>
                </a:lnTo>
                <a:lnTo>
                  <a:pt x="55022" y="421156"/>
                </a:lnTo>
                <a:lnTo>
                  <a:pt x="55022" y="368172"/>
                </a:lnTo>
                <a:lnTo>
                  <a:pt x="224164" y="437459"/>
                </a:lnTo>
                <a:lnTo>
                  <a:pt x="516256" y="321981"/>
                </a:lnTo>
                <a:lnTo>
                  <a:pt x="515577" y="383796"/>
                </a:lnTo>
                <a:close/>
                <a:moveTo>
                  <a:pt x="496557" y="281903"/>
                </a:moveTo>
                <a:lnTo>
                  <a:pt x="225522" y="393985"/>
                </a:lnTo>
                <a:lnTo>
                  <a:pt x="36681" y="319264"/>
                </a:lnTo>
                <a:lnTo>
                  <a:pt x="36681" y="258128"/>
                </a:lnTo>
                <a:lnTo>
                  <a:pt x="230957" y="335567"/>
                </a:lnTo>
                <a:lnTo>
                  <a:pt x="497236" y="224164"/>
                </a:lnTo>
                <a:lnTo>
                  <a:pt x="497236" y="281903"/>
                </a:lnTo>
                <a:close/>
              </a:path>
            </a:pathLst>
          </a:custGeom>
          <a:solidFill>
            <a:srgbClr val="0071B2"/>
          </a:solidFill>
          <a:ln w="67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3" name="Bildplatzhalter 12"/>
          <p:cNvSpPr>
            <a:spLocks noGrp="1"/>
          </p:cNvSpPr>
          <p:nvPr>
            <p:ph type="pic" sz="quarter" idx="13"/>
          </p:nvPr>
        </p:nvSpPr>
        <p:spPr/>
      </p:sp>
    </p:spTree>
    <p:extLst>
      <p:ext uri="{BB962C8B-B14F-4D97-AF65-F5344CB8AC3E}">
        <p14:creationId xmlns:p14="http://schemas.microsoft.com/office/powerpoint/2010/main" val="16750499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lstStyle/>
          <a:p>
            <a:r>
              <a:rPr lang="de-DE" dirty="0">
                <a:latin typeface="Source Sans Pro" panose="020B0503030403020204" pitchFamily="34" charset="0"/>
              </a:rPr>
              <a:t>Agenda</a:t>
            </a: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640080" y="1222930"/>
            <a:ext cx="10713719" cy="4524315"/>
          </a:xfrm>
          <a:prstGeom prst="rect">
            <a:avLst/>
          </a:prstGeom>
          <a:noFill/>
        </p:spPr>
        <p:txBody>
          <a:bodyPr wrap="square" rtlCol="0">
            <a:spAutoFit/>
          </a:bodyPr>
          <a:lstStyle/>
          <a:p>
            <a:endParaRPr lang="de-DE" b="1" dirty="0"/>
          </a:p>
          <a:p>
            <a:r>
              <a:rPr lang="de-DE" b="1" dirty="0">
                <a:latin typeface="Source Sans Pro" panose="020B0503030403020204" pitchFamily="34" charset="0"/>
              </a:rPr>
              <a:t>Grundbegriffe</a:t>
            </a:r>
          </a:p>
          <a:p>
            <a:pPr marL="715963" lvl="1" indent="-258763">
              <a:buFont typeface="Arial" panose="020B0604020202020204" pitchFamily="34" charset="0"/>
              <a:buChar char="•"/>
            </a:pPr>
            <a:r>
              <a:rPr lang="de-DE" dirty="0">
                <a:latin typeface="Source Sans Pro" panose="020B0503030403020204" pitchFamily="34" charset="0"/>
              </a:rPr>
              <a:t>Daten</a:t>
            </a:r>
          </a:p>
          <a:p>
            <a:pPr marL="715963" lvl="1" indent="-258763">
              <a:buFont typeface="Arial" panose="020B0604020202020204" pitchFamily="34" charset="0"/>
              <a:buChar char="•"/>
            </a:pPr>
            <a:r>
              <a:rPr lang="de-DE" dirty="0">
                <a:latin typeface="Source Sans Pro" panose="020B0503030403020204" pitchFamily="34" charset="0"/>
              </a:rPr>
              <a:t>Datenbank (Datenbanksystem)</a:t>
            </a:r>
          </a:p>
          <a:p>
            <a:pPr marL="715963" lvl="1" indent="-258763">
              <a:buFont typeface="Arial" panose="020B0604020202020204" pitchFamily="34" charset="0"/>
              <a:buChar char="•"/>
            </a:pPr>
            <a:r>
              <a:rPr lang="de-DE" dirty="0">
                <a:latin typeface="Source Sans Pro" panose="020B0503030403020204" pitchFamily="34" charset="0"/>
              </a:rPr>
              <a:t>Entität und Entitätstyp</a:t>
            </a:r>
          </a:p>
          <a:p>
            <a:pPr marL="715963" lvl="1" indent="-258763">
              <a:buFont typeface="Arial" panose="020B0604020202020204" pitchFamily="34" charset="0"/>
              <a:buChar char="•"/>
            </a:pPr>
            <a:r>
              <a:rPr lang="de-DE" dirty="0">
                <a:latin typeface="Source Sans Pro" panose="020B0503030403020204" pitchFamily="34" charset="0"/>
              </a:rPr>
              <a:t>Attribut</a:t>
            </a:r>
          </a:p>
          <a:p>
            <a:pPr marL="715963" lvl="1" indent="-258763">
              <a:buFont typeface="Arial" panose="020B0604020202020204" pitchFamily="34" charset="0"/>
              <a:buChar char="•"/>
            </a:pPr>
            <a:r>
              <a:rPr lang="de-DE" dirty="0">
                <a:latin typeface="Source Sans Pro" panose="020B0503030403020204" pitchFamily="34" charset="0"/>
              </a:rPr>
              <a:t>Datensatz</a:t>
            </a:r>
          </a:p>
          <a:p>
            <a:pPr marL="715963" lvl="1" indent="-258763">
              <a:buFont typeface="Arial" panose="020B0604020202020204" pitchFamily="34" charset="0"/>
              <a:buChar char="•"/>
            </a:pPr>
            <a:r>
              <a:rPr lang="de-DE" dirty="0">
                <a:latin typeface="Source Sans Pro" panose="020B0503030403020204" pitchFamily="34" charset="0"/>
              </a:rPr>
              <a:t>Relation</a:t>
            </a:r>
          </a:p>
          <a:p>
            <a:pPr lvl="1"/>
            <a:endParaRPr lang="de-DE" dirty="0">
              <a:latin typeface="Source Sans Pro" panose="020B0503030403020204" pitchFamily="34" charset="0"/>
            </a:endParaRPr>
          </a:p>
          <a:p>
            <a:r>
              <a:rPr lang="de-DE" b="1" dirty="0">
                <a:latin typeface="Source Sans Pro" panose="020B0503030403020204" pitchFamily="34" charset="0"/>
              </a:rPr>
              <a:t>Entity-Relationship-Modell/Diagramm (erste Einführung)</a:t>
            </a:r>
          </a:p>
          <a:p>
            <a:pPr marL="715963" lvl="1" indent="-266700">
              <a:buFont typeface="Arial" panose="020B0604020202020204" pitchFamily="34" charset="0"/>
              <a:buChar char="•"/>
            </a:pPr>
            <a:r>
              <a:rPr lang="de-DE" dirty="0">
                <a:latin typeface="Source Sans Pro" panose="020B0503030403020204" pitchFamily="34" charset="0"/>
              </a:rPr>
              <a:t>Definition</a:t>
            </a:r>
          </a:p>
          <a:p>
            <a:pPr marL="715963" lvl="1" indent="-266700">
              <a:buFont typeface="Arial" panose="020B0604020202020204" pitchFamily="34" charset="0"/>
              <a:buChar char="•"/>
            </a:pPr>
            <a:r>
              <a:rPr lang="de-DE" dirty="0">
                <a:latin typeface="Source Sans Pro" panose="020B0503030403020204" pitchFamily="34" charset="0"/>
              </a:rPr>
              <a:t>Motivation (+ kurzer Exkurs zum Datenbankentwurfs-Prozess)</a:t>
            </a:r>
          </a:p>
          <a:p>
            <a:pPr marL="715963" lvl="1" indent="-266700">
              <a:buFont typeface="Arial" panose="020B0604020202020204" pitchFamily="34" charset="0"/>
              <a:buChar char="•"/>
            </a:pPr>
            <a:r>
              <a:rPr lang="de-DE" dirty="0">
                <a:latin typeface="Source Sans Pro" panose="020B0503030403020204" pitchFamily="34" charset="0"/>
              </a:rPr>
              <a:t>Vorstellung der Symbole (Chen-Notation)</a:t>
            </a:r>
          </a:p>
          <a:p>
            <a:pPr marL="715963" lvl="1" indent="-266700">
              <a:buFont typeface="Arial" panose="020B0604020202020204" pitchFamily="34" charset="0"/>
              <a:buChar char="•"/>
            </a:pPr>
            <a:r>
              <a:rPr lang="de-DE" dirty="0">
                <a:latin typeface="Source Sans Pro" panose="020B0503030403020204" pitchFamily="34" charset="0"/>
              </a:rPr>
              <a:t>Verwendung von DIA</a:t>
            </a:r>
          </a:p>
          <a:p>
            <a:pPr lvl="1"/>
            <a:endParaRPr lang="de-DE" dirty="0"/>
          </a:p>
          <a:p>
            <a:endParaRPr lang="de-DE" dirty="0"/>
          </a:p>
        </p:txBody>
      </p:sp>
    </p:spTree>
    <p:extLst>
      <p:ext uri="{BB962C8B-B14F-4D97-AF65-F5344CB8AC3E}">
        <p14:creationId xmlns:p14="http://schemas.microsoft.com/office/powerpoint/2010/main" val="4092280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5495849" cy="707704"/>
          </a:xfrm>
        </p:spPr>
        <p:txBody>
          <a:bodyPr>
            <a:noAutofit/>
          </a:bodyPr>
          <a:lstStyle/>
          <a:p>
            <a:r>
              <a:rPr lang="de-DE" sz="6600" dirty="0">
                <a:latin typeface="Source Sans Pro" panose="020B0503030403020204" pitchFamily="34" charset="0"/>
              </a:rPr>
              <a:t>Grundbegriffe</a:t>
            </a:r>
          </a:p>
        </p:txBody>
      </p:sp>
    </p:spTree>
    <p:extLst>
      <p:ext uri="{BB962C8B-B14F-4D97-AF65-F5344CB8AC3E}">
        <p14:creationId xmlns:p14="http://schemas.microsoft.com/office/powerpoint/2010/main" val="9375962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lstStyle/>
          <a:p>
            <a:r>
              <a:rPr lang="de-DE" dirty="0">
                <a:latin typeface="Source Sans Pro" panose="020B0503030403020204" pitchFamily="34" charset="0"/>
              </a:rPr>
              <a:t>Daten </a:t>
            </a:r>
            <a:r>
              <a:rPr lang="de-DE" sz="2000" b="0" dirty="0">
                <a:latin typeface="Source Sans Pro" panose="020B0503030403020204" pitchFamily="34" charset="0"/>
              </a:rPr>
              <a:t>(Einzahl: </a:t>
            </a:r>
            <a:r>
              <a:rPr lang="de-DE" sz="2000" dirty="0">
                <a:latin typeface="Source Sans Pro" panose="020B0503030403020204" pitchFamily="34" charset="0"/>
              </a:rPr>
              <a:t>Datum</a:t>
            </a:r>
            <a:r>
              <a:rPr lang="de-DE" sz="2000" b="0" dirty="0">
                <a:latin typeface="Source Sans Pro" panose="020B0503030403020204" pitchFamily="34" charset="0"/>
              </a:rPr>
              <a:t>)</a:t>
            </a: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640080" y="1222930"/>
            <a:ext cx="11080865" cy="4308872"/>
          </a:xfrm>
          <a:prstGeom prst="rect">
            <a:avLst/>
          </a:prstGeom>
          <a:noFill/>
        </p:spPr>
        <p:txBody>
          <a:bodyPr wrap="square" rtlCol="0">
            <a:spAutoFit/>
          </a:bodyPr>
          <a:lstStyle/>
          <a:p>
            <a:pPr marL="342900" indent="-342900">
              <a:buFont typeface="Arial" panose="020B0604020202020204" pitchFamily="34" charset="0"/>
              <a:buChar char="•"/>
            </a:pPr>
            <a:r>
              <a:rPr lang="de-DE" sz="2400" dirty="0">
                <a:latin typeface="Source Sans Pro" panose="020B0503030403020204" pitchFamily="34" charset="0"/>
              </a:rPr>
              <a:t>Unter einem „Datum“ verstehen wir </a:t>
            </a:r>
            <a:r>
              <a:rPr lang="de-DE" sz="2400" b="1" dirty="0">
                <a:latin typeface="Source Sans Pro" panose="020B0503030403020204" pitchFamily="34" charset="0"/>
              </a:rPr>
              <a:t>umgangssprachlich</a:t>
            </a:r>
            <a:r>
              <a:rPr lang="de-DE" sz="2400" dirty="0">
                <a:latin typeface="Source Sans Pro" panose="020B0503030403020204" pitchFamily="34" charset="0"/>
              </a:rPr>
              <a:t> eine „Termin-Angabe“.</a:t>
            </a:r>
          </a:p>
          <a:p>
            <a:endParaRPr lang="de-DE" sz="800" dirty="0">
              <a:latin typeface="Source Sans Pro" panose="020B0503030403020204" pitchFamily="34" charset="0"/>
            </a:endParaRPr>
          </a:p>
          <a:p>
            <a:pPr marL="342900" indent="-342900">
              <a:buFont typeface="Arial" panose="020B0604020202020204" pitchFamily="34" charset="0"/>
              <a:buChar char="•"/>
            </a:pPr>
            <a:r>
              <a:rPr lang="de-DE" sz="2400" dirty="0">
                <a:latin typeface="Source Sans Pro" panose="020B0503030403020204" pitchFamily="34" charset="0"/>
              </a:rPr>
              <a:t>Fachsprachlich wird der Begriff hingegen weiter gefasst und meint: „</a:t>
            </a:r>
            <a:r>
              <a:rPr lang="de-DE" sz="2400" b="1" dirty="0">
                <a:latin typeface="Source Sans Pro" panose="020B0503030403020204" pitchFamily="34" charset="0"/>
              </a:rPr>
              <a:t>Information</a:t>
            </a:r>
            <a:r>
              <a:rPr lang="de-DE" sz="2400" dirty="0">
                <a:latin typeface="Source Sans Pro" panose="020B0503030403020204" pitchFamily="34" charset="0"/>
              </a:rPr>
              <a:t>“.</a:t>
            </a:r>
          </a:p>
          <a:p>
            <a:pPr lvl="1"/>
            <a:r>
              <a:rPr lang="de-DE" dirty="0">
                <a:latin typeface="Source Sans Pro" panose="020B0503030403020204" pitchFamily="34" charset="0"/>
              </a:rPr>
              <a:t>Damit erklärt sich dann aber auch die große Bedeutung von Daten für unser Fach, denn nicht umsonst sprechen wir bei unserer Disziplin von der …</a:t>
            </a:r>
          </a:p>
          <a:p>
            <a:pPr marL="742950" lvl="1" indent="-285750">
              <a:buFont typeface="Courier New" panose="02070309020205020404" pitchFamily="49" charset="0"/>
              <a:buChar char="o"/>
            </a:pPr>
            <a:r>
              <a:rPr lang="de-DE" dirty="0">
                <a:latin typeface="Source Sans Pro" panose="020B0503030403020204" pitchFamily="34" charset="0"/>
              </a:rPr>
              <a:t>„</a:t>
            </a:r>
            <a:r>
              <a:rPr lang="de-DE" b="1" dirty="0">
                <a:latin typeface="Source Sans Pro" panose="020B0503030403020204" pitchFamily="34" charset="0"/>
              </a:rPr>
              <a:t>IT</a:t>
            </a:r>
            <a:r>
              <a:rPr lang="de-DE" dirty="0">
                <a:latin typeface="Source Sans Pro" panose="020B0503030403020204" pitchFamily="34" charset="0"/>
              </a:rPr>
              <a:t>“       </a:t>
            </a:r>
            <a:r>
              <a:rPr lang="de-DE" sz="1200" dirty="0">
                <a:latin typeface="Source Sans Pro" panose="020B0503030403020204" pitchFamily="34" charset="0"/>
              </a:rPr>
              <a:t>(</a:t>
            </a:r>
            <a:r>
              <a:rPr lang="de-DE" sz="1200" b="1" dirty="0">
                <a:latin typeface="Source Sans Pro" panose="020B0503030403020204" pitchFamily="34" charset="0"/>
              </a:rPr>
              <a:t>Information</a:t>
            </a:r>
            <a:r>
              <a:rPr lang="de-DE" sz="1200" dirty="0">
                <a:latin typeface="Source Sans Pro" panose="020B0503030403020204" pitchFamily="34" charset="0"/>
              </a:rPr>
              <a:t>stechnologie) </a:t>
            </a:r>
            <a:r>
              <a:rPr lang="de-DE" sz="800" i="1" dirty="0">
                <a:latin typeface="Source Sans Pro" panose="020B0503030403020204" pitchFamily="34" charset="0"/>
              </a:rPr>
              <a:t>oder auch</a:t>
            </a:r>
          </a:p>
          <a:p>
            <a:pPr marL="742950" lvl="1" indent="-285750">
              <a:buFont typeface="Courier New" panose="02070309020205020404" pitchFamily="49" charset="0"/>
              <a:buChar char="o"/>
            </a:pPr>
            <a:r>
              <a:rPr lang="de-DE" dirty="0">
                <a:latin typeface="Source Sans Pro" panose="020B0503030403020204" pitchFamily="34" charset="0"/>
              </a:rPr>
              <a:t>„</a:t>
            </a:r>
            <a:r>
              <a:rPr lang="de-DE" b="1" dirty="0">
                <a:latin typeface="Source Sans Pro" panose="020B0503030403020204" pitchFamily="34" charset="0"/>
              </a:rPr>
              <a:t>EDV</a:t>
            </a:r>
            <a:r>
              <a:rPr lang="de-DE" dirty="0">
                <a:latin typeface="Source Sans Pro" panose="020B0503030403020204" pitchFamily="34" charset="0"/>
              </a:rPr>
              <a:t>“   </a:t>
            </a:r>
            <a:r>
              <a:rPr lang="de-DE" sz="1200" dirty="0">
                <a:latin typeface="Source Sans Pro" panose="020B0503030403020204" pitchFamily="34" charset="0"/>
              </a:rPr>
              <a:t>(Elektronische </a:t>
            </a:r>
            <a:r>
              <a:rPr lang="de-DE" sz="1200" b="1" dirty="0">
                <a:latin typeface="Source Sans Pro" panose="020B0503030403020204" pitchFamily="34" charset="0"/>
              </a:rPr>
              <a:t>Daten</a:t>
            </a:r>
            <a:r>
              <a:rPr lang="de-DE" sz="1200" dirty="0">
                <a:latin typeface="Source Sans Pro" panose="020B0503030403020204" pitchFamily="34" charset="0"/>
              </a:rPr>
              <a:t>verarbeitung)</a:t>
            </a:r>
          </a:p>
          <a:p>
            <a:pPr lvl="1"/>
            <a:endParaRPr lang="de-DE" sz="800" dirty="0">
              <a:latin typeface="Source Sans Pro" panose="020B0503030403020204" pitchFamily="34" charset="0"/>
            </a:endParaRPr>
          </a:p>
          <a:p>
            <a:pPr marL="342900" indent="-342900">
              <a:buFont typeface="Arial" panose="020B0604020202020204" pitchFamily="34" charset="0"/>
              <a:buChar char="•"/>
            </a:pPr>
            <a:r>
              <a:rPr lang="de-DE" sz="2400" dirty="0">
                <a:latin typeface="Source Sans Pro" panose="020B0503030403020204" pitchFamily="34" charset="0"/>
              </a:rPr>
              <a:t>Da durch Daten sehr unterschiedliche Informationen angesprochen werden können, können diese auch von sehr unterschiedlichem </a:t>
            </a:r>
            <a:r>
              <a:rPr lang="de-DE" sz="2400" b="1" dirty="0">
                <a:latin typeface="Source Sans Pro" panose="020B0503030403020204" pitchFamily="34" charset="0"/>
              </a:rPr>
              <a:t>Typ</a:t>
            </a:r>
            <a:r>
              <a:rPr lang="de-DE" sz="2400" dirty="0">
                <a:latin typeface="Source Sans Pro" panose="020B0503030403020204" pitchFamily="34" charset="0"/>
              </a:rPr>
              <a:t> sein:</a:t>
            </a:r>
          </a:p>
          <a:p>
            <a:pPr marL="742950" lvl="1" indent="-285750">
              <a:buFont typeface="Courier New" panose="02070309020205020404" pitchFamily="49" charset="0"/>
              <a:buChar char="o"/>
            </a:pPr>
            <a:r>
              <a:rPr lang="de-DE" b="1" dirty="0">
                <a:latin typeface="Source Sans Pro" panose="020B0503030403020204" pitchFamily="34" charset="0"/>
              </a:rPr>
              <a:t>Zahlen</a:t>
            </a:r>
            <a:r>
              <a:rPr lang="de-DE" dirty="0">
                <a:latin typeface="Source Sans Pro" panose="020B0503030403020204" pitchFamily="34" charset="0"/>
              </a:rPr>
              <a:t>-Typ </a:t>
            </a:r>
            <a:r>
              <a:rPr lang="de-DE" sz="1200" dirty="0">
                <a:latin typeface="Source Sans Pro" panose="020B0503030403020204" pitchFamily="34" charset="0"/>
              </a:rPr>
              <a:t>(z.B. Seitenzahl, Streckenlänge, Gewicht …)</a:t>
            </a:r>
            <a:endParaRPr lang="de-DE" sz="800" i="1" dirty="0">
              <a:latin typeface="Source Sans Pro" panose="020B0503030403020204" pitchFamily="34" charset="0"/>
            </a:endParaRPr>
          </a:p>
          <a:p>
            <a:pPr marL="742950" lvl="1" indent="-285750">
              <a:buFont typeface="Courier New" panose="02070309020205020404" pitchFamily="49" charset="0"/>
              <a:buChar char="o"/>
            </a:pPr>
            <a:r>
              <a:rPr lang="de-DE" b="1" dirty="0">
                <a:latin typeface="Source Sans Pro" panose="020B0503030403020204" pitchFamily="34" charset="0"/>
              </a:rPr>
              <a:t>Text</a:t>
            </a:r>
            <a:r>
              <a:rPr lang="de-DE" dirty="0">
                <a:latin typeface="Source Sans Pro" panose="020B0503030403020204" pitchFamily="34" charset="0"/>
              </a:rPr>
              <a:t>-Typ </a:t>
            </a:r>
            <a:r>
              <a:rPr lang="de-DE" sz="1200" dirty="0">
                <a:solidFill>
                  <a:srgbClr val="0071B2"/>
                </a:solidFill>
                <a:latin typeface="Source Sans Pro" panose="020B0503030403020204" pitchFamily="34" charset="0"/>
              </a:rPr>
              <a:t>(Wort/Name, Satz, Kapitel …)</a:t>
            </a:r>
            <a:endParaRPr lang="de-DE" dirty="0">
              <a:latin typeface="Source Sans Pro" panose="020B0503030403020204" pitchFamily="34" charset="0"/>
            </a:endParaRPr>
          </a:p>
          <a:p>
            <a:pPr marL="742950" lvl="1" indent="-285750">
              <a:buFont typeface="Courier New" panose="02070309020205020404" pitchFamily="49" charset="0"/>
              <a:buChar char="o"/>
            </a:pPr>
            <a:r>
              <a:rPr lang="de-DE" b="1" dirty="0">
                <a:latin typeface="Source Sans Pro" panose="020B0503030403020204" pitchFamily="34" charset="0"/>
              </a:rPr>
              <a:t>Audio</a:t>
            </a:r>
            <a:r>
              <a:rPr lang="de-DE" dirty="0">
                <a:latin typeface="Source Sans Pro" panose="020B0503030403020204" pitchFamily="34" charset="0"/>
              </a:rPr>
              <a:t>datei-Typ </a:t>
            </a:r>
            <a:r>
              <a:rPr lang="de-DE" sz="1200" dirty="0">
                <a:solidFill>
                  <a:srgbClr val="0071B2"/>
                </a:solidFill>
                <a:latin typeface="Source Sans Pro" panose="020B0503030403020204" pitchFamily="34" charset="0"/>
              </a:rPr>
              <a:t>(Sprachnachricht, Musikstück …)</a:t>
            </a:r>
            <a:endParaRPr lang="de-DE" dirty="0">
              <a:latin typeface="Source Sans Pro" panose="020B0503030403020204" pitchFamily="34" charset="0"/>
            </a:endParaRPr>
          </a:p>
          <a:p>
            <a:pPr marL="742950" lvl="1" indent="-285750">
              <a:buFont typeface="Courier New" panose="02070309020205020404" pitchFamily="49" charset="0"/>
              <a:buChar char="o"/>
            </a:pPr>
            <a:r>
              <a:rPr lang="de-DE" b="1" dirty="0">
                <a:latin typeface="Source Sans Pro" panose="020B0503030403020204" pitchFamily="34" charset="0"/>
              </a:rPr>
              <a:t>Grafik</a:t>
            </a:r>
            <a:r>
              <a:rPr lang="de-DE" dirty="0">
                <a:latin typeface="Source Sans Pro" panose="020B0503030403020204" pitchFamily="34" charset="0"/>
              </a:rPr>
              <a:t>/</a:t>
            </a:r>
            <a:r>
              <a:rPr lang="de-DE" b="1" dirty="0">
                <a:latin typeface="Source Sans Pro" panose="020B0503030403020204" pitchFamily="34" charset="0"/>
              </a:rPr>
              <a:t>Video</a:t>
            </a:r>
            <a:r>
              <a:rPr lang="de-DE" dirty="0">
                <a:latin typeface="Source Sans Pro" panose="020B0503030403020204" pitchFamily="34" charset="0"/>
              </a:rPr>
              <a:t>datei-Typ </a:t>
            </a:r>
            <a:r>
              <a:rPr lang="de-DE" sz="1200" dirty="0">
                <a:solidFill>
                  <a:srgbClr val="0071B2"/>
                </a:solidFill>
                <a:latin typeface="Source Sans Pro" panose="020B0503030403020204" pitchFamily="34" charset="0"/>
              </a:rPr>
              <a:t>(Zeichnung, Foto, Film…)</a:t>
            </a:r>
            <a:endParaRPr lang="de-DE" dirty="0">
              <a:solidFill>
                <a:srgbClr val="0071B2"/>
              </a:solidFill>
              <a:latin typeface="Source Sans Pro" panose="020B0503030403020204" pitchFamily="34" charset="0"/>
            </a:endParaRPr>
          </a:p>
          <a:p>
            <a:pPr lvl="1"/>
            <a:endParaRPr lang="de-DE" dirty="0"/>
          </a:p>
        </p:txBody>
      </p:sp>
      <p:sp>
        <p:nvSpPr>
          <p:cNvPr id="2" name="Geschweifte Klammer rechts 1"/>
          <p:cNvSpPr/>
          <p:nvPr/>
        </p:nvSpPr>
        <p:spPr>
          <a:xfrm>
            <a:off x="5394960" y="4110745"/>
            <a:ext cx="415636" cy="482138"/>
          </a:xfrm>
          <a:prstGeom prst="rightBrace">
            <a:avLst>
              <a:gd name="adj1" fmla="val 8333"/>
              <a:gd name="adj2" fmla="val 48276"/>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dirty="0"/>
          </a:p>
        </p:txBody>
      </p:sp>
      <p:sp>
        <p:nvSpPr>
          <p:cNvPr id="3" name="Textfeld 2"/>
          <p:cNvSpPr txBox="1"/>
          <p:nvPr/>
        </p:nvSpPr>
        <p:spPr>
          <a:xfrm>
            <a:off x="5931130" y="4215186"/>
            <a:ext cx="4411208" cy="307777"/>
          </a:xfrm>
          <a:prstGeom prst="rect">
            <a:avLst/>
          </a:prstGeom>
          <a:noFill/>
        </p:spPr>
        <p:txBody>
          <a:bodyPr wrap="none" rtlCol="0">
            <a:spAutoFit/>
          </a:bodyPr>
          <a:lstStyle/>
          <a:p>
            <a:r>
              <a:rPr lang="de-DE" sz="1400" i="1" dirty="0"/>
              <a:t>diese Typen werden von uns später tatsächlich verwendet</a:t>
            </a:r>
          </a:p>
        </p:txBody>
      </p:sp>
      <p:sp>
        <p:nvSpPr>
          <p:cNvPr id="9" name="Geschweifte Klammer rechts 8"/>
          <p:cNvSpPr/>
          <p:nvPr/>
        </p:nvSpPr>
        <p:spPr>
          <a:xfrm>
            <a:off x="5403273" y="4670183"/>
            <a:ext cx="415636" cy="482138"/>
          </a:xfrm>
          <a:prstGeom prst="rightBrace">
            <a:avLst>
              <a:gd name="adj1" fmla="val 8333"/>
              <a:gd name="adj2" fmla="val 48276"/>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dirty="0"/>
          </a:p>
        </p:txBody>
      </p:sp>
      <p:sp>
        <p:nvSpPr>
          <p:cNvPr id="10" name="Textfeld 9"/>
          <p:cNvSpPr txBox="1"/>
          <p:nvPr/>
        </p:nvSpPr>
        <p:spPr>
          <a:xfrm>
            <a:off x="5983740" y="4719605"/>
            <a:ext cx="4305987" cy="307777"/>
          </a:xfrm>
          <a:prstGeom prst="rect">
            <a:avLst/>
          </a:prstGeom>
          <a:noFill/>
        </p:spPr>
        <p:txBody>
          <a:bodyPr wrap="none" rtlCol="0">
            <a:spAutoFit/>
          </a:bodyPr>
          <a:lstStyle/>
          <a:p>
            <a:r>
              <a:rPr lang="de-DE" sz="1400" i="1" dirty="0"/>
              <a:t>diese Typen benennen wir nur der Vollständigkeit halber</a:t>
            </a:r>
          </a:p>
        </p:txBody>
      </p:sp>
    </p:spTree>
    <p:extLst>
      <p:ext uri="{BB962C8B-B14F-4D97-AF65-F5344CB8AC3E}">
        <p14:creationId xmlns:p14="http://schemas.microsoft.com/office/powerpoint/2010/main" val="1970022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9" grpId="0" animBg="1"/>
      <p:bldP spid="1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normAutofit fontScale="90000"/>
          </a:bodyPr>
          <a:lstStyle/>
          <a:p>
            <a:r>
              <a:rPr lang="de-DE" dirty="0">
                <a:latin typeface="Source Sans Pro" panose="020B0503030403020204" pitchFamily="34" charset="0"/>
              </a:rPr>
              <a:t>Datenbank / Datenbanksystem</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640080" y="1628776"/>
            <a:ext cx="11388436" cy="4031873"/>
          </a:xfrm>
          <a:prstGeom prst="rect">
            <a:avLst/>
          </a:prstGeom>
          <a:noFill/>
        </p:spPr>
        <p:txBody>
          <a:bodyPr wrap="square" rtlCol="0">
            <a:spAutoFit/>
          </a:bodyPr>
          <a:lstStyle/>
          <a:p>
            <a:pPr marL="342900" indent="-342900">
              <a:buFont typeface="Arial" panose="020B0604020202020204" pitchFamily="34" charset="0"/>
              <a:buChar char="•"/>
            </a:pPr>
            <a:r>
              <a:rPr lang="de-DE" sz="2400" dirty="0">
                <a:latin typeface="Source Sans Pro" panose="020B0503030403020204" pitchFamily="34" charset="0"/>
              </a:rPr>
              <a:t>Unter einer „Datenbank“ versteht man </a:t>
            </a:r>
            <a:r>
              <a:rPr lang="de-DE" dirty="0">
                <a:latin typeface="Source Sans Pro" panose="020B0503030403020204" pitchFamily="34" charset="0"/>
              </a:rPr>
              <a:t>(im Allgemeinen) </a:t>
            </a:r>
            <a:r>
              <a:rPr lang="de-DE" sz="2400" dirty="0">
                <a:latin typeface="Source Sans Pro" panose="020B0503030403020204" pitchFamily="34" charset="0"/>
              </a:rPr>
              <a:t>eine „Sammlung von Daten“.</a:t>
            </a:r>
          </a:p>
          <a:p>
            <a:endParaRPr lang="de-DE" sz="800" dirty="0">
              <a:latin typeface="Source Sans Pro" panose="020B0503030403020204" pitchFamily="34" charset="0"/>
            </a:endParaRPr>
          </a:p>
          <a:p>
            <a:pPr marL="342900" indent="-342900">
              <a:buFont typeface="Arial" panose="020B0604020202020204" pitchFamily="34" charset="0"/>
              <a:buChar char="•"/>
            </a:pPr>
            <a:r>
              <a:rPr lang="de-DE" sz="2400" dirty="0">
                <a:latin typeface="Source Sans Pro" panose="020B0503030403020204" pitchFamily="34" charset="0"/>
              </a:rPr>
              <a:t>Für </a:t>
            </a:r>
            <a:r>
              <a:rPr lang="de-DE" sz="2400" b="1" dirty="0">
                <a:latin typeface="Source Sans Pro" panose="020B0503030403020204" pitchFamily="34" charset="0"/>
              </a:rPr>
              <a:t>Datenbanken </a:t>
            </a:r>
            <a:r>
              <a:rPr lang="de-DE" b="1" dirty="0">
                <a:latin typeface="Source Sans Pro" panose="020B0503030403020204" pitchFamily="34" charset="0"/>
              </a:rPr>
              <a:t>(aus Sicht der EDV) </a:t>
            </a:r>
            <a:r>
              <a:rPr lang="de-DE" sz="2400" dirty="0">
                <a:latin typeface="Source Sans Pro" panose="020B0503030403020204" pitchFamily="34" charset="0"/>
              </a:rPr>
              <a:t>werden hingegen 3 weitere Forderungen gestellt:</a:t>
            </a:r>
          </a:p>
          <a:p>
            <a:pPr marL="742950" lvl="1" indent="-285750">
              <a:buFont typeface="Courier New" panose="02070309020205020404" pitchFamily="49" charset="0"/>
              <a:buChar char="o"/>
            </a:pPr>
            <a:r>
              <a:rPr lang="de-DE" dirty="0">
                <a:latin typeface="Source Sans Pro" panose="020B0503030403020204" pitchFamily="34" charset="0"/>
              </a:rPr>
              <a:t>Zu einer Datenbank müssen Daten </a:t>
            </a:r>
            <a:r>
              <a:rPr lang="de-DE" b="1" dirty="0">
                <a:latin typeface="Source Sans Pro" panose="020B0503030403020204" pitchFamily="34" charset="0"/>
              </a:rPr>
              <a:t>hinzugefügt</a:t>
            </a:r>
            <a:r>
              <a:rPr lang="de-DE" dirty="0">
                <a:latin typeface="Source Sans Pro" panose="020B0503030403020204" pitchFamily="34" charset="0"/>
              </a:rPr>
              <a:t> werden können </a:t>
            </a:r>
            <a:r>
              <a:rPr lang="de-DE" sz="1400" i="1" dirty="0">
                <a:latin typeface="Source Sans Pro" panose="020B0503030403020204" pitchFamily="34" charset="0"/>
              </a:rPr>
              <a:t>(man muss weitere Daten „</a:t>
            </a:r>
            <a:r>
              <a:rPr lang="de-DE" sz="1400" b="1" i="1" dirty="0">
                <a:latin typeface="Source Sans Pro" panose="020B0503030403020204" pitchFamily="34" charset="0"/>
              </a:rPr>
              <a:t>einpflegen</a:t>
            </a:r>
            <a:r>
              <a:rPr lang="de-DE" sz="1400" i="1" dirty="0">
                <a:latin typeface="Source Sans Pro" panose="020B0503030403020204" pitchFamily="34" charset="0"/>
              </a:rPr>
              <a:t>“ können)</a:t>
            </a:r>
          </a:p>
          <a:p>
            <a:pPr marL="742950" lvl="1" indent="-285750">
              <a:buFont typeface="Courier New" panose="02070309020205020404" pitchFamily="49" charset="0"/>
              <a:buChar char="o"/>
            </a:pPr>
            <a:r>
              <a:rPr lang="de-DE" dirty="0">
                <a:latin typeface="Source Sans Pro" panose="020B0503030403020204" pitchFamily="34" charset="0"/>
              </a:rPr>
              <a:t>In einer Datenbank müssen Daten </a:t>
            </a:r>
            <a:r>
              <a:rPr lang="de-DE" b="1" dirty="0">
                <a:latin typeface="Source Sans Pro" panose="020B0503030403020204" pitchFamily="34" charset="0"/>
              </a:rPr>
              <a:t>korrigiert</a:t>
            </a:r>
            <a:r>
              <a:rPr lang="de-DE" dirty="0">
                <a:latin typeface="Source Sans Pro" panose="020B0503030403020204" pitchFamily="34" charset="0"/>
              </a:rPr>
              <a:t> oder </a:t>
            </a:r>
            <a:r>
              <a:rPr lang="de-DE" b="1" dirty="0">
                <a:latin typeface="Source Sans Pro" panose="020B0503030403020204" pitchFamily="34" charset="0"/>
              </a:rPr>
              <a:t>gelöscht</a:t>
            </a:r>
            <a:r>
              <a:rPr lang="de-DE" dirty="0">
                <a:latin typeface="Source Sans Pro" panose="020B0503030403020204" pitchFamily="34" charset="0"/>
              </a:rPr>
              <a:t> werden können </a:t>
            </a:r>
            <a:r>
              <a:rPr lang="de-DE" sz="1200" i="1" dirty="0">
                <a:latin typeface="Source Sans Pro" panose="020B0503030403020204" pitchFamily="34" charset="0"/>
              </a:rPr>
              <a:t>(man muss die Datenbank „</a:t>
            </a:r>
            <a:r>
              <a:rPr lang="de-DE" sz="1200" b="1" i="1" dirty="0">
                <a:latin typeface="Source Sans Pro" panose="020B0503030403020204" pitchFamily="34" charset="0"/>
              </a:rPr>
              <a:t>pflegen</a:t>
            </a:r>
            <a:r>
              <a:rPr lang="de-DE" sz="1200" i="1" dirty="0">
                <a:latin typeface="Source Sans Pro" panose="020B0503030403020204" pitchFamily="34" charset="0"/>
              </a:rPr>
              <a:t>“ können)</a:t>
            </a:r>
          </a:p>
          <a:p>
            <a:pPr marL="742950" lvl="1" indent="-285750">
              <a:buFont typeface="Courier New" panose="02070309020205020404" pitchFamily="49" charset="0"/>
              <a:buChar char="o"/>
            </a:pPr>
            <a:r>
              <a:rPr lang="de-DE" dirty="0">
                <a:latin typeface="Source Sans Pro" panose="020B0503030403020204" pitchFamily="34" charset="0"/>
              </a:rPr>
              <a:t>Aus einer Datenbank müssen Daten </a:t>
            </a:r>
            <a:r>
              <a:rPr lang="de-DE" b="1" dirty="0">
                <a:latin typeface="Source Sans Pro" panose="020B0503030403020204" pitchFamily="34" charset="0"/>
              </a:rPr>
              <a:t>abgefragt</a:t>
            </a:r>
            <a:r>
              <a:rPr lang="de-DE" dirty="0">
                <a:latin typeface="Source Sans Pro" panose="020B0503030403020204" pitchFamily="34" charset="0"/>
              </a:rPr>
              <a:t> werden können</a:t>
            </a:r>
          </a:p>
          <a:p>
            <a:endParaRPr lang="de-DE" sz="800" dirty="0">
              <a:latin typeface="Source Sans Pro" panose="020B0503030403020204" pitchFamily="34" charset="0"/>
            </a:endParaRPr>
          </a:p>
          <a:p>
            <a:pPr marL="342900" indent="-342900">
              <a:buFont typeface="Arial" panose="020B0604020202020204" pitchFamily="34" charset="0"/>
              <a:buChar char="•"/>
            </a:pPr>
            <a:r>
              <a:rPr lang="de-DE" sz="2400" dirty="0">
                <a:latin typeface="Source Sans Pro" panose="020B0503030403020204" pitchFamily="34" charset="0"/>
              </a:rPr>
              <a:t>Um innerhalb der EDV deutlich zu machen, dass man unter einer Datenbank mehr als eine „reine Datensammlung“ versteht, kann man an Stelle des Begriffes „Datenbank“ auch den Begriff des „</a:t>
            </a:r>
            <a:r>
              <a:rPr lang="de-DE" sz="2400" b="1" dirty="0">
                <a:latin typeface="Source Sans Pro" panose="020B0503030403020204" pitchFamily="34" charset="0"/>
              </a:rPr>
              <a:t>Datenbanksystems</a:t>
            </a:r>
            <a:r>
              <a:rPr lang="de-DE" sz="2400" dirty="0">
                <a:latin typeface="Source Sans Pro" panose="020B0503030403020204" pitchFamily="34" charset="0"/>
              </a:rPr>
              <a:t>“ verwenden. Beide Begriffe werden aber synonym verwendet (sind also austauschbar).</a:t>
            </a:r>
          </a:p>
          <a:p>
            <a:pPr marL="342900" indent="-342900">
              <a:buFont typeface="Arial" panose="020B0604020202020204" pitchFamily="34" charset="0"/>
              <a:buChar char="•"/>
            </a:pPr>
            <a:endParaRPr lang="de-DE" sz="2400" dirty="0"/>
          </a:p>
          <a:p>
            <a:pPr lvl="1"/>
            <a:endParaRPr lang="de-DE" dirty="0"/>
          </a:p>
        </p:txBody>
      </p:sp>
    </p:spTree>
    <p:extLst>
      <p:ext uri="{BB962C8B-B14F-4D97-AF65-F5344CB8AC3E}">
        <p14:creationId xmlns:p14="http://schemas.microsoft.com/office/powerpoint/2010/main" val="1783615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lstStyle/>
          <a:p>
            <a:r>
              <a:rPr lang="de-DE" dirty="0">
                <a:latin typeface="Source Sans Pro" panose="020B0503030403020204" pitchFamily="34" charset="0"/>
              </a:rPr>
              <a:t>Entität / Entitätstyp</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640080" y="1889596"/>
            <a:ext cx="11122429" cy="3508653"/>
          </a:xfrm>
          <a:prstGeom prst="rect">
            <a:avLst/>
          </a:prstGeom>
          <a:noFill/>
        </p:spPr>
        <p:txBody>
          <a:bodyPr wrap="square" rtlCol="0">
            <a:spAutoFit/>
          </a:bodyPr>
          <a:lstStyle/>
          <a:p>
            <a:pPr marL="342900" indent="-342900">
              <a:buFont typeface="Arial" panose="020B0604020202020204" pitchFamily="34" charset="0"/>
              <a:buChar char="•"/>
            </a:pPr>
            <a:r>
              <a:rPr lang="de-DE" sz="2400" dirty="0">
                <a:latin typeface="Source Sans Pro" panose="020B0503030403020204" pitchFamily="34" charset="0"/>
              </a:rPr>
              <a:t>Mittels Daten werden Informationen angesprochen, die </a:t>
            </a:r>
            <a:r>
              <a:rPr lang="de-DE" sz="2400" b="1" dirty="0">
                <a:latin typeface="Source Sans Pro" panose="020B0503030403020204" pitchFamily="34" charset="0"/>
              </a:rPr>
              <a:t>„Etwas“</a:t>
            </a:r>
            <a:r>
              <a:rPr lang="de-DE" sz="2400" dirty="0">
                <a:latin typeface="Source Sans Pro" panose="020B0503030403020204" pitchFamily="34" charset="0"/>
              </a:rPr>
              <a:t> beschreiben.</a:t>
            </a:r>
          </a:p>
          <a:p>
            <a:endParaRPr lang="de-DE" sz="800" dirty="0">
              <a:latin typeface="Source Sans Pro" panose="020B0503030403020204" pitchFamily="34" charset="0"/>
            </a:endParaRPr>
          </a:p>
          <a:p>
            <a:pPr marL="342900" indent="-342900">
              <a:buFont typeface="Arial" panose="020B0604020202020204" pitchFamily="34" charset="0"/>
              <a:buChar char="•"/>
            </a:pPr>
            <a:r>
              <a:rPr lang="de-DE" sz="2400" dirty="0">
                <a:latin typeface="Source Sans Pro" panose="020B0503030403020204" pitchFamily="34" charset="0"/>
              </a:rPr>
              <a:t>Dieses „Etwas“ kann (z.B.) eine Person, ein Gegenstand, ein Ereignis … sein.</a:t>
            </a:r>
          </a:p>
          <a:p>
            <a:endParaRPr lang="de-DE" sz="800" dirty="0">
              <a:latin typeface="Source Sans Pro" panose="020B0503030403020204" pitchFamily="34" charset="0"/>
            </a:endParaRPr>
          </a:p>
          <a:p>
            <a:pPr marL="342900" indent="-342900">
              <a:buFont typeface="Arial" panose="020B0604020202020204" pitchFamily="34" charset="0"/>
              <a:buChar char="•"/>
            </a:pPr>
            <a:r>
              <a:rPr lang="de-DE" sz="2400" dirty="0">
                <a:solidFill>
                  <a:srgbClr val="0071B2"/>
                </a:solidFill>
                <a:latin typeface="Source Sans Pro" panose="020B0503030403020204" pitchFamily="34" charset="0"/>
              </a:rPr>
              <a:t>Anstelle von einem „Etwas“ werden wir zukünftig von einer </a:t>
            </a:r>
            <a:r>
              <a:rPr lang="de-DE" sz="2400" b="1" dirty="0">
                <a:solidFill>
                  <a:srgbClr val="0071B2"/>
                </a:solidFill>
                <a:latin typeface="Source Sans Pro" panose="020B0503030403020204" pitchFamily="34" charset="0"/>
              </a:rPr>
              <a:t>„Entität“ </a:t>
            </a:r>
            <a:r>
              <a:rPr lang="de-DE" sz="2400" dirty="0">
                <a:solidFill>
                  <a:srgbClr val="0071B2"/>
                </a:solidFill>
                <a:latin typeface="Source Sans Pro" panose="020B0503030403020204" pitchFamily="34" charset="0"/>
              </a:rPr>
              <a:t>sprechen.</a:t>
            </a:r>
          </a:p>
          <a:p>
            <a:endParaRPr lang="de-DE" sz="800" dirty="0">
              <a:solidFill>
                <a:srgbClr val="0071B2"/>
              </a:solidFill>
              <a:latin typeface="Source Sans Pro" panose="020B0503030403020204" pitchFamily="34" charset="0"/>
            </a:endParaRPr>
          </a:p>
          <a:p>
            <a:pPr marL="342900" indent="-342900">
              <a:buFont typeface="Arial" panose="020B0604020202020204" pitchFamily="34" charset="0"/>
              <a:buChar char="•"/>
            </a:pPr>
            <a:r>
              <a:rPr lang="de-DE" sz="2400" dirty="0">
                <a:solidFill>
                  <a:srgbClr val="0071B2"/>
                </a:solidFill>
                <a:latin typeface="Source Sans Pro" panose="020B0503030403020204" pitchFamily="34" charset="0"/>
              </a:rPr>
              <a:t>Eine Datenbank wird üblicherweise Daten zu mehreren Entitäten beinhalten. </a:t>
            </a:r>
          </a:p>
          <a:p>
            <a:pPr marL="342900" indent="-342900">
              <a:buFont typeface="Arial" panose="020B0604020202020204" pitchFamily="34" charset="0"/>
              <a:buChar char="•"/>
            </a:pPr>
            <a:endParaRPr lang="de-DE" sz="800" b="1" dirty="0">
              <a:solidFill>
                <a:srgbClr val="0071B2"/>
              </a:solidFill>
              <a:latin typeface="Source Sans Pro" panose="020B0503030403020204" pitchFamily="34" charset="0"/>
            </a:endParaRPr>
          </a:p>
          <a:p>
            <a:r>
              <a:rPr lang="de-DE" sz="2400" b="1" dirty="0">
                <a:solidFill>
                  <a:srgbClr val="0071B2"/>
                </a:solidFill>
                <a:latin typeface="Source Sans Pro" panose="020B0503030403020204" pitchFamily="34" charset="0"/>
              </a:rPr>
              <a:t>     </a:t>
            </a:r>
            <a:r>
              <a:rPr lang="de-DE" sz="1600" b="1" dirty="0">
                <a:solidFill>
                  <a:srgbClr val="0071B2"/>
                </a:solidFill>
                <a:latin typeface="Source Sans Pro" panose="020B0503030403020204" pitchFamily="34" charset="0"/>
              </a:rPr>
              <a:t>Betrachten wir z.B. eine Datenbank, in der wir Informationen zu mehreren Personen und mehreren Autos vorfinden: </a:t>
            </a:r>
          </a:p>
          <a:p>
            <a:pPr marL="800100" lvl="1" indent="-342900">
              <a:buFont typeface="Courier New" panose="02070309020205020404" pitchFamily="49" charset="0"/>
              <a:buChar char="o"/>
            </a:pPr>
            <a:r>
              <a:rPr lang="de-DE" dirty="0">
                <a:solidFill>
                  <a:srgbClr val="0071B2"/>
                </a:solidFill>
                <a:latin typeface="Source Sans Pro" panose="020B0503030403020204" pitchFamily="34" charset="0"/>
              </a:rPr>
              <a:t>Jede einzelne, konkrete Person (und jedes einzelne Auto) stellt eine eigenständige Entität dar.</a:t>
            </a:r>
          </a:p>
          <a:p>
            <a:pPr marL="800100" lvl="1" indent="-342900">
              <a:buFont typeface="Courier New" panose="02070309020205020404" pitchFamily="49" charset="0"/>
              <a:buChar char="o"/>
            </a:pPr>
            <a:r>
              <a:rPr lang="de-DE" dirty="0">
                <a:solidFill>
                  <a:srgbClr val="0071B2"/>
                </a:solidFill>
                <a:latin typeface="Source Sans Pro" panose="020B0503030403020204" pitchFamily="34" charset="0"/>
              </a:rPr>
              <a:t>Aber allen Personen ist gemeinsam, dass sie zum selben </a:t>
            </a:r>
            <a:r>
              <a:rPr lang="de-DE" b="1" dirty="0">
                <a:solidFill>
                  <a:srgbClr val="0071B2"/>
                </a:solidFill>
                <a:latin typeface="Source Sans Pro" panose="020B0503030403020204" pitchFamily="34" charset="0"/>
              </a:rPr>
              <a:t>Entitätstyp</a:t>
            </a:r>
            <a:r>
              <a:rPr lang="de-DE" dirty="0">
                <a:solidFill>
                  <a:srgbClr val="0071B2"/>
                </a:solidFill>
                <a:latin typeface="Source Sans Pro" panose="020B0503030403020204" pitchFamily="34" charset="0"/>
              </a:rPr>
              <a:t> „Person“ gezählt werden können. </a:t>
            </a:r>
          </a:p>
          <a:p>
            <a:pPr lvl="1"/>
            <a:r>
              <a:rPr lang="de-DE" sz="1200" dirty="0">
                <a:solidFill>
                  <a:srgbClr val="0071B2"/>
                </a:solidFill>
                <a:latin typeface="Source Sans Pro" panose="020B0503030403020204" pitchFamily="34" charset="0"/>
              </a:rPr>
              <a:t>	</a:t>
            </a:r>
            <a:r>
              <a:rPr lang="de-DE" sz="1600" dirty="0">
                <a:solidFill>
                  <a:srgbClr val="0071B2"/>
                </a:solidFill>
                <a:latin typeface="Source Sans Pro" panose="020B0503030403020204" pitchFamily="34" charset="0"/>
              </a:rPr>
              <a:t>(so wie allen Autos gemeinsam ist, dass diese unter dem </a:t>
            </a:r>
            <a:r>
              <a:rPr lang="de-DE" sz="1600" b="1" dirty="0">
                <a:solidFill>
                  <a:srgbClr val="0071B2"/>
                </a:solidFill>
                <a:latin typeface="Source Sans Pro" panose="020B0503030403020204" pitchFamily="34" charset="0"/>
              </a:rPr>
              <a:t>Entitätstyp</a:t>
            </a:r>
            <a:r>
              <a:rPr lang="de-DE" sz="1600" dirty="0">
                <a:solidFill>
                  <a:srgbClr val="0071B2"/>
                </a:solidFill>
                <a:latin typeface="Source Sans Pro" panose="020B0503030403020204" pitchFamily="34" charset="0"/>
              </a:rPr>
              <a:t> „Auto“ zusammengefasst werden können)</a:t>
            </a:r>
          </a:p>
          <a:p>
            <a:pPr lvl="1"/>
            <a:endParaRPr lang="de-DE" dirty="0"/>
          </a:p>
        </p:txBody>
      </p:sp>
    </p:spTree>
    <p:extLst>
      <p:ext uri="{BB962C8B-B14F-4D97-AF65-F5344CB8AC3E}">
        <p14:creationId xmlns:p14="http://schemas.microsoft.com/office/powerpoint/2010/main" val="3479646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lstStyle/>
          <a:p>
            <a:r>
              <a:rPr lang="de-DE" dirty="0">
                <a:latin typeface="Source Sans Pro" panose="020B0503030403020204" pitchFamily="34" charset="0"/>
              </a:rPr>
              <a:t>Attribut</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640080" y="1374207"/>
            <a:ext cx="11284442" cy="3077766"/>
          </a:xfrm>
          <a:prstGeom prst="rect">
            <a:avLst/>
          </a:prstGeom>
          <a:noFill/>
        </p:spPr>
        <p:txBody>
          <a:bodyPr wrap="square" rtlCol="0">
            <a:spAutoFit/>
          </a:bodyPr>
          <a:lstStyle/>
          <a:p>
            <a:pPr marL="342900" indent="-342900">
              <a:buFont typeface="Arial" panose="020B0604020202020204" pitchFamily="34" charset="0"/>
              <a:buChar char="•"/>
            </a:pPr>
            <a:r>
              <a:rPr lang="de-DE" sz="2400" dirty="0">
                <a:latin typeface="Source Sans Pro" panose="020B0503030403020204" pitchFamily="34" charset="0"/>
              </a:rPr>
              <a:t>Daten einer Datenbank beschreiben also </a:t>
            </a:r>
            <a:r>
              <a:rPr lang="de-DE" sz="2400" b="1" dirty="0">
                <a:latin typeface="Source Sans Pro" panose="020B0503030403020204" pitchFamily="34" charset="0"/>
              </a:rPr>
              <a:t>Eigenschaften</a:t>
            </a:r>
            <a:r>
              <a:rPr lang="de-DE" sz="2400" dirty="0">
                <a:latin typeface="Source Sans Pro" panose="020B0503030403020204" pitchFamily="34" charset="0"/>
              </a:rPr>
              <a:t>  von Entitäten.</a:t>
            </a:r>
          </a:p>
          <a:p>
            <a:endParaRPr lang="de-DE" sz="800" dirty="0">
              <a:latin typeface="Source Sans Pro" panose="020B0503030403020204" pitchFamily="34" charset="0"/>
            </a:endParaRPr>
          </a:p>
          <a:p>
            <a:pPr marL="342900" indent="-342900">
              <a:buFont typeface="Arial" panose="020B0604020202020204" pitchFamily="34" charset="0"/>
              <a:buChar char="•"/>
            </a:pPr>
            <a:r>
              <a:rPr lang="de-DE" sz="2400" dirty="0">
                <a:latin typeface="Source Sans Pro" panose="020B0503030403020204" pitchFamily="34" charset="0"/>
              </a:rPr>
              <a:t>Anstelle von „Eigenschaften“ werden wir zukünftig von „</a:t>
            </a:r>
            <a:r>
              <a:rPr lang="de-DE" sz="2400" b="1" dirty="0">
                <a:latin typeface="Source Sans Pro" panose="020B0503030403020204" pitchFamily="34" charset="0"/>
              </a:rPr>
              <a:t>Attributen</a:t>
            </a:r>
            <a:r>
              <a:rPr lang="de-DE" sz="2400" dirty="0">
                <a:latin typeface="Source Sans Pro" panose="020B0503030403020204" pitchFamily="34" charset="0"/>
              </a:rPr>
              <a:t>“ sprechen.</a:t>
            </a:r>
          </a:p>
          <a:p>
            <a:endParaRPr lang="de-DE" sz="800" dirty="0">
              <a:latin typeface="Source Sans Pro" panose="020B0503030403020204" pitchFamily="34" charset="0"/>
            </a:endParaRPr>
          </a:p>
          <a:p>
            <a:pPr marL="342900" indent="-342900">
              <a:buFont typeface="Arial" panose="020B0604020202020204" pitchFamily="34" charset="0"/>
              <a:buChar char="•"/>
            </a:pPr>
            <a:r>
              <a:rPr lang="de-DE" sz="2400" dirty="0">
                <a:solidFill>
                  <a:srgbClr val="0071B2"/>
                </a:solidFill>
                <a:latin typeface="Source Sans Pro" panose="020B0503030403020204" pitchFamily="34" charset="0"/>
              </a:rPr>
              <a:t>Mehrere Entitäten, die zum </a:t>
            </a:r>
            <a:r>
              <a:rPr lang="de-DE" sz="2400" u="sng" dirty="0">
                <a:solidFill>
                  <a:srgbClr val="0071B2"/>
                </a:solidFill>
                <a:latin typeface="Source Sans Pro" panose="020B0503030403020204" pitchFamily="34" charset="0"/>
              </a:rPr>
              <a:t>selben</a:t>
            </a:r>
            <a:r>
              <a:rPr lang="de-DE" sz="2400" dirty="0">
                <a:solidFill>
                  <a:srgbClr val="0071B2"/>
                </a:solidFill>
                <a:latin typeface="Source Sans Pro" panose="020B0503030403020204" pitchFamily="34" charset="0"/>
              </a:rPr>
              <a:t> Entitätstypen gehören, werden auch durch die selben Attribute beschrieben. Daher können wir diese Attribute dem gemeinsamen Entitätstypen zuordnen </a:t>
            </a:r>
            <a:r>
              <a:rPr lang="de-DE" dirty="0">
                <a:solidFill>
                  <a:srgbClr val="0071B2"/>
                </a:solidFill>
                <a:latin typeface="Source Sans Pro" panose="020B0503030403020204" pitchFamily="34" charset="0"/>
              </a:rPr>
              <a:t>(und müssen das nicht für jede Entität wiederholen), …</a:t>
            </a:r>
            <a:endParaRPr lang="de-DE" sz="2400" b="1" dirty="0">
              <a:solidFill>
                <a:srgbClr val="0071B2"/>
              </a:solidFill>
              <a:latin typeface="Source Sans Pro" panose="020B0503030403020204" pitchFamily="34" charset="0"/>
            </a:endParaRPr>
          </a:p>
          <a:p>
            <a:endParaRPr lang="de-DE" sz="2400" dirty="0">
              <a:solidFill>
                <a:srgbClr val="0071B2"/>
              </a:solidFill>
            </a:endParaRPr>
          </a:p>
          <a:p>
            <a:pPr marL="342900" indent="-342900">
              <a:buFont typeface="Arial" panose="020B0604020202020204" pitchFamily="34" charset="0"/>
              <a:buChar char="•"/>
            </a:pPr>
            <a:endParaRPr lang="de-DE" sz="1600" dirty="0">
              <a:solidFill>
                <a:srgbClr val="0071B2"/>
              </a:solidFill>
            </a:endParaRPr>
          </a:p>
          <a:p>
            <a:pPr lvl="1"/>
            <a:endParaRPr lang="de-DE" dirty="0"/>
          </a:p>
        </p:txBody>
      </p:sp>
      <p:sp>
        <p:nvSpPr>
          <p:cNvPr id="2" name="Textfeld 1"/>
          <p:cNvSpPr txBox="1"/>
          <p:nvPr/>
        </p:nvSpPr>
        <p:spPr>
          <a:xfrm>
            <a:off x="2010884" y="3508898"/>
            <a:ext cx="8388338" cy="2585323"/>
          </a:xfrm>
          <a:prstGeom prst="rect">
            <a:avLst/>
          </a:prstGeom>
          <a:noFill/>
        </p:spPr>
        <p:txBody>
          <a:bodyPr wrap="square" rtlCol="0">
            <a:spAutoFit/>
          </a:bodyPr>
          <a:lstStyle/>
          <a:p>
            <a:endParaRPr lang="de-DE" dirty="0">
              <a:solidFill>
                <a:srgbClr val="0071B2"/>
              </a:solidFill>
              <a:latin typeface="Source Sans Pro" panose="020B0503030403020204" pitchFamily="34" charset="0"/>
            </a:endParaRPr>
          </a:p>
          <a:p>
            <a:r>
              <a:rPr lang="de-DE" b="1" i="1" dirty="0">
                <a:solidFill>
                  <a:srgbClr val="0071B2"/>
                </a:solidFill>
                <a:latin typeface="Source Sans Pro" panose="020B0503030403020204" pitchFamily="34" charset="0"/>
              </a:rPr>
              <a:t>Beispiel</a:t>
            </a:r>
            <a:r>
              <a:rPr lang="de-DE" i="1" dirty="0">
                <a:solidFill>
                  <a:srgbClr val="0071B2"/>
                </a:solidFill>
                <a:latin typeface="Source Sans Pro" panose="020B0503030403020204" pitchFamily="34" charset="0"/>
              </a:rPr>
              <a:t>:</a:t>
            </a:r>
            <a:endParaRPr lang="de-DE" sz="2400" i="1" dirty="0">
              <a:solidFill>
                <a:srgbClr val="0071B2"/>
              </a:solidFill>
              <a:latin typeface="Source Sans Pro" panose="020B0503030403020204" pitchFamily="34" charset="0"/>
            </a:endParaRPr>
          </a:p>
          <a:p>
            <a:pPr algn="just"/>
            <a:r>
              <a:rPr lang="de-DE" i="1" dirty="0">
                <a:solidFill>
                  <a:srgbClr val="0071B2"/>
                </a:solidFill>
                <a:latin typeface="Source Sans Pro" panose="020B0503030403020204" pitchFamily="34" charset="0"/>
              </a:rPr>
              <a:t>Wir könnten in einer Datenbank (z.B.) für jede konkrete Personen-Entität mitteilen, dass wir uns jedes mal für die Attribute „Vorname“ und „Geburtsdatum“ interessieren.</a:t>
            </a:r>
          </a:p>
          <a:p>
            <a:pPr algn="just"/>
            <a:endParaRPr lang="de-DE" i="1" dirty="0">
              <a:solidFill>
                <a:srgbClr val="0071B2"/>
              </a:solidFill>
              <a:latin typeface="Source Sans Pro" panose="020B0503030403020204" pitchFamily="34" charset="0"/>
            </a:endParaRPr>
          </a:p>
          <a:p>
            <a:pPr algn="just"/>
            <a:r>
              <a:rPr lang="de-DE" i="1" dirty="0">
                <a:solidFill>
                  <a:srgbClr val="0071B2"/>
                </a:solidFill>
                <a:latin typeface="Source Sans Pro" panose="020B0503030403020204" pitchFamily="34" charset="0"/>
              </a:rPr>
              <a:t>Weil dies aber umständlich wäre, werden wir darauf verzichten und </a:t>
            </a:r>
            <a:r>
              <a:rPr lang="de-DE" i="1" u="sng" dirty="0">
                <a:solidFill>
                  <a:srgbClr val="0071B2"/>
                </a:solidFill>
                <a:latin typeface="Source Sans Pro" panose="020B0503030403020204" pitchFamily="34" charset="0"/>
              </a:rPr>
              <a:t>einmalig</a:t>
            </a:r>
            <a:r>
              <a:rPr lang="de-DE" i="1" dirty="0">
                <a:solidFill>
                  <a:srgbClr val="0071B2"/>
                </a:solidFill>
                <a:latin typeface="Source Sans Pro" panose="020B0503030403020204" pitchFamily="34" charset="0"/>
              </a:rPr>
              <a:t> mitteilen, dass sich diese Attribute auf den </a:t>
            </a:r>
            <a:r>
              <a:rPr lang="de-DE" b="1" i="1" dirty="0">
                <a:solidFill>
                  <a:srgbClr val="0071B2"/>
                </a:solidFill>
                <a:latin typeface="Source Sans Pro" panose="020B0503030403020204" pitchFamily="34" charset="0"/>
              </a:rPr>
              <a:t>Entitätstyp</a:t>
            </a:r>
            <a:r>
              <a:rPr lang="de-DE" i="1" dirty="0">
                <a:solidFill>
                  <a:srgbClr val="0071B2"/>
                </a:solidFill>
                <a:latin typeface="Source Sans Pro" panose="020B0503030403020204" pitchFamily="34" charset="0"/>
              </a:rPr>
              <a:t> „Person“ beziehen (und damit dann eben auch auf jede konkrete Entität vom Typ Person).</a:t>
            </a:r>
          </a:p>
          <a:p>
            <a:endParaRPr lang="de-DE" dirty="0"/>
          </a:p>
        </p:txBody>
      </p:sp>
    </p:spTree>
    <p:extLst>
      <p:ext uri="{BB962C8B-B14F-4D97-AF65-F5344CB8AC3E}">
        <p14:creationId xmlns:p14="http://schemas.microsoft.com/office/powerpoint/2010/main" val="2856817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lstStyle/>
          <a:p>
            <a:r>
              <a:rPr lang="de-DE" dirty="0">
                <a:latin typeface="Source Sans Pro" panose="020B0503030403020204" pitchFamily="34" charset="0"/>
              </a:rPr>
              <a:t>Datensatz</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640081" y="1374207"/>
            <a:ext cx="10424160" cy="5293757"/>
          </a:xfrm>
          <a:prstGeom prst="rect">
            <a:avLst/>
          </a:prstGeom>
          <a:noFill/>
        </p:spPr>
        <p:txBody>
          <a:bodyPr wrap="square" rtlCol="0">
            <a:spAutoFit/>
          </a:bodyPr>
          <a:lstStyle/>
          <a:p>
            <a:pPr marL="342900" indent="-342900">
              <a:buFont typeface="Arial" panose="020B0604020202020204" pitchFamily="34" charset="0"/>
              <a:buChar char="•"/>
            </a:pPr>
            <a:r>
              <a:rPr lang="de-DE" sz="2400" dirty="0">
                <a:latin typeface="Source Sans Pro" panose="020B0503030403020204" pitchFamily="34" charset="0"/>
              </a:rPr>
              <a:t>Einem Entitätstypen werden üblicherweise mehrere Attribute zugeordnet.</a:t>
            </a:r>
          </a:p>
          <a:p>
            <a:endParaRPr lang="de-DE" sz="800" dirty="0">
              <a:latin typeface="Source Sans Pro" panose="020B0503030403020204" pitchFamily="34" charset="0"/>
            </a:endParaRPr>
          </a:p>
          <a:p>
            <a:pPr marL="342900" indent="-342900">
              <a:buFont typeface="Arial" panose="020B0604020202020204" pitchFamily="34" charset="0"/>
              <a:buChar char="•"/>
            </a:pPr>
            <a:r>
              <a:rPr lang="de-DE" sz="2400" dirty="0">
                <a:latin typeface="Source Sans Pro" panose="020B0503030403020204" pitchFamily="34" charset="0"/>
              </a:rPr>
              <a:t>Dies bedeutet dann aber, dass für die Beschreibung einer konkreten Entität </a:t>
            </a:r>
            <a:r>
              <a:rPr lang="de-DE" dirty="0">
                <a:latin typeface="Source Sans Pro" panose="020B0503030403020204" pitchFamily="34" charset="0"/>
              </a:rPr>
              <a:t>(dieses Entitätstyps) </a:t>
            </a:r>
            <a:r>
              <a:rPr lang="de-DE" sz="2400" dirty="0">
                <a:latin typeface="Source Sans Pro" panose="020B0503030403020204" pitchFamily="34" charset="0"/>
              </a:rPr>
              <a:t>entsprechend auch mehrere Daten benötigt werden, …</a:t>
            </a:r>
          </a:p>
          <a:p>
            <a:endParaRPr lang="de-DE" sz="2400" dirty="0">
              <a:latin typeface="Source Sans Pro" panose="020B0503030403020204" pitchFamily="34" charset="0"/>
            </a:endParaRPr>
          </a:p>
          <a:p>
            <a:endParaRPr lang="de-DE" sz="2400" dirty="0">
              <a:latin typeface="Source Sans Pro" panose="020B0503030403020204" pitchFamily="34" charset="0"/>
            </a:endParaRPr>
          </a:p>
          <a:p>
            <a:endParaRPr lang="de-DE" sz="2400" dirty="0">
              <a:latin typeface="Source Sans Pro" panose="020B0503030403020204" pitchFamily="34" charset="0"/>
            </a:endParaRPr>
          </a:p>
          <a:p>
            <a:endParaRPr lang="de-DE" sz="800" dirty="0">
              <a:latin typeface="Source Sans Pro" panose="020B0503030403020204" pitchFamily="34" charset="0"/>
            </a:endParaRPr>
          </a:p>
          <a:p>
            <a:pPr marL="342900" indent="-342900">
              <a:buFont typeface="Arial" panose="020B0604020202020204" pitchFamily="34" charset="0"/>
              <a:buChar char="•"/>
            </a:pPr>
            <a:endParaRPr lang="de-DE" sz="2400" dirty="0">
              <a:solidFill>
                <a:srgbClr val="0071B2"/>
              </a:solidFill>
              <a:latin typeface="Source Sans Pro" panose="020B0503030403020204" pitchFamily="34" charset="0"/>
            </a:endParaRPr>
          </a:p>
          <a:p>
            <a:pPr marL="342900" indent="-342900">
              <a:buFont typeface="Arial" panose="020B0604020202020204" pitchFamily="34" charset="0"/>
              <a:buChar char="•"/>
            </a:pPr>
            <a:endParaRPr lang="de-DE" sz="2400" dirty="0">
              <a:solidFill>
                <a:srgbClr val="0071B2"/>
              </a:solidFill>
              <a:latin typeface="Source Sans Pro" panose="020B0503030403020204" pitchFamily="34" charset="0"/>
            </a:endParaRPr>
          </a:p>
          <a:p>
            <a:pPr marL="342900" indent="-342900">
              <a:buFont typeface="Arial" panose="020B0604020202020204" pitchFamily="34" charset="0"/>
              <a:buChar char="•"/>
            </a:pPr>
            <a:endParaRPr lang="de-DE" sz="2400" dirty="0">
              <a:solidFill>
                <a:srgbClr val="0071B2"/>
              </a:solidFill>
              <a:latin typeface="Source Sans Pro" panose="020B0503030403020204" pitchFamily="34" charset="0"/>
            </a:endParaRPr>
          </a:p>
          <a:p>
            <a:pPr marL="342900" indent="-342900">
              <a:buFont typeface="Arial" panose="020B0604020202020204" pitchFamily="34" charset="0"/>
              <a:buChar char="•"/>
            </a:pPr>
            <a:endParaRPr lang="de-DE" sz="2400" dirty="0">
              <a:solidFill>
                <a:srgbClr val="0071B2"/>
              </a:solidFill>
              <a:latin typeface="Source Sans Pro" panose="020B0503030403020204" pitchFamily="34" charset="0"/>
            </a:endParaRPr>
          </a:p>
          <a:p>
            <a:pPr marL="342900" indent="-342900">
              <a:buFont typeface="Arial" panose="020B0604020202020204" pitchFamily="34" charset="0"/>
              <a:buChar char="•"/>
            </a:pPr>
            <a:r>
              <a:rPr lang="de-DE" sz="2400" dirty="0">
                <a:solidFill>
                  <a:srgbClr val="0071B2"/>
                </a:solidFill>
                <a:latin typeface="Source Sans Pro" panose="020B0503030403020204" pitchFamily="34" charset="0"/>
              </a:rPr>
              <a:t>Eine solche Gruppe wird in der Fachsprache als  </a:t>
            </a:r>
            <a:r>
              <a:rPr lang="de-DE" sz="2400" b="1" dirty="0">
                <a:solidFill>
                  <a:srgbClr val="0071B2"/>
                </a:solidFill>
                <a:latin typeface="Source Sans Pro" panose="020B0503030403020204" pitchFamily="34" charset="0"/>
              </a:rPr>
              <a:t>„Datensatz“</a:t>
            </a:r>
            <a:r>
              <a:rPr lang="de-DE" sz="2400" dirty="0">
                <a:solidFill>
                  <a:srgbClr val="0071B2"/>
                </a:solidFill>
                <a:latin typeface="Source Sans Pro" panose="020B0503030403020204" pitchFamily="34" charset="0"/>
              </a:rPr>
              <a:t> bezeichnet.</a:t>
            </a:r>
            <a:endParaRPr lang="de-DE" sz="2400" b="1" dirty="0">
              <a:solidFill>
                <a:srgbClr val="0071B2"/>
              </a:solidFill>
              <a:latin typeface="Source Sans Pro" panose="020B0503030403020204" pitchFamily="34" charset="0"/>
            </a:endParaRPr>
          </a:p>
          <a:p>
            <a:endParaRPr lang="de-DE" sz="2400" dirty="0">
              <a:solidFill>
                <a:srgbClr val="0071B2"/>
              </a:solidFill>
            </a:endParaRPr>
          </a:p>
          <a:p>
            <a:pPr marL="342900" indent="-342900">
              <a:buFont typeface="Arial" panose="020B0604020202020204" pitchFamily="34" charset="0"/>
              <a:buChar char="•"/>
            </a:pPr>
            <a:endParaRPr lang="de-DE" sz="1600" dirty="0">
              <a:solidFill>
                <a:srgbClr val="0071B2"/>
              </a:solidFill>
            </a:endParaRPr>
          </a:p>
          <a:p>
            <a:pPr lvl="1"/>
            <a:endParaRPr lang="de-DE" dirty="0"/>
          </a:p>
        </p:txBody>
      </p:sp>
      <p:sp>
        <p:nvSpPr>
          <p:cNvPr id="2" name="Textfeld 1"/>
          <p:cNvSpPr txBox="1"/>
          <p:nvPr/>
        </p:nvSpPr>
        <p:spPr>
          <a:xfrm>
            <a:off x="2166650" y="2609365"/>
            <a:ext cx="7524103" cy="2585323"/>
          </a:xfrm>
          <a:prstGeom prst="rect">
            <a:avLst/>
          </a:prstGeom>
          <a:noFill/>
        </p:spPr>
        <p:txBody>
          <a:bodyPr wrap="square" rtlCol="0">
            <a:spAutoFit/>
          </a:bodyPr>
          <a:lstStyle/>
          <a:p>
            <a:endParaRPr lang="de-DE" dirty="0">
              <a:solidFill>
                <a:srgbClr val="0071B2"/>
              </a:solidFill>
            </a:endParaRPr>
          </a:p>
          <a:p>
            <a:r>
              <a:rPr lang="de-DE" b="1" i="1" dirty="0">
                <a:solidFill>
                  <a:srgbClr val="0071B2"/>
                </a:solidFill>
                <a:latin typeface="Source Sans Pro" panose="020B0503030403020204" pitchFamily="34" charset="0"/>
              </a:rPr>
              <a:t>Beispiel</a:t>
            </a:r>
            <a:r>
              <a:rPr lang="de-DE" i="1" dirty="0">
                <a:solidFill>
                  <a:srgbClr val="0071B2"/>
                </a:solidFill>
                <a:latin typeface="Source Sans Pro" panose="020B0503030403020204" pitchFamily="34" charset="0"/>
              </a:rPr>
              <a:t>:</a:t>
            </a:r>
            <a:endParaRPr lang="de-DE" sz="2400" i="1" dirty="0">
              <a:solidFill>
                <a:srgbClr val="0071B2"/>
              </a:solidFill>
              <a:latin typeface="Source Sans Pro" panose="020B0503030403020204" pitchFamily="34" charset="0"/>
            </a:endParaRPr>
          </a:p>
          <a:p>
            <a:pPr algn="just"/>
            <a:r>
              <a:rPr lang="de-DE" i="1" dirty="0">
                <a:solidFill>
                  <a:srgbClr val="0071B2"/>
                </a:solidFill>
                <a:latin typeface="Source Sans Pro" panose="020B0503030403020204" pitchFamily="34" charset="0"/>
              </a:rPr>
              <a:t>Angenommen in einer Datenbank wurde zunächst der Entitätstyp </a:t>
            </a:r>
            <a:r>
              <a:rPr lang="de-DE" b="1" i="1" dirty="0">
                <a:solidFill>
                  <a:srgbClr val="0071B2"/>
                </a:solidFill>
                <a:latin typeface="Source Sans Pro" panose="020B0503030403020204" pitchFamily="34" charset="0"/>
              </a:rPr>
              <a:t>Auto</a:t>
            </a:r>
            <a:r>
              <a:rPr lang="de-DE" i="1" dirty="0">
                <a:solidFill>
                  <a:srgbClr val="0071B2"/>
                </a:solidFill>
                <a:latin typeface="Source Sans Pro" panose="020B0503030403020204" pitchFamily="34" charset="0"/>
              </a:rPr>
              <a:t> </a:t>
            </a:r>
            <a:r>
              <a:rPr lang="de-DE" sz="1400" i="1" dirty="0">
                <a:solidFill>
                  <a:srgbClr val="0071B2"/>
                </a:solidFill>
                <a:latin typeface="Source Sans Pro" panose="020B0503030403020204" pitchFamily="34" charset="0"/>
              </a:rPr>
              <a:t>(zusammen mit seinen Attributen </a:t>
            </a:r>
            <a:r>
              <a:rPr lang="de-DE" sz="1400" b="1" i="1" dirty="0">
                <a:solidFill>
                  <a:srgbClr val="0071B2"/>
                </a:solidFill>
                <a:latin typeface="Source Sans Pro" panose="020B0503030403020204" pitchFamily="34" charset="0"/>
              </a:rPr>
              <a:t>Auto_ID</a:t>
            </a:r>
            <a:r>
              <a:rPr lang="de-DE" sz="1400" i="1" dirty="0">
                <a:solidFill>
                  <a:srgbClr val="0071B2"/>
                </a:solidFill>
                <a:latin typeface="Source Sans Pro" panose="020B0503030403020204" pitchFamily="34" charset="0"/>
              </a:rPr>
              <a:t>, </a:t>
            </a:r>
            <a:r>
              <a:rPr lang="de-DE" sz="1400" b="1" i="1" dirty="0">
                <a:solidFill>
                  <a:srgbClr val="0071B2"/>
                </a:solidFill>
                <a:latin typeface="Source Sans Pro" panose="020B0503030403020204" pitchFamily="34" charset="0"/>
              </a:rPr>
              <a:t>Marke</a:t>
            </a:r>
            <a:r>
              <a:rPr lang="de-DE" sz="1400" i="1" dirty="0">
                <a:solidFill>
                  <a:srgbClr val="0071B2"/>
                </a:solidFill>
                <a:latin typeface="Source Sans Pro" panose="020B0503030403020204" pitchFamily="34" charset="0"/>
              </a:rPr>
              <a:t>, und </a:t>
            </a:r>
            <a:r>
              <a:rPr lang="de-DE" sz="1400" b="1" i="1" dirty="0">
                <a:solidFill>
                  <a:srgbClr val="0071B2"/>
                </a:solidFill>
                <a:latin typeface="Source Sans Pro" panose="020B0503030403020204" pitchFamily="34" charset="0"/>
              </a:rPr>
              <a:t>Baujahr</a:t>
            </a:r>
            <a:r>
              <a:rPr lang="de-DE" sz="1400" i="1" dirty="0">
                <a:solidFill>
                  <a:srgbClr val="0071B2"/>
                </a:solidFill>
                <a:latin typeface="Source Sans Pro" panose="020B0503030403020204" pitchFamily="34" charset="0"/>
              </a:rPr>
              <a:t>) </a:t>
            </a:r>
            <a:r>
              <a:rPr lang="de-DE" i="1" dirty="0">
                <a:solidFill>
                  <a:srgbClr val="0071B2"/>
                </a:solidFill>
                <a:latin typeface="Source Sans Pro" panose="020B0503030403020204" pitchFamily="34" charset="0"/>
              </a:rPr>
              <a:t>eingeführt, um anschließend die Entität </a:t>
            </a:r>
            <a:r>
              <a:rPr lang="de-DE" b="1" i="1" dirty="0">
                <a:solidFill>
                  <a:srgbClr val="0071B2"/>
                </a:solidFill>
                <a:latin typeface="Source Sans Pro" panose="020B0503030403020204" pitchFamily="34" charset="0"/>
              </a:rPr>
              <a:t>(1, „Audi“, 1998) </a:t>
            </a:r>
            <a:r>
              <a:rPr lang="de-DE" i="1" dirty="0">
                <a:solidFill>
                  <a:srgbClr val="0071B2"/>
                </a:solidFill>
                <a:latin typeface="Source Sans Pro" panose="020B0503030403020204" pitchFamily="34" charset="0"/>
              </a:rPr>
              <a:t>abspeichern zu können, dann gilt: </a:t>
            </a:r>
          </a:p>
          <a:p>
            <a:pPr algn="just"/>
            <a:endParaRPr lang="de-DE" i="1" dirty="0">
              <a:solidFill>
                <a:srgbClr val="0071B2"/>
              </a:solidFill>
              <a:latin typeface="Source Sans Pro" panose="020B0503030403020204" pitchFamily="34" charset="0"/>
            </a:endParaRPr>
          </a:p>
          <a:p>
            <a:pPr algn="just"/>
            <a:r>
              <a:rPr lang="de-DE" i="1" dirty="0">
                <a:solidFill>
                  <a:srgbClr val="0071B2"/>
                </a:solidFill>
                <a:latin typeface="Source Sans Pro" panose="020B0503030403020204" pitchFamily="34" charset="0"/>
              </a:rPr>
              <a:t>Diese drei Daten bilden zusammen eine „Gruppe von Daten“ und gehören in sofern zusammen, als dass alle drei Daten die </a:t>
            </a:r>
            <a:r>
              <a:rPr lang="de-DE" i="1" u="sng" dirty="0">
                <a:solidFill>
                  <a:srgbClr val="0071B2"/>
                </a:solidFill>
                <a:latin typeface="Source Sans Pro" panose="020B0503030403020204" pitchFamily="34" charset="0"/>
              </a:rPr>
              <a:t>selbe</a:t>
            </a:r>
            <a:r>
              <a:rPr lang="de-DE" i="1" dirty="0">
                <a:solidFill>
                  <a:srgbClr val="0071B2"/>
                </a:solidFill>
                <a:latin typeface="Source Sans Pro" panose="020B0503030403020204" pitchFamily="34" charset="0"/>
              </a:rPr>
              <a:t> Entität beschreiben.</a:t>
            </a:r>
          </a:p>
          <a:p>
            <a:endParaRPr lang="de-DE" dirty="0"/>
          </a:p>
        </p:txBody>
      </p:sp>
    </p:spTree>
    <p:extLst>
      <p:ext uri="{BB962C8B-B14F-4D97-AF65-F5344CB8AC3E}">
        <p14:creationId xmlns:p14="http://schemas.microsoft.com/office/powerpoint/2010/main" val="640778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lstStyle/>
          <a:p>
            <a:r>
              <a:rPr lang="de-DE" dirty="0">
                <a:latin typeface="Source Sans Pro" panose="020B0503030403020204" pitchFamily="34" charset="0"/>
              </a:rPr>
              <a:t>Beziehung (Relation)</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640080" y="1374207"/>
            <a:ext cx="11039302" cy="4431983"/>
          </a:xfrm>
          <a:prstGeom prst="rect">
            <a:avLst/>
          </a:prstGeom>
          <a:noFill/>
        </p:spPr>
        <p:txBody>
          <a:bodyPr wrap="square" rtlCol="0">
            <a:spAutoFit/>
          </a:bodyPr>
          <a:lstStyle/>
          <a:p>
            <a:pPr marL="342900" indent="-342900">
              <a:buFont typeface="Arial" panose="020B0604020202020204" pitchFamily="34" charset="0"/>
              <a:buChar char="•"/>
            </a:pPr>
            <a:r>
              <a:rPr lang="de-DE" sz="2400" dirty="0">
                <a:latin typeface="Source Sans Pro" panose="020B0503030403020204" pitchFamily="34" charset="0"/>
              </a:rPr>
              <a:t>Verschiedene Entitätstypen </a:t>
            </a:r>
            <a:r>
              <a:rPr lang="de-DE" dirty="0">
                <a:latin typeface="Source Sans Pro" panose="020B0503030403020204" pitchFamily="34" charset="0"/>
              </a:rPr>
              <a:t>(bzw. deren Entitäten) </a:t>
            </a:r>
            <a:r>
              <a:rPr lang="de-DE" sz="2400" dirty="0">
                <a:latin typeface="Source Sans Pro" panose="020B0503030403020204" pitchFamily="34" charset="0"/>
              </a:rPr>
              <a:t>können in einer Beziehung zu anderen Entitätstypen </a:t>
            </a:r>
            <a:r>
              <a:rPr lang="de-DE" dirty="0">
                <a:latin typeface="Source Sans Pro" panose="020B0503030403020204" pitchFamily="34" charset="0"/>
              </a:rPr>
              <a:t>(bzw. deren Entitäten) </a:t>
            </a:r>
            <a:r>
              <a:rPr lang="de-DE" sz="2400" dirty="0">
                <a:latin typeface="Source Sans Pro" panose="020B0503030403020204" pitchFamily="34" charset="0"/>
              </a:rPr>
              <a:t>stehen, …</a:t>
            </a:r>
          </a:p>
          <a:p>
            <a:pPr marL="342900" indent="-342900">
              <a:buFont typeface="Arial" panose="020B0604020202020204" pitchFamily="34" charset="0"/>
              <a:buChar char="•"/>
            </a:pPr>
            <a:endParaRPr lang="de-DE" sz="2400" dirty="0">
              <a:latin typeface="Source Sans Pro" panose="020B0503030403020204" pitchFamily="34" charset="0"/>
            </a:endParaRPr>
          </a:p>
          <a:p>
            <a:pPr marL="342900" indent="-342900">
              <a:buFont typeface="Arial" panose="020B0604020202020204" pitchFamily="34" charset="0"/>
              <a:buChar char="•"/>
            </a:pPr>
            <a:endParaRPr lang="de-DE" sz="2400" dirty="0">
              <a:latin typeface="Source Sans Pro" panose="020B0503030403020204" pitchFamily="34" charset="0"/>
            </a:endParaRPr>
          </a:p>
          <a:p>
            <a:pPr marL="342900" indent="-342900">
              <a:buFont typeface="Arial" panose="020B0604020202020204" pitchFamily="34" charset="0"/>
              <a:buChar char="•"/>
            </a:pPr>
            <a:endParaRPr lang="de-DE" sz="2400" dirty="0">
              <a:latin typeface="Source Sans Pro" panose="020B0503030403020204" pitchFamily="34" charset="0"/>
            </a:endParaRPr>
          </a:p>
          <a:p>
            <a:pPr marL="342900" indent="-342900">
              <a:buFont typeface="Arial" panose="020B0604020202020204" pitchFamily="34" charset="0"/>
              <a:buChar char="•"/>
            </a:pPr>
            <a:endParaRPr lang="de-DE" sz="2400" dirty="0">
              <a:latin typeface="Source Sans Pro" panose="020B0503030403020204" pitchFamily="34" charset="0"/>
            </a:endParaRPr>
          </a:p>
          <a:p>
            <a:pPr marL="342900" indent="-342900">
              <a:buFont typeface="Arial" panose="020B0604020202020204" pitchFamily="34" charset="0"/>
              <a:buChar char="•"/>
            </a:pPr>
            <a:endParaRPr lang="de-DE" sz="2400" dirty="0">
              <a:latin typeface="Source Sans Pro" panose="020B0503030403020204" pitchFamily="34" charset="0"/>
            </a:endParaRPr>
          </a:p>
          <a:p>
            <a:pPr marL="342900" indent="-342900">
              <a:buFont typeface="Arial" panose="020B0604020202020204" pitchFamily="34" charset="0"/>
              <a:buChar char="•"/>
            </a:pPr>
            <a:r>
              <a:rPr lang="de-DE" sz="2400" dirty="0">
                <a:latin typeface="Source Sans Pro" panose="020B0503030403020204" pitchFamily="34" charset="0"/>
              </a:rPr>
              <a:t>Anstelle von „Beziehung“ kann man </a:t>
            </a:r>
            <a:r>
              <a:rPr lang="de-DE" dirty="0">
                <a:latin typeface="Source Sans Pro" panose="020B0503030403020204" pitchFamily="34" charset="0"/>
              </a:rPr>
              <a:t>(in diesem Fall *) </a:t>
            </a:r>
            <a:r>
              <a:rPr lang="de-DE" sz="2400" dirty="0">
                <a:latin typeface="Source Sans Pro" panose="020B0503030403020204" pitchFamily="34" charset="0"/>
              </a:rPr>
              <a:t>auch von „</a:t>
            </a:r>
            <a:r>
              <a:rPr lang="de-DE" sz="2400" b="1" dirty="0">
                <a:latin typeface="Source Sans Pro" panose="020B0503030403020204" pitchFamily="34" charset="0"/>
              </a:rPr>
              <a:t>Relation</a:t>
            </a:r>
            <a:r>
              <a:rPr lang="de-DE" sz="2400" dirty="0">
                <a:latin typeface="Source Sans Pro" panose="020B0503030403020204" pitchFamily="34" charset="0"/>
              </a:rPr>
              <a:t>“ sprechen …</a:t>
            </a:r>
          </a:p>
          <a:p>
            <a:endParaRPr lang="de-DE" sz="800" dirty="0"/>
          </a:p>
          <a:p>
            <a:pPr marL="342900" indent="-342900">
              <a:buFont typeface="Arial" panose="020B0604020202020204" pitchFamily="34" charset="0"/>
              <a:buChar char="•"/>
            </a:pPr>
            <a:endParaRPr lang="de-DE" sz="2400" dirty="0"/>
          </a:p>
          <a:p>
            <a:endParaRPr lang="de-DE" sz="2400" dirty="0">
              <a:solidFill>
                <a:srgbClr val="0071B2"/>
              </a:solidFill>
            </a:endParaRPr>
          </a:p>
          <a:p>
            <a:pPr marL="342900" indent="-342900">
              <a:buFont typeface="Arial" panose="020B0604020202020204" pitchFamily="34" charset="0"/>
              <a:buChar char="•"/>
            </a:pPr>
            <a:endParaRPr lang="de-DE" sz="1600" dirty="0">
              <a:solidFill>
                <a:srgbClr val="0071B2"/>
              </a:solidFill>
            </a:endParaRPr>
          </a:p>
          <a:p>
            <a:pPr lvl="1"/>
            <a:endParaRPr lang="de-DE" dirty="0"/>
          </a:p>
        </p:txBody>
      </p:sp>
      <p:sp>
        <p:nvSpPr>
          <p:cNvPr id="2" name="Textfeld 1"/>
          <p:cNvSpPr txBox="1"/>
          <p:nvPr/>
        </p:nvSpPr>
        <p:spPr>
          <a:xfrm>
            <a:off x="1971685" y="2088580"/>
            <a:ext cx="8095027" cy="2031325"/>
          </a:xfrm>
          <a:prstGeom prst="rect">
            <a:avLst/>
          </a:prstGeom>
          <a:noFill/>
        </p:spPr>
        <p:txBody>
          <a:bodyPr wrap="square" rtlCol="0">
            <a:spAutoFit/>
          </a:bodyPr>
          <a:lstStyle/>
          <a:p>
            <a:endParaRPr lang="de-DE" dirty="0">
              <a:solidFill>
                <a:srgbClr val="0071B2"/>
              </a:solidFill>
            </a:endParaRPr>
          </a:p>
          <a:p>
            <a:r>
              <a:rPr lang="de-DE" b="1" i="1" dirty="0">
                <a:solidFill>
                  <a:srgbClr val="0071B2"/>
                </a:solidFill>
                <a:latin typeface="Source Sans Pro" panose="020B0503030403020204" pitchFamily="34" charset="0"/>
              </a:rPr>
              <a:t>Beispiel</a:t>
            </a:r>
            <a:r>
              <a:rPr lang="de-DE" i="1" dirty="0">
                <a:solidFill>
                  <a:srgbClr val="0071B2"/>
                </a:solidFill>
                <a:latin typeface="Source Sans Pro" panose="020B0503030403020204" pitchFamily="34" charset="0"/>
              </a:rPr>
              <a:t>:</a:t>
            </a:r>
          </a:p>
          <a:p>
            <a:pPr algn="just"/>
            <a:r>
              <a:rPr lang="de-DE" i="1" dirty="0">
                <a:solidFill>
                  <a:srgbClr val="0071B2"/>
                </a:solidFill>
                <a:latin typeface="Source Sans Pro" panose="020B0503030403020204" pitchFamily="34" charset="0"/>
              </a:rPr>
              <a:t>In einer Datenbank wurden die Entitätstypen „Person“ und „Auto“ eingeführt. Wenn man nun (z.B.) von jeder Auto-Entität  wissen möchte, welche Person-Entität der Eigentümer dieses Autos ist, so bedeutet dies, dass man sich für eine </a:t>
            </a:r>
            <a:r>
              <a:rPr lang="de-DE" i="1" u="sng" dirty="0">
                <a:solidFill>
                  <a:srgbClr val="0071B2"/>
                </a:solidFill>
                <a:latin typeface="Source Sans Pro" panose="020B0503030403020204" pitchFamily="34" charset="0"/>
              </a:rPr>
              <a:t>Beziehung</a:t>
            </a:r>
            <a:r>
              <a:rPr lang="de-DE" i="1" dirty="0">
                <a:solidFill>
                  <a:srgbClr val="0071B2"/>
                </a:solidFill>
                <a:latin typeface="Source Sans Pro" panose="020B0503030403020204" pitchFamily="34" charset="0"/>
              </a:rPr>
              <a:t> zwischen den Entitätstypen Auto und Person interessiert.</a:t>
            </a:r>
          </a:p>
          <a:p>
            <a:endParaRPr lang="de-DE" dirty="0"/>
          </a:p>
        </p:txBody>
      </p:sp>
      <p:sp>
        <p:nvSpPr>
          <p:cNvPr id="8" name="Textfeld 7"/>
          <p:cNvSpPr txBox="1"/>
          <p:nvPr/>
        </p:nvSpPr>
        <p:spPr>
          <a:xfrm>
            <a:off x="1971685" y="4177958"/>
            <a:ext cx="8352721" cy="1477328"/>
          </a:xfrm>
          <a:prstGeom prst="rect">
            <a:avLst/>
          </a:prstGeom>
          <a:noFill/>
        </p:spPr>
        <p:txBody>
          <a:bodyPr wrap="square" rtlCol="0">
            <a:spAutoFit/>
          </a:bodyPr>
          <a:lstStyle/>
          <a:p>
            <a:endParaRPr lang="de-DE" dirty="0">
              <a:solidFill>
                <a:srgbClr val="0071B2"/>
              </a:solidFill>
            </a:endParaRPr>
          </a:p>
          <a:p>
            <a:r>
              <a:rPr lang="de-DE" b="1" i="1" dirty="0">
                <a:solidFill>
                  <a:srgbClr val="0071B2"/>
                </a:solidFill>
                <a:latin typeface="Source Sans Pro" panose="020B0503030403020204" pitchFamily="34" charset="0"/>
              </a:rPr>
              <a:t>Hinweis (*)</a:t>
            </a:r>
            <a:r>
              <a:rPr lang="de-DE" i="1" dirty="0">
                <a:solidFill>
                  <a:srgbClr val="0071B2"/>
                </a:solidFill>
                <a:latin typeface="Source Sans Pro" panose="020B0503030403020204" pitchFamily="34" charset="0"/>
              </a:rPr>
              <a:t>:</a:t>
            </a:r>
          </a:p>
          <a:p>
            <a:pPr algn="just"/>
            <a:r>
              <a:rPr lang="de-DE" i="1" dirty="0">
                <a:solidFill>
                  <a:srgbClr val="0071B2"/>
                </a:solidFill>
                <a:latin typeface="Source Sans Pro" panose="020B0503030403020204" pitchFamily="34" charset="0"/>
              </a:rPr>
              <a:t>Leider gilt dies nicht durchgehend. Tatsächlich werden wir in einigen Tagen einen Themenbereich kennenlernen, in dem der Begriff „Relation“ anders gebraucht wird.</a:t>
            </a:r>
          </a:p>
          <a:p>
            <a:endParaRPr lang="de-DE" dirty="0"/>
          </a:p>
        </p:txBody>
      </p:sp>
    </p:spTree>
    <p:extLst>
      <p:ext uri="{BB962C8B-B14F-4D97-AF65-F5344CB8AC3E}">
        <p14:creationId xmlns:p14="http://schemas.microsoft.com/office/powerpoint/2010/main" val="1995341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5269769" cy="707704"/>
          </a:xfrm>
        </p:spPr>
        <p:txBody>
          <a:bodyPr>
            <a:noAutofit/>
          </a:bodyPr>
          <a:lstStyle/>
          <a:p>
            <a:r>
              <a:rPr lang="de-DE" sz="6600" dirty="0">
                <a:latin typeface="Source Sans Pro" panose="020B0503030403020204" pitchFamily="34" charset="0"/>
              </a:rPr>
              <a:t>ERM</a:t>
            </a:r>
          </a:p>
          <a:p>
            <a:r>
              <a:rPr lang="de-DE" sz="2800" dirty="0">
                <a:latin typeface="Source Sans Pro" panose="020B0503030403020204" pitchFamily="34" charset="0"/>
              </a:rPr>
              <a:t>(Entity-Relationship-Modell) </a:t>
            </a:r>
          </a:p>
        </p:txBody>
      </p:sp>
      <p:sp>
        <p:nvSpPr>
          <p:cNvPr id="4" name="Textplatzhalter 10"/>
          <p:cNvSpPr>
            <a:spLocks noGrp="1"/>
          </p:cNvSpPr>
          <p:nvPr>
            <p:ph type="body" sz="quarter" idx="13"/>
          </p:nvPr>
        </p:nvSpPr>
        <p:spPr>
          <a:xfrm>
            <a:off x="5252507" y="3852878"/>
            <a:ext cx="5269769" cy="707704"/>
          </a:xfrm>
        </p:spPr>
        <p:txBody>
          <a:bodyPr>
            <a:noAutofit/>
          </a:bodyPr>
          <a:lstStyle/>
          <a:p>
            <a:r>
              <a:rPr lang="de-DE" sz="6600" dirty="0">
                <a:latin typeface="Source Sans Pro" panose="020B0503030403020204" pitchFamily="34" charset="0"/>
              </a:rPr>
              <a:t>ERD</a:t>
            </a:r>
          </a:p>
          <a:p>
            <a:r>
              <a:rPr lang="de-DE" sz="2800" dirty="0">
                <a:latin typeface="Source Sans Pro" panose="020B0503030403020204" pitchFamily="34" charset="0"/>
              </a:rPr>
              <a:t>(Entity-Relationship-Diagramm) </a:t>
            </a:r>
          </a:p>
        </p:txBody>
      </p:sp>
    </p:spTree>
    <p:extLst>
      <p:ext uri="{BB962C8B-B14F-4D97-AF65-F5344CB8AC3E}">
        <p14:creationId xmlns:p14="http://schemas.microsoft.com/office/powerpoint/2010/main" val="8237547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lstStyle/>
          <a:p>
            <a:r>
              <a:rPr lang="de-DE" dirty="0">
                <a:latin typeface="Source Sans Pro" panose="020B0503030403020204" pitchFamily="34" charset="0"/>
              </a:rPr>
              <a:t>ERM/ERD -&gt; Definition</a:t>
            </a:r>
            <a:endParaRPr lang="de-DE" sz="2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586696" y="1592262"/>
            <a:ext cx="11524948" cy="3908762"/>
          </a:xfrm>
          <a:prstGeom prst="rect">
            <a:avLst/>
          </a:prstGeom>
          <a:noFill/>
        </p:spPr>
        <p:txBody>
          <a:bodyPr wrap="square" rtlCol="0">
            <a:spAutoFit/>
          </a:bodyPr>
          <a:lstStyle/>
          <a:p>
            <a:pPr marL="342900" indent="-342900">
              <a:buFont typeface="Arial" panose="020B0604020202020204" pitchFamily="34" charset="0"/>
              <a:buChar char="•"/>
            </a:pPr>
            <a:r>
              <a:rPr lang="de-DE" sz="2400" dirty="0">
                <a:latin typeface="Source Sans Pro" panose="020B0503030403020204" pitchFamily="34" charset="0"/>
              </a:rPr>
              <a:t>Ein Entity-Relationship-</a:t>
            </a:r>
            <a:r>
              <a:rPr lang="de-DE" sz="2400" i="1" dirty="0">
                <a:latin typeface="Source Sans Pro" panose="020B0503030403020204" pitchFamily="34" charset="0"/>
              </a:rPr>
              <a:t>Modell</a:t>
            </a:r>
            <a:r>
              <a:rPr lang="de-DE" sz="2400" dirty="0">
                <a:latin typeface="Source Sans Pro" panose="020B0503030403020204" pitchFamily="34" charset="0"/>
              </a:rPr>
              <a:t> ist eine </a:t>
            </a:r>
            <a:r>
              <a:rPr lang="de-DE" sz="2400" b="1" dirty="0">
                <a:latin typeface="Source Sans Pro" panose="020B0503030403020204" pitchFamily="34" charset="0"/>
              </a:rPr>
              <a:t>gedankliche Zusammenfassung aller Elemente</a:t>
            </a:r>
            <a:r>
              <a:rPr lang="de-DE" sz="2400" dirty="0">
                <a:latin typeface="Source Sans Pro" panose="020B0503030403020204" pitchFamily="34" charset="0"/>
              </a:rPr>
              <a:t>, die für den Aufbau einer geplanten Datenbank von Bedeutung sein werden. </a:t>
            </a:r>
            <a:r>
              <a:rPr lang="de-DE" sz="1400" dirty="0">
                <a:latin typeface="Source Sans Pro" panose="020B0503030403020204" pitchFamily="34" charset="0"/>
              </a:rPr>
              <a:t> </a:t>
            </a:r>
          </a:p>
          <a:p>
            <a:pPr marL="342900" indent="-342900">
              <a:buFont typeface="Arial" panose="020B0604020202020204" pitchFamily="34" charset="0"/>
              <a:buChar char="•"/>
            </a:pPr>
            <a:endParaRPr lang="de-DE" sz="800" dirty="0">
              <a:latin typeface="Source Sans Pro" panose="020B0503030403020204" pitchFamily="34" charset="0"/>
            </a:endParaRPr>
          </a:p>
          <a:p>
            <a:pPr marL="342900" indent="-342900">
              <a:buFont typeface="Arial" panose="020B0604020202020204" pitchFamily="34" charset="0"/>
              <a:buChar char="•"/>
            </a:pPr>
            <a:r>
              <a:rPr lang="de-DE" sz="2400" dirty="0">
                <a:latin typeface="Source Sans Pro" panose="020B0503030403020204" pitchFamily="34" charset="0"/>
              </a:rPr>
              <a:t>Ein Entity-Relationship-</a:t>
            </a:r>
            <a:r>
              <a:rPr lang="de-DE" sz="2400" i="1" dirty="0">
                <a:latin typeface="Source Sans Pro" panose="020B0503030403020204" pitchFamily="34" charset="0"/>
              </a:rPr>
              <a:t>Diagramm</a:t>
            </a:r>
            <a:r>
              <a:rPr lang="de-DE" sz="2400" dirty="0">
                <a:latin typeface="Source Sans Pro" panose="020B0503030403020204" pitchFamily="34" charset="0"/>
              </a:rPr>
              <a:t> ist die </a:t>
            </a:r>
            <a:r>
              <a:rPr lang="de-DE" sz="2400" b="1" dirty="0">
                <a:latin typeface="Source Sans Pro" panose="020B0503030403020204" pitchFamily="34" charset="0"/>
              </a:rPr>
              <a:t>graphische Darstellung dieser Elemente</a:t>
            </a:r>
            <a:r>
              <a:rPr lang="de-DE" sz="2400" dirty="0">
                <a:latin typeface="Source Sans Pro" panose="020B0503030403020204" pitchFamily="34" charset="0"/>
              </a:rPr>
              <a:t>.</a:t>
            </a:r>
          </a:p>
          <a:p>
            <a:pPr marL="342900" indent="-342900">
              <a:buFont typeface="Arial" panose="020B0604020202020204" pitchFamily="34" charset="0"/>
              <a:buChar char="•"/>
            </a:pPr>
            <a:endParaRPr lang="de-DE" sz="800" dirty="0">
              <a:latin typeface="Source Sans Pro" panose="020B0503030403020204" pitchFamily="34" charset="0"/>
            </a:endParaRPr>
          </a:p>
          <a:p>
            <a:pPr marL="342900" indent="-342900">
              <a:buFont typeface="Arial" panose="020B0604020202020204" pitchFamily="34" charset="0"/>
              <a:buChar char="•"/>
            </a:pPr>
            <a:r>
              <a:rPr lang="de-DE" sz="2400" dirty="0">
                <a:latin typeface="Source Sans Pro" panose="020B0503030403020204" pitchFamily="34" charset="0"/>
              </a:rPr>
              <a:t>Der Name dieses Modells macht deutlich, dass die zu erstellenden Diagramme im wesentlichen aus der Darstellung von </a:t>
            </a:r>
            <a:r>
              <a:rPr lang="de-DE" sz="2400" b="1" dirty="0">
                <a:latin typeface="Source Sans Pro" panose="020B0503030403020204" pitchFamily="34" charset="0"/>
              </a:rPr>
              <a:t>Entitätstypen</a:t>
            </a:r>
            <a:r>
              <a:rPr lang="de-DE" sz="2400" dirty="0">
                <a:latin typeface="Source Sans Pro" panose="020B0503030403020204" pitchFamily="34" charset="0"/>
              </a:rPr>
              <a:t> und </a:t>
            </a:r>
            <a:r>
              <a:rPr lang="de-DE" sz="2400" b="1" dirty="0">
                <a:latin typeface="Source Sans Pro" panose="020B0503030403020204" pitchFamily="34" charset="0"/>
              </a:rPr>
              <a:t>Relationen</a:t>
            </a:r>
            <a:r>
              <a:rPr lang="de-DE" sz="2400" dirty="0">
                <a:latin typeface="Source Sans Pro" panose="020B0503030403020204" pitchFamily="34" charset="0"/>
              </a:rPr>
              <a:t> bestehen. </a:t>
            </a:r>
          </a:p>
          <a:p>
            <a:pPr marL="342900" indent="-342900">
              <a:buFont typeface="Arial" panose="020B0604020202020204" pitchFamily="34" charset="0"/>
              <a:buChar char="•"/>
            </a:pPr>
            <a:endParaRPr lang="de-DE" sz="800" dirty="0">
              <a:latin typeface="Source Sans Pro" panose="020B0503030403020204" pitchFamily="34" charset="0"/>
            </a:endParaRPr>
          </a:p>
          <a:p>
            <a:pPr marL="342900" indent="-342900">
              <a:buFont typeface="Arial" panose="020B0604020202020204" pitchFamily="34" charset="0"/>
              <a:buChar char="•"/>
            </a:pPr>
            <a:r>
              <a:rPr lang="de-DE" sz="2400" dirty="0">
                <a:latin typeface="Source Sans Pro" panose="020B0503030403020204" pitchFamily="34" charset="0"/>
              </a:rPr>
              <a:t>ER-Diagramme können als </a:t>
            </a:r>
            <a:r>
              <a:rPr lang="de-DE" sz="2400" b="1" dirty="0">
                <a:latin typeface="Source Sans Pro" panose="020B0503030403020204" pitchFamily="34" charset="0"/>
              </a:rPr>
              <a:t>(grober) „Bauplan“ </a:t>
            </a:r>
            <a:r>
              <a:rPr lang="de-DE" sz="2400" dirty="0">
                <a:latin typeface="Source Sans Pro" panose="020B0503030403020204" pitchFamily="34" charset="0"/>
              </a:rPr>
              <a:t>einer </a:t>
            </a:r>
            <a:r>
              <a:rPr lang="de-DE" sz="2400" b="1" dirty="0">
                <a:latin typeface="Source Sans Pro" panose="020B0503030403020204" pitchFamily="34" charset="0"/>
              </a:rPr>
              <a:t>leeren</a:t>
            </a:r>
            <a:r>
              <a:rPr lang="de-DE" sz="2400" dirty="0">
                <a:latin typeface="Source Sans Pro" panose="020B0503030403020204" pitchFamily="34" charset="0"/>
              </a:rPr>
              <a:t> Datenbank betrachtet werden. </a:t>
            </a:r>
            <a:r>
              <a:rPr lang="de-DE" sz="2000" dirty="0">
                <a:latin typeface="Source Sans Pro" panose="020B0503030403020204" pitchFamily="34" charset="0"/>
              </a:rPr>
              <a:t>(Entsprechend werden zu dieser Planungsphase </a:t>
            </a:r>
            <a:r>
              <a:rPr lang="de-DE" sz="2000" b="1" dirty="0">
                <a:latin typeface="Source Sans Pro" panose="020B0503030403020204" pitchFamily="34" charset="0"/>
              </a:rPr>
              <a:t>noch keine Daten </a:t>
            </a:r>
            <a:r>
              <a:rPr lang="de-DE" sz="2000" dirty="0">
                <a:latin typeface="Source Sans Pro" panose="020B0503030403020204" pitchFamily="34" charset="0"/>
              </a:rPr>
              <a:t>berücksichtigt.)</a:t>
            </a:r>
          </a:p>
          <a:p>
            <a:pPr marL="342900" indent="-342900">
              <a:buFont typeface="Arial" panose="020B0604020202020204" pitchFamily="34" charset="0"/>
              <a:buChar char="•"/>
            </a:pPr>
            <a:endParaRPr lang="de-DE" sz="800" dirty="0">
              <a:latin typeface="Source Sans Pro" panose="020B0503030403020204" pitchFamily="34" charset="0"/>
            </a:endParaRPr>
          </a:p>
          <a:p>
            <a:pPr marL="342900" indent="-342900">
              <a:buFont typeface="Arial" panose="020B0604020202020204" pitchFamily="34" charset="0"/>
              <a:buChar char="•"/>
            </a:pPr>
            <a:r>
              <a:rPr lang="de-DE" sz="2400" dirty="0">
                <a:latin typeface="Source Sans Pro" panose="020B0503030403020204" pitchFamily="34" charset="0"/>
              </a:rPr>
              <a:t>ER-Diagramme können auf unterschiedliche Weise notiert werden. Wir werden in diesem Kurs die klassische </a:t>
            </a:r>
            <a:r>
              <a:rPr lang="de-DE" dirty="0">
                <a:latin typeface="Source Sans Pro" panose="020B0503030403020204" pitchFamily="34" charset="0"/>
              </a:rPr>
              <a:t>(und von der IHK erwartete) </a:t>
            </a:r>
            <a:r>
              <a:rPr lang="de-DE" sz="2400" b="1" dirty="0">
                <a:latin typeface="Source Sans Pro" panose="020B0503030403020204" pitchFamily="34" charset="0"/>
              </a:rPr>
              <a:t>„Chen-Notation“ </a:t>
            </a:r>
            <a:r>
              <a:rPr lang="de-DE" sz="2400" dirty="0">
                <a:latin typeface="Source Sans Pro" panose="020B0503030403020204" pitchFamily="34" charset="0"/>
              </a:rPr>
              <a:t>verwenden. </a:t>
            </a:r>
          </a:p>
        </p:txBody>
      </p:sp>
    </p:spTree>
    <p:extLst>
      <p:ext uri="{BB962C8B-B14F-4D97-AF65-F5344CB8AC3E}">
        <p14:creationId xmlns:p14="http://schemas.microsoft.com/office/powerpoint/2010/main" val="3357073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0502313" cy="720725"/>
          </a:xfrm>
        </p:spPr>
        <p:txBody>
          <a:bodyPr>
            <a:normAutofit/>
          </a:bodyPr>
          <a:lstStyle/>
          <a:p>
            <a:r>
              <a:rPr lang="de-DE" dirty="0">
                <a:latin typeface="Source Sans Pro" panose="020B0503030403020204" pitchFamily="34" charset="0"/>
              </a:rPr>
              <a:t>ERM/ERD -&gt; Motivation</a:t>
            </a:r>
            <a:endParaRPr lang="de-DE" sz="18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581890" y="1562274"/>
            <a:ext cx="11551921" cy="2354491"/>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rPr>
              <a:t>Mit Hilfe von ER-Diagrammen können Datenbanken </a:t>
            </a:r>
            <a:r>
              <a:rPr kumimoji="0" lang="de-DE" sz="2400" b="1" i="0" u="none" strike="noStrike" kern="1200" cap="none" spc="0" normalizeH="0" baseline="0" noProof="0" dirty="0">
                <a:ln>
                  <a:noFill/>
                </a:ln>
                <a:solidFill>
                  <a:srgbClr val="0071B2"/>
                </a:solidFill>
                <a:effectLst/>
                <a:uLnTx/>
                <a:uFillTx/>
                <a:latin typeface="Source Sans Pro" panose="020B0503030403020204" pitchFamily="34" charset="0"/>
              </a:rPr>
              <a:t>übersichtlich dargestellt </a:t>
            </a: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rPr>
              <a:t>werden</a:t>
            </a:r>
            <a:r>
              <a:rPr kumimoji="0" lang="de-DE" sz="2400" i="0" u="none" strike="noStrike" kern="1200" cap="none" spc="0" normalizeH="0" baseline="0" noProof="0" dirty="0">
                <a:ln>
                  <a:noFill/>
                </a:ln>
                <a:solidFill>
                  <a:srgbClr val="0071B2"/>
                </a:solidFill>
                <a:effectLst/>
                <a:uLnTx/>
                <a:uFillTx/>
                <a:latin typeface="Source Sans Pro" panose="020B0503030403020204" pitchFamily="34" charset="0"/>
              </a:rPr>
              <a:t>.</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b="0" i="0" u="none" strike="noStrike" kern="1200" cap="none" spc="0" normalizeH="0" baseline="0" noProof="0" dirty="0">
              <a:ln>
                <a:noFill/>
              </a:ln>
              <a:solidFill>
                <a:srgbClr val="0071B2"/>
              </a:solidFill>
              <a:effectLst/>
              <a:uLnTx/>
              <a:uFillTx/>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dirty="0">
                <a:solidFill>
                  <a:srgbClr val="0071B2"/>
                </a:solidFill>
                <a:latin typeface="Source Sans Pro" panose="020B0503030403020204" pitchFamily="34" charset="0"/>
              </a:rPr>
              <a:t>Zudem präsentierte ihr Erfinder (Peter Chen) mit seiner gleichnamigen Notation ein erstes Beispiel für eine </a:t>
            </a:r>
            <a:r>
              <a:rPr lang="de-DE" sz="2400" b="1" dirty="0">
                <a:solidFill>
                  <a:srgbClr val="0071B2"/>
                </a:solidFill>
                <a:latin typeface="Source Sans Pro" panose="020B0503030403020204" pitchFamily="34" charset="0"/>
              </a:rPr>
              <a:t>graphische Softwareentwicklung</a:t>
            </a:r>
            <a:r>
              <a:rPr lang="de-DE" sz="2400" dirty="0">
                <a:solidFill>
                  <a:srgbClr val="0071B2"/>
                </a:solidFill>
                <a:latin typeface="Source Sans Pro" panose="020B0503030403020204" pitchFamily="34" charset="0"/>
              </a:rPr>
              <a:t>.</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de-DE" sz="800" dirty="0">
              <a:solidFill>
                <a:srgbClr val="0071B2"/>
              </a:solidFill>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noProof="0" dirty="0">
                <a:solidFill>
                  <a:srgbClr val="0071B2"/>
                </a:solidFill>
                <a:latin typeface="Source Sans Pro" panose="020B0503030403020204" pitchFamily="34" charset="0"/>
              </a:rPr>
              <a:t>Darüber hinaus </a:t>
            </a:r>
            <a:r>
              <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rPr>
              <a:t>nutzen wir diese Modellierung (bzw. deren Diagramme) als ersten Schritt eines </a:t>
            </a:r>
            <a:r>
              <a:rPr kumimoji="0" lang="de-DE" sz="2400" b="1" i="0" u="none" strike="noStrike" kern="1200" cap="none" spc="0" normalizeH="0" baseline="0" noProof="0" dirty="0">
                <a:ln>
                  <a:noFill/>
                </a:ln>
                <a:solidFill>
                  <a:srgbClr val="0071B2"/>
                </a:solidFill>
                <a:effectLst/>
                <a:uLnTx/>
                <a:uFillTx/>
                <a:latin typeface="Source Sans Pro" panose="020B0503030403020204" pitchFamily="34" charset="0"/>
              </a:rPr>
              <a:t>Datenbankentwurfs-Prozesses</a:t>
            </a:r>
            <a:r>
              <a:rPr lang="de-DE" sz="2400" dirty="0">
                <a:solidFill>
                  <a:srgbClr val="0071B2"/>
                </a:solidFill>
                <a:latin typeface="Source Sans Pro" panose="020B0503030403020204" pitchFamily="34" charset="0"/>
              </a:rPr>
              <a:t> (näheres: siehe folgende Folie).</a:t>
            </a:r>
            <a:endParaRPr kumimoji="0" lang="de-DE" sz="2400" b="0" i="0" u="none" strike="noStrike" kern="1200" cap="none" spc="0" normalizeH="0" baseline="0" noProof="0" dirty="0">
              <a:ln>
                <a:noFill/>
              </a:ln>
              <a:solidFill>
                <a:srgbClr val="0071B2"/>
              </a:solidFill>
              <a:effectLst/>
              <a:uLnTx/>
              <a:uFillTx/>
              <a:latin typeface="Source Sans Pro" panose="020B0503030403020204" pitchFamily="34" charset="0"/>
            </a:endParaRPr>
          </a:p>
          <a:p>
            <a:pPr marR="0" lvl="0" algn="l" defTabSz="914400" rtl="0" eaLnBrk="1" fontAlgn="auto" latinLnBrk="0" hangingPunct="1">
              <a:lnSpc>
                <a:spcPct val="100000"/>
              </a:lnSpc>
              <a:spcBef>
                <a:spcPts val="0"/>
              </a:spcBef>
              <a:spcAft>
                <a:spcPts val="0"/>
              </a:spcAft>
              <a:buClrTx/>
              <a:buSzTx/>
              <a:tabLst/>
              <a:defRPr/>
            </a:pPr>
            <a:endParaRPr kumimoji="0" lang="de-DE" sz="1100" b="0" i="0" u="none" strike="noStrike" kern="1200" cap="none" spc="0" normalizeH="0" baseline="0" noProof="0" dirty="0">
              <a:ln>
                <a:noFill/>
              </a:ln>
              <a:solidFill>
                <a:srgbClr val="0071B2"/>
              </a:solidFill>
              <a:effectLst/>
              <a:uLnTx/>
              <a:uFillTx/>
              <a:latin typeface="Source Sans Pro" panose="020B0503030403020204" pitchFamily="34" charset="0"/>
            </a:endParaRPr>
          </a:p>
        </p:txBody>
      </p:sp>
    </p:spTree>
    <p:extLst>
      <p:ext uri="{BB962C8B-B14F-4D97-AF65-F5344CB8AC3E}">
        <p14:creationId xmlns:p14="http://schemas.microsoft.com/office/powerpoint/2010/main" val="1698083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1437093" cy="720725"/>
          </a:xfrm>
        </p:spPr>
        <p:txBody>
          <a:bodyPr>
            <a:normAutofit/>
          </a:bodyPr>
          <a:lstStyle/>
          <a:p>
            <a:r>
              <a:rPr lang="de-DE" dirty="0">
                <a:latin typeface="Source Sans Pro" panose="020B0503030403020204" pitchFamily="34" charset="0"/>
              </a:rPr>
              <a:t>ERM/ERD -&gt; </a:t>
            </a:r>
            <a:r>
              <a:rPr lang="de-DE" sz="2800" dirty="0">
                <a:latin typeface="Source Sans Pro" panose="020B0503030403020204" pitchFamily="34" charset="0"/>
              </a:rPr>
              <a:t>Kurzer Exkurs zum Datenbankentwurfs-Prozess</a:t>
            </a:r>
            <a:endParaRPr lang="de-DE" sz="28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573577" y="1507210"/>
            <a:ext cx="11551921" cy="3293209"/>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dirty="0">
                <a:latin typeface="Source Sans Pro" panose="020B0503030403020204" pitchFamily="34" charset="0"/>
              </a:rPr>
              <a:t>Wer den Auftrag erhält, eine Datenbank zu entwickeln, der wird in der Regel die Erfahrung machen, dass der Auftraggeber eine </a:t>
            </a:r>
            <a:r>
              <a:rPr lang="de-DE" sz="2400" b="1" dirty="0">
                <a:latin typeface="Source Sans Pro" panose="020B0503030403020204" pitchFamily="34" charset="0"/>
              </a:rPr>
              <a:t>zunächst nur unspezifische Vorstellung </a:t>
            </a:r>
            <a:r>
              <a:rPr lang="de-DE" sz="2400" dirty="0">
                <a:latin typeface="Source Sans Pro" panose="020B0503030403020204" pitchFamily="34" charset="0"/>
              </a:rPr>
              <a:t>vom Aufbau der gewünschten Datenbank hat.</a:t>
            </a:r>
          </a:p>
          <a:p>
            <a:pPr marR="0" lvl="0" algn="l" defTabSz="914400" rtl="0" eaLnBrk="1" fontAlgn="auto" latinLnBrk="0" hangingPunct="1">
              <a:lnSpc>
                <a:spcPct val="100000"/>
              </a:lnSpc>
              <a:spcBef>
                <a:spcPts val="0"/>
              </a:spcBef>
              <a:spcAft>
                <a:spcPts val="0"/>
              </a:spcAft>
              <a:buClrTx/>
              <a:buSzTx/>
              <a:tabLst/>
              <a:defRPr/>
            </a:pPr>
            <a:endParaRPr lang="de-DE" sz="800" dirty="0">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dirty="0">
                <a:latin typeface="Source Sans Pro" panose="020B0503030403020204" pitchFamily="34" charset="0"/>
              </a:rPr>
              <a:t>Die Entwicklung einer Datenbank sollte daher (mindestens) in die folgenden </a:t>
            </a:r>
            <a:r>
              <a:rPr lang="de-DE" sz="2400" b="1" dirty="0">
                <a:latin typeface="Source Sans Pro" panose="020B0503030403020204" pitchFamily="34" charset="0"/>
              </a:rPr>
              <a:t>3 Teilschritte </a:t>
            </a:r>
            <a:r>
              <a:rPr lang="de-DE" sz="2400" dirty="0">
                <a:latin typeface="Source Sans Pro" panose="020B0503030403020204" pitchFamily="34" charset="0"/>
              </a:rPr>
              <a:t>zerlegt werden:</a:t>
            </a:r>
          </a:p>
          <a:p>
            <a:pPr lvl="1"/>
            <a:endParaRPr lang="de-DE" sz="800" dirty="0">
              <a:latin typeface="Source Sans Pro" panose="020B0503030403020204" pitchFamily="34" charset="0"/>
            </a:endParaRPr>
          </a:p>
          <a:p>
            <a:pPr marL="742950" lvl="1" indent="-285750">
              <a:buFont typeface="Courier New" panose="02070309020205020404" pitchFamily="49" charset="0"/>
              <a:buChar char="o"/>
            </a:pPr>
            <a:r>
              <a:rPr lang="de-DE" sz="2400" b="1" dirty="0">
                <a:latin typeface="Source Sans Pro" panose="020B0503030403020204" pitchFamily="34" charset="0"/>
              </a:rPr>
              <a:t>Konzeptioneller Datenbankentwurf    </a:t>
            </a:r>
            <a:r>
              <a:rPr lang="de-DE" sz="1200" dirty="0">
                <a:latin typeface="Source Sans Pro" panose="020B0503030403020204" pitchFamily="34" charset="0"/>
              </a:rPr>
              <a:t>(Ermittlung aller Entitätstypen, Attribute und Relationen –&gt; Darstellung mittels </a:t>
            </a:r>
            <a:r>
              <a:rPr lang="de-DE" sz="1200" b="1" dirty="0">
                <a:latin typeface="Source Sans Pro" panose="020B0503030403020204" pitchFamily="34" charset="0"/>
              </a:rPr>
              <a:t>ERD</a:t>
            </a:r>
            <a:r>
              <a:rPr lang="de-DE" sz="1200" dirty="0">
                <a:latin typeface="Source Sans Pro" panose="020B0503030403020204" pitchFamily="34" charset="0"/>
              </a:rPr>
              <a:t>) </a:t>
            </a:r>
          </a:p>
          <a:p>
            <a:pPr marL="742950" lvl="1" indent="-285750">
              <a:buFont typeface="Courier New" panose="02070309020205020404" pitchFamily="49" charset="0"/>
              <a:buChar char="o"/>
            </a:pPr>
            <a:r>
              <a:rPr lang="de-DE" sz="2400" b="1" dirty="0">
                <a:latin typeface="Source Sans Pro" panose="020B0503030403020204" pitchFamily="34" charset="0"/>
              </a:rPr>
              <a:t>Logischer Datenbankentwurf                  </a:t>
            </a:r>
            <a:r>
              <a:rPr lang="de-DE" sz="1200" dirty="0">
                <a:latin typeface="Source Sans Pro" panose="020B0503030403020204" pitchFamily="34" charset="0"/>
              </a:rPr>
              <a:t>(Übergang zum „Relationalen Modell“ –&gt; Näheres dazu in den nächsten Tagen)</a:t>
            </a:r>
          </a:p>
          <a:p>
            <a:pPr marL="742950" lvl="1" indent="-285750">
              <a:buFont typeface="Courier New" panose="02070309020205020404" pitchFamily="49" charset="0"/>
              <a:buChar char="o"/>
            </a:pPr>
            <a:r>
              <a:rPr lang="de-DE" sz="2400" b="1" dirty="0">
                <a:latin typeface="Source Sans Pro" panose="020B0503030403020204" pitchFamily="34" charset="0"/>
              </a:rPr>
              <a:t>Physischer Datenbankentwurf               </a:t>
            </a:r>
            <a:r>
              <a:rPr lang="de-DE" sz="1200" b="1" dirty="0">
                <a:latin typeface="Source Sans Pro" panose="020B0503030403020204" pitchFamily="34" charset="0"/>
              </a:rPr>
              <a:t> </a:t>
            </a:r>
            <a:r>
              <a:rPr lang="de-DE" sz="1200" dirty="0">
                <a:latin typeface="Source Sans Pro" panose="020B0503030403020204" pitchFamily="34" charset="0"/>
              </a:rPr>
              <a:t>(Implementierung des Relationalen Modells –&gt; wird mittels SQL geschehen) </a:t>
            </a:r>
            <a:endParaRPr lang="de-DE" sz="1200" i="1" dirty="0">
              <a:latin typeface="Source Sans Pro" panose="020B0503030403020204" pitchFamily="34" charset="0"/>
            </a:endParaRPr>
          </a:p>
        </p:txBody>
      </p:sp>
    </p:spTree>
    <p:extLst>
      <p:ext uri="{BB962C8B-B14F-4D97-AF65-F5344CB8AC3E}">
        <p14:creationId xmlns:p14="http://schemas.microsoft.com/office/powerpoint/2010/main" val="3120992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5269769" cy="707704"/>
          </a:xfrm>
        </p:spPr>
        <p:txBody>
          <a:bodyPr>
            <a:noAutofit/>
          </a:bodyPr>
          <a:lstStyle/>
          <a:p>
            <a:r>
              <a:rPr lang="de-DE" sz="6600" dirty="0">
                <a:latin typeface="Source Sans Pro" panose="020B0503030403020204" pitchFamily="34" charset="0"/>
              </a:rPr>
              <a:t>ERD-Symbole</a:t>
            </a:r>
            <a:endParaRPr lang="de-DE" sz="2800" dirty="0">
              <a:latin typeface="Source Sans Pro" panose="020B0503030403020204" pitchFamily="34" charset="0"/>
            </a:endParaRPr>
          </a:p>
        </p:txBody>
      </p:sp>
    </p:spTree>
    <p:extLst>
      <p:ext uri="{BB962C8B-B14F-4D97-AF65-F5344CB8AC3E}">
        <p14:creationId xmlns:p14="http://schemas.microsoft.com/office/powerpoint/2010/main" val="2734979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10020344" cy="720725"/>
          </a:xfrm>
        </p:spPr>
        <p:txBody>
          <a:bodyPr>
            <a:normAutofit/>
          </a:bodyPr>
          <a:lstStyle/>
          <a:p>
            <a:r>
              <a:rPr lang="de-DE" dirty="0">
                <a:latin typeface="Source Sans Pro" panose="020B0503030403020204" pitchFamily="34" charset="0"/>
              </a:rPr>
              <a:t>ERD-Symbole -&gt; </a:t>
            </a:r>
            <a:r>
              <a:rPr lang="de-DE" dirty="0">
                <a:solidFill>
                  <a:schemeClr val="accent2"/>
                </a:solidFill>
                <a:latin typeface="Source Sans Pro" panose="020B0503030403020204" pitchFamily="34" charset="0"/>
              </a:rPr>
              <a:t>Entitätstypen</a:t>
            </a:r>
            <a:endParaRPr lang="de-DE" sz="1800" b="0" i="1" dirty="0">
              <a:solidFill>
                <a:schemeClr val="accent2"/>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a:xfrm>
            <a:off x="548562" y="1104065"/>
            <a:ext cx="11495754" cy="714373"/>
          </a:xfrm>
        </p:spPr>
        <p:txBody>
          <a:bodyPr/>
          <a:lstStyle/>
          <a:p>
            <a:endParaRPr lang="de-DE" dirty="0"/>
          </a:p>
          <a:p>
            <a:endParaRPr lang="de-DE" dirty="0"/>
          </a:p>
        </p:txBody>
      </p:sp>
      <p:sp>
        <p:nvSpPr>
          <p:cNvPr id="2" name="Rechteck 1"/>
          <p:cNvSpPr/>
          <p:nvPr/>
        </p:nvSpPr>
        <p:spPr>
          <a:xfrm>
            <a:off x="849087" y="3331454"/>
            <a:ext cx="2687216" cy="1296955"/>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600" dirty="0">
                <a:solidFill>
                  <a:schemeClr val="accent2"/>
                </a:solidFill>
                <a:latin typeface="Source Sans Pro" panose="020B0503030403020204" pitchFamily="34" charset="0"/>
              </a:rPr>
              <a:t>Person</a:t>
            </a:r>
          </a:p>
        </p:txBody>
      </p:sp>
      <p:sp>
        <p:nvSpPr>
          <p:cNvPr id="8" name="Rechteck 7"/>
          <p:cNvSpPr/>
          <p:nvPr/>
        </p:nvSpPr>
        <p:spPr>
          <a:xfrm>
            <a:off x="7940352" y="3331454"/>
            <a:ext cx="2687216" cy="1296955"/>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600" dirty="0">
                <a:solidFill>
                  <a:schemeClr val="accent2"/>
                </a:solidFill>
                <a:latin typeface="Source Sans Pro" panose="020B0503030403020204" pitchFamily="34" charset="0"/>
              </a:rPr>
              <a:t>Auto</a:t>
            </a:r>
          </a:p>
        </p:txBody>
      </p:sp>
    </p:spTree>
    <p:extLst>
      <p:ext uri="{BB962C8B-B14F-4D97-AF65-F5344CB8AC3E}">
        <p14:creationId xmlns:p14="http://schemas.microsoft.com/office/powerpoint/2010/main" val="39476833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10020344" cy="720725"/>
          </a:xfrm>
        </p:spPr>
        <p:txBody>
          <a:bodyPr>
            <a:normAutofit/>
          </a:bodyPr>
          <a:lstStyle/>
          <a:p>
            <a:r>
              <a:rPr lang="de-DE" dirty="0">
                <a:latin typeface="Source Sans Pro" panose="020B0503030403020204" pitchFamily="34" charset="0"/>
              </a:rPr>
              <a:t>ERD-Symbole -&gt; </a:t>
            </a:r>
            <a:r>
              <a:rPr lang="de-DE" dirty="0">
                <a:solidFill>
                  <a:schemeClr val="accent2"/>
                </a:solidFill>
                <a:latin typeface="Source Sans Pro" panose="020B0503030403020204" pitchFamily="34" charset="0"/>
              </a:rPr>
              <a:t>Attribute</a:t>
            </a:r>
            <a:endParaRPr lang="de-DE" sz="1800" b="0" i="1" dirty="0">
              <a:solidFill>
                <a:schemeClr val="accent2"/>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a:xfrm>
            <a:off x="548562" y="1104065"/>
            <a:ext cx="11495754" cy="714373"/>
          </a:xfrm>
        </p:spPr>
        <p:txBody>
          <a:bodyPr/>
          <a:lstStyle/>
          <a:p>
            <a:endParaRPr lang="de-DE" dirty="0"/>
          </a:p>
          <a:p>
            <a:endParaRPr lang="de-DE" dirty="0"/>
          </a:p>
        </p:txBody>
      </p:sp>
      <p:sp>
        <p:nvSpPr>
          <p:cNvPr id="2" name="Rechteck 1"/>
          <p:cNvSpPr/>
          <p:nvPr/>
        </p:nvSpPr>
        <p:spPr>
          <a:xfrm>
            <a:off x="849087" y="3331454"/>
            <a:ext cx="2687216" cy="1296955"/>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600" dirty="0">
                <a:solidFill>
                  <a:srgbClr val="0070C0"/>
                </a:solidFill>
                <a:latin typeface="Source Sans Pro" panose="020B0503030403020204" pitchFamily="34" charset="0"/>
              </a:rPr>
              <a:t>Person</a:t>
            </a:r>
          </a:p>
        </p:txBody>
      </p:sp>
      <p:sp>
        <p:nvSpPr>
          <p:cNvPr id="8" name="Rechteck 7"/>
          <p:cNvSpPr/>
          <p:nvPr/>
        </p:nvSpPr>
        <p:spPr>
          <a:xfrm>
            <a:off x="7940352" y="3331454"/>
            <a:ext cx="2687216" cy="1296955"/>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600" dirty="0">
                <a:solidFill>
                  <a:srgbClr val="0070C0"/>
                </a:solidFill>
                <a:latin typeface="Source Sans Pro" panose="020B0503030403020204" pitchFamily="34" charset="0"/>
              </a:rPr>
              <a:t>Auto</a:t>
            </a:r>
          </a:p>
        </p:txBody>
      </p:sp>
      <p:sp>
        <p:nvSpPr>
          <p:cNvPr id="10" name="Ellipse 9"/>
          <p:cNvSpPr/>
          <p:nvPr/>
        </p:nvSpPr>
        <p:spPr>
          <a:xfrm>
            <a:off x="314909" y="2021828"/>
            <a:ext cx="1940768" cy="755779"/>
          </a:xfrm>
          <a:prstGeom prst="ellipse">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accent2"/>
                </a:solidFill>
                <a:latin typeface="Source Sans Pro" panose="020B0503030403020204" pitchFamily="34" charset="0"/>
              </a:rPr>
              <a:t>Person_ID</a:t>
            </a:r>
          </a:p>
        </p:txBody>
      </p:sp>
      <p:sp>
        <p:nvSpPr>
          <p:cNvPr id="14" name="Ellipse 13"/>
          <p:cNvSpPr/>
          <p:nvPr/>
        </p:nvSpPr>
        <p:spPr>
          <a:xfrm>
            <a:off x="2153039" y="1385424"/>
            <a:ext cx="1940768" cy="755779"/>
          </a:xfrm>
          <a:prstGeom prst="ellipse">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accent2"/>
                </a:solidFill>
                <a:latin typeface="Source Sans Pro" panose="020B0503030403020204" pitchFamily="34" charset="0"/>
              </a:rPr>
              <a:t>Name</a:t>
            </a:r>
          </a:p>
        </p:txBody>
      </p:sp>
      <p:sp>
        <p:nvSpPr>
          <p:cNvPr id="15" name="Ellipse 14"/>
          <p:cNvSpPr/>
          <p:nvPr/>
        </p:nvSpPr>
        <p:spPr>
          <a:xfrm>
            <a:off x="3123423" y="2253619"/>
            <a:ext cx="1940768" cy="755779"/>
          </a:xfrm>
          <a:prstGeom prst="ellipse">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accent2"/>
                </a:solidFill>
                <a:latin typeface="Source Sans Pro" panose="020B0503030403020204" pitchFamily="34" charset="0"/>
              </a:rPr>
              <a:t>Alter</a:t>
            </a:r>
          </a:p>
        </p:txBody>
      </p:sp>
      <p:cxnSp>
        <p:nvCxnSpPr>
          <p:cNvPr id="17" name="Gerader Verbinder 16"/>
          <p:cNvCxnSpPr>
            <a:stCxn id="10" idx="4"/>
          </p:cNvCxnSpPr>
          <p:nvPr/>
        </p:nvCxnSpPr>
        <p:spPr>
          <a:xfrm>
            <a:off x="1285293" y="2777607"/>
            <a:ext cx="263589" cy="562178"/>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stCxn id="14" idx="3"/>
          </p:cNvCxnSpPr>
          <p:nvPr/>
        </p:nvCxnSpPr>
        <p:spPr>
          <a:xfrm flipH="1">
            <a:off x="2015413" y="2030522"/>
            <a:ext cx="421845" cy="129007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Gerader Verbinder 20"/>
          <p:cNvCxnSpPr>
            <a:stCxn id="15" idx="3"/>
          </p:cNvCxnSpPr>
          <p:nvPr/>
        </p:nvCxnSpPr>
        <p:spPr>
          <a:xfrm flipH="1">
            <a:off x="2478262" y="2898717"/>
            <a:ext cx="929380" cy="421884"/>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29" name="Ellipse 28"/>
          <p:cNvSpPr/>
          <p:nvPr/>
        </p:nvSpPr>
        <p:spPr>
          <a:xfrm>
            <a:off x="7122418" y="2021828"/>
            <a:ext cx="1940768" cy="755779"/>
          </a:xfrm>
          <a:prstGeom prst="ellipse">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accent2"/>
                </a:solidFill>
                <a:latin typeface="Source Sans Pro" panose="020B0503030403020204" pitchFamily="34" charset="0"/>
              </a:rPr>
              <a:t>Auto_ID</a:t>
            </a:r>
          </a:p>
        </p:txBody>
      </p:sp>
      <p:sp>
        <p:nvSpPr>
          <p:cNvPr id="30" name="Ellipse 29"/>
          <p:cNvSpPr/>
          <p:nvPr/>
        </p:nvSpPr>
        <p:spPr>
          <a:xfrm>
            <a:off x="8960548" y="1385424"/>
            <a:ext cx="1940768" cy="755779"/>
          </a:xfrm>
          <a:prstGeom prst="ellipse">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accent2"/>
                </a:solidFill>
                <a:latin typeface="Source Sans Pro" panose="020B0503030403020204" pitchFamily="34" charset="0"/>
              </a:rPr>
              <a:t>Marke</a:t>
            </a:r>
          </a:p>
        </p:txBody>
      </p:sp>
      <p:sp>
        <p:nvSpPr>
          <p:cNvPr id="31" name="Ellipse 30"/>
          <p:cNvSpPr/>
          <p:nvPr/>
        </p:nvSpPr>
        <p:spPr>
          <a:xfrm>
            <a:off x="9930932" y="2253619"/>
            <a:ext cx="1940768" cy="755779"/>
          </a:xfrm>
          <a:prstGeom prst="ellipse">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accent2"/>
                </a:solidFill>
                <a:latin typeface="Source Sans Pro" panose="020B0503030403020204" pitchFamily="34" charset="0"/>
              </a:rPr>
              <a:t>Baujahr</a:t>
            </a:r>
          </a:p>
        </p:txBody>
      </p:sp>
      <p:cxnSp>
        <p:nvCxnSpPr>
          <p:cNvPr id="32" name="Gerader Verbinder 31"/>
          <p:cNvCxnSpPr>
            <a:stCxn id="29" idx="4"/>
          </p:cNvCxnSpPr>
          <p:nvPr/>
        </p:nvCxnSpPr>
        <p:spPr>
          <a:xfrm>
            <a:off x="8092802" y="2777607"/>
            <a:ext cx="263589" cy="562178"/>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Gerader Verbinder 32"/>
          <p:cNvCxnSpPr>
            <a:stCxn id="30" idx="3"/>
          </p:cNvCxnSpPr>
          <p:nvPr/>
        </p:nvCxnSpPr>
        <p:spPr>
          <a:xfrm flipH="1">
            <a:off x="8822922" y="2030522"/>
            <a:ext cx="421845" cy="129007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Gerader Verbinder 33"/>
          <p:cNvCxnSpPr>
            <a:stCxn id="31" idx="3"/>
          </p:cNvCxnSpPr>
          <p:nvPr/>
        </p:nvCxnSpPr>
        <p:spPr>
          <a:xfrm flipH="1">
            <a:off x="9285771" y="2898717"/>
            <a:ext cx="929380" cy="421884"/>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45242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0480705" cy="720725"/>
          </a:xfrm>
        </p:spPr>
        <p:txBody>
          <a:bodyPr>
            <a:normAutofit/>
          </a:bodyPr>
          <a:lstStyle/>
          <a:p>
            <a:r>
              <a:rPr lang="de-DE" sz="4000" dirty="0">
                <a:latin typeface="Source Sans Pro" panose="020B0503030403020204" pitchFamily="34" charset="0"/>
              </a:rPr>
              <a:t>ERD-Symbole -&gt; </a:t>
            </a:r>
            <a:r>
              <a:rPr lang="de-DE" sz="4000" dirty="0">
                <a:solidFill>
                  <a:schemeClr val="accent2"/>
                </a:solidFill>
                <a:latin typeface="Source Sans Pro" panose="020B0503030403020204" pitchFamily="34" charset="0"/>
              </a:rPr>
              <a:t>zusammengesetzte</a:t>
            </a:r>
            <a:r>
              <a:rPr lang="de-DE" sz="4000" dirty="0">
                <a:latin typeface="Source Sans Pro" panose="020B0503030403020204" pitchFamily="34" charset="0"/>
              </a:rPr>
              <a:t> Attribute</a:t>
            </a:r>
            <a:endParaRPr lang="de-DE" sz="40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a:xfrm>
            <a:off x="548562" y="1104065"/>
            <a:ext cx="11495754" cy="714373"/>
          </a:xfrm>
        </p:spPr>
        <p:txBody>
          <a:bodyPr/>
          <a:lstStyle/>
          <a:p>
            <a:endParaRPr lang="de-DE" dirty="0"/>
          </a:p>
          <a:p>
            <a:endParaRPr lang="de-DE" dirty="0"/>
          </a:p>
        </p:txBody>
      </p:sp>
      <p:sp>
        <p:nvSpPr>
          <p:cNvPr id="2" name="Rechteck 1"/>
          <p:cNvSpPr/>
          <p:nvPr/>
        </p:nvSpPr>
        <p:spPr>
          <a:xfrm>
            <a:off x="849087" y="3331454"/>
            <a:ext cx="2687216" cy="1296955"/>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600" dirty="0">
                <a:solidFill>
                  <a:srgbClr val="0070C0"/>
                </a:solidFill>
                <a:latin typeface="Source Sans Pro" panose="020B0503030403020204" pitchFamily="34" charset="0"/>
              </a:rPr>
              <a:t>Person</a:t>
            </a:r>
          </a:p>
        </p:txBody>
      </p:sp>
      <p:sp>
        <p:nvSpPr>
          <p:cNvPr id="8" name="Rechteck 7"/>
          <p:cNvSpPr/>
          <p:nvPr/>
        </p:nvSpPr>
        <p:spPr>
          <a:xfrm>
            <a:off x="7940352" y="3331454"/>
            <a:ext cx="2687216" cy="1296955"/>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600" dirty="0">
                <a:solidFill>
                  <a:srgbClr val="0070C0"/>
                </a:solidFill>
                <a:latin typeface="Source Sans Pro" panose="020B0503030403020204" pitchFamily="34" charset="0"/>
              </a:rPr>
              <a:t>Auto</a:t>
            </a:r>
          </a:p>
        </p:txBody>
      </p:sp>
      <p:sp>
        <p:nvSpPr>
          <p:cNvPr id="10" name="Ellipse 9"/>
          <p:cNvSpPr/>
          <p:nvPr/>
        </p:nvSpPr>
        <p:spPr>
          <a:xfrm>
            <a:off x="314909" y="2021828"/>
            <a:ext cx="1940768" cy="755779"/>
          </a:xfrm>
          <a:prstGeom prst="ellipse">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rgbClr val="0070C0"/>
                </a:solidFill>
                <a:latin typeface="Source Sans Pro" panose="020B0503030403020204" pitchFamily="34" charset="0"/>
              </a:rPr>
              <a:t>Person_ID</a:t>
            </a:r>
          </a:p>
        </p:txBody>
      </p:sp>
      <p:sp>
        <p:nvSpPr>
          <p:cNvPr id="14" name="Ellipse 13"/>
          <p:cNvSpPr/>
          <p:nvPr/>
        </p:nvSpPr>
        <p:spPr>
          <a:xfrm>
            <a:off x="2153039" y="1385424"/>
            <a:ext cx="1940768" cy="755779"/>
          </a:xfrm>
          <a:prstGeom prst="ellipse">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accent2"/>
                </a:solidFill>
                <a:latin typeface="Source Sans Pro" panose="020B0503030403020204" pitchFamily="34" charset="0"/>
              </a:rPr>
              <a:t>Name</a:t>
            </a:r>
          </a:p>
        </p:txBody>
      </p:sp>
      <p:sp>
        <p:nvSpPr>
          <p:cNvPr id="15" name="Ellipse 14"/>
          <p:cNvSpPr/>
          <p:nvPr/>
        </p:nvSpPr>
        <p:spPr>
          <a:xfrm>
            <a:off x="3123423" y="2253619"/>
            <a:ext cx="1940768" cy="755779"/>
          </a:xfrm>
          <a:prstGeom prst="ellipse">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rgbClr val="0070C0"/>
                </a:solidFill>
                <a:latin typeface="Source Sans Pro" panose="020B0503030403020204" pitchFamily="34" charset="0"/>
              </a:rPr>
              <a:t>Alter</a:t>
            </a:r>
          </a:p>
        </p:txBody>
      </p:sp>
      <p:cxnSp>
        <p:nvCxnSpPr>
          <p:cNvPr id="17" name="Gerader Verbinder 16"/>
          <p:cNvCxnSpPr>
            <a:stCxn id="10" idx="4"/>
          </p:cNvCxnSpPr>
          <p:nvPr/>
        </p:nvCxnSpPr>
        <p:spPr>
          <a:xfrm>
            <a:off x="1285293" y="2777607"/>
            <a:ext cx="263589" cy="562178"/>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stCxn id="14" idx="3"/>
          </p:cNvCxnSpPr>
          <p:nvPr/>
        </p:nvCxnSpPr>
        <p:spPr>
          <a:xfrm flipH="1">
            <a:off x="2015413" y="2030522"/>
            <a:ext cx="421845" cy="129007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Gerader Verbinder 20"/>
          <p:cNvCxnSpPr>
            <a:stCxn id="15" idx="3"/>
          </p:cNvCxnSpPr>
          <p:nvPr/>
        </p:nvCxnSpPr>
        <p:spPr>
          <a:xfrm flipH="1">
            <a:off x="2478262" y="2898717"/>
            <a:ext cx="929380" cy="421884"/>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sp>
        <p:nvSpPr>
          <p:cNvPr id="29" name="Ellipse 28"/>
          <p:cNvSpPr/>
          <p:nvPr/>
        </p:nvSpPr>
        <p:spPr>
          <a:xfrm>
            <a:off x="7122418" y="2021828"/>
            <a:ext cx="1940768" cy="755779"/>
          </a:xfrm>
          <a:prstGeom prst="ellipse">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rgbClr val="0070C0"/>
                </a:solidFill>
                <a:latin typeface="Source Sans Pro" panose="020B0503030403020204" pitchFamily="34" charset="0"/>
              </a:rPr>
              <a:t>Auto_ID</a:t>
            </a:r>
          </a:p>
        </p:txBody>
      </p:sp>
      <p:sp>
        <p:nvSpPr>
          <p:cNvPr id="30" name="Ellipse 29"/>
          <p:cNvSpPr/>
          <p:nvPr/>
        </p:nvSpPr>
        <p:spPr>
          <a:xfrm>
            <a:off x="8960548" y="1385424"/>
            <a:ext cx="1940768" cy="755779"/>
          </a:xfrm>
          <a:prstGeom prst="ellipse">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rgbClr val="0070C0"/>
                </a:solidFill>
                <a:latin typeface="Source Sans Pro" panose="020B0503030403020204" pitchFamily="34" charset="0"/>
              </a:rPr>
              <a:t>Marke</a:t>
            </a:r>
          </a:p>
        </p:txBody>
      </p:sp>
      <p:sp>
        <p:nvSpPr>
          <p:cNvPr id="31" name="Ellipse 30"/>
          <p:cNvSpPr/>
          <p:nvPr/>
        </p:nvSpPr>
        <p:spPr>
          <a:xfrm>
            <a:off x="9930932" y="2253619"/>
            <a:ext cx="1940768" cy="755779"/>
          </a:xfrm>
          <a:prstGeom prst="ellipse">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rgbClr val="0070C0"/>
                </a:solidFill>
                <a:latin typeface="Source Sans Pro" panose="020B0503030403020204" pitchFamily="34" charset="0"/>
              </a:rPr>
              <a:t>Baujahr</a:t>
            </a:r>
          </a:p>
        </p:txBody>
      </p:sp>
      <p:cxnSp>
        <p:nvCxnSpPr>
          <p:cNvPr id="32" name="Gerader Verbinder 31"/>
          <p:cNvCxnSpPr>
            <a:stCxn id="29" idx="4"/>
          </p:cNvCxnSpPr>
          <p:nvPr/>
        </p:nvCxnSpPr>
        <p:spPr>
          <a:xfrm>
            <a:off x="8092802" y="2777607"/>
            <a:ext cx="263589" cy="562178"/>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3" name="Gerader Verbinder 32"/>
          <p:cNvCxnSpPr>
            <a:stCxn id="30" idx="3"/>
          </p:cNvCxnSpPr>
          <p:nvPr/>
        </p:nvCxnSpPr>
        <p:spPr>
          <a:xfrm flipH="1">
            <a:off x="8822922" y="2030522"/>
            <a:ext cx="421845" cy="1290079"/>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4" name="Gerader Verbinder 33"/>
          <p:cNvCxnSpPr>
            <a:stCxn id="31" idx="3"/>
          </p:cNvCxnSpPr>
          <p:nvPr/>
        </p:nvCxnSpPr>
        <p:spPr>
          <a:xfrm flipH="1">
            <a:off x="9285771" y="2898717"/>
            <a:ext cx="929380" cy="421884"/>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sp>
        <p:nvSpPr>
          <p:cNvPr id="6" name="Textfeld 5"/>
          <p:cNvSpPr txBox="1"/>
          <p:nvPr/>
        </p:nvSpPr>
        <p:spPr>
          <a:xfrm>
            <a:off x="0" y="4819426"/>
            <a:ext cx="12192000" cy="1200329"/>
          </a:xfrm>
          <a:prstGeom prst="rect">
            <a:avLst/>
          </a:prstGeom>
          <a:noFill/>
        </p:spPr>
        <p:txBody>
          <a:bodyPr wrap="square" rtlCol="0">
            <a:spAutoFit/>
          </a:bodyPr>
          <a:lstStyle/>
          <a:p>
            <a:pPr algn="ctr"/>
            <a:r>
              <a:rPr lang="de-DE" dirty="0">
                <a:solidFill>
                  <a:srgbClr val="0070C0"/>
                </a:solidFill>
                <a:latin typeface="Source Sans Pro" panose="020B0503030403020204" pitchFamily="34" charset="0"/>
              </a:rPr>
              <a:t>Wir werden später erfahren, dass man im Rahmen des </a:t>
            </a:r>
            <a:r>
              <a:rPr lang="de-DE" b="1" dirty="0">
                <a:solidFill>
                  <a:srgbClr val="0070C0"/>
                </a:solidFill>
                <a:latin typeface="Source Sans Pro" panose="020B0503030403020204" pitchFamily="34" charset="0"/>
              </a:rPr>
              <a:t>Logischen Datenbankentwurfes üblicherweise </a:t>
            </a:r>
            <a:r>
              <a:rPr lang="de-DE" dirty="0">
                <a:solidFill>
                  <a:srgbClr val="0070C0"/>
                </a:solidFill>
                <a:latin typeface="Source Sans Pro" panose="020B0503030403020204" pitchFamily="34" charset="0"/>
              </a:rPr>
              <a:t>fordert,</a:t>
            </a:r>
          </a:p>
          <a:p>
            <a:pPr algn="ctr"/>
            <a:r>
              <a:rPr lang="de-DE" dirty="0">
                <a:solidFill>
                  <a:srgbClr val="0070C0"/>
                </a:solidFill>
                <a:latin typeface="Source Sans Pro" panose="020B0503030403020204" pitchFamily="34" charset="0"/>
              </a:rPr>
              <a:t>dass das zusammengesetzte Attribut </a:t>
            </a:r>
            <a:r>
              <a:rPr lang="de-DE" dirty="0">
                <a:solidFill>
                  <a:schemeClr val="accent2"/>
                </a:solidFill>
                <a:latin typeface="Source Sans Pro" panose="020B0503030403020204" pitchFamily="34" charset="0"/>
              </a:rPr>
              <a:t>„Name“ </a:t>
            </a:r>
            <a:r>
              <a:rPr lang="de-DE" dirty="0">
                <a:solidFill>
                  <a:srgbClr val="0070C0"/>
                </a:solidFill>
                <a:latin typeface="Source Sans Pro" panose="020B0503030403020204" pitchFamily="34" charset="0"/>
              </a:rPr>
              <a:t>in die Attribute </a:t>
            </a:r>
            <a:r>
              <a:rPr lang="de-DE" dirty="0">
                <a:solidFill>
                  <a:schemeClr val="accent2">
                    <a:lumMod val="50000"/>
                  </a:schemeClr>
                </a:solidFill>
                <a:latin typeface="Source Sans Pro" panose="020B0503030403020204" pitchFamily="34" charset="0"/>
              </a:rPr>
              <a:t>„Vorname“ </a:t>
            </a:r>
            <a:r>
              <a:rPr lang="de-DE" dirty="0">
                <a:solidFill>
                  <a:srgbClr val="0070C0"/>
                </a:solidFill>
                <a:latin typeface="Source Sans Pro" panose="020B0503030403020204" pitchFamily="34" charset="0"/>
              </a:rPr>
              <a:t>und </a:t>
            </a:r>
            <a:r>
              <a:rPr lang="de-DE" dirty="0">
                <a:solidFill>
                  <a:schemeClr val="accent2">
                    <a:lumMod val="50000"/>
                  </a:schemeClr>
                </a:solidFill>
                <a:latin typeface="Source Sans Pro" panose="020B0503030403020204" pitchFamily="34" charset="0"/>
              </a:rPr>
              <a:t>„Nachname“ </a:t>
            </a:r>
            <a:r>
              <a:rPr lang="de-DE" dirty="0">
                <a:solidFill>
                  <a:srgbClr val="0070C0"/>
                </a:solidFill>
                <a:latin typeface="Source Sans Pro" panose="020B0503030403020204" pitchFamily="34" charset="0"/>
              </a:rPr>
              <a:t>zerlegt wird.</a:t>
            </a:r>
          </a:p>
          <a:p>
            <a:pPr algn="ctr"/>
            <a:endParaRPr lang="de-DE" dirty="0">
              <a:solidFill>
                <a:srgbClr val="0070C0"/>
              </a:solidFill>
              <a:latin typeface="Source Sans Pro" panose="020B0503030403020204" pitchFamily="34" charset="0"/>
            </a:endParaRPr>
          </a:p>
          <a:p>
            <a:pPr algn="ctr"/>
            <a:r>
              <a:rPr lang="de-DE" dirty="0">
                <a:solidFill>
                  <a:srgbClr val="0070C0"/>
                </a:solidFill>
                <a:latin typeface="Source Sans Pro" panose="020B0503030403020204" pitchFamily="34" charset="0"/>
              </a:rPr>
              <a:t>Während des </a:t>
            </a:r>
            <a:r>
              <a:rPr lang="de-DE" b="1" dirty="0">
                <a:solidFill>
                  <a:srgbClr val="0070C0"/>
                </a:solidFill>
                <a:latin typeface="Source Sans Pro" panose="020B0503030403020204" pitchFamily="34" charset="0"/>
              </a:rPr>
              <a:t>Konzeptionellen Datenbankentwurfs </a:t>
            </a:r>
            <a:r>
              <a:rPr lang="de-DE" dirty="0">
                <a:solidFill>
                  <a:srgbClr val="0070C0"/>
                </a:solidFill>
                <a:latin typeface="Source Sans Pro" panose="020B0503030403020204" pitchFamily="34" charset="0"/>
              </a:rPr>
              <a:t>wird dies jedoch </a:t>
            </a:r>
            <a:r>
              <a:rPr lang="de-DE" b="1" dirty="0">
                <a:solidFill>
                  <a:srgbClr val="0070C0"/>
                </a:solidFill>
                <a:latin typeface="Source Sans Pro" panose="020B0503030403020204" pitchFamily="34" charset="0"/>
              </a:rPr>
              <a:t>nicht zwingend </a:t>
            </a:r>
            <a:r>
              <a:rPr lang="de-DE" dirty="0">
                <a:solidFill>
                  <a:srgbClr val="0070C0"/>
                </a:solidFill>
                <a:latin typeface="Source Sans Pro" panose="020B0503030403020204" pitchFamily="34" charset="0"/>
              </a:rPr>
              <a:t>verlangt.</a:t>
            </a:r>
          </a:p>
        </p:txBody>
      </p:sp>
      <p:sp>
        <p:nvSpPr>
          <p:cNvPr id="24" name="Ellipse 23"/>
          <p:cNvSpPr/>
          <p:nvPr/>
        </p:nvSpPr>
        <p:spPr>
          <a:xfrm>
            <a:off x="4202351" y="1083363"/>
            <a:ext cx="1161501" cy="455884"/>
          </a:xfrm>
          <a:prstGeom prst="ellipse">
            <a:avLst/>
          </a:prstGeom>
          <a:noFill/>
          <a:ln w="1905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accent2">
                    <a:lumMod val="50000"/>
                  </a:schemeClr>
                </a:solidFill>
                <a:latin typeface="Source Sans Pro" panose="020B0503030403020204" pitchFamily="34" charset="0"/>
              </a:rPr>
              <a:t>Vorname</a:t>
            </a:r>
          </a:p>
        </p:txBody>
      </p:sp>
      <p:sp>
        <p:nvSpPr>
          <p:cNvPr id="25" name="Ellipse 24"/>
          <p:cNvSpPr/>
          <p:nvPr/>
        </p:nvSpPr>
        <p:spPr>
          <a:xfrm>
            <a:off x="4743320" y="1611198"/>
            <a:ext cx="1236098" cy="455884"/>
          </a:xfrm>
          <a:prstGeom prst="ellipse">
            <a:avLst/>
          </a:prstGeom>
          <a:noFill/>
          <a:ln w="1905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accent2">
                    <a:lumMod val="50000"/>
                  </a:schemeClr>
                </a:solidFill>
                <a:latin typeface="Source Sans Pro" panose="020B0503030403020204" pitchFamily="34" charset="0"/>
              </a:rPr>
              <a:t>Nachname</a:t>
            </a:r>
          </a:p>
        </p:txBody>
      </p:sp>
      <p:cxnSp>
        <p:nvCxnSpPr>
          <p:cNvPr id="26" name="Gerader Verbinder 25"/>
          <p:cNvCxnSpPr>
            <a:stCxn id="24" idx="3"/>
          </p:cNvCxnSpPr>
          <p:nvPr/>
        </p:nvCxnSpPr>
        <p:spPr>
          <a:xfrm flipH="1">
            <a:off x="3954631" y="1472484"/>
            <a:ext cx="417818" cy="101012"/>
          </a:xfrm>
          <a:prstGeom prst="line">
            <a:avLst/>
          </a:prstGeom>
          <a:ln>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5" name="Gerader Verbinder 34"/>
          <p:cNvCxnSpPr>
            <a:stCxn id="25" idx="2"/>
            <a:endCxn id="14" idx="6"/>
          </p:cNvCxnSpPr>
          <p:nvPr/>
        </p:nvCxnSpPr>
        <p:spPr>
          <a:xfrm flipH="1" flipV="1">
            <a:off x="4093807" y="1763314"/>
            <a:ext cx="649513" cy="75826"/>
          </a:xfrm>
          <a:prstGeom prst="line">
            <a:avLst/>
          </a:prstGeom>
          <a:ln>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5237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10020344" cy="720725"/>
          </a:xfrm>
        </p:spPr>
        <p:txBody>
          <a:bodyPr>
            <a:normAutofit/>
          </a:bodyPr>
          <a:lstStyle/>
          <a:p>
            <a:r>
              <a:rPr lang="de-DE" dirty="0">
                <a:latin typeface="Source Sans Pro" panose="020B0503030403020204" pitchFamily="34" charset="0"/>
              </a:rPr>
              <a:t>ERD-Symbole -&gt; </a:t>
            </a:r>
            <a:r>
              <a:rPr lang="de-DE" dirty="0">
                <a:solidFill>
                  <a:schemeClr val="accent2"/>
                </a:solidFill>
                <a:latin typeface="Source Sans Pro" panose="020B0503030403020204" pitchFamily="34" charset="0"/>
              </a:rPr>
              <a:t>abgeleitete</a:t>
            </a:r>
            <a:r>
              <a:rPr lang="de-DE" dirty="0">
                <a:latin typeface="Source Sans Pro" panose="020B0503030403020204" pitchFamily="34" charset="0"/>
              </a:rPr>
              <a:t> Attribute</a:t>
            </a:r>
            <a:endParaRPr lang="de-DE" sz="18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a:xfrm>
            <a:off x="548562" y="1104065"/>
            <a:ext cx="11495754" cy="714373"/>
          </a:xfrm>
        </p:spPr>
        <p:txBody>
          <a:bodyPr/>
          <a:lstStyle/>
          <a:p>
            <a:endParaRPr lang="de-DE" dirty="0"/>
          </a:p>
          <a:p>
            <a:endParaRPr lang="de-DE" dirty="0"/>
          </a:p>
        </p:txBody>
      </p:sp>
      <p:sp>
        <p:nvSpPr>
          <p:cNvPr id="2" name="Rechteck 1"/>
          <p:cNvSpPr/>
          <p:nvPr/>
        </p:nvSpPr>
        <p:spPr>
          <a:xfrm>
            <a:off x="849087" y="3331454"/>
            <a:ext cx="2687216" cy="1296955"/>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600" dirty="0">
                <a:solidFill>
                  <a:srgbClr val="0070C0"/>
                </a:solidFill>
                <a:latin typeface="Source Sans Pro" panose="020B0503030403020204" pitchFamily="34" charset="0"/>
              </a:rPr>
              <a:t>Person</a:t>
            </a:r>
          </a:p>
        </p:txBody>
      </p:sp>
      <p:sp>
        <p:nvSpPr>
          <p:cNvPr id="8" name="Rechteck 7"/>
          <p:cNvSpPr/>
          <p:nvPr/>
        </p:nvSpPr>
        <p:spPr>
          <a:xfrm>
            <a:off x="7940352" y="3331454"/>
            <a:ext cx="2687216" cy="1296955"/>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600" dirty="0">
                <a:solidFill>
                  <a:srgbClr val="0070C0"/>
                </a:solidFill>
                <a:latin typeface="Source Sans Pro" panose="020B0503030403020204" pitchFamily="34" charset="0"/>
              </a:rPr>
              <a:t>Auto</a:t>
            </a:r>
          </a:p>
        </p:txBody>
      </p:sp>
      <p:sp>
        <p:nvSpPr>
          <p:cNvPr id="10" name="Ellipse 9"/>
          <p:cNvSpPr/>
          <p:nvPr/>
        </p:nvSpPr>
        <p:spPr>
          <a:xfrm>
            <a:off x="314909" y="2021828"/>
            <a:ext cx="1940768" cy="755779"/>
          </a:xfrm>
          <a:prstGeom prst="ellipse">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rgbClr val="0070C0"/>
                </a:solidFill>
                <a:latin typeface="Source Sans Pro" panose="020B0503030403020204" pitchFamily="34" charset="0"/>
              </a:rPr>
              <a:t>Person_ID</a:t>
            </a:r>
          </a:p>
        </p:txBody>
      </p:sp>
      <p:sp>
        <p:nvSpPr>
          <p:cNvPr id="14" name="Ellipse 13"/>
          <p:cNvSpPr/>
          <p:nvPr/>
        </p:nvSpPr>
        <p:spPr>
          <a:xfrm>
            <a:off x="2153039" y="1385424"/>
            <a:ext cx="1940768" cy="755779"/>
          </a:xfrm>
          <a:prstGeom prst="ellipse">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rgbClr val="0070C0"/>
                </a:solidFill>
                <a:latin typeface="Source Sans Pro" panose="020B0503030403020204" pitchFamily="34" charset="0"/>
              </a:rPr>
              <a:t>Name</a:t>
            </a:r>
          </a:p>
        </p:txBody>
      </p:sp>
      <p:sp>
        <p:nvSpPr>
          <p:cNvPr id="15" name="Ellipse 14"/>
          <p:cNvSpPr/>
          <p:nvPr/>
        </p:nvSpPr>
        <p:spPr>
          <a:xfrm>
            <a:off x="3123423" y="2253619"/>
            <a:ext cx="1940768" cy="755779"/>
          </a:xfrm>
          <a:prstGeom prst="ellipse">
            <a:avLst/>
          </a:prstGeom>
          <a:noFill/>
          <a:ln w="19050">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accent2"/>
                </a:solidFill>
                <a:latin typeface="Source Sans Pro" panose="020B0503030403020204" pitchFamily="34" charset="0"/>
              </a:rPr>
              <a:t>Alter</a:t>
            </a:r>
          </a:p>
        </p:txBody>
      </p:sp>
      <p:cxnSp>
        <p:nvCxnSpPr>
          <p:cNvPr id="17" name="Gerader Verbinder 16"/>
          <p:cNvCxnSpPr>
            <a:stCxn id="10" idx="4"/>
          </p:cNvCxnSpPr>
          <p:nvPr/>
        </p:nvCxnSpPr>
        <p:spPr>
          <a:xfrm>
            <a:off x="1285293" y="2777607"/>
            <a:ext cx="263589" cy="562178"/>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stCxn id="14" idx="3"/>
          </p:cNvCxnSpPr>
          <p:nvPr/>
        </p:nvCxnSpPr>
        <p:spPr>
          <a:xfrm flipH="1">
            <a:off x="2015413" y="2030522"/>
            <a:ext cx="421845" cy="1290079"/>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1" name="Gerader Verbinder 20"/>
          <p:cNvCxnSpPr>
            <a:stCxn id="15" idx="3"/>
          </p:cNvCxnSpPr>
          <p:nvPr/>
        </p:nvCxnSpPr>
        <p:spPr>
          <a:xfrm flipH="1">
            <a:off x="2478262" y="2898717"/>
            <a:ext cx="929380" cy="421884"/>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29" name="Ellipse 28"/>
          <p:cNvSpPr/>
          <p:nvPr/>
        </p:nvSpPr>
        <p:spPr>
          <a:xfrm>
            <a:off x="7122418" y="2021828"/>
            <a:ext cx="1940768" cy="755779"/>
          </a:xfrm>
          <a:prstGeom prst="ellipse">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rgbClr val="0070C0"/>
                </a:solidFill>
                <a:latin typeface="Source Sans Pro" panose="020B0503030403020204" pitchFamily="34" charset="0"/>
              </a:rPr>
              <a:t>Auto_ID</a:t>
            </a:r>
          </a:p>
        </p:txBody>
      </p:sp>
      <p:sp>
        <p:nvSpPr>
          <p:cNvPr id="30" name="Ellipse 29"/>
          <p:cNvSpPr/>
          <p:nvPr/>
        </p:nvSpPr>
        <p:spPr>
          <a:xfrm>
            <a:off x="8960548" y="1385424"/>
            <a:ext cx="1940768" cy="755779"/>
          </a:xfrm>
          <a:prstGeom prst="ellipse">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rgbClr val="0070C0"/>
                </a:solidFill>
                <a:latin typeface="Source Sans Pro" panose="020B0503030403020204" pitchFamily="34" charset="0"/>
              </a:rPr>
              <a:t>Marke</a:t>
            </a:r>
          </a:p>
        </p:txBody>
      </p:sp>
      <p:sp>
        <p:nvSpPr>
          <p:cNvPr id="31" name="Ellipse 30"/>
          <p:cNvSpPr/>
          <p:nvPr/>
        </p:nvSpPr>
        <p:spPr>
          <a:xfrm>
            <a:off x="9930932" y="2253619"/>
            <a:ext cx="1940768" cy="755779"/>
          </a:xfrm>
          <a:prstGeom prst="ellipse">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rgbClr val="0070C0"/>
                </a:solidFill>
                <a:latin typeface="Source Sans Pro" panose="020B0503030403020204" pitchFamily="34" charset="0"/>
              </a:rPr>
              <a:t>Baujahr</a:t>
            </a:r>
          </a:p>
        </p:txBody>
      </p:sp>
      <p:cxnSp>
        <p:nvCxnSpPr>
          <p:cNvPr id="32" name="Gerader Verbinder 31"/>
          <p:cNvCxnSpPr>
            <a:stCxn id="29" idx="4"/>
          </p:cNvCxnSpPr>
          <p:nvPr/>
        </p:nvCxnSpPr>
        <p:spPr>
          <a:xfrm>
            <a:off x="8092802" y="2777607"/>
            <a:ext cx="263589" cy="562178"/>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3" name="Gerader Verbinder 32"/>
          <p:cNvCxnSpPr>
            <a:stCxn id="30" idx="3"/>
          </p:cNvCxnSpPr>
          <p:nvPr/>
        </p:nvCxnSpPr>
        <p:spPr>
          <a:xfrm flipH="1">
            <a:off x="8822922" y="2030522"/>
            <a:ext cx="421845" cy="1290079"/>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4" name="Gerader Verbinder 33"/>
          <p:cNvCxnSpPr>
            <a:stCxn id="31" idx="3"/>
          </p:cNvCxnSpPr>
          <p:nvPr/>
        </p:nvCxnSpPr>
        <p:spPr>
          <a:xfrm flipH="1">
            <a:off x="9285771" y="2898717"/>
            <a:ext cx="929380" cy="421884"/>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sp>
        <p:nvSpPr>
          <p:cNvPr id="6" name="Textfeld 5"/>
          <p:cNvSpPr txBox="1"/>
          <p:nvPr/>
        </p:nvSpPr>
        <p:spPr>
          <a:xfrm>
            <a:off x="0" y="4819426"/>
            <a:ext cx="12192000" cy="861774"/>
          </a:xfrm>
          <a:prstGeom prst="rect">
            <a:avLst/>
          </a:prstGeom>
          <a:noFill/>
        </p:spPr>
        <p:txBody>
          <a:bodyPr wrap="square" rtlCol="0">
            <a:spAutoFit/>
          </a:bodyPr>
          <a:lstStyle/>
          <a:p>
            <a:pPr algn="ctr"/>
            <a:r>
              <a:rPr lang="de-DE" sz="1600" dirty="0">
                <a:solidFill>
                  <a:srgbClr val="0070C0"/>
                </a:solidFill>
                <a:latin typeface="Source Sans Pro" panose="020B0503030403020204" pitchFamily="34" charset="0"/>
              </a:rPr>
              <a:t>Wir werden später beim </a:t>
            </a:r>
            <a:r>
              <a:rPr lang="de-DE" sz="1600" b="1" dirty="0">
                <a:solidFill>
                  <a:srgbClr val="0070C0"/>
                </a:solidFill>
                <a:latin typeface="Source Sans Pro" panose="020B0503030403020204" pitchFamily="34" charset="0"/>
              </a:rPr>
              <a:t>Logischen Datenbankentwurf </a:t>
            </a:r>
            <a:r>
              <a:rPr lang="de-DE" sz="1600" dirty="0">
                <a:solidFill>
                  <a:srgbClr val="0070C0"/>
                </a:solidFill>
                <a:latin typeface="Source Sans Pro" panose="020B0503030403020204" pitchFamily="34" charset="0"/>
              </a:rPr>
              <a:t>darauf achten, dass wir </a:t>
            </a:r>
            <a:r>
              <a:rPr lang="de-DE" sz="1600" u="sng" dirty="0">
                <a:solidFill>
                  <a:srgbClr val="0070C0"/>
                </a:solidFill>
                <a:latin typeface="Source Sans Pro" panose="020B0503030403020204" pitchFamily="34" charset="0"/>
              </a:rPr>
              <a:t>veränderliche</a:t>
            </a:r>
            <a:r>
              <a:rPr lang="de-DE" sz="1600" dirty="0">
                <a:solidFill>
                  <a:srgbClr val="0070C0"/>
                </a:solidFill>
                <a:latin typeface="Source Sans Pro" panose="020B0503030403020204" pitchFamily="34" charset="0"/>
              </a:rPr>
              <a:t> Größen von </a:t>
            </a:r>
            <a:r>
              <a:rPr lang="de-DE" sz="1600" u="sng" dirty="0">
                <a:solidFill>
                  <a:srgbClr val="0070C0"/>
                </a:solidFill>
                <a:latin typeface="Source Sans Pro" panose="020B0503030403020204" pitchFamily="34" charset="0"/>
              </a:rPr>
              <a:t>konstanten</a:t>
            </a:r>
            <a:r>
              <a:rPr lang="de-DE" sz="1600" dirty="0">
                <a:solidFill>
                  <a:srgbClr val="0070C0"/>
                </a:solidFill>
                <a:latin typeface="Source Sans Pro" panose="020B0503030403020204" pitchFamily="34" charset="0"/>
              </a:rPr>
              <a:t> Größen ableiten:</a:t>
            </a:r>
          </a:p>
          <a:p>
            <a:pPr algn="ctr"/>
            <a:r>
              <a:rPr lang="de-DE" sz="1600" dirty="0">
                <a:solidFill>
                  <a:srgbClr val="0070C0"/>
                </a:solidFill>
                <a:latin typeface="Source Sans Pro" panose="020B0503030403020204" pitchFamily="34" charset="0"/>
              </a:rPr>
              <a:t>Das sich jedes Jahr ändernde </a:t>
            </a:r>
            <a:r>
              <a:rPr lang="de-DE" sz="1600" dirty="0">
                <a:solidFill>
                  <a:schemeClr val="accent2"/>
                </a:solidFill>
                <a:latin typeface="Source Sans Pro" panose="020B0503030403020204" pitchFamily="34" charset="0"/>
              </a:rPr>
              <a:t>„Alter“ </a:t>
            </a:r>
            <a:r>
              <a:rPr lang="de-DE" sz="1600" dirty="0">
                <a:solidFill>
                  <a:srgbClr val="0070C0"/>
                </a:solidFill>
                <a:latin typeface="Source Sans Pro" panose="020B0503030403020204" pitchFamily="34" charset="0"/>
              </a:rPr>
              <a:t>können wir aus dem konstanten </a:t>
            </a:r>
            <a:r>
              <a:rPr lang="de-DE" sz="1600" dirty="0">
                <a:solidFill>
                  <a:schemeClr val="accent2">
                    <a:lumMod val="50000"/>
                  </a:schemeClr>
                </a:solidFill>
                <a:latin typeface="Source Sans Pro" panose="020B0503030403020204" pitchFamily="34" charset="0"/>
              </a:rPr>
              <a:t>„Geburtsdatum“ </a:t>
            </a:r>
            <a:r>
              <a:rPr lang="de-DE" sz="1600" dirty="0">
                <a:solidFill>
                  <a:srgbClr val="0070C0"/>
                </a:solidFill>
                <a:latin typeface="Source Sans Pro" panose="020B0503030403020204" pitchFamily="34" charset="0"/>
              </a:rPr>
              <a:t>ableiten.</a:t>
            </a:r>
          </a:p>
          <a:p>
            <a:pPr algn="ctr"/>
            <a:endParaRPr lang="de-DE" dirty="0">
              <a:solidFill>
                <a:srgbClr val="0070C0"/>
              </a:solidFill>
            </a:endParaRPr>
          </a:p>
        </p:txBody>
      </p:sp>
      <p:sp>
        <p:nvSpPr>
          <p:cNvPr id="22" name="Ellipse 21"/>
          <p:cNvSpPr/>
          <p:nvPr/>
        </p:nvSpPr>
        <p:spPr>
          <a:xfrm>
            <a:off x="4363536" y="3009398"/>
            <a:ext cx="2261708" cy="755779"/>
          </a:xfrm>
          <a:prstGeom prst="ellipse">
            <a:avLst/>
          </a:prstGeom>
          <a:noFill/>
          <a:ln w="1905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accent2">
                    <a:lumMod val="50000"/>
                  </a:schemeClr>
                </a:solidFill>
                <a:latin typeface="Source Sans Pro" panose="020B0503030403020204" pitchFamily="34" charset="0"/>
              </a:rPr>
              <a:t>Geburtsdatum</a:t>
            </a:r>
          </a:p>
        </p:txBody>
      </p:sp>
      <p:cxnSp>
        <p:nvCxnSpPr>
          <p:cNvPr id="23" name="Gerader Verbinder 22"/>
          <p:cNvCxnSpPr/>
          <p:nvPr/>
        </p:nvCxnSpPr>
        <p:spPr>
          <a:xfrm flipH="1">
            <a:off x="3536304" y="3420627"/>
            <a:ext cx="841722" cy="103969"/>
          </a:xfrm>
          <a:prstGeom prst="line">
            <a:avLst/>
          </a:prstGeom>
          <a:ln>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635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10020344" cy="720725"/>
          </a:xfrm>
        </p:spPr>
        <p:txBody>
          <a:bodyPr>
            <a:normAutofit fontScale="90000"/>
          </a:bodyPr>
          <a:lstStyle/>
          <a:p>
            <a:r>
              <a:rPr lang="de-DE" dirty="0">
                <a:latin typeface="Source Sans Pro" panose="020B0503030403020204" pitchFamily="34" charset="0"/>
              </a:rPr>
              <a:t>ERD-Symbole -&gt; </a:t>
            </a:r>
            <a:r>
              <a:rPr lang="de-DE" sz="2000" dirty="0">
                <a:solidFill>
                  <a:schemeClr val="accent2"/>
                </a:solidFill>
                <a:latin typeface="Source Sans Pro" panose="020B0503030403020204" pitchFamily="34" charset="0"/>
              </a:rPr>
              <a:t>zusammengesetzte </a:t>
            </a:r>
            <a:r>
              <a:rPr lang="de-DE" sz="2000" dirty="0">
                <a:latin typeface="Source Sans Pro" panose="020B0503030403020204" pitchFamily="34" charset="0"/>
              </a:rPr>
              <a:t>oder</a:t>
            </a:r>
            <a:r>
              <a:rPr lang="de-DE" sz="2000" dirty="0">
                <a:solidFill>
                  <a:schemeClr val="accent2"/>
                </a:solidFill>
                <a:latin typeface="Source Sans Pro" panose="020B0503030403020204" pitchFamily="34" charset="0"/>
              </a:rPr>
              <a:t> abgeleitete</a:t>
            </a:r>
            <a:r>
              <a:rPr lang="de-DE" dirty="0">
                <a:latin typeface="Source Sans Pro" panose="020B0503030403020204" pitchFamily="34" charset="0"/>
              </a:rPr>
              <a:t> Attribute</a:t>
            </a:r>
            <a:endParaRPr lang="de-DE" sz="18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a:xfrm>
            <a:off x="548562" y="1104065"/>
            <a:ext cx="11495754" cy="714373"/>
          </a:xfrm>
        </p:spPr>
        <p:txBody>
          <a:bodyPr/>
          <a:lstStyle/>
          <a:p>
            <a:endParaRPr lang="de-DE" dirty="0"/>
          </a:p>
          <a:p>
            <a:endParaRPr lang="de-DE" dirty="0"/>
          </a:p>
        </p:txBody>
      </p:sp>
      <p:sp>
        <p:nvSpPr>
          <p:cNvPr id="2" name="Rechteck 1"/>
          <p:cNvSpPr/>
          <p:nvPr/>
        </p:nvSpPr>
        <p:spPr>
          <a:xfrm>
            <a:off x="849087" y="3331454"/>
            <a:ext cx="2687216" cy="1296955"/>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600" dirty="0">
                <a:solidFill>
                  <a:srgbClr val="0070C0"/>
                </a:solidFill>
                <a:latin typeface="Source Sans Pro" panose="020B0503030403020204" pitchFamily="34" charset="0"/>
              </a:rPr>
              <a:t>Person</a:t>
            </a:r>
          </a:p>
        </p:txBody>
      </p:sp>
      <p:sp>
        <p:nvSpPr>
          <p:cNvPr id="8" name="Rechteck 7"/>
          <p:cNvSpPr/>
          <p:nvPr/>
        </p:nvSpPr>
        <p:spPr>
          <a:xfrm>
            <a:off x="7940352" y="3331454"/>
            <a:ext cx="2687216" cy="1296955"/>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600" dirty="0">
                <a:solidFill>
                  <a:srgbClr val="0070C0"/>
                </a:solidFill>
                <a:latin typeface="Source Sans Pro" panose="020B0503030403020204" pitchFamily="34" charset="0"/>
              </a:rPr>
              <a:t>Auto</a:t>
            </a:r>
          </a:p>
        </p:txBody>
      </p:sp>
      <p:sp>
        <p:nvSpPr>
          <p:cNvPr id="10" name="Ellipse 9"/>
          <p:cNvSpPr/>
          <p:nvPr/>
        </p:nvSpPr>
        <p:spPr>
          <a:xfrm>
            <a:off x="314909" y="2021828"/>
            <a:ext cx="1940768" cy="755779"/>
          </a:xfrm>
          <a:prstGeom prst="ellipse">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rgbClr val="0070C0"/>
                </a:solidFill>
                <a:latin typeface="Source Sans Pro" panose="020B0503030403020204" pitchFamily="34" charset="0"/>
              </a:rPr>
              <a:t>Person_ID</a:t>
            </a:r>
          </a:p>
        </p:txBody>
      </p:sp>
      <p:sp>
        <p:nvSpPr>
          <p:cNvPr id="14" name="Ellipse 13"/>
          <p:cNvSpPr/>
          <p:nvPr/>
        </p:nvSpPr>
        <p:spPr>
          <a:xfrm>
            <a:off x="2153039" y="1385424"/>
            <a:ext cx="1940768" cy="755779"/>
          </a:xfrm>
          <a:prstGeom prst="ellipse">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accent2"/>
                </a:solidFill>
                <a:latin typeface="Source Sans Pro" panose="020B0503030403020204" pitchFamily="34" charset="0"/>
              </a:rPr>
              <a:t>Name</a:t>
            </a:r>
          </a:p>
        </p:txBody>
      </p:sp>
      <p:sp>
        <p:nvSpPr>
          <p:cNvPr id="15" name="Ellipse 14"/>
          <p:cNvSpPr/>
          <p:nvPr/>
        </p:nvSpPr>
        <p:spPr>
          <a:xfrm>
            <a:off x="3123423" y="2253619"/>
            <a:ext cx="1940768" cy="755779"/>
          </a:xfrm>
          <a:prstGeom prst="ellipse">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accent2"/>
                </a:solidFill>
                <a:latin typeface="Source Sans Pro" panose="020B0503030403020204" pitchFamily="34" charset="0"/>
              </a:rPr>
              <a:t>Alter</a:t>
            </a:r>
          </a:p>
        </p:txBody>
      </p:sp>
      <p:cxnSp>
        <p:nvCxnSpPr>
          <p:cNvPr id="17" name="Gerader Verbinder 16"/>
          <p:cNvCxnSpPr>
            <a:stCxn id="10" idx="4"/>
          </p:cNvCxnSpPr>
          <p:nvPr/>
        </p:nvCxnSpPr>
        <p:spPr>
          <a:xfrm>
            <a:off x="1285293" y="2777607"/>
            <a:ext cx="263589" cy="562178"/>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stCxn id="14" idx="3"/>
          </p:cNvCxnSpPr>
          <p:nvPr/>
        </p:nvCxnSpPr>
        <p:spPr>
          <a:xfrm flipH="1">
            <a:off x="2015413" y="2030522"/>
            <a:ext cx="421845" cy="129007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Gerader Verbinder 20"/>
          <p:cNvCxnSpPr>
            <a:stCxn id="15" idx="3"/>
          </p:cNvCxnSpPr>
          <p:nvPr/>
        </p:nvCxnSpPr>
        <p:spPr>
          <a:xfrm flipH="1">
            <a:off x="2478262" y="2898717"/>
            <a:ext cx="929380" cy="421884"/>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29" name="Ellipse 28"/>
          <p:cNvSpPr/>
          <p:nvPr/>
        </p:nvSpPr>
        <p:spPr>
          <a:xfrm>
            <a:off x="7122418" y="2021828"/>
            <a:ext cx="1940768" cy="755779"/>
          </a:xfrm>
          <a:prstGeom prst="ellipse">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rgbClr val="0070C0"/>
                </a:solidFill>
                <a:latin typeface="Source Sans Pro" panose="020B0503030403020204" pitchFamily="34" charset="0"/>
              </a:rPr>
              <a:t>Auto_ID</a:t>
            </a:r>
          </a:p>
        </p:txBody>
      </p:sp>
      <p:sp>
        <p:nvSpPr>
          <p:cNvPr id="30" name="Ellipse 29"/>
          <p:cNvSpPr/>
          <p:nvPr/>
        </p:nvSpPr>
        <p:spPr>
          <a:xfrm>
            <a:off x="8960548" y="1385424"/>
            <a:ext cx="1940768" cy="755779"/>
          </a:xfrm>
          <a:prstGeom prst="ellipse">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rgbClr val="0070C0"/>
                </a:solidFill>
                <a:latin typeface="Source Sans Pro" panose="020B0503030403020204" pitchFamily="34" charset="0"/>
              </a:rPr>
              <a:t>Marke</a:t>
            </a:r>
          </a:p>
        </p:txBody>
      </p:sp>
      <p:sp>
        <p:nvSpPr>
          <p:cNvPr id="31" name="Ellipse 30"/>
          <p:cNvSpPr/>
          <p:nvPr/>
        </p:nvSpPr>
        <p:spPr>
          <a:xfrm>
            <a:off x="9930932" y="2253619"/>
            <a:ext cx="1940768" cy="755779"/>
          </a:xfrm>
          <a:prstGeom prst="ellipse">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rgbClr val="0070C0"/>
                </a:solidFill>
                <a:latin typeface="Source Sans Pro" panose="020B0503030403020204" pitchFamily="34" charset="0"/>
              </a:rPr>
              <a:t>Baujahr</a:t>
            </a:r>
          </a:p>
        </p:txBody>
      </p:sp>
      <p:cxnSp>
        <p:nvCxnSpPr>
          <p:cNvPr id="32" name="Gerader Verbinder 31"/>
          <p:cNvCxnSpPr>
            <a:stCxn id="29" idx="4"/>
          </p:cNvCxnSpPr>
          <p:nvPr/>
        </p:nvCxnSpPr>
        <p:spPr>
          <a:xfrm>
            <a:off x="8092802" y="2777607"/>
            <a:ext cx="263589" cy="562178"/>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3" name="Gerader Verbinder 32"/>
          <p:cNvCxnSpPr>
            <a:stCxn id="30" idx="3"/>
          </p:cNvCxnSpPr>
          <p:nvPr/>
        </p:nvCxnSpPr>
        <p:spPr>
          <a:xfrm flipH="1">
            <a:off x="8822922" y="2030522"/>
            <a:ext cx="421845" cy="1290079"/>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4" name="Gerader Verbinder 33"/>
          <p:cNvCxnSpPr>
            <a:stCxn id="31" idx="3"/>
          </p:cNvCxnSpPr>
          <p:nvPr/>
        </p:nvCxnSpPr>
        <p:spPr>
          <a:xfrm flipH="1">
            <a:off x="9285771" y="2898717"/>
            <a:ext cx="929380" cy="421884"/>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sp>
        <p:nvSpPr>
          <p:cNvPr id="6" name="Textfeld 5"/>
          <p:cNvSpPr txBox="1"/>
          <p:nvPr/>
        </p:nvSpPr>
        <p:spPr>
          <a:xfrm>
            <a:off x="0" y="4819426"/>
            <a:ext cx="12394276" cy="954107"/>
          </a:xfrm>
          <a:prstGeom prst="rect">
            <a:avLst/>
          </a:prstGeom>
          <a:noFill/>
        </p:spPr>
        <p:txBody>
          <a:bodyPr wrap="square" rtlCol="0">
            <a:spAutoFit/>
          </a:bodyPr>
          <a:lstStyle/>
          <a:p>
            <a:pPr algn="ctr"/>
            <a:r>
              <a:rPr lang="de-DE" sz="1400" dirty="0">
                <a:solidFill>
                  <a:srgbClr val="0070C0"/>
                </a:solidFill>
                <a:latin typeface="Source Sans Pro" panose="020B0503030403020204" pitchFamily="34" charset="0"/>
              </a:rPr>
              <a:t>Während des </a:t>
            </a:r>
            <a:r>
              <a:rPr lang="de-DE" sz="1400" b="1" dirty="0">
                <a:solidFill>
                  <a:srgbClr val="0070C0"/>
                </a:solidFill>
                <a:latin typeface="Source Sans Pro" panose="020B0503030403020204" pitchFamily="34" charset="0"/>
              </a:rPr>
              <a:t>Konzeptionellen Datenbankentwurfs </a:t>
            </a:r>
            <a:r>
              <a:rPr lang="de-DE" sz="1400" dirty="0">
                <a:solidFill>
                  <a:srgbClr val="0070C0"/>
                </a:solidFill>
                <a:latin typeface="Source Sans Pro" panose="020B0503030403020204" pitchFamily="34" charset="0"/>
              </a:rPr>
              <a:t>dürfen diese beiden Aspekte aber noch </a:t>
            </a:r>
            <a:r>
              <a:rPr lang="de-DE" sz="1400" b="1" dirty="0">
                <a:solidFill>
                  <a:srgbClr val="0070C0"/>
                </a:solidFill>
                <a:latin typeface="Source Sans Pro" panose="020B0503030403020204" pitchFamily="34" charset="0"/>
              </a:rPr>
              <a:t>unberücksichtigt bleiben</a:t>
            </a:r>
            <a:r>
              <a:rPr lang="de-DE" sz="1400" dirty="0">
                <a:solidFill>
                  <a:srgbClr val="0070C0"/>
                </a:solidFill>
                <a:latin typeface="Source Sans Pro" panose="020B0503030403020204" pitchFamily="34" charset="0"/>
              </a:rPr>
              <a:t>, </a:t>
            </a:r>
            <a:r>
              <a:rPr lang="de-DE" sz="1400" b="1" dirty="0">
                <a:solidFill>
                  <a:schemeClr val="accent2"/>
                </a:solidFill>
                <a:latin typeface="Source Sans Pro" panose="020B0503030403020204" pitchFamily="34" charset="0"/>
              </a:rPr>
              <a:t>weil</a:t>
            </a:r>
            <a:r>
              <a:rPr lang="de-DE" sz="1400" dirty="0">
                <a:solidFill>
                  <a:schemeClr val="accent2"/>
                </a:solidFill>
                <a:latin typeface="Source Sans Pro" panose="020B0503030403020204" pitchFamily="34" charset="0"/>
              </a:rPr>
              <a:t> …</a:t>
            </a:r>
          </a:p>
          <a:p>
            <a:pPr algn="ctr"/>
            <a:endParaRPr lang="de-DE" sz="1400" dirty="0">
              <a:solidFill>
                <a:srgbClr val="0070C0"/>
              </a:solidFill>
              <a:latin typeface="Source Sans Pro" panose="020B0503030403020204" pitchFamily="34" charset="0"/>
            </a:endParaRPr>
          </a:p>
          <a:p>
            <a:pPr algn="ctr"/>
            <a:r>
              <a:rPr lang="de-DE" sz="1400" dirty="0">
                <a:latin typeface="Source Sans Pro" panose="020B0503030403020204" pitchFamily="34" charset="0"/>
              </a:rPr>
              <a:t>… es in dieser ersten Entwurfsphase lediglich darum geht, alle vom Auftraggeber gewünschten </a:t>
            </a:r>
            <a:r>
              <a:rPr lang="de-DE" sz="1400" b="1" dirty="0">
                <a:latin typeface="Source Sans Pro" panose="020B0503030403020204" pitchFamily="34" charset="0"/>
              </a:rPr>
              <a:t>Elemente des Datenbankaufbaus </a:t>
            </a:r>
            <a:r>
              <a:rPr lang="de-DE" sz="1400" dirty="0">
                <a:latin typeface="Source Sans Pro" panose="020B0503030403020204" pitchFamily="34" charset="0"/>
              </a:rPr>
              <a:t>zu ermitteln.</a:t>
            </a:r>
          </a:p>
          <a:p>
            <a:pPr algn="ctr"/>
            <a:r>
              <a:rPr lang="de-DE" sz="1400" dirty="0">
                <a:latin typeface="Source Sans Pro" panose="020B0503030403020204" pitchFamily="34" charset="0"/>
              </a:rPr>
              <a:t>Fragen zur </a:t>
            </a:r>
            <a:r>
              <a:rPr lang="de-DE" sz="1400" b="1" dirty="0">
                <a:latin typeface="Source Sans Pro" panose="020B0503030403020204" pitchFamily="34" charset="0"/>
              </a:rPr>
              <a:t>technischen Umsetzung </a:t>
            </a:r>
            <a:r>
              <a:rPr lang="de-DE" sz="1400" dirty="0">
                <a:latin typeface="Source Sans Pro" panose="020B0503030403020204" pitchFamily="34" charset="0"/>
              </a:rPr>
              <a:t>dieser Elemente können daher zu diesem Zeitpunkt noch zurückgestellt werden.</a:t>
            </a:r>
          </a:p>
        </p:txBody>
      </p:sp>
    </p:spTree>
    <p:extLst>
      <p:ext uri="{BB962C8B-B14F-4D97-AF65-F5344CB8AC3E}">
        <p14:creationId xmlns:p14="http://schemas.microsoft.com/office/powerpoint/2010/main" val="252570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10020344" cy="720725"/>
          </a:xfrm>
        </p:spPr>
        <p:txBody>
          <a:bodyPr>
            <a:normAutofit/>
          </a:bodyPr>
          <a:lstStyle/>
          <a:p>
            <a:r>
              <a:rPr lang="de-DE" dirty="0">
                <a:latin typeface="Source Sans Pro" panose="020B0503030403020204" pitchFamily="34" charset="0"/>
              </a:rPr>
              <a:t>ERD-Symbole -&gt; </a:t>
            </a:r>
            <a:r>
              <a:rPr lang="de-DE" dirty="0">
                <a:solidFill>
                  <a:schemeClr val="accent2"/>
                </a:solidFill>
                <a:latin typeface="Source Sans Pro" panose="020B0503030403020204" pitchFamily="34" charset="0"/>
              </a:rPr>
              <a:t>Relation</a:t>
            </a:r>
            <a:endParaRPr lang="de-DE" sz="1800" b="0" i="1" dirty="0">
              <a:solidFill>
                <a:schemeClr val="accent2"/>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a:xfrm>
            <a:off x="548562" y="1104065"/>
            <a:ext cx="11495754" cy="714373"/>
          </a:xfrm>
        </p:spPr>
        <p:txBody>
          <a:bodyPr/>
          <a:lstStyle/>
          <a:p>
            <a:endParaRPr lang="de-DE" dirty="0"/>
          </a:p>
          <a:p>
            <a:endParaRPr lang="de-DE" dirty="0"/>
          </a:p>
        </p:txBody>
      </p:sp>
      <p:sp>
        <p:nvSpPr>
          <p:cNvPr id="2" name="Rechteck 1"/>
          <p:cNvSpPr/>
          <p:nvPr/>
        </p:nvSpPr>
        <p:spPr>
          <a:xfrm>
            <a:off x="849087" y="3331454"/>
            <a:ext cx="2687216" cy="1296955"/>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600" dirty="0">
                <a:solidFill>
                  <a:srgbClr val="0070C0"/>
                </a:solidFill>
                <a:latin typeface="Source Sans Pro" panose="020B0503030403020204" pitchFamily="34" charset="0"/>
              </a:rPr>
              <a:t>Person</a:t>
            </a:r>
          </a:p>
        </p:txBody>
      </p:sp>
      <p:sp>
        <p:nvSpPr>
          <p:cNvPr id="8" name="Rechteck 7"/>
          <p:cNvSpPr/>
          <p:nvPr/>
        </p:nvSpPr>
        <p:spPr>
          <a:xfrm>
            <a:off x="7940352" y="3331454"/>
            <a:ext cx="2687216" cy="1296955"/>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600" dirty="0">
                <a:solidFill>
                  <a:srgbClr val="0070C0"/>
                </a:solidFill>
                <a:latin typeface="Source Sans Pro" panose="020B0503030403020204" pitchFamily="34" charset="0"/>
              </a:rPr>
              <a:t>Auto</a:t>
            </a:r>
          </a:p>
        </p:txBody>
      </p:sp>
      <p:sp>
        <p:nvSpPr>
          <p:cNvPr id="3" name="Raute 2"/>
          <p:cNvSpPr/>
          <p:nvPr/>
        </p:nvSpPr>
        <p:spPr>
          <a:xfrm>
            <a:off x="4651311" y="3657167"/>
            <a:ext cx="2174033" cy="648478"/>
          </a:xfrm>
          <a:prstGeom prst="diamond">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dirty="0">
                <a:solidFill>
                  <a:schemeClr val="accent2"/>
                </a:solidFill>
                <a:latin typeface="Source Sans Pro" panose="020B0503030403020204" pitchFamily="34" charset="0"/>
              </a:rPr>
              <a:t>Eigentum</a:t>
            </a:r>
          </a:p>
        </p:txBody>
      </p:sp>
      <p:cxnSp>
        <p:nvCxnSpPr>
          <p:cNvPr id="9" name="Gerader Verbinder 8"/>
          <p:cNvCxnSpPr>
            <a:stCxn id="3" idx="1"/>
            <a:endCxn id="2" idx="3"/>
          </p:cNvCxnSpPr>
          <p:nvPr/>
        </p:nvCxnSpPr>
        <p:spPr>
          <a:xfrm flipH="1" flipV="1">
            <a:off x="3536303" y="3979932"/>
            <a:ext cx="1115008" cy="147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Gerader Verbinder 12"/>
          <p:cNvCxnSpPr/>
          <p:nvPr/>
        </p:nvCxnSpPr>
        <p:spPr>
          <a:xfrm flipH="1" flipV="1">
            <a:off x="6825344" y="3978457"/>
            <a:ext cx="1115008" cy="1474"/>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 name="Ellipse 9"/>
          <p:cNvSpPr/>
          <p:nvPr/>
        </p:nvSpPr>
        <p:spPr>
          <a:xfrm>
            <a:off x="314909" y="2021828"/>
            <a:ext cx="1940768" cy="755779"/>
          </a:xfrm>
          <a:prstGeom prst="ellipse">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rgbClr val="0070C0"/>
                </a:solidFill>
                <a:latin typeface="Source Sans Pro" panose="020B0503030403020204" pitchFamily="34" charset="0"/>
              </a:rPr>
              <a:t>Person_ID</a:t>
            </a:r>
          </a:p>
        </p:txBody>
      </p:sp>
      <p:sp>
        <p:nvSpPr>
          <p:cNvPr id="14" name="Ellipse 13"/>
          <p:cNvSpPr/>
          <p:nvPr/>
        </p:nvSpPr>
        <p:spPr>
          <a:xfrm>
            <a:off x="2153039" y="1385424"/>
            <a:ext cx="1940768" cy="755779"/>
          </a:xfrm>
          <a:prstGeom prst="ellipse">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rgbClr val="0070C0"/>
                </a:solidFill>
                <a:latin typeface="Source Sans Pro" panose="020B0503030403020204" pitchFamily="34" charset="0"/>
              </a:rPr>
              <a:t>Name</a:t>
            </a:r>
          </a:p>
        </p:txBody>
      </p:sp>
      <p:sp>
        <p:nvSpPr>
          <p:cNvPr id="15" name="Ellipse 14"/>
          <p:cNvSpPr/>
          <p:nvPr/>
        </p:nvSpPr>
        <p:spPr>
          <a:xfrm>
            <a:off x="3123423" y="2253619"/>
            <a:ext cx="1940768" cy="755779"/>
          </a:xfrm>
          <a:prstGeom prst="ellipse">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rgbClr val="0070C0"/>
                </a:solidFill>
                <a:latin typeface="Source Sans Pro" panose="020B0503030403020204" pitchFamily="34" charset="0"/>
              </a:rPr>
              <a:t>Alter</a:t>
            </a:r>
          </a:p>
        </p:txBody>
      </p:sp>
      <p:cxnSp>
        <p:nvCxnSpPr>
          <p:cNvPr id="17" name="Gerader Verbinder 16"/>
          <p:cNvCxnSpPr>
            <a:stCxn id="10" idx="4"/>
          </p:cNvCxnSpPr>
          <p:nvPr/>
        </p:nvCxnSpPr>
        <p:spPr>
          <a:xfrm>
            <a:off x="1285293" y="2777607"/>
            <a:ext cx="263589" cy="562178"/>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stCxn id="14" idx="3"/>
          </p:cNvCxnSpPr>
          <p:nvPr/>
        </p:nvCxnSpPr>
        <p:spPr>
          <a:xfrm flipH="1">
            <a:off x="2015413" y="2030522"/>
            <a:ext cx="421845" cy="1290079"/>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1" name="Gerader Verbinder 20"/>
          <p:cNvCxnSpPr>
            <a:stCxn id="15" idx="3"/>
          </p:cNvCxnSpPr>
          <p:nvPr/>
        </p:nvCxnSpPr>
        <p:spPr>
          <a:xfrm flipH="1">
            <a:off x="2478262" y="2898717"/>
            <a:ext cx="929380" cy="421884"/>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sp>
        <p:nvSpPr>
          <p:cNvPr id="29" name="Ellipse 28"/>
          <p:cNvSpPr/>
          <p:nvPr/>
        </p:nvSpPr>
        <p:spPr>
          <a:xfrm>
            <a:off x="7122418" y="2021828"/>
            <a:ext cx="1940768" cy="755779"/>
          </a:xfrm>
          <a:prstGeom prst="ellipse">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rgbClr val="0070C0"/>
                </a:solidFill>
                <a:latin typeface="Source Sans Pro" panose="020B0503030403020204" pitchFamily="34" charset="0"/>
              </a:rPr>
              <a:t>Auto_ID</a:t>
            </a:r>
          </a:p>
        </p:txBody>
      </p:sp>
      <p:sp>
        <p:nvSpPr>
          <p:cNvPr id="30" name="Ellipse 29"/>
          <p:cNvSpPr/>
          <p:nvPr/>
        </p:nvSpPr>
        <p:spPr>
          <a:xfrm>
            <a:off x="8960548" y="1385424"/>
            <a:ext cx="1940768" cy="755779"/>
          </a:xfrm>
          <a:prstGeom prst="ellipse">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rgbClr val="0070C0"/>
                </a:solidFill>
                <a:latin typeface="Source Sans Pro" panose="020B0503030403020204" pitchFamily="34" charset="0"/>
              </a:rPr>
              <a:t>Marke</a:t>
            </a:r>
          </a:p>
        </p:txBody>
      </p:sp>
      <p:sp>
        <p:nvSpPr>
          <p:cNvPr id="31" name="Ellipse 30"/>
          <p:cNvSpPr/>
          <p:nvPr/>
        </p:nvSpPr>
        <p:spPr>
          <a:xfrm>
            <a:off x="9930932" y="2253619"/>
            <a:ext cx="1940768" cy="755779"/>
          </a:xfrm>
          <a:prstGeom prst="ellipse">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rgbClr val="0070C0"/>
                </a:solidFill>
                <a:latin typeface="Source Sans Pro" panose="020B0503030403020204" pitchFamily="34" charset="0"/>
              </a:rPr>
              <a:t>Baujahr</a:t>
            </a:r>
          </a:p>
        </p:txBody>
      </p:sp>
      <p:cxnSp>
        <p:nvCxnSpPr>
          <p:cNvPr id="32" name="Gerader Verbinder 31"/>
          <p:cNvCxnSpPr>
            <a:stCxn id="29" idx="4"/>
          </p:cNvCxnSpPr>
          <p:nvPr/>
        </p:nvCxnSpPr>
        <p:spPr>
          <a:xfrm>
            <a:off x="8092802" y="2777607"/>
            <a:ext cx="263589" cy="562178"/>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3" name="Gerader Verbinder 32"/>
          <p:cNvCxnSpPr>
            <a:stCxn id="30" idx="3"/>
          </p:cNvCxnSpPr>
          <p:nvPr/>
        </p:nvCxnSpPr>
        <p:spPr>
          <a:xfrm flipH="1">
            <a:off x="8822922" y="2030522"/>
            <a:ext cx="421845" cy="1290079"/>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4" name="Gerader Verbinder 33"/>
          <p:cNvCxnSpPr>
            <a:stCxn id="31" idx="3"/>
          </p:cNvCxnSpPr>
          <p:nvPr/>
        </p:nvCxnSpPr>
        <p:spPr>
          <a:xfrm flipH="1">
            <a:off x="9285771" y="2898717"/>
            <a:ext cx="929380" cy="421884"/>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07441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10020344" cy="720725"/>
          </a:xfrm>
        </p:spPr>
        <p:txBody>
          <a:bodyPr>
            <a:normAutofit/>
          </a:bodyPr>
          <a:lstStyle/>
          <a:p>
            <a:r>
              <a:rPr lang="de-DE" dirty="0">
                <a:latin typeface="Source Sans Pro" panose="020B0503030403020204" pitchFamily="34" charset="0"/>
              </a:rPr>
              <a:t>ERD-Symbole -&gt; </a:t>
            </a:r>
            <a:r>
              <a:rPr lang="de-DE" dirty="0">
                <a:solidFill>
                  <a:schemeClr val="accent2"/>
                </a:solidFill>
                <a:latin typeface="Source Sans Pro" panose="020B0503030403020204" pitchFamily="34" charset="0"/>
              </a:rPr>
              <a:t>ID</a:t>
            </a:r>
            <a:r>
              <a:rPr lang="de-DE" dirty="0">
                <a:latin typeface="Source Sans Pro" panose="020B0503030403020204" pitchFamily="34" charset="0"/>
              </a:rPr>
              <a:t> </a:t>
            </a:r>
            <a:r>
              <a:rPr lang="de-DE" sz="3600" i="1" dirty="0">
                <a:latin typeface="Source Sans Pro" panose="020B0503030403020204" pitchFamily="34" charset="0"/>
              </a:rPr>
              <a:t>(„Schlüssel“)</a:t>
            </a:r>
            <a:endParaRPr lang="de-DE" sz="3600" b="0" i="1"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a:xfrm>
            <a:off x="548562" y="1104065"/>
            <a:ext cx="11495754" cy="714373"/>
          </a:xfrm>
        </p:spPr>
        <p:txBody>
          <a:bodyPr/>
          <a:lstStyle/>
          <a:p>
            <a:endParaRPr lang="de-DE" dirty="0"/>
          </a:p>
          <a:p>
            <a:endParaRPr lang="de-DE" dirty="0"/>
          </a:p>
        </p:txBody>
      </p:sp>
      <p:sp>
        <p:nvSpPr>
          <p:cNvPr id="2" name="Rechteck 1"/>
          <p:cNvSpPr/>
          <p:nvPr/>
        </p:nvSpPr>
        <p:spPr>
          <a:xfrm>
            <a:off x="849087" y="3331454"/>
            <a:ext cx="2687216" cy="1296955"/>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600" dirty="0">
                <a:solidFill>
                  <a:srgbClr val="0070C0"/>
                </a:solidFill>
                <a:latin typeface="Source Sans Pro" panose="020B0503030403020204" pitchFamily="34" charset="0"/>
              </a:rPr>
              <a:t>Person</a:t>
            </a:r>
          </a:p>
        </p:txBody>
      </p:sp>
      <p:sp>
        <p:nvSpPr>
          <p:cNvPr id="8" name="Rechteck 7"/>
          <p:cNvSpPr/>
          <p:nvPr/>
        </p:nvSpPr>
        <p:spPr>
          <a:xfrm>
            <a:off x="7940352" y="3331454"/>
            <a:ext cx="2687216" cy="1296955"/>
          </a:xfrm>
          <a:prstGeom prst="re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3600" dirty="0">
                <a:solidFill>
                  <a:srgbClr val="0070C0"/>
                </a:solidFill>
                <a:latin typeface="Source Sans Pro" panose="020B0503030403020204" pitchFamily="34" charset="0"/>
              </a:rPr>
              <a:t>Auto</a:t>
            </a:r>
          </a:p>
        </p:txBody>
      </p:sp>
      <p:sp>
        <p:nvSpPr>
          <p:cNvPr id="3" name="Raute 2"/>
          <p:cNvSpPr/>
          <p:nvPr/>
        </p:nvSpPr>
        <p:spPr>
          <a:xfrm>
            <a:off x="4651311" y="3657167"/>
            <a:ext cx="2174033" cy="648478"/>
          </a:xfrm>
          <a:prstGeom prst="diamond">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1600" dirty="0">
                <a:solidFill>
                  <a:srgbClr val="0070C0"/>
                </a:solidFill>
                <a:latin typeface="Source Sans Pro" panose="020B0503030403020204" pitchFamily="34" charset="0"/>
              </a:rPr>
              <a:t>Eigentum</a:t>
            </a:r>
          </a:p>
        </p:txBody>
      </p:sp>
      <p:cxnSp>
        <p:nvCxnSpPr>
          <p:cNvPr id="9" name="Gerader Verbinder 8"/>
          <p:cNvCxnSpPr>
            <a:stCxn id="3" idx="1"/>
            <a:endCxn id="2" idx="3"/>
          </p:cNvCxnSpPr>
          <p:nvPr/>
        </p:nvCxnSpPr>
        <p:spPr>
          <a:xfrm flipH="1" flipV="1">
            <a:off x="3536303" y="3979932"/>
            <a:ext cx="1115008"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3" name="Gerader Verbinder 12"/>
          <p:cNvCxnSpPr/>
          <p:nvPr/>
        </p:nvCxnSpPr>
        <p:spPr>
          <a:xfrm flipH="1" flipV="1">
            <a:off x="6825344" y="3978457"/>
            <a:ext cx="1115008" cy="147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10" name="Ellipse 9"/>
          <p:cNvSpPr/>
          <p:nvPr/>
        </p:nvSpPr>
        <p:spPr>
          <a:xfrm>
            <a:off x="314909" y="2021828"/>
            <a:ext cx="1940768" cy="755779"/>
          </a:xfrm>
          <a:prstGeom prst="ellipse">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accent2"/>
                </a:solidFill>
                <a:latin typeface="Source Sans Pro" panose="020B0503030403020204" pitchFamily="34" charset="0"/>
              </a:rPr>
              <a:t>Person_ID</a:t>
            </a:r>
          </a:p>
        </p:txBody>
      </p:sp>
      <p:sp>
        <p:nvSpPr>
          <p:cNvPr id="14" name="Ellipse 13"/>
          <p:cNvSpPr/>
          <p:nvPr/>
        </p:nvSpPr>
        <p:spPr>
          <a:xfrm>
            <a:off x="2153039" y="1385424"/>
            <a:ext cx="1940768" cy="755779"/>
          </a:xfrm>
          <a:prstGeom prst="ellipse">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rgbClr val="0070C0"/>
                </a:solidFill>
                <a:latin typeface="Source Sans Pro" panose="020B0503030403020204" pitchFamily="34" charset="0"/>
              </a:rPr>
              <a:t>Name</a:t>
            </a:r>
          </a:p>
        </p:txBody>
      </p:sp>
      <p:sp>
        <p:nvSpPr>
          <p:cNvPr id="15" name="Ellipse 14"/>
          <p:cNvSpPr/>
          <p:nvPr/>
        </p:nvSpPr>
        <p:spPr>
          <a:xfrm>
            <a:off x="3123423" y="2253619"/>
            <a:ext cx="1940768" cy="755779"/>
          </a:xfrm>
          <a:prstGeom prst="ellipse">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rgbClr val="0070C0"/>
                </a:solidFill>
                <a:latin typeface="Source Sans Pro" panose="020B0503030403020204" pitchFamily="34" charset="0"/>
              </a:rPr>
              <a:t>Alter</a:t>
            </a:r>
          </a:p>
        </p:txBody>
      </p:sp>
      <p:cxnSp>
        <p:nvCxnSpPr>
          <p:cNvPr id="17" name="Gerader Verbinder 16"/>
          <p:cNvCxnSpPr>
            <a:stCxn id="10" idx="4"/>
          </p:cNvCxnSpPr>
          <p:nvPr/>
        </p:nvCxnSpPr>
        <p:spPr>
          <a:xfrm>
            <a:off x="1285293" y="2777607"/>
            <a:ext cx="263589" cy="562178"/>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stCxn id="14" idx="3"/>
          </p:cNvCxnSpPr>
          <p:nvPr/>
        </p:nvCxnSpPr>
        <p:spPr>
          <a:xfrm flipH="1">
            <a:off x="2015413" y="2030522"/>
            <a:ext cx="421845" cy="1290079"/>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1" name="Gerader Verbinder 20"/>
          <p:cNvCxnSpPr>
            <a:stCxn id="15" idx="3"/>
          </p:cNvCxnSpPr>
          <p:nvPr/>
        </p:nvCxnSpPr>
        <p:spPr>
          <a:xfrm flipH="1">
            <a:off x="2478262" y="2898717"/>
            <a:ext cx="929380" cy="421884"/>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sp>
        <p:nvSpPr>
          <p:cNvPr id="29" name="Ellipse 28"/>
          <p:cNvSpPr/>
          <p:nvPr/>
        </p:nvSpPr>
        <p:spPr>
          <a:xfrm>
            <a:off x="7122418" y="2021828"/>
            <a:ext cx="1940768" cy="755779"/>
          </a:xfrm>
          <a:prstGeom prst="ellipse">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chemeClr val="accent2"/>
                </a:solidFill>
                <a:latin typeface="Source Sans Pro" panose="020B0503030403020204" pitchFamily="34" charset="0"/>
              </a:rPr>
              <a:t>Auto_ID</a:t>
            </a:r>
          </a:p>
        </p:txBody>
      </p:sp>
      <p:sp>
        <p:nvSpPr>
          <p:cNvPr id="30" name="Ellipse 29"/>
          <p:cNvSpPr/>
          <p:nvPr/>
        </p:nvSpPr>
        <p:spPr>
          <a:xfrm>
            <a:off x="8960548" y="1385424"/>
            <a:ext cx="1940768" cy="755779"/>
          </a:xfrm>
          <a:prstGeom prst="ellipse">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rgbClr val="0070C0"/>
                </a:solidFill>
                <a:latin typeface="Source Sans Pro" panose="020B0503030403020204" pitchFamily="34" charset="0"/>
              </a:rPr>
              <a:t>Marke</a:t>
            </a:r>
          </a:p>
        </p:txBody>
      </p:sp>
      <p:sp>
        <p:nvSpPr>
          <p:cNvPr id="31" name="Ellipse 30"/>
          <p:cNvSpPr/>
          <p:nvPr/>
        </p:nvSpPr>
        <p:spPr>
          <a:xfrm>
            <a:off x="9930932" y="2253619"/>
            <a:ext cx="1940768" cy="755779"/>
          </a:xfrm>
          <a:prstGeom prst="ellipse">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rgbClr val="0070C0"/>
                </a:solidFill>
                <a:latin typeface="Source Sans Pro" panose="020B0503030403020204" pitchFamily="34" charset="0"/>
              </a:rPr>
              <a:t>Baujahr</a:t>
            </a:r>
          </a:p>
        </p:txBody>
      </p:sp>
      <p:cxnSp>
        <p:nvCxnSpPr>
          <p:cNvPr id="32" name="Gerader Verbinder 31"/>
          <p:cNvCxnSpPr>
            <a:stCxn id="29" idx="4"/>
          </p:cNvCxnSpPr>
          <p:nvPr/>
        </p:nvCxnSpPr>
        <p:spPr>
          <a:xfrm>
            <a:off x="8092802" y="2777607"/>
            <a:ext cx="263589" cy="562178"/>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3" name="Gerader Verbinder 32"/>
          <p:cNvCxnSpPr>
            <a:stCxn id="30" idx="3"/>
          </p:cNvCxnSpPr>
          <p:nvPr/>
        </p:nvCxnSpPr>
        <p:spPr>
          <a:xfrm flipH="1">
            <a:off x="8822922" y="2030522"/>
            <a:ext cx="421845" cy="1290079"/>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4" name="Gerader Verbinder 33"/>
          <p:cNvCxnSpPr>
            <a:stCxn id="31" idx="3"/>
          </p:cNvCxnSpPr>
          <p:nvPr/>
        </p:nvCxnSpPr>
        <p:spPr>
          <a:xfrm flipH="1">
            <a:off x="9285771" y="2898717"/>
            <a:ext cx="929380" cy="421884"/>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 name="Gerader Verbinder 6"/>
          <p:cNvCxnSpPr/>
          <p:nvPr/>
        </p:nvCxnSpPr>
        <p:spPr>
          <a:xfrm>
            <a:off x="774441" y="2509935"/>
            <a:ext cx="1007706" cy="933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5" name="Gerader Verbinder 24"/>
          <p:cNvCxnSpPr/>
          <p:nvPr/>
        </p:nvCxnSpPr>
        <p:spPr>
          <a:xfrm>
            <a:off x="7672665" y="2519265"/>
            <a:ext cx="840274" cy="4665"/>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6" name="Textfeld 25"/>
          <p:cNvSpPr txBox="1"/>
          <p:nvPr/>
        </p:nvSpPr>
        <p:spPr>
          <a:xfrm>
            <a:off x="0" y="4819426"/>
            <a:ext cx="12192000" cy="523220"/>
          </a:xfrm>
          <a:prstGeom prst="rect">
            <a:avLst/>
          </a:prstGeom>
          <a:noFill/>
        </p:spPr>
        <p:txBody>
          <a:bodyPr wrap="square" rtlCol="0">
            <a:spAutoFit/>
          </a:bodyPr>
          <a:lstStyle/>
          <a:p>
            <a:pPr algn="ctr"/>
            <a:r>
              <a:rPr lang="de-DE" sz="1400" dirty="0">
                <a:solidFill>
                  <a:srgbClr val="0070C0"/>
                </a:solidFill>
                <a:latin typeface="Source Sans Pro" panose="020B0503030403020204" pitchFamily="34" charset="0"/>
              </a:rPr>
              <a:t>Wir wollen uns von Beginn an daran gewöhnen, jedem Entitätstypen ein </a:t>
            </a:r>
            <a:r>
              <a:rPr lang="de-DE" sz="1400" b="1" dirty="0">
                <a:solidFill>
                  <a:srgbClr val="0070C0"/>
                </a:solidFill>
                <a:latin typeface="Source Sans Pro" panose="020B0503030403020204" pitchFamily="34" charset="0"/>
              </a:rPr>
              <a:t>ID-Attribut</a:t>
            </a:r>
            <a:r>
              <a:rPr lang="de-DE" sz="1400" dirty="0">
                <a:solidFill>
                  <a:srgbClr val="0070C0"/>
                </a:solidFill>
                <a:latin typeface="Source Sans Pro" panose="020B0503030403020204" pitchFamily="34" charset="0"/>
              </a:rPr>
              <a:t> zuzuordnen (das mittels </a:t>
            </a:r>
            <a:r>
              <a:rPr lang="de-DE" sz="1400" u="sng" dirty="0">
                <a:solidFill>
                  <a:srgbClr val="0070C0"/>
                </a:solidFill>
                <a:latin typeface="Source Sans Pro" panose="020B0503030403020204" pitchFamily="34" charset="0"/>
              </a:rPr>
              <a:t>Unterstreichung</a:t>
            </a:r>
            <a:r>
              <a:rPr lang="de-DE" sz="1400" dirty="0">
                <a:solidFill>
                  <a:srgbClr val="0070C0"/>
                </a:solidFill>
                <a:latin typeface="Source Sans Pro" panose="020B0503030403020204" pitchFamily="34" charset="0"/>
              </a:rPr>
              <a:t> kenntlich gemacht wird) …</a:t>
            </a:r>
          </a:p>
          <a:p>
            <a:pPr algn="ctr"/>
            <a:r>
              <a:rPr lang="de-DE" sz="1400" dirty="0">
                <a:latin typeface="Source Sans Pro" panose="020B0503030403020204" pitchFamily="34" charset="0"/>
              </a:rPr>
              <a:t>… die </a:t>
            </a:r>
            <a:r>
              <a:rPr lang="de-DE" sz="1400" b="1" dirty="0">
                <a:latin typeface="Source Sans Pro" panose="020B0503030403020204" pitchFamily="34" charset="0"/>
              </a:rPr>
              <a:t>zentrale Bedeutung </a:t>
            </a:r>
            <a:r>
              <a:rPr lang="de-DE" sz="1400" dirty="0">
                <a:latin typeface="Source Sans Pro" panose="020B0503030403020204" pitchFamily="34" charset="0"/>
              </a:rPr>
              <a:t>dieser Attribute für unser gesamtes Themenfeld werden wir aber erst in den nächsten Tagen verstehen lernen.</a:t>
            </a:r>
          </a:p>
        </p:txBody>
      </p:sp>
    </p:spTree>
    <p:extLst>
      <p:ext uri="{BB962C8B-B14F-4D97-AF65-F5344CB8AC3E}">
        <p14:creationId xmlns:p14="http://schemas.microsoft.com/office/powerpoint/2010/main" val="2999082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0502313" cy="720725"/>
          </a:xfrm>
        </p:spPr>
        <p:txBody>
          <a:bodyPr>
            <a:normAutofit fontScale="90000"/>
          </a:bodyPr>
          <a:lstStyle/>
          <a:p>
            <a:r>
              <a:rPr lang="de-DE" dirty="0">
                <a:latin typeface="Source Sans Pro" panose="020B0503030403020204" pitchFamily="34" charset="0"/>
              </a:rPr>
              <a:t>Verwendung von DIA </a:t>
            </a:r>
            <a:r>
              <a:rPr lang="de-DE" sz="2700" dirty="0">
                <a:latin typeface="Source Sans Pro" panose="020B0503030403020204" pitchFamily="34" charset="0"/>
              </a:rPr>
              <a:t>(„Live-Coding“) </a:t>
            </a:r>
            <a:r>
              <a:rPr lang="de-DE" dirty="0">
                <a:latin typeface="Source Sans Pro" panose="020B0503030403020204" pitchFamily="34" charset="0"/>
              </a:rPr>
              <a:t>-&gt; </a:t>
            </a:r>
            <a:r>
              <a:rPr lang="de-DE" dirty="0">
                <a:solidFill>
                  <a:schemeClr val="accent2"/>
                </a:solidFill>
                <a:latin typeface="Source Sans Pro" panose="020B0503030403020204" pitchFamily="34" charset="0"/>
              </a:rPr>
              <a:t>A_01_01_01</a:t>
            </a:r>
            <a:endParaRPr lang="de-DE" sz="1800" b="0" i="1" dirty="0">
              <a:solidFill>
                <a:schemeClr val="accent2"/>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rPr>
              <a:t>Datenbanken und SQL</a:t>
            </a: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a:xfrm>
            <a:off x="548562" y="1104065"/>
            <a:ext cx="11495754" cy="714373"/>
          </a:xfrm>
        </p:spPr>
        <p:txBody>
          <a:bodyPr/>
          <a:lstStyle/>
          <a:p>
            <a:endParaRPr lang="de-DE" dirty="0"/>
          </a:p>
          <a:p>
            <a:endParaRPr lang="de-DE" dirty="0"/>
          </a:p>
        </p:txBody>
      </p:sp>
      <p:pic>
        <p:nvPicPr>
          <p:cNvPr id="6" name="Grafik 5"/>
          <p:cNvPicPr>
            <a:picLocks noChangeAspect="1"/>
          </p:cNvPicPr>
          <p:nvPr/>
        </p:nvPicPr>
        <p:blipFill>
          <a:blip r:embed="rId2"/>
          <a:stretch>
            <a:fillRect/>
          </a:stretch>
        </p:blipFill>
        <p:spPr>
          <a:xfrm>
            <a:off x="3815021" y="1216202"/>
            <a:ext cx="3231523" cy="4590299"/>
          </a:xfrm>
          <a:prstGeom prst="rect">
            <a:avLst/>
          </a:prstGeom>
          <a:effectLst>
            <a:innerShdw blurRad="114300">
              <a:prstClr val="black"/>
            </a:innerShdw>
          </a:effectLst>
        </p:spPr>
      </p:pic>
    </p:spTree>
    <p:extLst>
      <p:ext uri="{BB962C8B-B14F-4D97-AF65-F5344CB8AC3E}">
        <p14:creationId xmlns:p14="http://schemas.microsoft.com/office/powerpoint/2010/main" val="16236191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7" name="Textplatzhalter 6"/>
          <p:cNvSpPr>
            <a:spLocks noGrp="1"/>
          </p:cNvSpPr>
          <p:nvPr>
            <p:ph type="body" sz="quarter" idx="13"/>
          </p:nvPr>
        </p:nvSpPr>
        <p:spPr>
          <a:xfrm>
            <a:off x="1664955" y="2344103"/>
            <a:ext cx="8686800" cy="1455737"/>
          </a:xfrm>
        </p:spPr>
        <p:txBody>
          <a:bodyPr/>
          <a:lstStyle/>
          <a:p>
            <a:r>
              <a:rPr lang="de-DE" dirty="0">
                <a:latin typeface="Source Sans Pro" panose="020B0503030403020204" pitchFamily="34" charset="0"/>
              </a:rPr>
              <a:t>Vielen Dank für Ihre Aufmerksamkeit!</a:t>
            </a:r>
          </a:p>
        </p:txBody>
      </p:sp>
      <p:grpSp>
        <p:nvGrpSpPr>
          <p:cNvPr id="8" name="Grafik 127" descr="Gruppenerfolg">
            <a:extLst>
              <a:ext uri="{FF2B5EF4-FFF2-40B4-BE49-F238E27FC236}">
                <a16:creationId xmlns:a16="http://schemas.microsoft.com/office/drawing/2014/main" id="{B1AEA3CB-529A-43D3-BF54-B3A291B5B89A}"/>
              </a:ext>
            </a:extLst>
          </p:cNvPr>
          <p:cNvGrpSpPr/>
          <p:nvPr/>
        </p:nvGrpSpPr>
        <p:grpSpPr>
          <a:xfrm>
            <a:off x="5773243" y="4981866"/>
            <a:ext cx="1656909" cy="1118841"/>
            <a:chOff x="6764943" y="3423412"/>
            <a:chExt cx="619669" cy="418437"/>
          </a:xfrm>
          <a:solidFill>
            <a:srgbClr val="0071B2"/>
          </a:solidFill>
        </p:grpSpPr>
        <p:sp>
          <p:nvSpPr>
            <p:cNvPr id="9" name="Freihandform: Form 179">
              <a:extLst>
                <a:ext uri="{FF2B5EF4-FFF2-40B4-BE49-F238E27FC236}">
                  <a16:creationId xmlns:a16="http://schemas.microsoft.com/office/drawing/2014/main" id="{83C0AB4F-B2FF-48B2-8B01-EEAE4874DA4F}"/>
                </a:ext>
              </a:extLst>
            </p:cNvPr>
            <p:cNvSpPr/>
            <p:nvPr/>
          </p:nvSpPr>
          <p:spPr>
            <a:xfrm>
              <a:off x="7259415"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0" name="Freihandform: Form 180">
              <a:extLst>
                <a:ext uri="{FF2B5EF4-FFF2-40B4-BE49-F238E27FC236}">
                  <a16:creationId xmlns:a16="http://schemas.microsoft.com/office/drawing/2014/main" id="{0397E236-998B-4584-8060-2EAAEEB496B8}"/>
                </a:ext>
              </a:extLst>
            </p:cNvPr>
            <p:cNvSpPr/>
            <p:nvPr/>
          </p:nvSpPr>
          <p:spPr>
            <a:xfrm>
              <a:off x="7111582"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1" name="Freihandform: Form 181">
              <a:extLst>
                <a:ext uri="{FF2B5EF4-FFF2-40B4-BE49-F238E27FC236}">
                  <a16:creationId xmlns:a16="http://schemas.microsoft.com/office/drawing/2014/main" id="{16928ED2-C07E-4785-8197-7CC30C3379AD}"/>
                </a:ext>
              </a:extLst>
            </p:cNvPr>
            <p:cNvSpPr/>
            <p:nvPr/>
          </p:nvSpPr>
          <p:spPr>
            <a:xfrm>
              <a:off x="6963749"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2" name="Freihandform: Form 182">
              <a:extLst>
                <a:ext uri="{FF2B5EF4-FFF2-40B4-BE49-F238E27FC236}">
                  <a16:creationId xmlns:a16="http://schemas.microsoft.com/office/drawing/2014/main" id="{EAFD5657-18FA-4723-A9AE-B61E45511EAB}"/>
                </a:ext>
              </a:extLst>
            </p:cNvPr>
            <p:cNvSpPr/>
            <p:nvPr/>
          </p:nvSpPr>
          <p:spPr>
            <a:xfrm>
              <a:off x="6815915"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3" name="Freihandform: Form 183">
              <a:extLst>
                <a:ext uri="{FF2B5EF4-FFF2-40B4-BE49-F238E27FC236}">
                  <a16:creationId xmlns:a16="http://schemas.microsoft.com/office/drawing/2014/main" id="{93F96C60-0AEE-4A75-8162-D9D7D87FD848}"/>
                </a:ext>
              </a:extLst>
            </p:cNvPr>
            <p:cNvSpPr/>
            <p:nvPr/>
          </p:nvSpPr>
          <p:spPr>
            <a:xfrm>
              <a:off x="6764943" y="3423412"/>
              <a:ext cx="619669" cy="418437"/>
            </a:xfrm>
            <a:custGeom>
              <a:avLst/>
              <a:gdLst>
                <a:gd name="connsiteX0" fmla="*/ 609633 w 619669"/>
                <a:gd name="connsiteY0" fmla="*/ 882 h 418437"/>
                <a:gd name="connsiteX1" fmla="*/ 590709 w 619669"/>
                <a:gd name="connsiteY1" fmla="*/ 9769 h 418437"/>
                <a:gd name="connsiteX2" fmla="*/ 590562 w 619669"/>
                <a:gd name="connsiteY2" fmla="*/ 10196 h 418437"/>
                <a:gd name="connsiteX3" fmla="*/ 562991 w 619669"/>
                <a:gd name="connsiteY3" fmla="*/ 91504 h 418437"/>
                <a:gd name="connsiteX4" fmla="*/ 531429 w 619669"/>
                <a:gd name="connsiteY4" fmla="*/ 85812 h 418437"/>
                <a:gd name="connsiteX5" fmla="*/ 499497 w 619669"/>
                <a:gd name="connsiteY5" fmla="*/ 91578 h 418437"/>
                <a:gd name="connsiteX6" fmla="*/ 472296 w 619669"/>
                <a:gd name="connsiteY6" fmla="*/ 10196 h 418437"/>
                <a:gd name="connsiteX7" fmla="*/ 452235 w 619669"/>
                <a:gd name="connsiteY7" fmla="*/ 1280 h 418437"/>
                <a:gd name="connsiteX8" fmla="*/ 443320 w 619669"/>
                <a:gd name="connsiteY8" fmla="*/ 10196 h 418437"/>
                <a:gd name="connsiteX9" fmla="*/ 415749 w 619669"/>
                <a:gd name="connsiteY9" fmla="*/ 91504 h 418437"/>
                <a:gd name="connsiteX10" fmla="*/ 383596 w 619669"/>
                <a:gd name="connsiteY10" fmla="*/ 85812 h 418437"/>
                <a:gd name="connsiteX11" fmla="*/ 351664 w 619669"/>
                <a:gd name="connsiteY11" fmla="*/ 91504 h 418437"/>
                <a:gd name="connsiteX12" fmla="*/ 324462 w 619669"/>
                <a:gd name="connsiteY12" fmla="*/ 10196 h 418437"/>
                <a:gd name="connsiteX13" fmla="*/ 304402 w 619669"/>
                <a:gd name="connsiteY13" fmla="*/ 1280 h 418437"/>
                <a:gd name="connsiteX14" fmla="*/ 295487 w 619669"/>
                <a:gd name="connsiteY14" fmla="*/ 10196 h 418437"/>
                <a:gd name="connsiteX15" fmla="*/ 267990 w 619669"/>
                <a:gd name="connsiteY15" fmla="*/ 91504 h 418437"/>
                <a:gd name="connsiteX16" fmla="*/ 235762 w 619669"/>
                <a:gd name="connsiteY16" fmla="*/ 85812 h 418437"/>
                <a:gd name="connsiteX17" fmla="*/ 203830 w 619669"/>
                <a:gd name="connsiteY17" fmla="*/ 91578 h 418437"/>
                <a:gd name="connsiteX18" fmla="*/ 176629 w 619669"/>
                <a:gd name="connsiteY18" fmla="*/ 10196 h 418437"/>
                <a:gd name="connsiteX19" fmla="*/ 156569 w 619669"/>
                <a:gd name="connsiteY19" fmla="*/ 1280 h 418437"/>
                <a:gd name="connsiteX20" fmla="*/ 147654 w 619669"/>
                <a:gd name="connsiteY20" fmla="*/ 10196 h 418437"/>
                <a:gd name="connsiteX21" fmla="*/ 120083 w 619669"/>
                <a:gd name="connsiteY21" fmla="*/ 91504 h 418437"/>
                <a:gd name="connsiteX22" fmla="*/ 87929 w 619669"/>
                <a:gd name="connsiteY22" fmla="*/ 85812 h 418437"/>
                <a:gd name="connsiteX23" fmla="*/ 55997 w 619669"/>
                <a:gd name="connsiteY23" fmla="*/ 91578 h 418437"/>
                <a:gd name="connsiteX24" fmla="*/ 28796 w 619669"/>
                <a:gd name="connsiteY24" fmla="*/ 10196 h 418437"/>
                <a:gd name="connsiteX25" fmla="*/ 10058 w 619669"/>
                <a:gd name="connsiteY25" fmla="*/ 919 h 418437"/>
                <a:gd name="connsiteX26" fmla="*/ 781 w 619669"/>
                <a:gd name="connsiteY26" fmla="*/ 19657 h 418437"/>
                <a:gd name="connsiteX27" fmla="*/ 37296 w 619669"/>
                <a:gd name="connsiteY27" fmla="*/ 127501 h 418437"/>
                <a:gd name="connsiteX28" fmla="*/ 50971 w 619669"/>
                <a:gd name="connsiteY28" fmla="*/ 137554 h 418437"/>
                <a:gd name="connsiteX29" fmla="*/ 50971 w 619669"/>
                <a:gd name="connsiteY29" fmla="*/ 181904 h 418437"/>
                <a:gd name="connsiteX30" fmla="*/ 28796 w 619669"/>
                <a:gd name="connsiteY30" fmla="*/ 292779 h 418437"/>
                <a:gd name="connsiteX31" fmla="*/ 50971 w 619669"/>
                <a:gd name="connsiteY31" fmla="*/ 292779 h 418437"/>
                <a:gd name="connsiteX32" fmla="*/ 50971 w 619669"/>
                <a:gd name="connsiteY32" fmla="*/ 418438 h 418437"/>
                <a:gd name="connsiteX33" fmla="*/ 80537 w 619669"/>
                <a:gd name="connsiteY33" fmla="*/ 418438 h 418437"/>
                <a:gd name="connsiteX34" fmla="*/ 80537 w 619669"/>
                <a:gd name="connsiteY34" fmla="*/ 292779 h 418437"/>
                <a:gd name="connsiteX35" fmla="*/ 95321 w 619669"/>
                <a:gd name="connsiteY35" fmla="*/ 292779 h 418437"/>
                <a:gd name="connsiteX36" fmla="*/ 95321 w 619669"/>
                <a:gd name="connsiteY36" fmla="*/ 418438 h 418437"/>
                <a:gd name="connsiteX37" fmla="*/ 124887 w 619669"/>
                <a:gd name="connsiteY37" fmla="*/ 418438 h 418437"/>
                <a:gd name="connsiteX38" fmla="*/ 124887 w 619669"/>
                <a:gd name="connsiteY38" fmla="*/ 292779 h 418437"/>
                <a:gd name="connsiteX39" fmla="*/ 147062 w 619669"/>
                <a:gd name="connsiteY39" fmla="*/ 292779 h 418437"/>
                <a:gd name="connsiteX40" fmla="*/ 124887 w 619669"/>
                <a:gd name="connsiteY40" fmla="*/ 181904 h 418437"/>
                <a:gd name="connsiteX41" fmla="*/ 124887 w 619669"/>
                <a:gd name="connsiteY41" fmla="*/ 137554 h 418437"/>
                <a:gd name="connsiteX42" fmla="*/ 138858 w 619669"/>
                <a:gd name="connsiteY42" fmla="*/ 127501 h 418437"/>
                <a:gd name="connsiteX43" fmla="*/ 161846 w 619669"/>
                <a:gd name="connsiteY43" fmla="*/ 59646 h 418437"/>
                <a:gd name="connsiteX44" fmla="*/ 184834 w 619669"/>
                <a:gd name="connsiteY44" fmla="*/ 127501 h 418437"/>
                <a:gd name="connsiteX45" fmla="*/ 198804 w 619669"/>
                <a:gd name="connsiteY45" fmla="*/ 137554 h 418437"/>
                <a:gd name="connsiteX46" fmla="*/ 198804 w 619669"/>
                <a:gd name="connsiteY46" fmla="*/ 418438 h 418437"/>
                <a:gd name="connsiteX47" fmla="*/ 228371 w 619669"/>
                <a:gd name="connsiteY47" fmla="*/ 418438 h 418437"/>
                <a:gd name="connsiteX48" fmla="*/ 228371 w 619669"/>
                <a:gd name="connsiteY48" fmla="*/ 248429 h 418437"/>
                <a:gd name="connsiteX49" fmla="*/ 243154 w 619669"/>
                <a:gd name="connsiteY49" fmla="*/ 248429 h 418437"/>
                <a:gd name="connsiteX50" fmla="*/ 243154 w 619669"/>
                <a:gd name="connsiteY50" fmla="*/ 418438 h 418437"/>
                <a:gd name="connsiteX51" fmla="*/ 272721 w 619669"/>
                <a:gd name="connsiteY51" fmla="*/ 418438 h 418437"/>
                <a:gd name="connsiteX52" fmla="*/ 272721 w 619669"/>
                <a:gd name="connsiteY52" fmla="*/ 137554 h 418437"/>
                <a:gd name="connsiteX53" fmla="*/ 286691 w 619669"/>
                <a:gd name="connsiteY53" fmla="*/ 127501 h 418437"/>
                <a:gd name="connsiteX54" fmla="*/ 309679 w 619669"/>
                <a:gd name="connsiteY54" fmla="*/ 59646 h 418437"/>
                <a:gd name="connsiteX55" fmla="*/ 332667 w 619669"/>
                <a:gd name="connsiteY55" fmla="*/ 127501 h 418437"/>
                <a:gd name="connsiteX56" fmla="*/ 346637 w 619669"/>
                <a:gd name="connsiteY56" fmla="*/ 137554 h 418437"/>
                <a:gd name="connsiteX57" fmla="*/ 346637 w 619669"/>
                <a:gd name="connsiteY57" fmla="*/ 181904 h 418437"/>
                <a:gd name="connsiteX58" fmla="*/ 324462 w 619669"/>
                <a:gd name="connsiteY58" fmla="*/ 292779 h 418437"/>
                <a:gd name="connsiteX59" fmla="*/ 346637 w 619669"/>
                <a:gd name="connsiteY59" fmla="*/ 292779 h 418437"/>
                <a:gd name="connsiteX60" fmla="*/ 346637 w 619669"/>
                <a:gd name="connsiteY60" fmla="*/ 418438 h 418437"/>
                <a:gd name="connsiteX61" fmla="*/ 376204 w 619669"/>
                <a:gd name="connsiteY61" fmla="*/ 418438 h 418437"/>
                <a:gd name="connsiteX62" fmla="*/ 376204 w 619669"/>
                <a:gd name="connsiteY62" fmla="*/ 292779 h 418437"/>
                <a:gd name="connsiteX63" fmla="*/ 390987 w 619669"/>
                <a:gd name="connsiteY63" fmla="*/ 292779 h 418437"/>
                <a:gd name="connsiteX64" fmla="*/ 390987 w 619669"/>
                <a:gd name="connsiteY64" fmla="*/ 418438 h 418437"/>
                <a:gd name="connsiteX65" fmla="*/ 420554 w 619669"/>
                <a:gd name="connsiteY65" fmla="*/ 418438 h 418437"/>
                <a:gd name="connsiteX66" fmla="*/ 420554 w 619669"/>
                <a:gd name="connsiteY66" fmla="*/ 292779 h 418437"/>
                <a:gd name="connsiteX67" fmla="*/ 442729 w 619669"/>
                <a:gd name="connsiteY67" fmla="*/ 292779 h 418437"/>
                <a:gd name="connsiteX68" fmla="*/ 420554 w 619669"/>
                <a:gd name="connsiteY68" fmla="*/ 181904 h 418437"/>
                <a:gd name="connsiteX69" fmla="*/ 420554 w 619669"/>
                <a:gd name="connsiteY69" fmla="*/ 137554 h 418437"/>
                <a:gd name="connsiteX70" fmla="*/ 434524 w 619669"/>
                <a:gd name="connsiteY70" fmla="*/ 127501 h 418437"/>
                <a:gd name="connsiteX71" fmla="*/ 457512 w 619669"/>
                <a:gd name="connsiteY71" fmla="*/ 59646 h 418437"/>
                <a:gd name="connsiteX72" fmla="*/ 480500 w 619669"/>
                <a:gd name="connsiteY72" fmla="*/ 127501 h 418437"/>
                <a:gd name="connsiteX73" fmla="*/ 494471 w 619669"/>
                <a:gd name="connsiteY73" fmla="*/ 137554 h 418437"/>
                <a:gd name="connsiteX74" fmla="*/ 494471 w 619669"/>
                <a:gd name="connsiteY74" fmla="*/ 418438 h 418437"/>
                <a:gd name="connsiteX75" fmla="*/ 524037 w 619669"/>
                <a:gd name="connsiteY75" fmla="*/ 418438 h 418437"/>
                <a:gd name="connsiteX76" fmla="*/ 524037 w 619669"/>
                <a:gd name="connsiteY76" fmla="*/ 248429 h 418437"/>
                <a:gd name="connsiteX77" fmla="*/ 538821 w 619669"/>
                <a:gd name="connsiteY77" fmla="*/ 248429 h 418437"/>
                <a:gd name="connsiteX78" fmla="*/ 538821 w 619669"/>
                <a:gd name="connsiteY78" fmla="*/ 418438 h 418437"/>
                <a:gd name="connsiteX79" fmla="*/ 568387 w 619669"/>
                <a:gd name="connsiteY79" fmla="*/ 418438 h 418437"/>
                <a:gd name="connsiteX80" fmla="*/ 568387 w 619669"/>
                <a:gd name="connsiteY80" fmla="*/ 137554 h 418437"/>
                <a:gd name="connsiteX81" fmla="*/ 582358 w 619669"/>
                <a:gd name="connsiteY81" fmla="*/ 127501 h 418437"/>
                <a:gd name="connsiteX82" fmla="*/ 618873 w 619669"/>
                <a:gd name="connsiteY82" fmla="*/ 19657 h 418437"/>
                <a:gd name="connsiteX83" fmla="*/ 609657 w 619669"/>
                <a:gd name="connsiteY83" fmla="*/ 890 h 418437"/>
                <a:gd name="connsiteX84" fmla="*/ 609633 w 619669"/>
                <a:gd name="connsiteY84" fmla="*/ 882 h 41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619669" h="418437">
                  <a:moveTo>
                    <a:pt x="609633" y="882"/>
                  </a:moveTo>
                  <a:cubicBezTo>
                    <a:pt x="601953" y="-1890"/>
                    <a:pt x="593481" y="2089"/>
                    <a:pt x="590709" y="9769"/>
                  </a:cubicBezTo>
                  <a:cubicBezTo>
                    <a:pt x="590658" y="9910"/>
                    <a:pt x="590609" y="10053"/>
                    <a:pt x="590562" y="10196"/>
                  </a:cubicBezTo>
                  <a:lnTo>
                    <a:pt x="562991" y="91504"/>
                  </a:lnTo>
                  <a:cubicBezTo>
                    <a:pt x="552806" y="88074"/>
                    <a:pt x="542171" y="86156"/>
                    <a:pt x="531429" y="85812"/>
                  </a:cubicBezTo>
                  <a:cubicBezTo>
                    <a:pt x="520558" y="86140"/>
                    <a:pt x="509796" y="88082"/>
                    <a:pt x="499497" y="91578"/>
                  </a:cubicBezTo>
                  <a:lnTo>
                    <a:pt x="472296" y="10196"/>
                  </a:lnTo>
                  <a:cubicBezTo>
                    <a:pt x="469218" y="2194"/>
                    <a:pt x="460237" y="-1797"/>
                    <a:pt x="452235" y="1280"/>
                  </a:cubicBezTo>
                  <a:cubicBezTo>
                    <a:pt x="448136" y="2857"/>
                    <a:pt x="444897" y="6097"/>
                    <a:pt x="443320" y="10196"/>
                  </a:cubicBezTo>
                  <a:lnTo>
                    <a:pt x="415749" y="91504"/>
                  </a:lnTo>
                  <a:cubicBezTo>
                    <a:pt x="405376" y="88010"/>
                    <a:pt x="394538" y="86092"/>
                    <a:pt x="383596" y="85812"/>
                  </a:cubicBezTo>
                  <a:cubicBezTo>
                    <a:pt x="372731" y="86148"/>
                    <a:pt x="361974" y="88065"/>
                    <a:pt x="351664" y="91504"/>
                  </a:cubicBezTo>
                  <a:lnTo>
                    <a:pt x="324462" y="10196"/>
                  </a:lnTo>
                  <a:cubicBezTo>
                    <a:pt x="321384" y="2194"/>
                    <a:pt x="312404" y="-1797"/>
                    <a:pt x="304402" y="1280"/>
                  </a:cubicBezTo>
                  <a:cubicBezTo>
                    <a:pt x="300303" y="2857"/>
                    <a:pt x="297064" y="6097"/>
                    <a:pt x="295487" y="10196"/>
                  </a:cubicBezTo>
                  <a:lnTo>
                    <a:pt x="267990" y="91504"/>
                  </a:lnTo>
                  <a:cubicBezTo>
                    <a:pt x="257582" y="88047"/>
                    <a:pt x="246725" y="86129"/>
                    <a:pt x="235762" y="85812"/>
                  </a:cubicBezTo>
                  <a:cubicBezTo>
                    <a:pt x="224891" y="86140"/>
                    <a:pt x="214129" y="88082"/>
                    <a:pt x="203830" y="91578"/>
                  </a:cubicBezTo>
                  <a:lnTo>
                    <a:pt x="176629" y="10196"/>
                  </a:lnTo>
                  <a:cubicBezTo>
                    <a:pt x="173551" y="2194"/>
                    <a:pt x="164570" y="-1797"/>
                    <a:pt x="156569" y="1280"/>
                  </a:cubicBezTo>
                  <a:cubicBezTo>
                    <a:pt x="152469" y="2857"/>
                    <a:pt x="149230" y="6097"/>
                    <a:pt x="147654" y="10196"/>
                  </a:cubicBezTo>
                  <a:lnTo>
                    <a:pt x="120083" y="91504"/>
                  </a:lnTo>
                  <a:cubicBezTo>
                    <a:pt x="109702" y="88042"/>
                    <a:pt x="98868" y="86124"/>
                    <a:pt x="87929" y="85812"/>
                  </a:cubicBezTo>
                  <a:cubicBezTo>
                    <a:pt x="77058" y="86140"/>
                    <a:pt x="66296" y="88082"/>
                    <a:pt x="55997" y="91578"/>
                  </a:cubicBezTo>
                  <a:lnTo>
                    <a:pt x="28796" y="10196"/>
                  </a:lnTo>
                  <a:cubicBezTo>
                    <a:pt x="26183" y="2459"/>
                    <a:pt x="17794" y="-1694"/>
                    <a:pt x="10058" y="919"/>
                  </a:cubicBezTo>
                  <a:cubicBezTo>
                    <a:pt x="2322" y="3532"/>
                    <a:pt x="-1831" y="11921"/>
                    <a:pt x="781" y="19657"/>
                  </a:cubicBezTo>
                  <a:lnTo>
                    <a:pt x="37296" y="127501"/>
                  </a:lnTo>
                  <a:cubicBezTo>
                    <a:pt x="39285" y="133396"/>
                    <a:pt x="44751" y="137414"/>
                    <a:pt x="50971" y="137554"/>
                  </a:cubicBezTo>
                  <a:lnTo>
                    <a:pt x="50971" y="181904"/>
                  </a:lnTo>
                  <a:lnTo>
                    <a:pt x="28796" y="292779"/>
                  </a:lnTo>
                  <a:lnTo>
                    <a:pt x="50971" y="292779"/>
                  </a:lnTo>
                  <a:lnTo>
                    <a:pt x="50971" y="418438"/>
                  </a:lnTo>
                  <a:lnTo>
                    <a:pt x="80537" y="418438"/>
                  </a:lnTo>
                  <a:lnTo>
                    <a:pt x="80537" y="292779"/>
                  </a:lnTo>
                  <a:lnTo>
                    <a:pt x="95321" y="292779"/>
                  </a:lnTo>
                  <a:lnTo>
                    <a:pt x="95321" y="418438"/>
                  </a:lnTo>
                  <a:lnTo>
                    <a:pt x="124887" y="418438"/>
                  </a:lnTo>
                  <a:lnTo>
                    <a:pt x="124887" y="292779"/>
                  </a:lnTo>
                  <a:lnTo>
                    <a:pt x="147062" y="292779"/>
                  </a:lnTo>
                  <a:lnTo>
                    <a:pt x="124887" y="181904"/>
                  </a:lnTo>
                  <a:lnTo>
                    <a:pt x="124887" y="137554"/>
                  </a:lnTo>
                  <a:cubicBezTo>
                    <a:pt x="131216" y="137539"/>
                    <a:pt x="136832" y="133497"/>
                    <a:pt x="138858" y="127501"/>
                  </a:cubicBezTo>
                  <a:lnTo>
                    <a:pt x="161846" y="59646"/>
                  </a:lnTo>
                  <a:lnTo>
                    <a:pt x="184834" y="127501"/>
                  </a:lnTo>
                  <a:cubicBezTo>
                    <a:pt x="186859" y="133497"/>
                    <a:pt x="192475" y="137539"/>
                    <a:pt x="198804" y="137554"/>
                  </a:cubicBezTo>
                  <a:lnTo>
                    <a:pt x="198804" y="418438"/>
                  </a:lnTo>
                  <a:lnTo>
                    <a:pt x="228371" y="418438"/>
                  </a:lnTo>
                  <a:lnTo>
                    <a:pt x="228371" y="248429"/>
                  </a:lnTo>
                  <a:lnTo>
                    <a:pt x="243154" y="248429"/>
                  </a:lnTo>
                  <a:lnTo>
                    <a:pt x="243154" y="418438"/>
                  </a:lnTo>
                  <a:lnTo>
                    <a:pt x="272721" y="418438"/>
                  </a:lnTo>
                  <a:lnTo>
                    <a:pt x="272721" y="137554"/>
                  </a:lnTo>
                  <a:cubicBezTo>
                    <a:pt x="279049" y="137539"/>
                    <a:pt x="284666" y="133497"/>
                    <a:pt x="286691" y="127501"/>
                  </a:cubicBezTo>
                  <a:lnTo>
                    <a:pt x="309679" y="59646"/>
                  </a:lnTo>
                  <a:lnTo>
                    <a:pt x="332667" y="127501"/>
                  </a:lnTo>
                  <a:cubicBezTo>
                    <a:pt x="334692" y="133497"/>
                    <a:pt x="340309" y="137539"/>
                    <a:pt x="346637" y="137554"/>
                  </a:cubicBezTo>
                  <a:lnTo>
                    <a:pt x="346637" y="181904"/>
                  </a:lnTo>
                  <a:lnTo>
                    <a:pt x="324462" y="292779"/>
                  </a:lnTo>
                  <a:lnTo>
                    <a:pt x="346637" y="292779"/>
                  </a:lnTo>
                  <a:lnTo>
                    <a:pt x="346637" y="418438"/>
                  </a:lnTo>
                  <a:lnTo>
                    <a:pt x="376204" y="418438"/>
                  </a:lnTo>
                  <a:lnTo>
                    <a:pt x="376204" y="292779"/>
                  </a:lnTo>
                  <a:lnTo>
                    <a:pt x="390987" y="292779"/>
                  </a:lnTo>
                  <a:lnTo>
                    <a:pt x="390987" y="418438"/>
                  </a:lnTo>
                  <a:lnTo>
                    <a:pt x="420554" y="418438"/>
                  </a:lnTo>
                  <a:lnTo>
                    <a:pt x="420554" y="292779"/>
                  </a:lnTo>
                  <a:lnTo>
                    <a:pt x="442729" y="292779"/>
                  </a:lnTo>
                  <a:lnTo>
                    <a:pt x="420554" y="181904"/>
                  </a:lnTo>
                  <a:lnTo>
                    <a:pt x="420554" y="137554"/>
                  </a:lnTo>
                  <a:cubicBezTo>
                    <a:pt x="426883" y="137539"/>
                    <a:pt x="432499" y="133497"/>
                    <a:pt x="434524" y="127501"/>
                  </a:cubicBezTo>
                  <a:lnTo>
                    <a:pt x="457512" y="59646"/>
                  </a:lnTo>
                  <a:lnTo>
                    <a:pt x="480500" y="127501"/>
                  </a:lnTo>
                  <a:cubicBezTo>
                    <a:pt x="482526" y="133497"/>
                    <a:pt x="488142" y="137539"/>
                    <a:pt x="494471" y="137554"/>
                  </a:cubicBezTo>
                  <a:lnTo>
                    <a:pt x="494471" y="418438"/>
                  </a:lnTo>
                  <a:lnTo>
                    <a:pt x="524037" y="418438"/>
                  </a:lnTo>
                  <a:lnTo>
                    <a:pt x="524037" y="248429"/>
                  </a:lnTo>
                  <a:lnTo>
                    <a:pt x="538821" y="248429"/>
                  </a:lnTo>
                  <a:lnTo>
                    <a:pt x="538821" y="418438"/>
                  </a:lnTo>
                  <a:lnTo>
                    <a:pt x="568387" y="418438"/>
                  </a:lnTo>
                  <a:lnTo>
                    <a:pt x="568387" y="137554"/>
                  </a:lnTo>
                  <a:cubicBezTo>
                    <a:pt x="574716" y="137539"/>
                    <a:pt x="580332" y="133497"/>
                    <a:pt x="582358" y="127501"/>
                  </a:cubicBezTo>
                  <a:lnTo>
                    <a:pt x="618873" y="19657"/>
                  </a:lnTo>
                  <a:cubicBezTo>
                    <a:pt x="621510" y="11930"/>
                    <a:pt x="617385" y="3528"/>
                    <a:pt x="609657" y="890"/>
                  </a:cubicBezTo>
                  <a:cubicBezTo>
                    <a:pt x="609649" y="888"/>
                    <a:pt x="609641" y="885"/>
                    <a:pt x="609633" y="882"/>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14" name="Grafik 123" descr="Tanz">
            <a:extLst>
              <a:ext uri="{FF2B5EF4-FFF2-40B4-BE49-F238E27FC236}">
                <a16:creationId xmlns:a16="http://schemas.microsoft.com/office/drawing/2014/main" id="{932FF9FF-EC66-4A78-90EC-3B58422E57F4}"/>
              </a:ext>
            </a:extLst>
          </p:cNvPr>
          <p:cNvGrpSpPr/>
          <p:nvPr/>
        </p:nvGrpSpPr>
        <p:grpSpPr>
          <a:xfrm>
            <a:off x="3922031" y="4598358"/>
            <a:ext cx="1713537" cy="1713542"/>
            <a:chOff x="7330175" y="1952410"/>
            <a:chExt cx="709600" cy="709601"/>
          </a:xfrm>
          <a:solidFill>
            <a:srgbClr val="0071B2"/>
          </a:solidFill>
        </p:grpSpPr>
        <p:sp>
          <p:nvSpPr>
            <p:cNvPr id="15" name="Freihandform: Form 167">
              <a:extLst>
                <a:ext uri="{FF2B5EF4-FFF2-40B4-BE49-F238E27FC236}">
                  <a16:creationId xmlns:a16="http://schemas.microsoft.com/office/drawing/2014/main" id="{C7969F9B-BA19-4283-B040-70BD9C33E7F0}"/>
                </a:ext>
              </a:extLst>
            </p:cNvPr>
            <p:cNvSpPr/>
            <p:nvPr/>
          </p:nvSpPr>
          <p:spPr>
            <a:xfrm>
              <a:off x="7526793" y="2110591"/>
              <a:ext cx="88700" cy="88700"/>
            </a:xfrm>
            <a:custGeom>
              <a:avLst/>
              <a:gdLst>
                <a:gd name="connsiteX0" fmla="*/ 88700 w 88700"/>
                <a:gd name="connsiteY0" fmla="*/ 44350 h 88700"/>
                <a:gd name="connsiteX1" fmla="*/ 44350 w 88700"/>
                <a:gd name="connsiteY1" fmla="*/ 88700 h 88700"/>
                <a:gd name="connsiteX2" fmla="*/ 0 w 88700"/>
                <a:gd name="connsiteY2" fmla="*/ 44350 h 88700"/>
                <a:gd name="connsiteX3" fmla="*/ 44350 w 88700"/>
                <a:gd name="connsiteY3" fmla="*/ 0 h 88700"/>
                <a:gd name="connsiteX4" fmla="*/ 88700 w 88700"/>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700"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6" name="Freihandform: Form 168">
              <a:extLst>
                <a:ext uri="{FF2B5EF4-FFF2-40B4-BE49-F238E27FC236}">
                  <a16:creationId xmlns:a16="http://schemas.microsoft.com/office/drawing/2014/main" id="{D192D223-F842-4D48-AD54-4DD9E1C580C2}"/>
                </a:ext>
              </a:extLst>
            </p:cNvPr>
            <p:cNvSpPr/>
            <p:nvPr/>
          </p:nvSpPr>
          <p:spPr>
            <a:xfrm>
              <a:off x="7755935" y="2036675"/>
              <a:ext cx="88699" cy="88700"/>
            </a:xfrm>
            <a:custGeom>
              <a:avLst/>
              <a:gdLst>
                <a:gd name="connsiteX0" fmla="*/ 88700 w 88699"/>
                <a:gd name="connsiteY0" fmla="*/ 44350 h 88700"/>
                <a:gd name="connsiteX1" fmla="*/ 44350 w 88699"/>
                <a:gd name="connsiteY1" fmla="*/ 88700 h 88700"/>
                <a:gd name="connsiteX2" fmla="*/ 0 w 88699"/>
                <a:gd name="connsiteY2" fmla="*/ 44350 h 88700"/>
                <a:gd name="connsiteX3" fmla="*/ 44350 w 88699"/>
                <a:gd name="connsiteY3" fmla="*/ 0 h 88700"/>
                <a:gd name="connsiteX4" fmla="*/ 88700 w 88699"/>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9"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7" name="Freihandform: Form 169">
              <a:extLst>
                <a:ext uri="{FF2B5EF4-FFF2-40B4-BE49-F238E27FC236}">
                  <a16:creationId xmlns:a16="http://schemas.microsoft.com/office/drawing/2014/main" id="{5C5E3C07-4813-43D9-8C45-70AEF952ACBB}"/>
                </a:ext>
              </a:extLst>
            </p:cNvPr>
            <p:cNvSpPr/>
            <p:nvPr/>
          </p:nvSpPr>
          <p:spPr>
            <a:xfrm>
              <a:off x="7658365" y="2118722"/>
              <a:ext cx="355539" cy="371801"/>
            </a:xfrm>
            <a:custGeom>
              <a:avLst/>
              <a:gdLst>
                <a:gd name="connsiteX0" fmla="*/ 348887 w 355539"/>
                <a:gd name="connsiteY0" fmla="*/ 6653 h 371801"/>
                <a:gd name="connsiteX1" fmla="*/ 317842 w 355539"/>
                <a:gd name="connsiteY1" fmla="*/ 6653 h 371801"/>
                <a:gd name="connsiteX2" fmla="*/ 286797 w 355539"/>
                <a:gd name="connsiteY2" fmla="*/ 37698 h 371801"/>
                <a:gd name="connsiteX3" fmla="*/ 242447 w 355539"/>
                <a:gd name="connsiteY3" fmla="*/ 5174 h 371801"/>
                <a:gd name="connsiteX4" fmla="*/ 223228 w 355539"/>
                <a:gd name="connsiteY4" fmla="*/ 2217 h 371801"/>
                <a:gd name="connsiteX5" fmla="*/ 119745 w 355539"/>
                <a:gd name="connsiteY5" fmla="*/ 31784 h 371801"/>
                <a:gd name="connsiteX6" fmla="*/ 110875 w 355539"/>
                <a:gd name="connsiteY6" fmla="*/ 37698 h 371801"/>
                <a:gd name="connsiteX7" fmla="*/ 72438 w 355539"/>
                <a:gd name="connsiteY7" fmla="*/ 76134 h 371801"/>
                <a:gd name="connsiteX8" fmla="*/ 22175 w 355539"/>
                <a:gd name="connsiteY8" fmla="*/ 76134 h 371801"/>
                <a:gd name="connsiteX9" fmla="*/ 0 w 355539"/>
                <a:gd name="connsiteY9" fmla="*/ 98309 h 371801"/>
                <a:gd name="connsiteX10" fmla="*/ 22175 w 355539"/>
                <a:gd name="connsiteY10" fmla="*/ 120484 h 371801"/>
                <a:gd name="connsiteX11" fmla="*/ 81308 w 355539"/>
                <a:gd name="connsiteY11" fmla="*/ 120484 h 371801"/>
                <a:gd name="connsiteX12" fmla="*/ 97570 w 355539"/>
                <a:gd name="connsiteY12" fmla="*/ 114571 h 371801"/>
                <a:gd name="connsiteX13" fmla="*/ 137485 w 355539"/>
                <a:gd name="connsiteY13" fmla="*/ 74656 h 371801"/>
                <a:gd name="connsiteX14" fmla="*/ 168530 w 355539"/>
                <a:gd name="connsiteY14" fmla="*/ 166313 h 371801"/>
                <a:gd name="connsiteX15" fmla="*/ 99048 w 355539"/>
                <a:gd name="connsiteY15" fmla="*/ 212141 h 371801"/>
                <a:gd name="connsiteX16" fmla="*/ 88700 w 355539"/>
                <a:gd name="connsiteY16" fmla="*/ 234316 h 371801"/>
                <a:gd name="connsiteX17" fmla="*/ 103483 w 355539"/>
                <a:gd name="connsiteY17" fmla="*/ 337800 h 371801"/>
                <a:gd name="connsiteX18" fmla="*/ 125658 w 355539"/>
                <a:gd name="connsiteY18" fmla="*/ 357018 h 371801"/>
                <a:gd name="connsiteX19" fmla="*/ 128615 w 355539"/>
                <a:gd name="connsiteY19" fmla="*/ 357018 h 371801"/>
                <a:gd name="connsiteX20" fmla="*/ 147833 w 355539"/>
                <a:gd name="connsiteY20" fmla="*/ 331886 h 371801"/>
                <a:gd name="connsiteX21" fmla="*/ 134528 w 355539"/>
                <a:gd name="connsiteY21" fmla="*/ 241708 h 371801"/>
                <a:gd name="connsiteX22" fmla="*/ 195140 w 355539"/>
                <a:gd name="connsiteY22" fmla="*/ 201793 h 371801"/>
                <a:gd name="connsiteX23" fmla="*/ 178878 w 355539"/>
                <a:gd name="connsiteY23" fmla="*/ 237273 h 371801"/>
                <a:gd name="connsiteX24" fmla="*/ 177400 w 355539"/>
                <a:gd name="connsiteY24" fmla="*/ 249100 h 371801"/>
                <a:gd name="connsiteX25" fmla="*/ 192183 w 355539"/>
                <a:gd name="connsiteY25" fmla="*/ 352583 h 371801"/>
                <a:gd name="connsiteX26" fmla="*/ 214358 w 355539"/>
                <a:gd name="connsiteY26" fmla="*/ 371801 h 371801"/>
                <a:gd name="connsiteX27" fmla="*/ 217315 w 355539"/>
                <a:gd name="connsiteY27" fmla="*/ 371801 h 371801"/>
                <a:gd name="connsiteX28" fmla="*/ 236533 w 355539"/>
                <a:gd name="connsiteY28" fmla="*/ 346670 h 371801"/>
                <a:gd name="connsiteX29" fmla="*/ 223228 w 355539"/>
                <a:gd name="connsiteY29" fmla="*/ 247621 h 371801"/>
                <a:gd name="connsiteX30" fmla="*/ 257230 w 355539"/>
                <a:gd name="connsiteY30" fmla="*/ 170748 h 371801"/>
                <a:gd name="connsiteX31" fmla="*/ 260187 w 355539"/>
                <a:gd name="connsiteY31" fmla="*/ 155964 h 371801"/>
                <a:gd name="connsiteX32" fmla="*/ 257230 w 355539"/>
                <a:gd name="connsiteY32" fmla="*/ 141181 h 371801"/>
                <a:gd name="connsiteX33" fmla="*/ 233577 w 355539"/>
                <a:gd name="connsiteY33" fmla="*/ 52481 h 371801"/>
                <a:gd name="connsiteX34" fmla="*/ 274970 w 355539"/>
                <a:gd name="connsiteY34" fmla="*/ 83526 h 371801"/>
                <a:gd name="connsiteX35" fmla="*/ 304537 w 355539"/>
                <a:gd name="connsiteY35" fmla="*/ 82048 h 371801"/>
                <a:gd name="connsiteX36" fmla="*/ 348887 w 355539"/>
                <a:gd name="connsiteY36" fmla="*/ 37698 h 371801"/>
                <a:gd name="connsiteX37" fmla="*/ 348887 w 355539"/>
                <a:gd name="connsiteY37" fmla="*/ 6653 h 371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55539" h="371801">
                  <a:moveTo>
                    <a:pt x="348887" y="6653"/>
                  </a:moveTo>
                  <a:cubicBezTo>
                    <a:pt x="340017" y="-2218"/>
                    <a:pt x="326712" y="-2218"/>
                    <a:pt x="317842" y="6653"/>
                  </a:cubicBezTo>
                  <a:lnTo>
                    <a:pt x="286797" y="37698"/>
                  </a:lnTo>
                  <a:lnTo>
                    <a:pt x="242447" y="5174"/>
                  </a:lnTo>
                  <a:cubicBezTo>
                    <a:pt x="236533" y="739"/>
                    <a:pt x="229142" y="-739"/>
                    <a:pt x="223228" y="2217"/>
                  </a:cubicBezTo>
                  <a:lnTo>
                    <a:pt x="119745" y="31784"/>
                  </a:lnTo>
                  <a:cubicBezTo>
                    <a:pt x="116788" y="33263"/>
                    <a:pt x="112353" y="34741"/>
                    <a:pt x="110875" y="37698"/>
                  </a:cubicBezTo>
                  <a:lnTo>
                    <a:pt x="72438" y="76134"/>
                  </a:lnTo>
                  <a:lnTo>
                    <a:pt x="22175" y="76134"/>
                  </a:lnTo>
                  <a:cubicBezTo>
                    <a:pt x="10348" y="76134"/>
                    <a:pt x="0" y="86483"/>
                    <a:pt x="0" y="98309"/>
                  </a:cubicBezTo>
                  <a:cubicBezTo>
                    <a:pt x="0" y="110136"/>
                    <a:pt x="10348" y="120484"/>
                    <a:pt x="22175" y="120484"/>
                  </a:cubicBezTo>
                  <a:lnTo>
                    <a:pt x="81308" y="120484"/>
                  </a:lnTo>
                  <a:cubicBezTo>
                    <a:pt x="87222" y="120484"/>
                    <a:pt x="93135" y="117528"/>
                    <a:pt x="97570" y="114571"/>
                  </a:cubicBezTo>
                  <a:lnTo>
                    <a:pt x="137485" y="74656"/>
                  </a:lnTo>
                  <a:lnTo>
                    <a:pt x="168530" y="166313"/>
                  </a:lnTo>
                  <a:lnTo>
                    <a:pt x="99048" y="212141"/>
                  </a:lnTo>
                  <a:cubicBezTo>
                    <a:pt x="91657" y="216576"/>
                    <a:pt x="88700" y="225446"/>
                    <a:pt x="88700" y="234316"/>
                  </a:cubicBezTo>
                  <a:lnTo>
                    <a:pt x="103483" y="337800"/>
                  </a:lnTo>
                  <a:cubicBezTo>
                    <a:pt x="104962" y="348148"/>
                    <a:pt x="113832" y="357018"/>
                    <a:pt x="125658" y="357018"/>
                  </a:cubicBezTo>
                  <a:cubicBezTo>
                    <a:pt x="127137" y="357018"/>
                    <a:pt x="127137" y="357018"/>
                    <a:pt x="128615" y="357018"/>
                  </a:cubicBezTo>
                  <a:cubicBezTo>
                    <a:pt x="140442" y="355540"/>
                    <a:pt x="149312" y="343713"/>
                    <a:pt x="147833" y="331886"/>
                  </a:cubicBezTo>
                  <a:lnTo>
                    <a:pt x="134528" y="241708"/>
                  </a:lnTo>
                  <a:lnTo>
                    <a:pt x="195140" y="201793"/>
                  </a:lnTo>
                  <a:lnTo>
                    <a:pt x="178878" y="237273"/>
                  </a:lnTo>
                  <a:cubicBezTo>
                    <a:pt x="177400" y="241708"/>
                    <a:pt x="175922" y="244665"/>
                    <a:pt x="177400" y="249100"/>
                  </a:cubicBezTo>
                  <a:lnTo>
                    <a:pt x="192183" y="352583"/>
                  </a:lnTo>
                  <a:cubicBezTo>
                    <a:pt x="193662" y="362931"/>
                    <a:pt x="202532" y="371801"/>
                    <a:pt x="214358" y="371801"/>
                  </a:cubicBezTo>
                  <a:cubicBezTo>
                    <a:pt x="215837" y="371801"/>
                    <a:pt x="215837" y="371801"/>
                    <a:pt x="217315" y="371801"/>
                  </a:cubicBezTo>
                  <a:cubicBezTo>
                    <a:pt x="229142" y="370323"/>
                    <a:pt x="238012" y="358496"/>
                    <a:pt x="236533" y="346670"/>
                  </a:cubicBezTo>
                  <a:lnTo>
                    <a:pt x="223228" y="247621"/>
                  </a:lnTo>
                  <a:lnTo>
                    <a:pt x="257230" y="170748"/>
                  </a:lnTo>
                  <a:cubicBezTo>
                    <a:pt x="257230" y="170748"/>
                    <a:pt x="260187" y="160399"/>
                    <a:pt x="260187" y="155964"/>
                  </a:cubicBezTo>
                  <a:cubicBezTo>
                    <a:pt x="260187" y="150051"/>
                    <a:pt x="257230" y="141181"/>
                    <a:pt x="257230" y="141181"/>
                  </a:cubicBezTo>
                  <a:lnTo>
                    <a:pt x="233577" y="52481"/>
                  </a:lnTo>
                  <a:lnTo>
                    <a:pt x="274970" y="83526"/>
                  </a:lnTo>
                  <a:cubicBezTo>
                    <a:pt x="283840" y="89439"/>
                    <a:pt x="295667" y="89439"/>
                    <a:pt x="304537" y="82048"/>
                  </a:cubicBezTo>
                  <a:lnTo>
                    <a:pt x="348887" y="37698"/>
                  </a:lnTo>
                  <a:cubicBezTo>
                    <a:pt x="357757" y="28828"/>
                    <a:pt x="357757" y="15523"/>
                    <a:pt x="348887" y="6653"/>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8" name="Freihandform: Form 170">
              <a:extLst>
                <a:ext uri="{FF2B5EF4-FFF2-40B4-BE49-F238E27FC236}">
                  <a16:creationId xmlns:a16="http://schemas.microsoft.com/office/drawing/2014/main" id="{11D6A333-8BE1-4F5D-9010-B9F176D9B6C8}"/>
                </a:ext>
              </a:extLst>
            </p:cNvPr>
            <p:cNvSpPr/>
            <p:nvPr/>
          </p:nvSpPr>
          <p:spPr>
            <a:xfrm>
              <a:off x="7356193" y="2192845"/>
              <a:ext cx="355042" cy="384900"/>
            </a:xfrm>
            <a:custGeom>
              <a:avLst/>
              <a:gdLst>
                <a:gd name="connsiteX0" fmla="*/ 352435 w 355042"/>
                <a:gd name="connsiteY0" fmla="*/ 86277 h 384900"/>
                <a:gd name="connsiteX1" fmla="*/ 322868 w 355042"/>
                <a:gd name="connsiteY1" fmla="*/ 75928 h 384900"/>
                <a:gd name="connsiteX2" fmla="*/ 281475 w 355042"/>
                <a:gd name="connsiteY2" fmla="*/ 96625 h 384900"/>
                <a:gd name="connsiteX3" fmla="*/ 247473 w 355042"/>
                <a:gd name="connsiteY3" fmla="*/ 40448 h 384900"/>
                <a:gd name="connsiteX4" fmla="*/ 234168 w 355042"/>
                <a:gd name="connsiteY4" fmla="*/ 30100 h 384900"/>
                <a:gd name="connsiteX5" fmla="*/ 130685 w 355042"/>
                <a:gd name="connsiteY5" fmla="*/ 533 h 384900"/>
                <a:gd name="connsiteX6" fmla="*/ 108510 w 355042"/>
                <a:gd name="connsiteY6" fmla="*/ 6447 h 384900"/>
                <a:gd name="connsiteX7" fmla="*/ 67116 w 355042"/>
                <a:gd name="connsiteY7" fmla="*/ 47840 h 384900"/>
                <a:gd name="connsiteX8" fmla="*/ 37550 w 355042"/>
                <a:gd name="connsiteY8" fmla="*/ 9403 h 384900"/>
                <a:gd name="connsiteX9" fmla="*/ 7983 w 355042"/>
                <a:gd name="connsiteY9" fmla="*/ 3490 h 384900"/>
                <a:gd name="connsiteX10" fmla="*/ 3548 w 355042"/>
                <a:gd name="connsiteY10" fmla="*/ 34535 h 384900"/>
                <a:gd name="connsiteX11" fmla="*/ 47898 w 355042"/>
                <a:gd name="connsiteY11" fmla="*/ 93668 h 384900"/>
                <a:gd name="connsiteX12" fmla="*/ 64160 w 355042"/>
                <a:gd name="connsiteY12" fmla="*/ 102538 h 384900"/>
                <a:gd name="connsiteX13" fmla="*/ 81900 w 355042"/>
                <a:gd name="connsiteY13" fmla="*/ 96625 h 384900"/>
                <a:gd name="connsiteX14" fmla="*/ 124771 w 355042"/>
                <a:gd name="connsiteY14" fmla="*/ 53753 h 384900"/>
                <a:gd name="connsiteX15" fmla="*/ 98161 w 355042"/>
                <a:gd name="connsiteY15" fmla="*/ 154280 h 384900"/>
                <a:gd name="connsiteX16" fmla="*/ 95205 w 355042"/>
                <a:gd name="connsiteY16" fmla="*/ 169063 h 384900"/>
                <a:gd name="connsiteX17" fmla="*/ 104075 w 355042"/>
                <a:gd name="connsiteY17" fmla="*/ 194195 h 384900"/>
                <a:gd name="connsiteX18" fmla="*/ 145468 w 355042"/>
                <a:gd name="connsiteY18" fmla="*/ 260720 h 384900"/>
                <a:gd name="connsiteX19" fmla="*/ 118858 w 355042"/>
                <a:gd name="connsiteY19" fmla="*/ 355334 h 384900"/>
                <a:gd name="connsiteX20" fmla="*/ 133641 w 355042"/>
                <a:gd name="connsiteY20" fmla="*/ 383422 h 384900"/>
                <a:gd name="connsiteX21" fmla="*/ 139555 w 355042"/>
                <a:gd name="connsiteY21" fmla="*/ 384900 h 384900"/>
                <a:gd name="connsiteX22" fmla="*/ 160251 w 355042"/>
                <a:gd name="connsiteY22" fmla="*/ 368639 h 384900"/>
                <a:gd name="connsiteX23" fmla="*/ 189818 w 355042"/>
                <a:gd name="connsiteY23" fmla="*/ 265155 h 384900"/>
                <a:gd name="connsiteX24" fmla="*/ 186861 w 355042"/>
                <a:gd name="connsiteY24" fmla="*/ 247415 h 384900"/>
                <a:gd name="connsiteX25" fmla="*/ 161730 w 355042"/>
                <a:gd name="connsiteY25" fmla="*/ 207500 h 384900"/>
                <a:gd name="connsiteX26" fmla="*/ 220863 w 355042"/>
                <a:gd name="connsiteY26" fmla="*/ 242980 h 384900"/>
                <a:gd name="connsiteX27" fmla="*/ 220863 w 355042"/>
                <a:gd name="connsiteY27" fmla="*/ 349420 h 384900"/>
                <a:gd name="connsiteX28" fmla="*/ 243038 w 355042"/>
                <a:gd name="connsiteY28" fmla="*/ 371595 h 384900"/>
                <a:gd name="connsiteX29" fmla="*/ 265213 w 355042"/>
                <a:gd name="connsiteY29" fmla="*/ 349420 h 384900"/>
                <a:gd name="connsiteX30" fmla="*/ 265213 w 355042"/>
                <a:gd name="connsiteY30" fmla="*/ 231154 h 384900"/>
                <a:gd name="connsiteX31" fmla="*/ 254865 w 355042"/>
                <a:gd name="connsiteY31" fmla="*/ 211935 h 384900"/>
                <a:gd name="connsiteX32" fmla="*/ 191296 w 355042"/>
                <a:gd name="connsiteY32" fmla="*/ 173498 h 384900"/>
                <a:gd name="connsiteX33" fmla="*/ 219385 w 355042"/>
                <a:gd name="connsiteY33" fmla="*/ 81842 h 384900"/>
                <a:gd name="connsiteX34" fmla="*/ 253386 w 355042"/>
                <a:gd name="connsiteY34" fmla="*/ 138018 h 384900"/>
                <a:gd name="connsiteX35" fmla="*/ 272605 w 355042"/>
                <a:gd name="connsiteY35" fmla="*/ 148367 h 384900"/>
                <a:gd name="connsiteX36" fmla="*/ 282953 w 355042"/>
                <a:gd name="connsiteY36" fmla="*/ 145410 h 384900"/>
                <a:gd name="connsiteX37" fmla="*/ 342086 w 355042"/>
                <a:gd name="connsiteY37" fmla="*/ 115843 h 384900"/>
                <a:gd name="connsiteX38" fmla="*/ 352435 w 355042"/>
                <a:gd name="connsiteY38" fmla="*/ 86277 h 384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5042" h="384900">
                  <a:moveTo>
                    <a:pt x="352435" y="86277"/>
                  </a:moveTo>
                  <a:cubicBezTo>
                    <a:pt x="346521" y="75928"/>
                    <a:pt x="333216" y="71493"/>
                    <a:pt x="322868" y="75928"/>
                  </a:cubicBezTo>
                  <a:lnTo>
                    <a:pt x="281475" y="96625"/>
                  </a:lnTo>
                  <a:lnTo>
                    <a:pt x="247473" y="40448"/>
                  </a:lnTo>
                  <a:cubicBezTo>
                    <a:pt x="244516" y="36013"/>
                    <a:pt x="240081" y="31578"/>
                    <a:pt x="234168" y="30100"/>
                  </a:cubicBezTo>
                  <a:lnTo>
                    <a:pt x="130685" y="533"/>
                  </a:lnTo>
                  <a:cubicBezTo>
                    <a:pt x="123293" y="-945"/>
                    <a:pt x="114423" y="533"/>
                    <a:pt x="108510" y="6447"/>
                  </a:cubicBezTo>
                  <a:lnTo>
                    <a:pt x="67116" y="47840"/>
                  </a:lnTo>
                  <a:lnTo>
                    <a:pt x="37550" y="9403"/>
                  </a:lnTo>
                  <a:cubicBezTo>
                    <a:pt x="33115" y="-945"/>
                    <a:pt x="18331" y="-2423"/>
                    <a:pt x="7983" y="3490"/>
                  </a:cubicBezTo>
                  <a:cubicBezTo>
                    <a:pt x="-887" y="10882"/>
                    <a:pt x="-2365" y="25665"/>
                    <a:pt x="3548" y="34535"/>
                  </a:cubicBezTo>
                  <a:lnTo>
                    <a:pt x="47898" y="93668"/>
                  </a:lnTo>
                  <a:cubicBezTo>
                    <a:pt x="52333" y="98103"/>
                    <a:pt x="58246" y="102538"/>
                    <a:pt x="64160" y="102538"/>
                  </a:cubicBezTo>
                  <a:cubicBezTo>
                    <a:pt x="70073" y="102538"/>
                    <a:pt x="77465" y="101060"/>
                    <a:pt x="81900" y="96625"/>
                  </a:cubicBezTo>
                  <a:lnTo>
                    <a:pt x="124771" y="53753"/>
                  </a:lnTo>
                  <a:lnTo>
                    <a:pt x="98161" y="154280"/>
                  </a:lnTo>
                  <a:cubicBezTo>
                    <a:pt x="96683" y="158715"/>
                    <a:pt x="95205" y="164628"/>
                    <a:pt x="95205" y="169063"/>
                  </a:cubicBezTo>
                  <a:cubicBezTo>
                    <a:pt x="95205" y="177933"/>
                    <a:pt x="98161" y="186803"/>
                    <a:pt x="104075" y="194195"/>
                  </a:cubicBezTo>
                  <a:lnTo>
                    <a:pt x="145468" y="260720"/>
                  </a:lnTo>
                  <a:lnTo>
                    <a:pt x="118858" y="355334"/>
                  </a:lnTo>
                  <a:cubicBezTo>
                    <a:pt x="115901" y="367160"/>
                    <a:pt x="121815" y="378987"/>
                    <a:pt x="133641" y="383422"/>
                  </a:cubicBezTo>
                  <a:cubicBezTo>
                    <a:pt x="135120" y="383422"/>
                    <a:pt x="138076" y="384900"/>
                    <a:pt x="139555" y="384900"/>
                  </a:cubicBezTo>
                  <a:cubicBezTo>
                    <a:pt x="149903" y="384900"/>
                    <a:pt x="158773" y="378987"/>
                    <a:pt x="160251" y="368639"/>
                  </a:cubicBezTo>
                  <a:lnTo>
                    <a:pt x="189818" y="265155"/>
                  </a:lnTo>
                  <a:cubicBezTo>
                    <a:pt x="191296" y="259242"/>
                    <a:pt x="191296" y="251850"/>
                    <a:pt x="186861" y="247415"/>
                  </a:cubicBezTo>
                  <a:lnTo>
                    <a:pt x="161730" y="207500"/>
                  </a:lnTo>
                  <a:lnTo>
                    <a:pt x="220863" y="242980"/>
                  </a:lnTo>
                  <a:lnTo>
                    <a:pt x="220863" y="349420"/>
                  </a:lnTo>
                  <a:cubicBezTo>
                    <a:pt x="220863" y="361247"/>
                    <a:pt x="231211" y="371595"/>
                    <a:pt x="243038" y="371595"/>
                  </a:cubicBezTo>
                  <a:cubicBezTo>
                    <a:pt x="254865" y="371595"/>
                    <a:pt x="265213" y="361247"/>
                    <a:pt x="265213" y="349420"/>
                  </a:cubicBezTo>
                  <a:lnTo>
                    <a:pt x="265213" y="231154"/>
                  </a:lnTo>
                  <a:cubicBezTo>
                    <a:pt x="265213" y="223762"/>
                    <a:pt x="260778" y="216370"/>
                    <a:pt x="254865" y="211935"/>
                  </a:cubicBezTo>
                  <a:lnTo>
                    <a:pt x="191296" y="173498"/>
                  </a:lnTo>
                  <a:lnTo>
                    <a:pt x="219385" y="81842"/>
                  </a:lnTo>
                  <a:lnTo>
                    <a:pt x="253386" y="138018"/>
                  </a:lnTo>
                  <a:cubicBezTo>
                    <a:pt x="257821" y="145410"/>
                    <a:pt x="265213" y="148367"/>
                    <a:pt x="272605" y="148367"/>
                  </a:cubicBezTo>
                  <a:cubicBezTo>
                    <a:pt x="275561" y="148367"/>
                    <a:pt x="279996" y="146888"/>
                    <a:pt x="282953" y="145410"/>
                  </a:cubicBezTo>
                  <a:lnTo>
                    <a:pt x="342086" y="115843"/>
                  </a:lnTo>
                  <a:cubicBezTo>
                    <a:pt x="353913" y="109930"/>
                    <a:pt x="358348" y="96625"/>
                    <a:pt x="352435" y="86277"/>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2588380223"/>
      </p:ext>
    </p:extLst>
  </p:cSld>
  <p:clrMapOvr>
    <a:masterClrMapping/>
  </p:clrMapOvr>
</p:sld>
</file>

<file path=ppt/theme/theme1.xml><?xml version="1.0" encoding="utf-8"?>
<a:theme xmlns:a="http://schemas.openxmlformats.org/drawingml/2006/main" name="1_Office">
  <a:themeElements>
    <a:clrScheme name="WBS_Folienvorlage">
      <a:dk1>
        <a:srgbClr val="0071B2"/>
      </a:dk1>
      <a:lt1>
        <a:srgbClr val="D2E8F4"/>
      </a:lt1>
      <a:dk2>
        <a:srgbClr val="B2B2B2"/>
      </a:dk2>
      <a:lt2>
        <a:srgbClr val="EEEEEE"/>
      </a:lt2>
      <a:accent1>
        <a:srgbClr val="0071B2"/>
      </a:accent1>
      <a:accent2>
        <a:srgbClr val="FE5000"/>
      </a:accent2>
      <a:accent3>
        <a:srgbClr val="D2E8F4"/>
      </a:accent3>
      <a:accent4>
        <a:srgbClr val="EEEEEE"/>
      </a:accent4>
      <a:accent5>
        <a:srgbClr val="D9D9D9"/>
      </a:accent5>
      <a:accent6>
        <a:srgbClr val="B2B2B2"/>
      </a:accent6>
      <a:hlink>
        <a:srgbClr val="FE5000"/>
      </a:hlink>
      <a:folHlink>
        <a:srgbClr val="C0000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1512</Words>
  <Application>Microsoft Office PowerPoint</Application>
  <PresentationFormat>Breitbild</PresentationFormat>
  <Paragraphs>249</Paragraphs>
  <Slides>23</Slides>
  <Notes>0</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23</vt:i4>
      </vt:variant>
    </vt:vector>
  </HeadingPairs>
  <TitlesOfParts>
    <vt:vector size="28" baseType="lpstr">
      <vt:lpstr>Arial</vt:lpstr>
      <vt:lpstr>Calibri</vt:lpstr>
      <vt:lpstr>Courier New</vt:lpstr>
      <vt:lpstr>Source Sans Pro</vt:lpstr>
      <vt:lpstr>1_Office</vt:lpstr>
      <vt:lpstr>Datenbanken und SQL</vt:lpstr>
      <vt:lpstr>Agenda</vt:lpstr>
      <vt:lpstr>PowerPoint-Präsentation</vt:lpstr>
      <vt:lpstr>Daten (Einzahl: Datum)</vt:lpstr>
      <vt:lpstr>Datenbank / Datenbanksystem</vt:lpstr>
      <vt:lpstr>Entität / Entitätstyp</vt:lpstr>
      <vt:lpstr>Attribut</vt:lpstr>
      <vt:lpstr>Datensatz</vt:lpstr>
      <vt:lpstr>Beziehung (Relation)</vt:lpstr>
      <vt:lpstr>PowerPoint-Präsentation</vt:lpstr>
      <vt:lpstr>ERM/ERD -&gt; Definition</vt:lpstr>
      <vt:lpstr>ERM/ERD -&gt; Motivation</vt:lpstr>
      <vt:lpstr>ERM/ERD -&gt; Kurzer Exkurs zum Datenbankentwurfs-Prozess</vt:lpstr>
      <vt:lpstr>PowerPoint-Präsentation</vt:lpstr>
      <vt:lpstr>ERD-Symbole -&gt; Entitätstypen</vt:lpstr>
      <vt:lpstr>ERD-Symbole -&gt; Attribute</vt:lpstr>
      <vt:lpstr>ERD-Symbole -&gt; zusammengesetzte Attribute</vt:lpstr>
      <vt:lpstr>ERD-Symbole -&gt; abgeleitete Attribute</vt:lpstr>
      <vt:lpstr>ERD-Symbole -&gt; zusammengesetzte oder abgeleitete Attribute</vt:lpstr>
      <vt:lpstr>ERD-Symbole -&gt; Relation</vt:lpstr>
      <vt:lpstr>ERD-Symbole -&gt; ID („Schlüssel“)</vt:lpstr>
      <vt:lpstr>Verwendung von DIA („Live-Coding“) -&gt; A_01_01_01</vt:lpstr>
      <vt:lpstr>PowerPoint-Präsentation</vt:lpstr>
    </vt:vector>
  </TitlesOfParts>
  <Company>WBS TRAINING AG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Datenbanken und SQL</dc:title>
  <dc:creator>Max Muster01</dc:creator>
  <cp:lastModifiedBy>Peter Schwertner</cp:lastModifiedBy>
  <cp:revision>113</cp:revision>
  <dcterms:created xsi:type="dcterms:W3CDTF">2022-02-01T13:48:14Z</dcterms:created>
  <dcterms:modified xsi:type="dcterms:W3CDTF">2024-02-25T04:38:10Z</dcterms:modified>
</cp:coreProperties>
</file>