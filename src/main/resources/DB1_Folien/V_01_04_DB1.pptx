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309" r:id="rId4"/>
    <p:sldId id="310" r:id="rId5"/>
    <p:sldId id="311" r:id="rId6"/>
    <p:sldId id="312" r:id="rId7"/>
    <p:sldId id="313" r:id="rId8"/>
    <p:sldId id="314" r:id="rId9"/>
    <p:sldId id="315" r:id="rId10"/>
    <p:sldId id="316" r:id="rId11"/>
    <p:sldId id="317" r:id="rId12"/>
    <p:sldId id="318" r:id="rId13"/>
    <p:sldId id="319" r:id="rId14"/>
    <p:sldId id="320" r:id="rId15"/>
    <p:sldId id="321" r:id="rId16"/>
    <p:sldId id="277" r:id="rId17"/>
    <p:sldId id="259"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9" d="100"/>
          <a:sy n="109" d="100"/>
        </p:scale>
        <p:origin x="612" y="31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03.02.2026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03.02.2026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03.02.2026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03.02.2026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03.02.2026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03.02.2026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03.02.2026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03.02.2026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03.02.2026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03.02.2026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03.02.2026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03.02.2026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03.02.2026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03.02.2026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03.02.2026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03.02.2026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03.02.2026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03.02.2026</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1 - Tag 4)</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173741"/>
            <a:ext cx="10713719" cy="2677656"/>
          </a:xfrm>
          <a:prstGeom prst="rect">
            <a:avLst/>
          </a:prstGeom>
          <a:noFill/>
        </p:spPr>
        <p:txBody>
          <a:bodyPr wrap="square" rtlCol="0">
            <a:spAutoFit/>
          </a:bodyPr>
          <a:lstStyle/>
          <a:p>
            <a:endParaRPr lang="de-DE" sz="800" b="1" dirty="0">
              <a:latin typeface="Source Sans Pro" panose="020B0503030403020204" pitchFamily="34" charset="0"/>
            </a:endParaRPr>
          </a:p>
          <a:p>
            <a:pPr marL="742950" lvl="1" indent="-285750">
              <a:buFont typeface="Arial" panose="020B0604020202020204" pitchFamily="34" charset="0"/>
              <a:buChar char="•"/>
            </a:pPr>
            <a:r>
              <a:rPr lang="de-DE" dirty="0">
                <a:latin typeface="Source Sans Pro" panose="020B0503030403020204" pitchFamily="34" charset="0"/>
              </a:rPr>
              <a:t>Übergang vom ERD -&gt; </a:t>
            </a:r>
            <a:r>
              <a:rPr lang="de-DE" b="1" dirty="0">
                <a:latin typeface="Source Sans Pro" panose="020B0503030403020204" pitchFamily="34" charset="0"/>
              </a:rPr>
              <a:t>Relationales Datenbankschema </a:t>
            </a:r>
            <a:r>
              <a:rPr lang="de-DE" sz="1200" dirty="0">
                <a:latin typeface="Source Sans Pro" panose="020B0503030403020204" pitchFamily="34" charset="0"/>
              </a:rPr>
              <a:t>(Logischer Datenbankentwurf </a:t>
            </a:r>
            <a:r>
              <a:rPr lang="de-DE" sz="800" dirty="0">
                <a:latin typeface="Source Sans Pro" panose="020B0503030403020204" pitchFamily="34" charset="0"/>
              </a:rPr>
              <a:t>[Einstieg]</a:t>
            </a:r>
            <a:r>
              <a:rPr lang="de-DE" sz="1200" dirty="0">
                <a:latin typeface="Source Sans Pro" panose="020B0503030403020204" pitchFamily="34" charset="0"/>
              </a:rPr>
              <a:t>)</a:t>
            </a:r>
          </a:p>
          <a:p>
            <a:pPr marL="742950" lvl="1" indent="-285750">
              <a:buFont typeface="Arial" panose="020B0604020202020204" pitchFamily="34" charset="0"/>
              <a:buChar char="•"/>
            </a:pPr>
            <a:endParaRPr lang="de-DE" sz="800" dirty="0">
              <a:latin typeface="Source Sans Pro" panose="020B0503030403020204" pitchFamily="34" charset="0"/>
            </a:endParaRPr>
          </a:p>
          <a:p>
            <a:pPr marL="1085850" lvl="2" indent="-171450">
              <a:buFont typeface="Courier New" panose="02070309020205020404" pitchFamily="49" charset="0"/>
              <a:buChar char="o"/>
            </a:pPr>
            <a:r>
              <a:rPr lang="de-DE" sz="1200" b="1" dirty="0">
                <a:latin typeface="Source Sans Pro" panose="020B0503030403020204" pitchFamily="34" charset="0"/>
              </a:rPr>
              <a:t>Tabelle (</a:t>
            </a:r>
            <a:r>
              <a:rPr lang="de-DE" sz="1200" b="1" dirty="0">
                <a:solidFill>
                  <a:schemeClr val="accent2"/>
                </a:solidFill>
                <a:latin typeface="Source Sans Pro" panose="020B0503030403020204" pitchFamily="34" charset="0"/>
              </a:rPr>
              <a:t>Relation[!]</a:t>
            </a:r>
            <a:r>
              <a:rPr lang="de-DE" sz="1200" b="1" dirty="0">
                <a:latin typeface="Source Sans Pro" panose="020B0503030403020204" pitchFamily="34" charset="0"/>
              </a:rPr>
              <a:t>)</a:t>
            </a:r>
          </a:p>
          <a:p>
            <a:pPr marL="1543050" lvl="3" indent="-171450">
              <a:buFontTx/>
              <a:buChar char="-"/>
            </a:pPr>
            <a:r>
              <a:rPr lang="de-DE" sz="1200" dirty="0">
                <a:latin typeface="Source Sans Pro" panose="020B0503030403020204" pitchFamily="34" charset="0"/>
              </a:rPr>
              <a:t>Definition + Motivation + Beispiel</a:t>
            </a:r>
            <a:endParaRPr lang="de-DE" sz="800" b="1" dirty="0">
              <a:latin typeface="Source Sans Pro" panose="020B0503030403020204" pitchFamily="34" charset="0"/>
            </a:endParaRPr>
          </a:p>
          <a:p>
            <a:pPr marL="1085850" lvl="2" indent="-171450">
              <a:buFont typeface="Courier New" panose="02070309020205020404" pitchFamily="49" charset="0"/>
              <a:buChar char="o"/>
            </a:pPr>
            <a:r>
              <a:rPr lang="de-DE" sz="1200" b="1" dirty="0">
                <a:latin typeface="Source Sans Pro" panose="020B0503030403020204" pitchFamily="34" charset="0"/>
              </a:rPr>
              <a:t>Primärschlüssel</a:t>
            </a:r>
          </a:p>
          <a:p>
            <a:pPr marL="1543050" lvl="3" indent="-171450">
              <a:buFontTx/>
              <a:buChar char="-"/>
            </a:pPr>
            <a:r>
              <a:rPr lang="de-DE" sz="1200" dirty="0">
                <a:latin typeface="Source Sans Pro" panose="020B0503030403020204" pitchFamily="34" charset="0"/>
              </a:rPr>
              <a:t>Definition + Motivation + Beispiel</a:t>
            </a:r>
            <a:endParaRPr lang="de-DE" sz="800" dirty="0">
              <a:latin typeface="Source Sans Pro" panose="020B0503030403020204" pitchFamily="34" charset="0"/>
            </a:endParaRPr>
          </a:p>
          <a:p>
            <a:pPr marL="1085850" lvl="2" indent="-171450">
              <a:buFont typeface="Courier New" panose="02070309020205020404" pitchFamily="49" charset="0"/>
              <a:buChar char="o"/>
            </a:pPr>
            <a:r>
              <a:rPr lang="de-DE" sz="1200" b="1" dirty="0">
                <a:latin typeface="Source Sans Pro" panose="020B0503030403020204" pitchFamily="34" charset="0"/>
              </a:rPr>
              <a:t>Fremdschlüssel</a:t>
            </a:r>
          </a:p>
          <a:p>
            <a:pPr marL="1543050" lvl="3" indent="-171450">
              <a:buFontTx/>
              <a:buChar char="-"/>
            </a:pPr>
            <a:r>
              <a:rPr lang="de-DE" sz="1200" dirty="0">
                <a:latin typeface="Source Sans Pro" panose="020B0503030403020204" pitchFamily="34" charset="0"/>
              </a:rPr>
              <a:t>Definition + Motivation + Beispiel</a:t>
            </a:r>
          </a:p>
          <a:p>
            <a:pPr marL="1543050" lvl="3" indent="-171450">
              <a:buFontTx/>
              <a:buChar char="-"/>
            </a:pPr>
            <a:r>
              <a:rPr lang="de-DE" sz="1200" dirty="0">
                <a:latin typeface="Source Sans Pro" panose="020B0503030403020204" pitchFamily="34" charset="0"/>
              </a:rPr>
              <a:t>Verwendung</a:t>
            </a:r>
          </a:p>
          <a:p>
            <a:pPr marL="2000250" lvl="4" indent="-171450">
              <a:buFont typeface="Wingdings" panose="05000000000000000000" pitchFamily="2" charset="2"/>
              <a:buChar char="Ø"/>
            </a:pPr>
            <a:r>
              <a:rPr lang="de-DE" sz="1000" dirty="0">
                <a:latin typeface="Source Sans Pro" panose="020B0503030403020204" pitchFamily="34" charset="0"/>
              </a:rPr>
              <a:t> 1:1-</a:t>
            </a:r>
            <a:r>
              <a:rPr lang="de-DE" sz="1000" dirty="0">
                <a:solidFill>
                  <a:schemeClr val="accent2"/>
                </a:solidFill>
                <a:latin typeface="Source Sans Pro" panose="020B0503030403020204" pitchFamily="34" charset="0"/>
              </a:rPr>
              <a:t>Beziehung</a:t>
            </a:r>
          </a:p>
          <a:p>
            <a:pPr marL="2000250" lvl="4" indent="-171450">
              <a:buFont typeface="Wingdings" panose="05000000000000000000" pitchFamily="2" charset="2"/>
              <a:buChar char="Ø"/>
            </a:pPr>
            <a:r>
              <a:rPr lang="de-DE" sz="1000" dirty="0">
                <a:latin typeface="Source Sans Pro" panose="020B0503030403020204" pitchFamily="34" charset="0"/>
              </a:rPr>
              <a:t> 1:n-</a:t>
            </a:r>
            <a:r>
              <a:rPr lang="de-DE" sz="1000" dirty="0">
                <a:solidFill>
                  <a:schemeClr val="accent2"/>
                </a:solidFill>
                <a:latin typeface="Source Sans Pro" panose="020B0503030403020204" pitchFamily="34" charset="0"/>
              </a:rPr>
              <a:t>Beziehung</a:t>
            </a:r>
          </a:p>
          <a:p>
            <a:pPr marL="2000250" lvl="4" indent="-171450">
              <a:buFont typeface="Wingdings" panose="05000000000000000000" pitchFamily="2" charset="2"/>
              <a:buChar char="Ø"/>
            </a:pPr>
            <a:r>
              <a:rPr lang="de-DE" sz="1000" dirty="0">
                <a:latin typeface="Source Sans Pro" panose="020B0503030403020204" pitchFamily="34" charset="0"/>
              </a:rPr>
              <a:t>m:n-</a:t>
            </a:r>
            <a:r>
              <a:rPr lang="de-DE" sz="1000" dirty="0">
                <a:solidFill>
                  <a:schemeClr val="accent2"/>
                </a:solidFill>
                <a:latin typeface="Source Sans Pro" panose="020B0503030403020204" pitchFamily="34" charset="0"/>
              </a:rPr>
              <a:t>Beziehung</a:t>
            </a:r>
            <a:r>
              <a:rPr lang="de-DE" sz="1000" dirty="0">
                <a:latin typeface="Source Sans Pro" panose="020B0503030403020204" pitchFamily="34" charset="0"/>
              </a:rPr>
              <a:t>  =&gt; Hilfstabelle</a:t>
            </a:r>
          </a:p>
          <a:p>
            <a:pPr marL="1085850" lvl="2" indent="-171450">
              <a:buFont typeface="Courier New" panose="02070309020205020404" pitchFamily="49" charset="0"/>
              <a:buChar char="o"/>
            </a:pPr>
            <a:endParaRPr lang="de-DE" sz="1200" dirty="0">
              <a:latin typeface="Source Sans Pro" panose="020B0503030403020204" pitchFamily="34" charset="0"/>
            </a:endParaRPr>
          </a:p>
          <a:p>
            <a:pPr marL="1085850" lvl="2" indent="-171450">
              <a:buFont typeface="Courier New" panose="02070309020205020404" pitchFamily="49" charset="0"/>
              <a:buChar char="o"/>
            </a:pPr>
            <a:endParaRPr lang="de-DE" sz="800" dirty="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dirty="0">
                <a:latin typeface="Source Sans Pro" panose="020B0503030403020204" pitchFamily="34" charset="0"/>
              </a:rPr>
              <a:t>ERD -&gt; Relationale DB</a:t>
            </a:r>
          </a:p>
          <a:p>
            <a:r>
              <a:rPr lang="de-DE" sz="6600" dirty="0">
                <a:latin typeface="Source Sans Pro" panose="020B0503030403020204" pitchFamily="34" charset="0"/>
              </a:rPr>
              <a:t>Tabelle</a:t>
            </a:r>
          </a:p>
        </p:txBody>
      </p:sp>
    </p:spTree>
    <p:extLst>
      <p:ext uri="{BB962C8B-B14F-4D97-AF65-F5344CB8AC3E}">
        <p14:creationId xmlns:p14="http://schemas.microsoft.com/office/powerpoint/2010/main" val="3772089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059266" cy="720725"/>
          </a:xfrm>
        </p:spPr>
        <p:txBody>
          <a:bodyPr>
            <a:noAutofit/>
          </a:bodyPr>
          <a:lstStyle/>
          <a:p>
            <a:r>
              <a:rPr lang="de-DE" dirty="0">
                <a:latin typeface="Source Sans Pro" panose="020B0503030403020204" pitchFamily="34" charset="0"/>
              </a:rPr>
              <a:t>Tabelle (Relation) -&gt; Definition + Motivation</a:t>
            </a:r>
            <a:endParaRPr lang="de-DE"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495580" y="1517395"/>
            <a:ext cx="11437092" cy="317009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werden beim Übergang von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einem ERD hin zu einem </a:t>
            </a:r>
            <a:r>
              <a:rPr kumimoji="0" lang="de-DE" sz="2400" i="1" u="none" strike="noStrike" kern="1200" cap="none" spc="0" normalizeH="0" noProof="0" dirty="0">
                <a:ln>
                  <a:noFill/>
                </a:ln>
                <a:solidFill>
                  <a:srgbClr val="0071B2"/>
                </a:solidFill>
                <a:effectLst/>
                <a:uLnTx/>
                <a:uFillTx/>
                <a:latin typeface="Source Sans Pro" panose="020B0503030403020204" pitchFamily="34" charset="0"/>
                <a:ea typeface="+mn-ea"/>
                <a:cs typeface="+mn-cs"/>
              </a:rPr>
              <a:t>Relationalen DB-Schema   </a:t>
            </a:r>
          </a:p>
          <a:p>
            <a:pPr marR="0" lvl="0" algn="l" defTabSz="914400" rtl="0" eaLnBrk="1" fontAlgn="auto" latinLnBrk="0" hangingPunct="1">
              <a:lnSpc>
                <a:spcPct val="100000"/>
              </a:lnSpc>
              <a:spcBef>
                <a:spcPts val="0"/>
              </a:spcBef>
              <a:spcAft>
                <a:spcPts val="0"/>
              </a:spcAft>
              <a:buClrTx/>
              <a:buSzTx/>
              <a:tabLst/>
              <a:defRPr/>
            </a:pPr>
            <a:r>
              <a:rPr lang="de-DE" sz="2400" i="1" dirty="0">
                <a:solidFill>
                  <a:srgbClr val="0071B2"/>
                </a:solidFill>
                <a:latin typeface="Source Sans Pro" panose="020B0503030403020204" pitchFamily="34" charset="0"/>
              </a:rPr>
              <a:t>      </a:t>
            </a:r>
            <a:r>
              <a:rPr kumimoji="0" lang="de-DE" sz="2400" i="1"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
            </a:r>
            <a:r>
              <a:rPr kumimoji="0" lang="de-DE" b="0" i="0" u="none" strike="noStrike" kern="1200" cap="none" spc="0" normalizeH="0" noProof="0" dirty="0">
                <a:ln>
                  <a:noFill/>
                </a:ln>
                <a:solidFill>
                  <a:srgbClr val="0071B2"/>
                </a:solidFill>
                <a:effectLst/>
                <a:uLnTx/>
                <a:uFillTx/>
                <a:latin typeface="Source Sans Pro" panose="020B0503030403020204" pitchFamily="34" charset="0"/>
              </a:rPr>
              <a:t>(= graphische </a:t>
            </a:r>
            <a:r>
              <a:rPr lang="de-DE" dirty="0">
                <a:solidFill>
                  <a:srgbClr val="0071B2"/>
                </a:solidFill>
                <a:latin typeface="Source Sans Pro" panose="020B0503030403020204" pitchFamily="34" charset="0"/>
              </a:rPr>
              <a:t>D</a:t>
            </a:r>
            <a:r>
              <a:rPr kumimoji="0" lang="de-DE" b="0" i="0" u="none" strike="noStrike" kern="1200" cap="none" spc="0" normalizeH="0" noProof="0" dirty="0">
                <a:ln>
                  <a:noFill/>
                </a:ln>
                <a:solidFill>
                  <a:srgbClr val="0071B2"/>
                </a:solidFill>
                <a:effectLst/>
                <a:uLnTx/>
                <a:uFillTx/>
                <a:latin typeface="Source Sans Pro" panose="020B0503030403020204" pitchFamily="34" charset="0"/>
              </a:rPr>
              <a:t>arstellung einer relationalen Datenbank)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Entitätstypen in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Tabellen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„übersetzen“.</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Diese Tabellen werden auch als </a:t>
            </a:r>
            <a:r>
              <a:rPr lang="de-DE" sz="2400" b="1" dirty="0">
                <a:solidFill>
                  <a:srgbClr val="0071B2"/>
                </a:solidFill>
                <a:latin typeface="Source Sans Pro" panose="020B0503030403020204" pitchFamily="34" charset="0"/>
              </a:rPr>
              <a:t>„Relationen“ </a:t>
            </a:r>
            <a:r>
              <a:rPr lang="de-DE" sz="2400" dirty="0">
                <a:solidFill>
                  <a:srgbClr val="0071B2"/>
                </a:solidFill>
                <a:latin typeface="Source Sans Pro" panose="020B0503030403020204" pitchFamily="34" charset="0"/>
              </a:rPr>
              <a:t>bezeichnet.</a:t>
            </a:r>
            <a:endPar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Entsprechend werden wir </a:t>
            </a:r>
            <a:r>
              <a:rPr lang="de-DE" sz="2400" dirty="0">
                <a:solidFill>
                  <a:srgbClr val="0071B2"/>
                </a:solidFill>
                <a:latin typeface="Source Sans Pro" panose="020B0503030403020204" pitchFamily="34" charset="0"/>
              </a:rPr>
              <a:t>in einem RDB-Schema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bei den </a:t>
            </a:r>
            <a:r>
              <a:rPr kumimoji="0" lang="de-DE" sz="2400" b="0" i="1" u="none" strike="noStrike" kern="1200" cap="none" spc="0" normalizeH="0" noProof="0" dirty="0">
                <a:ln>
                  <a:noFill/>
                </a:ln>
                <a:solidFill>
                  <a:srgbClr val="0071B2"/>
                </a:solidFill>
                <a:effectLst/>
                <a:uLnTx/>
                <a:uFillTx/>
                <a:latin typeface="Source Sans Pro" panose="020B0503030403020204" pitchFamily="34" charset="0"/>
                <a:ea typeface="+mn-ea"/>
                <a:cs typeface="+mn-cs"/>
              </a:rPr>
              <a:t>„Verbindungslinien zweier Tabellen“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nicht mehr von Relationen, sondern von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„Beziehungen“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sprechen.</a:t>
            </a:r>
            <a:endParaRPr kumimoji="0" lang="de-DE" sz="2000" b="0" i="1"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Die Bezeichnung „Tabelle“ ist günstig gewählt, weil jede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Tabellenzeile</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den Datensatz einer Entität darstellt und jede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Spaltenüberschrift</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die jeweiligen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Attribute anspricht.</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graphicFrame>
        <p:nvGraphicFramePr>
          <p:cNvPr id="2" name="Tabelle 1"/>
          <p:cNvGraphicFramePr>
            <a:graphicFrameLocks noGrp="1"/>
          </p:cNvGraphicFramePr>
          <p:nvPr>
            <p:extLst>
              <p:ext uri="{D42A27DB-BD31-4B8C-83A1-F6EECF244321}">
                <p14:modId xmlns:p14="http://schemas.microsoft.com/office/powerpoint/2010/main" val="3040665606"/>
              </p:ext>
            </p:extLst>
          </p:nvPr>
        </p:nvGraphicFramePr>
        <p:xfrm>
          <a:off x="2654221" y="4836087"/>
          <a:ext cx="6894276" cy="1097280"/>
        </p:xfrm>
        <a:graphic>
          <a:graphicData uri="http://schemas.openxmlformats.org/drawingml/2006/table">
            <a:tbl>
              <a:tblPr firstRow="1" bandRow="1">
                <a:tableStyleId>{5C22544A-7EE6-4342-B048-85BDC9FD1C3A}</a:tableStyleId>
              </a:tblPr>
              <a:tblGrid>
                <a:gridCol w="2298092">
                  <a:extLst>
                    <a:ext uri="{9D8B030D-6E8A-4147-A177-3AD203B41FA5}">
                      <a16:colId xmlns:a16="http://schemas.microsoft.com/office/drawing/2014/main" val="575160789"/>
                    </a:ext>
                  </a:extLst>
                </a:gridCol>
                <a:gridCol w="2298092">
                  <a:extLst>
                    <a:ext uri="{9D8B030D-6E8A-4147-A177-3AD203B41FA5}">
                      <a16:colId xmlns:a16="http://schemas.microsoft.com/office/drawing/2014/main" val="1250397250"/>
                    </a:ext>
                  </a:extLst>
                </a:gridCol>
                <a:gridCol w="2298092">
                  <a:extLst>
                    <a:ext uri="{9D8B030D-6E8A-4147-A177-3AD203B41FA5}">
                      <a16:colId xmlns:a16="http://schemas.microsoft.com/office/drawing/2014/main" val="2136345382"/>
                    </a:ext>
                  </a:extLst>
                </a:gridCol>
              </a:tblGrid>
              <a:tr h="251749">
                <a:tc>
                  <a:txBody>
                    <a:bodyPr/>
                    <a:lstStyle/>
                    <a:p>
                      <a:r>
                        <a:rPr lang="de-DE" sz="1200" dirty="0"/>
                        <a:t>Auto_ID</a:t>
                      </a:r>
                    </a:p>
                  </a:txBody>
                  <a:tcPr/>
                </a:tc>
                <a:tc>
                  <a:txBody>
                    <a:bodyPr/>
                    <a:lstStyle/>
                    <a:p>
                      <a:r>
                        <a:rPr lang="de-DE" sz="1200" dirty="0"/>
                        <a:t>Marke</a:t>
                      </a:r>
                    </a:p>
                  </a:txBody>
                  <a:tcPr/>
                </a:tc>
                <a:tc>
                  <a:txBody>
                    <a:bodyPr/>
                    <a:lstStyle/>
                    <a:p>
                      <a:r>
                        <a:rPr lang="de-DE" sz="1200" dirty="0"/>
                        <a:t>PS</a:t>
                      </a:r>
                    </a:p>
                  </a:txBody>
                  <a:tcPr/>
                </a:tc>
                <a:extLst>
                  <a:ext uri="{0D108BD9-81ED-4DB2-BD59-A6C34878D82A}">
                    <a16:rowId xmlns:a16="http://schemas.microsoft.com/office/drawing/2014/main" val="222390635"/>
                  </a:ext>
                </a:extLst>
              </a:tr>
              <a:tr h="251749">
                <a:tc>
                  <a:txBody>
                    <a:bodyPr/>
                    <a:lstStyle/>
                    <a:p>
                      <a:r>
                        <a:rPr lang="de-DE" sz="1200" dirty="0"/>
                        <a:t>1</a:t>
                      </a:r>
                    </a:p>
                  </a:txBody>
                  <a:tcPr/>
                </a:tc>
                <a:tc>
                  <a:txBody>
                    <a:bodyPr/>
                    <a:lstStyle/>
                    <a:p>
                      <a:r>
                        <a:rPr lang="de-DE" sz="1200" dirty="0"/>
                        <a:t>Audi</a:t>
                      </a:r>
                    </a:p>
                  </a:txBody>
                  <a:tcPr/>
                </a:tc>
                <a:tc>
                  <a:txBody>
                    <a:bodyPr/>
                    <a:lstStyle/>
                    <a:p>
                      <a:r>
                        <a:rPr lang="de-DE" sz="1200" dirty="0"/>
                        <a:t>50</a:t>
                      </a:r>
                    </a:p>
                  </a:txBody>
                  <a:tcPr/>
                </a:tc>
                <a:extLst>
                  <a:ext uri="{0D108BD9-81ED-4DB2-BD59-A6C34878D82A}">
                    <a16:rowId xmlns:a16="http://schemas.microsoft.com/office/drawing/2014/main" val="1244206545"/>
                  </a:ext>
                </a:extLst>
              </a:tr>
              <a:tr h="251749">
                <a:tc>
                  <a:txBody>
                    <a:bodyPr/>
                    <a:lstStyle/>
                    <a:p>
                      <a:r>
                        <a:rPr lang="de-DE" sz="1200" dirty="0"/>
                        <a:t>2</a:t>
                      </a:r>
                    </a:p>
                  </a:txBody>
                  <a:tcPr/>
                </a:tc>
                <a:tc>
                  <a:txBody>
                    <a:bodyPr/>
                    <a:lstStyle/>
                    <a:p>
                      <a:r>
                        <a:rPr lang="de-DE" sz="1200" dirty="0"/>
                        <a:t>Porsche</a:t>
                      </a:r>
                    </a:p>
                  </a:txBody>
                  <a:tcPr/>
                </a:tc>
                <a:tc>
                  <a:txBody>
                    <a:bodyPr/>
                    <a:lstStyle/>
                    <a:p>
                      <a:r>
                        <a:rPr lang="de-DE" sz="1200" dirty="0"/>
                        <a:t>200</a:t>
                      </a:r>
                    </a:p>
                  </a:txBody>
                  <a:tcPr/>
                </a:tc>
                <a:extLst>
                  <a:ext uri="{0D108BD9-81ED-4DB2-BD59-A6C34878D82A}">
                    <a16:rowId xmlns:a16="http://schemas.microsoft.com/office/drawing/2014/main" val="788923964"/>
                  </a:ext>
                </a:extLst>
              </a:tr>
              <a:tr h="251749">
                <a:tc>
                  <a:txBody>
                    <a:bodyPr/>
                    <a:lstStyle/>
                    <a:p>
                      <a:r>
                        <a:rPr lang="de-DE" sz="1200" dirty="0"/>
                        <a:t>3</a:t>
                      </a:r>
                    </a:p>
                  </a:txBody>
                  <a:tcPr/>
                </a:tc>
                <a:tc>
                  <a:txBody>
                    <a:bodyPr/>
                    <a:lstStyle/>
                    <a:p>
                      <a:r>
                        <a:rPr lang="de-DE" sz="1200" dirty="0"/>
                        <a:t>Volvo</a:t>
                      </a:r>
                    </a:p>
                  </a:txBody>
                  <a:tcPr/>
                </a:tc>
                <a:tc>
                  <a:txBody>
                    <a:bodyPr/>
                    <a:lstStyle/>
                    <a:p>
                      <a:r>
                        <a:rPr lang="de-DE" sz="1200" dirty="0"/>
                        <a:t>80</a:t>
                      </a:r>
                    </a:p>
                  </a:txBody>
                  <a:tcPr/>
                </a:tc>
                <a:extLst>
                  <a:ext uri="{0D108BD9-81ED-4DB2-BD59-A6C34878D82A}">
                    <a16:rowId xmlns:a16="http://schemas.microsoft.com/office/drawing/2014/main" val="3029020167"/>
                  </a:ext>
                </a:extLst>
              </a:tr>
            </a:tbl>
          </a:graphicData>
        </a:graphic>
      </p:graphicFrame>
      <p:sp>
        <p:nvSpPr>
          <p:cNvPr id="3" name="Textfeld 2"/>
          <p:cNvSpPr txBox="1"/>
          <p:nvPr/>
        </p:nvSpPr>
        <p:spPr>
          <a:xfrm>
            <a:off x="2568478" y="4606147"/>
            <a:ext cx="5546262" cy="276999"/>
          </a:xfrm>
          <a:prstGeom prst="rect">
            <a:avLst/>
          </a:prstGeom>
          <a:noFill/>
        </p:spPr>
        <p:txBody>
          <a:bodyPr wrap="none" rtlCol="0">
            <a:spAutoFit/>
          </a:bodyPr>
          <a:lstStyle/>
          <a:p>
            <a:r>
              <a:rPr lang="de-DE" sz="1200" b="1" dirty="0"/>
              <a:t>Graphische Erläuterung </a:t>
            </a:r>
            <a:r>
              <a:rPr lang="de-DE" sz="1200" dirty="0"/>
              <a:t>des Tabellenbegriffs am Beispiel einer Tabelle namens „Auto“</a:t>
            </a:r>
          </a:p>
        </p:txBody>
      </p:sp>
    </p:spTree>
    <p:extLst>
      <p:ext uri="{BB962C8B-B14F-4D97-AF65-F5344CB8AC3E}">
        <p14:creationId xmlns:p14="http://schemas.microsoft.com/office/powerpoint/2010/main" val="596366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059266" cy="720725"/>
          </a:xfrm>
        </p:spPr>
        <p:txBody>
          <a:bodyPr>
            <a:noAutofit/>
          </a:bodyPr>
          <a:lstStyle/>
          <a:p>
            <a:r>
              <a:rPr lang="de-DE" dirty="0">
                <a:latin typeface="Source Sans Pro" panose="020B0503030403020204" pitchFamily="34" charset="0"/>
              </a:rPr>
              <a:t>Entitätstyp </a:t>
            </a:r>
            <a:r>
              <a:rPr lang="de-DE" sz="1800" dirty="0">
                <a:latin typeface="Source Sans Pro" panose="020B0503030403020204" pitchFamily="34" charset="0"/>
              </a:rPr>
              <a:t>(im ERD)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Tabelle </a:t>
            </a:r>
            <a:r>
              <a:rPr lang="de-DE" sz="1800" dirty="0">
                <a:solidFill>
                  <a:schemeClr val="accent2"/>
                </a:solidFill>
                <a:latin typeface="Source Sans Pro" panose="020B0503030403020204" pitchFamily="34" charset="0"/>
              </a:rPr>
              <a:t>(im RDB-Schema)</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1876528" y="3603967"/>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Auto</a:t>
            </a:r>
          </a:p>
        </p:txBody>
      </p:sp>
      <p:sp>
        <p:nvSpPr>
          <p:cNvPr id="9" name="Ellipse 8"/>
          <p:cNvSpPr/>
          <p:nvPr/>
        </p:nvSpPr>
        <p:spPr>
          <a:xfrm>
            <a:off x="1112504" y="1633145"/>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latin typeface="Source Sans Pro" panose="020B0503030403020204" pitchFamily="34" charset="0"/>
              </a:rPr>
              <a:t>Auto_ID</a:t>
            </a:r>
          </a:p>
        </p:txBody>
      </p:sp>
      <p:sp>
        <p:nvSpPr>
          <p:cNvPr id="10" name="Ellipse 9"/>
          <p:cNvSpPr/>
          <p:nvPr/>
        </p:nvSpPr>
        <p:spPr>
          <a:xfrm>
            <a:off x="2713466" y="2268643"/>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Marke</a:t>
            </a:r>
          </a:p>
        </p:txBody>
      </p:sp>
      <p:cxnSp>
        <p:nvCxnSpPr>
          <p:cNvPr id="13" name="Gerader Verbinder 12"/>
          <p:cNvCxnSpPr>
            <a:stCxn id="9" idx="4"/>
          </p:cNvCxnSpPr>
          <p:nvPr/>
        </p:nvCxnSpPr>
        <p:spPr>
          <a:xfrm>
            <a:off x="2082888" y="2388924"/>
            <a:ext cx="424218" cy="121504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stCxn id="10" idx="3"/>
          </p:cNvCxnSpPr>
          <p:nvPr/>
        </p:nvCxnSpPr>
        <p:spPr>
          <a:xfrm flipH="1">
            <a:off x="2864554" y="2913741"/>
            <a:ext cx="133131" cy="69022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Ellipse 14"/>
          <p:cNvSpPr/>
          <p:nvPr/>
        </p:nvSpPr>
        <p:spPr>
          <a:xfrm>
            <a:off x="4654234" y="2859081"/>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PS</a:t>
            </a:r>
          </a:p>
        </p:txBody>
      </p:sp>
      <p:cxnSp>
        <p:nvCxnSpPr>
          <p:cNvPr id="16" name="Gerader Verbinder 15"/>
          <p:cNvCxnSpPr>
            <a:stCxn id="15" idx="2"/>
            <a:endCxn id="7" idx="0"/>
          </p:cNvCxnSpPr>
          <p:nvPr/>
        </p:nvCxnSpPr>
        <p:spPr>
          <a:xfrm flipH="1">
            <a:off x="3220136" y="3236971"/>
            <a:ext cx="1434098" cy="36699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a:xfrm>
            <a:off x="1634270" y="2170359"/>
            <a:ext cx="88946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Rechteck 20"/>
          <p:cNvSpPr/>
          <p:nvPr/>
        </p:nvSpPr>
        <p:spPr>
          <a:xfrm>
            <a:off x="7319422" y="3598763"/>
            <a:ext cx="2687216" cy="129695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600" dirty="0">
              <a:solidFill>
                <a:srgbClr val="0070C0"/>
              </a:solidFill>
              <a:latin typeface="Source Sans Pro" panose="020B0503030403020204" pitchFamily="34" charset="0"/>
            </a:endParaRPr>
          </a:p>
        </p:txBody>
      </p:sp>
      <p:sp>
        <p:nvSpPr>
          <p:cNvPr id="22" name="Textfeld 21"/>
          <p:cNvSpPr txBox="1"/>
          <p:nvPr/>
        </p:nvSpPr>
        <p:spPr>
          <a:xfrm>
            <a:off x="7348281" y="3621482"/>
            <a:ext cx="951864" cy="369332"/>
          </a:xfrm>
          <a:prstGeom prst="rect">
            <a:avLst/>
          </a:prstGeom>
          <a:noFill/>
        </p:spPr>
        <p:txBody>
          <a:bodyPr wrap="none" rtlCol="0">
            <a:spAutoFit/>
          </a:bodyPr>
          <a:lstStyle/>
          <a:p>
            <a:r>
              <a:rPr lang="de-DE" dirty="0">
                <a:solidFill>
                  <a:schemeClr val="accent2"/>
                </a:solidFill>
              </a:rPr>
              <a:t>Auto_ID</a:t>
            </a:r>
          </a:p>
        </p:txBody>
      </p:sp>
      <p:sp>
        <p:nvSpPr>
          <p:cNvPr id="23" name="Textfeld 22"/>
          <p:cNvSpPr txBox="1"/>
          <p:nvPr/>
        </p:nvSpPr>
        <p:spPr>
          <a:xfrm>
            <a:off x="7348281" y="4021383"/>
            <a:ext cx="784767" cy="369332"/>
          </a:xfrm>
          <a:prstGeom prst="rect">
            <a:avLst/>
          </a:prstGeom>
          <a:noFill/>
        </p:spPr>
        <p:txBody>
          <a:bodyPr wrap="none" rtlCol="0">
            <a:spAutoFit/>
          </a:bodyPr>
          <a:lstStyle/>
          <a:p>
            <a:r>
              <a:rPr lang="de-DE" dirty="0">
                <a:solidFill>
                  <a:schemeClr val="accent2"/>
                </a:solidFill>
              </a:rPr>
              <a:t>Marke</a:t>
            </a:r>
          </a:p>
        </p:txBody>
      </p:sp>
      <p:sp>
        <p:nvSpPr>
          <p:cNvPr id="24" name="Textfeld 23"/>
          <p:cNvSpPr txBox="1"/>
          <p:nvPr/>
        </p:nvSpPr>
        <p:spPr>
          <a:xfrm>
            <a:off x="7348281" y="4421284"/>
            <a:ext cx="409086" cy="369332"/>
          </a:xfrm>
          <a:prstGeom prst="rect">
            <a:avLst/>
          </a:prstGeom>
          <a:noFill/>
        </p:spPr>
        <p:txBody>
          <a:bodyPr wrap="none" rtlCol="0">
            <a:spAutoFit/>
          </a:bodyPr>
          <a:lstStyle/>
          <a:p>
            <a:r>
              <a:rPr lang="de-DE" dirty="0">
                <a:solidFill>
                  <a:schemeClr val="accent2"/>
                </a:solidFill>
              </a:rPr>
              <a:t>PS</a:t>
            </a:r>
          </a:p>
        </p:txBody>
      </p:sp>
      <p:cxnSp>
        <p:nvCxnSpPr>
          <p:cNvPr id="26" name="Gerader Verbinder 25"/>
          <p:cNvCxnSpPr/>
          <p:nvPr/>
        </p:nvCxnSpPr>
        <p:spPr>
          <a:xfrm>
            <a:off x="7319422" y="3990814"/>
            <a:ext cx="268721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7319422" y="4421284"/>
            <a:ext cx="268721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Textfeld 27"/>
          <p:cNvSpPr txBox="1"/>
          <p:nvPr/>
        </p:nvSpPr>
        <p:spPr>
          <a:xfrm>
            <a:off x="7253094" y="3236971"/>
            <a:ext cx="599459" cy="338554"/>
          </a:xfrm>
          <a:prstGeom prst="rect">
            <a:avLst/>
          </a:prstGeom>
          <a:noFill/>
        </p:spPr>
        <p:txBody>
          <a:bodyPr wrap="none" rtlCol="0">
            <a:spAutoFit/>
          </a:bodyPr>
          <a:lstStyle/>
          <a:p>
            <a:r>
              <a:rPr lang="de-DE" sz="1600" b="1" dirty="0">
                <a:solidFill>
                  <a:schemeClr val="accent2"/>
                </a:solidFill>
              </a:rPr>
              <a:t>Auto</a:t>
            </a:r>
          </a:p>
        </p:txBody>
      </p:sp>
      <p:sp>
        <p:nvSpPr>
          <p:cNvPr id="29" name="Textfeld 28"/>
          <p:cNvSpPr txBox="1"/>
          <p:nvPr/>
        </p:nvSpPr>
        <p:spPr>
          <a:xfrm>
            <a:off x="941854" y="5240544"/>
            <a:ext cx="10016781" cy="646331"/>
          </a:xfrm>
          <a:prstGeom prst="rect">
            <a:avLst/>
          </a:prstGeom>
          <a:solidFill>
            <a:schemeClr val="bg2"/>
          </a:solidFill>
          <a:ln w="28575">
            <a:solidFill>
              <a:schemeClr val="tx1"/>
            </a:solidFill>
          </a:ln>
        </p:spPr>
        <p:txBody>
          <a:bodyPr wrap="none" rtlCol="0">
            <a:spAutoFit/>
          </a:bodyPr>
          <a:lstStyle/>
          <a:p>
            <a:pPr algn="ctr"/>
            <a:r>
              <a:rPr lang="de-DE" b="1" dirty="0"/>
              <a:t>Hinweis: </a:t>
            </a:r>
            <a:r>
              <a:rPr lang="de-DE" dirty="0"/>
              <a:t>Da wir uns in einem Schema nur für die Struktur einer (leeren) Datenbank interessieren</a:t>
            </a:r>
          </a:p>
          <a:p>
            <a:pPr algn="ctr"/>
            <a:r>
              <a:rPr lang="de-DE" dirty="0"/>
              <a:t>tragen wir noch </a:t>
            </a:r>
            <a:r>
              <a:rPr lang="de-DE" u="sng" dirty="0"/>
              <a:t>keine konkreten Daten</a:t>
            </a:r>
            <a:r>
              <a:rPr lang="de-DE" dirty="0"/>
              <a:t> ein und notieren die Attribute </a:t>
            </a:r>
            <a:r>
              <a:rPr lang="de-DE" b="1" dirty="0">
                <a:solidFill>
                  <a:schemeClr val="accent2"/>
                </a:solidFill>
              </a:rPr>
              <a:t>untereinander</a:t>
            </a:r>
            <a:r>
              <a:rPr lang="de-DE" dirty="0"/>
              <a:t>, um Platz zu sparen.</a:t>
            </a:r>
          </a:p>
        </p:txBody>
      </p:sp>
    </p:spTree>
    <p:extLst>
      <p:ext uri="{BB962C8B-B14F-4D97-AF65-F5344CB8AC3E}">
        <p14:creationId xmlns:p14="http://schemas.microsoft.com/office/powerpoint/2010/main" val="6278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dirty="0">
                <a:latin typeface="Source Sans Pro" panose="020B0503030403020204" pitchFamily="34" charset="0"/>
              </a:rPr>
              <a:t>ERD -&gt; Relationale DB</a:t>
            </a:r>
          </a:p>
          <a:p>
            <a:r>
              <a:rPr lang="de-DE" sz="6600" dirty="0">
                <a:latin typeface="Source Sans Pro" panose="020B0503030403020204" pitchFamily="34" charset="0"/>
              </a:rPr>
              <a:t>Primärschlüssel</a:t>
            </a:r>
          </a:p>
        </p:txBody>
      </p:sp>
    </p:spTree>
    <p:extLst>
      <p:ext uri="{BB962C8B-B14F-4D97-AF65-F5344CB8AC3E}">
        <p14:creationId xmlns:p14="http://schemas.microsoft.com/office/powerpoint/2010/main" val="140498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059266" cy="720725"/>
          </a:xfrm>
        </p:spPr>
        <p:txBody>
          <a:bodyPr>
            <a:noAutofit/>
          </a:bodyPr>
          <a:lstStyle/>
          <a:p>
            <a:r>
              <a:rPr lang="de-DE" dirty="0">
                <a:latin typeface="Source Sans Pro" panose="020B0503030403020204" pitchFamily="34" charset="0"/>
              </a:rPr>
              <a:t>Primärschlüssel -&gt; Definition + Motivation</a:t>
            </a:r>
            <a:endParaRPr lang="de-DE"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495580" y="1517395"/>
            <a:ext cx="11437092" cy="415498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haben uns bereits daran gewöhnt, jedem Entitätstyp ein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ID-Attribut</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zuzuordnen.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Dies werden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nun auch bei den Tabellen innerhalb eines RDB-Schemas beibehalten und dieses Attribut jeweils als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„Primärschlüssel“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bezeichnen.</a:t>
            </a:r>
            <a:endPar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Für Primärschlüssel werden zwingend die beiden folgenden Eigenschaften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gefordert: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D</a:t>
            </a:r>
            <a:r>
              <a:rPr lang="de-DE" noProof="0" dirty="0">
                <a:solidFill>
                  <a:srgbClr val="0071B2"/>
                </a:solidFill>
                <a:latin typeface="Source Sans Pro" panose="020B0503030403020204" pitchFamily="34" charset="0"/>
              </a:rPr>
              <a:t>er Wert des </a:t>
            </a:r>
            <a:r>
              <a:rPr lang="de-DE" dirty="0">
                <a:solidFill>
                  <a:srgbClr val="0071B2"/>
                </a:solidFill>
                <a:latin typeface="Source Sans Pro" panose="020B0503030403020204" pitchFamily="34" charset="0"/>
              </a:rPr>
              <a:t>P</a:t>
            </a:r>
            <a:r>
              <a:rPr lang="de-DE" noProof="0" dirty="0">
                <a:solidFill>
                  <a:srgbClr val="0071B2"/>
                </a:solidFill>
                <a:latin typeface="Source Sans Pro" panose="020B0503030403020204" pitchFamily="34" charset="0"/>
              </a:rPr>
              <a:t>rimärschlüssels muss  </a:t>
            </a:r>
            <a:r>
              <a:rPr lang="de-DE" b="1" noProof="0" dirty="0">
                <a:solidFill>
                  <a:srgbClr val="0071B2"/>
                </a:solidFill>
                <a:latin typeface="Source Sans Pro" panose="020B0503030403020204" pitchFamily="34" charset="0"/>
              </a:rPr>
              <a:t>definiert</a:t>
            </a:r>
            <a:r>
              <a:rPr lang="de-DE" noProof="0" dirty="0">
                <a:solidFill>
                  <a:srgbClr val="0071B2"/>
                </a:solidFill>
                <a:latin typeface="Source Sans Pro" panose="020B0503030403020204" pitchFamily="34" charset="0"/>
              </a:rPr>
              <a:t> sein. </a:t>
            </a:r>
          </a:p>
          <a:p>
            <a:pPr lvl="1"/>
            <a:r>
              <a:rPr lang="de-DE"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=&gt;</a:t>
            </a:r>
            <a:r>
              <a:rPr lang="de-DE" sz="1400" dirty="0">
                <a:solidFill>
                  <a:srgbClr val="0071B2"/>
                </a:solidFill>
                <a:latin typeface="Source Sans Pro" panose="020B0503030403020204" pitchFamily="34" charset="0"/>
              </a:rPr>
              <a:t> der Primärschlüssel-Wert darf also </a:t>
            </a:r>
            <a:r>
              <a:rPr lang="de-DE" sz="1400" b="1" u="sng" dirty="0">
                <a:solidFill>
                  <a:srgbClr val="0071B2"/>
                </a:solidFill>
                <a:latin typeface="Source Sans Pro" panose="020B0503030403020204" pitchFamily="34" charset="0"/>
              </a:rPr>
              <a:t>nicht</a:t>
            </a:r>
            <a:r>
              <a:rPr lang="de-DE" sz="1400" b="1" dirty="0">
                <a:solidFill>
                  <a:srgbClr val="0071B2"/>
                </a:solidFill>
                <a:latin typeface="Source Sans Pro" panose="020B0503030403020204" pitchFamily="34" charset="0"/>
              </a:rPr>
              <a:t> „NULL“ </a:t>
            </a:r>
            <a:r>
              <a:rPr lang="de-DE" sz="1400" dirty="0">
                <a:solidFill>
                  <a:srgbClr val="0071B2"/>
                </a:solidFill>
                <a:latin typeface="Source Sans Pro" panose="020B0503030403020204" pitchFamily="34" charset="0"/>
              </a:rPr>
              <a:t>sein.</a:t>
            </a:r>
          </a:p>
          <a:p>
            <a:pPr lvl="1"/>
            <a:endParaRPr lang="de-DE" sz="800" i="1" dirty="0">
              <a:solidFill>
                <a:srgbClr val="0071B2"/>
              </a:solidFill>
              <a:latin typeface="Source Sans Pro" panose="020B0503030403020204" pitchFamily="34" charset="0"/>
            </a:endParaRP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Der Wert des Primärschlüssels </a:t>
            </a:r>
            <a:r>
              <a:rPr lang="de-DE" noProof="0" dirty="0">
                <a:solidFill>
                  <a:srgbClr val="0071B2"/>
                </a:solidFill>
                <a:latin typeface="Source Sans Pro" panose="020B0503030403020204" pitchFamily="34" charset="0"/>
              </a:rPr>
              <a:t>muss </a:t>
            </a:r>
            <a:r>
              <a:rPr lang="de-DE" b="1" noProof="0" dirty="0">
                <a:solidFill>
                  <a:srgbClr val="0071B2"/>
                </a:solidFill>
                <a:latin typeface="Source Sans Pro" panose="020B0503030403020204" pitchFamily="34" charset="0"/>
              </a:rPr>
              <a:t>eindeutig</a:t>
            </a:r>
            <a:r>
              <a:rPr lang="de-DE" noProof="0" dirty="0">
                <a:solidFill>
                  <a:srgbClr val="0071B2"/>
                </a:solidFill>
                <a:latin typeface="Source Sans Pro" panose="020B0503030403020204" pitchFamily="34" charset="0"/>
              </a:rPr>
              <a:t> sein.</a:t>
            </a:r>
          </a:p>
          <a:p>
            <a:pPr lvl="1"/>
            <a:r>
              <a:rPr lang="de-DE" dirty="0">
                <a:solidFill>
                  <a:srgbClr val="0071B2"/>
                </a:solidFill>
                <a:latin typeface="Source Sans Pro" panose="020B0503030403020204" pitchFamily="34" charset="0"/>
              </a:rPr>
              <a:t>	</a:t>
            </a:r>
            <a:r>
              <a:rPr lang="de-DE" sz="1400" dirty="0">
                <a:solidFill>
                  <a:srgbClr val="0071B2"/>
                </a:solidFill>
                <a:latin typeface="Source Sans Pro" panose="020B0503030403020204" pitchFamily="34" charset="0"/>
              </a:rPr>
              <a:t>=&gt; es darf also innerhalb </a:t>
            </a:r>
            <a:r>
              <a:rPr lang="de-DE" sz="1400" b="1" u="sng" dirty="0">
                <a:solidFill>
                  <a:srgbClr val="0071B2"/>
                </a:solidFill>
                <a:latin typeface="Source Sans Pro" panose="020B0503030403020204" pitchFamily="34" charset="0"/>
              </a:rPr>
              <a:t>ein und der selben</a:t>
            </a:r>
            <a:r>
              <a:rPr lang="de-DE" sz="1400" b="1" dirty="0">
                <a:solidFill>
                  <a:srgbClr val="0071B2"/>
                </a:solidFill>
                <a:latin typeface="Source Sans Pro" panose="020B0503030403020204" pitchFamily="34" charset="0"/>
              </a:rPr>
              <a:t> Tabelle </a:t>
            </a:r>
            <a:r>
              <a:rPr lang="de-DE" sz="1400" b="1" u="sng" dirty="0">
                <a:solidFill>
                  <a:srgbClr val="0071B2"/>
                </a:solidFill>
                <a:latin typeface="Source Sans Pro" panose="020B0503030403020204" pitchFamily="34" charset="0"/>
              </a:rPr>
              <a:t>keine</a:t>
            </a:r>
            <a:r>
              <a:rPr lang="de-DE" sz="1400" b="1" dirty="0">
                <a:solidFill>
                  <a:srgbClr val="0071B2"/>
                </a:solidFill>
                <a:latin typeface="Source Sans Pro" panose="020B0503030403020204" pitchFamily="34" charset="0"/>
              </a:rPr>
              <a:t> unterschiedlichen Entitäten mit identischem Primärschlüssel-Wert </a:t>
            </a:r>
            <a:r>
              <a:rPr lang="de-DE" sz="1400" dirty="0">
                <a:solidFill>
                  <a:srgbClr val="0071B2"/>
                </a:solidFill>
                <a:latin typeface="Source Sans Pro" panose="020B0503030403020204" pitchFamily="34" charset="0"/>
              </a:rPr>
              <a:t>geben.</a:t>
            </a:r>
            <a:endParaRPr lang="de-DE" sz="1400" i="1" dirty="0">
              <a:solidFill>
                <a:srgbClr val="0071B2"/>
              </a:solidFill>
              <a:latin typeface="Source Sans Pro" panose="020B0503030403020204" pitchFamily="34" charset="0"/>
            </a:endParaRPr>
          </a:p>
          <a:p>
            <a:pPr marL="800100" lvl="1" indent="-342900">
              <a:buFont typeface="Courier New" panose="02070309020205020404" pitchFamily="49" charset="0"/>
              <a:buChar char="o"/>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Mit Hilfe von Primärschlüsseln wird es uns daher gelingen, jede Entität einer Tabelle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eindeutig</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von allen anderen Entitäten der selben Tabelle zu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unterscheiden</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346224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208895" cy="720725"/>
          </a:xfrm>
        </p:spPr>
        <p:txBody>
          <a:bodyPr>
            <a:noAutofit/>
          </a:bodyPr>
          <a:lstStyle/>
          <a:p>
            <a:r>
              <a:rPr lang="de-DE" dirty="0">
                <a:latin typeface="Source Sans Pro" panose="020B0503030403020204" pitchFamily="34" charset="0"/>
              </a:rPr>
              <a:t>Primärschlüssel </a:t>
            </a:r>
            <a:r>
              <a:rPr lang="de-DE" sz="2800" dirty="0">
                <a:solidFill>
                  <a:schemeClr val="accent2"/>
                </a:solidFill>
                <a:latin typeface="Source Sans Pro" panose="020B0503030403020204" pitchFamily="34" charset="0"/>
              </a:rPr>
              <a:t>(„PRIMARY KEY“) </a:t>
            </a:r>
            <a:r>
              <a:rPr lang="de-DE" dirty="0">
                <a:latin typeface="Source Sans Pro" panose="020B0503030403020204" pitchFamily="34" charset="0"/>
              </a:rPr>
              <a:t>im RDB-Schema</a:t>
            </a:r>
            <a:r>
              <a:rPr lang="de-DE" dirty="0">
                <a:solidFill>
                  <a:schemeClr val="accent2"/>
                </a:solidFill>
                <a:latin typeface="Source Sans Pro" panose="020B0503030403020204" pitchFamily="34" charset="0"/>
              </a:rPr>
              <a:t> </a:t>
            </a:r>
            <a:endParaRPr lang="de-DE"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7" name="Rechteck 6"/>
          <p:cNvSpPr/>
          <p:nvPr/>
        </p:nvSpPr>
        <p:spPr>
          <a:xfrm>
            <a:off x="1876528" y="3603967"/>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Auto</a:t>
            </a:r>
          </a:p>
        </p:txBody>
      </p:sp>
      <p:sp>
        <p:nvSpPr>
          <p:cNvPr id="9" name="Ellipse 8"/>
          <p:cNvSpPr/>
          <p:nvPr/>
        </p:nvSpPr>
        <p:spPr>
          <a:xfrm>
            <a:off x="1112504" y="1633145"/>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Auto_ID</a:t>
            </a:r>
          </a:p>
        </p:txBody>
      </p:sp>
      <p:sp>
        <p:nvSpPr>
          <p:cNvPr id="10" name="Ellipse 9"/>
          <p:cNvSpPr/>
          <p:nvPr/>
        </p:nvSpPr>
        <p:spPr>
          <a:xfrm>
            <a:off x="2713466" y="2268643"/>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t>
            </a:r>
          </a:p>
        </p:txBody>
      </p:sp>
      <p:cxnSp>
        <p:nvCxnSpPr>
          <p:cNvPr id="13" name="Gerader Verbinder 12"/>
          <p:cNvCxnSpPr>
            <a:stCxn id="9" idx="4"/>
          </p:cNvCxnSpPr>
          <p:nvPr/>
        </p:nvCxnSpPr>
        <p:spPr>
          <a:xfrm>
            <a:off x="2082888" y="2388924"/>
            <a:ext cx="424218" cy="121504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stCxn id="10" idx="3"/>
          </p:cNvCxnSpPr>
          <p:nvPr/>
        </p:nvCxnSpPr>
        <p:spPr>
          <a:xfrm flipH="1">
            <a:off x="2864554" y="2913741"/>
            <a:ext cx="133131" cy="69022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Ellipse 14"/>
          <p:cNvSpPr/>
          <p:nvPr/>
        </p:nvSpPr>
        <p:spPr>
          <a:xfrm>
            <a:off x="4654234" y="2859081"/>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a:t>
            </a:r>
          </a:p>
        </p:txBody>
      </p:sp>
      <p:cxnSp>
        <p:nvCxnSpPr>
          <p:cNvPr id="16" name="Gerader Verbinder 15"/>
          <p:cNvCxnSpPr>
            <a:stCxn id="15" idx="2"/>
            <a:endCxn id="7" idx="0"/>
          </p:cNvCxnSpPr>
          <p:nvPr/>
        </p:nvCxnSpPr>
        <p:spPr>
          <a:xfrm flipH="1">
            <a:off x="3220136" y="3236971"/>
            <a:ext cx="1434098" cy="36699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a:xfrm>
            <a:off x="1634270" y="2170359"/>
            <a:ext cx="88946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Rechteck 20"/>
          <p:cNvSpPr/>
          <p:nvPr/>
        </p:nvSpPr>
        <p:spPr>
          <a:xfrm>
            <a:off x="7319422" y="3598763"/>
            <a:ext cx="2687216" cy="129695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22" name="Textfeld 21"/>
          <p:cNvSpPr txBox="1"/>
          <p:nvPr/>
        </p:nvSpPr>
        <p:spPr>
          <a:xfrm>
            <a:off x="7348281" y="3621482"/>
            <a:ext cx="139910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Auto_ID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(PK)</a:t>
            </a:r>
          </a:p>
        </p:txBody>
      </p:sp>
      <p:sp>
        <p:nvSpPr>
          <p:cNvPr id="23" name="Textfeld 22"/>
          <p:cNvSpPr txBox="1"/>
          <p:nvPr/>
        </p:nvSpPr>
        <p:spPr>
          <a:xfrm>
            <a:off x="7348281" y="4021383"/>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a:t>
            </a:r>
          </a:p>
        </p:txBody>
      </p:sp>
      <p:sp>
        <p:nvSpPr>
          <p:cNvPr id="24" name="Textfeld 23"/>
          <p:cNvSpPr txBox="1"/>
          <p:nvPr/>
        </p:nvSpPr>
        <p:spPr>
          <a:xfrm>
            <a:off x="7348281" y="4421284"/>
            <a:ext cx="3433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a:t>
            </a:r>
          </a:p>
        </p:txBody>
      </p:sp>
      <p:cxnSp>
        <p:nvCxnSpPr>
          <p:cNvPr id="26" name="Gerader Verbinder 25"/>
          <p:cNvCxnSpPr/>
          <p:nvPr/>
        </p:nvCxnSpPr>
        <p:spPr>
          <a:xfrm>
            <a:off x="7319422" y="3990814"/>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7319422" y="4421284"/>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feld 27"/>
          <p:cNvSpPr txBox="1"/>
          <p:nvPr/>
        </p:nvSpPr>
        <p:spPr>
          <a:xfrm>
            <a:off x="7253094" y="3236971"/>
            <a:ext cx="59945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Auto</a:t>
            </a:r>
          </a:p>
        </p:txBody>
      </p:sp>
      <p:sp>
        <p:nvSpPr>
          <p:cNvPr id="29" name="Textfeld 28"/>
          <p:cNvSpPr txBox="1"/>
          <p:nvPr/>
        </p:nvSpPr>
        <p:spPr>
          <a:xfrm>
            <a:off x="213596" y="5459760"/>
            <a:ext cx="11792459" cy="369332"/>
          </a:xfrm>
          <a:prstGeom prst="rect">
            <a:avLst/>
          </a:prstGeom>
          <a:solidFill>
            <a:schemeClr val="bg2"/>
          </a:solidFill>
          <a:ln w="28575">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Hinweis: </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Die IHK erwartet von Ihnen, dass </a:t>
            </a:r>
            <a:r>
              <a:rPr lang="de-DE" dirty="0">
                <a:solidFill>
                  <a:srgbClr val="0071B2"/>
                </a:solidFill>
                <a:latin typeface="Calibri" panose="020F0502020204030204"/>
              </a:rPr>
              <a:t>P</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rimärschlüssel im RDB-Schema durch den Zusatz </a:t>
            </a:r>
            <a:r>
              <a:rPr kumimoji="0" lang="de-DE" sz="1800" b="1" i="0" u="none" strike="noStrike" kern="1200" cap="none" spc="0" normalizeH="0" baseline="0" noProof="0" dirty="0">
                <a:ln>
                  <a:noFill/>
                </a:ln>
                <a:effectLst/>
                <a:uLnTx/>
                <a:uFillTx/>
                <a:latin typeface="Calibri" panose="020F0502020204030204"/>
                <a:ea typeface="+mn-ea"/>
                <a:cs typeface="+mn-cs"/>
              </a:rPr>
              <a:t>„</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(PK)</a:t>
            </a:r>
            <a:r>
              <a:rPr kumimoji="0" lang="de-DE" sz="1800" b="1" i="0" u="none" strike="noStrike" kern="1200" cap="none" spc="0" normalizeH="0" baseline="0" noProof="0" dirty="0">
                <a:ln>
                  <a:noFill/>
                </a:ln>
                <a:effectLst/>
                <a:uLnTx/>
                <a:uFillTx/>
                <a:latin typeface="Calibri" panose="020F0502020204030204"/>
                <a:ea typeface="+mn-ea"/>
                <a:cs typeface="+mn-cs"/>
              </a:rPr>
              <a:t>“</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 </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gekennzeichnet werden. </a:t>
            </a:r>
          </a:p>
        </p:txBody>
      </p:sp>
    </p:spTree>
    <p:extLst>
      <p:ext uri="{BB962C8B-B14F-4D97-AF65-F5344CB8AC3E}">
        <p14:creationId xmlns:p14="http://schemas.microsoft.com/office/powerpoint/2010/main" val="86687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dirty="0">
                <a:latin typeface="Source Sans Pro" panose="020B0503030403020204" pitchFamily="34" charset="0"/>
              </a:rPr>
              <a:t>ERD -&gt; Relationale DB</a:t>
            </a:r>
          </a:p>
          <a:p>
            <a:r>
              <a:rPr lang="de-DE" sz="6600" dirty="0">
                <a:latin typeface="Source Sans Pro" panose="020B0503030403020204" pitchFamily="34" charset="0"/>
              </a:rPr>
              <a:t>Fremdschlüssel</a:t>
            </a:r>
          </a:p>
        </p:txBody>
      </p:sp>
    </p:spTree>
    <p:extLst>
      <p:ext uri="{BB962C8B-B14F-4D97-AF65-F5344CB8AC3E}">
        <p14:creationId xmlns:p14="http://schemas.microsoft.com/office/powerpoint/2010/main" val="4202670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059266" cy="720725"/>
          </a:xfrm>
        </p:spPr>
        <p:txBody>
          <a:bodyPr>
            <a:noAutofit/>
          </a:bodyPr>
          <a:lstStyle/>
          <a:p>
            <a:r>
              <a:rPr lang="de-DE" dirty="0">
                <a:latin typeface="Source Sans Pro" panose="020B0503030403020204" pitchFamily="34" charset="0"/>
              </a:rPr>
              <a:t>Fremdschlüssel -&gt; Definition + Motivation</a:t>
            </a:r>
            <a:endParaRPr lang="de-DE"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28831" y="1636262"/>
            <a:ext cx="10443969" cy="335476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haben bereits festgestellt, dass jede einzelne Entität einer Tabelle durch ihren Primärschlüssel-Wert </a:t>
            </a:r>
            <a:r>
              <a:rPr kumimoji="0" lang="de-DE"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eindeutig</a:t>
            </a:r>
            <a:r>
              <a:rPr kumimoji="0" lang="de-DE"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repräsentiert </a:t>
            </a:r>
            <a:r>
              <a:rPr kumimoji="0" lang="de-DE"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werden kann.</a:t>
            </a:r>
            <a:endParaRPr kumimoji="0" lang="de-DE"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Wenn dieser Wert nun in einer anderen Tabelle (also quasi </a:t>
            </a:r>
            <a:r>
              <a:rPr kumimoji="0" lang="de-DE"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„in der Fremde“</a:t>
            </a:r>
            <a:r>
              <a:rPr kumimoji="0" lang="de-DE"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verwendet wird, so können wir auf diese Weise eine Beziehung zu der</a:t>
            </a:r>
            <a:r>
              <a:rPr kumimoji="0" lang="de-DE"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(repräsentierten) Entität darstellen.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aseline="0" dirty="0">
                <a:solidFill>
                  <a:srgbClr val="0071B2"/>
                </a:solidFill>
                <a:latin typeface="Source Sans Pro" panose="020B0503030403020204" pitchFamily="34" charset="0"/>
              </a:rPr>
              <a:t>Solche Primärschlüssel in anderen Tabellen werden </a:t>
            </a:r>
            <a:r>
              <a:rPr lang="de-DE" b="1" baseline="0" dirty="0">
                <a:solidFill>
                  <a:srgbClr val="0071B2"/>
                </a:solidFill>
                <a:latin typeface="Source Sans Pro" panose="020B0503030403020204" pitchFamily="34" charset="0"/>
              </a:rPr>
              <a:t>„Fremdschlüssel“ </a:t>
            </a:r>
            <a:r>
              <a:rPr lang="de-DE" baseline="0" dirty="0">
                <a:solidFill>
                  <a:srgbClr val="0071B2"/>
                </a:solidFill>
                <a:latin typeface="Source Sans Pro" panose="020B0503030403020204" pitchFamily="34" charset="0"/>
              </a:rPr>
              <a:t>genannt.</a:t>
            </a: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Hierzu ein </a:t>
            </a:r>
            <a:r>
              <a:rPr kumimoji="0" lang="de-DE"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Beispiel</a:t>
            </a:r>
            <a:r>
              <a:rPr kumimoji="0" lang="de-DE"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1561749768"/>
              </p:ext>
            </p:extLst>
          </p:nvPr>
        </p:nvGraphicFramePr>
        <p:xfrm>
          <a:off x="6775446" y="4162623"/>
          <a:ext cx="3180444" cy="1645920"/>
        </p:xfrm>
        <a:graphic>
          <a:graphicData uri="http://schemas.openxmlformats.org/drawingml/2006/table">
            <a:tbl>
              <a:tblPr firstRow="1" bandRow="1">
                <a:tableStyleId>{5C22544A-7EE6-4342-B048-85BDC9FD1C3A}</a:tableStyleId>
              </a:tblPr>
              <a:tblGrid>
                <a:gridCol w="1035495">
                  <a:extLst>
                    <a:ext uri="{9D8B030D-6E8A-4147-A177-3AD203B41FA5}">
                      <a16:colId xmlns:a16="http://schemas.microsoft.com/office/drawing/2014/main" val="575160789"/>
                    </a:ext>
                  </a:extLst>
                </a:gridCol>
                <a:gridCol w="836860">
                  <a:extLst>
                    <a:ext uri="{9D8B030D-6E8A-4147-A177-3AD203B41FA5}">
                      <a16:colId xmlns:a16="http://schemas.microsoft.com/office/drawing/2014/main" val="897148854"/>
                    </a:ext>
                  </a:extLst>
                </a:gridCol>
                <a:gridCol w="798020">
                  <a:extLst>
                    <a:ext uri="{9D8B030D-6E8A-4147-A177-3AD203B41FA5}">
                      <a16:colId xmlns:a16="http://schemas.microsoft.com/office/drawing/2014/main" val="1250397250"/>
                    </a:ext>
                  </a:extLst>
                </a:gridCol>
                <a:gridCol w="510069">
                  <a:extLst>
                    <a:ext uri="{9D8B030D-6E8A-4147-A177-3AD203B41FA5}">
                      <a16:colId xmlns:a16="http://schemas.microsoft.com/office/drawing/2014/main" val="2136345382"/>
                    </a:ext>
                  </a:extLst>
                </a:gridCol>
              </a:tblGrid>
              <a:tr h="251749">
                <a:tc>
                  <a:txBody>
                    <a:bodyPr/>
                    <a:lstStyle/>
                    <a:p>
                      <a:r>
                        <a:rPr lang="de-DE" sz="1200" dirty="0"/>
                        <a:t>Auto_ID (PK)</a:t>
                      </a:r>
                    </a:p>
                  </a:txBody>
                  <a:tcPr/>
                </a:tc>
                <a:tc>
                  <a:txBody>
                    <a:bodyPr/>
                    <a:lstStyle/>
                    <a:p>
                      <a:r>
                        <a:rPr lang="de-DE" sz="1200" b="1" dirty="0">
                          <a:solidFill>
                            <a:schemeClr val="accent2"/>
                          </a:solidFill>
                        </a:rPr>
                        <a:t>Person_ID</a:t>
                      </a:r>
                    </a:p>
                  </a:txBody>
                  <a:tcPr/>
                </a:tc>
                <a:tc>
                  <a:txBody>
                    <a:bodyPr/>
                    <a:lstStyle/>
                    <a:p>
                      <a:r>
                        <a:rPr lang="de-DE" sz="1200" dirty="0"/>
                        <a:t>Marke</a:t>
                      </a:r>
                    </a:p>
                  </a:txBody>
                  <a:tcPr/>
                </a:tc>
                <a:tc>
                  <a:txBody>
                    <a:bodyPr/>
                    <a:lstStyle/>
                    <a:p>
                      <a:r>
                        <a:rPr lang="de-DE" sz="1200" dirty="0"/>
                        <a:t>PS</a:t>
                      </a:r>
                    </a:p>
                  </a:txBody>
                  <a:tcPr/>
                </a:tc>
                <a:extLst>
                  <a:ext uri="{0D108BD9-81ED-4DB2-BD59-A6C34878D82A}">
                    <a16:rowId xmlns:a16="http://schemas.microsoft.com/office/drawing/2014/main" val="222390635"/>
                  </a:ext>
                </a:extLst>
              </a:tr>
              <a:tr h="251749">
                <a:tc>
                  <a:txBody>
                    <a:bodyPr/>
                    <a:lstStyle/>
                    <a:p>
                      <a:r>
                        <a:rPr lang="de-DE" sz="1200" dirty="0"/>
                        <a:t>1</a:t>
                      </a:r>
                    </a:p>
                  </a:txBody>
                  <a:tcPr/>
                </a:tc>
                <a:tc>
                  <a:txBody>
                    <a:bodyPr/>
                    <a:lstStyle/>
                    <a:p>
                      <a:r>
                        <a:rPr lang="de-DE" sz="1200" b="1" dirty="0">
                          <a:solidFill>
                            <a:schemeClr val="accent2"/>
                          </a:solidFill>
                        </a:rPr>
                        <a:t>3</a:t>
                      </a:r>
                    </a:p>
                  </a:txBody>
                  <a:tcPr/>
                </a:tc>
                <a:tc>
                  <a:txBody>
                    <a:bodyPr/>
                    <a:lstStyle/>
                    <a:p>
                      <a:r>
                        <a:rPr lang="de-DE" sz="1200" dirty="0"/>
                        <a:t>Audi</a:t>
                      </a:r>
                    </a:p>
                  </a:txBody>
                  <a:tcPr/>
                </a:tc>
                <a:tc>
                  <a:txBody>
                    <a:bodyPr/>
                    <a:lstStyle/>
                    <a:p>
                      <a:r>
                        <a:rPr lang="de-DE" sz="1200" dirty="0"/>
                        <a:t>50</a:t>
                      </a:r>
                    </a:p>
                  </a:txBody>
                  <a:tcPr/>
                </a:tc>
                <a:extLst>
                  <a:ext uri="{0D108BD9-81ED-4DB2-BD59-A6C34878D82A}">
                    <a16:rowId xmlns:a16="http://schemas.microsoft.com/office/drawing/2014/main" val="1244206545"/>
                  </a:ext>
                </a:extLst>
              </a:tr>
              <a:tr h="251749">
                <a:tc>
                  <a:txBody>
                    <a:bodyPr/>
                    <a:lstStyle/>
                    <a:p>
                      <a:r>
                        <a:rPr lang="de-DE" sz="1200" dirty="0"/>
                        <a:t>2</a:t>
                      </a:r>
                    </a:p>
                  </a:txBody>
                  <a:tcPr/>
                </a:tc>
                <a:tc>
                  <a:txBody>
                    <a:bodyPr/>
                    <a:lstStyle/>
                    <a:p>
                      <a:r>
                        <a:rPr lang="de-DE" sz="1200" b="1" dirty="0">
                          <a:solidFill>
                            <a:schemeClr val="accent2"/>
                          </a:solidFill>
                        </a:rPr>
                        <a:t>3</a:t>
                      </a:r>
                    </a:p>
                  </a:txBody>
                  <a:tcPr/>
                </a:tc>
                <a:tc>
                  <a:txBody>
                    <a:bodyPr/>
                    <a:lstStyle/>
                    <a:p>
                      <a:r>
                        <a:rPr lang="de-DE" sz="1200" dirty="0"/>
                        <a:t>Porsche</a:t>
                      </a:r>
                    </a:p>
                  </a:txBody>
                  <a:tcPr/>
                </a:tc>
                <a:tc>
                  <a:txBody>
                    <a:bodyPr/>
                    <a:lstStyle/>
                    <a:p>
                      <a:r>
                        <a:rPr lang="de-DE" sz="1200" dirty="0"/>
                        <a:t>200</a:t>
                      </a:r>
                    </a:p>
                  </a:txBody>
                  <a:tcPr/>
                </a:tc>
                <a:extLst>
                  <a:ext uri="{0D108BD9-81ED-4DB2-BD59-A6C34878D82A}">
                    <a16:rowId xmlns:a16="http://schemas.microsoft.com/office/drawing/2014/main" val="788923964"/>
                  </a:ext>
                </a:extLst>
              </a:tr>
              <a:tr h="251749">
                <a:tc>
                  <a:txBody>
                    <a:bodyPr/>
                    <a:lstStyle/>
                    <a:p>
                      <a:r>
                        <a:rPr lang="de-DE" sz="1200" dirty="0"/>
                        <a:t>3</a:t>
                      </a:r>
                    </a:p>
                  </a:txBody>
                  <a:tcPr/>
                </a:tc>
                <a:tc>
                  <a:txBody>
                    <a:bodyPr/>
                    <a:lstStyle/>
                    <a:p>
                      <a:r>
                        <a:rPr lang="de-DE" sz="1200" b="1" dirty="0">
                          <a:solidFill>
                            <a:schemeClr val="accent2"/>
                          </a:solidFill>
                        </a:rPr>
                        <a:t>NULL</a:t>
                      </a:r>
                    </a:p>
                  </a:txBody>
                  <a:tcPr/>
                </a:tc>
                <a:tc>
                  <a:txBody>
                    <a:bodyPr/>
                    <a:lstStyle/>
                    <a:p>
                      <a:r>
                        <a:rPr lang="de-DE" sz="1200" dirty="0"/>
                        <a:t>Schrotty</a:t>
                      </a:r>
                    </a:p>
                  </a:txBody>
                  <a:tcPr/>
                </a:tc>
                <a:tc>
                  <a:txBody>
                    <a:bodyPr/>
                    <a:lstStyle/>
                    <a:p>
                      <a:r>
                        <a:rPr lang="de-DE" sz="1200" dirty="0"/>
                        <a:t>0</a:t>
                      </a:r>
                    </a:p>
                  </a:txBody>
                  <a:tcPr/>
                </a:tc>
                <a:extLst>
                  <a:ext uri="{0D108BD9-81ED-4DB2-BD59-A6C34878D82A}">
                    <a16:rowId xmlns:a16="http://schemas.microsoft.com/office/drawing/2014/main" val="1024814567"/>
                  </a:ext>
                </a:extLst>
              </a:tr>
              <a:tr h="251749">
                <a:tc>
                  <a:txBody>
                    <a:bodyPr/>
                    <a:lstStyle/>
                    <a:p>
                      <a:r>
                        <a:rPr lang="de-DE" sz="1200" dirty="0"/>
                        <a:t>4</a:t>
                      </a:r>
                    </a:p>
                  </a:txBody>
                  <a:tcPr/>
                </a:tc>
                <a:tc>
                  <a:txBody>
                    <a:bodyPr/>
                    <a:lstStyle/>
                    <a:p>
                      <a:r>
                        <a:rPr lang="de-DE" sz="1200" b="1" dirty="0">
                          <a:solidFill>
                            <a:schemeClr val="accent2"/>
                          </a:solidFill>
                        </a:rPr>
                        <a:t>1</a:t>
                      </a:r>
                    </a:p>
                  </a:txBody>
                  <a:tcPr/>
                </a:tc>
                <a:tc>
                  <a:txBody>
                    <a:bodyPr/>
                    <a:lstStyle/>
                    <a:p>
                      <a:r>
                        <a:rPr lang="de-DE" sz="1200" dirty="0"/>
                        <a:t>Volvo</a:t>
                      </a:r>
                    </a:p>
                  </a:txBody>
                  <a:tcPr/>
                </a:tc>
                <a:tc>
                  <a:txBody>
                    <a:bodyPr/>
                    <a:lstStyle/>
                    <a:p>
                      <a:r>
                        <a:rPr lang="de-DE" sz="1200" dirty="0"/>
                        <a:t>80</a:t>
                      </a:r>
                    </a:p>
                  </a:txBody>
                  <a:tcPr/>
                </a:tc>
                <a:extLst>
                  <a:ext uri="{0D108BD9-81ED-4DB2-BD59-A6C34878D82A}">
                    <a16:rowId xmlns:a16="http://schemas.microsoft.com/office/drawing/2014/main" val="3029020167"/>
                  </a:ext>
                </a:extLst>
              </a:tr>
              <a:tr h="251749">
                <a:tc>
                  <a:txBody>
                    <a:bodyPr/>
                    <a:lstStyle/>
                    <a:p>
                      <a:r>
                        <a:rPr lang="de-DE" sz="1200" dirty="0"/>
                        <a:t>5</a:t>
                      </a:r>
                    </a:p>
                  </a:txBody>
                  <a:tcPr/>
                </a:tc>
                <a:tc>
                  <a:txBody>
                    <a:bodyPr/>
                    <a:lstStyle/>
                    <a:p>
                      <a:r>
                        <a:rPr lang="de-DE" sz="1200" b="1" dirty="0">
                          <a:solidFill>
                            <a:schemeClr val="accent2"/>
                          </a:solidFill>
                        </a:rPr>
                        <a:t>4</a:t>
                      </a:r>
                    </a:p>
                  </a:txBody>
                  <a:tcPr/>
                </a:tc>
                <a:tc>
                  <a:txBody>
                    <a:bodyPr/>
                    <a:lstStyle/>
                    <a:p>
                      <a:r>
                        <a:rPr lang="de-DE" sz="1200" dirty="0"/>
                        <a:t>Peugeot</a:t>
                      </a:r>
                    </a:p>
                  </a:txBody>
                  <a:tcPr/>
                </a:tc>
                <a:tc>
                  <a:txBody>
                    <a:bodyPr/>
                    <a:lstStyle/>
                    <a:p>
                      <a:r>
                        <a:rPr lang="de-DE" sz="1200" dirty="0"/>
                        <a:t>60</a:t>
                      </a:r>
                    </a:p>
                  </a:txBody>
                  <a:tcPr/>
                </a:tc>
                <a:extLst>
                  <a:ext uri="{0D108BD9-81ED-4DB2-BD59-A6C34878D82A}">
                    <a16:rowId xmlns:a16="http://schemas.microsoft.com/office/drawing/2014/main" val="740436797"/>
                  </a:ext>
                </a:extLst>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3535605325"/>
              </p:ext>
            </p:extLst>
          </p:nvPr>
        </p:nvGraphicFramePr>
        <p:xfrm>
          <a:off x="2143262" y="4150395"/>
          <a:ext cx="2850802" cy="1371600"/>
        </p:xfrm>
        <a:graphic>
          <a:graphicData uri="http://schemas.openxmlformats.org/drawingml/2006/table">
            <a:tbl>
              <a:tblPr firstRow="1" bandRow="1">
                <a:tableStyleId>{5C22544A-7EE6-4342-B048-85BDC9FD1C3A}</a:tableStyleId>
              </a:tblPr>
              <a:tblGrid>
                <a:gridCol w="1159637">
                  <a:extLst>
                    <a:ext uri="{9D8B030D-6E8A-4147-A177-3AD203B41FA5}">
                      <a16:colId xmlns:a16="http://schemas.microsoft.com/office/drawing/2014/main" val="897148854"/>
                    </a:ext>
                  </a:extLst>
                </a:gridCol>
                <a:gridCol w="794957">
                  <a:extLst>
                    <a:ext uri="{9D8B030D-6E8A-4147-A177-3AD203B41FA5}">
                      <a16:colId xmlns:a16="http://schemas.microsoft.com/office/drawing/2014/main" val="1250397250"/>
                    </a:ext>
                  </a:extLst>
                </a:gridCol>
                <a:gridCol w="896208">
                  <a:extLst>
                    <a:ext uri="{9D8B030D-6E8A-4147-A177-3AD203B41FA5}">
                      <a16:colId xmlns:a16="http://schemas.microsoft.com/office/drawing/2014/main" val="2136345382"/>
                    </a:ext>
                  </a:extLst>
                </a:gridCol>
              </a:tblGrid>
              <a:tr h="251749">
                <a:tc>
                  <a:txBody>
                    <a:bodyPr/>
                    <a:lstStyle/>
                    <a:p>
                      <a:r>
                        <a:rPr lang="de-DE" sz="1200" b="1" dirty="0">
                          <a:solidFill>
                            <a:schemeClr val="bg1"/>
                          </a:solidFill>
                        </a:rPr>
                        <a:t>Person_ID (PK)</a:t>
                      </a:r>
                    </a:p>
                  </a:txBody>
                  <a:tcPr/>
                </a:tc>
                <a:tc>
                  <a:txBody>
                    <a:bodyPr/>
                    <a:lstStyle/>
                    <a:p>
                      <a:r>
                        <a:rPr lang="de-DE" sz="1200" dirty="0"/>
                        <a:t>Vorname</a:t>
                      </a:r>
                    </a:p>
                  </a:txBody>
                  <a:tcPr/>
                </a:tc>
                <a:tc>
                  <a:txBody>
                    <a:bodyPr/>
                    <a:lstStyle/>
                    <a:p>
                      <a:r>
                        <a:rPr lang="de-DE" sz="1200" dirty="0"/>
                        <a:t>Nachname</a:t>
                      </a:r>
                    </a:p>
                  </a:txBody>
                  <a:tcPr/>
                </a:tc>
                <a:extLst>
                  <a:ext uri="{0D108BD9-81ED-4DB2-BD59-A6C34878D82A}">
                    <a16:rowId xmlns:a16="http://schemas.microsoft.com/office/drawing/2014/main" val="222390635"/>
                  </a:ext>
                </a:extLst>
              </a:tr>
              <a:tr h="251749">
                <a:tc>
                  <a:txBody>
                    <a:bodyPr/>
                    <a:lstStyle/>
                    <a:p>
                      <a:r>
                        <a:rPr lang="de-DE" sz="1200" b="1" dirty="0">
                          <a:solidFill>
                            <a:schemeClr val="tx1"/>
                          </a:solidFill>
                        </a:rPr>
                        <a:t>1</a:t>
                      </a:r>
                    </a:p>
                  </a:txBody>
                  <a:tcPr/>
                </a:tc>
                <a:tc>
                  <a:txBody>
                    <a:bodyPr/>
                    <a:lstStyle/>
                    <a:p>
                      <a:r>
                        <a:rPr lang="de-DE" sz="1200" dirty="0"/>
                        <a:t>Klaus</a:t>
                      </a:r>
                    </a:p>
                  </a:txBody>
                  <a:tcPr/>
                </a:tc>
                <a:tc>
                  <a:txBody>
                    <a:bodyPr/>
                    <a:lstStyle/>
                    <a:p>
                      <a:r>
                        <a:rPr lang="de-DE" sz="1200" dirty="0"/>
                        <a:t>Müller</a:t>
                      </a:r>
                    </a:p>
                  </a:txBody>
                  <a:tcPr/>
                </a:tc>
                <a:extLst>
                  <a:ext uri="{0D108BD9-81ED-4DB2-BD59-A6C34878D82A}">
                    <a16:rowId xmlns:a16="http://schemas.microsoft.com/office/drawing/2014/main" val="1244206545"/>
                  </a:ext>
                </a:extLst>
              </a:tr>
              <a:tr h="251749">
                <a:tc>
                  <a:txBody>
                    <a:bodyPr/>
                    <a:lstStyle/>
                    <a:p>
                      <a:r>
                        <a:rPr lang="de-DE" sz="1200" b="1" dirty="0">
                          <a:solidFill>
                            <a:schemeClr val="tx1"/>
                          </a:solidFill>
                        </a:rPr>
                        <a:t>2</a:t>
                      </a:r>
                    </a:p>
                  </a:txBody>
                  <a:tcPr/>
                </a:tc>
                <a:tc>
                  <a:txBody>
                    <a:bodyPr/>
                    <a:lstStyle/>
                    <a:p>
                      <a:r>
                        <a:rPr lang="de-DE" sz="1200" dirty="0"/>
                        <a:t>Hans</a:t>
                      </a:r>
                    </a:p>
                  </a:txBody>
                  <a:tcPr/>
                </a:tc>
                <a:tc>
                  <a:txBody>
                    <a:bodyPr/>
                    <a:lstStyle/>
                    <a:p>
                      <a:r>
                        <a:rPr lang="de-DE" sz="1200" dirty="0"/>
                        <a:t>Hatnix</a:t>
                      </a:r>
                    </a:p>
                  </a:txBody>
                  <a:tcPr/>
                </a:tc>
                <a:extLst>
                  <a:ext uri="{0D108BD9-81ED-4DB2-BD59-A6C34878D82A}">
                    <a16:rowId xmlns:a16="http://schemas.microsoft.com/office/drawing/2014/main" val="821667300"/>
                  </a:ext>
                </a:extLst>
              </a:tr>
              <a:tr h="251749">
                <a:tc>
                  <a:txBody>
                    <a:bodyPr/>
                    <a:lstStyle/>
                    <a:p>
                      <a:r>
                        <a:rPr lang="de-DE" sz="1200" b="1" dirty="0">
                          <a:solidFill>
                            <a:schemeClr val="tx1"/>
                          </a:solidFill>
                        </a:rPr>
                        <a:t>3</a:t>
                      </a:r>
                    </a:p>
                  </a:txBody>
                  <a:tcPr/>
                </a:tc>
                <a:tc>
                  <a:txBody>
                    <a:bodyPr/>
                    <a:lstStyle/>
                    <a:p>
                      <a:r>
                        <a:rPr lang="de-DE" sz="1200" dirty="0"/>
                        <a:t>Petra</a:t>
                      </a:r>
                    </a:p>
                  </a:txBody>
                  <a:tcPr/>
                </a:tc>
                <a:tc>
                  <a:txBody>
                    <a:bodyPr/>
                    <a:lstStyle/>
                    <a:p>
                      <a:r>
                        <a:rPr lang="de-DE" sz="1200" dirty="0"/>
                        <a:t>Bayram</a:t>
                      </a:r>
                    </a:p>
                  </a:txBody>
                  <a:tcPr/>
                </a:tc>
                <a:extLst>
                  <a:ext uri="{0D108BD9-81ED-4DB2-BD59-A6C34878D82A}">
                    <a16:rowId xmlns:a16="http://schemas.microsoft.com/office/drawing/2014/main" val="788923964"/>
                  </a:ext>
                </a:extLst>
              </a:tr>
              <a:tr h="251749">
                <a:tc>
                  <a:txBody>
                    <a:bodyPr/>
                    <a:lstStyle/>
                    <a:p>
                      <a:r>
                        <a:rPr lang="de-DE" sz="1200" b="1" dirty="0">
                          <a:solidFill>
                            <a:schemeClr val="tx1"/>
                          </a:solidFill>
                        </a:rPr>
                        <a:t>4</a:t>
                      </a:r>
                    </a:p>
                  </a:txBody>
                  <a:tcPr/>
                </a:tc>
                <a:tc>
                  <a:txBody>
                    <a:bodyPr/>
                    <a:lstStyle/>
                    <a:p>
                      <a:r>
                        <a:rPr lang="de-DE" sz="1200" dirty="0"/>
                        <a:t>Sören</a:t>
                      </a:r>
                    </a:p>
                  </a:txBody>
                  <a:tcPr/>
                </a:tc>
                <a:tc>
                  <a:txBody>
                    <a:bodyPr/>
                    <a:lstStyle/>
                    <a:p>
                      <a:r>
                        <a:rPr lang="de-DE" sz="1200" dirty="0"/>
                        <a:t>Anderson</a:t>
                      </a:r>
                    </a:p>
                  </a:txBody>
                  <a:tcPr/>
                </a:tc>
                <a:extLst>
                  <a:ext uri="{0D108BD9-81ED-4DB2-BD59-A6C34878D82A}">
                    <a16:rowId xmlns:a16="http://schemas.microsoft.com/office/drawing/2014/main" val="3029020167"/>
                  </a:ext>
                </a:extLst>
              </a:tr>
            </a:tbl>
          </a:graphicData>
        </a:graphic>
      </p:graphicFrame>
      <p:cxnSp>
        <p:nvCxnSpPr>
          <p:cNvPr id="3" name="Gerader Verbinder 2"/>
          <p:cNvCxnSpPr/>
          <p:nvPr/>
        </p:nvCxnSpPr>
        <p:spPr>
          <a:xfrm>
            <a:off x="4994064" y="4301121"/>
            <a:ext cx="178138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9" name="Textfeld 8"/>
          <p:cNvSpPr txBox="1"/>
          <p:nvPr/>
        </p:nvSpPr>
        <p:spPr>
          <a:xfrm>
            <a:off x="5217973" y="4050969"/>
            <a:ext cx="1352230" cy="276999"/>
          </a:xfrm>
          <a:prstGeom prst="rect">
            <a:avLst/>
          </a:prstGeom>
          <a:noFill/>
        </p:spPr>
        <p:txBody>
          <a:bodyPr wrap="none" rtlCol="0">
            <a:spAutoFit/>
          </a:bodyPr>
          <a:lstStyle/>
          <a:p>
            <a:r>
              <a:rPr lang="de-DE" sz="1200" dirty="0"/>
              <a:t>ist Eigentümer von</a:t>
            </a:r>
          </a:p>
        </p:txBody>
      </p:sp>
      <p:sp>
        <p:nvSpPr>
          <p:cNvPr id="10" name="Rechteck 9"/>
          <p:cNvSpPr/>
          <p:nvPr/>
        </p:nvSpPr>
        <p:spPr>
          <a:xfrm>
            <a:off x="2139431" y="4150395"/>
            <a:ext cx="1178465" cy="1351255"/>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2193889" y="3881692"/>
            <a:ext cx="1416926" cy="307777"/>
          </a:xfrm>
          <a:prstGeom prst="rect">
            <a:avLst/>
          </a:prstGeom>
          <a:noFill/>
        </p:spPr>
        <p:txBody>
          <a:bodyPr wrap="none" rtlCol="0">
            <a:spAutoFit/>
          </a:bodyPr>
          <a:lstStyle/>
          <a:p>
            <a:r>
              <a:rPr lang="de-DE" sz="1400" b="1" dirty="0">
                <a:solidFill>
                  <a:schemeClr val="bg2">
                    <a:lumMod val="75000"/>
                  </a:schemeClr>
                </a:solidFill>
              </a:rPr>
              <a:t>Tabelle „Person“</a:t>
            </a:r>
          </a:p>
        </p:txBody>
      </p:sp>
      <p:sp>
        <p:nvSpPr>
          <p:cNvPr id="14" name="Textfeld 13"/>
          <p:cNvSpPr txBox="1"/>
          <p:nvPr/>
        </p:nvSpPr>
        <p:spPr>
          <a:xfrm>
            <a:off x="6640957" y="3883745"/>
            <a:ext cx="1275286" cy="307777"/>
          </a:xfrm>
          <a:prstGeom prst="rect">
            <a:avLst/>
          </a:prstGeom>
          <a:noFill/>
        </p:spPr>
        <p:txBody>
          <a:bodyPr wrap="none" rtlCol="0">
            <a:spAutoFit/>
          </a:bodyPr>
          <a:lstStyle/>
          <a:p>
            <a:r>
              <a:rPr lang="de-DE" sz="1400" b="1" dirty="0">
                <a:solidFill>
                  <a:schemeClr val="bg2">
                    <a:lumMod val="75000"/>
                  </a:schemeClr>
                </a:solidFill>
              </a:rPr>
              <a:t>Tabelle „Auto“</a:t>
            </a:r>
          </a:p>
        </p:txBody>
      </p:sp>
      <p:sp>
        <p:nvSpPr>
          <p:cNvPr id="15" name="Textfeld 14"/>
          <p:cNvSpPr txBox="1"/>
          <p:nvPr/>
        </p:nvSpPr>
        <p:spPr>
          <a:xfrm>
            <a:off x="2219518" y="5474560"/>
            <a:ext cx="1098378" cy="261610"/>
          </a:xfrm>
          <a:prstGeom prst="rect">
            <a:avLst/>
          </a:prstGeom>
          <a:noFill/>
        </p:spPr>
        <p:txBody>
          <a:bodyPr wrap="none" rtlCol="0">
            <a:spAutoFit/>
          </a:bodyPr>
          <a:lstStyle/>
          <a:p>
            <a:r>
              <a:rPr lang="de-DE" sz="1100" b="1" dirty="0"/>
              <a:t>Primärschlüssel</a:t>
            </a:r>
          </a:p>
        </p:txBody>
      </p:sp>
      <p:sp>
        <p:nvSpPr>
          <p:cNvPr id="16" name="Textfeld 15"/>
          <p:cNvSpPr txBox="1"/>
          <p:nvPr/>
        </p:nvSpPr>
        <p:spPr>
          <a:xfrm>
            <a:off x="7702996" y="5786383"/>
            <a:ext cx="1111202" cy="261610"/>
          </a:xfrm>
          <a:prstGeom prst="rect">
            <a:avLst/>
          </a:prstGeom>
          <a:noFill/>
        </p:spPr>
        <p:txBody>
          <a:bodyPr wrap="none" rtlCol="0">
            <a:spAutoFit/>
          </a:bodyPr>
          <a:lstStyle/>
          <a:p>
            <a:r>
              <a:rPr lang="de-DE" sz="1100" b="1" dirty="0">
                <a:solidFill>
                  <a:schemeClr val="accent2"/>
                </a:solidFill>
              </a:rPr>
              <a:t> Fremdschlüssel</a:t>
            </a:r>
          </a:p>
        </p:txBody>
      </p:sp>
      <p:sp>
        <p:nvSpPr>
          <p:cNvPr id="17" name="Rechteck 16"/>
          <p:cNvSpPr/>
          <p:nvPr/>
        </p:nvSpPr>
        <p:spPr>
          <a:xfrm>
            <a:off x="7817379" y="4150395"/>
            <a:ext cx="850377" cy="1645920"/>
          </a:xfrm>
          <a:prstGeom prst="rect">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361346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3" grpId="0"/>
      <p:bldP spid="14" grpId="0"/>
      <p:bldP spid="15" grpId="0"/>
      <p:bldP spid="16" grpId="0"/>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208895" cy="720725"/>
          </a:xfrm>
        </p:spPr>
        <p:txBody>
          <a:bodyPr>
            <a:noAutofit/>
          </a:bodyPr>
          <a:lstStyle/>
          <a:p>
            <a:r>
              <a:rPr lang="de-DE" dirty="0">
                <a:latin typeface="Source Sans Pro" panose="020B0503030403020204" pitchFamily="34" charset="0"/>
              </a:rPr>
              <a:t>Fremdschlüssel </a:t>
            </a:r>
            <a:r>
              <a:rPr lang="de-DE" sz="2800" dirty="0">
                <a:solidFill>
                  <a:schemeClr val="accent2"/>
                </a:solidFill>
                <a:latin typeface="Source Sans Pro" panose="020B0503030403020204" pitchFamily="34" charset="0"/>
              </a:rPr>
              <a:t>(„FOREIGN KEY“) </a:t>
            </a:r>
            <a:r>
              <a:rPr lang="de-DE" dirty="0">
                <a:latin typeface="Source Sans Pro" panose="020B0503030403020204" pitchFamily="34" charset="0"/>
              </a:rPr>
              <a:t>im RDB-Schema</a:t>
            </a:r>
            <a:r>
              <a:rPr lang="de-DE" dirty="0">
                <a:solidFill>
                  <a:schemeClr val="accent2"/>
                </a:solidFill>
                <a:latin typeface="Source Sans Pro" panose="020B0503030403020204" pitchFamily="34" charset="0"/>
              </a:rPr>
              <a:t> </a:t>
            </a:r>
            <a:endParaRPr lang="de-DE"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21" name="Rechteck 20"/>
          <p:cNvSpPr/>
          <p:nvPr/>
        </p:nvSpPr>
        <p:spPr>
          <a:xfrm>
            <a:off x="7359872" y="2514016"/>
            <a:ext cx="2687216" cy="163677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22" name="Textfeld 21"/>
          <p:cNvSpPr txBox="1"/>
          <p:nvPr/>
        </p:nvSpPr>
        <p:spPr>
          <a:xfrm>
            <a:off x="7388731" y="2537773"/>
            <a:ext cx="1418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effectLst/>
                <a:uLnTx/>
                <a:uFillTx/>
                <a:latin typeface="Calibri" panose="020F0502020204030204"/>
                <a:ea typeface="+mn-ea"/>
                <a:cs typeface="+mn-cs"/>
              </a:rPr>
              <a:t>Auto_ID (PK)</a:t>
            </a:r>
          </a:p>
        </p:txBody>
      </p:sp>
      <p:sp>
        <p:nvSpPr>
          <p:cNvPr id="23" name="Textfeld 22"/>
          <p:cNvSpPr txBox="1"/>
          <p:nvPr/>
        </p:nvSpPr>
        <p:spPr>
          <a:xfrm>
            <a:off x="7388731" y="2937674"/>
            <a:ext cx="15594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Person_ID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(FK)</a:t>
            </a:r>
          </a:p>
        </p:txBody>
      </p:sp>
      <p:sp>
        <p:nvSpPr>
          <p:cNvPr id="24" name="Textfeld 23"/>
          <p:cNvSpPr txBox="1"/>
          <p:nvPr/>
        </p:nvSpPr>
        <p:spPr>
          <a:xfrm>
            <a:off x="7383697" y="3344800"/>
            <a:ext cx="7847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Marke</a:t>
            </a:r>
          </a:p>
        </p:txBody>
      </p:sp>
      <p:cxnSp>
        <p:nvCxnSpPr>
          <p:cNvPr id="26" name="Gerader Verbinder 25"/>
          <p:cNvCxnSpPr/>
          <p:nvPr/>
        </p:nvCxnSpPr>
        <p:spPr>
          <a:xfrm>
            <a:off x="7359872" y="2907105"/>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7359872" y="3337575"/>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feld 27"/>
          <p:cNvSpPr txBox="1"/>
          <p:nvPr/>
        </p:nvSpPr>
        <p:spPr>
          <a:xfrm>
            <a:off x="7268606" y="2153488"/>
            <a:ext cx="59945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Auto</a:t>
            </a:r>
          </a:p>
        </p:txBody>
      </p:sp>
      <p:sp>
        <p:nvSpPr>
          <p:cNvPr id="29" name="Textfeld 28"/>
          <p:cNvSpPr txBox="1"/>
          <p:nvPr/>
        </p:nvSpPr>
        <p:spPr>
          <a:xfrm>
            <a:off x="213596" y="5459760"/>
            <a:ext cx="11792459" cy="369332"/>
          </a:xfrm>
          <a:prstGeom prst="rect">
            <a:avLst/>
          </a:prstGeom>
          <a:solidFill>
            <a:schemeClr val="bg2"/>
          </a:solidFill>
          <a:ln w="28575">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Hinweis: </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Die IHK erwartet von Ihnen, dass </a:t>
            </a:r>
            <a:r>
              <a:rPr lang="de-DE" noProof="0" dirty="0">
                <a:solidFill>
                  <a:srgbClr val="0071B2"/>
                </a:solidFill>
                <a:latin typeface="Calibri" panose="020F0502020204030204"/>
              </a:rPr>
              <a:t>F</a:t>
            </a:r>
            <a:r>
              <a:rPr lang="de-DE" dirty="0">
                <a:solidFill>
                  <a:srgbClr val="0071B2"/>
                </a:solidFill>
                <a:latin typeface="Calibri" panose="020F0502020204030204"/>
              </a:rPr>
              <a:t>remd</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schlüssel im RDB-Schema durch den Zusatz </a:t>
            </a:r>
            <a:r>
              <a:rPr kumimoji="0" lang="de-DE" sz="1800" b="1" i="0" u="none" strike="noStrike" kern="1200" cap="none" spc="0" normalizeH="0" baseline="0" noProof="0" dirty="0">
                <a:ln>
                  <a:noFill/>
                </a:ln>
                <a:effectLst/>
                <a:uLnTx/>
                <a:uFillTx/>
                <a:latin typeface="Calibri" panose="020F0502020204030204"/>
                <a:ea typeface="+mn-ea"/>
                <a:cs typeface="+mn-cs"/>
              </a:rPr>
              <a:t>„</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(FK)</a:t>
            </a:r>
            <a:r>
              <a:rPr kumimoji="0" lang="de-DE" sz="1800" b="1" i="0" u="none" strike="noStrike" kern="1200" cap="none" spc="0" normalizeH="0" baseline="0" noProof="0" dirty="0">
                <a:ln>
                  <a:noFill/>
                </a:ln>
                <a:effectLst/>
                <a:uLnTx/>
                <a:uFillTx/>
                <a:latin typeface="Calibri" panose="020F0502020204030204"/>
                <a:ea typeface="+mn-ea"/>
                <a:cs typeface="+mn-cs"/>
              </a:rPr>
              <a:t>“</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 </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gekennzeichnet werden. </a:t>
            </a:r>
          </a:p>
        </p:txBody>
      </p:sp>
      <p:sp>
        <p:nvSpPr>
          <p:cNvPr id="25" name="Rechteck 24"/>
          <p:cNvSpPr/>
          <p:nvPr/>
        </p:nvSpPr>
        <p:spPr>
          <a:xfrm>
            <a:off x="1578098" y="2958937"/>
            <a:ext cx="2687216" cy="129695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30" name="Textfeld 29"/>
          <p:cNvSpPr txBox="1"/>
          <p:nvPr/>
        </p:nvSpPr>
        <p:spPr>
          <a:xfrm>
            <a:off x="1606957" y="2981656"/>
            <a:ext cx="1586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Person_ID </a:t>
            </a:r>
            <a:r>
              <a:rPr kumimoji="0" lang="de-DE" sz="1800" i="0" u="none" strike="noStrike" kern="1200" cap="none" spc="0" normalizeH="0" baseline="0" noProof="0" dirty="0">
                <a:ln>
                  <a:noFill/>
                </a:ln>
                <a:effectLst/>
                <a:uLnTx/>
                <a:uFillTx/>
                <a:latin typeface="Calibri" panose="020F0502020204030204"/>
                <a:ea typeface="+mn-ea"/>
                <a:cs typeface="+mn-cs"/>
              </a:rPr>
              <a:t>(PK)</a:t>
            </a:r>
          </a:p>
        </p:txBody>
      </p:sp>
      <p:sp>
        <p:nvSpPr>
          <p:cNvPr id="31" name="Textfeld 30"/>
          <p:cNvSpPr txBox="1"/>
          <p:nvPr/>
        </p:nvSpPr>
        <p:spPr>
          <a:xfrm>
            <a:off x="1606957" y="3381557"/>
            <a:ext cx="10406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Vorname</a:t>
            </a:r>
          </a:p>
        </p:txBody>
      </p:sp>
      <p:sp>
        <p:nvSpPr>
          <p:cNvPr id="32" name="Textfeld 31"/>
          <p:cNvSpPr txBox="1"/>
          <p:nvPr/>
        </p:nvSpPr>
        <p:spPr>
          <a:xfrm>
            <a:off x="1606957" y="3781458"/>
            <a:ext cx="119616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Nachname</a:t>
            </a:r>
          </a:p>
        </p:txBody>
      </p:sp>
      <p:cxnSp>
        <p:nvCxnSpPr>
          <p:cNvPr id="33" name="Gerader Verbinder 32"/>
          <p:cNvCxnSpPr/>
          <p:nvPr/>
        </p:nvCxnSpPr>
        <p:spPr>
          <a:xfrm>
            <a:off x="1578098" y="3350988"/>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p:nvPr/>
        </p:nvCxnSpPr>
        <p:spPr>
          <a:xfrm>
            <a:off x="1578098" y="3781458"/>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p:nvSpPr>
        <p:spPr>
          <a:xfrm>
            <a:off x="1511770" y="2597145"/>
            <a:ext cx="76713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Person</a:t>
            </a:r>
          </a:p>
        </p:txBody>
      </p:sp>
      <p:cxnSp>
        <p:nvCxnSpPr>
          <p:cNvPr id="36" name="Gerader Verbinder 35"/>
          <p:cNvCxnSpPr/>
          <p:nvPr/>
        </p:nvCxnSpPr>
        <p:spPr>
          <a:xfrm>
            <a:off x="7359872" y="3726171"/>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feld 36"/>
          <p:cNvSpPr txBox="1"/>
          <p:nvPr/>
        </p:nvSpPr>
        <p:spPr>
          <a:xfrm>
            <a:off x="7383697" y="3765024"/>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effectLst/>
                <a:uLnTx/>
                <a:uFillTx/>
                <a:latin typeface="Calibri" panose="020F0502020204030204"/>
                <a:ea typeface="+mn-ea"/>
                <a:cs typeface="+mn-cs"/>
              </a:rPr>
              <a:t>PS</a:t>
            </a:r>
          </a:p>
        </p:txBody>
      </p:sp>
      <p:cxnSp>
        <p:nvCxnSpPr>
          <p:cNvPr id="3" name="Gerader Verbinder 2"/>
          <p:cNvCxnSpPr/>
          <p:nvPr/>
        </p:nvCxnSpPr>
        <p:spPr>
          <a:xfrm flipV="1">
            <a:off x="4265314" y="3142500"/>
            <a:ext cx="3094558" cy="11362"/>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feld 37"/>
          <p:cNvSpPr txBox="1"/>
          <p:nvPr/>
        </p:nvSpPr>
        <p:spPr>
          <a:xfrm>
            <a:off x="5086602" y="2858545"/>
            <a:ext cx="1576842" cy="307777"/>
          </a:xfrm>
          <a:prstGeom prst="rect">
            <a:avLst/>
          </a:prstGeom>
          <a:noFill/>
        </p:spPr>
        <p:txBody>
          <a:bodyPr wrap="none" rtlCol="0">
            <a:spAutoFit/>
          </a:bodyPr>
          <a:lstStyle/>
          <a:p>
            <a:r>
              <a:rPr lang="de-DE" sz="1400" b="1" dirty="0"/>
              <a:t>ist Eigentümer von</a:t>
            </a:r>
          </a:p>
        </p:txBody>
      </p:sp>
    </p:spTree>
    <p:extLst>
      <p:ext uri="{BB962C8B-B14F-4D97-AF65-F5344CB8AC3E}">
        <p14:creationId xmlns:p14="http://schemas.microsoft.com/office/powerpoint/2010/main" val="139336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208895" cy="720725"/>
          </a:xfrm>
        </p:spPr>
        <p:txBody>
          <a:bodyPr>
            <a:noAutofit/>
          </a:bodyPr>
          <a:lstStyle/>
          <a:p>
            <a:pPr algn="ctr"/>
            <a:r>
              <a:rPr lang="de-DE" dirty="0">
                <a:latin typeface="Source Sans Pro" panose="020B0503030403020204" pitchFamily="34" charset="0"/>
              </a:rPr>
              <a:t>Fremdschlüssel -&gt; </a:t>
            </a:r>
            <a:r>
              <a:rPr lang="de-DE" dirty="0">
                <a:solidFill>
                  <a:schemeClr val="accent2"/>
                </a:solidFill>
                <a:latin typeface="Source Sans Pro" panose="020B0503030403020204" pitchFamily="34" charset="0"/>
              </a:rPr>
              <a:t>1:1-Beziehung</a:t>
            </a:r>
            <a:endParaRPr lang="de-DE"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29" name="Textfeld 28"/>
          <p:cNvSpPr txBox="1"/>
          <p:nvPr/>
        </p:nvSpPr>
        <p:spPr>
          <a:xfrm>
            <a:off x="3721062" y="1543418"/>
            <a:ext cx="4777526" cy="923330"/>
          </a:xfrm>
          <a:prstGeom prst="rect">
            <a:avLst/>
          </a:prstGeom>
          <a:solidFill>
            <a:schemeClr val="bg2"/>
          </a:solidFill>
          <a:ln w="28575">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Beispiel: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Eine Person hat höchstens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1</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Personalausweis.</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Ein Personalausweis hat höchstens </a:t>
            </a:r>
            <a:r>
              <a:rPr lang="de-DE" b="1" dirty="0">
                <a:solidFill>
                  <a:schemeClr val="accent2"/>
                </a:solidFill>
                <a:latin typeface="Calibri" panose="020F0502020204030204"/>
              </a:rPr>
              <a:t>1</a:t>
            </a:r>
            <a:r>
              <a:rPr lang="de-DE" dirty="0">
                <a:solidFill>
                  <a:srgbClr val="0071B2"/>
                </a:solidFill>
                <a:latin typeface="Calibri" panose="020F0502020204030204"/>
              </a:rPr>
              <a:t> Eigentümer.</a:t>
            </a: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Rechteck 24"/>
          <p:cNvSpPr/>
          <p:nvPr/>
        </p:nvSpPr>
        <p:spPr>
          <a:xfrm>
            <a:off x="1112586" y="4061454"/>
            <a:ext cx="1431109" cy="89369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30" name="Textfeld 29"/>
          <p:cNvSpPr txBox="1"/>
          <p:nvPr/>
        </p:nvSpPr>
        <p:spPr>
          <a:xfrm>
            <a:off x="1141445" y="4084172"/>
            <a:ext cx="111030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Person_ID </a:t>
            </a:r>
            <a:r>
              <a:rPr kumimoji="0" lang="de-DE" sz="1200" i="0" u="none" strike="noStrike" kern="1200" cap="none" spc="0" normalizeH="0" baseline="0" noProof="0" dirty="0">
                <a:ln>
                  <a:noFill/>
                </a:ln>
                <a:effectLst/>
                <a:uLnTx/>
                <a:uFillTx/>
                <a:latin typeface="Calibri" panose="020F0502020204030204"/>
                <a:ea typeface="+mn-ea"/>
                <a:cs typeface="+mn-cs"/>
              </a:rPr>
              <a:t>(PK)</a:t>
            </a:r>
          </a:p>
        </p:txBody>
      </p:sp>
      <p:sp>
        <p:nvSpPr>
          <p:cNvPr id="31" name="Textfeld 30"/>
          <p:cNvSpPr txBox="1"/>
          <p:nvPr/>
        </p:nvSpPr>
        <p:spPr>
          <a:xfrm>
            <a:off x="1141445" y="4369111"/>
            <a:ext cx="75366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Vorname</a:t>
            </a:r>
          </a:p>
        </p:txBody>
      </p:sp>
      <p:sp>
        <p:nvSpPr>
          <p:cNvPr id="32" name="Textfeld 31"/>
          <p:cNvSpPr txBox="1"/>
          <p:nvPr/>
        </p:nvSpPr>
        <p:spPr>
          <a:xfrm>
            <a:off x="1141445" y="4662129"/>
            <a:ext cx="85792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Nachname</a:t>
            </a:r>
          </a:p>
        </p:txBody>
      </p:sp>
      <p:cxnSp>
        <p:nvCxnSpPr>
          <p:cNvPr id="33" name="Gerader Verbinder 32"/>
          <p:cNvCxnSpPr/>
          <p:nvPr/>
        </p:nvCxnSpPr>
        <p:spPr>
          <a:xfrm>
            <a:off x="1112586" y="4346392"/>
            <a:ext cx="1431109" cy="147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p:nvPr/>
        </p:nvCxnSpPr>
        <p:spPr>
          <a:xfrm>
            <a:off x="1112586" y="4631982"/>
            <a:ext cx="1431109" cy="141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p:nvSpPr>
        <p:spPr>
          <a:xfrm>
            <a:off x="1046258" y="3699661"/>
            <a:ext cx="76713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Person</a:t>
            </a:r>
          </a:p>
        </p:txBody>
      </p:sp>
      <p:sp>
        <p:nvSpPr>
          <p:cNvPr id="38" name="Textfeld 37"/>
          <p:cNvSpPr txBox="1"/>
          <p:nvPr/>
        </p:nvSpPr>
        <p:spPr>
          <a:xfrm>
            <a:off x="2540838" y="4221920"/>
            <a:ext cx="979755" cy="215444"/>
          </a:xfrm>
          <a:prstGeom prst="rect">
            <a:avLst/>
          </a:prstGeom>
          <a:noFill/>
        </p:spPr>
        <p:txBody>
          <a:bodyPr wrap="none" rtlCol="0">
            <a:spAutoFit/>
          </a:bodyPr>
          <a:lstStyle/>
          <a:p>
            <a:r>
              <a:rPr lang="de-DE" sz="800" b="1" dirty="0"/>
              <a:t>ist Eigentümer von</a:t>
            </a:r>
          </a:p>
        </p:txBody>
      </p:sp>
      <p:sp>
        <p:nvSpPr>
          <p:cNvPr id="45" name="Rechteck 44"/>
          <p:cNvSpPr/>
          <p:nvPr/>
        </p:nvSpPr>
        <p:spPr>
          <a:xfrm>
            <a:off x="3517736" y="3768435"/>
            <a:ext cx="1649402" cy="89369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46" name="Textfeld 45"/>
          <p:cNvSpPr txBox="1"/>
          <p:nvPr/>
        </p:nvSpPr>
        <p:spPr>
          <a:xfrm>
            <a:off x="3517736" y="3791153"/>
            <a:ext cx="172019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Personalausweis_ID </a:t>
            </a:r>
            <a:r>
              <a:rPr kumimoji="0" lang="de-DE" sz="1200" i="0" u="none" strike="noStrike" kern="1200" cap="none" spc="0" normalizeH="0" baseline="0" noProof="0" dirty="0">
                <a:ln>
                  <a:noFill/>
                </a:ln>
                <a:effectLst/>
                <a:uLnTx/>
                <a:uFillTx/>
                <a:latin typeface="Calibri" panose="020F0502020204030204"/>
                <a:ea typeface="+mn-ea"/>
                <a:cs typeface="+mn-cs"/>
              </a:rPr>
              <a:t>(PK)</a:t>
            </a:r>
          </a:p>
        </p:txBody>
      </p:sp>
      <p:sp>
        <p:nvSpPr>
          <p:cNvPr id="47" name="Textfeld 46"/>
          <p:cNvSpPr txBox="1"/>
          <p:nvPr/>
        </p:nvSpPr>
        <p:spPr>
          <a:xfrm>
            <a:off x="3525069" y="4075882"/>
            <a:ext cx="112447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solidFill>
                  <a:schemeClr val="accent2"/>
                </a:solidFill>
                <a:latin typeface="Calibri" panose="020F0502020204030204"/>
              </a:rPr>
              <a:t>Person_ID (FK)</a:t>
            </a:r>
            <a:endParaRPr kumimoji="0" lang="de-DE" sz="1200" b="1" i="0" u="none" strike="noStrike" kern="1200" cap="none" spc="0" normalizeH="0" baseline="0" noProof="0" dirty="0">
              <a:ln>
                <a:noFill/>
              </a:ln>
              <a:solidFill>
                <a:schemeClr val="accent2"/>
              </a:solidFill>
              <a:effectLst/>
              <a:uLnTx/>
              <a:uFillTx/>
              <a:latin typeface="Calibri" panose="020F0502020204030204"/>
            </a:endParaRPr>
          </a:p>
        </p:txBody>
      </p:sp>
      <p:sp>
        <p:nvSpPr>
          <p:cNvPr id="48" name="Textfeld 47"/>
          <p:cNvSpPr txBox="1"/>
          <p:nvPr/>
        </p:nvSpPr>
        <p:spPr>
          <a:xfrm>
            <a:off x="3538748" y="4369110"/>
            <a:ext cx="137249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Ausstellungsdatum</a:t>
            </a:r>
          </a:p>
        </p:txBody>
      </p:sp>
      <p:cxnSp>
        <p:nvCxnSpPr>
          <p:cNvPr id="49" name="Gerader Verbinder 48"/>
          <p:cNvCxnSpPr/>
          <p:nvPr/>
        </p:nvCxnSpPr>
        <p:spPr>
          <a:xfrm>
            <a:off x="3517736" y="4053373"/>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Gerader Verbinder 49"/>
          <p:cNvCxnSpPr/>
          <p:nvPr/>
        </p:nvCxnSpPr>
        <p:spPr>
          <a:xfrm>
            <a:off x="3517736" y="4338963"/>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feld 50"/>
          <p:cNvSpPr txBox="1"/>
          <p:nvPr/>
        </p:nvSpPr>
        <p:spPr>
          <a:xfrm>
            <a:off x="3435860" y="3406642"/>
            <a:ext cx="15948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Personalausweis</a:t>
            </a:r>
          </a:p>
        </p:txBody>
      </p:sp>
      <p:cxnSp>
        <p:nvCxnSpPr>
          <p:cNvPr id="9" name="Gerader Verbinder 8"/>
          <p:cNvCxnSpPr>
            <a:endCxn id="45" idx="1"/>
          </p:cNvCxnSpPr>
          <p:nvPr/>
        </p:nvCxnSpPr>
        <p:spPr>
          <a:xfrm>
            <a:off x="2543695" y="4208713"/>
            <a:ext cx="974041" cy="656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flipH="1">
            <a:off x="2497216" y="4032812"/>
            <a:ext cx="232757" cy="246221"/>
          </a:xfrm>
          <a:prstGeom prst="rect">
            <a:avLst/>
          </a:prstGeom>
          <a:noFill/>
        </p:spPr>
        <p:txBody>
          <a:bodyPr wrap="square" rtlCol="0">
            <a:spAutoFit/>
          </a:bodyPr>
          <a:lstStyle/>
          <a:p>
            <a:r>
              <a:rPr lang="de-DE" sz="1000" b="1" dirty="0">
                <a:solidFill>
                  <a:schemeClr val="accent2"/>
                </a:solidFill>
              </a:rPr>
              <a:t>1</a:t>
            </a:r>
          </a:p>
        </p:txBody>
      </p:sp>
      <p:sp>
        <p:nvSpPr>
          <p:cNvPr id="52" name="Textfeld 51"/>
          <p:cNvSpPr txBox="1"/>
          <p:nvPr/>
        </p:nvSpPr>
        <p:spPr>
          <a:xfrm flipH="1">
            <a:off x="3343899" y="4029925"/>
            <a:ext cx="232757" cy="246221"/>
          </a:xfrm>
          <a:prstGeom prst="rect">
            <a:avLst/>
          </a:prstGeom>
          <a:noFill/>
        </p:spPr>
        <p:txBody>
          <a:bodyPr wrap="square" rtlCol="0">
            <a:spAutoFit/>
          </a:bodyPr>
          <a:lstStyle/>
          <a:p>
            <a:r>
              <a:rPr lang="de-DE" sz="1000" b="1" dirty="0">
                <a:solidFill>
                  <a:schemeClr val="accent2"/>
                </a:solidFill>
              </a:rPr>
              <a:t>1</a:t>
            </a:r>
          </a:p>
        </p:txBody>
      </p:sp>
      <p:sp>
        <p:nvSpPr>
          <p:cNvPr id="15" name="Rechteck 14"/>
          <p:cNvSpPr/>
          <p:nvPr/>
        </p:nvSpPr>
        <p:spPr>
          <a:xfrm>
            <a:off x="606829" y="3104995"/>
            <a:ext cx="5029200" cy="23691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p:cNvSpPr txBox="1"/>
          <p:nvPr/>
        </p:nvSpPr>
        <p:spPr>
          <a:xfrm>
            <a:off x="606829" y="2823740"/>
            <a:ext cx="1008738" cy="276999"/>
          </a:xfrm>
          <a:prstGeom prst="rect">
            <a:avLst/>
          </a:prstGeom>
          <a:noFill/>
        </p:spPr>
        <p:txBody>
          <a:bodyPr wrap="none" rtlCol="0">
            <a:spAutoFit/>
          </a:bodyPr>
          <a:lstStyle/>
          <a:p>
            <a:r>
              <a:rPr lang="de-DE" sz="1200" b="1" dirty="0"/>
              <a:t>Alternative 1</a:t>
            </a:r>
          </a:p>
        </p:txBody>
      </p:sp>
      <p:sp>
        <p:nvSpPr>
          <p:cNvPr id="60" name="Textfeld 59"/>
          <p:cNvSpPr txBox="1"/>
          <p:nvPr/>
        </p:nvSpPr>
        <p:spPr>
          <a:xfrm>
            <a:off x="8529399" y="4221920"/>
            <a:ext cx="979755" cy="215444"/>
          </a:xfrm>
          <a:prstGeom prst="rect">
            <a:avLst/>
          </a:prstGeom>
          <a:noFill/>
        </p:spPr>
        <p:txBody>
          <a:bodyPr wrap="none" rtlCol="0">
            <a:spAutoFit/>
          </a:bodyPr>
          <a:lstStyle/>
          <a:p>
            <a:r>
              <a:rPr lang="de-DE" sz="800" b="1" dirty="0"/>
              <a:t>ist Eigentümer von</a:t>
            </a:r>
          </a:p>
        </p:txBody>
      </p:sp>
      <p:cxnSp>
        <p:nvCxnSpPr>
          <p:cNvPr id="68" name="Gerader Verbinder 67"/>
          <p:cNvCxnSpPr/>
          <p:nvPr/>
        </p:nvCxnSpPr>
        <p:spPr>
          <a:xfrm>
            <a:off x="8532256" y="4208713"/>
            <a:ext cx="974041" cy="6569"/>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feld 68"/>
          <p:cNvSpPr txBox="1"/>
          <p:nvPr/>
        </p:nvSpPr>
        <p:spPr>
          <a:xfrm flipH="1">
            <a:off x="8485777" y="4032812"/>
            <a:ext cx="232757" cy="246221"/>
          </a:xfrm>
          <a:prstGeom prst="rect">
            <a:avLst/>
          </a:prstGeom>
          <a:noFill/>
        </p:spPr>
        <p:txBody>
          <a:bodyPr wrap="square" rtlCol="0">
            <a:spAutoFit/>
          </a:bodyPr>
          <a:lstStyle/>
          <a:p>
            <a:r>
              <a:rPr lang="de-DE" sz="1000" b="1" dirty="0">
                <a:solidFill>
                  <a:schemeClr val="accent2"/>
                </a:solidFill>
              </a:rPr>
              <a:t>1</a:t>
            </a:r>
          </a:p>
        </p:txBody>
      </p:sp>
      <p:sp>
        <p:nvSpPr>
          <p:cNvPr id="71" name="Rechteck 70"/>
          <p:cNvSpPr/>
          <p:nvPr/>
        </p:nvSpPr>
        <p:spPr>
          <a:xfrm>
            <a:off x="6595390" y="3104995"/>
            <a:ext cx="5029200" cy="23691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2" name="Textfeld 71"/>
          <p:cNvSpPr txBox="1"/>
          <p:nvPr/>
        </p:nvSpPr>
        <p:spPr>
          <a:xfrm>
            <a:off x="6595390" y="2823740"/>
            <a:ext cx="1008738" cy="276999"/>
          </a:xfrm>
          <a:prstGeom prst="rect">
            <a:avLst/>
          </a:prstGeom>
          <a:noFill/>
        </p:spPr>
        <p:txBody>
          <a:bodyPr wrap="none" rtlCol="0">
            <a:spAutoFit/>
          </a:bodyPr>
          <a:lstStyle/>
          <a:p>
            <a:r>
              <a:rPr lang="de-DE" sz="1200" b="1" dirty="0"/>
              <a:t>Alternative 2</a:t>
            </a:r>
          </a:p>
        </p:txBody>
      </p:sp>
      <p:sp>
        <p:nvSpPr>
          <p:cNvPr id="74" name="Rechteck 73"/>
          <p:cNvSpPr/>
          <p:nvPr/>
        </p:nvSpPr>
        <p:spPr>
          <a:xfrm>
            <a:off x="9506297" y="4045434"/>
            <a:ext cx="1649402" cy="57671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75" name="Textfeld 74"/>
          <p:cNvSpPr txBox="1"/>
          <p:nvPr/>
        </p:nvSpPr>
        <p:spPr>
          <a:xfrm>
            <a:off x="9506297" y="4068152"/>
            <a:ext cx="1720197" cy="276999"/>
          </a:xfrm>
          <a:prstGeom prst="rect">
            <a:avLst/>
          </a:prstGeom>
          <a:noFill/>
        </p:spPr>
        <p:txBody>
          <a:bodyPr wrap="square" rtlCol="0">
            <a:spAutoFit/>
          </a:bodyPr>
          <a:lstStyle/>
          <a:p>
            <a:pPr lvl="0">
              <a:defRPr/>
            </a:pPr>
            <a:r>
              <a:rPr lang="de-DE" sz="1200" dirty="0"/>
              <a:t>Personalausweis_ID (PK)</a:t>
            </a:r>
          </a:p>
        </p:txBody>
      </p:sp>
      <p:sp>
        <p:nvSpPr>
          <p:cNvPr id="77" name="Textfeld 76"/>
          <p:cNvSpPr txBox="1"/>
          <p:nvPr/>
        </p:nvSpPr>
        <p:spPr>
          <a:xfrm>
            <a:off x="9528169" y="4347414"/>
            <a:ext cx="137249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Ausstellungsdatum</a:t>
            </a:r>
          </a:p>
        </p:txBody>
      </p:sp>
      <p:cxnSp>
        <p:nvCxnSpPr>
          <p:cNvPr id="78" name="Gerader Verbinder 77"/>
          <p:cNvCxnSpPr/>
          <p:nvPr/>
        </p:nvCxnSpPr>
        <p:spPr>
          <a:xfrm>
            <a:off x="9506297" y="4330372"/>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Gerader Verbinder 78"/>
          <p:cNvCxnSpPr/>
          <p:nvPr/>
        </p:nvCxnSpPr>
        <p:spPr>
          <a:xfrm>
            <a:off x="9506297" y="4615962"/>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feld 79"/>
          <p:cNvSpPr txBox="1"/>
          <p:nvPr/>
        </p:nvSpPr>
        <p:spPr>
          <a:xfrm>
            <a:off x="9445887" y="3714089"/>
            <a:ext cx="159486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Personalausweis</a:t>
            </a:r>
          </a:p>
        </p:txBody>
      </p:sp>
      <p:sp>
        <p:nvSpPr>
          <p:cNvPr id="81" name="Textfeld 80"/>
          <p:cNvSpPr txBox="1"/>
          <p:nvPr/>
        </p:nvSpPr>
        <p:spPr>
          <a:xfrm flipH="1">
            <a:off x="9313445" y="4037865"/>
            <a:ext cx="232757" cy="246221"/>
          </a:xfrm>
          <a:prstGeom prst="rect">
            <a:avLst/>
          </a:prstGeom>
          <a:noFill/>
        </p:spPr>
        <p:txBody>
          <a:bodyPr wrap="square" rtlCol="0">
            <a:spAutoFit/>
          </a:bodyPr>
          <a:lstStyle/>
          <a:p>
            <a:r>
              <a:rPr lang="de-DE" sz="1000" b="1" dirty="0">
                <a:solidFill>
                  <a:schemeClr val="accent2"/>
                </a:solidFill>
              </a:rPr>
              <a:t>1</a:t>
            </a:r>
          </a:p>
        </p:txBody>
      </p:sp>
      <p:sp>
        <p:nvSpPr>
          <p:cNvPr id="82" name="Textfeld 81"/>
          <p:cNvSpPr txBox="1"/>
          <p:nvPr/>
        </p:nvSpPr>
        <p:spPr>
          <a:xfrm>
            <a:off x="6829663" y="4021827"/>
            <a:ext cx="1828461" cy="276999"/>
          </a:xfrm>
          <a:prstGeom prst="rect">
            <a:avLst/>
          </a:prstGeom>
          <a:noFill/>
        </p:spPr>
        <p:txBody>
          <a:bodyPr wrap="square" rtlCol="0">
            <a:spAutoFit/>
          </a:bodyPr>
          <a:lstStyle/>
          <a:p>
            <a:pPr lvl="0">
              <a:defRPr/>
            </a:pPr>
            <a:r>
              <a:rPr lang="de-DE" sz="1200" b="1" dirty="0">
                <a:solidFill>
                  <a:schemeClr val="accent2"/>
                </a:solidFill>
              </a:rPr>
              <a:t>Personalausweis_ID (FK)</a:t>
            </a:r>
          </a:p>
        </p:txBody>
      </p:sp>
      <p:sp>
        <p:nvSpPr>
          <p:cNvPr id="98" name="Rechteck 97"/>
          <p:cNvSpPr/>
          <p:nvPr/>
        </p:nvSpPr>
        <p:spPr>
          <a:xfrm>
            <a:off x="6867132" y="3725204"/>
            <a:ext cx="1649402" cy="11937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99" name="Textfeld 98"/>
          <p:cNvSpPr txBox="1"/>
          <p:nvPr/>
        </p:nvSpPr>
        <p:spPr>
          <a:xfrm>
            <a:off x="6829663" y="3738986"/>
            <a:ext cx="172019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Person_ID </a:t>
            </a:r>
            <a:r>
              <a:rPr kumimoji="0" lang="de-DE" sz="1200" i="0" u="none" strike="noStrike" kern="1200" cap="none" spc="0" normalizeH="0" baseline="0" noProof="0" dirty="0">
                <a:ln>
                  <a:noFill/>
                </a:ln>
                <a:effectLst/>
                <a:uLnTx/>
                <a:uFillTx/>
                <a:latin typeface="Calibri" panose="020F0502020204030204"/>
                <a:ea typeface="+mn-ea"/>
                <a:cs typeface="+mn-cs"/>
              </a:rPr>
              <a:t>(PK)</a:t>
            </a:r>
          </a:p>
        </p:txBody>
      </p:sp>
      <p:sp>
        <p:nvSpPr>
          <p:cNvPr id="101" name="Textfeld 100"/>
          <p:cNvSpPr txBox="1"/>
          <p:nvPr/>
        </p:nvSpPr>
        <p:spPr>
          <a:xfrm>
            <a:off x="6848641" y="4329460"/>
            <a:ext cx="75366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Vorname</a:t>
            </a:r>
          </a:p>
        </p:txBody>
      </p:sp>
      <p:cxnSp>
        <p:nvCxnSpPr>
          <p:cNvPr id="102" name="Gerader Verbinder 101"/>
          <p:cNvCxnSpPr/>
          <p:nvPr/>
        </p:nvCxnSpPr>
        <p:spPr>
          <a:xfrm>
            <a:off x="6867132" y="4010142"/>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Gerader Verbinder 102"/>
          <p:cNvCxnSpPr/>
          <p:nvPr/>
        </p:nvCxnSpPr>
        <p:spPr>
          <a:xfrm>
            <a:off x="6867132" y="4295732"/>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Gerader Verbinder 103"/>
          <p:cNvCxnSpPr/>
          <p:nvPr/>
        </p:nvCxnSpPr>
        <p:spPr>
          <a:xfrm>
            <a:off x="6867132" y="4609854"/>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Textfeld 104"/>
          <p:cNvSpPr txBox="1"/>
          <p:nvPr/>
        </p:nvSpPr>
        <p:spPr>
          <a:xfrm>
            <a:off x="6860839" y="4634118"/>
            <a:ext cx="85792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Nachname</a:t>
            </a:r>
          </a:p>
        </p:txBody>
      </p:sp>
      <p:sp>
        <p:nvSpPr>
          <p:cNvPr id="106" name="Textfeld 105"/>
          <p:cNvSpPr txBox="1"/>
          <p:nvPr/>
        </p:nvSpPr>
        <p:spPr>
          <a:xfrm>
            <a:off x="6780214" y="3384953"/>
            <a:ext cx="76713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Person</a:t>
            </a:r>
          </a:p>
        </p:txBody>
      </p:sp>
    </p:spTree>
    <p:extLst>
      <p:ext uri="{BB962C8B-B14F-4D97-AF65-F5344CB8AC3E}">
        <p14:creationId xmlns:p14="http://schemas.microsoft.com/office/powerpoint/2010/main" val="316447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5" grpId="0" animBg="1"/>
      <p:bldP spid="30" grpId="0"/>
      <p:bldP spid="31" grpId="0"/>
      <p:bldP spid="32" grpId="0"/>
      <p:bldP spid="35" grpId="0"/>
      <p:bldP spid="38" grpId="0"/>
      <p:bldP spid="45" grpId="0" animBg="1"/>
      <p:bldP spid="46" grpId="0"/>
      <p:bldP spid="47" grpId="0"/>
      <p:bldP spid="48" grpId="0"/>
      <p:bldP spid="51" grpId="0"/>
      <p:bldP spid="14" grpId="0"/>
      <p:bldP spid="52" grpId="0"/>
      <p:bldP spid="15" grpId="0" animBg="1"/>
      <p:bldP spid="16" grpId="0"/>
      <p:bldP spid="60" grpId="0"/>
      <p:bldP spid="69" grpId="0"/>
      <p:bldP spid="71" grpId="0" animBg="1"/>
      <p:bldP spid="72" grpId="0"/>
      <p:bldP spid="74" grpId="0" animBg="1"/>
      <p:bldP spid="75" grpId="0"/>
      <p:bldP spid="77" grpId="0"/>
      <p:bldP spid="80" grpId="0"/>
      <p:bldP spid="81" grpId="0"/>
      <p:bldP spid="82" grpId="0"/>
      <p:bldP spid="98" grpId="0" animBg="1"/>
      <p:bldP spid="99" grpId="0"/>
      <p:bldP spid="101" grpId="0"/>
      <p:bldP spid="105" grpId="0"/>
      <p:bldP spid="10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208895" cy="720725"/>
          </a:xfrm>
        </p:spPr>
        <p:txBody>
          <a:bodyPr>
            <a:noAutofit/>
          </a:bodyPr>
          <a:lstStyle/>
          <a:p>
            <a:pPr algn="ctr"/>
            <a:r>
              <a:rPr lang="de-DE" dirty="0">
                <a:latin typeface="Source Sans Pro" panose="020B0503030403020204" pitchFamily="34" charset="0"/>
              </a:rPr>
              <a:t>Fremdschlüssel -&gt; </a:t>
            </a:r>
            <a:r>
              <a:rPr lang="de-DE" dirty="0">
                <a:solidFill>
                  <a:schemeClr val="accent2"/>
                </a:solidFill>
                <a:latin typeface="Source Sans Pro" panose="020B0503030403020204" pitchFamily="34" charset="0"/>
              </a:rPr>
              <a:t>1:n-Beziehung</a:t>
            </a:r>
            <a:endParaRPr lang="de-DE"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29" name="Textfeld 28"/>
          <p:cNvSpPr txBox="1"/>
          <p:nvPr/>
        </p:nvSpPr>
        <p:spPr>
          <a:xfrm>
            <a:off x="3613161" y="1271590"/>
            <a:ext cx="4960076" cy="923330"/>
          </a:xfrm>
          <a:prstGeom prst="rect">
            <a:avLst/>
          </a:prstGeom>
          <a:solidFill>
            <a:schemeClr val="bg2"/>
          </a:solidFill>
          <a:ln w="28575">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Beispiel: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Eine Person kann Eigentümer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mehrerer</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Autos sein.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Ein Auto hat nur </a:t>
            </a:r>
            <a:r>
              <a:rPr lang="de-DE" b="1" dirty="0">
                <a:solidFill>
                  <a:schemeClr val="accent2"/>
                </a:solidFill>
                <a:latin typeface="Calibri" panose="020F0502020204030204"/>
              </a:rPr>
              <a:t>1</a:t>
            </a:r>
            <a:r>
              <a:rPr lang="de-DE" dirty="0">
                <a:solidFill>
                  <a:srgbClr val="0071B2"/>
                </a:solidFill>
                <a:latin typeface="Calibri" panose="020F0502020204030204"/>
              </a:rPr>
              <a:t> Eigentümer.</a:t>
            </a: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Rechteck 24"/>
          <p:cNvSpPr/>
          <p:nvPr/>
        </p:nvSpPr>
        <p:spPr>
          <a:xfrm>
            <a:off x="4051077" y="3264720"/>
            <a:ext cx="1431109" cy="89369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30" name="Textfeld 29"/>
          <p:cNvSpPr txBox="1"/>
          <p:nvPr/>
        </p:nvSpPr>
        <p:spPr>
          <a:xfrm>
            <a:off x="4079936" y="3287438"/>
            <a:ext cx="111030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Person_ID </a:t>
            </a:r>
            <a:r>
              <a:rPr kumimoji="0" lang="de-DE" sz="1200" i="0" u="none" strike="noStrike" kern="1200" cap="none" spc="0" normalizeH="0" baseline="0" noProof="0" dirty="0">
                <a:ln>
                  <a:noFill/>
                </a:ln>
                <a:effectLst/>
                <a:uLnTx/>
                <a:uFillTx/>
                <a:latin typeface="Calibri" panose="020F0502020204030204"/>
                <a:ea typeface="+mn-ea"/>
                <a:cs typeface="+mn-cs"/>
              </a:rPr>
              <a:t>(PK)</a:t>
            </a:r>
          </a:p>
        </p:txBody>
      </p:sp>
      <p:sp>
        <p:nvSpPr>
          <p:cNvPr id="31" name="Textfeld 30"/>
          <p:cNvSpPr txBox="1"/>
          <p:nvPr/>
        </p:nvSpPr>
        <p:spPr>
          <a:xfrm>
            <a:off x="4079936" y="3572377"/>
            <a:ext cx="75366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Vorname</a:t>
            </a:r>
          </a:p>
        </p:txBody>
      </p:sp>
      <p:sp>
        <p:nvSpPr>
          <p:cNvPr id="32" name="Textfeld 31"/>
          <p:cNvSpPr txBox="1"/>
          <p:nvPr/>
        </p:nvSpPr>
        <p:spPr>
          <a:xfrm>
            <a:off x="4079936" y="3865395"/>
            <a:ext cx="85792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Nachname</a:t>
            </a:r>
          </a:p>
        </p:txBody>
      </p:sp>
      <p:cxnSp>
        <p:nvCxnSpPr>
          <p:cNvPr id="33" name="Gerader Verbinder 32"/>
          <p:cNvCxnSpPr/>
          <p:nvPr/>
        </p:nvCxnSpPr>
        <p:spPr>
          <a:xfrm>
            <a:off x="4051077" y="3549658"/>
            <a:ext cx="1431109" cy="147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p:nvPr/>
        </p:nvCxnSpPr>
        <p:spPr>
          <a:xfrm>
            <a:off x="4051077" y="3835248"/>
            <a:ext cx="1431109" cy="141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p:nvSpPr>
        <p:spPr>
          <a:xfrm>
            <a:off x="3984749" y="2902927"/>
            <a:ext cx="76713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Person</a:t>
            </a:r>
          </a:p>
        </p:txBody>
      </p:sp>
      <p:sp>
        <p:nvSpPr>
          <p:cNvPr id="38" name="Textfeld 37"/>
          <p:cNvSpPr txBox="1"/>
          <p:nvPr/>
        </p:nvSpPr>
        <p:spPr>
          <a:xfrm>
            <a:off x="5479329" y="3425186"/>
            <a:ext cx="979755" cy="215444"/>
          </a:xfrm>
          <a:prstGeom prst="rect">
            <a:avLst/>
          </a:prstGeom>
          <a:noFill/>
        </p:spPr>
        <p:txBody>
          <a:bodyPr wrap="none" rtlCol="0">
            <a:spAutoFit/>
          </a:bodyPr>
          <a:lstStyle/>
          <a:p>
            <a:r>
              <a:rPr lang="de-DE" sz="800" b="1" dirty="0"/>
              <a:t>ist Eigentümer von</a:t>
            </a:r>
          </a:p>
        </p:txBody>
      </p:sp>
      <p:sp>
        <p:nvSpPr>
          <p:cNvPr id="45" name="Rechteck 44"/>
          <p:cNvSpPr/>
          <p:nvPr/>
        </p:nvSpPr>
        <p:spPr>
          <a:xfrm>
            <a:off x="6456227" y="2971701"/>
            <a:ext cx="1649402" cy="89369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46" name="Textfeld 45"/>
          <p:cNvSpPr txBox="1"/>
          <p:nvPr/>
        </p:nvSpPr>
        <p:spPr>
          <a:xfrm>
            <a:off x="6456227" y="2994419"/>
            <a:ext cx="172019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Auto_ID </a:t>
            </a:r>
            <a:r>
              <a:rPr kumimoji="0" lang="de-DE" sz="1200" i="0" u="none" strike="noStrike" kern="1200" cap="none" spc="0" normalizeH="0" baseline="0" noProof="0" dirty="0">
                <a:ln>
                  <a:noFill/>
                </a:ln>
                <a:effectLst/>
                <a:uLnTx/>
                <a:uFillTx/>
                <a:latin typeface="Calibri" panose="020F0502020204030204"/>
                <a:ea typeface="+mn-ea"/>
                <a:cs typeface="+mn-cs"/>
              </a:rPr>
              <a:t>(PK)</a:t>
            </a:r>
          </a:p>
        </p:txBody>
      </p:sp>
      <p:sp>
        <p:nvSpPr>
          <p:cNvPr id="47" name="Textfeld 46"/>
          <p:cNvSpPr txBox="1"/>
          <p:nvPr/>
        </p:nvSpPr>
        <p:spPr>
          <a:xfrm>
            <a:off x="6466115" y="3279148"/>
            <a:ext cx="112447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solidFill>
                  <a:schemeClr val="accent2"/>
                </a:solidFill>
                <a:latin typeface="Calibri" panose="020F0502020204030204"/>
              </a:rPr>
              <a:t>Person_ID (FK)</a:t>
            </a:r>
            <a:endParaRPr kumimoji="0" lang="de-DE" sz="1200" b="1" i="0" u="none" strike="noStrike" kern="1200" cap="none" spc="0" normalizeH="0" baseline="0" noProof="0" dirty="0">
              <a:ln>
                <a:noFill/>
              </a:ln>
              <a:solidFill>
                <a:schemeClr val="accent2"/>
              </a:solidFill>
              <a:effectLst/>
              <a:uLnTx/>
              <a:uFillTx/>
              <a:latin typeface="Calibri" panose="020F0502020204030204"/>
            </a:endParaRPr>
          </a:p>
        </p:txBody>
      </p:sp>
      <p:sp>
        <p:nvSpPr>
          <p:cNvPr id="48" name="Textfeld 47"/>
          <p:cNvSpPr txBox="1"/>
          <p:nvPr/>
        </p:nvSpPr>
        <p:spPr>
          <a:xfrm>
            <a:off x="6466115" y="3572376"/>
            <a:ext cx="58528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effectLst/>
                <a:uLnTx/>
                <a:uFillTx/>
                <a:latin typeface="Calibri" panose="020F0502020204030204"/>
                <a:ea typeface="+mn-ea"/>
                <a:cs typeface="+mn-cs"/>
              </a:rPr>
              <a:t>Marke</a:t>
            </a:r>
          </a:p>
        </p:txBody>
      </p:sp>
      <p:cxnSp>
        <p:nvCxnSpPr>
          <p:cNvPr id="49" name="Gerader Verbinder 48"/>
          <p:cNvCxnSpPr/>
          <p:nvPr/>
        </p:nvCxnSpPr>
        <p:spPr>
          <a:xfrm>
            <a:off x="6456227" y="3256639"/>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Gerader Verbinder 49"/>
          <p:cNvCxnSpPr/>
          <p:nvPr/>
        </p:nvCxnSpPr>
        <p:spPr>
          <a:xfrm>
            <a:off x="6456227" y="3542229"/>
            <a:ext cx="16678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feld 50"/>
          <p:cNvSpPr txBox="1"/>
          <p:nvPr/>
        </p:nvSpPr>
        <p:spPr>
          <a:xfrm>
            <a:off x="6374351" y="2609908"/>
            <a:ext cx="59945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effectLst/>
                <a:uLnTx/>
                <a:uFillTx/>
                <a:latin typeface="Calibri" panose="020F0502020204030204"/>
                <a:ea typeface="+mn-ea"/>
                <a:cs typeface="+mn-cs"/>
              </a:rPr>
              <a:t>Auto</a:t>
            </a:r>
          </a:p>
        </p:txBody>
      </p:sp>
      <p:cxnSp>
        <p:nvCxnSpPr>
          <p:cNvPr id="9" name="Gerader Verbinder 8"/>
          <p:cNvCxnSpPr>
            <a:endCxn id="45" idx="1"/>
          </p:cNvCxnSpPr>
          <p:nvPr/>
        </p:nvCxnSpPr>
        <p:spPr>
          <a:xfrm>
            <a:off x="5482186" y="3411979"/>
            <a:ext cx="974041" cy="656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flipH="1">
            <a:off x="5435707" y="3236078"/>
            <a:ext cx="232757" cy="246221"/>
          </a:xfrm>
          <a:prstGeom prst="rect">
            <a:avLst/>
          </a:prstGeom>
          <a:noFill/>
        </p:spPr>
        <p:txBody>
          <a:bodyPr wrap="square" rtlCol="0">
            <a:spAutoFit/>
          </a:bodyPr>
          <a:lstStyle/>
          <a:p>
            <a:r>
              <a:rPr lang="de-DE" sz="1000" b="1" dirty="0">
                <a:solidFill>
                  <a:schemeClr val="accent2"/>
                </a:solidFill>
              </a:rPr>
              <a:t>1</a:t>
            </a:r>
          </a:p>
        </p:txBody>
      </p:sp>
      <p:sp>
        <p:nvSpPr>
          <p:cNvPr id="52" name="Textfeld 51"/>
          <p:cNvSpPr txBox="1"/>
          <p:nvPr/>
        </p:nvSpPr>
        <p:spPr>
          <a:xfrm flipH="1">
            <a:off x="6282390" y="3233191"/>
            <a:ext cx="232757" cy="246221"/>
          </a:xfrm>
          <a:prstGeom prst="rect">
            <a:avLst/>
          </a:prstGeom>
          <a:noFill/>
        </p:spPr>
        <p:txBody>
          <a:bodyPr wrap="square" rtlCol="0">
            <a:spAutoFit/>
          </a:bodyPr>
          <a:lstStyle/>
          <a:p>
            <a:r>
              <a:rPr lang="de-DE" sz="1000" b="1" dirty="0">
                <a:solidFill>
                  <a:schemeClr val="accent2"/>
                </a:solidFill>
              </a:rPr>
              <a:t>n</a:t>
            </a:r>
          </a:p>
        </p:txBody>
      </p:sp>
      <p:sp>
        <p:nvSpPr>
          <p:cNvPr id="15" name="Rechteck 14"/>
          <p:cNvSpPr/>
          <p:nvPr/>
        </p:nvSpPr>
        <p:spPr>
          <a:xfrm>
            <a:off x="3611878" y="2308261"/>
            <a:ext cx="4962641" cy="23691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3" name="Textfeld 52"/>
          <p:cNvSpPr txBox="1"/>
          <p:nvPr/>
        </p:nvSpPr>
        <p:spPr>
          <a:xfrm>
            <a:off x="2419120" y="4810390"/>
            <a:ext cx="7348165" cy="923330"/>
          </a:xfrm>
          <a:prstGeom prst="rect">
            <a:avLst/>
          </a:prstGeom>
          <a:solidFill>
            <a:schemeClr val="bg2"/>
          </a:solidFill>
          <a:ln w="28575">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Bei einer 1:n-Beziehung gibt es </a:t>
            </a:r>
            <a:r>
              <a:rPr kumimoji="0" lang="de-DE" sz="1800" b="1" i="0" u="sng" strike="noStrike" kern="1200" cap="none" spc="0" normalizeH="0" baseline="0" noProof="0" dirty="0">
                <a:ln>
                  <a:noFill/>
                </a:ln>
                <a:solidFill>
                  <a:srgbClr val="0071B2"/>
                </a:solidFill>
                <a:effectLst/>
                <a:uLnTx/>
                <a:uFillTx/>
                <a:latin typeface="Calibri" panose="020F0502020204030204"/>
                <a:ea typeface="+mn-ea"/>
                <a:cs typeface="+mn-cs"/>
              </a:rPr>
              <a:t>keine</a:t>
            </a: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 Alternative: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Der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Fremdschlüssel</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wird stets in der Tabelle mit Kardinalität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n</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eingetragen.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Dieser Fremdschlüssel referenziert auf den PK der Tabelle mit Kardinalität </a:t>
            </a:r>
            <a:r>
              <a:rPr lang="de-DE" b="1" dirty="0">
                <a:latin typeface="Calibri" panose="020F0502020204030204"/>
              </a:rPr>
              <a:t>1</a:t>
            </a:r>
            <a:r>
              <a:rPr lang="de-DE" dirty="0">
                <a:solidFill>
                  <a:srgbClr val="0071B2"/>
                </a:solidFill>
                <a:latin typeface="Calibri" panose="020F0502020204030204"/>
              </a:rPr>
              <a:t>.</a:t>
            </a: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23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5" grpId="0" animBg="1"/>
      <p:bldP spid="30" grpId="0"/>
      <p:bldP spid="31" grpId="0"/>
      <p:bldP spid="32" grpId="0"/>
      <p:bldP spid="35" grpId="0"/>
      <p:bldP spid="38" grpId="0"/>
      <p:bldP spid="45" grpId="0" animBg="1"/>
      <p:bldP spid="46" grpId="0"/>
      <p:bldP spid="47" grpId="0"/>
      <p:bldP spid="48" grpId="0"/>
      <p:bldP spid="51" grpId="0"/>
      <p:bldP spid="14" grpId="0"/>
      <p:bldP spid="52" grpId="0"/>
      <p:bldP spid="15" grpId="0" animBg="1"/>
      <p:bldP spid="5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208895" cy="720725"/>
          </a:xfrm>
        </p:spPr>
        <p:txBody>
          <a:bodyPr>
            <a:noAutofit/>
          </a:bodyPr>
          <a:lstStyle/>
          <a:p>
            <a:pPr algn="ctr"/>
            <a:r>
              <a:rPr lang="de-DE" sz="4000" dirty="0">
                <a:latin typeface="Source Sans Pro" panose="020B0503030403020204" pitchFamily="34" charset="0"/>
              </a:rPr>
              <a:t>Fremdschlüssel -&gt; m:n-Beziehung</a:t>
            </a:r>
            <a:r>
              <a:rPr lang="de-DE" sz="4000" dirty="0">
                <a:solidFill>
                  <a:schemeClr val="accent2"/>
                </a:solidFill>
                <a:latin typeface="Source Sans Pro" panose="020B0503030403020204" pitchFamily="34" charset="0"/>
              </a:rPr>
              <a:t> </a:t>
            </a:r>
            <a:r>
              <a:rPr lang="de-DE" sz="4000" dirty="0">
                <a:latin typeface="Source Sans Pro" panose="020B0503030403020204" pitchFamily="34" charset="0"/>
              </a:rPr>
              <a:t>-&gt; </a:t>
            </a:r>
            <a:r>
              <a:rPr lang="de-DE" sz="4000" dirty="0">
                <a:solidFill>
                  <a:schemeClr val="accent2"/>
                </a:solidFill>
                <a:latin typeface="Source Sans Pro" panose="020B0503030403020204" pitchFamily="34" charset="0"/>
              </a:rPr>
              <a:t>Hilfstabelle</a:t>
            </a:r>
            <a:endParaRPr lang="de-DE" sz="4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29" name="Textfeld 28"/>
          <p:cNvSpPr txBox="1"/>
          <p:nvPr/>
        </p:nvSpPr>
        <p:spPr>
          <a:xfrm>
            <a:off x="3276887" y="1271590"/>
            <a:ext cx="5632632" cy="923330"/>
          </a:xfrm>
          <a:prstGeom prst="rect">
            <a:avLst/>
          </a:prstGeom>
          <a:solidFill>
            <a:schemeClr val="bg2"/>
          </a:solidFill>
          <a:ln w="28575">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Beispiel: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Eine Person kann </a:t>
            </a:r>
            <a:r>
              <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rPr>
              <a:t>mehrere</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Lieder beherrschen.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Ein Lied kann von </a:t>
            </a:r>
            <a:r>
              <a:rPr lang="de-DE" b="1" dirty="0">
                <a:solidFill>
                  <a:schemeClr val="accent2"/>
                </a:solidFill>
                <a:latin typeface="Calibri" panose="020F0502020204030204"/>
              </a:rPr>
              <a:t>mehreren</a:t>
            </a:r>
            <a:r>
              <a:rPr lang="de-DE" dirty="0">
                <a:solidFill>
                  <a:srgbClr val="0071B2"/>
                </a:solidFill>
                <a:latin typeface="Calibri" panose="020F0502020204030204"/>
              </a:rPr>
              <a:t> Personen beherrscht werden.</a:t>
            </a: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aphicFrame>
        <p:nvGraphicFramePr>
          <p:cNvPr id="27" name="Tabelle 26"/>
          <p:cNvGraphicFramePr>
            <a:graphicFrameLocks noGrp="1"/>
          </p:cNvGraphicFramePr>
          <p:nvPr>
            <p:extLst>
              <p:ext uri="{D42A27DB-BD31-4B8C-83A1-F6EECF244321}">
                <p14:modId xmlns:p14="http://schemas.microsoft.com/office/powerpoint/2010/main" val="2279443190"/>
              </p:ext>
            </p:extLst>
          </p:nvPr>
        </p:nvGraphicFramePr>
        <p:xfrm>
          <a:off x="5289532" y="3291130"/>
          <a:ext cx="1634880" cy="1920240"/>
        </p:xfrm>
        <a:graphic>
          <a:graphicData uri="http://schemas.openxmlformats.org/drawingml/2006/table">
            <a:tbl>
              <a:tblPr firstRow="1" bandRow="1">
                <a:tableStyleId>{5C22544A-7EE6-4342-B048-85BDC9FD1C3A}</a:tableStyleId>
              </a:tblPr>
              <a:tblGrid>
                <a:gridCol w="836860">
                  <a:extLst>
                    <a:ext uri="{9D8B030D-6E8A-4147-A177-3AD203B41FA5}">
                      <a16:colId xmlns:a16="http://schemas.microsoft.com/office/drawing/2014/main" val="897148854"/>
                    </a:ext>
                  </a:extLst>
                </a:gridCol>
                <a:gridCol w="798020">
                  <a:extLst>
                    <a:ext uri="{9D8B030D-6E8A-4147-A177-3AD203B41FA5}">
                      <a16:colId xmlns:a16="http://schemas.microsoft.com/office/drawing/2014/main" val="1250397250"/>
                    </a:ext>
                  </a:extLst>
                </a:gridCol>
              </a:tblGrid>
              <a:tr h="251749">
                <a:tc>
                  <a:txBody>
                    <a:bodyPr/>
                    <a:lstStyle/>
                    <a:p>
                      <a:r>
                        <a:rPr lang="de-DE" sz="1200" b="1" dirty="0">
                          <a:solidFill>
                            <a:schemeClr val="accent2"/>
                          </a:solidFill>
                        </a:rPr>
                        <a:t>Person_ID</a:t>
                      </a:r>
                    </a:p>
                  </a:txBody>
                  <a:tcPr/>
                </a:tc>
                <a:tc>
                  <a:txBody>
                    <a:bodyPr/>
                    <a:lstStyle/>
                    <a:p>
                      <a:r>
                        <a:rPr lang="de-DE" sz="1200" dirty="0">
                          <a:solidFill>
                            <a:schemeClr val="accent2"/>
                          </a:solidFill>
                        </a:rPr>
                        <a:t>Lied_ID</a:t>
                      </a:r>
                      <a:r>
                        <a:rPr lang="de-DE" sz="1200" dirty="0"/>
                        <a:t>  </a:t>
                      </a:r>
                    </a:p>
                  </a:txBody>
                  <a:tcPr/>
                </a:tc>
                <a:extLst>
                  <a:ext uri="{0D108BD9-81ED-4DB2-BD59-A6C34878D82A}">
                    <a16:rowId xmlns:a16="http://schemas.microsoft.com/office/drawing/2014/main" val="222390635"/>
                  </a:ext>
                </a:extLst>
              </a:tr>
              <a:tr h="251749">
                <a:tc>
                  <a:txBody>
                    <a:bodyPr/>
                    <a:lstStyle/>
                    <a:p>
                      <a:r>
                        <a:rPr lang="de-DE" sz="1200" b="1" dirty="0">
                          <a:solidFill>
                            <a:schemeClr val="accent2"/>
                          </a:solidFill>
                        </a:rPr>
                        <a:t>1</a:t>
                      </a:r>
                    </a:p>
                  </a:txBody>
                  <a:tcPr/>
                </a:tc>
                <a:tc>
                  <a:txBody>
                    <a:bodyPr/>
                    <a:lstStyle/>
                    <a:p>
                      <a:r>
                        <a:rPr lang="de-DE" sz="1200" b="1" dirty="0">
                          <a:solidFill>
                            <a:schemeClr val="accent2"/>
                          </a:solidFill>
                        </a:rPr>
                        <a:t>2</a:t>
                      </a:r>
                    </a:p>
                  </a:txBody>
                  <a:tcPr/>
                </a:tc>
                <a:extLst>
                  <a:ext uri="{0D108BD9-81ED-4DB2-BD59-A6C34878D82A}">
                    <a16:rowId xmlns:a16="http://schemas.microsoft.com/office/drawing/2014/main" val="1244206545"/>
                  </a:ext>
                </a:extLst>
              </a:tr>
              <a:tr h="251749">
                <a:tc>
                  <a:txBody>
                    <a:bodyPr/>
                    <a:lstStyle/>
                    <a:p>
                      <a:r>
                        <a:rPr lang="de-DE" sz="1200" b="1" dirty="0">
                          <a:solidFill>
                            <a:schemeClr val="accent2"/>
                          </a:solidFill>
                        </a:rPr>
                        <a:t>3</a:t>
                      </a:r>
                    </a:p>
                  </a:txBody>
                  <a:tcPr/>
                </a:tc>
                <a:tc>
                  <a:txBody>
                    <a:bodyPr/>
                    <a:lstStyle/>
                    <a:p>
                      <a:r>
                        <a:rPr lang="de-DE" sz="1200" b="1" dirty="0">
                          <a:solidFill>
                            <a:schemeClr val="accent2"/>
                          </a:solidFill>
                        </a:rPr>
                        <a:t>1</a:t>
                      </a:r>
                    </a:p>
                  </a:txBody>
                  <a:tcPr/>
                </a:tc>
                <a:extLst>
                  <a:ext uri="{0D108BD9-81ED-4DB2-BD59-A6C34878D82A}">
                    <a16:rowId xmlns:a16="http://schemas.microsoft.com/office/drawing/2014/main" val="788923964"/>
                  </a:ext>
                </a:extLst>
              </a:tr>
              <a:tr h="251749">
                <a:tc>
                  <a:txBody>
                    <a:bodyPr/>
                    <a:lstStyle/>
                    <a:p>
                      <a:r>
                        <a:rPr lang="de-DE" sz="1200" b="1" dirty="0">
                          <a:solidFill>
                            <a:schemeClr val="accent2"/>
                          </a:solidFill>
                        </a:rPr>
                        <a:t>3</a:t>
                      </a:r>
                    </a:p>
                  </a:txBody>
                  <a:tcPr/>
                </a:tc>
                <a:tc>
                  <a:txBody>
                    <a:bodyPr/>
                    <a:lstStyle/>
                    <a:p>
                      <a:r>
                        <a:rPr lang="de-DE" sz="1200" b="1" dirty="0">
                          <a:solidFill>
                            <a:schemeClr val="accent2"/>
                          </a:solidFill>
                        </a:rPr>
                        <a:t>2</a:t>
                      </a:r>
                    </a:p>
                  </a:txBody>
                  <a:tcPr/>
                </a:tc>
                <a:extLst>
                  <a:ext uri="{0D108BD9-81ED-4DB2-BD59-A6C34878D82A}">
                    <a16:rowId xmlns:a16="http://schemas.microsoft.com/office/drawing/2014/main" val="3029020167"/>
                  </a:ext>
                </a:extLst>
              </a:tr>
              <a:tr h="251749">
                <a:tc>
                  <a:txBody>
                    <a:bodyPr/>
                    <a:lstStyle/>
                    <a:p>
                      <a:r>
                        <a:rPr lang="de-DE" sz="1200" b="1" dirty="0">
                          <a:solidFill>
                            <a:schemeClr val="accent2"/>
                          </a:solidFill>
                        </a:rPr>
                        <a:t>3</a:t>
                      </a:r>
                    </a:p>
                  </a:txBody>
                  <a:tcPr/>
                </a:tc>
                <a:tc>
                  <a:txBody>
                    <a:bodyPr/>
                    <a:lstStyle/>
                    <a:p>
                      <a:r>
                        <a:rPr lang="de-DE" sz="1200" b="1" dirty="0">
                          <a:solidFill>
                            <a:schemeClr val="accent2"/>
                          </a:solidFill>
                        </a:rPr>
                        <a:t>4</a:t>
                      </a:r>
                    </a:p>
                  </a:txBody>
                  <a:tcPr/>
                </a:tc>
                <a:extLst>
                  <a:ext uri="{0D108BD9-81ED-4DB2-BD59-A6C34878D82A}">
                    <a16:rowId xmlns:a16="http://schemas.microsoft.com/office/drawing/2014/main" val="2562175360"/>
                  </a:ext>
                </a:extLst>
              </a:tr>
              <a:tr h="251749">
                <a:tc>
                  <a:txBody>
                    <a:bodyPr/>
                    <a:lstStyle/>
                    <a:p>
                      <a:r>
                        <a:rPr lang="de-DE" sz="1200" b="1" dirty="0">
                          <a:solidFill>
                            <a:schemeClr val="accent2"/>
                          </a:solidFill>
                        </a:rPr>
                        <a:t>4</a:t>
                      </a:r>
                    </a:p>
                  </a:txBody>
                  <a:tcPr/>
                </a:tc>
                <a:tc>
                  <a:txBody>
                    <a:bodyPr/>
                    <a:lstStyle/>
                    <a:p>
                      <a:r>
                        <a:rPr lang="de-DE" sz="1200" b="1" dirty="0">
                          <a:solidFill>
                            <a:schemeClr val="accent2"/>
                          </a:solidFill>
                        </a:rPr>
                        <a:t>2</a:t>
                      </a:r>
                    </a:p>
                  </a:txBody>
                  <a:tcPr/>
                </a:tc>
                <a:extLst>
                  <a:ext uri="{0D108BD9-81ED-4DB2-BD59-A6C34878D82A}">
                    <a16:rowId xmlns:a16="http://schemas.microsoft.com/office/drawing/2014/main" val="3095590312"/>
                  </a:ext>
                </a:extLst>
              </a:tr>
              <a:tr h="251749">
                <a:tc>
                  <a:txBody>
                    <a:bodyPr/>
                    <a:lstStyle/>
                    <a:p>
                      <a:r>
                        <a:rPr lang="de-DE" sz="1200" b="1" dirty="0">
                          <a:solidFill>
                            <a:schemeClr val="accent2"/>
                          </a:solidFill>
                        </a:rPr>
                        <a:t>4</a:t>
                      </a:r>
                    </a:p>
                  </a:txBody>
                  <a:tcPr/>
                </a:tc>
                <a:tc>
                  <a:txBody>
                    <a:bodyPr/>
                    <a:lstStyle/>
                    <a:p>
                      <a:r>
                        <a:rPr lang="de-DE" sz="1200" b="1" dirty="0">
                          <a:solidFill>
                            <a:schemeClr val="accent2"/>
                          </a:solidFill>
                        </a:rPr>
                        <a:t>4</a:t>
                      </a:r>
                    </a:p>
                  </a:txBody>
                  <a:tcPr/>
                </a:tc>
                <a:extLst>
                  <a:ext uri="{0D108BD9-81ED-4DB2-BD59-A6C34878D82A}">
                    <a16:rowId xmlns:a16="http://schemas.microsoft.com/office/drawing/2014/main" val="1763902822"/>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1020410562"/>
              </p:ext>
            </p:extLst>
          </p:nvPr>
        </p:nvGraphicFramePr>
        <p:xfrm>
          <a:off x="952623" y="3291130"/>
          <a:ext cx="2555527" cy="1371600"/>
        </p:xfrm>
        <a:graphic>
          <a:graphicData uri="http://schemas.openxmlformats.org/drawingml/2006/table">
            <a:tbl>
              <a:tblPr firstRow="1" bandRow="1">
                <a:tableStyleId>{5C22544A-7EE6-4342-B048-85BDC9FD1C3A}</a:tableStyleId>
              </a:tblPr>
              <a:tblGrid>
                <a:gridCol w="864362">
                  <a:extLst>
                    <a:ext uri="{9D8B030D-6E8A-4147-A177-3AD203B41FA5}">
                      <a16:colId xmlns:a16="http://schemas.microsoft.com/office/drawing/2014/main" val="897148854"/>
                    </a:ext>
                  </a:extLst>
                </a:gridCol>
                <a:gridCol w="794957">
                  <a:extLst>
                    <a:ext uri="{9D8B030D-6E8A-4147-A177-3AD203B41FA5}">
                      <a16:colId xmlns:a16="http://schemas.microsoft.com/office/drawing/2014/main" val="1250397250"/>
                    </a:ext>
                  </a:extLst>
                </a:gridCol>
                <a:gridCol w="896208">
                  <a:extLst>
                    <a:ext uri="{9D8B030D-6E8A-4147-A177-3AD203B41FA5}">
                      <a16:colId xmlns:a16="http://schemas.microsoft.com/office/drawing/2014/main" val="2136345382"/>
                    </a:ext>
                  </a:extLst>
                </a:gridCol>
              </a:tblGrid>
              <a:tr h="251749">
                <a:tc>
                  <a:txBody>
                    <a:bodyPr/>
                    <a:lstStyle/>
                    <a:p>
                      <a:r>
                        <a:rPr lang="de-DE" sz="1200" b="1" dirty="0">
                          <a:solidFill>
                            <a:schemeClr val="bg1"/>
                          </a:solidFill>
                        </a:rPr>
                        <a:t>Person_ID</a:t>
                      </a:r>
                    </a:p>
                  </a:txBody>
                  <a:tcPr/>
                </a:tc>
                <a:tc>
                  <a:txBody>
                    <a:bodyPr/>
                    <a:lstStyle/>
                    <a:p>
                      <a:r>
                        <a:rPr lang="de-DE" sz="1200" dirty="0"/>
                        <a:t>Vorname</a:t>
                      </a:r>
                    </a:p>
                  </a:txBody>
                  <a:tcPr/>
                </a:tc>
                <a:tc>
                  <a:txBody>
                    <a:bodyPr/>
                    <a:lstStyle/>
                    <a:p>
                      <a:r>
                        <a:rPr lang="de-DE" sz="1200" dirty="0"/>
                        <a:t>Nachname</a:t>
                      </a:r>
                    </a:p>
                  </a:txBody>
                  <a:tcPr/>
                </a:tc>
                <a:extLst>
                  <a:ext uri="{0D108BD9-81ED-4DB2-BD59-A6C34878D82A}">
                    <a16:rowId xmlns:a16="http://schemas.microsoft.com/office/drawing/2014/main" val="222390635"/>
                  </a:ext>
                </a:extLst>
              </a:tr>
              <a:tr h="251749">
                <a:tc>
                  <a:txBody>
                    <a:bodyPr/>
                    <a:lstStyle/>
                    <a:p>
                      <a:r>
                        <a:rPr lang="de-DE" sz="1200" b="1" dirty="0">
                          <a:solidFill>
                            <a:schemeClr val="tx1"/>
                          </a:solidFill>
                        </a:rPr>
                        <a:t>1</a:t>
                      </a:r>
                    </a:p>
                  </a:txBody>
                  <a:tcPr/>
                </a:tc>
                <a:tc>
                  <a:txBody>
                    <a:bodyPr/>
                    <a:lstStyle/>
                    <a:p>
                      <a:r>
                        <a:rPr lang="de-DE" sz="1200" dirty="0"/>
                        <a:t>Klaus</a:t>
                      </a:r>
                    </a:p>
                  </a:txBody>
                  <a:tcPr/>
                </a:tc>
                <a:tc>
                  <a:txBody>
                    <a:bodyPr/>
                    <a:lstStyle/>
                    <a:p>
                      <a:r>
                        <a:rPr lang="de-DE" sz="1200" dirty="0"/>
                        <a:t>Müller</a:t>
                      </a:r>
                    </a:p>
                  </a:txBody>
                  <a:tcPr/>
                </a:tc>
                <a:extLst>
                  <a:ext uri="{0D108BD9-81ED-4DB2-BD59-A6C34878D82A}">
                    <a16:rowId xmlns:a16="http://schemas.microsoft.com/office/drawing/2014/main" val="1244206545"/>
                  </a:ext>
                </a:extLst>
              </a:tr>
              <a:tr h="251749">
                <a:tc>
                  <a:txBody>
                    <a:bodyPr/>
                    <a:lstStyle/>
                    <a:p>
                      <a:r>
                        <a:rPr lang="de-DE" sz="1200" b="1" dirty="0">
                          <a:solidFill>
                            <a:schemeClr val="tx1"/>
                          </a:solidFill>
                        </a:rPr>
                        <a:t>2</a:t>
                      </a:r>
                    </a:p>
                  </a:txBody>
                  <a:tcPr/>
                </a:tc>
                <a:tc>
                  <a:txBody>
                    <a:bodyPr/>
                    <a:lstStyle/>
                    <a:p>
                      <a:r>
                        <a:rPr lang="de-DE" sz="1200" dirty="0"/>
                        <a:t>Sigurd</a:t>
                      </a:r>
                    </a:p>
                  </a:txBody>
                  <a:tcPr/>
                </a:tc>
                <a:tc>
                  <a:txBody>
                    <a:bodyPr/>
                    <a:lstStyle/>
                    <a:p>
                      <a:r>
                        <a:rPr lang="de-DE" sz="1200" dirty="0"/>
                        <a:t>Singtnix</a:t>
                      </a:r>
                    </a:p>
                  </a:txBody>
                  <a:tcPr/>
                </a:tc>
                <a:extLst>
                  <a:ext uri="{0D108BD9-81ED-4DB2-BD59-A6C34878D82A}">
                    <a16:rowId xmlns:a16="http://schemas.microsoft.com/office/drawing/2014/main" val="1122941850"/>
                  </a:ext>
                </a:extLst>
              </a:tr>
              <a:tr h="251749">
                <a:tc>
                  <a:txBody>
                    <a:bodyPr/>
                    <a:lstStyle/>
                    <a:p>
                      <a:r>
                        <a:rPr lang="de-DE" sz="1200" b="1" dirty="0">
                          <a:solidFill>
                            <a:schemeClr val="tx1"/>
                          </a:solidFill>
                        </a:rPr>
                        <a:t>3</a:t>
                      </a:r>
                    </a:p>
                  </a:txBody>
                  <a:tcPr/>
                </a:tc>
                <a:tc>
                  <a:txBody>
                    <a:bodyPr/>
                    <a:lstStyle/>
                    <a:p>
                      <a:r>
                        <a:rPr lang="de-DE" sz="1200" dirty="0"/>
                        <a:t>Petra</a:t>
                      </a:r>
                    </a:p>
                  </a:txBody>
                  <a:tcPr/>
                </a:tc>
                <a:tc>
                  <a:txBody>
                    <a:bodyPr/>
                    <a:lstStyle/>
                    <a:p>
                      <a:r>
                        <a:rPr lang="de-DE" sz="1200" dirty="0"/>
                        <a:t>Bayram</a:t>
                      </a:r>
                    </a:p>
                  </a:txBody>
                  <a:tcPr/>
                </a:tc>
                <a:extLst>
                  <a:ext uri="{0D108BD9-81ED-4DB2-BD59-A6C34878D82A}">
                    <a16:rowId xmlns:a16="http://schemas.microsoft.com/office/drawing/2014/main" val="3029020167"/>
                  </a:ext>
                </a:extLst>
              </a:tr>
              <a:tr h="251749">
                <a:tc>
                  <a:txBody>
                    <a:bodyPr/>
                    <a:lstStyle/>
                    <a:p>
                      <a:r>
                        <a:rPr lang="de-DE" sz="1200" b="1" dirty="0">
                          <a:solidFill>
                            <a:schemeClr val="tx1"/>
                          </a:solidFill>
                        </a:rPr>
                        <a:t>4</a:t>
                      </a:r>
                    </a:p>
                  </a:txBody>
                  <a:tcPr/>
                </a:tc>
                <a:tc>
                  <a:txBody>
                    <a:bodyPr/>
                    <a:lstStyle/>
                    <a:p>
                      <a:r>
                        <a:rPr lang="de-DE" sz="1200" dirty="0"/>
                        <a:t>Sören</a:t>
                      </a:r>
                    </a:p>
                  </a:txBody>
                  <a:tcPr/>
                </a:tc>
                <a:tc>
                  <a:txBody>
                    <a:bodyPr/>
                    <a:lstStyle/>
                    <a:p>
                      <a:r>
                        <a:rPr lang="de-DE" sz="1200" dirty="0"/>
                        <a:t>Anderson</a:t>
                      </a:r>
                    </a:p>
                  </a:txBody>
                  <a:tcPr/>
                </a:tc>
                <a:extLst>
                  <a:ext uri="{0D108BD9-81ED-4DB2-BD59-A6C34878D82A}">
                    <a16:rowId xmlns:a16="http://schemas.microsoft.com/office/drawing/2014/main" val="1349317008"/>
                  </a:ext>
                </a:extLst>
              </a:tr>
            </a:tbl>
          </a:graphicData>
        </a:graphic>
      </p:graphicFrame>
      <p:cxnSp>
        <p:nvCxnSpPr>
          <p:cNvPr id="36" name="Gerader Verbinder 35"/>
          <p:cNvCxnSpPr/>
          <p:nvPr/>
        </p:nvCxnSpPr>
        <p:spPr>
          <a:xfrm>
            <a:off x="3513881" y="3429629"/>
            <a:ext cx="178138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7" name="Textfeld 36"/>
          <p:cNvSpPr txBox="1"/>
          <p:nvPr/>
        </p:nvSpPr>
        <p:spPr>
          <a:xfrm>
            <a:off x="3932431" y="3152630"/>
            <a:ext cx="858697" cy="276999"/>
          </a:xfrm>
          <a:prstGeom prst="rect">
            <a:avLst/>
          </a:prstGeom>
          <a:noFill/>
        </p:spPr>
        <p:txBody>
          <a:bodyPr wrap="none" rtlCol="0">
            <a:spAutoFit/>
          </a:bodyPr>
          <a:lstStyle/>
          <a:p>
            <a:r>
              <a:rPr lang="de-DE" sz="1200" dirty="0"/>
              <a:t>beherrscht</a:t>
            </a:r>
          </a:p>
        </p:txBody>
      </p:sp>
      <p:sp>
        <p:nvSpPr>
          <p:cNvPr id="39" name="Rechteck 38"/>
          <p:cNvSpPr/>
          <p:nvPr/>
        </p:nvSpPr>
        <p:spPr>
          <a:xfrm>
            <a:off x="952623" y="3291129"/>
            <a:ext cx="859729" cy="1355067"/>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0" name="Textfeld 39"/>
          <p:cNvSpPr txBox="1"/>
          <p:nvPr/>
        </p:nvSpPr>
        <p:spPr>
          <a:xfrm>
            <a:off x="807669" y="3012252"/>
            <a:ext cx="1416926" cy="307777"/>
          </a:xfrm>
          <a:prstGeom prst="rect">
            <a:avLst/>
          </a:prstGeom>
          <a:noFill/>
        </p:spPr>
        <p:txBody>
          <a:bodyPr wrap="none" rtlCol="0">
            <a:spAutoFit/>
          </a:bodyPr>
          <a:lstStyle/>
          <a:p>
            <a:r>
              <a:rPr lang="de-DE" sz="1400" b="1" dirty="0">
                <a:solidFill>
                  <a:schemeClr val="bg2">
                    <a:lumMod val="75000"/>
                  </a:schemeClr>
                </a:solidFill>
              </a:rPr>
              <a:t>Tabelle „Person“</a:t>
            </a:r>
          </a:p>
        </p:txBody>
      </p:sp>
      <p:sp>
        <p:nvSpPr>
          <p:cNvPr id="41" name="Textfeld 40"/>
          <p:cNvSpPr txBox="1"/>
          <p:nvPr/>
        </p:nvSpPr>
        <p:spPr>
          <a:xfrm>
            <a:off x="5074956" y="3012252"/>
            <a:ext cx="2129814" cy="307777"/>
          </a:xfrm>
          <a:prstGeom prst="rect">
            <a:avLst/>
          </a:prstGeom>
          <a:noFill/>
        </p:spPr>
        <p:txBody>
          <a:bodyPr wrap="none" rtlCol="0">
            <a:spAutoFit/>
          </a:bodyPr>
          <a:lstStyle/>
          <a:p>
            <a:r>
              <a:rPr lang="de-DE" sz="1400" b="1" dirty="0">
                <a:solidFill>
                  <a:schemeClr val="accent2"/>
                </a:solidFill>
              </a:rPr>
              <a:t>Hilfstabelle</a:t>
            </a:r>
            <a:r>
              <a:rPr lang="de-DE" sz="1400" b="1" dirty="0">
                <a:solidFill>
                  <a:schemeClr val="bg2">
                    <a:lumMod val="75000"/>
                  </a:schemeClr>
                </a:solidFill>
              </a:rPr>
              <a:t> „Person_Lied“</a:t>
            </a:r>
          </a:p>
        </p:txBody>
      </p:sp>
      <p:sp>
        <p:nvSpPr>
          <p:cNvPr id="42" name="Textfeld 41"/>
          <p:cNvSpPr txBox="1"/>
          <p:nvPr/>
        </p:nvSpPr>
        <p:spPr>
          <a:xfrm>
            <a:off x="833298" y="4625196"/>
            <a:ext cx="1098378" cy="261610"/>
          </a:xfrm>
          <a:prstGeom prst="rect">
            <a:avLst/>
          </a:prstGeom>
          <a:noFill/>
        </p:spPr>
        <p:txBody>
          <a:bodyPr wrap="none" rtlCol="0">
            <a:spAutoFit/>
          </a:bodyPr>
          <a:lstStyle/>
          <a:p>
            <a:r>
              <a:rPr lang="de-DE" sz="1100" b="1" dirty="0"/>
              <a:t>Primärschlüssel</a:t>
            </a:r>
          </a:p>
        </p:txBody>
      </p:sp>
      <p:sp>
        <p:nvSpPr>
          <p:cNvPr id="43" name="Textfeld 42"/>
          <p:cNvSpPr txBox="1"/>
          <p:nvPr/>
        </p:nvSpPr>
        <p:spPr>
          <a:xfrm>
            <a:off x="5515302" y="5186791"/>
            <a:ext cx="1183337" cy="261610"/>
          </a:xfrm>
          <a:prstGeom prst="rect">
            <a:avLst/>
          </a:prstGeom>
          <a:noFill/>
        </p:spPr>
        <p:txBody>
          <a:bodyPr wrap="none" rtlCol="0">
            <a:spAutoFit/>
          </a:bodyPr>
          <a:lstStyle/>
          <a:p>
            <a:r>
              <a:rPr lang="de-DE" sz="1100" b="1" dirty="0"/>
              <a:t>2 Fremdschlüssel</a:t>
            </a:r>
          </a:p>
        </p:txBody>
      </p:sp>
      <p:sp>
        <p:nvSpPr>
          <p:cNvPr id="54" name="Rechteck 53"/>
          <p:cNvSpPr/>
          <p:nvPr/>
        </p:nvSpPr>
        <p:spPr>
          <a:xfrm>
            <a:off x="5289531" y="3291129"/>
            <a:ext cx="1634881" cy="1920241"/>
          </a:xfrm>
          <a:prstGeom prst="rect">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aphicFrame>
        <p:nvGraphicFramePr>
          <p:cNvPr id="55" name="Tabelle 54"/>
          <p:cNvGraphicFramePr>
            <a:graphicFrameLocks noGrp="1"/>
          </p:cNvGraphicFramePr>
          <p:nvPr>
            <p:extLst>
              <p:ext uri="{D42A27DB-BD31-4B8C-83A1-F6EECF244321}">
                <p14:modId xmlns:p14="http://schemas.microsoft.com/office/powerpoint/2010/main" val="4162543009"/>
              </p:ext>
            </p:extLst>
          </p:nvPr>
        </p:nvGraphicFramePr>
        <p:xfrm>
          <a:off x="8737520" y="3279200"/>
          <a:ext cx="2446973" cy="1371600"/>
        </p:xfrm>
        <a:graphic>
          <a:graphicData uri="http://schemas.openxmlformats.org/drawingml/2006/table">
            <a:tbl>
              <a:tblPr firstRow="1" bandRow="1">
                <a:tableStyleId>{5C22544A-7EE6-4342-B048-85BDC9FD1C3A}</a:tableStyleId>
              </a:tblPr>
              <a:tblGrid>
                <a:gridCol w="864362">
                  <a:extLst>
                    <a:ext uri="{9D8B030D-6E8A-4147-A177-3AD203B41FA5}">
                      <a16:colId xmlns:a16="http://schemas.microsoft.com/office/drawing/2014/main" val="897148854"/>
                    </a:ext>
                  </a:extLst>
                </a:gridCol>
                <a:gridCol w="1582611">
                  <a:extLst>
                    <a:ext uri="{9D8B030D-6E8A-4147-A177-3AD203B41FA5}">
                      <a16:colId xmlns:a16="http://schemas.microsoft.com/office/drawing/2014/main" val="1250397250"/>
                    </a:ext>
                  </a:extLst>
                </a:gridCol>
              </a:tblGrid>
              <a:tr h="251749">
                <a:tc>
                  <a:txBody>
                    <a:bodyPr/>
                    <a:lstStyle/>
                    <a:p>
                      <a:r>
                        <a:rPr lang="de-DE" sz="1200" b="1" dirty="0">
                          <a:solidFill>
                            <a:schemeClr val="bg1"/>
                          </a:solidFill>
                        </a:rPr>
                        <a:t>Lied_ID</a:t>
                      </a:r>
                    </a:p>
                  </a:txBody>
                  <a:tcPr/>
                </a:tc>
                <a:tc>
                  <a:txBody>
                    <a:bodyPr/>
                    <a:lstStyle/>
                    <a:p>
                      <a:r>
                        <a:rPr lang="de-DE" sz="1200" dirty="0"/>
                        <a:t>Titel</a:t>
                      </a:r>
                    </a:p>
                  </a:txBody>
                  <a:tcPr/>
                </a:tc>
                <a:extLst>
                  <a:ext uri="{0D108BD9-81ED-4DB2-BD59-A6C34878D82A}">
                    <a16:rowId xmlns:a16="http://schemas.microsoft.com/office/drawing/2014/main" val="222390635"/>
                  </a:ext>
                </a:extLst>
              </a:tr>
              <a:tr h="251749">
                <a:tc>
                  <a:txBody>
                    <a:bodyPr/>
                    <a:lstStyle/>
                    <a:p>
                      <a:r>
                        <a:rPr lang="de-DE" sz="1200" b="1" dirty="0">
                          <a:solidFill>
                            <a:schemeClr val="tx1"/>
                          </a:solidFill>
                        </a:rPr>
                        <a:t>1</a:t>
                      </a:r>
                    </a:p>
                  </a:txBody>
                  <a:tcPr/>
                </a:tc>
                <a:tc>
                  <a:txBody>
                    <a:bodyPr/>
                    <a:lstStyle/>
                    <a:p>
                      <a:r>
                        <a:rPr lang="de-DE" sz="1200" dirty="0"/>
                        <a:t>Alle meine Entchen</a:t>
                      </a:r>
                    </a:p>
                  </a:txBody>
                  <a:tcPr/>
                </a:tc>
                <a:extLst>
                  <a:ext uri="{0D108BD9-81ED-4DB2-BD59-A6C34878D82A}">
                    <a16:rowId xmlns:a16="http://schemas.microsoft.com/office/drawing/2014/main" val="1244206545"/>
                  </a:ext>
                </a:extLst>
              </a:tr>
              <a:tr h="251749">
                <a:tc>
                  <a:txBody>
                    <a:bodyPr/>
                    <a:lstStyle/>
                    <a:p>
                      <a:r>
                        <a:rPr lang="de-DE" sz="1200" b="1" dirty="0">
                          <a:solidFill>
                            <a:schemeClr val="tx1"/>
                          </a:solidFill>
                        </a:rPr>
                        <a:t>2</a:t>
                      </a:r>
                    </a:p>
                  </a:txBody>
                  <a:tcPr/>
                </a:tc>
                <a:tc>
                  <a:txBody>
                    <a:bodyPr/>
                    <a:lstStyle/>
                    <a:p>
                      <a:r>
                        <a:rPr lang="de-DE" sz="1200" dirty="0"/>
                        <a:t>Nothing Compares 2U</a:t>
                      </a:r>
                    </a:p>
                  </a:txBody>
                  <a:tcPr/>
                </a:tc>
                <a:extLst>
                  <a:ext uri="{0D108BD9-81ED-4DB2-BD59-A6C34878D82A}">
                    <a16:rowId xmlns:a16="http://schemas.microsoft.com/office/drawing/2014/main" val="788923964"/>
                  </a:ext>
                </a:extLst>
              </a:tr>
              <a:tr h="251749">
                <a:tc>
                  <a:txBody>
                    <a:bodyPr/>
                    <a:lstStyle/>
                    <a:p>
                      <a:r>
                        <a:rPr lang="de-DE" sz="1200" b="1" dirty="0">
                          <a:solidFill>
                            <a:schemeClr val="tx1"/>
                          </a:solidFill>
                        </a:rPr>
                        <a:t>3</a:t>
                      </a:r>
                    </a:p>
                  </a:txBody>
                  <a:tcPr/>
                </a:tc>
                <a:tc>
                  <a:txBody>
                    <a:bodyPr/>
                    <a:lstStyle/>
                    <a:p>
                      <a:r>
                        <a:rPr lang="de-DE" sz="1200" dirty="0"/>
                        <a:t>Unsingable</a:t>
                      </a:r>
                    </a:p>
                  </a:txBody>
                  <a:tcPr/>
                </a:tc>
                <a:extLst>
                  <a:ext uri="{0D108BD9-81ED-4DB2-BD59-A6C34878D82A}">
                    <a16:rowId xmlns:a16="http://schemas.microsoft.com/office/drawing/2014/main" val="2689535928"/>
                  </a:ext>
                </a:extLst>
              </a:tr>
              <a:tr h="251749">
                <a:tc>
                  <a:txBody>
                    <a:bodyPr/>
                    <a:lstStyle/>
                    <a:p>
                      <a:r>
                        <a:rPr lang="de-DE" sz="1200" b="1" dirty="0">
                          <a:solidFill>
                            <a:schemeClr val="tx1"/>
                          </a:solidFill>
                        </a:rPr>
                        <a:t>4</a:t>
                      </a:r>
                    </a:p>
                  </a:txBody>
                  <a:tcPr/>
                </a:tc>
                <a:tc>
                  <a:txBody>
                    <a:bodyPr/>
                    <a:lstStyle/>
                    <a:p>
                      <a:r>
                        <a:rPr lang="de-DE" sz="1200" dirty="0"/>
                        <a:t>La Le Lu</a:t>
                      </a:r>
                    </a:p>
                  </a:txBody>
                  <a:tcPr/>
                </a:tc>
                <a:extLst>
                  <a:ext uri="{0D108BD9-81ED-4DB2-BD59-A6C34878D82A}">
                    <a16:rowId xmlns:a16="http://schemas.microsoft.com/office/drawing/2014/main" val="3029020167"/>
                  </a:ext>
                </a:extLst>
              </a:tr>
            </a:tbl>
          </a:graphicData>
        </a:graphic>
      </p:graphicFrame>
      <p:sp>
        <p:nvSpPr>
          <p:cNvPr id="56" name="Rechteck 55"/>
          <p:cNvSpPr/>
          <p:nvPr/>
        </p:nvSpPr>
        <p:spPr>
          <a:xfrm>
            <a:off x="8737520" y="3279200"/>
            <a:ext cx="859729" cy="1366996"/>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7" name="Textfeld 56"/>
          <p:cNvSpPr txBox="1"/>
          <p:nvPr/>
        </p:nvSpPr>
        <p:spPr>
          <a:xfrm>
            <a:off x="8592566" y="3000322"/>
            <a:ext cx="1216230" cy="307777"/>
          </a:xfrm>
          <a:prstGeom prst="rect">
            <a:avLst/>
          </a:prstGeom>
          <a:noFill/>
        </p:spPr>
        <p:txBody>
          <a:bodyPr wrap="none" rtlCol="0">
            <a:spAutoFit/>
          </a:bodyPr>
          <a:lstStyle/>
          <a:p>
            <a:r>
              <a:rPr lang="de-DE" sz="1400" b="1" dirty="0">
                <a:solidFill>
                  <a:schemeClr val="bg2">
                    <a:lumMod val="75000"/>
                  </a:schemeClr>
                </a:solidFill>
              </a:rPr>
              <a:t>Tabelle „Lied“</a:t>
            </a:r>
          </a:p>
        </p:txBody>
      </p:sp>
      <p:sp>
        <p:nvSpPr>
          <p:cNvPr id="58" name="Textfeld 57"/>
          <p:cNvSpPr txBox="1"/>
          <p:nvPr/>
        </p:nvSpPr>
        <p:spPr>
          <a:xfrm>
            <a:off x="8618195" y="4618553"/>
            <a:ext cx="1098378" cy="261610"/>
          </a:xfrm>
          <a:prstGeom prst="rect">
            <a:avLst/>
          </a:prstGeom>
          <a:noFill/>
        </p:spPr>
        <p:txBody>
          <a:bodyPr wrap="none" rtlCol="0">
            <a:spAutoFit/>
          </a:bodyPr>
          <a:lstStyle/>
          <a:p>
            <a:r>
              <a:rPr lang="de-DE" sz="1100" b="1" dirty="0"/>
              <a:t>Primärschlüssel</a:t>
            </a:r>
          </a:p>
        </p:txBody>
      </p:sp>
      <p:cxnSp>
        <p:nvCxnSpPr>
          <p:cNvPr id="59" name="Gerader Verbinder 58"/>
          <p:cNvCxnSpPr/>
          <p:nvPr/>
        </p:nvCxnSpPr>
        <p:spPr>
          <a:xfrm>
            <a:off x="6963355" y="3417699"/>
            <a:ext cx="178138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0" name="Textfeld 59"/>
          <p:cNvSpPr txBox="1"/>
          <p:nvPr/>
        </p:nvSpPr>
        <p:spPr>
          <a:xfrm>
            <a:off x="7381905" y="3140700"/>
            <a:ext cx="858697" cy="276999"/>
          </a:xfrm>
          <a:prstGeom prst="rect">
            <a:avLst/>
          </a:prstGeom>
          <a:noFill/>
        </p:spPr>
        <p:txBody>
          <a:bodyPr wrap="none" rtlCol="0">
            <a:spAutoFit/>
          </a:bodyPr>
          <a:lstStyle/>
          <a:p>
            <a:r>
              <a:rPr lang="de-DE" sz="1200" dirty="0"/>
              <a:t>beherrscht</a:t>
            </a:r>
          </a:p>
        </p:txBody>
      </p:sp>
      <p:sp>
        <p:nvSpPr>
          <p:cNvPr id="2" name="Textfeld 1"/>
          <p:cNvSpPr txBox="1"/>
          <p:nvPr/>
        </p:nvSpPr>
        <p:spPr>
          <a:xfrm>
            <a:off x="3465921" y="3193998"/>
            <a:ext cx="330540" cy="307777"/>
          </a:xfrm>
          <a:prstGeom prst="rect">
            <a:avLst/>
          </a:prstGeom>
          <a:noFill/>
        </p:spPr>
        <p:txBody>
          <a:bodyPr wrap="none" rtlCol="0">
            <a:spAutoFit/>
          </a:bodyPr>
          <a:lstStyle/>
          <a:p>
            <a:r>
              <a:rPr lang="de-DE" sz="1400" b="1" dirty="0">
                <a:solidFill>
                  <a:schemeClr val="accent2"/>
                </a:solidFill>
              </a:rPr>
              <a:t>m</a:t>
            </a:r>
          </a:p>
        </p:txBody>
      </p:sp>
      <p:sp>
        <p:nvSpPr>
          <p:cNvPr id="63" name="Textfeld 62"/>
          <p:cNvSpPr txBox="1"/>
          <p:nvPr/>
        </p:nvSpPr>
        <p:spPr>
          <a:xfrm>
            <a:off x="8518729" y="3191719"/>
            <a:ext cx="280846" cy="307777"/>
          </a:xfrm>
          <a:prstGeom prst="rect">
            <a:avLst/>
          </a:prstGeom>
          <a:noFill/>
        </p:spPr>
        <p:txBody>
          <a:bodyPr wrap="none" rtlCol="0">
            <a:spAutoFit/>
          </a:bodyPr>
          <a:lstStyle/>
          <a:p>
            <a:r>
              <a:rPr lang="de-DE" sz="1400" b="1" dirty="0">
                <a:solidFill>
                  <a:schemeClr val="accent2"/>
                </a:solidFill>
              </a:rPr>
              <a:t>n</a:t>
            </a:r>
          </a:p>
        </p:txBody>
      </p:sp>
    </p:spTree>
    <p:extLst>
      <p:ext uri="{BB962C8B-B14F-4D97-AF65-F5344CB8AC3E}">
        <p14:creationId xmlns:p14="http://schemas.microsoft.com/office/powerpoint/2010/main" val="71196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7" grpId="0"/>
      <p:bldP spid="39" grpId="0" animBg="1"/>
      <p:bldP spid="40" grpId="0"/>
      <p:bldP spid="41" grpId="0"/>
      <p:bldP spid="42" grpId="0"/>
      <p:bldP spid="43" grpId="0"/>
      <p:bldP spid="54" grpId="0" animBg="1"/>
      <p:bldP spid="56" grpId="0" animBg="1"/>
      <p:bldP spid="57" grpId="0"/>
      <p:bldP spid="58" grpId="0"/>
      <p:bldP spid="60" grpId="0"/>
      <p:bldP spid="2" grpId="0"/>
      <p:bldP spid="6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208895" cy="720725"/>
          </a:xfrm>
        </p:spPr>
        <p:txBody>
          <a:bodyPr>
            <a:noAutofit/>
          </a:bodyPr>
          <a:lstStyle/>
          <a:p>
            <a:pPr algn="ctr"/>
            <a:r>
              <a:rPr lang="de-DE" dirty="0">
                <a:solidFill>
                  <a:schemeClr val="accent2"/>
                </a:solidFill>
                <a:latin typeface="Source Sans Pro" panose="020B0503030403020204" pitchFamily="34" charset="0"/>
              </a:rPr>
              <a:t>Hilfstabelle</a:t>
            </a:r>
            <a:r>
              <a:rPr lang="de-DE" dirty="0">
                <a:latin typeface="Source Sans Pro" panose="020B0503030403020204" pitchFamily="34" charset="0"/>
              </a:rPr>
              <a:t> im RDB-Schema</a:t>
            </a:r>
            <a:r>
              <a:rPr lang="de-DE" dirty="0">
                <a:solidFill>
                  <a:schemeClr val="accent2"/>
                </a:solidFill>
                <a:latin typeface="Source Sans Pro" panose="020B0503030403020204" pitchFamily="34" charset="0"/>
              </a:rPr>
              <a:t> </a:t>
            </a:r>
            <a:endParaRPr lang="de-DE"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21" name="Rechteck 20"/>
          <p:cNvSpPr/>
          <p:nvPr/>
        </p:nvSpPr>
        <p:spPr>
          <a:xfrm>
            <a:off x="8833121" y="3140932"/>
            <a:ext cx="2687216" cy="82355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22" name="Textfeld 21"/>
          <p:cNvSpPr txBox="1"/>
          <p:nvPr/>
        </p:nvSpPr>
        <p:spPr>
          <a:xfrm>
            <a:off x="8861980" y="3164689"/>
            <a:ext cx="13211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Lied_ID (PK)</a:t>
            </a:r>
          </a:p>
        </p:txBody>
      </p:sp>
      <p:sp>
        <p:nvSpPr>
          <p:cNvPr id="23" name="Textfeld 22"/>
          <p:cNvSpPr txBox="1"/>
          <p:nvPr/>
        </p:nvSpPr>
        <p:spPr>
          <a:xfrm>
            <a:off x="8861980" y="3564590"/>
            <a:ext cx="5925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Titel</a:t>
            </a:r>
            <a:endParaRPr kumimoji="0" lang="de-DE" sz="1800" b="1" i="0" u="none" strike="noStrike" kern="1200" cap="none" spc="0" normalizeH="0" baseline="0" noProof="0" dirty="0">
              <a:ln>
                <a:noFill/>
              </a:ln>
              <a:solidFill>
                <a:srgbClr val="FE5000"/>
              </a:solidFill>
              <a:effectLst/>
              <a:uLnTx/>
              <a:uFillTx/>
              <a:latin typeface="Calibri" panose="020F0502020204030204"/>
              <a:ea typeface="+mn-ea"/>
              <a:cs typeface="+mn-cs"/>
            </a:endParaRPr>
          </a:p>
        </p:txBody>
      </p:sp>
      <p:cxnSp>
        <p:nvCxnSpPr>
          <p:cNvPr id="26" name="Gerader Verbinder 25"/>
          <p:cNvCxnSpPr/>
          <p:nvPr/>
        </p:nvCxnSpPr>
        <p:spPr>
          <a:xfrm>
            <a:off x="8833121" y="3534021"/>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a:off x="8833121" y="3964491"/>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feld 27"/>
          <p:cNvSpPr txBox="1"/>
          <p:nvPr/>
        </p:nvSpPr>
        <p:spPr>
          <a:xfrm>
            <a:off x="8804404" y="2780178"/>
            <a:ext cx="5341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Lied</a:t>
            </a:r>
          </a:p>
        </p:txBody>
      </p:sp>
      <p:sp>
        <p:nvSpPr>
          <p:cNvPr id="29" name="Textfeld 28"/>
          <p:cNvSpPr txBox="1"/>
          <p:nvPr/>
        </p:nvSpPr>
        <p:spPr>
          <a:xfrm>
            <a:off x="2037618" y="4546050"/>
            <a:ext cx="7974875" cy="923330"/>
          </a:xfrm>
          <a:prstGeom prst="rect">
            <a:avLst/>
          </a:prstGeom>
          <a:solidFill>
            <a:schemeClr val="bg2"/>
          </a:solidFill>
          <a:ln w="28575">
            <a:solidFill>
              <a:schemeClr val="tx1"/>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Hinweis: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In der Praxis kann es sinnvoll sein, auch die </a:t>
            </a: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Daten-Typen</a:t>
            </a: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 aller Attribute anzugeben.</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solidFill>
                  <a:srgbClr val="0071B2"/>
                </a:solidFill>
                <a:latin typeface="Calibri" panose="020F0502020204030204"/>
              </a:rPr>
              <a:t>Die IHK verlangt dies jedoch nicht, daher verzichten auch wir darauf.</a:t>
            </a: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5" name="Rechteck 24"/>
          <p:cNvSpPr/>
          <p:nvPr/>
        </p:nvSpPr>
        <p:spPr>
          <a:xfrm>
            <a:off x="611970" y="2761485"/>
            <a:ext cx="2687216" cy="129695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30" name="Textfeld 29"/>
          <p:cNvSpPr txBox="1"/>
          <p:nvPr/>
        </p:nvSpPr>
        <p:spPr>
          <a:xfrm>
            <a:off x="640829" y="2784204"/>
            <a:ext cx="1586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Person_ID (PK)</a:t>
            </a:r>
          </a:p>
        </p:txBody>
      </p:sp>
      <p:sp>
        <p:nvSpPr>
          <p:cNvPr id="31" name="Textfeld 30"/>
          <p:cNvSpPr txBox="1"/>
          <p:nvPr/>
        </p:nvSpPr>
        <p:spPr>
          <a:xfrm>
            <a:off x="640829" y="3184105"/>
            <a:ext cx="10406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Vorname</a:t>
            </a:r>
          </a:p>
        </p:txBody>
      </p:sp>
      <p:sp>
        <p:nvSpPr>
          <p:cNvPr id="32" name="Textfeld 31"/>
          <p:cNvSpPr txBox="1"/>
          <p:nvPr/>
        </p:nvSpPr>
        <p:spPr>
          <a:xfrm>
            <a:off x="640829" y="3584006"/>
            <a:ext cx="119616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Nachname</a:t>
            </a:r>
          </a:p>
        </p:txBody>
      </p:sp>
      <p:cxnSp>
        <p:nvCxnSpPr>
          <p:cNvPr id="33" name="Gerader Verbinder 32"/>
          <p:cNvCxnSpPr/>
          <p:nvPr/>
        </p:nvCxnSpPr>
        <p:spPr>
          <a:xfrm>
            <a:off x="611970" y="3153536"/>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p:nvPr/>
        </p:nvCxnSpPr>
        <p:spPr>
          <a:xfrm>
            <a:off x="611970" y="3584006"/>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p:nvSpPr>
        <p:spPr>
          <a:xfrm>
            <a:off x="545642" y="2399693"/>
            <a:ext cx="76713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0071B2"/>
                </a:solidFill>
                <a:effectLst/>
                <a:uLnTx/>
                <a:uFillTx/>
                <a:latin typeface="Calibri" panose="020F0502020204030204"/>
                <a:ea typeface="+mn-ea"/>
                <a:cs typeface="+mn-cs"/>
              </a:rPr>
              <a:t>Person</a:t>
            </a:r>
          </a:p>
        </p:txBody>
      </p:sp>
      <p:cxnSp>
        <p:nvCxnSpPr>
          <p:cNvPr id="3" name="Gerader Verbinder 2"/>
          <p:cNvCxnSpPr/>
          <p:nvPr/>
        </p:nvCxnSpPr>
        <p:spPr>
          <a:xfrm flipV="1">
            <a:off x="3328045" y="2979818"/>
            <a:ext cx="1408930" cy="11362"/>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feld 37"/>
          <p:cNvSpPr txBox="1"/>
          <p:nvPr/>
        </p:nvSpPr>
        <p:spPr>
          <a:xfrm>
            <a:off x="3500884" y="2993855"/>
            <a:ext cx="98713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71B2"/>
                </a:solidFill>
                <a:effectLst/>
                <a:uLnTx/>
                <a:uFillTx/>
                <a:latin typeface="Calibri" panose="020F0502020204030204"/>
                <a:ea typeface="+mn-ea"/>
                <a:cs typeface="+mn-cs"/>
              </a:rPr>
              <a:t>beherrscht</a:t>
            </a:r>
          </a:p>
        </p:txBody>
      </p:sp>
      <p:sp>
        <p:nvSpPr>
          <p:cNvPr id="39" name="Rechteck 38"/>
          <p:cNvSpPr/>
          <p:nvPr/>
        </p:nvSpPr>
        <p:spPr>
          <a:xfrm>
            <a:off x="4736975" y="2717274"/>
            <a:ext cx="2687216" cy="82355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endParaRPr>
          </a:p>
        </p:txBody>
      </p:sp>
      <p:sp>
        <p:nvSpPr>
          <p:cNvPr id="40" name="Textfeld 39"/>
          <p:cNvSpPr txBox="1"/>
          <p:nvPr/>
        </p:nvSpPr>
        <p:spPr>
          <a:xfrm>
            <a:off x="4765834" y="2741031"/>
            <a:ext cx="15594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chemeClr val="accent2"/>
                </a:solidFill>
                <a:effectLst/>
                <a:uLnTx/>
                <a:uFillTx/>
                <a:latin typeface="Calibri" panose="020F0502020204030204"/>
                <a:ea typeface="+mn-ea"/>
                <a:cs typeface="+mn-cs"/>
              </a:rPr>
              <a:t>Person_ID (FK)</a:t>
            </a:r>
          </a:p>
        </p:txBody>
      </p:sp>
      <p:sp>
        <p:nvSpPr>
          <p:cNvPr id="41" name="Textfeld 40"/>
          <p:cNvSpPr txBox="1"/>
          <p:nvPr/>
        </p:nvSpPr>
        <p:spPr>
          <a:xfrm>
            <a:off x="4765834" y="3140932"/>
            <a:ext cx="13083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chemeClr val="accent2"/>
                </a:solidFill>
                <a:effectLst/>
                <a:uLnTx/>
                <a:uFillTx/>
                <a:latin typeface="Calibri" panose="020F0502020204030204"/>
                <a:ea typeface="+mn-ea"/>
                <a:cs typeface="+mn-cs"/>
              </a:rPr>
              <a:t>Lied_ID (FK)</a:t>
            </a:r>
            <a:endParaRPr kumimoji="0" lang="de-DE" sz="1800" b="1" i="0" u="none" strike="noStrike" kern="1200" cap="none" spc="0" normalizeH="0" baseline="0" noProof="0" dirty="0">
              <a:ln>
                <a:noFill/>
              </a:ln>
              <a:solidFill>
                <a:schemeClr val="accent2"/>
              </a:solidFill>
              <a:effectLst/>
              <a:uLnTx/>
              <a:uFillTx/>
              <a:latin typeface="Calibri" panose="020F0502020204030204"/>
              <a:ea typeface="+mn-ea"/>
              <a:cs typeface="+mn-cs"/>
            </a:endParaRPr>
          </a:p>
        </p:txBody>
      </p:sp>
      <p:cxnSp>
        <p:nvCxnSpPr>
          <p:cNvPr id="42" name="Gerader Verbinder 41"/>
          <p:cNvCxnSpPr/>
          <p:nvPr/>
        </p:nvCxnSpPr>
        <p:spPr>
          <a:xfrm>
            <a:off x="4736975" y="3110363"/>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Gerader Verbinder 42"/>
          <p:cNvCxnSpPr/>
          <p:nvPr/>
        </p:nvCxnSpPr>
        <p:spPr>
          <a:xfrm>
            <a:off x="4736975" y="3540833"/>
            <a:ext cx="26872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feld 43"/>
          <p:cNvSpPr txBox="1"/>
          <p:nvPr/>
        </p:nvSpPr>
        <p:spPr>
          <a:xfrm>
            <a:off x="4704443" y="2358024"/>
            <a:ext cx="121918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2"/>
                </a:solidFill>
                <a:effectLst/>
                <a:uLnTx/>
                <a:uFillTx/>
                <a:latin typeface="Calibri" panose="020F0502020204030204"/>
                <a:ea typeface="+mn-ea"/>
                <a:cs typeface="+mn-cs"/>
              </a:rPr>
              <a:t>Person_Lied</a:t>
            </a:r>
          </a:p>
        </p:txBody>
      </p:sp>
      <p:cxnSp>
        <p:nvCxnSpPr>
          <p:cNvPr id="45" name="Gerader Verbinder 44"/>
          <p:cNvCxnSpPr/>
          <p:nvPr/>
        </p:nvCxnSpPr>
        <p:spPr>
          <a:xfrm flipV="1">
            <a:off x="7427253" y="3335527"/>
            <a:ext cx="1408930" cy="11362"/>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feld 45"/>
          <p:cNvSpPr txBox="1"/>
          <p:nvPr/>
        </p:nvSpPr>
        <p:spPr>
          <a:xfrm>
            <a:off x="7600092" y="3349564"/>
            <a:ext cx="98713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71B2"/>
                </a:solidFill>
                <a:effectLst/>
                <a:uLnTx/>
                <a:uFillTx/>
                <a:latin typeface="Calibri" panose="020F0502020204030204"/>
                <a:ea typeface="+mn-ea"/>
                <a:cs typeface="+mn-cs"/>
              </a:rPr>
              <a:t>beherrscht</a:t>
            </a:r>
          </a:p>
        </p:txBody>
      </p:sp>
      <p:sp>
        <p:nvSpPr>
          <p:cNvPr id="8" name="Textfeld 7"/>
          <p:cNvSpPr txBox="1"/>
          <p:nvPr/>
        </p:nvSpPr>
        <p:spPr>
          <a:xfrm>
            <a:off x="3281488" y="2666266"/>
            <a:ext cx="369012" cy="369332"/>
          </a:xfrm>
          <a:prstGeom prst="rect">
            <a:avLst/>
          </a:prstGeom>
          <a:noFill/>
        </p:spPr>
        <p:txBody>
          <a:bodyPr wrap="none" rtlCol="0">
            <a:spAutoFit/>
          </a:bodyPr>
          <a:lstStyle/>
          <a:p>
            <a:r>
              <a:rPr lang="de-DE" b="1" dirty="0">
                <a:solidFill>
                  <a:schemeClr val="accent2"/>
                </a:solidFill>
              </a:rPr>
              <a:t>m</a:t>
            </a:r>
          </a:p>
        </p:txBody>
      </p:sp>
      <p:sp>
        <p:nvSpPr>
          <p:cNvPr id="47" name="Textfeld 46"/>
          <p:cNvSpPr txBox="1"/>
          <p:nvPr/>
        </p:nvSpPr>
        <p:spPr>
          <a:xfrm>
            <a:off x="8470233" y="3007788"/>
            <a:ext cx="308098" cy="369332"/>
          </a:xfrm>
          <a:prstGeom prst="rect">
            <a:avLst/>
          </a:prstGeom>
          <a:noFill/>
        </p:spPr>
        <p:txBody>
          <a:bodyPr wrap="none" rtlCol="0">
            <a:spAutoFit/>
          </a:bodyPr>
          <a:lstStyle/>
          <a:p>
            <a:r>
              <a:rPr lang="de-DE" b="1" dirty="0">
                <a:solidFill>
                  <a:schemeClr val="accent2"/>
                </a:solidFill>
              </a:rPr>
              <a:t>n</a:t>
            </a:r>
          </a:p>
        </p:txBody>
      </p:sp>
    </p:spTree>
    <p:extLst>
      <p:ext uri="{BB962C8B-B14F-4D97-AF65-F5344CB8AC3E}">
        <p14:creationId xmlns:p14="http://schemas.microsoft.com/office/powerpoint/2010/main" val="398870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A_01_04_01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4736430" y="1296786"/>
            <a:ext cx="3120018" cy="4427141"/>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1009</Words>
  <Application>Microsoft Office PowerPoint</Application>
  <PresentationFormat>Breitbild</PresentationFormat>
  <Paragraphs>293</Paragraphs>
  <Slides>17</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17</vt:i4>
      </vt:variant>
    </vt:vector>
  </HeadingPairs>
  <TitlesOfParts>
    <vt:vector size="23" baseType="lpstr">
      <vt:lpstr>Arial</vt:lpstr>
      <vt:lpstr>Calibri</vt:lpstr>
      <vt:lpstr>Courier New</vt:lpstr>
      <vt:lpstr>Source Sans Pro</vt:lpstr>
      <vt:lpstr>Wingdings</vt:lpstr>
      <vt:lpstr>1_Office</vt:lpstr>
      <vt:lpstr>Datenbanken und SQL</vt:lpstr>
      <vt:lpstr>Agenda</vt:lpstr>
      <vt:lpstr>PowerPoint-Präsentation</vt:lpstr>
      <vt:lpstr>Tabelle (Relation) -&gt; Definition + Motivation</vt:lpstr>
      <vt:lpstr>Entitätstyp (im ERD)     -&gt;  Tabelle (im RDB-Schema)</vt:lpstr>
      <vt:lpstr>PowerPoint-Präsentation</vt:lpstr>
      <vt:lpstr>Primärschlüssel -&gt; Definition + Motivation</vt:lpstr>
      <vt:lpstr>Primärschlüssel („PRIMARY KEY“) im RDB-Schema </vt:lpstr>
      <vt:lpstr>PowerPoint-Präsentation</vt:lpstr>
      <vt:lpstr>Fremdschlüssel -&gt; Definition + Motivation</vt:lpstr>
      <vt:lpstr>Fremdschlüssel („FOREIGN KEY“) im RDB-Schema </vt:lpstr>
      <vt:lpstr>Fremdschlüssel -&gt; 1:1-Beziehung</vt:lpstr>
      <vt:lpstr>Fremdschlüssel -&gt; 1:n-Beziehung</vt:lpstr>
      <vt:lpstr>Fremdschlüssel -&gt; m:n-Beziehung -&gt; Hilfstabelle</vt:lpstr>
      <vt:lpstr>Hilfstabelle im RDB-Schema </vt:lpstr>
      <vt:lpstr>Gemeinsame Übung („Live-Coding“) -&gt; A_01_04_01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271</cp:revision>
  <dcterms:created xsi:type="dcterms:W3CDTF">2022-02-01T13:48:14Z</dcterms:created>
  <dcterms:modified xsi:type="dcterms:W3CDTF">2026-02-03T12:41:37Z</dcterms:modified>
</cp:coreProperties>
</file>