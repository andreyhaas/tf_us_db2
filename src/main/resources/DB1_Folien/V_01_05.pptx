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8" r:id="rId5"/>
    <p:sldId id="282" r:id="rId6"/>
    <p:sldId id="300" r:id="rId7"/>
    <p:sldId id="317" r:id="rId8"/>
    <p:sldId id="301" r:id="rId9"/>
    <p:sldId id="302" r:id="rId10"/>
    <p:sldId id="303" r:id="rId11"/>
    <p:sldId id="304" r:id="rId12"/>
    <p:sldId id="305" r:id="rId13"/>
    <p:sldId id="306" r:id="rId14"/>
    <p:sldId id="307" r:id="rId15"/>
    <p:sldId id="308" r:id="rId16"/>
    <p:sldId id="309" r:id="rId17"/>
    <p:sldId id="319" r:id="rId18"/>
    <p:sldId id="318" r:id="rId19"/>
    <p:sldId id="310" r:id="rId20"/>
    <p:sldId id="311" r:id="rId21"/>
    <p:sldId id="312" r:id="rId22"/>
    <p:sldId id="313" r:id="rId23"/>
    <p:sldId id="314" r:id="rId24"/>
    <p:sldId id="315" r:id="rId25"/>
    <p:sldId id="316" r:id="rId26"/>
    <p:sldId id="277" r:id="rId27"/>
    <p:sldId id="259" r:id="rId2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01.07.2022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01.07.2022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01.07.2022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01.07.2022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01.07.2022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01.07.2022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01.07.2022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01.07.2022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01.07.2022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01.07.2022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01.07.2022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01.07.2022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1 - Tag 5)</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389596"/>
            <a:ext cx="10713719" cy="3754874"/>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b="1" dirty="0" smtClean="0">
                <a:latin typeface="Source Sans Pro" panose="020B0503030403020204" pitchFamily="34" charset="0"/>
              </a:rPr>
              <a:t>Normalisierung – Qualitätsstandard für Datenbanken</a:t>
            </a:r>
          </a:p>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dirty="0" smtClean="0">
                <a:latin typeface="Source Sans Pro" panose="020B0503030403020204" pitchFamily="34" charset="0"/>
              </a:rPr>
              <a:t>1. Normalform (1. NF)</a:t>
            </a:r>
            <a:endParaRPr lang="de-DE" sz="1200" dirty="0" smtClean="0">
              <a:latin typeface="Source Sans Pro" panose="020B0503030403020204" pitchFamily="34" charset="0"/>
            </a:endParaRPr>
          </a:p>
          <a:p>
            <a:pPr marL="1085850" lvl="2" indent="-171450">
              <a:buFont typeface="Courier New" panose="02070309020205020404" pitchFamily="49" charset="0"/>
              <a:buChar char="o"/>
            </a:pPr>
            <a:r>
              <a:rPr lang="de-DE" sz="1200" dirty="0" smtClean="0">
                <a:latin typeface="Source Sans Pro" panose="020B0503030403020204" pitchFamily="34" charset="0"/>
              </a:rPr>
              <a:t>Definition</a:t>
            </a:r>
          </a:p>
          <a:p>
            <a:pPr marL="1085850" lvl="2" indent="-171450">
              <a:buFont typeface="Courier New" panose="02070309020205020404" pitchFamily="49" charset="0"/>
              <a:buChar char="o"/>
            </a:pPr>
            <a:r>
              <a:rPr lang="de-DE" sz="1200" dirty="0" smtClean="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B</a:t>
            </a:r>
            <a:r>
              <a:rPr lang="de-DE" sz="1200" dirty="0" smtClean="0">
                <a:latin typeface="Source Sans Pro" panose="020B0503030403020204" pitchFamily="34" charset="0"/>
              </a:rPr>
              <a:t>eispiel</a:t>
            </a:r>
          </a:p>
          <a:p>
            <a:pPr lvl="2"/>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dirty="0" smtClean="0">
                <a:latin typeface="Source Sans Pro" panose="020B0503030403020204" pitchFamily="34" charset="0"/>
              </a:rPr>
              <a:t>2. Normalform (2. NF)</a:t>
            </a:r>
            <a:endParaRPr lang="de-DE" sz="1200" dirty="0">
              <a:latin typeface="Source Sans Pro" panose="020B0503030403020204" pitchFamily="34" charset="0"/>
            </a:endParaRP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Beispiel</a:t>
            </a:r>
          </a:p>
          <a:p>
            <a:pPr lvl="2"/>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dirty="0" smtClean="0">
                <a:latin typeface="Source Sans Pro" panose="020B0503030403020204" pitchFamily="34" charset="0"/>
              </a:rPr>
              <a:t>3. Normalform (3. NF)</a:t>
            </a:r>
            <a:endParaRPr lang="de-DE" sz="1200" dirty="0">
              <a:latin typeface="Source Sans Pro" panose="020B0503030403020204" pitchFamily="34" charset="0"/>
            </a:endParaRPr>
          </a:p>
          <a:p>
            <a:pPr marL="1085850" lvl="2" indent="-171450">
              <a:buFont typeface="Courier New" panose="02070309020205020404" pitchFamily="49" charset="0"/>
              <a:buChar char="o"/>
            </a:pPr>
            <a:r>
              <a:rPr lang="de-DE" sz="1200" dirty="0">
                <a:latin typeface="Source Sans Pro" panose="020B0503030403020204" pitchFamily="34" charset="0"/>
              </a:rPr>
              <a:t>Definition</a:t>
            </a:r>
          </a:p>
          <a:p>
            <a:pPr marL="1085850" lvl="2" indent="-171450">
              <a:buFont typeface="Courier New" panose="02070309020205020404" pitchFamily="49" charset="0"/>
              <a:buChar char="o"/>
            </a:pPr>
            <a:r>
              <a:rPr lang="de-DE" sz="1200" dirty="0">
                <a:latin typeface="Source Sans Pro" panose="020B0503030403020204" pitchFamily="34" charset="0"/>
              </a:rPr>
              <a:t>Motivation</a:t>
            </a:r>
          </a:p>
          <a:p>
            <a:pPr marL="1085850" lvl="2" indent="-171450">
              <a:buFont typeface="Courier New" panose="02070309020205020404" pitchFamily="49" charset="0"/>
              <a:buChar char="o"/>
            </a:pPr>
            <a:r>
              <a:rPr lang="de-DE" sz="1200" dirty="0">
                <a:latin typeface="Source Sans Pro" panose="020B0503030403020204" pitchFamily="34" charset="0"/>
              </a:rPr>
              <a:t>Beispiel</a:t>
            </a:r>
          </a:p>
          <a:p>
            <a:pPr lvl="2"/>
            <a:endParaRPr lang="de-DE" sz="800" dirty="0" smtClean="0">
              <a:latin typeface="Source Sans Pro" panose="020B0503030403020204" pitchFamily="34" charset="0"/>
            </a:endParaRPr>
          </a:p>
          <a:p>
            <a:pPr marL="1085850" lvl="2" indent="-171450">
              <a:buFont typeface="Courier New" panose="02070309020205020404" pitchFamily="49" charset="0"/>
              <a:buChar char="o"/>
            </a:pPr>
            <a:endParaRPr lang="de-DE" sz="800"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1. Normalform</a:t>
            </a:r>
            <a:endParaRPr lang="de-DE" sz="66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a:bodyPr>
          <a:lstStyle/>
          <a:p>
            <a:r>
              <a:rPr lang="de-DE" dirty="0" smtClean="0">
                <a:latin typeface="Source Sans Pro" panose="020B0503030403020204" pitchFamily="34" charset="0"/>
              </a:rPr>
              <a:t>1. Normalform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9" y="2332095"/>
            <a:ext cx="10725540" cy="2554545"/>
          </a:xfrm>
          <a:prstGeom prst="rect">
            <a:avLst/>
          </a:prstGeom>
          <a:noFill/>
        </p:spPr>
        <p:txBody>
          <a:bodyPr wrap="square" rtlCol="0">
            <a:spAutoFit/>
          </a:bodyPr>
          <a:lstStyle/>
          <a:p>
            <a:pPr marL="342900" indent="-342900">
              <a:buFont typeface="Arial" panose="020B0604020202020204" pitchFamily="34" charset="0"/>
              <a:buChar char="•"/>
            </a:pPr>
            <a:r>
              <a:rPr lang="de-DE" sz="2400" dirty="0" smtClean="0">
                <a:latin typeface="Source Sans Pro" panose="020B0503030403020204" pitchFamily="34" charset="0"/>
              </a:rPr>
              <a:t>Eine Relationale Datenbank erfüllt die </a:t>
            </a:r>
            <a:r>
              <a:rPr lang="de-DE" sz="2400" b="1" dirty="0" smtClean="0">
                <a:latin typeface="Source Sans Pro" panose="020B0503030403020204" pitchFamily="34" charset="0"/>
              </a:rPr>
              <a:t>1. Normalform</a:t>
            </a:r>
            <a:r>
              <a:rPr lang="de-DE" sz="2400" dirty="0" smtClean="0">
                <a:latin typeface="Source Sans Pro" panose="020B0503030403020204" pitchFamily="34" charset="0"/>
              </a:rPr>
              <a:t>, wenn kein Attribut einer Tabelle existiert, dessen Informationsgehalt in eigenständige Teil-Informationen zerlegt werden kann.</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Man spricht in diesem Fall davon, dass alle Attribute </a:t>
            </a:r>
            <a:r>
              <a:rPr lang="de-DE" sz="2400" b="1" dirty="0" smtClean="0">
                <a:latin typeface="Source Sans Pro" panose="020B0503030403020204" pitchFamily="34" charset="0"/>
              </a:rPr>
              <a:t>„atomar“ </a:t>
            </a:r>
            <a:r>
              <a:rPr lang="de-DE" sz="1600" dirty="0" smtClean="0">
                <a:latin typeface="Source Sans Pro" panose="020B0503030403020204" pitchFamily="34" charset="0"/>
              </a:rPr>
              <a:t>(also „unteilbar“) </a:t>
            </a:r>
            <a:r>
              <a:rPr lang="de-DE" sz="2400" dirty="0" smtClean="0">
                <a:latin typeface="Source Sans Pro" panose="020B0503030403020204" pitchFamily="34" charset="0"/>
              </a:rPr>
              <a:t>sind. </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Entsprechend wird der Bearbeitungs-Prozess einer Datenbank, mit dessen Hilfe die 1. Normalform erreicht werden soll, auch als </a:t>
            </a:r>
            <a:r>
              <a:rPr lang="de-DE" sz="2400" b="1" dirty="0" smtClean="0">
                <a:latin typeface="Source Sans Pro" panose="020B0503030403020204" pitchFamily="34" charset="0"/>
              </a:rPr>
              <a:t>„Atomisierung“ </a:t>
            </a:r>
            <a:r>
              <a:rPr lang="de-DE" sz="2400" dirty="0" smtClean="0">
                <a:latin typeface="Source Sans Pro" panose="020B0503030403020204" pitchFamily="34" charset="0"/>
              </a:rPr>
              <a:t>bezeichnet.</a:t>
            </a:r>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1. Normalform -&gt; </a:t>
            </a:r>
            <a:r>
              <a:rPr lang="de-DE" dirty="0" smtClean="0">
                <a:latin typeface="Source Sans Pro" panose="020B0503030403020204" pitchFamily="34" charset="0"/>
              </a:rPr>
              <a:t>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8" y="2332095"/>
            <a:ext cx="11300505" cy="2308324"/>
          </a:xfrm>
          <a:prstGeom prst="rect">
            <a:avLst/>
          </a:prstGeom>
          <a:noFill/>
        </p:spPr>
        <p:txBody>
          <a:bodyPr wrap="square" rtlCol="0">
            <a:spAutoFit/>
          </a:bodyPr>
          <a:lstStyle/>
          <a:p>
            <a:pPr marL="342900" indent="-342900">
              <a:buFont typeface="Arial" panose="020B0604020202020204" pitchFamily="34" charset="0"/>
              <a:buChar char="•"/>
            </a:pPr>
            <a:r>
              <a:rPr lang="de-DE" sz="2400" dirty="0" smtClean="0">
                <a:latin typeface="Source Sans Pro" panose="020B0503030403020204" pitchFamily="34" charset="0"/>
              </a:rPr>
              <a:t>Zu den zentralen Aufgaben einer Datenbank zählt es, </a:t>
            </a:r>
            <a:r>
              <a:rPr lang="de-DE" sz="2400" b="1" dirty="0" smtClean="0">
                <a:latin typeface="Source Sans Pro" panose="020B0503030403020204" pitchFamily="34" charset="0"/>
              </a:rPr>
              <a:t>Informationen</a:t>
            </a:r>
            <a:r>
              <a:rPr lang="de-DE" sz="2400" dirty="0" smtClean="0">
                <a:latin typeface="Source Sans Pro" panose="020B0503030403020204" pitchFamily="34" charset="0"/>
              </a:rPr>
              <a:t> bereitzuhalten, um diese bei entsprechenden Abfragen zur Verfügung stellen zu können.</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Solche Abfragen können aber </a:t>
            </a:r>
            <a:r>
              <a:rPr lang="de-DE" sz="2400" b="1" dirty="0" smtClean="0">
                <a:latin typeface="Source Sans Pro" panose="020B0503030403020204" pitchFamily="34" charset="0"/>
              </a:rPr>
              <a:t>erschwert</a:t>
            </a:r>
            <a:r>
              <a:rPr lang="de-DE" sz="2400" dirty="0" smtClean="0">
                <a:latin typeface="Source Sans Pro" panose="020B0503030403020204" pitchFamily="34" charset="0"/>
              </a:rPr>
              <a:t> (oder gegebenenfalls unmöglich) werden falls mehrere Informationen innerhalb eines einzigen Attributes „vermengt“ wurden.</a:t>
            </a:r>
          </a:p>
          <a:p>
            <a:pPr marL="342900" indent="-342900">
              <a:buFont typeface="Arial" panose="020B0604020202020204" pitchFamily="34" charset="0"/>
              <a:buChar char="•"/>
            </a:pPr>
            <a:endParaRPr lang="de-DE" sz="800" dirty="0" smtClean="0">
              <a:latin typeface="Source Sans Pro" panose="020B0503030403020204" pitchFamily="34" charset="0"/>
            </a:endParaRPr>
          </a:p>
          <a:p>
            <a:pPr marL="342900" indent="-342900">
              <a:buFont typeface="Arial" panose="020B0604020202020204" pitchFamily="34" charset="0"/>
              <a:buChar char="•"/>
            </a:pPr>
            <a:r>
              <a:rPr lang="de-DE" sz="2400" dirty="0" smtClean="0">
                <a:latin typeface="Source Sans Pro" panose="020B0503030403020204" pitchFamily="34" charset="0"/>
              </a:rPr>
              <a:t>Mittels der </a:t>
            </a:r>
            <a:r>
              <a:rPr lang="de-DE" sz="2400" b="1" dirty="0" smtClean="0">
                <a:latin typeface="Source Sans Pro" panose="020B0503030403020204" pitchFamily="34" charset="0"/>
              </a:rPr>
              <a:t>Atomisierung</a:t>
            </a:r>
            <a:r>
              <a:rPr lang="de-DE" sz="2400" dirty="0" smtClean="0">
                <a:latin typeface="Source Sans Pro" panose="020B0503030403020204" pitchFamily="34" charset="0"/>
              </a:rPr>
              <a:t> wird eine solche „Vermengung“ rückgängig gemacht.</a:t>
            </a:r>
          </a:p>
          <a:p>
            <a:pPr marL="342900" indent="-342900">
              <a:buFont typeface="Arial" panose="020B0604020202020204" pitchFamily="34" charset="0"/>
              <a:buChar char="•"/>
            </a:pPr>
            <a:endParaRPr lang="de-DE" sz="800" dirty="0" smtClean="0">
              <a:latin typeface="Source Sans Pro" panose="020B0503030403020204" pitchFamily="34" charset="0"/>
            </a:endParaRPr>
          </a:p>
        </p:txBody>
      </p:sp>
    </p:spTree>
    <p:extLst>
      <p:ext uri="{BB962C8B-B14F-4D97-AF65-F5344CB8AC3E}">
        <p14:creationId xmlns:p14="http://schemas.microsoft.com/office/powerpoint/2010/main" val="104315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1. Normalform -&gt; </a:t>
            </a:r>
            <a:r>
              <a:rPr lang="de-DE" dirty="0" smtClean="0">
                <a:latin typeface="Source Sans Pro" panose="020B0503030403020204" pitchFamily="34" charset="0"/>
              </a:rPr>
              <a:t>Beispiel</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2" name="Tabelle 1"/>
          <p:cNvGraphicFramePr>
            <a:graphicFrameLocks noGrp="1"/>
          </p:cNvGraphicFramePr>
          <p:nvPr>
            <p:extLst>
              <p:ext uri="{D42A27DB-BD31-4B8C-83A1-F6EECF244321}">
                <p14:modId xmlns:p14="http://schemas.microsoft.com/office/powerpoint/2010/main" val="2301630294"/>
              </p:ext>
            </p:extLst>
          </p:nvPr>
        </p:nvGraphicFramePr>
        <p:xfrm>
          <a:off x="1994097" y="1515744"/>
          <a:ext cx="8225220" cy="148336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1237261657"/>
                    </a:ext>
                  </a:extLst>
                </a:gridCol>
                <a:gridCol w="1946085">
                  <a:extLst>
                    <a:ext uri="{9D8B030D-6E8A-4147-A177-3AD203B41FA5}">
                      <a16:colId xmlns:a16="http://schemas.microsoft.com/office/drawing/2014/main" val="4025604237"/>
                    </a:ext>
                  </a:extLst>
                </a:gridCol>
                <a:gridCol w="3342767">
                  <a:extLst>
                    <a:ext uri="{9D8B030D-6E8A-4147-A177-3AD203B41FA5}">
                      <a16:colId xmlns:a16="http://schemas.microsoft.com/office/drawing/2014/main" val="2213990225"/>
                    </a:ext>
                  </a:extLst>
                </a:gridCol>
                <a:gridCol w="1736027">
                  <a:extLst>
                    <a:ext uri="{9D8B030D-6E8A-4147-A177-3AD203B41FA5}">
                      <a16:colId xmlns:a16="http://schemas.microsoft.com/office/drawing/2014/main" val="2742739604"/>
                    </a:ext>
                  </a:extLst>
                </a:gridCol>
              </a:tblGrid>
              <a:tr h="370840">
                <a:tc>
                  <a:txBody>
                    <a:bodyPr/>
                    <a:lstStyle/>
                    <a:p>
                      <a:r>
                        <a:rPr lang="de-DE" dirty="0" smtClean="0"/>
                        <a:t>Person_ID</a:t>
                      </a:r>
                      <a:endParaRPr lang="de-DE" dirty="0"/>
                    </a:p>
                  </a:txBody>
                  <a:tcPr/>
                </a:tc>
                <a:tc>
                  <a:txBody>
                    <a:bodyPr/>
                    <a:lstStyle/>
                    <a:p>
                      <a:r>
                        <a:rPr lang="de-DE" dirty="0" smtClean="0"/>
                        <a:t>Name</a:t>
                      </a:r>
                      <a:endParaRPr lang="de-DE" dirty="0"/>
                    </a:p>
                  </a:txBody>
                  <a:tcPr/>
                </a:tc>
                <a:tc>
                  <a:txBody>
                    <a:bodyPr/>
                    <a:lstStyle/>
                    <a:p>
                      <a:r>
                        <a:rPr lang="de-DE" dirty="0" smtClean="0"/>
                        <a:t>Adresse</a:t>
                      </a:r>
                      <a:endParaRPr lang="de-DE" dirty="0"/>
                    </a:p>
                  </a:txBody>
                  <a:tcPr/>
                </a:tc>
                <a:tc>
                  <a:txBody>
                    <a:bodyPr/>
                    <a:lstStyle/>
                    <a:p>
                      <a:r>
                        <a:rPr lang="de-DE" dirty="0" smtClean="0"/>
                        <a:t>Telefonnummer</a:t>
                      </a:r>
                      <a:endParaRPr lang="de-DE" dirty="0"/>
                    </a:p>
                  </a:txBody>
                  <a:tcPr/>
                </a:tc>
                <a:extLst>
                  <a:ext uri="{0D108BD9-81ED-4DB2-BD59-A6C34878D82A}">
                    <a16:rowId xmlns:a16="http://schemas.microsoft.com/office/drawing/2014/main" val="2568598433"/>
                  </a:ext>
                </a:extLst>
              </a:tr>
              <a:tr h="370840">
                <a:tc>
                  <a:txBody>
                    <a:bodyPr/>
                    <a:lstStyle/>
                    <a:p>
                      <a:r>
                        <a:rPr lang="de-DE" dirty="0" smtClean="0"/>
                        <a:t>1</a:t>
                      </a:r>
                      <a:endParaRPr lang="de-DE" dirty="0"/>
                    </a:p>
                  </a:txBody>
                  <a:tcPr/>
                </a:tc>
                <a:tc>
                  <a:txBody>
                    <a:bodyPr/>
                    <a:lstStyle/>
                    <a:p>
                      <a:r>
                        <a:rPr lang="de-DE" dirty="0" smtClean="0"/>
                        <a:t>Petra Bayram</a:t>
                      </a:r>
                      <a:endParaRPr lang="de-DE" dirty="0"/>
                    </a:p>
                  </a:txBody>
                  <a:tcPr/>
                </a:tc>
                <a:tc>
                  <a:txBody>
                    <a:bodyPr/>
                    <a:lstStyle/>
                    <a:p>
                      <a:r>
                        <a:rPr lang="de-DE" dirty="0" smtClean="0"/>
                        <a:t>20095 Hamburg (Kölner Straße 1)</a:t>
                      </a:r>
                      <a:endParaRPr lang="de-DE" dirty="0"/>
                    </a:p>
                  </a:txBody>
                  <a:tcPr/>
                </a:tc>
                <a:tc>
                  <a:txBody>
                    <a:bodyPr/>
                    <a:lstStyle/>
                    <a:p>
                      <a:r>
                        <a:rPr lang="de-DE" dirty="0" smtClean="0"/>
                        <a:t>040 / 123456</a:t>
                      </a:r>
                      <a:endParaRPr lang="de-DE" dirty="0"/>
                    </a:p>
                  </a:txBody>
                  <a:tcPr/>
                </a:tc>
                <a:extLst>
                  <a:ext uri="{0D108BD9-81ED-4DB2-BD59-A6C34878D82A}">
                    <a16:rowId xmlns:a16="http://schemas.microsoft.com/office/drawing/2014/main" val="1855174005"/>
                  </a:ext>
                </a:extLst>
              </a:tr>
              <a:tr h="370840">
                <a:tc>
                  <a:txBody>
                    <a:bodyPr/>
                    <a:lstStyle/>
                    <a:p>
                      <a:r>
                        <a:rPr lang="de-DE" dirty="0" smtClean="0"/>
                        <a:t>2</a:t>
                      </a:r>
                      <a:endParaRPr lang="de-DE" dirty="0"/>
                    </a:p>
                  </a:txBody>
                  <a:tcPr/>
                </a:tc>
                <a:tc>
                  <a:txBody>
                    <a:bodyPr/>
                    <a:lstStyle/>
                    <a:p>
                      <a:r>
                        <a:rPr lang="de-DE" dirty="0" smtClean="0"/>
                        <a:t>Schmidt, Claudia</a:t>
                      </a:r>
                      <a:endParaRPr lang="de-DE" dirty="0"/>
                    </a:p>
                  </a:txBody>
                  <a:tcPr/>
                </a:tc>
                <a:tc>
                  <a:txBody>
                    <a:bodyPr/>
                    <a:lstStyle/>
                    <a:p>
                      <a:r>
                        <a:rPr lang="de-DE" dirty="0" smtClean="0"/>
                        <a:t>Baumweg 2, 10115 Berlin</a:t>
                      </a:r>
                      <a:endParaRPr lang="de-DE" dirty="0"/>
                    </a:p>
                  </a:txBody>
                  <a:tcPr/>
                </a:tc>
                <a:tc>
                  <a:txBody>
                    <a:bodyPr/>
                    <a:lstStyle/>
                    <a:p>
                      <a:r>
                        <a:rPr lang="de-DE" dirty="0" smtClean="0"/>
                        <a:t>030 -</a:t>
                      </a:r>
                      <a:r>
                        <a:rPr lang="de-DE" baseline="0" dirty="0" smtClean="0"/>
                        <a:t> 654321</a:t>
                      </a:r>
                      <a:endParaRPr lang="de-DE" dirty="0"/>
                    </a:p>
                  </a:txBody>
                  <a:tcPr/>
                </a:tc>
                <a:extLst>
                  <a:ext uri="{0D108BD9-81ED-4DB2-BD59-A6C34878D82A}">
                    <a16:rowId xmlns:a16="http://schemas.microsoft.com/office/drawing/2014/main" val="806125352"/>
                  </a:ext>
                </a:extLst>
              </a:tr>
              <a:tr h="370840">
                <a:tc>
                  <a:txBody>
                    <a:bodyPr/>
                    <a:lstStyle/>
                    <a:p>
                      <a:r>
                        <a:rPr lang="de-DE" dirty="0" smtClean="0"/>
                        <a:t>3</a:t>
                      </a:r>
                      <a:endParaRPr lang="de-DE" dirty="0"/>
                    </a:p>
                  </a:txBody>
                  <a:tcPr/>
                </a:tc>
                <a:tc>
                  <a:txBody>
                    <a:bodyPr/>
                    <a:lstStyle/>
                    <a:p>
                      <a:r>
                        <a:rPr lang="de-DE" dirty="0" smtClean="0"/>
                        <a:t>Hans Dieter Hüsch</a:t>
                      </a:r>
                      <a:endParaRPr lang="de-DE" dirty="0"/>
                    </a:p>
                  </a:txBody>
                  <a:tcPr/>
                </a:tc>
                <a:tc>
                  <a:txBody>
                    <a:bodyPr/>
                    <a:lstStyle/>
                    <a:p>
                      <a:r>
                        <a:rPr lang="de-DE" dirty="0" smtClean="0"/>
                        <a:t>Dorfweg</a:t>
                      </a:r>
                      <a:r>
                        <a:rPr lang="de-DE" baseline="0" dirty="0" smtClean="0"/>
                        <a:t> 7, 67433 Neustadt</a:t>
                      </a:r>
                      <a:endParaRPr lang="de-DE" dirty="0"/>
                    </a:p>
                  </a:txBody>
                  <a:tcPr/>
                </a:tc>
                <a:tc>
                  <a:txBody>
                    <a:bodyPr/>
                    <a:lstStyle/>
                    <a:p>
                      <a:r>
                        <a:rPr lang="de-DE" dirty="0" smtClean="0"/>
                        <a:t>09161 1234</a:t>
                      </a:r>
                      <a:endParaRPr lang="de-DE" dirty="0"/>
                    </a:p>
                  </a:txBody>
                  <a:tcPr/>
                </a:tc>
                <a:extLst>
                  <a:ext uri="{0D108BD9-81ED-4DB2-BD59-A6C34878D82A}">
                    <a16:rowId xmlns:a16="http://schemas.microsoft.com/office/drawing/2014/main" val="207051978"/>
                  </a:ext>
                </a:extLst>
              </a:tr>
            </a:tbl>
          </a:graphicData>
        </a:graphic>
      </p:graphicFrame>
      <p:graphicFrame>
        <p:nvGraphicFramePr>
          <p:cNvPr id="3" name="Tabelle 2"/>
          <p:cNvGraphicFramePr>
            <a:graphicFrameLocks noGrp="1"/>
          </p:cNvGraphicFramePr>
          <p:nvPr>
            <p:extLst>
              <p:ext uri="{D42A27DB-BD31-4B8C-83A1-F6EECF244321}">
                <p14:modId xmlns:p14="http://schemas.microsoft.com/office/powerpoint/2010/main" val="1705333451"/>
              </p:ext>
            </p:extLst>
          </p:nvPr>
        </p:nvGraphicFramePr>
        <p:xfrm>
          <a:off x="684608" y="4106962"/>
          <a:ext cx="11173095" cy="148336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2402864130"/>
                    </a:ext>
                  </a:extLst>
                </a:gridCol>
                <a:gridCol w="1323785">
                  <a:extLst>
                    <a:ext uri="{9D8B030D-6E8A-4147-A177-3AD203B41FA5}">
                      <a16:colId xmlns:a16="http://schemas.microsoft.com/office/drawing/2014/main" val="334824726"/>
                    </a:ext>
                  </a:extLst>
                </a:gridCol>
                <a:gridCol w="1251268">
                  <a:extLst>
                    <a:ext uri="{9D8B030D-6E8A-4147-A177-3AD203B41FA5}">
                      <a16:colId xmlns:a16="http://schemas.microsoft.com/office/drawing/2014/main" val="2643484310"/>
                    </a:ext>
                  </a:extLst>
                </a:gridCol>
                <a:gridCol w="1490091">
                  <a:extLst>
                    <a:ext uri="{9D8B030D-6E8A-4147-A177-3AD203B41FA5}">
                      <a16:colId xmlns:a16="http://schemas.microsoft.com/office/drawing/2014/main" val="2687828491"/>
                    </a:ext>
                  </a:extLst>
                </a:gridCol>
                <a:gridCol w="1516380">
                  <a:extLst>
                    <a:ext uri="{9D8B030D-6E8A-4147-A177-3AD203B41FA5}">
                      <a16:colId xmlns:a16="http://schemas.microsoft.com/office/drawing/2014/main" val="3592334232"/>
                    </a:ext>
                  </a:extLst>
                </a:gridCol>
                <a:gridCol w="903111">
                  <a:extLst>
                    <a:ext uri="{9D8B030D-6E8A-4147-A177-3AD203B41FA5}">
                      <a16:colId xmlns:a16="http://schemas.microsoft.com/office/drawing/2014/main" val="431005451"/>
                    </a:ext>
                  </a:extLst>
                </a:gridCol>
                <a:gridCol w="1095756">
                  <a:extLst>
                    <a:ext uri="{9D8B030D-6E8A-4147-A177-3AD203B41FA5}">
                      <a16:colId xmlns:a16="http://schemas.microsoft.com/office/drawing/2014/main" val="3151851681"/>
                    </a:ext>
                  </a:extLst>
                </a:gridCol>
                <a:gridCol w="1022033">
                  <a:extLst>
                    <a:ext uri="{9D8B030D-6E8A-4147-A177-3AD203B41FA5}">
                      <a16:colId xmlns:a16="http://schemas.microsoft.com/office/drawing/2014/main" val="1488852422"/>
                    </a:ext>
                  </a:extLst>
                </a:gridCol>
                <a:gridCol w="1370330">
                  <a:extLst>
                    <a:ext uri="{9D8B030D-6E8A-4147-A177-3AD203B41FA5}">
                      <a16:colId xmlns:a16="http://schemas.microsoft.com/office/drawing/2014/main" val="3174405846"/>
                    </a:ext>
                  </a:extLst>
                </a:gridCol>
              </a:tblGrid>
              <a:tr h="370840">
                <a:tc>
                  <a:txBody>
                    <a:bodyPr/>
                    <a:lstStyle/>
                    <a:p>
                      <a:r>
                        <a:rPr lang="de-DE" dirty="0" smtClean="0"/>
                        <a:t>Person_ID</a:t>
                      </a:r>
                      <a:endParaRPr lang="de-DE" dirty="0"/>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t>Straße</a:t>
                      </a:r>
                      <a:endParaRPr lang="de-DE" dirty="0"/>
                    </a:p>
                  </a:txBody>
                  <a:tcPr/>
                </a:tc>
                <a:tc>
                  <a:txBody>
                    <a:bodyPr/>
                    <a:lstStyle/>
                    <a:p>
                      <a:r>
                        <a:rPr lang="de-DE" dirty="0" smtClean="0"/>
                        <a:t>Hausnummer</a:t>
                      </a:r>
                      <a:endParaRPr lang="de-DE" dirty="0"/>
                    </a:p>
                  </a:txBody>
                  <a:tcPr/>
                </a:tc>
                <a:tc>
                  <a:txBody>
                    <a:bodyPr/>
                    <a:lstStyle/>
                    <a:p>
                      <a:r>
                        <a:rPr lang="de-DE" dirty="0" smtClean="0"/>
                        <a:t>PLZ</a:t>
                      </a:r>
                      <a:endParaRPr lang="de-DE" dirty="0"/>
                    </a:p>
                  </a:txBody>
                  <a:tcPr/>
                </a:tc>
                <a:tc>
                  <a:txBody>
                    <a:bodyPr/>
                    <a:lstStyle/>
                    <a:p>
                      <a:r>
                        <a:rPr lang="de-DE" dirty="0" smtClean="0"/>
                        <a:t>Stadt</a:t>
                      </a:r>
                      <a:endParaRPr lang="de-DE" dirty="0"/>
                    </a:p>
                  </a:txBody>
                  <a:tcPr/>
                </a:tc>
                <a:tc>
                  <a:txBody>
                    <a:bodyPr/>
                    <a:lstStyle/>
                    <a:p>
                      <a:r>
                        <a:rPr lang="de-DE" dirty="0" smtClean="0"/>
                        <a:t>Vorwahl</a:t>
                      </a:r>
                      <a:endParaRPr lang="de-DE" dirty="0"/>
                    </a:p>
                  </a:txBody>
                  <a:tcPr/>
                </a:tc>
                <a:tc>
                  <a:txBody>
                    <a:bodyPr/>
                    <a:lstStyle/>
                    <a:p>
                      <a:r>
                        <a:rPr lang="de-DE" dirty="0" smtClean="0"/>
                        <a:t>Rufnummer</a:t>
                      </a:r>
                      <a:endParaRPr lang="de-DE" dirty="0"/>
                    </a:p>
                  </a:txBody>
                  <a:tcPr/>
                </a:tc>
                <a:extLst>
                  <a:ext uri="{0D108BD9-81ED-4DB2-BD59-A6C34878D82A}">
                    <a16:rowId xmlns:a16="http://schemas.microsoft.com/office/drawing/2014/main" val="167595443"/>
                  </a:ext>
                </a:extLst>
              </a:tr>
              <a:tr h="370840">
                <a:tc>
                  <a:txBody>
                    <a:bodyPr/>
                    <a:lstStyle/>
                    <a:p>
                      <a:r>
                        <a:rPr lang="de-DE" dirty="0" smtClean="0"/>
                        <a:t>1</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Kölner Straße</a:t>
                      </a:r>
                      <a:endParaRPr lang="de-DE" dirty="0"/>
                    </a:p>
                  </a:txBody>
                  <a:tcPr/>
                </a:tc>
                <a:tc>
                  <a:txBody>
                    <a:bodyPr/>
                    <a:lstStyle/>
                    <a:p>
                      <a:r>
                        <a:rPr lang="de-DE" dirty="0" smtClean="0"/>
                        <a:t>1</a:t>
                      </a:r>
                      <a:endParaRPr lang="de-DE" dirty="0"/>
                    </a:p>
                  </a:txBody>
                  <a:tcPr/>
                </a:tc>
                <a:tc>
                  <a:txBody>
                    <a:bodyPr/>
                    <a:lstStyle/>
                    <a:p>
                      <a:r>
                        <a:rPr lang="de-DE" dirty="0" smtClean="0"/>
                        <a:t>20095</a:t>
                      </a:r>
                      <a:endParaRPr lang="de-DE" dirty="0"/>
                    </a:p>
                  </a:txBody>
                  <a:tcPr/>
                </a:tc>
                <a:tc>
                  <a:txBody>
                    <a:bodyPr/>
                    <a:lstStyle/>
                    <a:p>
                      <a:r>
                        <a:rPr lang="de-DE" dirty="0" smtClean="0"/>
                        <a:t>Hamburg</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3160028121"/>
                  </a:ext>
                </a:extLst>
              </a:tr>
              <a:tr h="370840">
                <a:tc>
                  <a:txBody>
                    <a:bodyPr/>
                    <a:lstStyle/>
                    <a:p>
                      <a:r>
                        <a:rPr lang="de-DE" dirty="0" smtClean="0"/>
                        <a:t>2</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Baumweg</a:t>
                      </a:r>
                      <a:endParaRPr lang="de-DE" dirty="0"/>
                    </a:p>
                  </a:txBody>
                  <a:tcPr/>
                </a:tc>
                <a:tc>
                  <a:txBody>
                    <a:bodyPr/>
                    <a:lstStyle/>
                    <a:p>
                      <a:r>
                        <a:rPr lang="de-DE" dirty="0" smtClean="0"/>
                        <a:t>2</a:t>
                      </a:r>
                      <a:endParaRPr lang="de-DE" dirty="0"/>
                    </a:p>
                  </a:txBody>
                  <a:tcPr/>
                </a:tc>
                <a:tc>
                  <a:txBody>
                    <a:bodyPr/>
                    <a:lstStyle/>
                    <a:p>
                      <a:r>
                        <a:rPr lang="de-DE" dirty="0" smtClean="0"/>
                        <a:t>10115</a:t>
                      </a:r>
                      <a:endParaRPr lang="de-DE" dirty="0"/>
                    </a:p>
                  </a:txBody>
                  <a:tcPr/>
                </a:tc>
                <a:tc>
                  <a:txBody>
                    <a:bodyPr/>
                    <a:lstStyle/>
                    <a:p>
                      <a:r>
                        <a:rPr lang="de-DE" dirty="0" smtClean="0"/>
                        <a:t>Berlin</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532536434"/>
                  </a:ext>
                </a:extLst>
              </a:tr>
              <a:tr h="370840">
                <a:tc>
                  <a:txBody>
                    <a:bodyPr/>
                    <a:lstStyle/>
                    <a:p>
                      <a:r>
                        <a:rPr lang="de-DE" dirty="0" smtClean="0"/>
                        <a:t>3</a:t>
                      </a:r>
                      <a:endParaRPr lang="de-DE" dirty="0"/>
                    </a:p>
                  </a:txBody>
                  <a:tcPr/>
                </a:tc>
                <a:tc>
                  <a:txBody>
                    <a:bodyPr/>
                    <a:lstStyle/>
                    <a:p>
                      <a:r>
                        <a:rPr lang="de-DE" dirty="0" smtClean="0"/>
                        <a:t>Hans Dieter</a:t>
                      </a:r>
                      <a:endParaRPr lang="de-DE" dirty="0"/>
                    </a:p>
                  </a:txBody>
                  <a:tcPr/>
                </a:tc>
                <a:tc>
                  <a:txBody>
                    <a:bodyPr/>
                    <a:lstStyle/>
                    <a:p>
                      <a:r>
                        <a:rPr lang="de-DE" dirty="0" smtClean="0"/>
                        <a:t>Hüsch</a:t>
                      </a:r>
                      <a:endParaRPr lang="de-DE" dirty="0"/>
                    </a:p>
                  </a:txBody>
                  <a:tcPr/>
                </a:tc>
                <a:tc>
                  <a:txBody>
                    <a:bodyPr/>
                    <a:lstStyle/>
                    <a:p>
                      <a:r>
                        <a:rPr lang="de-DE" dirty="0" smtClean="0"/>
                        <a:t>Dorfweg</a:t>
                      </a:r>
                      <a:endParaRPr lang="de-DE" dirty="0"/>
                    </a:p>
                  </a:txBody>
                  <a:tcPr/>
                </a:tc>
                <a:tc>
                  <a:txBody>
                    <a:bodyPr/>
                    <a:lstStyle/>
                    <a:p>
                      <a:r>
                        <a:rPr lang="de-DE" dirty="0" smtClean="0"/>
                        <a:t>7</a:t>
                      </a:r>
                      <a:endParaRPr lang="de-DE" dirty="0"/>
                    </a:p>
                  </a:txBody>
                  <a:tcPr/>
                </a:tc>
                <a:tc>
                  <a:txBody>
                    <a:bodyPr/>
                    <a:lstStyle/>
                    <a:p>
                      <a:r>
                        <a:rPr lang="de-DE" dirty="0" smtClean="0"/>
                        <a:t>67433</a:t>
                      </a:r>
                      <a:endParaRPr lang="de-DE" dirty="0"/>
                    </a:p>
                  </a:txBody>
                  <a:tcPr/>
                </a:tc>
                <a:tc>
                  <a:txBody>
                    <a:bodyPr/>
                    <a:lstStyle/>
                    <a:p>
                      <a:r>
                        <a:rPr lang="de-DE" dirty="0" smtClean="0"/>
                        <a:t>Neustadt</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702171923"/>
                  </a:ext>
                </a:extLst>
              </a:tr>
            </a:tbl>
          </a:graphicData>
        </a:graphic>
      </p:graphicFrame>
      <p:sp>
        <p:nvSpPr>
          <p:cNvPr id="7" name="Pfeil nach unten 6"/>
          <p:cNvSpPr/>
          <p:nvPr/>
        </p:nvSpPr>
        <p:spPr>
          <a:xfrm>
            <a:off x="5948780" y="3143618"/>
            <a:ext cx="315855" cy="847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Textfeld 7"/>
          <p:cNvSpPr txBox="1"/>
          <p:nvPr/>
        </p:nvSpPr>
        <p:spPr>
          <a:xfrm>
            <a:off x="4419033" y="3301394"/>
            <a:ext cx="1436547" cy="369332"/>
          </a:xfrm>
          <a:prstGeom prst="rect">
            <a:avLst/>
          </a:prstGeom>
          <a:noFill/>
        </p:spPr>
        <p:txBody>
          <a:bodyPr wrap="none" rtlCol="0">
            <a:spAutoFit/>
          </a:bodyPr>
          <a:lstStyle/>
          <a:p>
            <a:r>
              <a:rPr lang="de-DE" dirty="0" smtClean="0"/>
              <a:t>Atomisierung</a:t>
            </a:r>
            <a:endParaRPr lang="de-DE" dirty="0"/>
          </a:p>
        </p:txBody>
      </p:sp>
      <p:sp>
        <p:nvSpPr>
          <p:cNvPr id="13" name="Textfeld 12"/>
          <p:cNvSpPr txBox="1"/>
          <p:nvPr/>
        </p:nvSpPr>
        <p:spPr>
          <a:xfrm>
            <a:off x="6357835" y="3301394"/>
            <a:ext cx="1436547" cy="369332"/>
          </a:xfrm>
          <a:prstGeom prst="rect">
            <a:avLst/>
          </a:prstGeom>
          <a:noFill/>
        </p:spPr>
        <p:txBody>
          <a:bodyPr wrap="none" rtlCol="0">
            <a:spAutoFit/>
          </a:bodyPr>
          <a:lstStyle/>
          <a:p>
            <a:r>
              <a:rPr lang="de-DE" dirty="0" smtClean="0"/>
              <a:t>Atomisierung</a:t>
            </a:r>
            <a:endParaRPr lang="de-DE" dirty="0"/>
          </a:p>
        </p:txBody>
      </p:sp>
    </p:spTree>
    <p:extLst>
      <p:ext uri="{BB962C8B-B14F-4D97-AF65-F5344CB8AC3E}">
        <p14:creationId xmlns:p14="http://schemas.microsoft.com/office/powerpoint/2010/main" val="410532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2</a:t>
            </a:r>
            <a:r>
              <a:rPr lang="de-DE" sz="6600" dirty="0" smtClean="0">
                <a:latin typeface="Source Sans Pro" panose="020B0503030403020204" pitchFamily="34" charset="0"/>
              </a:rPr>
              <a:t>. Normalform</a:t>
            </a:r>
            <a:endParaRPr lang="de-DE" sz="6600" dirty="0">
              <a:latin typeface="Source Sans Pro" panose="020B0503030403020204" pitchFamily="34" charset="0"/>
            </a:endParaRPr>
          </a:p>
        </p:txBody>
      </p:sp>
    </p:spTree>
    <p:extLst>
      <p:ext uri="{BB962C8B-B14F-4D97-AF65-F5344CB8AC3E}">
        <p14:creationId xmlns:p14="http://schemas.microsoft.com/office/powerpoint/2010/main" val="18378138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a:bodyPr>
          <a:lstStyle/>
          <a:p>
            <a:r>
              <a:rPr lang="de-DE" dirty="0">
                <a:latin typeface="Source Sans Pro" panose="020B0503030403020204" pitchFamily="34" charset="0"/>
              </a:rPr>
              <a:t>2</a:t>
            </a:r>
            <a:r>
              <a:rPr lang="de-DE" dirty="0" smtClean="0">
                <a:latin typeface="Source Sans Pro" panose="020B0503030403020204" pitchFamily="34" charset="0"/>
              </a:rPr>
              <a:t>. Normalform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8" y="2153488"/>
            <a:ext cx="11308817" cy="273921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Die</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formale Definition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der 2. Normalform klingt zunächst recht abschreckend: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Eine Relationale Datenbank erfüllt die </a:t>
            </a:r>
            <a:r>
              <a:rPr lang="de-DE" sz="2000" dirty="0">
                <a:solidFill>
                  <a:srgbClr val="0071B2"/>
                </a:solidFill>
                <a:latin typeface="Source Sans Pro" panose="020B0503030403020204" pitchFamily="34" charset="0"/>
              </a:rPr>
              <a:t>2</a:t>
            </a:r>
            <a:r>
              <a:rPr kumimoji="0" lang="de-DE" sz="2000" i="0" u="none" strike="noStrike" kern="1200" cap="none" spc="0" normalizeH="0" baseline="0" noProof="0" dirty="0" smtClean="0">
                <a:ln>
                  <a:noFill/>
                </a:ln>
                <a:solidFill>
                  <a:srgbClr val="0071B2"/>
                </a:solidFill>
                <a:effectLst/>
                <a:uLnTx/>
                <a:uFillTx/>
                <a:latin typeface="Source Sans Pro" panose="020B0503030403020204" pitchFamily="34" charset="0"/>
              </a:rPr>
              <a:t>. Normalform,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wenn sie zum einen die 1. NF erfüllt und darüber hinaus </a:t>
            </a:r>
            <a:r>
              <a:rPr kumimoji="0" lang="de-DE" sz="2000" b="0" i="0" u="sng" strike="noStrike" kern="1200" cap="none" spc="0" normalizeH="0" baseline="0" noProof="0" dirty="0" smtClean="0">
                <a:ln>
                  <a:noFill/>
                </a:ln>
                <a:solidFill>
                  <a:srgbClr val="0071B2"/>
                </a:solidFill>
                <a:effectLst/>
                <a:uLnTx/>
                <a:uFillTx/>
                <a:latin typeface="Source Sans Pro" panose="020B0503030403020204" pitchFamily="34" charset="0"/>
              </a:rPr>
              <a:t>keine</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 Tabelle besitzt, in der ein Nicht-Schlüssel-Attribut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rPr>
              <a:t>eine funktionale Abhängigkeit zu einer echten </a:t>
            </a:r>
            <a:r>
              <a:rPr lang="de-DE" sz="2000" b="1" dirty="0">
                <a:solidFill>
                  <a:srgbClr val="0071B2"/>
                </a:solidFill>
                <a:latin typeface="Source Sans Pro" panose="020B0503030403020204" pitchFamily="34" charset="0"/>
              </a:rPr>
              <a:t>T</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rPr>
              <a:t>eilmenge des Primärschlüssels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rPr>
              <a:t>aufweist.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werden aber an Hand eines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anschaulichen</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Beispiels</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Licht ins Dunkel bringen.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Ferner gilt,</a:t>
            </a: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dass es eine nahezu </a:t>
            </a:r>
            <a:r>
              <a:rPr kumimoji="0" lang="de-DE" sz="20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amüsante Methode </a:t>
            </a: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geben wird, diese hochkompliziert erscheinende Problematik </a:t>
            </a:r>
            <a:r>
              <a:rPr kumimoji="0" lang="de-DE" sz="2000" b="0" i="0" u="sng"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mühelos</a:t>
            </a: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zu umgehen … kurzer Cliffhanger  ;-)</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9351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8" y="2332095"/>
            <a:ext cx="11067749" cy="292387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Verstöße gegen die 2. Normalform sind</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Hinweise darauf, dass eine Tabelle </a:t>
            </a:r>
            <a:r>
              <a:rPr kumimoji="0" lang="de-DE" sz="2400" i="0" u="sng"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nicht</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„monothematisch“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ist. </a:t>
            </a:r>
            <a:r>
              <a:rPr lang="de-DE" sz="2400" dirty="0" smtClean="0">
                <a:solidFill>
                  <a:srgbClr val="0071B2"/>
                </a:solidFill>
                <a:latin typeface="Source Sans Pro" panose="020B0503030403020204" pitchFamily="34" charset="0"/>
              </a:rPr>
              <a:t>Dieses ist aber ein zentrales Ziel der Normalisierung, da auf diese Weise „Redundanz“ vermieden wird.</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Das Ziel der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Redundanz-Vermeidung</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kann auf zweierlei Weise motiviert werden: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400" dirty="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a) Die Vermeidung des mehrfachen Speicherns der selben Informationen </a:t>
            </a:r>
            <a:r>
              <a:rPr lang="de-DE" sz="2000" b="1" dirty="0" smtClean="0">
                <a:solidFill>
                  <a:srgbClr val="0071B2"/>
                </a:solidFill>
                <a:latin typeface="Source Sans Pro" panose="020B0503030403020204" pitchFamily="34" charset="0"/>
              </a:rPr>
              <a:t>spart Speicherplatz</a:t>
            </a:r>
            <a:r>
              <a:rPr lang="de-DE" sz="2000"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000" dirty="0" smtClean="0">
                <a:solidFill>
                  <a:srgbClr val="0071B2"/>
                </a:solidFill>
                <a:latin typeface="Source Sans Pro" panose="020B0503030403020204" pitchFamily="34" charset="0"/>
              </a:rPr>
              <a:t>          b) Die Vermeidung von Informations-Dubletten erleichtert die </a:t>
            </a:r>
            <a:r>
              <a:rPr lang="de-DE" sz="2000" b="1" dirty="0" smtClean="0">
                <a:solidFill>
                  <a:srgbClr val="0071B2"/>
                </a:solidFill>
                <a:latin typeface="Source Sans Pro" panose="020B0503030403020204" pitchFamily="34" charset="0"/>
              </a:rPr>
              <a:t>konsistente Pflege </a:t>
            </a:r>
            <a:r>
              <a:rPr lang="de-DE" sz="2000" dirty="0" smtClean="0">
                <a:solidFill>
                  <a:srgbClr val="0071B2"/>
                </a:solidFill>
                <a:latin typeface="Source Sans Pro" panose="020B0503030403020204" pitchFamily="34" charset="0"/>
              </a:rPr>
              <a:t>der Datenbank.</a:t>
            </a:r>
          </a:p>
          <a:p>
            <a:pPr marR="0" lvl="0" algn="l" defTabSz="914400" rtl="0" eaLnBrk="1" fontAlgn="auto" latinLnBrk="0" hangingPunct="1">
              <a:lnSpc>
                <a:spcPct val="100000"/>
              </a:lnSpc>
              <a:spcBef>
                <a:spcPts val="0"/>
              </a:spcBef>
              <a:spcAft>
                <a:spcPts val="0"/>
              </a:spcAft>
              <a:buClrTx/>
              <a:buSzTx/>
              <a:tabLst/>
              <a:defRPr/>
            </a:pPr>
            <a:endPar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58667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Beispiel</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3" name="Textfeld 2"/>
          <p:cNvSpPr txBox="1"/>
          <p:nvPr/>
        </p:nvSpPr>
        <p:spPr>
          <a:xfrm>
            <a:off x="83125" y="1426486"/>
            <a:ext cx="12020205" cy="1200329"/>
          </a:xfrm>
          <a:prstGeom prst="rect">
            <a:avLst/>
          </a:prstGeom>
          <a:solidFill>
            <a:schemeClr val="bg2"/>
          </a:solidFill>
          <a:ln>
            <a:solidFill>
              <a:schemeClr val="tx1"/>
            </a:solidFill>
          </a:ln>
        </p:spPr>
        <p:txBody>
          <a:bodyPr wrap="square" rtlCol="0">
            <a:spAutoFit/>
          </a:bodyPr>
          <a:lstStyle/>
          <a:p>
            <a:pPr algn="ctr"/>
            <a:r>
              <a:rPr lang="de-DE" b="1" dirty="0" smtClean="0"/>
              <a:t>Vorbemerkung:</a:t>
            </a:r>
          </a:p>
          <a:p>
            <a:pPr algn="ctr"/>
            <a:r>
              <a:rPr lang="de-DE" dirty="0" smtClean="0"/>
              <a:t>Das folgende Beispiel verzichtet zunächst auf ein „ID-Attribut“ und bemüht sich stattdessen mit Hilfe ohnehin vorhandener Attribute einen (eindeutigen) </a:t>
            </a:r>
            <a:r>
              <a:rPr lang="de-DE" b="1" dirty="0" smtClean="0">
                <a:solidFill>
                  <a:schemeClr val="accent2"/>
                </a:solidFill>
              </a:rPr>
              <a:t>zusammengesetzten Primärschlüssel </a:t>
            </a:r>
            <a:r>
              <a:rPr lang="de-DE" dirty="0" smtClean="0"/>
              <a:t>zu bilden. Dem Beispiel geschuldet wollen wir dabei ignorieren, dass eine Person über Geburtsdatum und Postleitzahl üblicherweise </a:t>
            </a:r>
            <a:r>
              <a:rPr lang="de-DE" u="sng" dirty="0" smtClean="0"/>
              <a:t>nicht</a:t>
            </a:r>
            <a:r>
              <a:rPr lang="de-DE" dirty="0" smtClean="0"/>
              <a:t> eindeutig beschrieben ist: </a:t>
            </a:r>
            <a:endParaRPr lang="de-DE" dirty="0"/>
          </a:p>
        </p:txBody>
      </p:sp>
      <p:graphicFrame>
        <p:nvGraphicFramePr>
          <p:cNvPr id="7" name="Tabelle 6"/>
          <p:cNvGraphicFramePr>
            <a:graphicFrameLocks noGrp="1"/>
          </p:cNvGraphicFramePr>
          <p:nvPr>
            <p:extLst>
              <p:ext uri="{D42A27DB-BD31-4B8C-83A1-F6EECF244321}">
                <p14:modId xmlns:p14="http://schemas.microsoft.com/office/powerpoint/2010/main" val="1204964679"/>
              </p:ext>
            </p:extLst>
          </p:nvPr>
        </p:nvGraphicFramePr>
        <p:xfrm>
          <a:off x="2029227" y="2908549"/>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smtClean="0"/>
                        <a:t>Geburtsdatum</a:t>
                      </a:r>
                      <a:endParaRPr lang="de-DE" dirty="0"/>
                    </a:p>
                  </a:txBody>
                  <a:tcPr/>
                </a:tc>
                <a:tc>
                  <a:txBody>
                    <a:bodyPr/>
                    <a:lstStyle/>
                    <a:p>
                      <a:r>
                        <a:rPr lang="de-DE" dirty="0" smtClean="0"/>
                        <a:t>PLZ</a:t>
                      </a:r>
                      <a:endParaRPr lang="de-DE" dirty="0"/>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t>Vorwahl</a:t>
                      </a:r>
                      <a:endParaRPr lang="de-DE" dirty="0"/>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Rechteck 7"/>
          <p:cNvSpPr/>
          <p:nvPr/>
        </p:nvSpPr>
        <p:spPr>
          <a:xfrm>
            <a:off x="2029227" y="2908549"/>
            <a:ext cx="2966722" cy="148336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11147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Beispiel</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7" name="Tabelle 6"/>
          <p:cNvGraphicFramePr>
            <a:graphicFrameLocks noGrp="1"/>
          </p:cNvGraphicFramePr>
          <p:nvPr>
            <p:extLst>
              <p:ext uri="{D42A27DB-BD31-4B8C-83A1-F6EECF244321}">
                <p14:modId xmlns:p14="http://schemas.microsoft.com/office/powerpoint/2010/main" val="1204964679"/>
              </p:ext>
            </p:extLst>
          </p:nvPr>
        </p:nvGraphicFramePr>
        <p:xfrm>
          <a:off x="2029227" y="2908549"/>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smtClean="0"/>
                        <a:t>Geburtsdatum</a:t>
                      </a:r>
                      <a:endParaRPr lang="de-DE" dirty="0"/>
                    </a:p>
                  </a:txBody>
                  <a:tcPr/>
                </a:tc>
                <a:tc>
                  <a:txBody>
                    <a:bodyPr/>
                    <a:lstStyle/>
                    <a:p>
                      <a:r>
                        <a:rPr lang="de-DE" dirty="0" smtClean="0"/>
                        <a:t>PLZ</a:t>
                      </a:r>
                      <a:endParaRPr lang="de-DE" dirty="0"/>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t>Vorwahl</a:t>
                      </a:r>
                      <a:endParaRPr lang="de-DE" dirty="0"/>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10" name="Textfeld 9"/>
          <p:cNvSpPr txBox="1"/>
          <p:nvPr/>
        </p:nvSpPr>
        <p:spPr>
          <a:xfrm>
            <a:off x="83125" y="1426486"/>
            <a:ext cx="12020205" cy="1261884"/>
          </a:xfrm>
          <a:prstGeom prst="rect">
            <a:avLst/>
          </a:prstGeom>
          <a:solidFill>
            <a:schemeClr val="bg2"/>
          </a:solidFill>
          <a:ln>
            <a:solidFill>
              <a:schemeClr val="tx1"/>
            </a:solidFill>
          </a:ln>
        </p:spPr>
        <p:txBody>
          <a:bodyPr wrap="square" rtlCol="0">
            <a:spAutoFit/>
          </a:bodyPr>
          <a:lstStyle/>
          <a:p>
            <a:pPr algn="ctr"/>
            <a:r>
              <a:rPr lang="de-DE" b="1" dirty="0"/>
              <a:t>Definition „echte Teilmenge</a:t>
            </a:r>
            <a:r>
              <a:rPr lang="de-DE" b="1" dirty="0" smtClean="0"/>
              <a:t>“</a:t>
            </a:r>
          </a:p>
          <a:p>
            <a:pPr algn="ctr"/>
            <a:endParaRPr lang="de-DE" sz="800" b="1" dirty="0"/>
          </a:p>
          <a:p>
            <a:pPr algn="ctr"/>
            <a:r>
              <a:rPr lang="de-DE" sz="1200" dirty="0"/>
              <a:t>Da in der Mathematik jede Menge auch eine Teilmenge ihrer selbst ist, wurde der Begriff „echte Teilmenge“ eingeführt, um Teilmengen </a:t>
            </a:r>
            <a:r>
              <a:rPr lang="de-DE" sz="1200" dirty="0" smtClean="0"/>
              <a:t>anzusprechen,</a:t>
            </a:r>
          </a:p>
          <a:p>
            <a:pPr algn="ctr"/>
            <a:r>
              <a:rPr lang="de-DE" sz="1200" dirty="0" smtClean="0"/>
              <a:t>die tatsächlich </a:t>
            </a:r>
            <a:r>
              <a:rPr lang="de-DE" sz="1200" u="sng" dirty="0" smtClean="0"/>
              <a:t>kleiner</a:t>
            </a:r>
            <a:r>
              <a:rPr lang="de-DE" sz="1200" dirty="0" smtClean="0"/>
              <a:t> als ihre Obermenge sind. In </a:t>
            </a:r>
            <a:r>
              <a:rPr lang="de-DE" sz="1200" dirty="0"/>
              <a:t>unserem Fall ist die </a:t>
            </a:r>
            <a:r>
              <a:rPr lang="de-DE" sz="1200" b="1" dirty="0"/>
              <a:t>Teilmenge „PLZ“ </a:t>
            </a:r>
            <a:r>
              <a:rPr lang="de-DE" sz="1200" i="1" dirty="0"/>
              <a:t>echt kleiner </a:t>
            </a:r>
            <a:r>
              <a:rPr lang="de-DE" sz="1200" dirty="0"/>
              <a:t>als der zusammengesetzte Primärschlüssel aus „</a:t>
            </a:r>
            <a:r>
              <a:rPr lang="de-DE" sz="1200" dirty="0" smtClean="0"/>
              <a:t>Geburtsdatum+PLZ“.  </a:t>
            </a:r>
          </a:p>
          <a:p>
            <a:pPr algn="ctr"/>
            <a:endParaRPr lang="de-DE" sz="1200" dirty="0" smtClean="0"/>
          </a:p>
          <a:p>
            <a:pPr algn="ctr"/>
            <a:r>
              <a:rPr lang="de-DE" sz="1400" dirty="0" smtClean="0"/>
              <a:t>=&gt; </a:t>
            </a:r>
            <a:r>
              <a:rPr lang="de-DE" sz="1400" dirty="0"/>
              <a:t>Das Attribut „PLZ“ ist also eine </a:t>
            </a:r>
            <a:r>
              <a:rPr lang="de-DE" sz="1400" b="1" dirty="0">
                <a:solidFill>
                  <a:schemeClr val="accent2"/>
                </a:solidFill>
              </a:rPr>
              <a:t>echte Teilmenge des Primärschlüssels</a:t>
            </a:r>
            <a:r>
              <a:rPr lang="de-DE" sz="1400" dirty="0"/>
              <a:t>:</a:t>
            </a:r>
          </a:p>
        </p:txBody>
      </p:sp>
      <p:sp>
        <p:nvSpPr>
          <p:cNvPr id="13" name="Rechteck 12"/>
          <p:cNvSpPr/>
          <p:nvPr/>
        </p:nvSpPr>
        <p:spPr>
          <a:xfrm>
            <a:off x="2029227" y="2908549"/>
            <a:ext cx="2966722" cy="148336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7"/>
          <p:cNvSpPr/>
          <p:nvPr/>
        </p:nvSpPr>
        <p:spPr>
          <a:xfrm>
            <a:off x="3632661" y="2908549"/>
            <a:ext cx="1363287" cy="148336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4327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Beispiel</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7" name="Tabelle 6"/>
          <p:cNvGraphicFramePr>
            <a:graphicFrameLocks noGrp="1"/>
          </p:cNvGraphicFramePr>
          <p:nvPr>
            <p:extLst>
              <p:ext uri="{D42A27DB-BD31-4B8C-83A1-F6EECF244321}">
                <p14:modId xmlns:p14="http://schemas.microsoft.com/office/powerpoint/2010/main" val="3749180667"/>
              </p:ext>
            </p:extLst>
          </p:nvPr>
        </p:nvGraphicFramePr>
        <p:xfrm>
          <a:off x="2029227" y="2908549"/>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Rechteck 7"/>
          <p:cNvSpPr/>
          <p:nvPr/>
        </p:nvSpPr>
        <p:spPr>
          <a:xfrm>
            <a:off x="3632661" y="2908549"/>
            <a:ext cx="1363287" cy="148336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sp>
        <p:nvSpPr>
          <p:cNvPr id="10" name="Textfeld 9"/>
          <p:cNvSpPr txBox="1"/>
          <p:nvPr/>
        </p:nvSpPr>
        <p:spPr>
          <a:xfrm>
            <a:off x="83125" y="1426486"/>
            <a:ext cx="12020205" cy="1138773"/>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Definition </a:t>
            </a:r>
            <a:r>
              <a:rPr kumimoji="0" lang="de-DE" sz="1800" b="1" i="0" u="none" strike="noStrike" kern="1200" cap="none" spc="0" normalizeH="0" baseline="0" noProof="0" dirty="0" smtClean="0">
                <a:ln>
                  <a:noFill/>
                </a:ln>
                <a:solidFill>
                  <a:srgbClr val="0071B2"/>
                </a:solidFill>
                <a:effectLst/>
                <a:uLnTx/>
                <a:uFillTx/>
                <a:latin typeface="Calibri" panose="020F0502020204030204"/>
                <a:ea typeface="+mn-ea"/>
                <a:cs typeface="+mn-cs"/>
              </a:rPr>
              <a:t>„funktional abhängig“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Ein Attribut „A“ ist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funktional abhängig </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von einem Attribut „B“, wenn (bei vollständiger </a:t>
            </a:r>
            <a:r>
              <a:rPr lang="de-DE" sz="1200" dirty="0">
                <a:solidFill>
                  <a:srgbClr val="0071B2"/>
                </a:solidFill>
                <a:latin typeface="Calibri" panose="020F0502020204030204"/>
              </a:rPr>
              <a:t>K</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enntnis aller relevanten Informationen)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A aus B </a:t>
            </a:r>
            <a:r>
              <a:rPr kumimoji="0" lang="de-DE" sz="1200" b="1" i="0" u="none" strike="noStrike" kern="1200" cap="none" spc="0" normalizeH="0" baseline="0" noProof="0" dirty="0" smtClean="0">
                <a:ln>
                  <a:noFill/>
                </a:ln>
                <a:solidFill>
                  <a:schemeClr val="accent2"/>
                </a:solidFill>
                <a:effectLst/>
                <a:uLnTx/>
                <a:uFillTx/>
                <a:latin typeface="Calibri" panose="020F0502020204030204"/>
                <a:ea typeface="+mn-ea"/>
                <a:cs typeface="+mn-cs"/>
              </a:rPr>
              <a:t>zwingend gefolgert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werden kann</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1B2"/>
                </a:solidFill>
                <a:latin typeface="Calibri" panose="020F0502020204030204"/>
              </a:rPr>
              <a:t>In unserem Beispiel können wir aber die </a:t>
            </a:r>
            <a:r>
              <a:rPr lang="de-DE" b="1" dirty="0" smtClean="0">
                <a:solidFill>
                  <a:schemeClr val="accent2"/>
                </a:solidFill>
                <a:latin typeface="Calibri" panose="020F0502020204030204"/>
              </a:rPr>
              <a:t>Vorwahl</a:t>
            </a:r>
            <a:r>
              <a:rPr lang="de-DE" dirty="0" smtClean="0">
                <a:solidFill>
                  <a:srgbClr val="0071B2"/>
                </a:solidFill>
                <a:latin typeface="Calibri" panose="020F0502020204030204"/>
              </a:rPr>
              <a:t> zwingend aus der </a:t>
            </a:r>
            <a:r>
              <a:rPr lang="de-DE" b="1" dirty="0" smtClean="0">
                <a:solidFill>
                  <a:schemeClr val="accent2"/>
                </a:solidFill>
                <a:latin typeface="Calibri" panose="020F0502020204030204"/>
              </a:rPr>
              <a:t>PLZ</a:t>
            </a:r>
            <a:r>
              <a:rPr lang="de-DE" dirty="0" smtClean="0">
                <a:solidFill>
                  <a:srgbClr val="0071B2"/>
                </a:solidFill>
                <a:latin typeface="Calibri" panose="020F0502020204030204"/>
              </a:rPr>
              <a:t> folgern:</a:t>
            </a:r>
            <a:endParaRPr kumimoji="0" lang="de-DE" b="0" i="0" u="none" strike="noStrike" kern="1200" cap="none" spc="0" normalizeH="0" baseline="0" noProof="0" dirty="0">
              <a:ln>
                <a:noFill/>
              </a:ln>
              <a:solidFill>
                <a:srgbClr val="0071B2"/>
              </a:solidFill>
              <a:effectLst/>
              <a:uLnTx/>
              <a:uFillTx/>
              <a:latin typeface="Calibri" panose="020F0502020204030204"/>
            </a:endParaRPr>
          </a:p>
        </p:txBody>
      </p:sp>
    </p:spTree>
    <p:extLst>
      <p:ext uri="{BB962C8B-B14F-4D97-AF65-F5344CB8AC3E}">
        <p14:creationId xmlns:p14="http://schemas.microsoft.com/office/powerpoint/2010/main" val="1576451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Beispiel</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7" name="Tabelle 6"/>
          <p:cNvGraphicFramePr>
            <a:graphicFrameLocks noGrp="1"/>
          </p:cNvGraphicFramePr>
          <p:nvPr>
            <p:extLst>
              <p:ext uri="{D42A27DB-BD31-4B8C-83A1-F6EECF244321}">
                <p14:modId xmlns:p14="http://schemas.microsoft.com/office/powerpoint/2010/main" val="3456731176"/>
              </p:ext>
            </p:extLst>
          </p:nvPr>
        </p:nvGraphicFramePr>
        <p:xfrm>
          <a:off x="2029227" y="2908549"/>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smtClean="0"/>
                        <a:t>Geburtsdatum</a:t>
                      </a:r>
                      <a:endParaRPr lang="de-DE" dirty="0"/>
                    </a:p>
                  </a:txBody>
                  <a:tcPr/>
                </a:tc>
                <a:tc>
                  <a:txBody>
                    <a:bodyPr/>
                    <a:lstStyle/>
                    <a:p>
                      <a:r>
                        <a:rPr lang="de-DE" dirty="0" smtClean="0">
                          <a:solidFill>
                            <a:schemeClr val="accent2"/>
                          </a:solidFill>
                        </a:rPr>
                        <a:t>PLZ</a:t>
                      </a:r>
                      <a:endParaRPr lang="de-DE" dirty="0">
                        <a:solidFill>
                          <a:schemeClr val="accent2"/>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accent2"/>
                          </a:solidFill>
                        </a:rPr>
                        <a:t>Vorwahl</a:t>
                      </a:r>
                      <a:endParaRPr lang="de-DE" dirty="0">
                        <a:solidFill>
                          <a:schemeClr val="accent2"/>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Rechteck 7"/>
          <p:cNvSpPr/>
          <p:nvPr/>
        </p:nvSpPr>
        <p:spPr>
          <a:xfrm>
            <a:off x="3632661" y="2908549"/>
            <a:ext cx="1363287" cy="148336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sp>
        <p:nvSpPr>
          <p:cNvPr id="10" name="Textfeld 9"/>
          <p:cNvSpPr txBox="1"/>
          <p:nvPr/>
        </p:nvSpPr>
        <p:spPr>
          <a:xfrm>
            <a:off x="83125" y="1426486"/>
            <a:ext cx="12020205" cy="1138773"/>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1B2"/>
                </a:solidFill>
                <a:effectLst/>
                <a:uLnTx/>
                <a:uFillTx/>
                <a:latin typeface="Calibri" panose="020F0502020204030204"/>
                <a:ea typeface="+mn-ea"/>
                <a:cs typeface="+mn-cs"/>
              </a:rPr>
              <a:t>Definition </a:t>
            </a:r>
            <a:r>
              <a:rPr kumimoji="0" lang="de-DE" sz="1800" b="1" i="0" u="none" strike="noStrike" kern="1200" cap="none" spc="0" normalizeH="0" baseline="0" noProof="0" dirty="0" smtClean="0">
                <a:ln>
                  <a:noFill/>
                </a:ln>
                <a:solidFill>
                  <a:srgbClr val="0071B2"/>
                </a:solidFill>
                <a:effectLst/>
                <a:uLnTx/>
                <a:uFillTx/>
                <a:latin typeface="Calibri" panose="020F0502020204030204"/>
                <a:ea typeface="+mn-ea"/>
                <a:cs typeface="+mn-cs"/>
              </a:rPr>
              <a:t>„funktional abhängig“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800" b="1" i="0" u="none" strike="noStrike" kern="1200" cap="none" spc="0" normalizeH="0" baseline="0" noProof="0" dirty="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Ein Attribut „A“ ist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funktional abhängig </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von einem Attribut „B“, wenn (bei vollständiger </a:t>
            </a:r>
            <a:r>
              <a:rPr lang="de-DE" sz="1200" dirty="0">
                <a:solidFill>
                  <a:srgbClr val="0071B2"/>
                </a:solidFill>
                <a:latin typeface="Calibri" panose="020F0502020204030204"/>
              </a:rPr>
              <a:t>K</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enntnis aller relevanten Informationen)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A aus B </a:t>
            </a:r>
            <a:r>
              <a:rPr kumimoji="0" lang="de-DE" sz="1200" b="1" i="0" u="none" strike="noStrike" kern="1200" cap="none" spc="0" normalizeH="0" baseline="0" noProof="0" dirty="0" smtClean="0">
                <a:ln>
                  <a:noFill/>
                </a:ln>
                <a:solidFill>
                  <a:schemeClr val="accent2"/>
                </a:solidFill>
                <a:effectLst/>
                <a:uLnTx/>
                <a:uFillTx/>
                <a:latin typeface="Calibri" panose="020F0502020204030204"/>
                <a:ea typeface="+mn-ea"/>
                <a:cs typeface="+mn-cs"/>
              </a:rPr>
              <a:t>zwingend gefolgert </a:t>
            </a:r>
            <a:r>
              <a:rPr kumimoji="0" lang="de-DE" sz="1200" b="1" i="0" u="none" strike="noStrike" kern="1200" cap="none" spc="0" normalizeH="0" baseline="0" noProof="0" dirty="0" smtClean="0">
                <a:ln>
                  <a:noFill/>
                </a:ln>
                <a:solidFill>
                  <a:srgbClr val="0071B2"/>
                </a:solidFill>
                <a:effectLst/>
                <a:uLnTx/>
                <a:uFillTx/>
                <a:latin typeface="Calibri" panose="020F0502020204030204"/>
                <a:ea typeface="+mn-ea"/>
                <a:cs typeface="+mn-cs"/>
              </a:rPr>
              <a:t>werden kann</a:t>
            </a:r>
            <a:r>
              <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smtClean="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1B2"/>
                </a:solidFill>
                <a:latin typeface="Calibri" panose="020F0502020204030204"/>
              </a:rPr>
              <a:t>In unserem Beispiel können wir aber die </a:t>
            </a:r>
            <a:r>
              <a:rPr lang="de-DE" b="1" dirty="0" smtClean="0">
                <a:solidFill>
                  <a:schemeClr val="accent2"/>
                </a:solidFill>
                <a:latin typeface="Calibri" panose="020F0502020204030204"/>
              </a:rPr>
              <a:t>Vorwahl</a:t>
            </a:r>
            <a:r>
              <a:rPr lang="de-DE" dirty="0" smtClean="0">
                <a:solidFill>
                  <a:srgbClr val="0071B2"/>
                </a:solidFill>
                <a:latin typeface="Calibri" panose="020F0502020204030204"/>
              </a:rPr>
              <a:t> zwingend aus der </a:t>
            </a:r>
            <a:r>
              <a:rPr lang="de-DE" b="1" dirty="0" smtClean="0">
                <a:solidFill>
                  <a:schemeClr val="accent2"/>
                </a:solidFill>
                <a:latin typeface="Calibri" panose="020F0502020204030204"/>
              </a:rPr>
              <a:t>PLZ</a:t>
            </a:r>
            <a:r>
              <a:rPr lang="de-DE" dirty="0" smtClean="0">
                <a:solidFill>
                  <a:srgbClr val="0071B2"/>
                </a:solidFill>
                <a:latin typeface="Calibri" panose="020F0502020204030204"/>
              </a:rPr>
              <a:t> folgern:</a:t>
            </a:r>
            <a:endParaRPr kumimoji="0" lang="de-DE" b="0" i="0" u="none" strike="noStrike" kern="1200" cap="none" spc="0" normalizeH="0" baseline="0" noProof="0" dirty="0">
              <a:ln>
                <a:noFill/>
              </a:ln>
              <a:solidFill>
                <a:srgbClr val="0071B2"/>
              </a:solidFill>
              <a:effectLst/>
              <a:uLnTx/>
              <a:uFillTx/>
              <a:latin typeface="Calibri" panose="020F0502020204030204"/>
            </a:endParaRPr>
          </a:p>
        </p:txBody>
      </p:sp>
      <p:sp>
        <p:nvSpPr>
          <p:cNvPr id="2" name="Nach oben gekrümmter Pfeil 1"/>
          <p:cNvSpPr/>
          <p:nvPr/>
        </p:nvSpPr>
        <p:spPr>
          <a:xfrm>
            <a:off x="4239491" y="4580313"/>
            <a:ext cx="3998422" cy="482138"/>
          </a:xfrm>
          <a:prstGeom prst="curved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Tree>
    <p:extLst>
      <p:ext uri="{BB962C8B-B14F-4D97-AF65-F5344CB8AC3E}">
        <p14:creationId xmlns:p14="http://schemas.microsoft.com/office/powerpoint/2010/main" val="41726349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Lösung</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7" name="Tabelle 6"/>
          <p:cNvGraphicFramePr>
            <a:graphicFrameLocks noGrp="1"/>
          </p:cNvGraphicFramePr>
          <p:nvPr/>
        </p:nvGraphicFramePr>
        <p:xfrm>
          <a:off x="2029227" y="2908549"/>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10" name="Textfeld 9"/>
          <p:cNvSpPr txBox="1"/>
          <p:nvPr/>
        </p:nvSpPr>
        <p:spPr>
          <a:xfrm>
            <a:off x="83125" y="1426486"/>
            <a:ext cx="12020205" cy="1200329"/>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smtClean="0">
                <a:ln>
                  <a:noFill/>
                </a:ln>
                <a:solidFill>
                  <a:srgbClr val="0071B2"/>
                </a:solidFill>
                <a:effectLst/>
                <a:uLnTx/>
                <a:uFillTx/>
                <a:latin typeface="Calibri" panose="020F0502020204030204"/>
                <a:ea typeface="+mn-ea"/>
                <a:cs typeface="+mn-cs"/>
              </a:rPr>
              <a:t>Die fast schon amüsante</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Lösung besteht nun schlicht darin, echte Teilmengen eines Primärschlüssels auszuschließen, indem stets ein (einspaltiges) ID-Attribut eingeführt wird. (Dieses „künstliche“ Attribut wird auch als </a:t>
            </a:r>
            <a:r>
              <a:rPr kumimoji="0" lang="de-DE" sz="1800" b="1" i="0" u="none" strike="noStrike" kern="1200" cap="none" spc="0" normalizeH="0" noProof="0" dirty="0" smtClean="0">
                <a:ln>
                  <a:noFill/>
                </a:ln>
                <a:solidFill>
                  <a:schemeClr val="accent2"/>
                </a:solidFill>
                <a:effectLst/>
                <a:uLnTx/>
                <a:uFillTx/>
                <a:latin typeface="Calibri" panose="020F0502020204030204"/>
                <a:ea typeface="+mn-ea"/>
                <a:cs typeface="+mn-cs"/>
              </a:rPr>
              <a:t>„Surrogatschlüssel“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bezeichnet).</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baseline="0" dirty="0" smtClean="0">
                <a:solidFill>
                  <a:srgbClr val="0071B2"/>
                </a:solidFill>
                <a:latin typeface="Calibri" panose="020F0502020204030204"/>
              </a:rPr>
              <a:t>Auf diese Weise entkommen wir der doch recht komplizierten Formulierung der 2. Normalform</a:t>
            </a:r>
            <a:r>
              <a:rPr lang="de-DE" dirty="0" smtClean="0">
                <a:solidFill>
                  <a:srgbClr val="0071B2"/>
                </a:solidFill>
                <a:latin typeface="Calibri" panose="020F0502020204030204"/>
              </a:rPr>
              <a:t>, indem wir allen Tabellen quasi „die Chance“ nehmen, Abhängigkeiten zu dann </a:t>
            </a:r>
            <a:r>
              <a:rPr lang="de-DE" u="sng" dirty="0" smtClean="0">
                <a:solidFill>
                  <a:srgbClr val="0071B2"/>
                </a:solidFill>
                <a:latin typeface="Calibri" panose="020F0502020204030204"/>
              </a:rPr>
              <a:t>nicht mehr existierenden</a:t>
            </a:r>
            <a:r>
              <a:rPr lang="de-DE" dirty="0" smtClean="0">
                <a:solidFill>
                  <a:srgbClr val="0071B2"/>
                </a:solidFill>
                <a:latin typeface="Calibri" panose="020F0502020204030204"/>
              </a:rPr>
              <a:t> echten Teilmengen des Primärschlüssels</a:t>
            </a:r>
            <a:r>
              <a:rPr lang="de-DE" baseline="0" dirty="0" smtClean="0">
                <a:solidFill>
                  <a:srgbClr val="0071B2"/>
                </a:solidFill>
                <a:latin typeface="Calibri" panose="020F0502020204030204"/>
              </a:rPr>
              <a:t> zu besitzen.</a:t>
            </a:r>
            <a:endParaRPr kumimoji="0" lang="de-DE" sz="180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18117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Lösung</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1200329"/>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smtClean="0">
                <a:ln>
                  <a:noFill/>
                </a:ln>
                <a:solidFill>
                  <a:srgbClr val="0071B2"/>
                </a:solidFill>
                <a:effectLst/>
                <a:uLnTx/>
                <a:uFillTx/>
                <a:latin typeface="Calibri" panose="020F0502020204030204"/>
                <a:ea typeface="+mn-ea"/>
                <a:cs typeface="+mn-cs"/>
              </a:rPr>
              <a:t>Die fast schon amüsante</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Lösung besteht nun schlicht darin, echte Teilmengen eines Primärschlüssels auszuschließen, indem stets ein (einspaltiges) ID-Attribut eingeführt wird. (Dieses „künstliche“ Attribut wird auch als </a:t>
            </a:r>
            <a:r>
              <a:rPr kumimoji="0" lang="de-DE" sz="1800" b="1" i="0" u="none" strike="noStrike" kern="1200" cap="none" spc="0" normalizeH="0" noProof="0" dirty="0" smtClean="0">
                <a:ln>
                  <a:noFill/>
                </a:ln>
                <a:solidFill>
                  <a:schemeClr val="accent2"/>
                </a:solidFill>
                <a:effectLst/>
                <a:uLnTx/>
                <a:uFillTx/>
                <a:latin typeface="Calibri" panose="020F0502020204030204"/>
                <a:ea typeface="+mn-ea"/>
                <a:cs typeface="+mn-cs"/>
              </a:rPr>
              <a:t>„Surrogatschlüssel“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bezeichnet).</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baseline="0" dirty="0" smtClean="0">
                <a:solidFill>
                  <a:srgbClr val="0071B2"/>
                </a:solidFill>
                <a:latin typeface="Calibri" panose="020F0502020204030204"/>
              </a:rPr>
              <a:t>Auf diese Weise entkommen wir der doch recht komplizierten Formulierung der 2. Normalform</a:t>
            </a:r>
            <a:r>
              <a:rPr lang="de-DE" dirty="0" smtClean="0">
                <a:solidFill>
                  <a:srgbClr val="0071B2"/>
                </a:solidFill>
                <a:latin typeface="Calibri" panose="020F0502020204030204"/>
              </a:rPr>
              <a:t>, indem wir allen Tabellen quasi „die Chance“ nehmen, Abhängigkeiten zu dann </a:t>
            </a:r>
            <a:r>
              <a:rPr lang="de-DE" u="sng" dirty="0" smtClean="0">
                <a:solidFill>
                  <a:srgbClr val="0071B2"/>
                </a:solidFill>
                <a:latin typeface="Calibri" panose="020F0502020204030204"/>
              </a:rPr>
              <a:t>nicht mehr existierenden</a:t>
            </a:r>
            <a:r>
              <a:rPr lang="de-DE" dirty="0" smtClean="0">
                <a:solidFill>
                  <a:srgbClr val="0071B2"/>
                </a:solidFill>
                <a:latin typeface="Calibri" panose="020F0502020204030204"/>
              </a:rPr>
              <a:t> echten Teilmengen des Primärschlüssels</a:t>
            </a:r>
            <a:r>
              <a:rPr lang="de-DE" baseline="0" dirty="0" smtClean="0">
                <a:solidFill>
                  <a:srgbClr val="0071B2"/>
                </a:solidFill>
                <a:latin typeface="Calibri" panose="020F0502020204030204"/>
              </a:rPr>
              <a:t> zu besitzen.</a:t>
            </a:r>
            <a:endParaRPr kumimoji="0" lang="de-DE" sz="180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9" name="Tabelle 8"/>
          <p:cNvGraphicFramePr>
            <a:graphicFrameLocks noGrp="1"/>
          </p:cNvGraphicFramePr>
          <p:nvPr>
            <p:extLst>
              <p:ext uri="{D42A27DB-BD31-4B8C-83A1-F6EECF244321}">
                <p14:modId xmlns:p14="http://schemas.microsoft.com/office/powerpoint/2010/main" val="3870040490"/>
              </p:ext>
            </p:extLst>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accent2"/>
                          </a:solidFill>
                        </a:rPr>
                        <a:t>Person_ID</a:t>
                      </a:r>
                      <a:endParaRPr lang="de-DE" dirty="0">
                        <a:solidFill>
                          <a:schemeClr val="accent2"/>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Tree>
    <p:extLst>
      <p:ext uri="{BB962C8B-B14F-4D97-AF65-F5344CB8AC3E}">
        <p14:creationId xmlns:p14="http://schemas.microsoft.com/office/powerpoint/2010/main" val="29646381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8956145" cy="720725"/>
          </a:xfrm>
        </p:spPr>
        <p:txBody>
          <a:bodyPr>
            <a:norm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Lösung</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1323439"/>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1B2"/>
                </a:solidFill>
                <a:latin typeface="Calibri" panose="020F0502020204030204"/>
              </a:rPr>
              <a:t>Für j</a:t>
            </a:r>
            <a:r>
              <a:rPr kumimoji="0" lang="de-DE" sz="1800" i="0" u="none" strike="noStrike" kern="1200" cap="none" spc="0" normalizeH="0" baseline="0" noProof="0" dirty="0" smtClean="0">
                <a:ln>
                  <a:noFill/>
                </a:ln>
                <a:solidFill>
                  <a:srgbClr val="0071B2"/>
                </a:solidFill>
                <a:effectLst/>
                <a:uLnTx/>
                <a:uFillTx/>
                <a:latin typeface="Calibri" panose="020F0502020204030204"/>
                <a:ea typeface="+mn-ea"/>
                <a:cs typeface="+mn-cs"/>
              </a:rPr>
              <a:t>ede Datenbank in der 1. Normalform,</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in der alle Tabellen </a:t>
            </a:r>
            <a:r>
              <a:rPr kumimoji="0" lang="de-DE" sz="1800" i="0" u="sng" strike="noStrike" kern="1200" cap="none" spc="0" normalizeH="0" noProof="0" dirty="0" smtClean="0">
                <a:ln>
                  <a:noFill/>
                </a:ln>
                <a:solidFill>
                  <a:srgbClr val="0071B2"/>
                </a:solidFill>
                <a:effectLst/>
                <a:uLnTx/>
                <a:uFillTx/>
                <a:latin typeface="Calibri" panose="020F0502020204030204"/>
                <a:ea typeface="+mn-ea"/>
                <a:cs typeface="+mn-cs"/>
              </a:rPr>
              <a:t>ausschließlich</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a:t>
            </a:r>
            <a:r>
              <a:rPr kumimoji="0" lang="de-DE" sz="1800" b="1" i="0" u="none" strike="noStrike" kern="1200" cap="none" spc="0" normalizeH="0" noProof="0" dirty="0" smtClean="0">
                <a:ln>
                  <a:noFill/>
                </a:ln>
                <a:solidFill>
                  <a:schemeClr val="accent2"/>
                </a:solidFill>
                <a:effectLst/>
                <a:uLnTx/>
                <a:uFillTx/>
                <a:latin typeface="Calibri" panose="020F0502020204030204"/>
                <a:ea typeface="+mn-ea"/>
                <a:cs typeface="+mn-cs"/>
              </a:rPr>
              <a:t>1-spaltige Primärschlüssel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besitzen,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gilt also:</a:t>
            </a:r>
            <a:endPar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Diese Datenbanken sind dann stets – und also quasi </a:t>
            </a:r>
            <a:r>
              <a:rPr kumimoji="0" lang="de-DE" sz="1800" b="1" i="0" u="none" strike="noStrike" kern="1200" cap="none" spc="0" normalizeH="0" noProof="0" dirty="0" smtClean="0">
                <a:ln>
                  <a:noFill/>
                </a:ln>
                <a:solidFill>
                  <a:srgbClr val="0071B2"/>
                </a:solidFill>
                <a:effectLst/>
                <a:uLnTx/>
                <a:uFillTx/>
                <a:latin typeface="Calibri" panose="020F0502020204030204"/>
                <a:ea typeface="+mn-ea"/>
                <a:cs typeface="+mn-cs"/>
              </a:rPr>
              <a:t>„automatisch“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zugleich auch in der </a:t>
            </a:r>
            <a:r>
              <a:rPr kumimoji="0" lang="de-DE" sz="1800" b="1" i="0" u="none" strike="noStrike" kern="1200" cap="none" spc="0" normalizeH="0" noProof="0" dirty="0" smtClean="0">
                <a:ln>
                  <a:noFill/>
                </a:ln>
                <a:solidFill>
                  <a:srgbClr val="0071B2"/>
                </a:solidFill>
                <a:effectLst/>
                <a:uLnTx/>
                <a:uFillTx/>
                <a:latin typeface="Calibri" panose="020F0502020204030204"/>
                <a:ea typeface="+mn-ea"/>
                <a:cs typeface="+mn-cs"/>
              </a:rPr>
              <a:t>2. Normalform</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noProof="0" dirty="0" smtClean="0">
                <a:ln>
                  <a:noFill/>
                </a:ln>
                <a:solidFill>
                  <a:schemeClr val="bg2"/>
                </a:solidFill>
                <a:effectLst/>
                <a:uLnTx/>
                <a:uFillTx/>
                <a:latin typeface="Calibri" panose="020F0502020204030204"/>
                <a:ea typeface="+mn-ea"/>
                <a:cs typeface="+mn-cs"/>
              </a:rPr>
              <a:t>Freilich ändert diese Vorgehensweise dann aber noch nichts an der funktionalen Abhängigkeit zwischen Vorwahl und PLZ.</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noProof="0" dirty="0" smtClean="0">
                <a:solidFill>
                  <a:schemeClr val="bg2"/>
                </a:solidFill>
                <a:latin typeface="Calibri" panose="020F0502020204030204"/>
              </a:rPr>
              <a:t>Aus diesem Grund werden wir uns nun abschließend auch noch mit der </a:t>
            </a:r>
            <a:r>
              <a:rPr lang="de-DE" b="1" noProof="0" dirty="0" smtClean="0">
                <a:solidFill>
                  <a:schemeClr val="bg2"/>
                </a:solidFill>
                <a:latin typeface="Calibri" panose="020F0502020204030204"/>
              </a:rPr>
              <a:t>3. Normalform </a:t>
            </a:r>
            <a:r>
              <a:rPr lang="de-DE" noProof="0" dirty="0" smtClean="0">
                <a:solidFill>
                  <a:schemeClr val="bg2"/>
                </a:solidFill>
                <a:latin typeface="Calibri" panose="020F0502020204030204"/>
              </a:rPr>
              <a:t>beschäftigen.</a:t>
            </a:r>
            <a:endParaRPr kumimoji="0" lang="de-DE" sz="1800" i="0" u="none" strike="noStrike" kern="1200" cap="none" spc="0" normalizeH="0" baseline="0" noProof="0" dirty="0">
              <a:ln>
                <a:noFill/>
              </a:ln>
              <a:solidFill>
                <a:schemeClr val="bg2"/>
              </a:solidFill>
              <a:effectLst/>
              <a:uLnTx/>
              <a:uFillTx/>
              <a:latin typeface="Calibri" panose="020F0502020204030204"/>
            </a:endParaRPr>
          </a:p>
        </p:txBody>
      </p:sp>
      <p:graphicFrame>
        <p:nvGraphicFramePr>
          <p:cNvPr id="9" name="Tabelle 8"/>
          <p:cNvGraphicFramePr>
            <a:graphicFrameLocks noGrp="1"/>
          </p:cNvGraphicFramePr>
          <p:nvPr>
            <p:extLst>
              <p:ext uri="{D42A27DB-BD31-4B8C-83A1-F6EECF244321}">
                <p14:modId xmlns:p14="http://schemas.microsoft.com/office/powerpoint/2010/main" val="1829471851"/>
              </p:ext>
            </p:extLst>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13" name="Rechteck 12"/>
          <p:cNvSpPr/>
          <p:nvPr/>
        </p:nvSpPr>
        <p:spPr>
          <a:xfrm>
            <a:off x="673331" y="2908549"/>
            <a:ext cx="1569537" cy="148336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283929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302024" cy="720725"/>
          </a:xfrm>
        </p:spPr>
        <p:txBody>
          <a:bodyPr>
            <a:noAutofit/>
          </a:bodyPr>
          <a:lstStyle/>
          <a:p>
            <a:r>
              <a:rPr lang="de-DE" dirty="0" smtClean="0">
                <a:latin typeface="Source Sans Pro" panose="020B0503030403020204" pitchFamily="34" charset="0"/>
              </a:rPr>
              <a:t>2. </a:t>
            </a:r>
            <a:r>
              <a:rPr lang="de-DE" dirty="0">
                <a:latin typeface="Source Sans Pro" panose="020B0503030403020204" pitchFamily="34" charset="0"/>
              </a:rPr>
              <a:t>Normalform -&gt; </a:t>
            </a:r>
            <a:r>
              <a:rPr lang="de-DE" dirty="0" smtClean="0">
                <a:latin typeface="Source Sans Pro" panose="020B0503030403020204" pitchFamily="34" charset="0"/>
              </a:rPr>
              <a:t>Lösung … </a:t>
            </a:r>
            <a:r>
              <a:rPr lang="de-DE" dirty="0" smtClean="0">
                <a:solidFill>
                  <a:schemeClr val="accent2"/>
                </a:solidFill>
                <a:latin typeface="Source Sans Pro" panose="020B0503030403020204" pitchFamily="34" charset="0"/>
              </a:rPr>
              <a:t>allerdings:</a:t>
            </a:r>
            <a:endParaRPr lang="de-DE"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1323439"/>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solidFill>
                  <a:srgbClr val="0071B2"/>
                </a:solidFill>
                <a:latin typeface="Calibri" panose="020F0502020204030204"/>
              </a:rPr>
              <a:t>Für j</a:t>
            </a:r>
            <a:r>
              <a:rPr kumimoji="0" lang="de-DE" sz="1800" i="0" u="none" strike="noStrike" kern="1200" cap="none" spc="0" normalizeH="0" baseline="0" noProof="0" dirty="0" smtClean="0">
                <a:ln>
                  <a:noFill/>
                </a:ln>
                <a:solidFill>
                  <a:srgbClr val="0071B2"/>
                </a:solidFill>
                <a:effectLst/>
                <a:uLnTx/>
                <a:uFillTx/>
                <a:latin typeface="Calibri" panose="020F0502020204030204"/>
                <a:ea typeface="+mn-ea"/>
                <a:cs typeface="+mn-cs"/>
              </a:rPr>
              <a:t>ede Datenbank in der 1. Normalform,</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in der alle Tabellen </a:t>
            </a:r>
            <a:r>
              <a:rPr kumimoji="0" lang="de-DE" sz="1800" i="0" u="sng" strike="noStrike" kern="1200" cap="none" spc="0" normalizeH="0" noProof="0" dirty="0" smtClean="0">
                <a:ln>
                  <a:noFill/>
                </a:ln>
                <a:solidFill>
                  <a:srgbClr val="0071B2"/>
                </a:solidFill>
                <a:effectLst/>
                <a:uLnTx/>
                <a:uFillTx/>
                <a:latin typeface="Calibri" panose="020F0502020204030204"/>
                <a:ea typeface="+mn-ea"/>
                <a:cs typeface="+mn-cs"/>
              </a:rPr>
              <a:t>ausschließlich</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a:t>
            </a:r>
            <a:r>
              <a:rPr kumimoji="0" lang="de-DE" sz="1800" b="1" i="0" u="none" strike="noStrike" kern="1200" cap="none" spc="0" normalizeH="0" noProof="0" dirty="0" smtClean="0">
                <a:ln>
                  <a:noFill/>
                </a:ln>
                <a:solidFill>
                  <a:srgbClr val="0071B2"/>
                </a:solidFill>
                <a:effectLst/>
                <a:uLnTx/>
                <a:uFillTx/>
                <a:latin typeface="Calibri" panose="020F0502020204030204"/>
                <a:ea typeface="+mn-ea"/>
                <a:cs typeface="+mn-cs"/>
              </a:rPr>
              <a:t>1-spaltige Primärschlüssel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besitzen,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gilt also:</a:t>
            </a:r>
            <a:endPar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Diese Datenbanken sind dann stets – und also quasi </a:t>
            </a:r>
            <a:r>
              <a:rPr kumimoji="0" lang="de-DE" sz="1800" b="1" i="0" u="none" strike="noStrike" kern="1200" cap="none" spc="0" normalizeH="0" noProof="0" dirty="0" smtClean="0">
                <a:ln>
                  <a:noFill/>
                </a:ln>
                <a:solidFill>
                  <a:srgbClr val="0071B2"/>
                </a:solidFill>
                <a:effectLst/>
                <a:uLnTx/>
                <a:uFillTx/>
                <a:latin typeface="Calibri" panose="020F0502020204030204"/>
                <a:ea typeface="+mn-ea"/>
                <a:cs typeface="+mn-cs"/>
              </a:rPr>
              <a:t>„automatisch“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 zugleich auch in der </a:t>
            </a:r>
            <a:r>
              <a:rPr kumimoji="0" lang="de-DE" sz="1800" b="1" i="0" u="none" strike="noStrike" kern="1200" cap="none" spc="0" normalizeH="0" noProof="0" dirty="0" smtClean="0">
                <a:ln>
                  <a:noFill/>
                </a:ln>
                <a:solidFill>
                  <a:srgbClr val="0071B2"/>
                </a:solidFill>
                <a:effectLst/>
                <a:uLnTx/>
                <a:uFillTx/>
                <a:latin typeface="Calibri" panose="020F0502020204030204"/>
                <a:ea typeface="+mn-ea"/>
                <a:cs typeface="+mn-cs"/>
              </a:rPr>
              <a:t>2. Normalform</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Freilich ändert diese Vorgehensweise dann aber noch nichts an der </a:t>
            </a:r>
            <a:r>
              <a:rPr kumimoji="0" lang="de-DE" sz="1800" b="1" i="0" u="none" strike="noStrike" kern="1200" cap="none" spc="0" normalizeH="0" noProof="0" dirty="0" smtClean="0">
                <a:ln>
                  <a:noFill/>
                </a:ln>
                <a:solidFill>
                  <a:schemeClr val="accent2"/>
                </a:solidFill>
                <a:effectLst/>
                <a:uLnTx/>
                <a:uFillTx/>
                <a:latin typeface="Calibri" panose="020F0502020204030204"/>
                <a:ea typeface="+mn-ea"/>
                <a:cs typeface="+mn-cs"/>
              </a:rPr>
              <a:t>funktionalen Abhängigkeit </a:t>
            </a:r>
            <a:r>
              <a:rPr kumimoji="0" lang="de-DE" sz="1800" i="0" u="none" strike="noStrike" kern="1200" cap="none" spc="0" normalizeH="0" noProof="0" dirty="0" smtClean="0">
                <a:ln>
                  <a:noFill/>
                </a:ln>
                <a:solidFill>
                  <a:srgbClr val="0071B2"/>
                </a:solidFill>
                <a:effectLst/>
                <a:uLnTx/>
                <a:uFillTx/>
                <a:latin typeface="Calibri" panose="020F0502020204030204"/>
                <a:ea typeface="+mn-ea"/>
                <a:cs typeface="+mn-cs"/>
              </a:rPr>
              <a:t>zwischen Vorwahl und PLZ.</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noProof="0" dirty="0" smtClean="0">
                <a:solidFill>
                  <a:srgbClr val="0071B2"/>
                </a:solidFill>
                <a:latin typeface="Calibri" panose="020F0502020204030204"/>
              </a:rPr>
              <a:t>Aus diesem Grund werden wir uns nun abschließend auch noch mit der </a:t>
            </a:r>
            <a:r>
              <a:rPr lang="de-DE" b="1" noProof="0" dirty="0" smtClean="0">
                <a:solidFill>
                  <a:srgbClr val="0071B2"/>
                </a:solidFill>
                <a:latin typeface="Calibri" panose="020F0502020204030204"/>
              </a:rPr>
              <a:t>3. Normalform </a:t>
            </a:r>
            <a:r>
              <a:rPr lang="de-DE" noProof="0" dirty="0" smtClean="0">
                <a:solidFill>
                  <a:srgbClr val="0071B2"/>
                </a:solidFill>
                <a:latin typeface="Calibri" panose="020F0502020204030204"/>
              </a:rPr>
              <a:t>beschäftigen.</a:t>
            </a:r>
            <a:endParaRPr kumimoji="0" lang="de-DE" sz="180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9" name="Tabelle 8"/>
          <p:cNvGraphicFramePr>
            <a:graphicFrameLocks noGrp="1"/>
          </p:cNvGraphicFramePr>
          <p:nvPr>
            <p:extLst>
              <p:ext uri="{D42A27DB-BD31-4B8C-83A1-F6EECF244321}">
                <p14:modId xmlns:p14="http://schemas.microsoft.com/office/powerpoint/2010/main" val="1829471851"/>
              </p:ext>
            </p:extLst>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Nach oben gekrümmter Pfeil 7"/>
          <p:cNvSpPr/>
          <p:nvPr/>
        </p:nvSpPr>
        <p:spPr>
          <a:xfrm>
            <a:off x="4239491" y="4580313"/>
            <a:ext cx="3998422" cy="482138"/>
          </a:xfrm>
          <a:prstGeom prst="curved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Tree>
    <p:extLst>
      <p:ext uri="{BB962C8B-B14F-4D97-AF65-F5344CB8AC3E}">
        <p14:creationId xmlns:p14="http://schemas.microsoft.com/office/powerpoint/2010/main" val="1338046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3</a:t>
            </a:r>
            <a:r>
              <a:rPr lang="de-DE" sz="6600" dirty="0" smtClean="0">
                <a:latin typeface="Source Sans Pro" panose="020B0503030403020204" pitchFamily="34" charset="0"/>
              </a:rPr>
              <a:t>. Normalform</a:t>
            </a:r>
            <a:endParaRPr lang="de-DE" sz="6600" dirty="0">
              <a:latin typeface="Source Sans Pro" panose="020B0503030403020204" pitchFamily="34" charset="0"/>
            </a:endParaRPr>
          </a:p>
        </p:txBody>
      </p:sp>
    </p:spTree>
    <p:extLst>
      <p:ext uri="{BB962C8B-B14F-4D97-AF65-F5344CB8AC3E}">
        <p14:creationId xmlns:p14="http://schemas.microsoft.com/office/powerpoint/2010/main" val="18212390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718444" cy="720725"/>
          </a:xfrm>
        </p:spPr>
        <p:txBody>
          <a:bodyPr>
            <a:normAutofit/>
          </a:bodyPr>
          <a:lstStyle/>
          <a:p>
            <a:r>
              <a:rPr lang="de-DE" dirty="0" smtClean="0">
                <a:latin typeface="Source Sans Pro" panose="020B0503030403020204" pitchFamily="34" charset="0"/>
              </a:rPr>
              <a:t>3. Normalform -&gt; Definition + Motivation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8" y="2153488"/>
            <a:ext cx="11317131" cy="249299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Auch die</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formale Definition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3. Normalform klingt durchaus herausfordernd:</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Eine Relationale Datenbank erfüllt die </a:t>
            </a:r>
            <a:r>
              <a:rPr lang="de-DE" sz="2000" dirty="0">
                <a:solidFill>
                  <a:srgbClr val="0071B2"/>
                </a:solidFill>
                <a:latin typeface="Source Sans Pro" panose="020B0503030403020204" pitchFamily="34" charset="0"/>
              </a:rPr>
              <a:t>3</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Normalform, wenn sie zum einen die 2. NF erfüllt und darüber hinaus </a:t>
            </a:r>
            <a:r>
              <a:rPr kumimoji="0" lang="de-DE" sz="2000" b="0" i="0" u="sng"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keine</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Tabelle besitzt, in der ein Nicht-Schlüssel-Attribut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in transitiver Abhängigkeit </a:t>
            </a:r>
            <a:r>
              <a:rPr kumimoji="0" lang="de-DE" sz="20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zu einer echten (oder unechten) </a:t>
            </a:r>
            <a:r>
              <a:rPr kumimoji="0" lang="de-DE" sz="200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T</a:t>
            </a:r>
            <a:r>
              <a:rPr kumimoji="0" lang="de-DE" sz="20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eilmenge des Primärschlüssels steht.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Auch dies soll mittels eines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anschaulichen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Beispiels</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erläutert</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werden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Motivation ist erneut Redundanz-Vermeidung</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mittels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monothematischer Tabellen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313443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718444" cy="720725"/>
          </a:xfrm>
        </p:spPr>
        <p:txBody>
          <a:bodyPr>
            <a:normAutofit/>
          </a:bodyPr>
          <a:lstStyle/>
          <a:p>
            <a:r>
              <a:rPr lang="de-DE" dirty="0" smtClean="0">
                <a:latin typeface="Source Sans Pro" panose="020B0503030403020204" pitchFamily="34" charset="0"/>
              </a:rPr>
              <a:t>Transitivität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7" y="2153488"/>
            <a:ext cx="11229446" cy="233910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Eine Beziehung heißt </a:t>
            </a:r>
            <a:r>
              <a:rPr lang="de-DE" sz="2000" b="1" dirty="0" smtClean="0">
                <a:solidFill>
                  <a:srgbClr val="0071B2"/>
                </a:solidFill>
                <a:latin typeface="Source Sans Pro" panose="020B0503030403020204" pitchFamily="34" charset="0"/>
              </a:rPr>
              <a:t>„transitiv“, </a:t>
            </a:r>
            <a:r>
              <a:rPr lang="de-DE" sz="2000" dirty="0" smtClean="0">
                <a:solidFill>
                  <a:srgbClr val="0071B2"/>
                </a:solidFill>
                <a:latin typeface="Source Sans Pro" panose="020B0503030403020204" pitchFamily="34" charset="0"/>
              </a:rPr>
              <a:t>wenn aus der Relation von </a:t>
            </a:r>
            <a:r>
              <a:rPr lang="de-DE" sz="2000" b="1" dirty="0" smtClean="0">
                <a:solidFill>
                  <a:srgbClr val="0071B2"/>
                </a:solidFill>
                <a:latin typeface="Source Sans Pro" panose="020B0503030403020204" pitchFamily="34" charset="0"/>
              </a:rPr>
              <a:t>„A nach B“ </a:t>
            </a:r>
            <a:r>
              <a:rPr lang="de-DE" sz="2000" u="sng" dirty="0" smtClean="0">
                <a:solidFill>
                  <a:srgbClr val="0071B2"/>
                </a:solidFill>
                <a:latin typeface="Source Sans Pro" panose="020B0503030403020204" pitchFamily="34" charset="0"/>
              </a:rPr>
              <a:t>und</a:t>
            </a:r>
            <a:r>
              <a:rPr lang="de-DE" sz="2000" b="1" dirty="0" smtClean="0">
                <a:solidFill>
                  <a:srgbClr val="0071B2"/>
                </a:solidFill>
                <a:latin typeface="Source Sans Pro" panose="020B0503030403020204" pitchFamily="34" charset="0"/>
              </a:rPr>
              <a:t>  „B nach C“ </a:t>
            </a:r>
            <a:r>
              <a:rPr lang="de-DE" sz="2000" dirty="0" smtClean="0">
                <a:solidFill>
                  <a:srgbClr val="0071B2"/>
                </a:solidFill>
                <a:latin typeface="Source Sans Pro" panose="020B0503030403020204" pitchFamily="34" charset="0"/>
              </a:rPr>
              <a:t>stets folgt, dass dann auch zwingend eine Beziehung von </a:t>
            </a:r>
            <a:r>
              <a:rPr lang="de-DE" sz="2000" b="1" dirty="0" smtClean="0">
                <a:solidFill>
                  <a:srgbClr val="0071B2"/>
                </a:solidFill>
                <a:latin typeface="Source Sans Pro" panose="020B0503030403020204" pitchFamily="34" charset="0"/>
              </a:rPr>
              <a:t>„A nach C“ </a:t>
            </a:r>
            <a:r>
              <a:rPr lang="de-DE" sz="2000" dirty="0" smtClean="0">
                <a:solidFill>
                  <a:srgbClr val="0071B2"/>
                </a:solidFill>
                <a:latin typeface="Source Sans Pro" panose="020B0503030403020204" pitchFamily="34" charset="0"/>
              </a:rPr>
              <a:t>gilt.</a:t>
            </a:r>
            <a:endParaRPr kumimoji="0" lang="de-DE" sz="200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Beispiele:</a:t>
            </a:r>
          </a:p>
          <a:p>
            <a:pPr marL="800100" lvl="1" indent="-342900">
              <a:buFont typeface="Symbol" panose="05050102010706020507" pitchFamily="18" charset="2"/>
              <a:buChar char="-"/>
            </a:pPr>
            <a:r>
              <a:rPr lang="de-DE" sz="1400" dirty="0" smtClean="0">
                <a:solidFill>
                  <a:srgbClr val="0071B2"/>
                </a:solidFill>
                <a:latin typeface="Source Sans Pro" panose="020B0503030403020204" pitchFamily="34" charset="0"/>
              </a:rPr>
              <a:t>Die Beziehung </a:t>
            </a:r>
            <a:r>
              <a:rPr lang="de-DE" sz="1400" b="1" dirty="0" smtClean="0">
                <a:solidFill>
                  <a:srgbClr val="0071B2"/>
                </a:solidFill>
                <a:latin typeface="Source Sans Pro" panose="020B0503030403020204" pitchFamily="34" charset="0"/>
              </a:rPr>
              <a:t>„ist größer als“ </a:t>
            </a:r>
            <a:r>
              <a:rPr lang="de-DE" sz="1400" dirty="0" smtClean="0">
                <a:solidFill>
                  <a:srgbClr val="0071B2"/>
                </a:solidFill>
                <a:latin typeface="Source Sans Pro" panose="020B0503030403020204" pitchFamily="34" charset="0"/>
              </a:rPr>
              <a:t>ist transitiv, denn wenn </a:t>
            </a:r>
            <a:r>
              <a:rPr lang="de-DE" sz="1400" b="1" dirty="0" smtClean="0">
                <a:solidFill>
                  <a:srgbClr val="0071B2"/>
                </a:solidFill>
                <a:latin typeface="Source Sans Pro" panose="020B0503030403020204" pitchFamily="34" charset="0"/>
              </a:rPr>
              <a:t>„A größer als B“ </a:t>
            </a:r>
            <a:r>
              <a:rPr lang="de-DE" sz="1400" u="sng" dirty="0" smtClean="0">
                <a:solidFill>
                  <a:srgbClr val="0071B2"/>
                </a:solidFill>
                <a:latin typeface="Source Sans Pro" panose="020B0503030403020204" pitchFamily="34" charset="0"/>
              </a:rPr>
              <a:t>und</a:t>
            </a:r>
            <a:r>
              <a:rPr lang="de-DE" sz="1400" b="1" dirty="0" smtClean="0">
                <a:solidFill>
                  <a:srgbClr val="0071B2"/>
                </a:solidFill>
                <a:latin typeface="Source Sans Pro" panose="020B0503030403020204" pitchFamily="34" charset="0"/>
              </a:rPr>
              <a:t> „B größer als C“ </a:t>
            </a:r>
            <a:r>
              <a:rPr lang="de-DE" sz="1400" dirty="0" smtClean="0">
                <a:solidFill>
                  <a:srgbClr val="0071B2"/>
                </a:solidFill>
                <a:latin typeface="Source Sans Pro" panose="020B0503030403020204" pitchFamily="34" charset="0"/>
              </a:rPr>
              <a:t>dann folgt stets: </a:t>
            </a:r>
            <a:r>
              <a:rPr lang="de-DE" sz="1400" b="1" dirty="0" smtClean="0">
                <a:solidFill>
                  <a:srgbClr val="0071B2"/>
                </a:solidFill>
                <a:latin typeface="Source Sans Pro" panose="020B0503030403020204" pitchFamily="34" charset="0"/>
              </a:rPr>
              <a:t>„A ist größer als C“</a:t>
            </a:r>
            <a:r>
              <a:rPr lang="de-DE" sz="1400" dirty="0" smtClean="0">
                <a:solidFill>
                  <a:srgbClr val="0071B2"/>
                </a:solidFill>
                <a:latin typeface="Source Sans Pro" panose="020B0503030403020204" pitchFamily="34" charset="0"/>
              </a:rPr>
              <a:t>.</a:t>
            </a:r>
          </a:p>
          <a:p>
            <a:pPr marL="800100" lvl="1" indent="-342900">
              <a:buFont typeface="Symbol" panose="05050102010706020507" pitchFamily="18" charset="2"/>
              <a:buChar char="-"/>
            </a:pPr>
            <a:r>
              <a:rPr lang="de-DE" sz="1400" dirty="0">
                <a:solidFill>
                  <a:srgbClr val="0071B2"/>
                </a:solidFill>
                <a:latin typeface="Source Sans Pro" panose="020B0503030403020204" pitchFamily="34" charset="0"/>
              </a:rPr>
              <a:t>Die Beziehung </a:t>
            </a:r>
            <a:r>
              <a:rPr lang="de-DE" sz="1400" b="1" dirty="0">
                <a:solidFill>
                  <a:srgbClr val="0071B2"/>
                </a:solidFill>
                <a:latin typeface="Source Sans Pro" panose="020B0503030403020204" pitchFamily="34" charset="0"/>
              </a:rPr>
              <a:t>„ist </a:t>
            </a:r>
            <a:r>
              <a:rPr lang="de-DE" sz="1400" b="1" dirty="0" smtClean="0">
                <a:solidFill>
                  <a:srgbClr val="0071B2"/>
                </a:solidFill>
                <a:latin typeface="Source Sans Pro" panose="020B0503030403020204" pitchFamily="34" charset="0"/>
              </a:rPr>
              <a:t>teurer </a:t>
            </a:r>
            <a:r>
              <a:rPr lang="de-DE" sz="1400" b="1" dirty="0">
                <a:solidFill>
                  <a:srgbClr val="0071B2"/>
                </a:solidFill>
                <a:latin typeface="Source Sans Pro" panose="020B0503030403020204" pitchFamily="34" charset="0"/>
              </a:rPr>
              <a:t>als“ </a:t>
            </a:r>
            <a:r>
              <a:rPr lang="de-DE" sz="1400" dirty="0">
                <a:solidFill>
                  <a:srgbClr val="0071B2"/>
                </a:solidFill>
                <a:latin typeface="Source Sans Pro" panose="020B0503030403020204" pitchFamily="34" charset="0"/>
              </a:rPr>
              <a:t>ist transitiv, denn wenn </a:t>
            </a:r>
            <a:r>
              <a:rPr lang="de-DE" sz="1400" b="1" dirty="0">
                <a:solidFill>
                  <a:srgbClr val="0071B2"/>
                </a:solidFill>
                <a:latin typeface="Source Sans Pro" panose="020B0503030403020204" pitchFamily="34" charset="0"/>
              </a:rPr>
              <a:t>„A </a:t>
            </a:r>
            <a:r>
              <a:rPr lang="de-DE" sz="1400" b="1" dirty="0" smtClean="0">
                <a:solidFill>
                  <a:srgbClr val="0071B2"/>
                </a:solidFill>
                <a:latin typeface="Source Sans Pro" panose="020B0503030403020204" pitchFamily="34" charset="0"/>
              </a:rPr>
              <a:t>teurer als  B“ </a:t>
            </a:r>
            <a:r>
              <a:rPr lang="de-DE" sz="1400" u="sng" dirty="0">
                <a:solidFill>
                  <a:srgbClr val="0071B2"/>
                </a:solidFill>
                <a:latin typeface="Source Sans Pro" panose="020B0503030403020204" pitchFamily="34" charset="0"/>
              </a:rPr>
              <a:t>und</a:t>
            </a:r>
            <a:r>
              <a:rPr lang="de-DE" sz="1400" b="1" dirty="0">
                <a:solidFill>
                  <a:srgbClr val="0071B2"/>
                </a:solidFill>
                <a:latin typeface="Source Sans Pro" panose="020B0503030403020204" pitchFamily="34" charset="0"/>
              </a:rPr>
              <a:t> </a:t>
            </a:r>
            <a:r>
              <a:rPr lang="de-DE" sz="1400" b="1" dirty="0" smtClean="0">
                <a:solidFill>
                  <a:srgbClr val="0071B2"/>
                </a:solidFill>
                <a:latin typeface="Source Sans Pro" panose="020B0503030403020204" pitchFamily="34" charset="0"/>
              </a:rPr>
              <a:t>„B teurer als </a:t>
            </a:r>
            <a:r>
              <a:rPr lang="de-DE" sz="1400" b="1" dirty="0">
                <a:solidFill>
                  <a:srgbClr val="0071B2"/>
                </a:solidFill>
                <a:latin typeface="Source Sans Pro" panose="020B0503030403020204" pitchFamily="34" charset="0"/>
              </a:rPr>
              <a:t>C“ </a:t>
            </a:r>
            <a:r>
              <a:rPr lang="de-DE" sz="1400" dirty="0">
                <a:solidFill>
                  <a:srgbClr val="0071B2"/>
                </a:solidFill>
                <a:latin typeface="Source Sans Pro" panose="020B0503030403020204" pitchFamily="34" charset="0"/>
              </a:rPr>
              <a:t>dann folgt stets auch: </a:t>
            </a:r>
            <a:r>
              <a:rPr lang="de-DE" sz="1400" b="1" dirty="0">
                <a:solidFill>
                  <a:srgbClr val="0071B2"/>
                </a:solidFill>
                <a:latin typeface="Source Sans Pro" panose="020B0503030403020204" pitchFamily="34" charset="0"/>
              </a:rPr>
              <a:t>„A ist </a:t>
            </a:r>
            <a:r>
              <a:rPr lang="de-DE" sz="1400" b="1" dirty="0" smtClean="0">
                <a:solidFill>
                  <a:srgbClr val="0071B2"/>
                </a:solidFill>
                <a:latin typeface="Source Sans Pro" panose="020B0503030403020204" pitchFamily="34" charset="0"/>
              </a:rPr>
              <a:t>teurer </a:t>
            </a:r>
            <a:r>
              <a:rPr lang="de-DE" sz="1400" b="1" dirty="0">
                <a:solidFill>
                  <a:srgbClr val="0071B2"/>
                </a:solidFill>
                <a:latin typeface="Source Sans Pro" panose="020B0503030403020204" pitchFamily="34" charset="0"/>
              </a:rPr>
              <a:t>als C</a:t>
            </a:r>
            <a:r>
              <a:rPr lang="de-DE" sz="1400" b="1" dirty="0" smtClean="0">
                <a:solidFill>
                  <a:srgbClr val="0071B2"/>
                </a:solidFill>
                <a:latin typeface="Source Sans Pro" panose="020B0503030403020204" pitchFamily="34" charset="0"/>
              </a:rPr>
              <a:t>“</a:t>
            </a:r>
            <a:r>
              <a:rPr lang="de-DE" sz="1400" dirty="0" smtClean="0">
                <a:solidFill>
                  <a:srgbClr val="0071B2"/>
                </a:solidFill>
                <a:latin typeface="Source Sans Pro" panose="020B0503030403020204" pitchFamily="34" charset="0"/>
              </a:rPr>
              <a:t>.</a:t>
            </a:r>
          </a:p>
          <a:p>
            <a:pPr marL="800100" lvl="1" indent="-342900">
              <a:buFont typeface="Symbol" panose="05050102010706020507" pitchFamily="18" charset="2"/>
              <a:buChar char="-"/>
            </a:pPr>
            <a:r>
              <a:rPr lang="de-DE" sz="1400" dirty="0">
                <a:solidFill>
                  <a:srgbClr val="0071B2"/>
                </a:solidFill>
                <a:latin typeface="Source Sans Pro" panose="020B0503030403020204" pitchFamily="34" charset="0"/>
              </a:rPr>
              <a:t>Die Beziehung </a:t>
            </a:r>
            <a:r>
              <a:rPr lang="de-DE" sz="1400" b="1" dirty="0">
                <a:solidFill>
                  <a:srgbClr val="0071B2"/>
                </a:solidFill>
                <a:latin typeface="Source Sans Pro" panose="020B0503030403020204" pitchFamily="34" charset="0"/>
              </a:rPr>
              <a:t>„ist </a:t>
            </a:r>
            <a:r>
              <a:rPr lang="de-DE" sz="1400" b="1" dirty="0" smtClean="0">
                <a:solidFill>
                  <a:srgbClr val="0071B2"/>
                </a:solidFill>
                <a:latin typeface="Source Sans Pro" panose="020B0503030403020204" pitchFamily="34" charset="0"/>
              </a:rPr>
              <a:t>Vater von“ </a:t>
            </a:r>
            <a:r>
              <a:rPr lang="de-DE" sz="1400" dirty="0">
                <a:solidFill>
                  <a:srgbClr val="0071B2"/>
                </a:solidFill>
                <a:latin typeface="Source Sans Pro" panose="020B0503030403020204" pitchFamily="34" charset="0"/>
              </a:rPr>
              <a:t>ist </a:t>
            </a:r>
            <a:r>
              <a:rPr lang="de-DE" sz="1400" b="1" dirty="0" smtClean="0">
                <a:solidFill>
                  <a:schemeClr val="accent2"/>
                </a:solidFill>
                <a:latin typeface="Source Sans Pro" panose="020B0503030403020204" pitchFamily="34" charset="0"/>
              </a:rPr>
              <a:t>nicht transitiv</a:t>
            </a:r>
            <a:r>
              <a:rPr lang="de-DE" sz="1400" dirty="0">
                <a:solidFill>
                  <a:srgbClr val="0071B2"/>
                </a:solidFill>
                <a:latin typeface="Source Sans Pro" panose="020B0503030403020204" pitchFamily="34" charset="0"/>
              </a:rPr>
              <a:t>, denn wenn </a:t>
            </a:r>
            <a:r>
              <a:rPr lang="de-DE" sz="1400" b="1" dirty="0">
                <a:solidFill>
                  <a:srgbClr val="0071B2"/>
                </a:solidFill>
                <a:latin typeface="Source Sans Pro" panose="020B0503030403020204" pitchFamily="34" charset="0"/>
              </a:rPr>
              <a:t>„A </a:t>
            </a:r>
            <a:r>
              <a:rPr lang="de-DE" sz="1400" b="1" dirty="0" smtClean="0">
                <a:solidFill>
                  <a:srgbClr val="0071B2"/>
                </a:solidFill>
                <a:latin typeface="Source Sans Pro" panose="020B0503030403020204" pitchFamily="34" charset="0"/>
              </a:rPr>
              <a:t>Vater von  B“ </a:t>
            </a:r>
            <a:r>
              <a:rPr lang="de-DE" sz="1400" u="sng" dirty="0">
                <a:solidFill>
                  <a:srgbClr val="0071B2"/>
                </a:solidFill>
                <a:latin typeface="Source Sans Pro" panose="020B0503030403020204" pitchFamily="34" charset="0"/>
              </a:rPr>
              <a:t>und</a:t>
            </a:r>
            <a:r>
              <a:rPr lang="de-DE" sz="1400" b="1" dirty="0">
                <a:solidFill>
                  <a:srgbClr val="0071B2"/>
                </a:solidFill>
                <a:latin typeface="Source Sans Pro" panose="020B0503030403020204" pitchFamily="34" charset="0"/>
              </a:rPr>
              <a:t> </a:t>
            </a:r>
            <a:r>
              <a:rPr lang="de-DE" sz="1400" b="1" dirty="0" smtClean="0">
                <a:solidFill>
                  <a:srgbClr val="0071B2"/>
                </a:solidFill>
                <a:latin typeface="Source Sans Pro" panose="020B0503030403020204" pitchFamily="34" charset="0"/>
              </a:rPr>
              <a:t>„B Vater von </a:t>
            </a:r>
            <a:r>
              <a:rPr lang="de-DE" sz="1400" b="1" dirty="0">
                <a:solidFill>
                  <a:srgbClr val="0071B2"/>
                </a:solidFill>
                <a:latin typeface="Source Sans Pro" panose="020B0503030403020204" pitchFamily="34" charset="0"/>
              </a:rPr>
              <a:t>C“ </a:t>
            </a:r>
            <a:r>
              <a:rPr lang="de-DE" sz="1400" dirty="0">
                <a:solidFill>
                  <a:srgbClr val="0071B2"/>
                </a:solidFill>
                <a:latin typeface="Source Sans Pro" panose="020B0503030403020204" pitchFamily="34" charset="0"/>
              </a:rPr>
              <a:t>dann folgt </a:t>
            </a:r>
            <a:r>
              <a:rPr lang="de-DE" sz="1400" u="sng" dirty="0" smtClean="0">
                <a:solidFill>
                  <a:srgbClr val="0071B2"/>
                </a:solidFill>
                <a:latin typeface="Source Sans Pro" panose="020B0503030403020204" pitchFamily="34" charset="0"/>
              </a:rPr>
              <a:t>nicht</a:t>
            </a:r>
            <a:r>
              <a:rPr lang="de-DE" sz="1400" dirty="0" smtClean="0">
                <a:solidFill>
                  <a:srgbClr val="0071B2"/>
                </a:solidFill>
                <a:latin typeface="Source Sans Pro" panose="020B0503030403020204" pitchFamily="34" charset="0"/>
              </a:rPr>
              <a:t>: </a:t>
            </a:r>
            <a:r>
              <a:rPr lang="de-DE" sz="1400" b="1" dirty="0">
                <a:solidFill>
                  <a:srgbClr val="0071B2"/>
                </a:solidFill>
                <a:latin typeface="Source Sans Pro" panose="020B0503030403020204" pitchFamily="34" charset="0"/>
              </a:rPr>
              <a:t>„A ist </a:t>
            </a:r>
            <a:r>
              <a:rPr lang="de-DE" sz="1400" b="1" dirty="0" smtClean="0">
                <a:solidFill>
                  <a:srgbClr val="0071B2"/>
                </a:solidFill>
                <a:latin typeface="Source Sans Pro" panose="020B0503030403020204" pitchFamily="34" charset="0"/>
              </a:rPr>
              <a:t>Vater von  </a:t>
            </a:r>
            <a:r>
              <a:rPr lang="de-DE" sz="1400" b="1" dirty="0">
                <a:solidFill>
                  <a:srgbClr val="0071B2"/>
                </a:solidFill>
                <a:latin typeface="Source Sans Pro" panose="020B0503030403020204" pitchFamily="34" charset="0"/>
              </a:rPr>
              <a:t>C“</a:t>
            </a:r>
            <a:r>
              <a:rPr lang="de-DE" sz="140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8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Insbesondere gilt dann aber auch: Die Beziehung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„funktional abhängig von“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ist transitiv!</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33501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8956145" cy="720725"/>
          </a:xfrm>
        </p:spPr>
        <p:txBody>
          <a:bodyPr>
            <a:normAutofit/>
          </a:bodyPr>
          <a:lstStyle/>
          <a:p>
            <a:r>
              <a:rPr lang="de-DE" dirty="0">
                <a:latin typeface="Source Sans Pro" panose="020B0503030403020204" pitchFamily="34" charset="0"/>
              </a:rPr>
              <a:t>3</a:t>
            </a:r>
            <a:r>
              <a:rPr lang="de-DE" dirty="0" smtClean="0">
                <a:latin typeface="Source Sans Pro" panose="020B0503030403020204" pitchFamily="34" charset="0"/>
              </a:rPr>
              <a:t>. </a:t>
            </a:r>
            <a:r>
              <a:rPr lang="de-DE" dirty="0">
                <a:latin typeface="Source Sans Pro" panose="020B0503030403020204" pitchFamily="34" charset="0"/>
              </a:rPr>
              <a:t>Normalform -&gt; </a:t>
            </a:r>
            <a:r>
              <a:rPr lang="de-DE" dirty="0" smtClean="0">
                <a:latin typeface="Source Sans Pro" panose="020B0503030403020204" pitchFamily="34" charset="0"/>
              </a:rPr>
              <a:t>Beispiel</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461665"/>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Das Attribut </a:t>
            </a:r>
            <a:r>
              <a:rPr kumimoji="0" lang="de-DE" sz="2400" b="1" i="0" u="none" strike="noStrike" kern="1200" cap="none" spc="0" normalizeH="0" baseline="0" noProof="0" dirty="0" smtClean="0">
                <a:ln>
                  <a:noFill/>
                </a:ln>
                <a:solidFill>
                  <a:srgbClr val="0071B2"/>
                </a:solidFill>
                <a:effectLst/>
                <a:uLnTx/>
                <a:uFillTx/>
                <a:latin typeface="Calibri" panose="020F0502020204030204"/>
                <a:ea typeface="+mn-ea"/>
                <a:cs typeface="+mn-cs"/>
              </a:rPr>
              <a:t>Vorwahl</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 ist transitiv abhängig von</a:t>
            </a:r>
            <a:r>
              <a:rPr kumimoji="0" lang="de-DE" sz="2400" b="0" i="0" u="none" strike="noStrike" kern="1200" cap="none" spc="0" normalizeH="0" noProof="0" dirty="0" smtClean="0">
                <a:ln>
                  <a:noFill/>
                </a:ln>
                <a:solidFill>
                  <a:srgbClr val="0071B2"/>
                </a:solidFill>
                <a:effectLst/>
                <a:uLnTx/>
                <a:uFillTx/>
                <a:latin typeface="Calibri" panose="020F0502020204030204"/>
                <a:ea typeface="+mn-ea"/>
                <a:cs typeface="+mn-cs"/>
              </a:rPr>
              <a:t> einer (echten) Teilmenge des Primärschlüssels:</a:t>
            </a:r>
            <a:endParaRPr kumimoji="0" lang="de-DE" sz="24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9" name="Tabelle 8"/>
          <p:cNvGraphicFramePr>
            <a:graphicFrameLocks noGrp="1"/>
          </p:cNvGraphicFramePr>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bg1"/>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Nach oben gekrümmter Pfeil 7"/>
          <p:cNvSpPr/>
          <p:nvPr/>
        </p:nvSpPr>
        <p:spPr>
          <a:xfrm>
            <a:off x="4006507" y="4632623"/>
            <a:ext cx="3998422" cy="482138"/>
          </a:xfrm>
          <a:prstGeom prst="curved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Nach oben gekrümmter Pfeil 12"/>
          <p:cNvSpPr/>
          <p:nvPr/>
        </p:nvSpPr>
        <p:spPr>
          <a:xfrm>
            <a:off x="775855" y="4550533"/>
            <a:ext cx="3463636" cy="482138"/>
          </a:xfrm>
          <a:prstGeom prst="curved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4" name="Nach oben gekrümmter Pfeil 13"/>
          <p:cNvSpPr/>
          <p:nvPr/>
        </p:nvSpPr>
        <p:spPr>
          <a:xfrm>
            <a:off x="717037" y="4896196"/>
            <a:ext cx="7520875" cy="836797"/>
          </a:xfrm>
          <a:prstGeom prst="curved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2" name="Textfeld 1"/>
          <p:cNvSpPr txBox="1"/>
          <p:nvPr/>
        </p:nvSpPr>
        <p:spPr>
          <a:xfrm>
            <a:off x="1533479" y="4719804"/>
            <a:ext cx="1671355" cy="307777"/>
          </a:xfrm>
          <a:prstGeom prst="rect">
            <a:avLst/>
          </a:prstGeom>
          <a:noFill/>
        </p:spPr>
        <p:txBody>
          <a:bodyPr wrap="none" rtlCol="0">
            <a:spAutoFit/>
          </a:bodyPr>
          <a:lstStyle/>
          <a:p>
            <a:r>
              <a:rPr lang="de-DE" sz="1400" b="1" dirty="0"/>
              <a:t>f</a:t>
            </a:r>
            <a:r>
              <a:rPr lang="de-DE" sz="1400" b="1" dirty="0" smtClean="0"/>
              <a:t>unktional abhängig</a:t>
            </a:r>
            <a:endParaRPr lang="de-DE" sz="1400" b="1" dirty="0"/>
          </a:p>
        </p:txBody>
      </p:sp>
      <p:sp>
        <p:nvSpPr>
          <p:cNvPr id="15" name="Textfeld 14"/>
          <p:cNvSpPr txBox="1"/>
          <p:nvPr/>
        </p:nvSpPr>
        <p:spPr>
          <a:xfrm>
            <a:off x="5041164" y="4808619"/>
            <a:ext cx="1671355" cy="307777"/>
          </a:xfrm>
          <a:prstGeom prst="rect">
            <a:avLst/>
          </a:prstGeom>
          <a:noFill/>
        </p:spPr>
        <p:txBody>
          <a:bodyPr wrap="none" rtlCol="0">
            <a:spAutoFit/>
          </a:bodyPr>
          <a:lstStyle/>
          <a:p>
            <a:r>
              <a:rPr lang="de-DE" sz="1400" b="1" dirty="0"/>
              <a:t>f</a:t>
            </a:r>
            <a:r>
              <a:rPr lang="de-DE" sz="1400" b="1" dirty="0" smtClean="0"/>
              <a:t>unktional abhängig</a:t>
            </a:r>
            <a:endParaRPr lang="de-DE" sz="1400" b="1" dirty="0"/>
          </a:p>
        </p:txBody>
      </p:sp>
      <p:sp>
        <p:nvSpPr>
          <p:cNvPr id="16" name="Textfeld 15"/>
          <p:cNvSpPr txBox="1"/>
          <p:nvPr/>
        </p:nvSpPr>
        <p:spPr>
          <a:xfrm>
            <a:off x="3403813" y="5460424"/>
            <a:ext cx="1671355" cy="307777"/>
          </a:xfrm>
          <a:prstGeom prst="rect">
            <a:avLst/>
          </a:prstGeom>
          <a:noFill/>
        </p:spPr>
        <p:txBody>
          <a:bodyPr wrap="none" rtlCol="0">
            <a:spAutoFit/>
          </a:bodyPr>
          <a:lstStyle/>
          <a:p>
            <a:r>
              <a:rPr lang="de-DE" sz="1400" b="1" dirty="0"/>
              <a:t>f</a:t>
            </a:r>
            <a:r>
              <a:rPr lang="de-DE" sz="1400" b="1" dirty="0" smtClean="0"/>
              <a:t>unktional abhängig</a:t>
            </a:r>
            <a:endParaRPr lang="de-DE" sz="1400" b="1" dirty="0"/>
          </a:p>
        </p:txBody>
      </p:sp>
    </p:spTree>
    <p:extLst>
      <p:ext uri="{BB962C8B-B14F-4D97-AF65-F5344CB8AC3E}">
        <p14:creationId xmlns:p14="http://schemas.microsoft.com/office/powerpoint/2010/main" val="15941748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8956145" cy="720725"/>
          </a:xfrm>
        </p:spPr>
        <p:txBody>
          <a:bodyPr>
            <a:normAutofit/>
          </a:bodyPr>
          <a:lstStyle/>
          <a:p>
            <a:r>
              <a:rPr lang="de-DE" dirty="0">
                <a:latin typeface="Source Sans Pro" panose="020B0503030403020204" pitchFamily="34" charset="0"/>
              </a:rPr>
              <a:t>3</a:t>
            </a:r>
            <a:r>
              <a:rPr lang="de-DE" dirty="0" smtClean="0">
                <a:latin typeface="Source Sans Pro" panose="020B0503030403020204" pitchFamily="34" charset="0"/>
              </a:rPr>
              <a:t>. </a:t>
            </a:r>
            <a:r>
              <a:rPr lang="de-DE" dirty="0">
                <a:latin typeface="Source Sans Pro" panose="020B0503030403020204" pitchFamily="34" charset="0"/>
              </a:rPr>
              <a:t>Normalform -&gt; </a:t>
            </a:r>
            <a:r>
              <a:rPr lang="de-DE" dirty="0" smtClean="0">
                <a:latin typeface="Source Sans Pro" panose="020B0503030403020204" pitchFamily="34" charset="0"/>
              </a:rPr>
              <a:t>Lösung</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830997"/>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Eine solche Transitivität demonstriert die fehlende Monothematik der Tabelle.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Lösung wird die </a:t>
            </a:r>
            <a:r>
              <a:rPr kumimoji="0" lang="de-DE" sz="2400" b="1" i="0" u="none" strike="noStrike" kern="1200" cap="none" spc="0" normalizeH="0" baseline="0" noProof="0" dirty="0" smtClean="0">
                <a:ln>
                  <a:noFill/>
                </a:ln>
                <a:solidFill>
                  <a:srgbClr val="0071B2"/>
                </a:solidFill>
                <a:effectLst/>
                <a:uLnTx/>
                <a:uFillTx/>
                <a:latin typeface="Calibri" panose="020F0502020204030204"/>
                <a:ea typeface="+mn-ea"/>
                <a:cs typeface="+mn-cs"/>
              </a:rPr>
              <a:t>Auslagerung</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 in eine eigenständige </a:t>
            </a:r>
            <a:r>
              <a:rPr kumimoji="0" lang="de-DE" sz="2400" b="1" i="0" u="none" strike="noStrike" kern="1200" cap="none" spc="0" normalizeH="0" baseline="0" noProof="0" dirty="0" smtClean="0">
                <a:ln>
                  <a:noFill/>
                </a:ln>
                <a:solidFill>
                  <a:schemeClr val="accent2"/>
                </a:solidFill>
                <a:effectLst/>
                <a:uLnTx/>
                <a:uFillTx/>
                <a:latin typeface="Calibri" panose="020F0502020204030204"/>
                <a:ea typeface="+mn-ea"/>
                <a:cs typeface="+mn-cs"/>
              </a:rPr>
              <a:t>Tabelle</a:t>
            </a:r>
            <a:r>
              <a:rPr lang="de-DE" sz="2400" dirty="0" err="1">
                <a:solidFill>
                  <a:srgbClr val="0071B2"/>
                </a:solidFill>
                <a:latin typeface="Calibri" panose="020F0502020204030204"/>
              </a:rPr>
              <a:t> </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sein:</a:t>
            </a:r>
            <a:endParaRPr kumimoji="0" lang="de-DE" sz="24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9" name="Tabelle 8"/>
          <p:cNvGraphicFramePr>
            <a:graphicFrameLocks noGrp="1"/>
          </p:cNvGraphicFramePr>
          <p:nvPr>
            <p:extLst>
              <p:ext uri="{D42A27DB-BD31-4B8C-83A1-F6EECF244321}">
                <p14:modId xmlns:p14="http://schemas.microsoft.com/office/powerpoint/2010/main" val="2088951878"/>
              </p:ext>
            </p:extLst>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accent2"/>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Tree>
    <p:extLst>
      <p:ext uri="{BB962C8B-B14F-4D97-AF65-F5344CB8AC3E}">
        <p14:creationId xmlns:p14="http://schemas.microsoft.com/office/powerpoint/2010/main" val="1694793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8956145" cy="720725"/>
          </a:xfrm>
        </p:spPr>
        <p:txBody>
          <a:bodyPr>
            <a:normAutofit/>
          </a:bodyPr>
          <a:lstStyle/>
          <a:p>
            <a:r>
              <a:rPr lang="de-DE" dirty="0">
                <a:latin typeface="Source Sans Pro" panose="020B0503030403020204" pitchFamily="34" charset="0"/>
              </a:rPr>
              <a:t>3</a:t>
            </a:r>
            <a:r>
              <a:rPr lang="de-DE" dirty="0" smtClean="0">
                <a:latin typeface="Source Sans Pro" panose="020B0503030403020204" pitchFamily="34" charset="0"/>
              </a:rPr>
              <a:t>. </a:t>
            </a:r>
            <a:r>
              <a:rPr lang="de-DE" dirty="0">
                <a:latin typeface="Source Sans Pro" panose="020B0503030403020204" pitchFamily="34" charset="0"/>
              </a:rPr>
              <a:t>Normalform -&gt; </a:t>
            </a:r>
            <a:r>
              <a:rPr lang="de-DE" dirty="0" smtClean="0">
                <a:latin typeface="Source Sans Pro" panose="020B0503030403020204" pitchFamily="34" charset="0"/>
              </a:rPr>
              <a:t>Lösung</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9" name="Tabelle 8"/>
          <p:cNvGraphicFramePr>
            <a:graphicFrameLocks noGrp="1"/>
          </p:cNvGraphicFramePr>
          <p:nvPr>
            <p:extLst>
              <p:ext uri="{D42A27DB-BD31-4B8C-83A1-F6EECF244321}">
                <p14:modId xmlns:p14="http://schemas.microsoft.com/office/powerpoint/2010/main" val="3558089840"/>
              </p:ext>
            </p:extLst>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 </a:t>
                      </a:r>
                      <a:r>
                        <a:rPr lang="de-DE" dirty="0" smtClean="0">
                          <a:solidFill>
                            <a:schemeClr val="accent2"/>
                          </a:solidFill>
                        </a:rPr>
                        <a:t>(FK)</a:t>
                      </a:r>
                      <a:endParaRPr lang="de-DE" dirty="0">
                        <a:solidFill>
                          <a:schemeClr val="accent2"/>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tx2"/>
                          </a:solidFill>
                        </a:rPr>
                        <a:t>Vorwahl</a:t>
                      </a:r>
                      <a:endParaRPr lang="de-DE" dirty="0">
                        <a:solidFill>
                          <a:schemeClr val="tx2"/>
                        </a:solidFill>
                      </a:endParaRPr>
                    </a:p>
                  </a:txBody>
                  <a:tcPr>
                    <a:solidFill>
                      <a:schemeClr val="bg2"/>
                    </a:solidFill>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solidFill>
                            <a:schemeClr val="tx2"/>
                          </a:solidFill>
                        </a:rPr>
                        <a:t>040</a:t>
                      </a:r>
                      <a:endParaRPr lang="de-DE" dirty="0">
                        <a:solidFill>
                          <a:schemeClr val="tx2"/>
                        </a:solidFill>
                      </a:endParaRPr>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solidFill>
                            <a:schemeClr val="tx2"/>
                          </a:solidFill>
                        </a:rPr>
                        <a:t>030</a:t>
                      </a:r>
                      <a:endParaRPr lang="de-DE" dirty="0">
                        <a:solidFill>
                          <a:schemeClr val="tx2"/>
                        </a:solidFill>
                      </a:endParaRPr>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solidFill>
                            <a:schemeClr val="tx2"/>
                          </a:solidFill>
                        </a:rPr>
                        <a:t>09161</a:t>
                      </a:r>
                      <a:endParaRPr lang="de-DE" dirty="0">
                        <a:solidFill>
                          <a:schemeClr val="tx2"/>
                        </a:solidFill>
                      </a:endParaRPr>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cxnSp>
        <p:nvCxnSpPr>
          <p:cNvPr id="3" name="Gerader Verbinder 2"/>
          <p:cNvCxnSpPr/>
          <p:nvPr/>
        </p:nvCxnSpPr>
        <p:spPr>
          <a:xfrm flipH="1">
            <a:off x="7971905" y="2768138"/>
            <a:ext cx="922714" cy="1757228"/>
          </a:xfrm>
          <a:prstGeom prst="lin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p:cNvCxnSpPr/>
          <p:nvPr/>
        </p:nvCxnSpPr>
        <p:spPr>
          <a:xfrm>
            <a:off x="7971905" y="2768138"/>
            <a:ext cx="922713" cy="1757228"/>
          </a:xfrm>
          <a:prstGeom prst="lin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 name="Tabelle 13"/>
          <p:cNvGraphicFramePr>
            <a:graphicFrameLocks noGrp="1"/>
          </p:cNvGraphicFramePr>
          <p:nvPr>
            <p:extLst>
              <p:ext uri="{D42A27DB-BD31-4B8C-83A1-F6EECF244321}">
                <p14:modId xmlns:p14="http://schemas.microsoft.com/office/powerpoint/2010/main" val="3467874778"/>
              </p:ext>
            </p:extLst>
          </p:nvPr>
        </p:nvGraphicFramePr>
        <p:xfrm>
          <a:off x="4772196" y="4828540"/>
          <a:ext cx="2028826" cy="1483360"/>
        </p:xfrm>
        <a:graphic>
          <a:graphicData uri="http://schemas.openxmlformats.org/drawingml/2006/table">
            <a:tbl>
              <a:tblPr firstRow="1" bandRow="1">
                <a:tableStyleId>{5C22544A-7EE6-4342-B048-85BDC9FD1C3A}</a:tableStyleId>
              </a:tblPr>
              <a:tblGrid>
                <a:gridCol w="1006793">
                  <a:extLst>
                    <a:ext uri="{9D8B030D-6E8A-4147-A177-3AD203B41FA5}">
                      <a16:colId xmlns:a16="http://schemas.microsoft.com/office/drawing/2014/main" val="4105494883"/>
                    </a:ext>
                  </a:extLst>
                </a:gridCol>
                <a:gridCol w="1022033">
                  <a:extLst>
                    <a:ext uri="{9D8B030D-6E8A-4147-A177-3AD203B41FA5}">
                      <a16:colId xmlns:a16="http://schemas.microsoft.com/office/drawing/2014/main" val="3601378626"/>
                    </a:ext>
                  </a:extLst>
                </a:gridCol>
              </a:tblGrid>
              <a:tr h="370840">
                <a:tc>
                  <a:txBody>
                    <a:bodyPr/>
                    <a:lstStyle/>
                    <a:p>
                      <a:r>
                        <a:rPr lang="de-DE" dirty="0" smtClean="0"/>
                        <a:t>PLZ </a:t>
                      </a:r>
                      <a:r>
                        <a:rPr lang="de-DE" dirty="0" smtClean="0">
                          <a:solidFill>
                            <a:schemeClr val="accent2"/>
                          </a:solidFill>
                        </a:rPr>
                        <a:t>(PK)</a:t>
                      </a:r>
                      <a:endParaRPr lang="de-DE" dirty="0">
                        <a:solidFill>
                          <a:schemeClr val="accent2"/>
                        </a:solidFill>
                      </a:endParaRPr>
                    </a:p>
                  </a:txBody>
                  <a:tcPr/>
                </a:tc>
                <a:tc>
                  <a:txBody>
                    <a:bodyPr/>
                    <a:lstStyle/>
                    <a:p>
                      <a:r>
                        <a:rPr lang="de-DE" dirty="0" smtClean="0"/>
                        <a:t>Vorwahl</a:t>
                      </a:r>
                      <a:endParaRPr lang="de-DE" dirty="0"/>
                    </a:p>
                  </a:txBody>
                  <a:tcPr/>
                </a:tc>
                <a:extLst>
                  <a:ext uri="{0D108BD9-81ED-4DB2-BD59-A6C34878D82A}">
                    <a16:rowId xmlns:a16="http://schemas.microsoft.com/office/drawing/2014/main" val="3271306663"/>
                  </a:ext>
                </a:extLst>
              </a:tr>
              <a:tr h="370840">
                <a:tc>
                  <a:txBody>
                    <a:bodyPr/>
                    <a:lstStyle/>
                    <a:p>
                      <a:r>
                        <a:rPr lang="de-DE" dirty="0" smtClean="0"/>
                        <a:t>20095</a:t>
                      </a:r>
                      <a:endParaRPr lang="de-DE" dirty="0"/>
                    </a:p>
                  </a:txBody>
                  <a:tcPr/>
                </a:tc>
                <a:tc>
                  <a:txBody>
                    <a:bodyPr/>
                    <a:lstStyle/>
                    <a:p>
                      <a:r>
                        <a:rPr lang="de-DE" dirty="0" smtClean="0"/>
                        <a:t>040</a:t>
                      </a:r>
                      <a:endParaRPr lang="de-DE" dirty="0"/>
                    </a:p>
                  </a:txBody>
                  <a:tcPr/>
                </a:tc>
                <a:extLst>
                  <a:ext uri="{0D108BD9-81ED-4DB2-BD59-A6C34878D82A}">
                    <a16:rowId xmlns:a16="http://schemas.microsoft.com/office/drawing/2014/main" val="1864713327"/>
                  </a:ext>
                </a:extLst>
              </a:tr>
              <a:tr h="370840">
                <a:tc>
                  <a:txBody>
                    <a:bodyPr/>
                    <a:lstStyle/>
                    <a:p>
                      <a:r>
                        <a:rPr lang="de-DE" dirty="0" smtClean="0"/>
                        <a:t>10115</a:t>
                      </a:r>
                      <a:endParaRPr lang="de-DE" dirty="0"/>
                    </a:p>
                  </a:txBody>
                  <a:tcPr/>
                </a:tc>
                <a:tc>
                  <a:txBody>
                    <a:bodyPr/>
                    <a:lstStyle/>
                    <a:p>
                      <a:r>
                        <a:rPr lang="de-DE" dirty="0" smtClean="0"/>
                        <a:t>030</a:t>
                      </a:r>
                      <a:endParaRPr lang="de-DE" dirty="0"/>
                    </a:p>
                  </a:txBody>
                  <a:tcPr/>
                </a:tc>
                <a:extLst>
                  <a:ext uri="{0D108BD9-81ED-4DB2-BD59-A6C34878D82A}">
                    <a16:rowId xmlns:a16="http://schemas.microsoft.com/office/drawing/2014/main" val="286817680"/>
                  </a:ext>
                </a:extLst>
              </a:tr>
              <a:tr h="370840">
                <a:tc>
                  <a:txBody>
                    <a:bodyPr/>
                    <a:lstStyle/>
                    <a:p>
                      <a:r>
                        <a:rPr lang="de-DE" dirty="0" smtClean="0"/>
                        <a:t>67433</a:t>
                      </a:r>
                      <a:endParaRPr lang="de-DE" dirty="0"/>
                    </a:p>
                  </a:txBody>
                  <a:tcPr/>
                </a:tc>
                <a:tc>
                  <a:txBody>
                    <a:bodyPr/>
                    <a:lstStyle/>
                    <a:p>
                      <a:r>
                        <a:rPr lang="de-DE" dirty="0" smtClean="0"/>
                        <a:t>09161</a:t>
                      </a:r>
                      <a:endParaRPr lang="de-DE" dirty="0"/>
                    </a:p>
                  </a:txBody>
                  <a:tcPr/>
                </a:tc>
                <a:extLst>
                  <a:ext uri="{0D108BD9-81ED-4DB2-BD59-A6C34878D82A}">
                    <a16:rowId xmlns:a16="http://schemas.microsoft.com/office/drawing/2014/main" val="1826045183"/>
                  </a:ext>
                </a:extLst>
              </a:tr>
            </a:tbl>
          </a:graphicData>
        </a:graphic>
      </p:graphicFrame>
      <p:cxnSp>
        <p:nvCxnSpPr>
          <p:cNvPr id="16" name="Gerader Verbinder 15"/>
          <p:cNvCxnSpPr/>
          <p:nvPr/>
        </p:nvCxnSpPr>
        <p:spPr>
          <a:xfrm flipH="1">
            <a:off x="4488873" y="5004262"/>
            <a:ext cx="28332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a:xfrm>
            <a:off x="4488873" y="4567631"/>
            <a:ext cx="0" cy="43663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flipH="1">
            <a:off x="4488873" y="4567631"/>
            <a:ext cx="6334298" cy="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Gerader Verbinder 24"/>
          <p:cNvCxnSpPr/>
          <p:nvPr/>
        </p:nvCxnSpPr>
        <p:spPr>
          <a:xfrm>
            <a:off x="10756669" y="2651760"/>
            <a:ext cx="66503" cy="191864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flipH="1">
            <a:off x="4364182" y="2646218"/>
            <a:ext cx="6392488" cy="5542"/>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Gerader Verbinder 28"/>
          <p:cNvCxnSpPr/>
          <p:nvPr/>
        </p:nvCxnSpPr>
        <p:spPr>
          <a:xfrm flipH="1">
            <a:off x="4364182" y="2646218"/>
            <a:ext cx="1" cy="26233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Textfeld 30"/>
          <p:cNvSpPr txBox="1"/>
          <p:nvPr/>
        </p:nvSpPr>
        <p:spPr>
          <a:xfrm>
            <a:off x="4488872" y="4710045"/>
            <a:ext cx="301686" cy="369332"/>
          </a:xfrm>
          <a:prstGeom prst="rect">
            <a:avLst/>
          </a:prstGeom>
          <a:noFill/>
        </p:spPr>
        <p:txBody>
          <a:bodyPr wrap="none" rtlCol="0">
            <a:spAutoFit/>
          </a:bodyPr>
          <a:lstStyle/>
          <a:p>
            <a:r>
              <a:rPr lang="de-DE" b="1" dirty="0" smtClean="0">
                <a:solidFill>
                  <a:schemeClr val="accent2"/>
                </a:solidFill>
              </a:rPr>
              <a:t>1</a:t>
            </a:r>
            <a:endParaRPr lang="de-DE" b="1" dirty="0">
              <a:solidFill>
                <a:schemeClr val="accent2"/>
              </a:solidFill>
            </a:endParaRPr>
          </a:p>
        </p:txBody>
      </p:sp>
      <p:sp>
        <p:nvSpPr>
          <p:cNvPr id="32" name="Textfeld 31"/>
          <p:cNvSpPr txBox="1"/>
          <p:nvPr/>
        </p:nvSpPr>
        <p:spPr>
          <a:xfrm>
            <a:off x="4372831" y="2633906"/>
            <a:ext cx="308098" cy="369332"/>
          </a:xfrm>
          <a:prstGeom prst="rect">
            <a:avLst/>
          </a:prstGeom>
          <a:noFill/>
        </p:spPr>
        <p:txBody>
          <a:bodyPr wrap="none" rtlCol="0">
            <a:spAutoFit/>
          </a:bodyPr>
          <a:lstStyle/>
          <a:p>
            <a:r>
              <a:rPr lang="de-DE" b="1" dirty="0" smtClean="0">
                <a:solidFill>
                  <a:schemeClr val="accent2"/>
                </a:solidFill>
              </a:rPr>
              <a:t>n</a:t>
            </a:r>
            <a:endParaRPr lang="de-DE" b="1" dirty="0">
              <a:solidFill>
                <a:schemeClr val="accent2"/>
              </a:solidFill>
            </a:endParaRPr>
          </a:p>
        </p:txBody>
      </p:sp>
      <p:sp>
        <p:nvSpPr>
          <p:cNvPr id="33" name="Textfeld 32"/>
          <p:cNvSpPr txBox="1"/>
          <p:nvPr/>
        </p:nvSpPr>
        <p:spPr>
          <a:xfrm>
            <a:off x="83125" y="1426486"/>
            <a:ext cx="12020205" cy="830997"/>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Eine solche Transitivität demonstriert die fehlende Monothematik der Tabelle.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Lösung wird die </a:t>
            </a:r>
            <a:r>
              <a:rPr kumimoji="0" lang="de-DE" sz="2400" b="1" i="0" u="none" strike="noStrike" kern="1200" cap="none" spc="0" normalizeH="0" baseline="0" noProof="0" dirty="0" smtClean="0">
                <a:ln>
                  <a:noFill/>
                </a:ln>
                <a:solidFill>
                  <a:srgbClr val="0071B2"/>
                </a:solidFill>
                <a:effectLst/>
                <a:uLnTx/>
                <a:uFillTx/>
                <a:latin typeface="Calibri" panose="020F0502020204030204"/>
                <a:ea typeface="+mn-ea"/>
                <a:cs typeface="+mn-cs"/>
              </a:rPr>
              <a:t>Auslagerung</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 in eine eigenständige </a:t>
            </a:r>
            <a:r>
              <a:rPr kumimoji="0" lang="de-DE" sz="2400" b="1" i="0" u="none" strike="noStrike" kern="1200" cap="none" spc="0" normalizeH="0" baseline="0" noProof="0" dirty="0" smtClean="0">
                <a:ln>
                  <a:noFill/>
                </a:ln>
                <a:solidFill>
                  <a:schemeClr val="accent2"/>
                </a:solidFill>
                <a:effectLst/>
                <a:uLnTx/>
                <a:uFillTx/>
                <a:latin typeface="Calibri" panose="020F0502020204030204"/>
                <a:ea typeface="+mn-ea"/>
                <a:cs typeface="+mn-cs"/>
              </a:rPr>
              <a:t>Tabelle</a:t>
            </a:r>
            <a:r>
              <a:rPr lang="de-DE" sz="2400" dirty="0" err="1">
                <a:solidFill>
                  <a:srgbClr val="0071B2"/>
                </a:solidFill>
                <a:latin typeface="Calibri" panose="020F0502020204030204"/>
              </a:rPr>
              <a:t> </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sein:</a:t>
            </a:r>
            <a:endParaRPr kumimoji="0" lang="de-DE" sz="24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26296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Autofit/>
          </a:bodyPr>
          <a:lstStyle/>
          <a:p>
            <a:r>
              <a:rPr lang="de-DE" sz="3600" dirty="0">
                <a:latin typeface="Source Sans Pro" panose="020B0503030403020204" pitchFamily="34" charset="0"/>
              </a:rPr>
              <a:t>3</a:t>
            </a:r>
            <a:r>
              <a:rPr lang="de-DE" sz="3600" dirty="0" smtClean="0">
                <a:latin typeface="Source Sans Pro" panose="020B0503030403020204" pitchFamily="34" charset="0"/>
              </a:rPr>
              <a:t>. Normalform: </a:t>
            </a:r>
            <a:r>
              <a:rPr lang="de-DE" sz="3600" dirty="0" smtClean="0">
                <a:solidFill>
                  <a:schemeClr val="accent2"/>
                </a:solidFill>
                <a:latin typeface="Source Sans Pro" panose="020B0503030403020204" pitchFamily="34" charset="0"/>
              </a:rPr>
              <a:t>Redundanz-Vermeidung ? </a:t>
            </a:r>
            <a:r>
              <a:rPr lang="de-DE" sz="3200" dirty="0" smtClean="0">
                <a:latin typeface="Source Sans Pro" panose="020B0503030403020204" pitchFamily="34" charset="0"/>
              </a:rPr>
              <a:t>-&gt; Erläuterung</a:t>
            </a:r>
            <a:endParaRPr lang="de-DE" sz="32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9" name="Tabelle 8"/>
          <p:cNvGraphicFramePr>
            <a:graphicFrameLocks noGrp="1"/>
          </p:cNvGraphicFramePr>
          <p:nvPr/>
        </p:nvGraphicFramePr>
        <p:xfrm>
          <a:off x="673331" y="2908549"/>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accent2"/>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dirty="0" smtClean="0"/>
                        <a:t>10115</a:t>
                      </a:r>
                      <a:endParaRPr lang="de-DE" dirty="0"/>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dirty="0" smtClean="0"/>
                        <a:t>030</a:t>
                      </a:r>
                      <a:endParaRPr lang="de-DE" dirty="0"/>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bl>
          </a:graphicData>
        </a:graphic>
      </p:graphicFrame>
      <p:sp>
        <p:nvSpPr>
          <p:cNvPr id="8" name="Textfeld 7"/>
          <p:cNvSpPr txBox="1"/>
          <p:nvPr/>
        </p:nvSpPr>
        <p:spPr>
          <a:xfrm>
            <a:off x="83125" y="1426486"/>
            <a:ext cx="12020205" cy="830997"/>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Würden wir auf eine Auslagerung in eine eigenständige Tabelle verzichten,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so müssten wir viele </a:t>
            </a:r>
            <a:r>
              <a:rPr kumimoji="0" lang="de-DE" sz="2400" b="1" i="0" u="none" strike="noStrike" kern="1200" cap="none" spc="0" normalizeH="0" baseline="0" noProof="0" dirty="0" smtClean="0">
                <a:ln>
                  <a:noFill/>
                </a:ln>
                <a:solidFill>
                  <a:schemeClr val="accent2"/>
                </a:solidFill>
                <a:effectLst/>
                <a:uLnTx/>
                <a:uFillTx/>
                <a:latin typeface="Calibri" panose="020F0502020204030204"/>
                <a:ea typeface="+mn-ea"/>
                <a:cs typeface="+mn-cs"/>
              </a:rPr>
              <a:t>Informations-Dubletten</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 akzeptieren:</a:t>
            </a:r>
            <a:endParaRPr kumimoji="0" lang="de-DE" sz="24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314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Autofit/>
          </a:bodyPr>
          <a:lstStyle/>
          <a:p>
            <a:r>
              <a:rPr lang="de-DE" sz="3600" dirty="0">
                <a:latin typeface="Source Sans Pro" panose="020B0503030403020204" pitchFamily="34" charset="0"/>
              </a:rPr>
              <a:t>3</a:t>
            </a:r>
            <a:r>
              <a:rPr lang="de-DE" sz="3600" dirty="0" smtClean="0">
                <a:latin typeface="Source Sans Pro" panose="020B0503030403020204" pitchFamily="34" charset="0"/>
              </a:rPr>
              <a:t>. Normalform: </a:t>
            </a:r>
            <a:r>
              <a:rPr lang="de-DE" sz="3600" dirty="0" smtClean="0">
                <a:solidFill>
                  <a:schemeClr val="accent2"/>
                </a:solidFill>
                <a:latin typeface="Source Sans Pro" panose="020B0503030403020204" pitchFamily="34" charset="0"/>
              </a:rPr>
              <a:t>Redundanz-Vermeidung ? </a:t>
            </a:r>
            <a:r>
              <a:rPr lang="de-DE" sz="3200" dirty="0" smtClean="0">
                <a:latin typeface="Source Sans Pro" panose="020B0503030403020204" pitchFamily="34" charset="0"/>
              </a:rPr>
              <a:t>-&gt; Erläuterung</a:t>
            </a:r>
            <a:endParaRPr lang="de-DE" sz="32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10" name="Textfeld 9"/>
          <p:cNvSpPr txBox="1"/>
          <p:nvPr/>
        </p:nvSpPr>
        <p:spPr>
          <a:xfrm>
            <a:off x="83125" y="1426486"/>
            <a:ext cx="12020205" cy="830997"/>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Würden wir auf eine Auslagerung in eine eigenständige Tabelle verzichten,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so müssten wir viele </a:t>
            </a:r>
            <a:r>
              <a:rPr kumimoji="0" lang="de-DE" sz="2400" b="1" i="0" u="none" strike="noStrike" kern="1200" cap="none" spc="0" normalizeH="0" baseline="0" noProof="0" dirty="0" smtClean="0">
                <a:ln>
                  <a:noFill/>
                </a:ln>
                <a:solidFill>
                  <a:schemeClr val="accent2"/>
                </a:solidFill>
                <a:effectLst/>
                <a:uLnTx/>
                <a:uFillTx/>
                <a:latin typeface="Calibri" panose="020F0502020204030204"/>
                <a:ea typeface="+mn-ea"/>
                <a:cs typeface="+mn-cs"/>
              </a:rPr>
              <a:t>Informations-Dubletten</a:t>
            </a:r>
            <a:r>
              <a:rPr kumimoji="0" lang="de-DE" sz="2400" b="0" i="0" u="none" strike="noStrike" kern="1200" cap="none" spc="0" normalizeH="0" baseline="0" noProof="0" dirty="0" smtClean="0">
                <a:ln>
                  <a:noFill/>
                </a:ln>
                <a:solidFill>
                  <a:srgbClr val="0071B2"/>
                </a:solidFill>
                <a:effectLst/>
                <a:uLnTx/>
                <a:uFillTx/>
                <a:latin typeface="Calibri" panose="020F0502020204030204"/>
                <a:ea typeface="+mn-ea"/>
                <a:cs typeface="+mn-cs"/>
              </a:rPr>
              <a:t> akzeptieren:</a:t>
            </a:r>
            <a:endParaRPr kumimoji="0" lang="de-DE" sz="24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aphicFrame>
        <p:nvGraphicFramePr>
          <p:cNvPr id="9" name="Tabelle 8"/>
          <p:cNvGraphicFramePr>
            <a:graphicFrameLocks noGrp="1"/>
          </p:cNvGraphicFramePr>
          <p:nvPr>
            <p:extLst>
              <p:ext uri="{D42A27DB-BD31-4B8C-83A1-F6EECF244321}">
                <p14:modId xmlns:p14="http://schemas.microsoft.com/office/powerpoint/2010/main" val="2176526649"/>
              </p:ext>
            </p:extLst>
          </p:nvPr>
        </p:nvGraphicFramePr>
        <p:xfrm>
          <a:off x="673331" y="2908549"/>
          <a:ext cx="9740351" cy="296672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smtClean="0">
                          <a:solidFill>
                            <a:schemeClr val="bg1"/>
                          </a:solidFill>
                        </a:rPr>
                        <a:t>Person_ID</a:t>
                      </a:r>
                      <a:endParaRPr lang="de-DE" dirty="0">
                        <a:solidFill>
                          <a:schemeClr val="bg1"/>
                        </a:solidFill>
                      </a:endParaRPr>
                    </a:p>
                  </a:txBody>
                  <a:tcPr/>
                </a:tc>
                <a:tc>
                  <a:txBody>
                    <a:bodyPr/>
                    <a:lstStyle/>
                    <a:p>
                      <a:r>
                        <a:rPr lang="de-DE" dirty="0" smtClean="0"/>
                        <a:t>Geburtsdatum</a:t>
                      </a:r>
                      <a:endParaRPr lang="de-DE" dirty="0"/>
                    </a:p>
                  </a:txBody>
                  <a:tcPr/>
                </a:tc>
                <a:tc>
                  <a:txBody>
                    <a:bodyPr/>
                    <a:lstStyle/>
                    <a:p>
                      <a:r>
                        <a:rPr lang="de-DE" dirty="0" smtClean="0">
                          <a:solidFill>
                            <a:schemeClr val="bg1"/>
                          </a:solidFill>
                        </a:rPr>
                        <a:t>PLZ</a:t>
                      </a:r>
                      <a:endParaRPr lang="de-DE" dirty="0">
                        <a:solidFill>
                          <a:schemeClr val="accent2"/>
                        </a:solidFill>
                      </a:endParaRPr>
                    </a:p>
                  </a:txBody>
                  <a:tcPr/>
                </a:tc>
                <a:tc>
                  <a:txBody>
                    <a:bodyPr/>
                    <a:lstStyle/>
                    <a:p>
                      <a:r>
                        <a:rPr lang="de-DE" dirty="0" smtClean="0"/>
                        <a:t>Vorname</a:t>
                      </a:r>
                      <a:endParaRPr lang="de-DE" dirty="0"/>
                    </a:p>
                  </a:txBody>
                  <a:tcPr/>
                </a:tc>
                <a:tc>
                  <a:txBody>
                    <a:bodyPr/>
                    <a:lstStyle/>
                    <a:p>
                      <a:r>
                        <a:rPr lang="de-DE" dirty="0" smtClean="0"/>
                        <a:t>Nachname</a:t>
                      </a:r>
                      <a:endParaRPr lang="de-DE" dirty="0"/>
                    </a:p>
                  </a:txBody>
                  <a:tcPr/>
                </a:tc>
                <a:tc>
                  <a:txBody>
                    <a:bodyPr/>
                    <a:lstStyle/>
                    <a:p>
                      <a:r>
                        <a:rPr lang="de-DE" dirty="0" smtClean="0">
                          <a:solidFill>
                            <a:schemeClr val="bg1"/>
                          </a:solidFill>
                        </a:rPr>
                        <a:t>Vorwahl</a:t>
                      </a:r>
                      <a:endParaRPr lang="de-DE" dirty="0">
                        <a:solidFill>
                          <a:schemeClr val="bg1"/>
                        </a:solidFill>
                      </a:endParaRPr>
                    </a:p>
                  </a:txBody>
                  <a:tcPr/>
                </a:tc>
                <a:tc>
                  <a:txBody>
                    <a:bodyPr/>
                    <a:lstStyle/>
                    <a:p>
                      <a:r>
                        <a:rPr lang="de-DE" dirty="0" smtClean="0"/>
                        <a:t>Rufnummer</a:t>
                      </a:r>
                      <a:endParaRPr lang="de-DE" dirty="0"/>
                    </a:p>
                  </a:txBody>
                  <a:tcPr/>
                </a:tc>
                <a:extLst>
                  <a:ext uri="{0D108BD9-81ED-4DB2-BD59-A6C34878D82A}">
                    <a16:rowId xmlns:a16="http://schemas.microsoft.com/office/drawing/2014/main" val="1690564022"/>
                  </a:ext>
                </a:extLst>
              </a:tr>
              <a:tr h="370840">
                <a:tc>
                  <a:txBody>
                    <a:bodyPr/>
                    <a:lstStyle/>
                    <a:p>
                      <a:r>
                        <a:rPr lang="de-DE" dirty="0" smtClean="0"/>
                        <a:t>1</a:t>
                      </a:r>
                      <a:endParaRPr lang="de-DE" dirty="0"/>
                    </a:p>
                  </a:txBody>
                  <a:tcPr/>
                </a:tc>
                <a:tc>
                  <a:txBody>
                    <a:bodyPr/>
                    <a:lstStyle/>
                    <a:p>
                      <a:r>
                        <a:rPr lang="de-DE" dirty="0" smtClean="0"/>
                        <a:t>01.01.2001</a:t>
                      </a:r>
                      <a:endParaRPr lang="de-DE" dirty="0"/>
                    </a:p>
                  </a:txBody>
                  <a:tcPr/>
                </a:tc>
                <a:tc>
                  <a:txBody>
                    <a:bodyPr/>
                    <a:lstStyle/>
                    <a:p>
                      <a:r>
                        <a:rPr lang="de-DE" dirty="0" smtClean="0"/>
                        <a:t>20095</a:t>
                      </a:r>
                      <a:endParaRPr lang="de-DE" dirty="0"/>
                    </a:p>
                  </a:txBody>
                  <a:tcPr/>
                </a:tc>
                <a:tc>
                  <a:txBody>
                    <a:bodyPr/>
                    <a:lstStyle/>
                    <a:p>
                      <a:r>
                        <a:rPr lang="de-DE" dirty="0" smtClean="0"/>
                        <a:t>Petra</a:t>
                      </a:r>
                      <a:endParaRPr lang="de-DE" dirty="0"/>
                    </a:p>
                  </a:txBody>
                  <a:tcPr/>
                </a:tc>
                <a:tc>
                  <a:txBody>
                    <a:bodyPr/>
                    <a:lstStyle/>
                    <a:p>
                      <a:r>
                        <a:rPr lang="de-DE" dirty="0" smtClean="0"/>
                        <a:t>Bayram</a:t>
                      </a:r>
                      <a:endParaRPr lang="de-DE" dirty="0"/>
                    </a:p>
                  </a:txBody>
                  <a:tcPr/>
                </a:tc>
                <a:tc>
                  <a:txBody>
                    <a:bodyPr/>
                    <a:lstStyle/>
                    <a:p>
                      <a:r>
                        <a:rPr lang="de-DE" dirty="0" smtClean="0"/>
                        <a:t>040</a:t>
                      </a:r>
                      <a:endParaRPr lang="de-DE" dirty="0"/>
                    </a:p>
                  </a:txBody>
                  <a:tcPr/>
                </a:tc>
                <a:tc>
                  <a:txBody>
                    <a:bodyPr/>
                    <a:lstStyle/>
                    <a:p>
                      <a:r>
                        <a:rPr lang="de-DE" dirty="0" smtClean="0"/>
                        <a:t>123456</a:t>
                      </a:r>
                      <a:endParaRPr lang="de-DE" dirty="0"/>
                    </a:p>
                  </a:txBody>
                  <a:tcPr/>
                </a:tc>
                <a:extLst>
                  <a:ext uri="{0D108BD9-81ED-4DB2-BD59-A6C34878D82A}">
                    <a16:rowId xmlns:a16="http://schemas.microsoft.com/office/drawing/2014/main" val="4153367732"/>
                  </a:ext>
                </a:extLst>
              </a:tr>
              <a:tr h="370840">
                <a:tc>
                  <a:txBody>
                    <a:bodyPr/>
                    <a:lstStyle/>
                    <a:p>
                      <a:r>
                        <a:rPr lang="de-DE" dirty="0" smtClean="0"/>
                        <a:t>2</a:t>
                      </a:r>
                      <a:endParaRPr lang="de-DE" dirty="0"/>
                    </a:p>
                  </a:txBody>
                  <a:tcPr/>
                </a:tc>
                <a:tc>
                  <a:txBody>
                    <a:bodyPr/>
                    <a:lstStyle/>
                    <a:p>
                      <a:r>
                        <a:rPr lang="de-DE" dirty="0" smtClean="0"/>
                        <a:t>02.02.2002</a:t>
                      </a:r>
                      <a:endParaRPr lang="de-DE" dirty="0"/>
                    </a:p>
                  </a:txBody>
                  <a:tcPr/>
                </a:tc>
                <a:tc>
                  <a:txBody>
                    <a:bodyPr/>
                    <a:lstStyle/>
                    <a:p>
                      <a:r>
                        <a:rPr lang="de-DE" b="1" dirty="0" smtClean="0">
                          <a:solidFill>
                            <a:schemeClr val="accent2"/>
                          </a:solidFill>
                        </a:rPr>
                        <a:t>10115</a:t>
                      </a:r>
                      <a:endParaRPr lang="de-DE" b="1" dirty="0">
                        <a:solidFill>
                          <a:schemeClr val="accent2"/>
                        </a:solidFill>
                      </a:endParaRPr>
                    </a:p>
                  </a:txBody>
                  <a:tcPr/>
                </a:tc>
                <a:tc>
                  <a:txBody>
                    <a:bodyPr/>
                    <a:lstStyle/>
                    <a:p>
                      <a:r>
                        <a:rPr lang="de-DE" dirty="0" smtClean="0"/>
                        <a:t>Claudia</a:t>
                      </a:r>
                      <a:endParaRPr lang="de-DE" dirty="0"/>
                    </a:p>
                  </a:txBody>
                  <a:tcPr/>
                </a:tc>
                <a:tc>
                  <a:txBody>
                    <a:bodyPr/>
                    <a:lstStyle/>
                    <a:p>
                      <a:r>
                        <a:rPr lang="de-DE" dirty="0" smtClean="0"/>
                        <a:t>Schmidt</a:t>
                      </a:r>
                      <a:endParaRPr lang="de-DE" dirty="0"/>
                    </a:p>
                  </a:txBody>
                  <a:tcPr/>
                </a:tc>
                <a:tc>
                  <a:txBody>
                    <a:bodyPr/>
                    <a:lstStyle/>
                    <a:p>
                      <a:r>
                        <a:rPr lang="de-DE" b="1" dirty="0" smtClean="0">
                          <a:solidFill>
                            <a:schemeClr val="accent2"/>
                          </a:solidFill>
                        </a:rPr>
                        <a:t>030</a:t>
                      </a:r>
                      <a:endParaRPr lang="de-DE" b="1" dirty="0">
                        <a:solidFill>
                          <a:schemeClr val="accent2"/>
                        </a:solidFill>
                      </a:endParaRPr>
                    </a:p>
                  </a:txBody>
                  <a:tcPr/>
                </a:tc>
                <a:tc>
                  <a:txBody>
                    <a:bodyPr/>
                    <a:lstStyle/>
                    <a:p>
                      <a:r>
                        <a:rPr lang="de-DE" dirty="0" smtClean="0"/>
                        <a:t>654321</a:t>
                      </a:r>
                      <a:endParaRPr lang="de-DE" dirty="0"/>
                    </a:p>
                  </a:txBody>
                  <a:tcPr/>
                </a:tc>
                <a:extLst>
                  <a:ext uri="{0D108BD9-81ED-4DB2-BD59-A6C34878D82A}">
                    <a16:rowId xmlns:a16="http://schemas.microsoft.com/office/drawing/2014/main" val="3258675601"/>
                  </a:ext>
                </a:extLst>
              </a:tr>
              <a:tr h="370840">
                <a:tc>
                  <a:txBody>
                    <a:bodyPr/>
                    <a:lstStyle/>
                    <a:p>
                      <a:r>
                        <a:rPr lang="de-DE" dirty="0" smtClean="0"/>
                        <a:t>3</a:t>
                      </a:r>
                      <a:endParaRPr lang="de-DE" dirty="0"/>
                    </a:p>
                  </a:txBody>
                  <a:tcPr/>
                </a:tc>
                <a:tc>
                  <a:txBody>
                    <a:bodyPr/>
                    <a:lstStyle/>
                    <a:p>
                      <a:r>
                        <a:rPr lang="de-DE" dirty="0" smtClean="0"/>
                        <a:t>03.03.2003</a:t>
                      </a:r>
                      <a:endParaRPr lang="de-DE" dirty="0"/>
                    </a:p>
                  </a:txBody>
                  <a:tcPr/>
                </a:tc>
                <a:tc>
                  <a:txBody>
                    <a:bodyPr/>
                    <a:lstStyle/>
                    <a:p>
                      <a:r>
                        <a:rPr lang="de-DE" dirty="0" smtClean="0"/>
                        <a:t>67433</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Hans Dieter</a:t>
                      </a:r>
                    </a:p>
                  </a:txBody>
                  <a:tcPr/>
                </a:tc>
                <a:tc>
                  <a:txBody>
                    <a:bodyPr/>
                    <a:lstStyle/>
                    <a:p>
                      <a:r>
                        <a:rPr lang="de-DE" dirty="0" smtClean="0"/>
                        <a:t>Hüsch</a:t>
                      </a:r>
                      <a:endParaRPr lang="de-DE" dirty="0"/>
                    </a:p>
                  </a:txBody>
                  <a:tcPr/>
                </a:tc>
                <a:tc>
                  <a:txBody>
                    <a:bodyPr/>
                    <a:lstStyle/>
                    <a:p>
                      <a:r>
                        <a:rPr lang="de-DE" dirty="0" smtClean="0"/>
                        <a:t>09161</a:t>
                      </a:r>
                      <a:endParaRPr lang="de-DE" dirty="0"/>
                    </a:p>
                  </a:txBody>
                  <a:tcPr/>
                </a:tc>
                <a:tc>
                  <a:txBody>
                    <a:bodyPr/>
                    <a:lstStyle/>
                    <a:p>
                      <a:r>
                        <a:rPr lang="de-DE" dirty="0" smtClean="0"/>
                        <a:t>1234</a:t>
                      </a:r>
                      <a:endParaRPr lang="de-DE" dirty="0"/>
                    </a:p>
                  </a:txBody>
                  <a:tcPr/>
                </a:tc>
                <a:extLst>
                  <a:ext uri="{0D108BD9-81ED-4DB2-BD59-A6C34878D82A}">
                    <a16:rowId xmlns:a16="http://schemas.microsoft.com/office/drawing/2014/main" val="3161235527"/>
                  </a:ext>
                </a:extLst>
              </a:tr>
              <a:tr h="370840">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a:t>
                      </a:r>
                    </a:p>
                  </a:txBody>
                  <a:tcPr/>
                </a:tc>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r>
                        <a:rPr lang="de-DE" dirty="0" smtClean="0"/>
                        <a:t>…</a:t>
                      </a:r>
                      <a:endParaRPr lang="de-DE" dirty="0"/>
                    </a:p>
                  </a:txBody>
                  <a:tcPr/>
                </a:tc>
                <a:extLst>
                  <a:ext uri="{0D108BD9-81ED-4DB2-BD59-A6C34878D82A}">
                    <a16:rowId xmlns:a16="http://schemas.microsoft.com/office/drawing/2014/main" val="2687302700"/>
                  </a:ext>
                </a:extLst>
              </a:tr>
              <a:tr h="370840">
                <a:tc>
                  <a:txBody>
                    <a:bodyPr/>
                    <a:lstStyle/>
                    <a:p>
                      <a:r>
                        <a:rPr lang="de-DE" dirty="0" smtClean="0"/>
                        <a:t>70</a:t>
                      </a:r>
                    </a:p>
                  </a:txBody>
                  <a:tcPr/>
                </a:tc>
                <a:tc>
                  <a:txBody>
                    <a:bodyPr/>
                    <a:lstStyle/>
                    <a:p>
                      <a:r>
                        <a:rPr lang="de-DE" dirty="0" smtClean="0"/>
                        <a:t>…</a:t>
                      </a:r>
                      <a:endParaRPr lang="de-DE" dirty="0"/>
                    </a:p>
                  </a:txBody>
                  <a:tcPr/>
                </a:tc>
                <a:tc>
                  <a:txBody>
                    <a:bodyPr/>
                    <a:lstStyle/>
                    <a:p>
                      <a:r>
                        <a:rPr lang="de-DE" b="1" dirty="0" smtClean="0">
                          <a:solidFill>
                            <a:schemeClr val="accent2"/>
                          </a:solidFill>
                        </a:rPr>
                        <a:t>10115</a:t>
                      </a:r>
                      <a:endParaRPr lang="de-DE" b="1" dirty="0">
                        <a:solidFill>
                          <a:schemeClr val="accent2"/>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a:t>
                      </a:r>
                    </a:p>
                  </a:txBody>
                  <a:tcPr/>
                </a:tc>
                <a:tc>
                  <a:txBody>
                    <a:bodyPr/>
                    <a:lstStyle/>
                    <a:p>
                      <a:r>
                        <a:rPr lang="de-DE" dirty="0" smtClean="0"/>
                        <a:t>…</a:t>
                      </a:r>
                      <a:endParaRPr lang="de-DE" dirty="0"/>
                    </a:p>
                  </a:txBody>
                  <a:tcPr/>
                </a:tc>
                <a:tc>
                  <a:txBody>
                    <a:bodyPr/>
                    <a:lstStyle/>
                    <a:p>
                      <a:r>
                        <a:rPr lang="de-DE" b="1" dirty="0" smtClean="0">
                          <a:solidFill>
                            <a:schemeClr val="accent2"/>
                          </a:solidFill>
                        </a:rPr>
                        <a:t>030</a:t>
                      </a:r>
                      <a:endParaRPr lang="de-DE" b="1" dirty="0">
                        <a:solidFill>
                          <a:schemeClr val="accent2"/>
                        </a:solidFill>
                      </a:endParaRPr>
                    </a:p>
                  </a:txBody>
                  <a:tcPr/>
                </a:tc>
                <a:tc>
                  <a:txBody>
                    <a:bodyPr/>
                    <a:lstStyle/>
                    <a:p>
                      <a:r>
                        <a:rPr lang="de-DE" dirty="0" smtClean="0"/>
                        <a:t>…</a:t>
                      </a:r>
                      <a:endParaRPr lang="de-DE" dirty="0"/>
                    </a:p>
                  </a:txBody>
                  <a:tcPr/>
                </a:tc>
                <a:extLst>
                  <a:ext uri="{0D108BD9-81ED-4DB2-BD59-A6C34878D82A}">
                    <a16:rowId xmlns:a16="http://schemas.microsoft.com/office/drawing/2014/main" val="2486855101"/>
                  </a:ext>
                </a:extLst>
              </a:tr>
              <a:tr h="370840">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a:t>
                      </a:r>
                    </a:p>
                  </a:txBody>
                  <a:tcPr/>
                </a:tc>
                <a:tc>
                  <a:txBody>
                    <a:bodyPr/>
                    <a:lstStyle/>
                    <a:p>
                      <a:r>
                        <a:rPr lang="de-DE" dirty="0" smtClean="0"/>
                        <a:t>…</a:t>
                      </a:r>
                      <a:endParaRPr lang="de-DE" dirty="0"/>
                    </a:p>
                  </a:txBody>
                  <a:tcPr/>
                </a:tc>
                <a:tc>
                  <a:txBody>
                    <a:bodyPr/>
                    <a:lstStyle/>
                    <a:p>
                      <a:r>
                        <a:rPr lang="de-DE" dirty="0" smtClean="0"/>
                        <a:t>…</a:t>
                      </a:r>
                      <a:endParaRPr lang="de-DE" dirty="0"/>
                    </a:p>
                  </a:txBody>
                  <a:tcPr/>
                </a:tc>
                <a:tc>
                  <a:txBody>
                    <a:bodyPr/>
                    <a:lstStyle/>
                    <a:p>
                      <a:r>
                        <a:rPr lang="de-DE" dirty="0" smtClean="0"/>
                        <a:t>…</a:t>
                      </a:r>
                      <a:endParaRPr lang="de-DE" dirty="0"/>
                    </a:p>
                  </a:txBody>
                  <a:tcPr/>
                </a:tc>
                <a:extLst>
                  <a:ext uri="{0D108BD9-81ED-4DB2-BD59-A6C34878D82A}">
                    <a16:rowId xmlns:a16="http://schemas.microsoft.com/office/drawing/2014/main" val="411328314"/>
                  </a:ext>
                </a:extLst>
              </a:tr>
              <a:tr h="370840">
                <a:tc>
                  <a:txBody>
                    <a:bodyPr/>
                    <a:lstStyle/>
                    <a:p>
                      <a:r>
                        <a:rPr lang="de-DE" dirty="0" smtClean="0"/>
                        <a:t>93</a:t>
                      </a:r>
                      <a:endParaRPr lang="de-DE" dirty="0"/>
                    </a:p>
                  </a:txBody>
                  <a:tcPr/>
                </a:tc>
                <a:tc>
                  <a:txBody>
                    <a:bodyPr/>
                    <a:lstStyle/>
                    <a:p>
                      <a:r>
                        <a:rPr lang="de-DE" dirty="0" smtClean="0"/>
                        <a:t>…</a:t>
                      </a:r>
                      <a:endParaRPr lang="de-DE" dirty="0"/>
                    </a:p>
                  </a:txBody>
                  <a:tcPr/>
                </a:tc>
                <a:tc>
                  <a:txBody>
                    <a:bodyPr/>
                    <a:lstStyle/>
                    <a:p>
                      <a:r>
                        <a:rPr lang="de-DE" b="1" dirty="0" smtClean="0">
                          <a:solidFill>
                            <a:schemeClr val="accent2"/>
                          </a:solidFill>
                        </a:rPr>
                        <a:t>10115</a:t>
                      </a:r>
                      <a:endParaRPr lang="de-DE" b="1" dirty="0">
                        <a:solidFill>
                          <a:schemeClr val="accent2"/>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a:t>
                      </a:r>
                    </a:p>
                  </a:txBody>
                  <a:tcPr/>
                </a:tc>
                <a:tc>
                  <a:txBody>
                    <a:bodyPr/>
                    <a:lstStyle/>
                    <a:p>
                      <a:r>
                        <a:rPr lang="de-DE" dirty="0" smtClean="0"/>
                        <a:t>…</a:t>
                      </a:r>
                      <a:endParaRPr lang="de-DE" dirty="0"/>
                    </a:p>
                  </a:txBody>
                  <a:tcPr/>
                </a:tc>
                <a:tc>
                  <a:txBody>
                    <a:bodyPr/>
                    <a:lstStyle/>
                    <a:p>
                      <a:r>
                        <a:rPr lang="de-DE" b="1" dirty="0" smtClean="0">
                          <a:solidFill>
                            <a:schemeClr val="accent2"/>
                          </a:solidFill>
                        </a:rPr>
                        <a:t>030</a:t>
                      </a:r>
                      <a:endParaRPr lang="de-DE" b="1" dirty="0">
                        <a:solidFill>
                          <a:schemeClr val="accent2"/>
                        </a:solidFill>
                      </a:endParaRPr>
                    </a:p>
                  </a:txBody>
                  <a:tcPr/>
                </a:tc>
                <a:tc>
                  <a:txBody>
                    <a:bodyPr/>
                    <a:lstStyle/>
                    <a:p>
                      <a:r>
                        <a:rPr lang="de-DE" dirty="0" smtClean="0"/>
                        <a:t>…</a:t>
                      </a:r>
                      <a:endParaRPr lang="de-DE" dirty="0"/>
                    </a:p>
                  </a:txBody>
                  <a:tcPr/>
                </a:tc>
                <a:extLst>
                  <a:ext uri="{0D108BD9-81ED-4DB2-BD59-A6C34878D82A}">
                    <a16:rowId xmlns:a16="http://schemas.microsoft.com/office/drawing/2014/main" val="624540465"/>
                  </a:ext>
                </a:extLst>
              </a:tr>
            </a:tbl>
          </a:graphicData>
        </a:graphic>
      </p:graphicFrame>
    </p:spTree>
    <p:extLst>
      <p:ext uri="{BB962C8B-B14F-4D97-AF65-F5344CB8AC3E}">
        <p14:creationId xmlns:p14="http://schemas.microsoft.com/office/powerpoint/2010/main" val="3758505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A_01_05_01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6" name="Grafik 5"/>
          <p:cNvPicPr>
            <a:picLocks noChangeAspect="1"/>
          </p:cNvPicPr>
          <p:nvPr/>
        </p:nvPicPr>
        <p:blipFill>
          <a:blip r:embed="rId2"/>
          <a:stretch>
            <a:fillRect/>
          </a:stretch>
        </p:blipFill>
        <p:spPr>
          <a:xfrm>
            <a:off x="2755308" y="1363059"/>
            <a:ext cx="6024107" cy="4234468"/>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1918</Words>
  <Application>Microsoft Office PowerPoint</Application>
  <PresentationFormat>Breitbild</PresentationFormat>
  <Paragraphs>612</Paragraphs>
  <Slides>27</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27</vt:i4>
      </vt:variant>
    </vt:vector>
  </HeadingPairs>
  <TitlesOfParts>
    <vt:vector size="33" baseType="lpstr">
      <vt:lpstr>Arial</vt:lpstr>
      <vt:lpstr>Calibri</vt:lpstr>
      <vt:lpstr>Courier New</vt:lpstr>
      <vt:lpstr>Source Sans Pro</vt:lpstr>
      <vt:lpstr>Symbol</vt:lpstr>
      <vt:lpstr>1_Office</vt:lpstr>
      <vt:lpstr>Datenbanken und SQL</vt:lpstr>
      <vt:lpstr>Agenda</vt:lpstr>
      <vt:lpstr>PowerPoint-Präsentation</vt:lpstr>
      <vt:lpstr>1. Normalform -&gt; Definition</vt:lpstr>
      <vt:lpstr>1. Normalform -&gt; Motivation</vt:lpstr>
      <vt:lpstr>1. Normalform -&gt; Beispiel</vt:lpstr>
      <vt:lpstr>PowerPoint-Präsentation</vt:lpstr>
      <vt:lpstr>2. Normalform -&gt; Definition</vt:lpstr>
      <vt:lpstr>2. Normalform -&gt; Motivation</vt:lpstr>
      <vt:lpstr>2. Normalform -&gt; Beispiel</vt:lpstr>
      <vt:lpstr>2. Normalform -&gt; Beispiel</vt:lpstr>
      <vt:lpstr>2. Normalform -&gt; Beispiel</vt:lpstr>
      <vt:lpstr>2. Normalform -&gt; Beispiel</vt:lpstr>
      <vt:lpstr>2. Normalform -&gt; Lösung</vt:lpstr>
      <vt:lpstr>2. Normalform -&gt; Lösung</vt:lpstr>
      <vt:lpstr>2. Normalform -&gt; Lösung</vt:lpstr>
      <vt:lpstr>2. Normalform -&gt; Lösung … allerdings:</vt:lpstr>
      <vt:lpstr>PowerPoint-Präsentation</vt:lpstr>
      <vt:lpstr>3. Normalform -&gt; Definition + Motivation</vt:lpstr>
      <vt:lpstr>Transitivität -&gt; Definition</vt:lpstr>
      <vt:lpstr>3. Normalform -&gt; Beispiel</vt:lpstr>
      <vt:lpstr>3. Normalform -&gt; Lösung</vt:lpstr>
      <vt:lpstr>3. Normalform -&gt; Lösung</vt:lpstr>
      <vt:lpstr>3. Normalform: Redundanz-Vermeidung ? -&gt; Erläuterung</vt:lpstr>
      <vt:lpstr>3. Normalform: Redundanz-Vermeidung ? -&gt; Erläuterung</vt:lpstr>
      <vt:lpstr>Gemeinsame Übung („Live-Coding“) -&gt; A_01_05_01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216</cp:revision>
  <dcterms:created xsi:type="dcterms:W3CDTF">2022-02-01T13:48:14Z</dcterms:created>
  <dcterms:modified xsi:type="dcterms:W3CDTF">2022-07-01T11:46:02Z</dcterms:modified>
</cp:coreProperties>
</file>