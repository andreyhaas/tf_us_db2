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36" r:id="rId5"/>
    <p:sldId id="360" r:id="rId6"/>
    <p:sldId id="361" r:id="rId7"/>
    <p:sldId id="359" r:id="rId8"/>
    <p:sldId id="362" r:id="rId9"/>
    <p:sldId id="363" r:id="rId10"/>
    <p:sldId id="364" r:id="rId11"/>
    <p:sldId id="365" r:id="rId12"/>
    <p:sldId id="366" r:id="rId13"/>
    <p:sldId id="367" r:id="rId14"/>
    <p:sldId id="368" r:id="rId15"/>
    <p:sldId id="369" r:id="rId16"/>
    <p:sldId id="371" r:id="rId17"/>
    <p:sldId id="370" r:id="rId18"/>
    <p:sldId id="277" r:id="rId19"/>
    <p:sldId id="259"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23.03.2022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23.03.2022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23.03.2022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23.03.2022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23.03.2022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23.03.2022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23.03.2022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23.03.2022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23.03.2022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23.03.2022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23.03.2022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23.03.2022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23.03.2022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23.03.2022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23.03.2022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23.03.2022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23.03.2022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23.03.2022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3 - Tag </a:t>
            </a:r>
            <a:r>
              <a:rPr lang="de-DE" dirty="0">
                <a:latin typeface="Source Sans Pro" panose="020B0503030403020204" pitchFamily="34" charset="0"/>
              </a:rPr>
              <a:t>2</a:t>
            </a:r>
            <a:r>
              <a:rPr lang="de-DE" dirty="0" smtClean="0">
                <a:latin typeface="Source Sans Pro" panose="020B0503030403020204" pitchFamily="34" charset="0"/>
              </a:rPr>
              <a:t>)</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1030779" y="1020681"/>
            <a:ext cx="10713719" cy="4801314"/>
          </a:xfrm>
          <a:prstGeom prst="rect">
            <a:avLst/>
          </a:prstGeom>
          <a:noFill/>
        </p:spPr>
        <p:txBody>
          <a:bodyPr wrap="square" rtlCol="0">
            <a:spAutoFit/>
          </a:bodyPr>
          <a:lstStyle/>
          <a:p>
            <a:endParaRPr lang="de-DE" b="1" dirty="0" smtClean="0">
              <a:latin typeface="Source Sans Pro" panose="020B0503030403020204" pitchFamily="34" charset="0"/>
            </a:endParaRPr>
          </a:p>
          <a:p>
            <a:r>
              <a:rPr lang="de-DE" sz="1600" b="1" dirty="0" smtClean="0">
                <a:latin typeface="Source Sans Pro" panose="020B0503030403020204" pitchFamily="34" charset="0"/>
              </a:rPr>
              <a:t>Weitere JOIN-Varianten </a:t>
            </a:r>
          </a:p>
          <a:p>
            <a:endParaRPr lang="de-DE" sz="800" b="1" dirty="0" smtClean="0">
              <a:latin typeface="Source Sans Pro" panose="020B0503030403020204" pitchFamily="34" charset="0"/>
            </a:endParaRPr>
          </a:p>
          <a:p>
            <a:pPr marL="742950" lvl="1" indent="-285750">
              <a:buFont typeface="Arial" panose="020B0604020202020204" pitchFamily="34" charset="0"/>
              <a:buChar char="•"/>
            </a:pPr>
            <a:r>
              <a:rPr lang="de-DE" sz="1600" dirty="0" smtClean="0">
                <a:latin typeface="Source Sans Pro" panose="020B0503030403020204" pitchFamily="34" charset="0"/>
              </a:rPr>
              <a:t>Der bisherige JOIN </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Beispielaufgabe + Vorbemerkungen</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Bisherige und </a:t>
            </a:r>
            <a:r>
              <a:rPr lang="de-DE" sz="1600" b="1" dirty="0" smtClean="0">
                <a:solidFill>
                  <a:srgbClr val="0071B2"/>
                </a:solidFill>
                <a:latin typeface="Source Sans Pro" panose="020B0503030403020204" pitchFamily="34" charset="0"/>
              </a:rPr>
              <a:t>alternative</a:t>
            </a:r>
            <a:r>
              <a:rPr lang="de-DE" sz="1600" dirty="0" smtClean="0">
                <a:solidFill>
                  <a:srgbClr val="0071B2"/>
                </a:solidFill>
                <a:latin typeface="Source Sans Pro" panose="020B0503030403020204" pitchFamily="34" charset="0"/>
              </a:rPr>
              <a:t> Syntax</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Ausgabetabelle</a:t>
            </a:r>
            <a:endParaRPr lang="de-DE" sz="1600" dirty="0">
              <a:solidFill>
                <a:srgbClr val="0071B2"/>
              </a:solidFill>
              <a:latin typeface="Source Sans Pro" panose="020B0503030403020204" pitchFamily="34" charset="0"/>
            </a:endParaRP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Motivation der ON-Klausel</a:t>
            </a:r>
            <a:endParaRPr lang="de-DE" sz="1600" dirty="0">
              <a:solidFill>
                <a:srgbClr val="0071B2"/>
              </a:solidFill>
              <a:latin typeface="Source Sans Pro" panose="020B0503030403020204" pitchFamily="34" charset="0"/>
            </a:endParaRPr>
          </a:p>
          <a:p>
            <a:pPr marL="742950" lvl="1" indent="-285750">
              <a:buFont typeface="Arial" panose="020B0604020202020204" pitchFamily="34" charset="0"/>
              <a:buChar char="•"/>
            </a:pPr>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sz="1600" dirty="0" smtClean="0">
                <a:latin typeface="Source Sans Pro" panose="020B0503030403020204" pitchFamily="34" charset="0"/>
              </a:rPr>
              <a:t>LEFT JOIN</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Definition + (erste) Motivation</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Beispielaufgabe</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Syntax + </a:t>
            </a:r>
            <a:r>
              <a:rPr lang="de-DE" sz="1600" dirty="0" smtClean="0">
                <a:solidFill>
                  <a:srgbClr val="0071B2"/>
                </a:solidFill>
                <a:latin typeface="Source Sans Pro" panose="020B0503030403020204" pitchFamily="34" charset="0"/>
              </a:rPr>
              <a:t>Ausgabetabelle</a:t>
            </a:r>
            <a:endParaRPr lang="de-DE" sz="1600" dirty="0" smtClean="0">
              <a:solidFill>
                <a:srgbClr val="0071B2"/>
              </a:solidFill>
              <a:latin typeface="Source Sans Pro" panose="020B0503030403020204" pitchFamily="34" charset="0"/>
            </a:endParaRPr>
          </a:p>
          <a:p>
            <a:pPr lvl="3"/>
            <a:endParaRPr lang="de-DE" sz="800" dirty="0">
              <a:latin typeface="Source Sans Pro" panose="020B0503030403020204" pitchFamily="34" charset="0"/>
            </a:endParaRPr>
          </a:p>
          <a:p>
            <a:pPr marL="742950" lvl="1" indent="-285750">
              <a:buFont typeface="Arial" panose="020B0604020202020204" pitchFamily="34" charset="0"/>
              <a:buChar char="•"/>
            </a:pPr>
            <a:r>
              <a:rPr lang="de-DE" sz="1600" dirty="0" smtClean="0">
                <a:latin typeface="Source Sans Pro" panose="020B0503030403020204" pitchFamily="34" charset="0"/>
              </a:rPr>
              <a:t>RIGHT </a:t>
            </a:r>
            <a:r>
              <a:rPr lang="de-DE" sz="1600" dirty="0">
                <a:latin typeface="Source Sans Pro" panose="020B0503030403020204" pitchFamily="34" charset="0"/>
              </a:rPr>
              <a:t>JOIN</a:t>
            </a: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Definition + (erste) Motivation</a:t>
            </a: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Beispielaufgabe</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Syntax + </a:t>
            </a:r>
            <a:r>
              <a:rPr lang="de-DE" sz="1600" dirty="0" smtClean="0">
                <a:solidFill>
                  <a:srgbClr val="0071B2"/>
                </a:solidFill>
                <a:latin typeface="Source Sans Pro" panose="020B0503030403020204" pitchFamily="34" charset="0"/>
              </a:rPr>
              <a:t>Ausgabetabelle</a:t>
            </a:r>
            <a:endParaRPr lang="de-DE" sz="1600" dirty="0">
              <a:solidFill>
                <a:srgbClr val="0071B2"/>
              </a:solidFill>
              <a:latin typeface="Source Sans Pro" panose="020B0503030403020204" pitchFamily="34" charset="0"/>
            </a:endParaRPr>
          </a:p>
          <a:p>
            <a:pPr lvl="3"/>
            <a:endParaRPr lang="de-DE" sz="800" dirty="0">
              <a:latin typeface="Source Sans Pro" panose="020B0503030403020204" pitchFamily="34" charset="0"/>
            </a:endParaRPr>
          </a:p>
          <a:p>
            <a:pPr marL="742950" lvl="1" indent="-285750">
              <a:buFont typeface="Arial" panose="020B0604020202020204" pitchFamily="34" charset="0"/>
              <a:buChar char="•"/>
            </a:pPr>
            <a:r>
              <a:rPr lang="de-DE" sz="1600" dirty="0" smtClean="0">
                <a:latin typeface="Source Sans Pro" panose="020B0503030403020204" pitchFamily="34" charset="0"/>
              </a:rPr>
              <a:t>FULL </a:t>
            </a:r>
            <a:r>
              <a:rPr lang="de-DE" sz="1600" dirty="0">
                <a:latin typeface="Source Sans Pro" panose="020B0503030403020204" pitchFamily="34" charset="0"/>
              </a:rPr>
              <a:t>JOIN</a:t>
            </a: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Definition + </a:t>
            </a:r>
            <a:r>
              <a:rPr lang="de-DE" sz="1600" dirty="0" smtClean="0">
                <a:solidFill>
                  <a:srgbClr val="0071B2"/>
                </a:solidFill>
                <a:latin typeface="Source Sans Pro" panose="020B0503030403020204" pitchFamily="34" charset="0"/>
              </a:rPr>
              <a:t>Ausblick</a:t>
            </a:r>
            <a:endParaRPr lang="de-DE" sz="1600" dirty="0" smtClean="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JOIN-Varianten</a:t>
            </a:r>
            <a:endParaRPr lang="de-DE" sz="66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Beispielaufgabe </a:t>
            </a:r>
            <a:r>
              <a:rPr lang="de-DE" sz="4000" dirty="0" smtClean="0">
                <a:latin typeface="Source Sans Pro" panose="020B0503030403020204" pitchFamily="34" charset="0"/>
              </a:rPr>
              <a:t>+ </a:t>
            </a:r>
            <a:r>
              <a:rPr lang="de-DE" sz="4000" dirty="0" smtClean="0">
                <a:latin typeface="Source Sans Pro" panose="020B0503030403020204" pitchFamily="34" charset="0"/>
              </a:rPr>
              <a:t>Vorbemerkungen</a:t>
            </a:r>
            <a:endParaRPr lang="de-DE" sz="4000" b="0" i="1" dirty="0">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824086" y="2775672"/>
            <a:ext cx="2139904" cy="2508626"/>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5406488" y="2322918"/>
            <a:ext cx="1406674" cy="3596813"/>
          </a:xfrm>
          <a:prstGeom prst="rect">
            <a:avLst/>
          </a:prstGeom>
          <a:effectLst>
            <a:innerShdw blurRad="114300">
              <a:prstClr val="black"/>
            </a:innerShdw>
          </a:effectLst>
        </p:spPr>
      </p:pic>
      <p:sp>
        <p:nvSpPr>
          <p:cNvPr id="9" name="Rechteck 8"/>
          <p:cNvSpPr/>
          <p:nvPr/>
        </p:nvSpPr>
        <p:spPr>
          <a:xfrm>
            <a:off x="174538" y="1043479"/>
            <a:ext cx="11870575" cy="105132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tx1"/>
                </a:solidFill>
                <a:latin typeface="Source Sans Pro" panose="020B0503030403020204" pitchFamily="34" charset="0"/>
              </a:rPr>
              <a:t>Aufgabenstellung:</a:t>
            </a:r>
            <a:endParaRPr lang="de-DE" b="1" dirty="0" smtClean="0">
              <a:solidFill>
                <a:schemeClr val="tx1"/>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Für jeden Einkauf eines einzelnen Exemplars soll das </a:t>
            </a:r>
            <a:r>
              <a:rPr lang="de-DE" sz="1600" b="1" dirty="0" smtClean="0">
                <a:solidFill>
                  <a:schemeClr val="accent2"/>
                </a:solidFill>
                <a:latin typeface="Source Sans Pro" panose="020B0503030403020204" pitchFamily="34" charset="0"/>
              </a:rPr>
              <a:t>Einkaufsdatum</a:t>
            </a:r>
            <a:r>
              <a:rPr lang="de-DE" sz="1600" dirty="0" smtClean="0">
                <a:solidFill>
                  <a:schemeClr val="tx1"/>
                </a:solidFill>
                <a:latin typeface="Source Sans Pro" panose="020B0503030403020204" pitchFamily="34" charset="0"/>
              </a:rPr>
              <a:t> und der </a:t>
            </a:r>
            <a:r>
              <a:rPr lang="de-DE" sz="1600" b="1" dirty="0" smtClean="0">
                <a:solidFill>
                  <a:schemeClr val="accent2"/>
                </a:solidFill>
                <a:latin typeface="Source Sans Pro" panose="020B0503030403020204" pitchFamily="34" charset="0"/>
              </a:rPr>
              <a:t>Produktnamen</a:t>
            </a:r>
            <a:r>
              <a:rPr lang="de-DE" sz="1600" dirty="0" smtClean="0">
                <a:solidFill>
                  <a:schemeClr val="tx1"/>
                </a:solidFill>
                <a:latin typeface="Source Sans Pro" panose="020B0503030403020204" pitchFamily="34" charset="0"/>
              </a:rPr>
              <a:t> ausgegeben werden.</a:t>
            </a:r>
            <a:endParaRPr lang="de-DE" sz="2000" dirty="0" smtClean="0">
              <a:solidFill>
                <a:schemeClr val="tx1"/>
              </a:solidFill>
            </a:endParaRPr>
          </a:p>
          <a:p>
            <a:pPr algn="ctr"/>
            <a:r>
              <a:rPr lang="de-DE" sz="1200" dirty="0" smtClean="0">
                <a:solidFill>
                  <a:schemeClr val="tx1"/>
                </a:solidFill>
              </a:rPr>
              <a:t>.</a:t>
            </a:r>
            <a:endParaRPr lang="de-DE" sz="1200" dirty="0">
              <a:solidFill>
                <a:schemeClr val="tx1"/>
              </a:solidFill>
            </a:endParaRPr>
          </a:p>
        </p:txBody>
      </p:sp>
      <p:pic>
        <p:nvPicPr>
          <p:cNvPr id="7" name="Grafik 6"/>
          <p:cNvPicPr>
            <a:picLocks noChangeAspect="1"/>
          </p:cNvPicPr>
          <p:nvPr/>
        </p:nvPicPr>
        <p:blipFill>
          <a:blip r:embed="rId4"/>
          <a:stretch>
            <a:fillRect/>
          </a:stretch>
        </p:blipFill>
        <p:spPr>
          <a:xfrm>
            <a:off x="8368907" y="3302665"/>
            <a:ext cx="2859336" cy="1454640"/>
          </a:xfrm>
          <a:prstGeom prst="rect">
            <a:avLst/>
          </a:prstGeom>
          <a:effectLst>
            <a:innerShdw blurRad="114300">
              <a:prstClr val="black"/>
            </a:innerShdw>
          </a:effectLst>
        </p:spPr>
      </p:pic>
      <p:cxnSp>
        <p:nvCxnSpPr>
          <p:cNvPr id="11" name="Gerade Verbindung mit Pfeil 10"/>
          <p:cNvCxnSpPr/>
          <p:nvPr/>
        </p:nvCxnSpPr>
        <p:spPr>
          <a:xfrm flipV="1">
            <a:off x="2963990" y="2775672"/>
            <a:ext cx="2214839" cy="275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Geschweifte Klammer links 12"/>
          <p:cNvSpPr/>
          <p:nvPr/>
        </p:nvSpPr>
        <p:spPr>
          <a:xfrm>
            <a:off x="5300178" y="2486976"/>
            <a:ext cx="92170" cy="623455"/>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14" name="Gerade Verbindung mit Pfeil 13"/>
          <p:cNvCxnSpPr/>
          <p:nvPr/>
        </p:nvCxnSpPr>
        <p:spPr>
          <a:xfrm flipV="1">
            <a:off x="2978130" y="3302665"/>
            <a:ext cx="2200699" cy="1"/>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Geschweifte Klammer links 15"/>
          <p:cNvSpPr/>
          <p:nvPr/>
        </p:nvSpPr>
        <p:spPr>
          <a:xfrm>
            <a:off x="5300178" y="3190873"/>
            <a:ext cx="74174" cy="311728"/>
          </a:xfrm>
          <a:prstGeom prst="leftBrace">
            <a:avLst/>
          </a:prstGeom>
          <a:ln w="127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17" name="Gerade Verbindung mit Pfeil 16"/>
          <p:cNvCxnSpPr/>
          <p:nvPr/>
        </p:nvCxnSpPr>
        <p:spPr>
          <a:xfrm>
            <a:off x="2956898" y="3554298"/>
            <a:ext cx="2236071" cy="286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Geschweifte Klammer links 18"/>
          <p:cNvSpPr/>
          <p:nvPr/>
        </p:nvSpPr>
        <p:spPr>
          <a:xfrm>
            <a:off x="5280983" y="3554298"/>
            <a:ext cx="92170" cy="623455"/>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20" name="Gerade Verbindung mit Pfeil 19"/>
          <p:cNvCxnSpPr/>
          <p:nvPr/>
        </p:nvCxnSpPr>
        <p:spPr>
          <a:xfrm>
            <a:off x="2956898" y="3772681"/>
            <a:ext cx="2221931" cy="57132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Geschweifte Klammer links 21"/>
          <p:cNvSpPr/>
          <p:nvPr/>
        </p:nvSpPr>
        <p:spPr>
          <a:xfrm>
            <a:off x="5297589" y="4228954"/>
            <a:ext cx="74174" cy="311728"/>
          </a:xfrm>
          <a:prstGeom prst="leftBrace">
            <a:avLst/>
          </a:prstGeom>
          <a:ln w="127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23" name="Gerade Verbindung mit Pfeil 22"/>
          <p:cNvCxnSpPr/>
          <p:nvPr/>
        </p:nvCxnSpPr>
        <p:spPr>
          <a:xfrm>
            <a:off x="2953374" y="4024443"/>
            <a:ext cx="2225455" cy="6466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Geschweifte Klammer links 24"/>
          <p:cNvSpPr/>
          <p:nvPr/>
        </p:nvSpPr>
        <p:spPr>
          <a:xfrm>
            <a:off x="5297589" y="4591883"/>
            <a:ext cx="74174" cy="31172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26" name="Gerade Verbindung mit Pfeil 25"/>
          <p:cNvCxnSpPr/>
          <p:nvPr/>
        </p:nvCxnSpPr>
        <p:spPr>
          <a:xfrm>
            <a:off x="2960444" y="4255019"/>
            <a:ext cx="2218385" cy="83423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 name="Geschweifte Klammer links 27"/>
          <p:cNvSpPr/>
          <p:nvPr/>
        </p:nvSpPr>
        <p:spPr>
          <a:xfrm>
            <a:off x="5289981" y="4949756"/>
            <a:ext cx="81782" cy="445203"/>
          </a:xfrm>
          <a:prstGeom prst="leftBrace">
            <a:avLst/>
          </a:prstGeom>
          <a:ln w="127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32" name="Gerade Verbindung mit Pfeil 31"/>
          <p:cNvCxnSpPr/>
          <p:nvPr/>
        </p:nvCxnSpPr>
        <p:spPr>
          <a:xfrm>
            <a:off x="2946178" y="4521345"/>
            <a:ext cx="2239721" cy="9469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Geschweifte Klammer links 33"/>
          <p:cNvSpPr/>
          <p:nvPr/>
        </p:nvSpPr>
        <p:spPr>
          <a:xfrm>
            <a:off x="5288894" y="5435228"/>
            <a:ext cx="82869" cy="14493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35" name="Gerade Verbindung mit Pfeil 34"/>
          <p:cNvCxnSpPr/>
          <p:nvPr/>
        </p:nvCxnSpPr>
        <p:spPr>
          <a:xfrm>
            <a:off x="2962216" y="4716392"/>
            <a:ext cx="2216613" cy="929207"/>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7" name="Geschweifte Klammer links 36"/>
          <p:cNvSpPr/>
          <p:nvPr/>
        </p:nvSpPr>
        <p:spPr>
          <a:xfrm>
            <a:off x="5275755" y="5605462"/>
            <a:ext cx="82869" cy="144938"/>
          </a:xfrm>
          <a:prstGeom prst="leftBrace">
            <a:avLst/>
          </a:prstGeom>
          <a:ln w="127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38" name="Gerade Verbindung mit Pfeil 37"/>
          <p:cNvCxnSpPr/>
          <p:nvPr/>
        </p:nvCxnSpPr>
        <p:spPr>
          <a:xfrm>
            <a:off x="2958618" y="4978256"/>
            <a:ext cx="2220211" cy="8095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Geschweifte Klammer links 39"/>
          <p:cNvSpPr/>
          <p:nvPr/>
        </p:nvSpPr>
        <p:spPr>
          <a:xfrm>
            <a:off x="5269288" y="5774793"/>
            <a:ext cx="82869" cy="14493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41" name="Gerade Verbindung mit Pfeil 40"/>
          <p:cNvCxnSpPr/>
          <p:nvPr/>
        </p:nvCxnSpPr>
        <p:spPr>
          <a:xfrm>
            <a:off x="2966608" y="5140858"/>
            <a:ext cx="632803" cy="450635"/>
          </a:xfrm>
          <a:prstGeom prst="straightConnector1">
            <a:avLst/>
          </a:prstGeom>
          <a:ln>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Textfeld 42"/>
          <p:cNvSpPr txBox="1"/>
          <p:nvPr/>
        </p:nvSpPr>
        <p:spPr>
          <a:xfrm>
            <a:off x="1835765" y="5608599"/>
            <a:ext cx="2936958" cy="461665"/>
          </a:xfrm>
          <a:prstGeom prst="rect">
            <a:avLst/>
          </a:prstGeom>
          <a:noFill/>
        </p:spPr>
        <p:txBody>
          <a:bodyPr wrap="none" rtlCol="0">
            <a:spAutoFit/>
          </a:bodyPr>
          <a:lstStyle/>
          <a:p>
            <a:r>
              <a:rPr lang="de-DE" sz="1200" b="1" dirty="0" smtClean="0">
                <a:solidFill>
                  <a:srgbClr val="00B050"/>
                </a:solidFill>
              </a:rPr>
              <a:t>Kunde 7 besuchte die Seite von „Geld_her“</a:t>
            </a:r>
          </a:p>
          <a:p>
            <a:r>
              <a:rPr lang="de-DE" sz="1200" b="1" dirty="0" smtClean="0">
                <a:solidFill>
                  <a:srgbClr val="00B050"/>
                </a:solidFill>
              </a:rPr>
              <a:t>am 14.02.2022, bestellte dann aber nichts.</a:t>
            </a:r>
            <a:endParaRPr lang="de-DE" sz="1200" b="1" dirty="0">
              <a:solidFill>
                <a:srgbClr val="00B050"/>
              </a:solidFill>
            </a:endParaRPr>
          </a:p>
        </p:txBody>
      </p:sp>
      <p:sp>
        <p:nvSpPr>
          <p:cNvPr id="44" name="Ellipse 43"/>
          <p:cNvSpPr/>
          <p:nvPr/>
        </p:nvSpPr>
        <p:spPr>
          <a:xfrm>
            <a:off x="8257593" y="3467214"/>
            <a:ext cx="319090" cy="1821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5" name="Ellipse 44"/>
          <p:cNvSpPr/>
          <p:nvPr/>
        </p:nvSpPr>
        <p:spPr>
          <a:xfrm>
            <a:off x="6109825" y="3503499"/>
            <a:ext cx="319090" cy="1821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6" name="Ellipse 45"/>
          <p:cNvSpPr/>
          <p:nvPr/>
        </p:nvSpPr>
        <p:spPr>
          <a:xfrm>
            <a:off x="6109825" y="3674671"/>
            <a:ext cx="319090" cy="1821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Ellipse 46"/>
          <p:cNvSpPr/>
          <p:nvPr/>
        </p:nvSpPr>
        <p:spPr>
          <a:xfrm>
            <a:off x="6109825" y="3849173"/>
            <a:ext cx="319090" cy="1821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8" name="Ellipse 47"/>
          <p:cNvSpPr/>
          <p:nvPr/>
        </p:nvSpPr>
        <p:spPr>
          <a:xfrm>
            <a:off x="6109825" y="4526799"/>
            <a:ext cx="319090" cy="1821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9" name="Ellipse 48"/>
          <p:cNvSpPr/>
          <p:nvPr/>
        </p:nvSpPr>
        <p:spPr>
          <a:xfrm>
            <a:off x="6115797" y="5748337"/>
            <a:ext cx="319090" cy="1821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0" name="Ellipse 49"/>
          <p:cNvSpPr/>
          <p:nvPr/>
        </p:nvSpPr>
        <p:spPr>
          <a:xfrm>
            <a:off x="6109825" y="2463927"/>
            <a:ext cx="319090" cy="182188"/>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1" name="Ellipse 50"/>
          <p:cNvSpPr/>
          <p:nvPr/>
        </p:nvSpPr>
        <p:spPr>
          <a:xfrm>
            <a:off x="6109825" y="4711562"/>
            <a:ext cx="319090" cy="182188"/>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Ellipse 51"/>
          <p:cNvSpPr/>
          <p:nvPr/>
        </p:nvSpPr>
        <p:spPr>
          <a:xfrm>
            <a:off x="6109825" y="4193117"/>
            <a:ext cx="319090" cy="182188"/>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3" name="Ellipse 52"/>
          <p:cNvSpPr/>
          <p:nvPr/>
        </p:nvSpPr>
        <p:spPr>
          <a:xfrm>
            <a:off x="8257593" y="3685687"/>
            <a:ext cx="319090" cy="182188"/>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4" name="Ellipse 53"/>
          <p:cNvSpPr/>
          <p:nvPr/>
        </p:nvSpPr>
        <p:spPr>
          <a:xfrm>
            <a:off x="6109825" y="5045186"/>
            <a:ext cx="319090" cy="182188"/>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5" name="Ellipse 54"/>
          <p:cNvSpPr/>
          <p:nvPr/>
        </p:nvSpPr>
        <p:spPr>
          <a:xfrm>
            <a:off x="6109825" y="5402663"/>
            <a:ext cx="319090" cy="182188"/>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6" name="Ellipse 55"/>
          <p:cNvSpPr/>
          <p:nvPr/>
        </p:nvSpPr>
        <p:spPr>
          <a:xfrm>
            <a:off x="8257593" y="3913364"/>
            <a:ext cx="319090" cy="182188"/>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7" name="Ellipse 56"/>
          <p:cNvSpPr/>
          <p:nvPr/>
        </p:nvSpPr>
        <p:spPr>
          <a:xfrm>
            <a:off x="6109825" y="3161926"/>
            <a:ext cx="319090" cy="182188"/>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8" name="Ellipse 57"/>
          <p:cNvSpPr/>
          <p:nvPr/>
        </p:nvSpPr>
        <p:spPr>
          <a:xfrm>
            <a:off x="6109825" y="4357306"/>
            <a:ext cx="319090" cy="182188"/>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9" name="Ellipse 58"/>
          <p:cNvSpPr/>
          <p:nvPr/>
        </p:nvSpPr>
        <p:spPr>
          <a:xfrm>
            <a:off x="6109825" y="4879002"/>
            <a:ext cx="319090" cy="182188"/>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0" name="Ellipse 59"/>
          <p:cNvSpPr/>
          <p:nvPr/>
        </p:nvSpPr>
        <p:spPr>
          <a:xfrm>
            <a:off x="6109825" y="5570103"/>
            <a:ext cx="319090" cy="182188"/>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1" name="Ellipse 60"/>
          <p:cNvSpPr/>
          <p:nvPr/>
        </p:nvSpPr>
        <p:spPr>
          <a:xfrm>
            <a:off x="8257593" y="4141041"/>
            <a:ext cx="319090" cy="182188"/>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2" name="Ellipse 61"/>
          <p:cNvSpPr/>
          <p:nvPr/>
        </p:nvSpPr>
        <p:spPr>
          <a:xfrm>
            <a:off x="6119335" y="2638853"/>
            <a:ext cx="319090" cy="182188"/>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3" name="Ellipse 62"/>
          <p:cNvSpPr/>
          <p:nvPr/>
        </p:nvSpPr>
        <p:spPr>
          <a:xfrm>
            <a:off x="6119335" y="2812340"/>
            <a:ext cx="319090" cy="182188"/>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4" name="Ellipse 63"/>
          <p:cNvSpPr/>
          <p:nvPr/>
        </p:nvSpPr>
        <p:spPr>
          <a:xfrm>
            <a:off x="8257593" y="4357306"/>
            <a:ext cx="319090" cy="182188"/>
          </a:xfrm>
          <a:prstGeom prst="ellipse">
            <a:avLst/>
          </a:prstGeom>
          <a:noFill/>
          <a:ln w="28575">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5" name="Ellipse 64"/>
          <p:cNvSpPr/>
          <p:nvPr/>
        </p:nvSpPr>
        <p:spPr>
          <a:xfrm>
            <a:off x="6119335" y="2986526"/>
            <a:ext cx="319090" cy="182188"/>
          </a:xfrm>
          <a:prstGeom prst="ellipse">
            <a:avLst/>
          </a:prstGeom>
          <a:noFill/>
          <a:ln w="28575">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6" name="Ellipse 65"/>
          <p:cNvSpPr/>
          <p:nvPr/>
        </p:nvSpPr>
        <p:spPr>
          <a:xfrm>
            <a:off x="6109825" y="3337215"/>
            <a:ext cx="319090" cy="182188"/>
          </a:xfrm>
          <a:prstGeom prst="ellipse">
            <a:avLst/>
          </a:prstGeom>
          <a:noFill/>
          <a:ln w="28575">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7" name="Ellipse 66"/>
          <p:cNvSpPr/>
          <p:nvPr/>
        </p:nvSpPr>
        <p:spPr>
          <a:xfrm>
            <a:off x="6109825" y="4011474"/>
            <a:ext cx="319090" cy="182188"/>
          </a:xfrm>
          <a:prstGeom prst="ellipse">
            <a:avLst/>
          </a:prstGeom>
          <a:noFill/>
          <a:ln w="28575">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8" name="Ellipse 67"/>
          <p:cNvSpPr/>
          <p:nvPr/>
        </p:nvSpPr>
        <p:spPr>
          <a:xfrm>
            <a:off x="6119335" y="5231447"/>
            <a:ext cx="319090" cy="182188"/>
          </a:xfrm>
          <a:prstGeom prst="ellipse">
            <a:avLst/>
          </a:prstGeom>
          <a:noFill/>
          <a:ln w="28575">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9" name="Ellipse 68"/>
          <p:cNvSpPr/>
          <p:nvPr/>
        </p:nvSpPr>
        <p:spPr>
          <a:xfrm>
            <a:off x="8257593" y="4592928"/>
            <a:ext cx="319090" cy="1821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0" name="Textfeld 69"/>
          <p:cNvSpPr txBox="1"/>
          <p:nvPr/>
        </p:nvSpPr>
        <p:spPr>
          <a:xfrm>
            <a:off x="7449627" y="4889680"/>
            <a:ext cx="3645678" cy="461665"/>
          </a:xfrm>
          <a:prstGeom prst="rect">
            <a:avLst/>
          </a:prstGeom>
          <a:noFill/>
        </p:spPr>
        <p:txBody>
          <a:bodyPr wrap="none" rtlCol="0">
            <a:spAutoFit/>
          </a:bodyPr>
          <a:lstStyle/>
          <a:p>
            <a:r>
              <a:rPr lang="de-DE" sz="1200" b="1" dirty="0">
                <a:solidFill>
                  <a:srgbClr val="FF0000"/>
                </a:solidFill>
              </a:rPr>
              <a:t>P</a:t>
            </a:r>
            <a:r>
              <a:rPr lang="de-DE" sz="1200" b="1" dirty="0" smtClean="0">
                <a:solidFill>
                  <a:srgbClr val="FF0000"/>
                </a:solidFill>
              </a:rPr>
              <a:t>rodukt 6 („TroppoCaro“) gehört zwar zum Sortiment</a:t>
            </a:r>
          </a:p>
          <a:p>
            <a:r>
              <a:rPr lang="de-DE" sz="1200" b="1" dirty="0" smtClean="0">
                <a:solidFill>
                  <a:srgbClr val="FF0000"/>
                </a:solidFill>
              </a:rPr>
              <a:t>von „Geld_her“ wurde bisher aber noch nicht bestellt.</a:t>
            </a:r>
            <a:endParaRPr lang="de-DE" sz="1200" b="1" dirty="0">
              <a:solidFill>
                <a:srgbClr val="FF0000"/>
              </a:solidFill>
            </a:endParaRPr>
          </a:p>
        </p:txBody>
      </p:sp>
    </p:spTree>
    <p:extLst>
      <p:ext uri="{BB962C8B-B14F-4D97-AF65-F5344CB8AC3E}">
        <p14:creationId xmlns:p14="http://schemas.microsoft.com/office/powerpoint/2010/main" val="222653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5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5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5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8"/>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60"/>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6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6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6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64"/>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6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66"/>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6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68"/>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69"/>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6" grpId="0" animBg="1"/>
      <p:bldP spid="19" grpId="0" animBg="1"/>
      <p:bldP spid="22" grpId="0" animBg="1"/>
      <p:bldP spid="25" grpId="0" animBg="1"/>
      <p:bldP spid="28" grpId="0" animBg="1"/>
      <p:bldP spid="34" grpId="0" animBg="1"/>
      <p:bldP spid="37" grpId="0" animBg="1"/>
      <p:bldP spid="40" grpId="0" animBg="1"/>
      <p:bldP spid="43" grpId="0"/>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Bisherige und </a:t>
            </a:r>
            <a:r>
              <a:rPr lang="de-DE" sz="4000" dirty="0" smtClean="0">
                <a:solidFill>
                  <a:schemeClr val="accent2"/>
                </a:solidFill>
                <a:latin typeface="Source Sans Pro" panose="020B0503030403020204" pitchFamily="34" charset="0"/>
              </a:rPr>
              <a:t>alternative</a:t>
            </a:r>
            <a:r>
              <a:rPr lang="de-DE" sz="4000" dirty="0" smtClean="0">
                <a:latin typeface="Source Sans Pro" panose="020B0503030403020204" pitchFamily="34" charset="0"/>
              </a:rPr>
              <a:t> Syntax</a:t>
            </a:r>
            <a:endParaRPr lang="de-DE" sz="4000" b="0" i="1" dirty="0">
              <a:latin typeface="Source Sans Pro" panose="020B0503030403020204" pitchFamily="34" charset="0"/>
            </a:endParaRPr>
          </a:p>
        </p:txBody>
      </p:sp>
      <p:sp>
        <p:nvSpPr>
          <p:cNvPr id="9" name="Rechteck 8"/>
          <p:cNvSpPr/>
          <p:nvPr/>
        </p:nvSpPr>
        <p:spPr>
          <a:xfrm>
            <a:off x="174538" y="1043479"/>
            <a:ext cx="11870575" cy="105132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tx1"/>
                </a:solidFill>
                <a:latin typeface="Source Sans Pro" panose="020B0503030403020204" pitchFamily="34" charset="0"/>
              </a:rPr>
              <a:t>Aufgabenstellung:</a:t>
            </a:r>
            <a:endParaRPr lang="de-DE" b="1" dirty="0" smtClean="0">
              <a:solidFill>
                <a:schemeClr val="tx1"/>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Für jeden Einkauf eines einzelnen Exemplars soll das </a:t>
            </a:r>
            <a:r>
              <a:rPr lang="de-DE" sz="1600" b="1" dirty="0" smtClean="0">
                <a:solidFill>
                  <a:schemeClr val="accent1"/>
                </a:solidFill>
                <a:latin typeface="Source Sans Pro" panose="020B0503030403020204" pitchFamily="34" charset="0"/>
              </a:rPr>
              <a:t>Einkaufsdatum</a:t>
            </a:r>
            <a:r>
              <a:rPr lang="de-DE" sz="1600" dirty="0" smtClean="0">
                <a:solidFill>
                  <a:schemeClr val="tx1"/>
                </a:solidFill>
                <a:latin typeface="Source Sans Pro" panose="020B0503030403020204" pitchFamily="34" charset="0"/>
              </a:rPr>
              <a:t> und der </a:t>
            </a:r>
            <a:r>
              <a:rPr lang="de-DE" sz="1600" b="1" dirty="0" smtClean="0">
                <a:solidFill>
                  <a:schemeClr val="accent1"/>
                </a:solidFill>
                <a:latin typeface="Source Sans Pro" panose="020B0503030403020204" pitchFamily="34" charset="0"/>
              </a:rPr>
              <a:t>Produktnamen</a:t>
            </a:r>
            <a:r>
              <a:rPr lang="de-DE" sz="1600" dirty="0" smtClean="0">
                <a:solidFill>
                  <a:schemeClr val="tx1"/>
                </a:solidFill>
                <a:latin typeface="Source Sans Pro" panose="020B0503030403020204" pitchFamily="34" charset="0"/>
              </a:rPr>
              <a:t> ausgegeben werden.</a:t>
            </a:r>
            <a:endParaRPr lang="de-DE" sz="2000" dirty="0" smtClean="0">
              <a:solidFill>
                <a:schemeClr val="tx1"/>
              </a:solidFill>
            </a:endParaRPr>
          </a:p>
          <a:p>
            <a:pPr algn="ctr"/>
            <a:r>
              <a:rPr lang="de-DE" sz="1200" dirty="0" smtClean="0">
                <a:solidFill>
                  <a:schemeClr val="tx1"/>
                </a:solidFill>
              </a:rPr>
              <a:t>.</a:t>
            </a:r>
            <a:endParaRPr lang="de-DE" sz="1200" dirty="0">
              <a:solidFill>
                <a:schemeClr val="tx1"/>
              </a:solidFill>
            </a:endParaRPr>
          </a:p>
        </p:txBody>
      </p:sp>
      <p:sp>
        <p:nvSpPr>
          <p:cNvPr id="71" name="Textfeld 70"/>
          <p:cNvSpPr txBox="1"/>
          <p:nvPr/>
        </p:nvSpPr>
        <p:spPr>
          <a:xfrm>
            <a:off x="494743" y="2153488"/>
            <a:ext cx="11362960" cy="347787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Bisherige Lösung:</a:t>
            </a:r>
          </a:p>
          <a:p>
            <a:pPr lvl="0">
              <a:defRPr/>
            </a:pP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a:t>
            </a:r>
            <a:r>
              <a:rPr lang="de-DE" b="1" dirty="0">
                <a:solidFill>
                  <a:srgbClr val="0071B2"/>
                </a:solidFill>
                <a:latin typeface="Source Sans Pro" panose="020B0503030403020204" pitchFamily="34" charset="0"/>
              </a:rPr>
              <a:t>SELECT</a:t>
            </a:r>
            <a:r>
              <a:rPr lang="de-DE" dirty="0">
                <a:solidFill>
                  <a:srgbClr val="0071B2"/>
                </a:solidFill>
                <a:latin typeface="Source Sans Pro" panose="020B0503030403020204" pitchFamily="34" charset="0"/>
              </a:rPr>
              <a:t> Datum</a:t>
            </a:r>
            <a:r>
              <a:rPr lang="de-DE" dirty="0" smtClean="0">
                <a:solidFill>
                  <a:srgbClr val="0071B2"/>
                </a:solidFill>
                <a:latin typeface="Source Sans Pro" panose="020B0503030403020204" pitchFamily="34" charset="0"/>
              </a:rPr>
              <a:t>, Produkt_Name</a:t>
            </a:r>
            <a:endParaRPr lang="de-DE" dirty="0">
              <a:solidFill>
                <a:srgbClr val="0071B2"/>
              </a:solidFill>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FROM</a:t>
            </a:r>
            <a:r>
              <a:rPr lang="de-DE" dirty="0" smtClean="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Abrechnung</a:t>
            </a:r>
            <a:r>
              <a:rPr lang="de-DE" b="1"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Abrechnung_Produkt</a:t>
            </a:r>
            <a:r>
              <a:rPr lang="de-DE" b="1"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Produkt</a:t>
            </a:r>
            <a:endParaRPr lang="de-DE" dirty="0">
              <a:solidFill>
                <a:srgbClr val="0071B2"/>
              </a:solidFill>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WHERE</a:t>
            </a:r>
            <a:r>
              <a:rPr lang="de-DE" dirty="0" smtClean="0">
                <a:solidFill>
                  <a:srgbClr val="0071B2"/>
                </a:solidFill>
                <a:latin typeface="Source Sans Pro" panose="020B0503030403020204" pitchFamily="34" charset="0"/>
              </a:rPr>
              <a:t> Abrechnung.Abrechnung_ID </a:t>
            </a:r>
            <a:r>
              <a:rPr lang="de-DE" b="1"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Abrechnung_Produkt.Abrechnung_ID</a:t>
            </a:r>
            <a:endParaRPr lang="de-DE"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AND</a:t>
            </a:r>
            <a:r>
              <a:rPr lang="de-DE" dirty="0" smtClean="0">
                <a:solidFill>
                  <a:srgbClr val="0071B2"/>
                </a:solidFill>
                <a:latin typeface="Source Sans Pro" panose="020B0503030403020204" pitchFamily="34" charset="0"/>
              </a:rPr>
              <a:t> Abrechnung_Produkt.Produkt_ID </a:t>
            </a:r>
            <a:r>
              <a:rPr lang="de-DE" b="1" dirty="0" smtClean="0">
                <a:solidFill>
                  <a:srgbClr val="0071B2"/>
                </a:solidFill>
                <a:latin typeface="Source Sans Pro" panose="020B0503030403020204" pitchFamily="34" charset="0"/>
              </a:rPr>
              <a:t>=</a:t>
            </a:r>
            <a:r>
              <a:rPr lang="de-DE" dirty="0" smtClean="0">
                <a:solidFill>
                  <a:srgbClr val="0071B2"/>
                </a:solidFill>
                <a:latin typeface="Source Sans Pro" panose="020B0503030403020204" pitchFamily="34" charset="0"/>
              </a:rPr>
              <a:t> Produkt.Produkt_id</a:t>
            </a:r>
            <a:r>
              <a:rPr lang="de-DE" b="1" dirty="0" smtClean="0">
                <a:solidFill>
                  <a:srgbClr val="0071B2"/>
                </a:solidFill>
                <a:latin typeface="Source Sans Pro" panose="020B0503030403020204" pitchFamily="34" charset="0"/>
              </a:rPr>
              <a:t>;</a:t>
            </a:r>
          </a:p>
          <a:p>
            <a:pPr lvl="0">
              <a:defRPr/>
            </a:pPr>
            <a:endParaRPr lang="de-DE" b="1" dirty="0" smtClean="0">
              <a:solidFill>
                <a:srgbClr val="0071B2"/>
              </a:solidFill>
              <a:latin typeface="Source Sans Pro" panose="020B0503030403020204" pitchFamily="34" charset="0"/>
            </a:endParaRPr>
          </a:p>
          <a:p>
            <a:pPr marL="342900" lvl="0" indent="-342900">
              <a:buFont typeface="Arial" panose="020B0604020202020204" pitchFamily="34" charset="0"/>
              <a:buChar char="•"/>
              <a:defRPr/>
            </a:pPr>
            <a:r>
              <a:rPr lang="de-DE" sz="2400" dirty="0" smtClean="0">
                <a:solidFill>
                  <a:srgbClr val="0071B2"/>
                </a:solidFill>
                <a:latin typeface="Source Sans Pro" panose="020B0503030403020204" pitchFamily="34" charset="0"/>
              </a:rPr>
              <a:t>Alternative  </a:t>
            </a:r>
            <a:r>
              <a:rPr lang="de-DE" sz="2400" dirty="0">
                <a:solidFill>
                  <a:srgbClr val="0071B2"/>
                </a:solidFill>
                <a:latin typeface="Source Sans Pro" panose="020B0503030403020204" pitchFamily="34" charset="0"/>
              </a:rPr>
              <a:t>Lösung:</a:t>
            </a:r>
          </a:p>
          <a:p>
            <a:pPr lvl="0">
              <a:defRPr/>
            </a:pPr>
            <a:r>
              <a:rPr lang="de-DE" sz="2400"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SELECT</a:t>
            </a:r>
            <a:r>
              <a:rPr lang="de-DE" dirty="0">
                <a:solidFill>
                  <a:srgbClr val="0071B2"/>
                </a:solidFill>
                <a:latin typeface="Source Sans Pro" panose="020B0503030403020204" pitchFamily="34" charset="0"/>
              </a:rPr>
              <a:t> Datum</a:t>
            </a:r>
            <a:r>
              <a:rPr lang="de-DE" dirty="0" smtClean="0">
                <a:solidFill>
                  <a:srgbClr val="0071B2"/>
                </a:solidFill>
                <a:latin typeface="Source Sans Pro" panose="020B0503030403020204" pitchFamily="34" charset="0"/>
              </a:rPr>
              <a:t>, Produkt_Name</a:t>
            </a:r>
            <a:endParaRPr lang="de-DE" dirty="0">
              <a:solidFill>
                <a:srgbClr val="0071B2"/>
              </a:solidFill>
              <a:latin typeface="Source Sans Pro" panose="020B0503030403020204" pitchFamily="34" charset="0"/>
            </a:endParaRPr>
          </a:p>
          <a:p>
            <a:pPr>
              <a:defRPr/>
            </a:pPr>
            <a:r>
              <a:rPr lang="de-DE"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FROM</a:t>
            </a: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Abrechnung</a:t>
            </a:r>
            <a:r>
              <a:rPr lang="de-DE" b="1" dirty="0" smtClean="0">
                <a:solidFill>
                  <a:srgbClr val="0071B2"/>
                </a:solidFill>
                <a:latin typeface="Source Sans Pro" panose="020B0503030403020204" pitchFamily="34" charset="0"/>
              </a:rPr>
              <a:t> </a:t>
            </a:r>
            <a:r>
              <a:rPr lang="de-DE" b="1" dirty="0" smtClean="0">
                <a:solidFill>
                  <a:schemeClr val="accent2"/>
                </a:solidFill>
                <a:latin typeface="Source Sans Pro" panose="020B0503030403020204" pitchFamily="34" charset="0"/>
              </a:rPr>
              <a:t>INNER JOIN </a:t>
            </a:r>
            <a:r>
              <a:rPr lang="de-DE" dirty="0" smtClean="0">
                <a:solidFill>
                  <a:srgbClr val="0071B2"/>
                </a:solidFill>
                <a:latin typeface="Source Sans Pro" panose="020B0503030403020204" pitchFamily="34" charset="0"/>
              </a:rPr>
              <a:t>Abrechnung_Produkt</a:t>
            </a:r>
            <a:r>
              <a:rPr lang="de-DE" b="1" dirty="0">
                <a:solidFill>
                  <a:srgbClr val="0071B2"/>
                </a:solidFill>
                <a:latin typeface="Source Sans Pro" panose="020B0503030403020204" pitchFamily="34" charset="0"/>
              </a:rPr>
              <a:t> </a:t>
            </a:r>
            <a:r>
              <a:rPr lang="de-DE" b="1" dirty="0" smtClean="0">
                <a:solidFill>
                  <a:schemeClr val="accent2"/>
                </a:solidFill>
                <a:latin typeface="Source Sans Pro" panose="020B0503030403020204" pitchFamily="34" charset="0"/>
              </a:rPr>
              <a:t>ON</a:t>
            </a:r>
            <a:r>
              <a:rPr lang="de-DE" b="1" dirty="0" smtClean="0">
                <a:solidFill>
                  <a:srgbClr val="0071B2"/>
                </a:solidFill>
                <a:latin typeface="Source Sans Pro" panose="020B0503030403020204" pitchFamily="34" charset="0"/>
              </a:rPr>
              <a:t> </a:t>
            </a:r>
            <a:r>
              <a:rPr lang="de-DE" sz="1200" dirty="0">
                <a:solidFill>
                  <a:srgbClr val="0071B2"/>
                </a:solidFill>
                <a:latin typeface="Source Sans Pro" panose="020B0503030403020204" pitchFamily="34" charset="0"/>
              </a:rPr>
              <a:t>Abrechnung.Abrechnung_ID </a:t>
            </a:r>
            <a:r>
              <a:rPr lang="de-DE" sz="1200" b="1" dirty="0">
                <a:solidFill>
                  <a:srgbClr val="0071B2"/>
                </a:solidFill>
                <a:latin typeface="Source Sans Pro" panose="020B0503030403020204" pitchFamily="34" charset="0"/>
              </a:rPr>
              <a:t>= </a:t>
            </a:r>
            <a:r>
              <a:rPr lang="de-DE" sz="1200" dirty="0">
                <a:solidFill>
                  <a:srgbClr val="0071B2"/>
                </a:solidFill>
                <a:latin typeface="Source Sans Pro" panose="020B0503030403020204" pitchFamily="34" charset="0"/>
              </a:rPr>
              <a:t>Abrechnung_Produkt.Abrechnung_ID</a:t>
            </a:r>
          </a:p>
          <a:p>
            <a:pPr>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r>
              <a:rPr lang="de-DE" b="1" dirty="0" smtClean="0">
                <a:solidFill>
                  <a:schemeClr val="accent2"/>
                </a:solidFill>
                <a:latin typeface="Source Sans Pro" panose="020B0503030403020204" pitchFamily="34" charset="0"/>
              </a:rPr>
              <a:t>INNER JOIN </a:t>
            </a:r>
            <a:r>
              <a:rPr lang="de-DE" dirty="0" smtClean="0">
                <a:solidFill>
                  <a:srgbClr val="0071B2"/>
                </a:solidFill>
                <a:latin typeface="Source Sans Pro" panose="020B0503030403020204" pitchFamily="34" charset="0"/>
              </a:rPr>
              <a:t>Produkt </a:t>
            </a:r>
            <a:r>
              <a:rPr lang="de-DE" b="1" dirty="0" smtClean="0">
                <a:solidFill>
                  <a:schemeClr val="accent2"/>
                </a:solidFill>
                <a:latin typeface="Source Sans Pro" panose="020B0503030403020204" pitchFamily="34" charset="0"/>
              </a:rPr>
              <a:t>ON</a:t>
            </a:r>
            <a:r>
              <a:rPr lang="de-DE" dirty="0" smtClean="0">
                <a:solidFill>
                  <a:schemeClr val="accent2"/>
                </a:solidFill>
                <a:latin typeface="Source Sans Pro" panose="020B0503030403020204" pitchFamily="34" charset="0"/>
              </a:rPr>
              <a:t> </a:t>
            </a:r>
            <a:r>
              <a:rPr lang="de-DE" dirty="0">
                <a:solidFill>
                  <a:srgbClr val="0071B2"/>
                </a:solidFill>
                <a:latin typeface="Source Sans Pro" panose="020B0503030403020204" pitchFamily="34" charset="0"/>
              </a:rPr>
              <a:t>Abrechnung_Produkt.Produkt_ID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Produkt.Produkt_id</a:t>
            </a:r>
            <a:r>
              <a:rPr lang="de-DE" b="1"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378253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a:xfrm>
            <a:off x="5481579" y="6364572"/>
            <a:ext cx="4326902" cy="40957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a:xfrm>
            <a:off x="9808481" y="6364572"/>
            <a:ext cx="1663045" cy="4095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Ausgabetabelle</a:t>
            </a:r>
            <a:endParaRPr lang="de-DE" sz="4000" b="0" i="1" dirty="0">
              <a:latin typeface="Source Sans Pro" panose="020B0503030403020204" pitchFamily="34" charset="0"/>
            </a:endParaRPr>
          </a:p>
        </p:txBody>
      </p:sp>
      <p:sp>
        <p:nvSpPr>
          <p:cNvPr id="71" name="Textfeld 70"/>
          <p:cNvSpPr txBox="1"/>
          <p:nvPr/>
        </p:nvSpPr>
        <p:spPr>
          <a:xfrm>
            <a:off x="829040" y="971385"/>
            <a:ext cx="11362960" cy="954107"/>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	</a:t>
            </a:r>
            <a:r>
              <a:rPr lang="de-DE" sz="1200" b="1" dirty="0">
                <a:latin typeface="Source Sans Pro" panose="020B0503030403020204" pitchFamily="34" charset="0"/>
              </a:rPr>
              <a:t>SELECT</a:t>
            </a:r>
            <a:r>
              <a:rPr lang="de-DE" sz="1200" dirty="0">
                <a:latin typeface="Source Sans Pro" panose="020B0503030403020204" pitchFamily="34" charset="0"/>
              </a:rPr>
              <a:t> Datum</a:t>
            </a:r>
            <a:r>
              <a:rPr lang="de-DE" sz="1200" dirty="0" smtClean="0">
                <a:latin typeface="Source Sans Pro" panose="020B0503030403020204" pitchFamily="34" charset="0"/>
              </a:rPr>
              <a:t>, Produkt_Name</a:t>
            </a:r>
            <a:endParaRPr lang="de-DE" sz="1200" dirty="0">
              <a:latin typeface="Source Sans Pro" panose="020B0503030403020204" pitchFamily="34" charset="0"/>
            </a:endParaRPr>
          </a:p>
          <a:p>
            <a:pPr>
              <a:defRPr/>
            </a:pPr>
            <a:r>
              <a:rPr lang="de-DE" sz="1200" dirty="0">
                <a:latin typeface="Source Sans Pro" panose="020B0503030403020204" pitchFamily="34" charset="0"/>
              </a:rPr>
              <a:t>	</a:t>
            </a:r>
            <a:r>
              <a:rPr lang="de-DE" sz="1200" b="1" dirty="0">
                <a:latin typeface="Source Sans Pro" panose="020B0503030403020204" pitchFamily="34" charset="0"/>
              </a:rPr>
              <a:t>FROM</a:t>
            </a:r>
            <a:r>
              <a:rPr lang="de-DE" sz="1200" dirty="0">
                <a:latin typeface="Source Sans Pro" panose="020B0503030403020204" pitchFamily="34" charset="0"/>
              </a:rPr>
              <a:t> </a:t>
            </a:r>
            <a:r>
              <a:rPr lang="de-DE" sz="1200" dirty="0" smtClean="0">
                <a:latin typeface="Source Sans Pro" panose="020B0503030403020204" pitchFamily="34" charset="0"/>
              </a:rPr>
              <a:t>Abrechnung </a:t>
            </a:r>
            <a:r>
              <a:rPr lang="de-DE" sz="1200" b="1" dirty="0" smtClean="0">
                <a:latin typeface="Source Sans Pro" panose="020B0503030403020204" pitchFamily="34" charset="0"/>
              </a:rPr>
              <a:t>INNER JOIN </a:t>
            </a:r>
            <a:r>
              <a:rPr lang="de-DE" sz="1200" dirty="0" smtClean="0">
                <a:latin typeface="Source Sans Pro" panose="020B0503030403020204" pitchFamily="34" charset="0"/>
              </a:rPr>
              <a:t>Abrechnung_Produkt</a:t>
            </a:r>
            <a:r>
              <a:rPr lang="de-DE" sz="1200" dirty="0">
                <a:latin typeface="Source Sans Pro" panose="020B0503030403020204" pitchFamily="34" charset="0"/>
              </a:rPr>
              <a:t> </a:t>
            </a:r>
            <a:r>
              <a:rPr lang="de-DE" sz="1200" b="1" dirty="0" smtClean="0">
                <a:latin typeface="Source Sans Pro" panose="020B0503030403020204" pitchFamily="34" charset="0"/>
              </a:rPr>
              <a:t>ON</a:t>
            </a:r>
            <a:r>
              <a:rPr lang="de-DE" sz="1200" dirty="0" smtClean="0">
                <a:latin typeface="Source Sans Pro" panose="020B0503030403020204" pitchFamily="34" charset="0"/>
              </a:rPr>
              <a:t> </a:t>
            </a:r>
            <a:r>
              <a:rPr lang="de-DE" sz="1200" dirty="0">
                <a:latin typeface="Source Sans Pro" panose="020B0503030403020204" pitchFamily="34" charset="0"/>
              </a:rPr>
              <a:t>Abrechnung.Abrechnung_ID </a:t>
            </a:r>
            <a:r>
              <a:rPr lang="de-DE" sz="1200" b="1" dirty="0">
                <a:latin typeface="Source Sans Pro" panose="020B0503030403020204" pitchFamily="34" charset="0"/>
              </a:rPr>
              <a:t>=</a:t>
            </a:r>
            <a:r>
              <a:rPr lang="de-DE" sz="1200" dirty="0">
                <a:latin typeface="Source Sans Pro" panose="020B0503030403020204" pitchFamily="34" charset="0"/>
              </a:rPr>
              <a:t> Abrechnung_Produkt.Abrechnung_ID</a:t>
            </a:r>
          </a:p>
          <a:p>
            <a:pPr>
              <a:defRPr/>
            </a:pPr>
            <a:r>
              <a:rPr lang="de-DE" sz="1200" dirty="0">
                <a:latin typeface="Source Sans Pro" panose="020B0503030403020204" pitchFamily="34" charset="0"/>
              </a:rPr>
              <a:t> </a:t>
            </a:r>
            <a:r>
              <a:rPr lang="de-DE" sz="1200" dirty="0" smtClean="0">
                <a:latin typeface="Source Sans Pro" panose="020B0503030403020204" pitchFamily="34" charset="0"/>
              </a:rPr>
              <a:t>                                           </a:t>
            </a:r>
            <a:r>
              <a:rPr lang="de-DE" sz="1200" b="1" dirty="0" smtClean="0">
                <a:latin typeface="Source Sans Pro" panose="020B0503030403020204" pitchFamily="34" charset="0"/>
              </a:rPr>
              <a:t>INNER JOIN </a:t>
            </a:r>
            <a:r>
              <a:rPr lang="de-DE" sz="1200" dirty="0" smtClean="0">
                <a:latin typeface="Source Sans Pro" panose="020B0503030403020204" pitchFamily="34" charset="0"/>
              </a:rPr>
              <a:t>Produkt </a:t>
            </a:r>
            <a:r>
              <a:rPr lang="de-DE" sz="1200" b="1" dirty="0" smtClean="0">
                <a:latin typeface="Source Sans Pro" panose="020B0503030403020204" pitchFamily="34" charset="0"/>
              </a:rPr>
              <a:t>ON</a:t>
            </a:r>
            <a:r>
              <a:rPr lang="de-DE" sz="1200" dirty="0" smtClean="0">
                <a:latin typeface="Source Sans Pro" panose="020B0503030403020204" pitchFamily="34" charset="0"/>
              </a:rPr>
              <a:t> </a:t>
            </a:r>
            <a:r>
              <a:rPr lang="de-DE" sz="1200" dirty="0">
                <a:latin typeface="Source Sans Pro" panose="020B0503030403020204" pitchFamily="34" charset="0"/>
              </a:rPr>
              <a:t>Abrechnung_Produkt.Produkt_ID </a:t>
            </a:r>
            <a:r>
              <a:rPr lang="de-DE" sz="1200" b="1" dirty="0">
                <a:latin typeface="Source Sans Pro" panose="020B0503030403020204" pitchFamily="34" charset="0"/>
              </a:rPr>
              <a:t>=</a:t>
            </a:r>
            <a:r>
              <a:rPr lang="de-DE" sz="1200" dirty="0">
                <a:latin typeface="Source Sans Pro" panose="020B0503030403020204" pitchFamily="34" charset="0"/>
              </a:rPr>
              <a:t> Produkt.Produkt_id</a:t>
            </a:r>
            <a:r>
              <a:rPr lang="de-DE" sz="1200" b="1" dirty="0">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4856195" y="1994957"/>
            <a:ext cx="1730191" cy="4583487"/>
          </a:xfrm>
          <a:prstGeom prst="rect">
            <a:avLst/>
          </a:prstGeom>
          <a:effectLst>
            <a:innerShdw blurRad="114300">
              <a:prstClr val="black"/>
            </a:innerShdw>
          </a:effectLst>
        </p:spPr>
      </p:pic>
      <p:sp>
        <p:nvSpPr>
          <p:cNvPr id="10" name="Textfeld 9"/>
          <p:cNvSpPr txBox="1"/>
          <p:nvPr/>
        </p:nvSpPr>
        <p:spPr>
          <a:xfrm>
            <a:off x="1720735" y="3940536"/>
            <a:ext cx="2719142" cy="461665"/>
          </a:xfrm>
          <a:prstGeom prst="rect">
            <a:avLst/>
          </a:prstGeom>
          <a:noFill/>
        </p:spPr>
        <p:txBody>
          <a:bodyPr wrap="none" rtlCol="0">
            <a:spAutoFit/>
          </a:bodyPr>
          <a:lstStyle/>
          <a:p>
            <a:r>
              <a:rPr lang="de-DE" sz="1200" b="1" dirty="0" smtClean="0">
                <a:solidFill>
                  <a:srgbClr val="00B050"/>
                </a:solidFill>
              </a:rPr>
              <a:t>Es fehlt das Kalenderdatum 14.02.2022,</a:t>
            </a:r>
          </a:p>
          <a:p>
            <a:r>
              <a:rPr lang="de-DE" sz="1200" b="1" dirty="0">
                <a:solidFill>
                  <a:srgbClr val="00B050"/>
                </a:solidFill>
              </a:rPr>
              <a:t>d</a:t>
            </a:r>
            <a:r>
              <a:rPr lang="de-DE" sz="1200" b="1" dirty="0" smtClean="0">
                <a:solidFill>
                  <a:srgbClr val="00B050"/>
                </a:solidFill>
              </a:rPr>
              <a:t>a an diesem Tag nichts bestellt wurde.</a:t>
            </a:r>
            <a:endParaRPr lang="de-DE" sz="1200" b="1" dirty="0">
              <a:solidFill>
                <a:srgbClr val="00B050"/>
              </a:solidFill>
            </a:endParaRPr>
          </a:p>
        </p:txBody>
      </p:sp>
      <p:sp>
        <p:nvSpPr>
          <p:cNvPr id="11" name="Textfeld 10"/>
          <p:cNvSpPr txBox="1"/>
          <p:nvPr/>
        </p:nvSpPr>
        <p:spPr>
          <a:xfrm>
            <a:off x="7002704" y="3940536"/>
            <a:ext cx="2386038" cy="461665"/>
          </a:xfrm>
          <a:prstGeom prst="rect">
            <a:avLst/>
          </a:prstGeom>
          <a:noFill/>
        </p:spPr>
        <p:txBody>
          <a:bodyPr wrap="none" rtlCol="0">
            <a:spAutoFit/>
          </a:bodyPr>
          <a:lstStyle/>
          <a:p>
            <a:r>
              <a:rPr lang="de-DE" sz="1200" b="1" dirty="0" smtClean="0">
                <a:solidFill>
                  <a:srgbClr val="FF0000"/>
                </a:solidFill>
              </a:rPr>
              <a:t>Es fehlt das </a:t>
            </a:r>
            <a:r>
              <a:rPr lang="de-DE" sz="1200" b="1" dirty="0">
                <a:solidFill>
                  <a:srgbClr val="FF0000"/>
                </a:solidFill>
              </a:rPr>
              <a:t>P</a:t>
            </a:r>
            <a:r>
              <a:rPr lang="de-DE" sz="1200" b="1" dirty="0" smtClean="0">
                <a:solidFill>
                  <a:srgbClr val="FF0000"/>
                </a:solidFill>
              </a:rPr>
              <a:t>rodukt „TroppoCaro“,</a:t>
            </a:r>
          </a:p>
          <a:p>
            <a:r>
              <a:rPr lang="de-DE" sz="1200" b="1" dirty="0">
                <a:solidFill>
                  <a:srgbClr val="FF0000"/>
                </a:solidFill>
              </a:rPr>
              <a:t>w</a:t>
            </a:r>
            <a:r>
              <a:rPr lang="de-DE" sz="1200" b="1" dirty="0" smtClean="0">
                <a:solidFill>
                  <a:srgbClr val="FF0000"/>
                </a:solidFill>
              </a:rPr>
              <a:t>eil dieses nie bestellt wurde.</a:t>
            </a:r>
            <a:endParaRPr lang="de-DE" sz="1200" b="1" dirty="0">
              <a:solidFill>
                <a:srgbClr val="FF0000"/>
              </a:solidFill>
            </a:endParaRPr>
          </a:p>
        </p:txBody>
      </p:sp>
      <p:sp>
        <p:nvSpPr>
          <p:cNvPr id="3" name="Rechteck 2"/>
          <p:cNvSpPr/>
          <p:nvPr/>
        </p:nvSpPr>
        <p:spPr>
          <a:xfrm>
            <a:off x="1720735" y="1069446"/>
            <a:ext cx="8221286" cy="7579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591402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19697" y="946123"/>
            <a:ext cx="10477547" cy="550920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Ein erstes „weiches“ Argument ist eher </a:t>
            </a:r>
            <a:r>
              <a:rPr lang="de-DE" sz="2400" b="1" dirty="0" smtClean="0">
                <a:solidFill>
                  <a:srgbClr val="0071B2"/>
                </a:solidFill>
                <a:latin typeface="Source Sans Pro" panose="020B0503030403020204" pitchFamily="34" charset="0"/>
              </a:rPr>
              <a:t>ästhetischer</a:t>
            </a:r>
            <a:r>
              <a:rPr lang="de-DE" sz="2400" dirty="0" smtClean="0">
                <a:solidFill>
                  <a:srgbClr val="0071B2"/>
                </a:solidFill>
                <a:latin typeface="Source Sans Pro" panose="020B0503030403020204" pitchFamily="34" charset="0"/>
              </a:rPr>
              <a:t> Natur: </a:t>
            </a:r>
          </a:p>
          <a:p>
            <a:pPr marR="0" lvl="0" algn="l" defTabSz="914400" rtl="0" eaLnBrk="1" fontAlgn="auto" latinLnBrk="0" hangingPunct="1">
              <a:lnSpc>
                <a:spcPct val="100000"/>
              </a:lnSpc>
              <a:spcBef>
                <a:spcPts val="0"/>
              </a:spcBef>
              <a:spcAft>
                <a:spcPts val="0"/>
              </a:spcAft>
              <a:buClrTx/>
              <a:buSzTx/>
              <a:tabLst/>
              <a:defRPr/>
            </a:pPr>
            <a:r>
              <a:rPr lang="de-DE" sz="2400"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Die „technischen“ Schlüssel-Bedingungen können in der ON-Klausel berücksichtigt werden, 	während die „inhaltlichen“ Bedingungen (also solche, die seitens der </a:t>
            </a:r>
            <a:r>
              <a:rPr lang="de-DE" b="1" dirty="0" smtClean="0">
                <a:solidFill>
                  <a:srgbClr val="0071B2"/>
                </a:solidFill>
                <a:latin typeface="Source Sans Pro" panose="020B0503030403020204" pitchFamily="34" charset="0"/>
              </a:rPr>
              <a:t>Aufgabenstellung</a:t>
            </a:r>
            <a:r>
              <a:rPr lang="de-DE" dirty="0" smtClean="0">
                <a:solidFill>
                  <a:srgbClr val="0071B2"/>
                </a:solidFill>
                <a:latin typeface="Source Sans Pro" panose="020B0503030403020204" pitchFamily="34" charset="0"/>
              </a:rPr>
              <a:t> 	gefordert werden) weiterhin 	mittels der WHERE Klausel abgearbeitet werden (könnten).</a:t>
            </a:r>
            <a:endParaRPr lang="de-DE" dirty="0" smtClean="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lvl="0" indent="-342900">
              <a:buFont typeface="Arial" panose="020B0604020202020204" pitchFamily="34" charset="0"/>
              <a:buChar char="•"/>
              <a:defRPr/>
            </a:pPr>
            <a:r>
              <a:rPr lang="de-DE" sz="2400" dirty="0" smtClean="0">
                <a:solidFill>
                  <a:srgbClr val="0071B2"/>
                </a:solidFill>
                <a:latin typeface="Source Sans Pro" panose="020B0503030403020204" pitchFamily="34" charset="0"/>
              </a:rPr>
              <a:t>Ein stärkeres Argument ist die </a:t>
            </a:r>
            <a:r>
              <a:rPr lang="de-DE" dirty="0">
                <a:solidFill>
                  <a:srgbClr val="0071B2"/>
                </a:solidFill>
                <a:latin typeface="Source Sans Pro" panose="020B0503030403020204" pitchFamily="34" charset="0"/>
              </a:rPr>
              <a:t>(potentiell) </a:t>
            </a:r>
            <a:r>
              <a:rPr lang="de-DE" sz="2400" b="1" dirty="0">
                <a:solidFill>
                  <a:srgbClr val="0071B2"/>
                </a:solidFill>
                <a:latin typeface="Source Sans Pro" panose="020B0503030403020204" pitchFamily="34" charset="0"/>
              </a:rPr>
              <a:t>verbesserte Performance </a:t>
            </a:r>
            <a:r>
              <a:rPr lang="de-DE" dirty="0">
                <a:solidFill>
                  <a:srgbClr val="0071B2"/>
                </a:solidFill>
                <a:latin typeface="Source Sans Pro" panose="020B0503030403020204" pitchFamily="34" charset="0"/>
              </a:rPr>
              <a:t>(hängt </a:t>
            </a:r>
            <a:r>
              <a:rPr lang="de-DE" dirty="0" smtClean="0">
                <a:solidFill>
                  <a:srgbClr val="0071B2"/>
                </a:solidFill>
                <a:latin typeface="Source Sans Pro" panose="020B0503030403020204" pitchFamily="34" charset="0"/>
              </a:rPr>
              <a:t>aber von der internen Nutzung eines Optimizers ab, der den Performance-Unterschied aufheben würde), </a:t>
            </a:r>
            <a:r>
              <a:rPr lang="de-DE" sz="2400" dirty="0" smtClean="0">
                <a:solidFill>
                  <a:srgbClr val="0071B2"/>
                </a:solidFill>
                <a:latin typeface="Source Sans Pro" panose="020B0503030403020204" pitchFamily="34" charset="0"/>
              </a:rPr>
              <a:t>da die Verwendung der ON-Klausel die Anzahl der Kombinationen verringert:</a:t>
            </a:r>
            <a:endParaRPr lang="de-DE" sz="2400" dirty="0" smtClean="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Abrechnung,Abrechnung_Produkt,Produkt“ erzeugt einen JOIN mit:</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	</a:t>
            </a:r>
            <a:r>
              <a:rPr kumimoji="0" lang="de-DE" sz="1600" b="0" i="0" u="none" strike="noStrike" kern="1200" cap="none" spc="0" normalizeH="0" noProof="0" dirty="0" smtClean="0">
                <a:ln>
                  <a:noFill/>
                </a:ln>
                <a:solidFill>
                  <a:srgbClr val="0071B2"/>
                </a:solidFill>
                <a:effectLst/>
                <a:uLnTx/>
                <a:uFillTx/>
                <a:latin typeface="Source Sans Pro" panose="020B0503030403020204" pitchFamily="34" charset="0"/>
              </a:rPr>
              <a:t>10(Abrechnungen) x 20(Einkaufsposten) x 6(Produkte) = </a:t>
            </a:r>
            <a:r>
              <a:rPr kumimoji="0" lang="de-DE" sz="1600" b="1" i="0" u="none" strike="noStrike" kern="1200" cap="none" spc="0" normalizeH="0" noProof="0" dirty="0" smtClean="0">
                <a:ln>
                  <a:noFill/>
                </a:ln>
                <a:solidFill>
                  <a:schemeClr val="accent2"/>
                </a:solidFill>
                <a:effectLst/>
                <a:uLnTx/>
                <a:uFillTx/>
                <a:latin typeface="Source Sans Pro" panose="020B0503030403020204" pitchFamily="34" charset="0"/>
              </a:rPr>
              <a:t>1200 </a:t>
            </a:r>
            <a:r>
              <a:rPr kumimoji="0" lang="de-DE" sz="1600" b="1" i="0" u="none" strike="noStrike" kern="1200" cap="none" spc="0" normalizeH="0" noProof="0" dirty="0" smtClean="0">
                <a:ln>
                  <a:noFill/>
                </a:ln>
                <a:effectLst/>
                <a:uLnTx/>
                <a:uFillTx/>
                <a:latin typeface="Source Sans Pro" panose="020B0503030403020204" pitchFamily="34" charset="0"/>
              </a:rPr>
              <a:t>Kombinationen</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„Abrechnung </a:t>
            </a:r>
            <a:r>
              <a:rPr lang="de-DE" b="1" dirty="0" smtClean="0">
                <a:solidFill>
                  <a:srgbClr val="0071B2"/>
                </a:solidFill>
                <a:latin typeface="Source Sans Pro" panose="020B0503030403020204" pitchFamily="34" charset="0"/>
              </a:rPr>
              <a:t>INNER JOIN </a:t>
            </a:r>
            <a:r>
              <a:rPr lang="de-DE" dirty="0" smtClean="0">
                <a:solidFill>
                  <a:srgbClr val="0071B2"/>
                </a:solidFill>
                <a:latin typeface="Source Sans Pro" panose="020B0503030403020204" pitchFamily="34" charset="0"/>
              </a:rPr>
              <a:t>Abrechnung_Produkt </a:t>
            </a:r>
            <a:r>
              <a:rPr lang="de-DE" b="1" dirty="0" smtClean="0">
                <a:solidFill>
                  <a:srgbClr val="0071B2"/>
                </a:solidFill>
                <a:latin typeface="Source Sans Pro" panose="020B0503030403020204" pitchFamily="34" charset="0"/>
              </a:rPr>
              <a:t>ON</a:t>
            </a:r>
            <a:r>
              <a:rPr lang="de-DE" dirty="0" smtClean="0">
                <a:solidFill>
                  <a:srgbClr val="0071B2"/>
                </a:solidFill>
                <a:latin typeface="Source Sans Pro" panose="020B0503030403020204" pitchFamily="34" charset="0"/>
              </a:rPr>
              <a:t> …“ erzeugt </a:t>
            </a:r>
            <a:r>
              <a:rPr lang="de-DE" dirty="0">
                <a:solidFill>
                  <a:srgbClr val="0071B2"/>
                </a:solidFill>
                <a:latin typeface="Source Sans Pro" panose="020B0503030403020204" pitchFamily="34" charset="0"/>
              </a:rPr>
              <a:t>einen JOIN mit:</a:t>
            </a:r>
          </a:p>
          <a:p>
            <a:pPr lvl="0">
              <a:defRPr/>
            </a:pPr>
            <a:r>
              <a:rPr lang="de-DE" dirty="0">
                <a:solidFill>
                  <a:srgbClr val="0071B2"/>
                </a:solidFill>
                <a:latin typeface="Source Sans Pro" panose="020B0503030403020204" pitchFamily="34" charset="0"/>
              </a:rPr>
              <a:t>		</a:t>
            </a:r>
            <a:r>
              <a:rPr lang="de-DE" sz="1600" dirty="0">
                <a:solidFill>
                  <a:srgbClr val="0071B2"/>
                </a:solidFill>
                <a:latin typeface="Source Sans Pro" panose="020B0503030403020204" pitchFamily="34" charset="0"/>
              </a:rPr>
              <a:t>10(Abrechnungen) x 20(Einkaufsposten) </a:t>
            </a:r>
            <a:r>
              <a:rPr lang="de-DE" sz="1600" dirty="0" smtClean="0">
                <a:solidFill>
                  <a:srgbClr val="0071B2"/>
                </a:solidFill>
                <a:latin typeface="Source Sans Pro" panose="020B0503030403020204" pitchFamily="34" charset="0"/>
              </a:rPr>
              <a:t>= </a:t>
            </a:r>
            <a:r>
              <a:rPr lang="de-DE" sz="1600" b="1" dirty="0" smtClean="0">
                <a:solidFill>
                  <a:schemeClr val="accent2"/>
                </a:solidFill>
                <a:latin typeface="Source Sans Pro" panose="020B0503030403020204" pitchFamily="34" charset="0"/>
              </a:rPr>
              <a:t>200</a:t>
            </a:r>
            <a:r>
              <a:rPr lang="de-DE" sz="1600" b="1" dirty="0" smtClean="0">
                <a:solidFill>
                  <a:srgbClr val="0071B2"/>
                </a:solidFill>
                <a:latin typeface="Source Sans Pro" panose="020B0503030403020204" pitchFamily="34" charset="0"/>
              </a:rPr>
              <a:t> Kombinationen</a:t>
            </a:r>
            <a:r>
              <a:rPr lang="de-DE" sz="1600" dirty="0" smtClean="0">
                <a:solidFill>
                  <a:srgbClr val="0071B2"/>
                </a:solidFill>
                <a:latin typeface="Source Sans Pro" panose="020B0503030403020204" pitchFamily="34" charset="0"/>
              </a:rPr>
              <a:t>, …</a:t>
            </a:r>
          </a:p>
          <a:p>
            <a:pPr lvl="0">
              <a:defRPr/>
            </a:pPr>
            <a:r>
              <a:rPr lang="de-DE" sz="1600" dirty="0" smtClean="0">
                <a:solidFill>
                  <a:srgbClr val="0071B2"/>
                </a:solidFill>
                <a:latin typeface="Source Sans Pro" panose="020B0503030403020204" pitchFamily="34" charset="0"/>
              </a:rPr>
              <a:t>		… die dann aber mittels ON-Klausel sofort auf 20 Datensätze gefiltert werden … </a:t>
            </a:r>
          </a:p>
          <a:p>
            <a:pPr lvl="0">
              <a:defRPr/>
            </a:pPr>
            <a:r>
              <a:rPr lang="de-DE" dirty="0" smtClean="0">
                <a:solidFill>
                  <a:srgbClr val="0071B2"/>
                </a:solidFill>
                <a:latin typeface="Source Sans Pro" panose="020B0503030403020204" pitchFamily="34" charset="0"/>
              </a:rPr>
              <a:t>	Das anschließende „… </a:t>
            </a:r>
            <a:r>
              <a:rPr lang="de-DE" b="1" dirty="0">
                <a:solidFill>
                  <a:srgbClr val="0071B2"/>
                </a:solidFill>
                <a:latin typeface="Source Sans Pro" panose="020B0503030403020204" pitchFamily="34" charset="0"/>
              </a:rPr>
              <a:t>INNER JOIN </a:t>
            </a:r>
            <a:r>
              <a:rPr lang="de-DE" dirty="0" smtClean="0">
                <a:solidFill>
                  <a:srgbClr val="0071B2"/>
                </a:solidFill>
                <a:latin typeface="Source Sans Pro" panose="020B0503030403020204" pitchFamily="34" charset="0"/>
              </a:rPr>
              <a:t>Produkt </a:t>
            </a:r>
            <a:r>
              <a:rPr lang="de-DE" b="1" dirty="0">
                <a:solidFill>
                  <a:srgbClr val="0071B2"/>
                </a:solidFill>
                <a:latin typeface="Source Sans Pro" panose="020B0503030403020204" pitchFamily="34" charset="0"/>
              </a:rPr>
              <a:t>ON</a:t>
            </a:r>
            <a:r>
              <a:rPr lang="de-DE" dirty="0">
                <a:solidFill>
                  <a:srgbClr val="0071B2"/>
                </a:solidFill>
                <a:latin typeface="Source Sans Pro" panose="020B0503030403020204" pitchFamily="34" charset="0"/>
              </a:rPr>
              <a:t> …“ erzeugt </a:t>
            </a:r>
            <a:r>
              <a:rPr lang="de-DE" dirty="0" smtClean="0">
                <a:solidFill>
                  <a:srgbClr val="0071B2"/>
                </a:solidFill>
                <a:latin typeface="Source Sans Pro" panose="020B0503030403020204" pitchFamily="34" charset="0"/>
              </a:rPr>
              <a:t>dann einen </a:t>
            </a:r>
            <a:r>
              <a:rPr lang="de-DE" dirty="0">
                <a:solidFill>
                  <a:srgbClr val="0071B2"/>
                </a:solidFill>
                <a:latin typeface="Source Sans Pro" panose="020B0503030403020204" pitchFamily="34" charset="0"/>
              </a:rPr>
              <a:t>JOIN mit:</a:t>
            </a:r>
          </a:p>
          <a:p>
            <a:pPr lvl="0">
              <a:defRPr/>
            </a:pPr>
            <a:r>
              <a:rPr lang="de-DE" sz="1600" dirty="0">
                <a:solidFill>
                  <a:srgbClr val="0071B2"/>
                </a:solidFill>
                <a:latin typeface="Source Sans Pro" panose="020B0503030403020204" pitchFamily="34" charset="0"/>
              </a:rPr>
              <a:t>	</a:t>
            </a:r>
            <a:r>
              <a:rPr lang="de-DE" sz="1600" dirty="0" smtClean="0">
                <a:solidFill>
                  <a:srgbClr val="0071B2"/>
                </a:solidFill>
                <a:latin typeface="Source Sans Pro" panose="020B0503030403020204" pitchFamily="34" charset="0"/>
              </a:rPr>
              <a:t>	20 Datensätze x </a:t>
            </a:r>
            <a:r>
              <a:rPr lang="de-DE" sz="1600" dirty="0">
                <a:solidFill>
                  <a:srgbClr val="0071B2"/>
                </a:solidFill>
                <a:latin typeface="Source Sans Pro" panose="020B0503030403020204" pitchFamily="34" charset="0"/>
              </a:rPr>
              <a:t>6(Produkte) = </a:t>
            </a:r>
            <a:r>
              <a:rPr lang="de-DE" sz="1600" b="1" dirty="0" smtClean="0">
                <a:solidFill>
                  <a:schemeClr val="accent2"/>
                </a:solidFill>
                <a:latin typeface="Source Sans Pro" panose="020B0503030403020204" pitchFamily="34" charset="0"/>
              </a:rPr>
              <a:t>120</a:t>
            </a:r>
            <a:r>
              <a:rPr lang="de-DE" sz="1600" b="1" dirty="0" smtClean="0">
                <a:solidFill>
                  <a:srgbClr val="0071B2"/>
                </a:solidFill>
                <a:latin typeface="Source Sans Pro" panose="020B0503030403020204" pitchFamily="34" charset="0"/>
              </a:rPr>
              <a:t> </a:t>
            </a:r>
            <a:r>
              <a:rPr lang="de-DE" sz="1600" b="1" dirty="0">
                <a:solidFill>
                  <a:srgbClr val="0071B2"/>
                </a:solidFill>
                <a:latin typeface="Source Sans Pro" panose="020B0503030403020204" pitchFamily="34" charset="0"/>
              </a:rPr>
              <a:t>Kombinationen</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Motivation der </a:t>
            </a:r>
            <a:r>
              <a:rPr lang="de-DE" sz="4000" dirty="0" smtClean="0">
                <a:solidFill>
                  <a:schemeClr val="accent2"/>
                </a:solidFill>
                <a:latin typeface="Source Sans Pro" panose="020B0503030403020204" pitchFamily="34" charset="0"/>
              </a:rPr>
              <a:t>ON-Klausel</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2659487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LEFT JOIN</a:t>
            </a:r>
            <a:endParaRPr lang="de-DE" sz="6600" dirty="0">
              <a:latin typeface="Source Sans Pro" panose="020B0503030403020204" pitchFamily="34" charset="0"/>
            </a:endParaRPr>
          </a:p>
        </p:txBody>
      </p:sp>
    </p:spTree>
    <p:extLst>
      <p:ext uri="{BB962C8B-B14F-4D97-AF65-F5344CB8AC3E}">
        <p14:creationId xmlns:p14="http://schemas.microsoft.com/office/powerpoint/2010/main" val="25883066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53194" y="1172031"/>
            <a:ext cx="11441823" cy="47705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LEFT</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JOIN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erzwingt die Ausgabe von Datensätzen </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(der im JOIN links notierten Tabelle)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AUCH wenn diese Datensätze nicht mit Datensätzen der anderen </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(rechten)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Tabelle verknüpft werden können.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Was damit gemeint ist, werden wir uns mit Hilfe des folgenden </a:t>
            </a:r>
            <a:r>
              <a:rPr lang="de-DE" sz="2400" b="1" dirty="0" smtClean="0">
                <a:solidFill>
                  <a:srgbClr val="0071B2"/>
                </a:solidFill>
                <a:latin typeface="Source Sans Pro" panose="020B0503030403020204" pitchFamily="34" charset="0"/>
              </a:rPr>
              <a:t>Beispiels</a:t>
            </a:r>
            <a:r>
              <a:rPr lang="de-DE" sz="2400" dirty="0" smtClean="0">
                <a:solidFill>
                  <a:srgbClr val="0071B2"/>
                </a:solidFill>
                <a:latin typeface="Source Sans Pro" panose="020B0503030403020204" pitchFamily="34" charset="0"/>
              </a:rPr>
              <a:t> (das eine Variante der zuvor betrachteten Beispielaufgabe darstellt) dann aber noch genauer anschauen können.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aseline="0" dirty="0" smtClean="0">
                <a:solidFill>
                  <a:srgbClr val="0071B2"/>
                </a:solidFill>
                <a:latin typeface="Source Sans Pro" panose="020B0503030403020204" pitchFamily="34" charset="0"/>
              </a:rPr>
              <a:t>Auch die </a:t>
            </a:r>
            <a:r>
              <a:rPr lang="de-DE" sz="2400" b="1" baseline="0" dirty="0" smtClean="0">
                <a:solidFill>
                  <a:srgbClr val="0071B2"/>
                </a:solidFill>
                <a:latin typeface="Source Sans Pro" panose="020B0503030403020204" pitchFamily="34" charset="0"/>
              </a:rPr>
              <a:t>Motivation</a:t>
            </a:r>
            <a:r>
              <a:rPr lang="de-DE" sz="2400" baseline="0" dirty="0" smtClean="0">
                <a:solidFill>
                  <a:srgbClr val="0071B2"/>
                </a:solidFill>
                <a:latin typeface="Source Sans Pro" panose="020B0503030403020204" pitchFamily="34" charset="0"/>
              </a:rPr>
              <a:t> für eine solche Vorgehensweise werden wir uns mit Hilfe dieses Beispiels verdeutlichen</a:t>
            </a:r>
            <a:r>
              <a:rPr lang="de-DE" sz="2400" dirty="0" smtClean="0">
                <a:solidFill>
                  <a:srgbClr val="0071B2"/>
                </a:solidFill>
                <a:latin typeface="Source Sans Pro" panose="020B0503030403020204" pitchFamily="34" charset="0"/>
              </a:rPr>
              <a:t> können. </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Wenn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wir dabei von einer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„ersten“ Motivation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sprechen, dann deswegen, weil wir uns in den kommenden Tagen mit mathematischen Funktionen beschäftigen wollen, die uns weitere Gründe für den Einsatz eines LEFT JOINS liefern werden.</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endParaRPr kumimoji="0" lang="de-DE" sz="1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Definition und (erste)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21243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824086" y="2775672"/>
            <a:ext cx="2139904" cy="2508626"/>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5406488" y="2322918"/>
            <a:ext cx="1406674" cy="3596813"/>
          </a:xfrm>
          <a:prstGeom prst="rect">
            <a:avLst/>
          </a:prstGeom>
          <a:effectLst>
            <a:innerShdw blurRad="114300">
              <a:prstClr val="black"/>
            </a:innerShdw>
          </a:effectLst>
        </p:spPr>
      </p:pic>
      <p:sp>
        <p:nvSpPr>
          <p:cNvPr id="9" name="Rechteck 8"/>
          <p:cNvSpPr/>
          <p:nvPr/>
        </p:nvSpPr>
        <p:spPr>
          <a:xfrm>
            <a:off x="174538" y="1043479"/>
            <a:ext cx="11870575" cy="105132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smtClean="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Erneut gilt: </a:t>
            </a:r>
            <a:r>
              <a:rPr kumimoji="0" lang="de-DE" sz="1600" b="0"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Für jeden Einkauf eines einzelnen Exemplars soll das </a:t>
            </a:r>
            <a:r>
              <a:rPr kumimoji="0" lang="de-DE" sz="1600" b="1"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Einkaufsdatum</a:t>
            </a:r>
            <a:r>
              <a:rPr kumimoji="0" lang="de-DE" sz="1600" b="0"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 und der </a:t>
            </a:r>
            <a:r>
              <a:rPr kumimoji="0" lang="de-DE" sz="1600" b="1"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Produktnamen</a:t>
            </a:r>
            <a:r>
              <a:rPr kumimoji="0" lang="de-DE" sz="1600" b="0"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 ausgegeben werden.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b="1" dirty="0" smtClean="0">
                <a:solidFill>
                  <a:schemeClr val="tx1"/>
                </a:solidFill>
                <a:latin typeface="Source Sans Pro" panose="020B0503030403020204" pitchFamily="34" charset="0"/>
              </a:rPr>
              <a:t>Nun aber </a:t>
            </a:r>
            <a:r>
              <a:rPr lang="de-DE" sz="1600" dirty="0" smtClean="0">
                <a:solidFill>
                  <a:schemeClr val="tx1"/>
                </a:solidFill>
                <a:latin typeface="Source Sans Pro" panose="020B0503030403020204" pitchFamily="34" charset="0"/>
              </a:rPr>
              <a:t>sollen </a:t>
            </a:r>
            <a:r>
              <a:rPr lang="de-DE" sz="1600" b="1" dirty="0" smtClean="0">
                <a:solidFill>
                  <a:schemeClr val="accent2"/>
                </a:solidFill>
                <a:latin typeface="Source Sans Pro" panose="020B0503030403020204" pitchFamily="34" charset="0"/>
              </a:rPr>
              <a:t>auch Kalenderdaten </a:t>
            </a:r>
            <a:r>
              <a:rPr lang="de-DE" sz="1600" dirty="0" smtClean="0">
                <a:solidFill>
                  <a:schemeClr val="tx1"/>
                </a:solidFill>
                <a:latin typeface="Source Sans Pro" panose="020B0503030403020204" pitchFamily="34" charset="0"/>
              </a:rPr>
              <a:t>ausgegeben werden, an denen die Seite von „Geld_her“ zwar besucht, aber </a:t>
            </a:r>
            <a:r>
              <a:rPr lang="de-DE" sz="1600" b="1" dirty="0" smtClean="0">
                <a:solidFill>
                  <a:schemeClr val="accent2"/>
                </a:solidFill>
                <a:latin typeface="Source Sans Pro" panose="020B0503030403020204" pitchFamily="34" charset="0"/>
              </a:rPr>
              <a:t>nichts bestellt </a:t>
            </a:r>
            <a:r>
              <a:rPr lang="de-DE" sz="1600" dirty="0" smtClean="0">
                <a:solidFill>
                  <a:schemeClr val="tx1"/>
                </a:solidFill>
                <a:latin typeface="Source Sans Pro" panose="020B0503030403020204" pitchFamily="34" charset="0"/>
              </a:rPr>
              <a:t>wurde.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dirty="0" smtClean="0">
              <a:solidFill>
                <a:schemeClr val="tx1"/>
              </a:solidFill>
              <a:latin typeface="Source Sans Pro" panose="020B0503030403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smtClean="0">
                <a:ln>
                  <a:noFill/>
                </a:ln>
                <a:solidFill>
                  <a:schemeClr val="tx1"/>
                </a:solidFill>
                <a:effectLst/>
                <a:uLnTx/>
                <a:uFillTx/>
                <a:latin typeface="Source Sans Pro" panose="020B0503030403020204" pitchFamily="34" charset="0"/>
              </a:rPr>
              <a:t>(</a:t>
            </a:r>
            <a:r>
              <a:rPr lang="de-DE" sz="1400" noProof="0" dirty="0" smtClean="0">
                <a:solidFill>
                  <a:schemeClr val="tx1"/>
                </a:solidFill>
                <a:latin typeface="Source Sans Pro" panose="020B0503030403020204" pitchFamily="34" charset="0"/>
              </a:rPr>
              <a:t>P</a:t>
            </a:r>
            <a:r>
              <a:rPr kumimoji="0" lang="de-DE" sz="1400" b="0" i="0" u="none" strike="noStrike" kern="1200" cap="none" spc="0" normalizeH="0" baseline="0" noProof="0" dirty="0" smtClean="0">
                <a:ln>
                  <a:noFill/>
                </a:ln>
                <a:solidFill>
                  <a:schemeClr val="tx1"/>
                </a:solidFill>
                <a:effectLst/>
                <a:uLnTx/>
                <a:uFillTx/>
                <a:latin typeface="Source Sans Pro" panose="020B0503030403020204" pitchFamily="34" charset="0"/>
              </a:rPr>
              <a:t>roduktnamen sollen jedoch weiterhin </a:t>
            </a:r>
            <a:r>
              <a:rPr kumimoji="0" lang="de-DE" sz="1400" b="0" i="0" u="sng" strike="noStrike" kern="1200" cap="none" spc="0" normalizeH="0" baseline="0" noProof="0" dirty="0" smtClean="0">
                <a:ln>
                  <a:noFill/>
                </a:ln>
                <a:solidFill>
                  <a:schemeClr val="tx1"/>
                </a:solidFill>
                <a:effectLst/>
                <a:uLnTx/>
                <a:uFillTx/>
                <a:latin typeface="Source Sans Pro" panose="020B0503030403020204" pitchFamily="34" charset="0"/>
              </a:rPr>
              <a:t>nur</a:t>
            </a:r>
            <a:r>
              <a:rPr kumimoji="0" lang="de-DE" sz="1400" b="0" i="0" u="none" strike="noStrike" kern="1200" cap="none" spc="0" normalizeH="0" baseline="0" noProof="0" dirty="0" smtClean="0">
                <a:ln>
                  <a:noFill/>
                </a:ln>
                <a:solidFill>
                  <a:schemeClr val="tx1"/>
                </a:solidFill>
                <a:effectLst/>
                <a:uLnTx/>
                <a:uFillTx/>
                <a:latin typeface="Source Sans Pro" panose="020B0503030403020204" pitchFamily="34" charset="0"/>
              </a:rPr>
              <a:t> (zusammen mit dem Einkaufsdatum) ausgegeben werden, </a:t>
            </a:r>
            <a:r>
              <a:rPr kumimoji="0" lang="de-DE" sz="1400" b="0" i="0" u="sng" strike="noStrike" kern="1200" cap="none" spc="0" normalizeH="0" baseline="0" noProof="0" dirty="0" smtClean="0">
                <a:ln>
                  <a:noFill/>
                </a:ln>
                <a:solidFill>
                  <a:schemeClr val="tx1"/>
                </a:solidFill>
                <a:effectLst/>
                <a:uLnTx/>
                <a:uFillTx/>
                <a:latin typeface="Source Sans Pro" panose="020B0503030403020204" pitchFamily="34" charset="0"/>
              </a:rPr>
              <a:t>falls</a:t>
            </a:r>
            <a:r>
              <a:rPr kumimoji="0" lang="de-DE" sz="1400" b="0" i="0" strike="noStrike" kern="1200" cap="none" spc="0" normalizeH="0" baseline="0" noProof="0" dirty="0" smtClean="0">
                <a:ln>
                  <a:noFill/>
                </a:ln>
                <a:solidFill>
                  <a:schemeClr val="tx1"/>
                </a:solidFill>
                <a:effectLst/>
                <a:uLnTx/>
                <a:uFillTx/>
                <a:latin typeface="Source Sans Pro" panose="020B0503030403020204" pitchFamily="34" charset="0"/>
              </a:rPr>
              <a:t> diese auch tatsächlich </a:t>
            </a:r>
            <a:r>
              <a:rPr kumimoji="0" lang="de-DE" sz="1400" b="0" i="0" u="sng" strike="noStrike" kern="1200" cap="none" spc="0" normalizeH="0" baseline="0" noProof="0" dirty="0" smtClean="0">
                <a:ln>
                  <a:noFill/>
                </a:ln>
                <a:solidFill>
                  <a:schemeClr val="tx1"/>
                </a:solidFill>
                <a:effectLst/>
                <a:uLnTx/>
                <a:uFillTx/>
                <a:latin typeface="Source Sans Pro" panose="020B0503030403020204" pitchFamily="34" charset="0"/>
              </a:rPr>
              <a:t>gekauft </a:t>
            </a:r>
            <a:r>
              <a:rPr kumimoji="0" lang="de-DE" sz="1400" b="0" i="0" u="none" strike="noStrike" kern="1200" cap="none" spc="0" normalizeH="0" baseline="0" noProof="0" dirty="0" smtClean="0">
                <a:ln>
                  <a:noFill/>
                </a:ln>
                <a:solidFill>
                  <a:schemeClr val="tx1"/>
                </a:solidFill>
                <a:effectLst/>
                <a:uLnTx/>
                <a:uFillTx/>
                <a:latin typeface="Source Sans Pro" panose="020B0503030403020204" pitchFamily="34" charset="0"/>
              </a:rPr>
              <a:t>wurden.)</a:t>
            </a:r>
            <a:endParaRPr kumimoji="0" lang="de-DE" sz="1400" b="0" i="0" u="none" strike="noStrike" kern="1200" cap="none" spc="0" normalizeH="0" baseline="0" noProof="0" dirty="0" smtClean="0">
              <a:ln>
                <a:noFill/>
              </a:ln>
              <a:solidFill>
                <a:schemeClr val="tx1"/>
              </a:solidFill>
              <a:effectLst/>
              <a:uLnTx/>
              <a:uFillTx/>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a:t>
            </a:r>
            <a:endPar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pic>
        <p:nvPicPr>
          <p:cNvPr id="7" name="Grafik 6"/>
          <p:cNvPicPr>
            <a:picLocks noChangeAspect="1"/>
          </p:cNvPicPr>
          <p:nvPr/>
        </p:nvPicPr>
        <p:blipFill>
          <a:blip r:embed="rId4"/>
          <a:stretch>
            <a:fillRect/>
          </a:stretch>
        </p:blipFill>
        <p:spPr>
          <a:xfrm>
            <a:off x="8368907" y="3302665"/>
            <a:ext cx="2859336" cy="1454640"/>
          </a:xfrm>
          <a:prstGeom prst="rect">
            <a:avLst/>
          </a:prstGeom>
          <a:effectLst>
            <a:innerShdw blurRad="114300">
              <a:prstClr val="black"/>
            </a:innerShdw>
          </a:effectLst>
        </p:spPr>
      </p:pic>
      <p:sp>
        <p:nvSpPr>
          <p:cNvPr id="43" name="Textfeld 42"/>
          <p:cNvSpPr txBox="1"/>
          <p:nvPr/>
        </p:nvSpPr>
        <p:spPr>
          <a:xfrm>
            <a:off x="361949" y="5351345"/>
            <a:ext cx="41345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B050"/>
                </a:solidFill>
                <a:effectLst/>
                <a:uLnTx/>
                <a:uFillTx/>
                <a:latin typeface="Calibri" panose="020F0502020204030204"/>
                <a:ea typeface="+mn-ea"/>
                <a:cs typeface="+mn-cs"/>
              </a:rPr>
              <a:t>Das Kalenderdatum „14.02.2022“</a:t>
            </a:r>
            <a:r>
              <a:rPr kumimoji="0" lang="de-DE" sz="1200" b="1" i="0" u="none" strike="noStrike" kern="1200" cap="none" spc="0" normalizeH="0" noProof="0" dirty="0" smtClean="0">
                <a:ln>
                  <a:noFill/>
                </a:ln>
                <a:solidFill>
                  <a:srgbClr val="00B050"/>
                </a:solidFill>
                <a:effectLst/>
                <a:uLnTx/>
                <a:uFillTx/>
                <a:latin typeface="Calibri" panose="020F0502020204030204"/>
                <a:ea typeface="+mn-ea"/>
                <a:cs typeface="+mn-cs"/>
              </a:rPr>
              <a:t> soll ausgegeben w</a:t>
            </a:r>
            <a:r>
              <a:rPr lang="de-DE" sz="1200" b="1" baseline="0" dirty="0" smtClean="0">
                <a:solidFill>
                  <a:srgbClr val="00B050"/>
                </a:solidFill>
                <a:latin typeface="Calibri" panose="020F0502020204030204"/>
              </a:rPr>
              <a:t>erden,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u="sng" baseline="0" dirty="0" smtClean="0">
                <a:solidFill>
                  <a:srgbClr val="00B050"/>
                </a:solidFill>
                <a:latin typeface="Calibri" panose="020F0502020204030204"/>
              </a:rPr>
              <a:t>obwohl</a:t>
            </a:r>
            <a:r>
              <a:rPr lang="de-DE" sz="1200" b="1" baseline="0" dirty="0" smtClean="0">
                <a:solidFill>
                  <a:srgbClr val="00B050"/>
                </a:solidFill>
                <a:latin typeface="Calibri" panose="020F0502020204030204"/>
              </a:rPr>
              <a:t> diesem</a:t>
            </a:r>
            <a:r>
              <a:rPr lang="de-DE" sz="1200" b="1" dirty="0" smtClean="0">
                <a:solidFill>
                  <a:srgbClr val="00B050"/>
                </a:solidFill>
                <a:latin typeface="Calibri" panose="020F0502020204030204"/>
              </a:rPr>
              <a:t> kein </a:t>
            </a:r>
            <a:r>
              <a:rPr lang="de-DE" sz="1200" b="1" dirty="0">
                <a:solidFill>
                  <a:srgbClr val="00B050"/>
                </a:solidFill>
                <a:latin typeface="Calibri" panose="020F0502020204030204"/>
              </a:rPr>
              <a:t>P</a:t>
            </a:r>
            <a:r>
              <a:rPr lang="de-DE" sz="1200" b="1" dirty="0" smtClean="0">
                <a:solidFill>
                  <a:srgbClr val="00B050"/>
                </a:solidFill>
                <a:latin typeface="Calibri" panose="020F0502020204030204"/>
              </a:rPr>
              <a:t>roduktnamen zugeordnet werden kann.</a:t>
            </a:r>
            <a:endParaRPr kumimoji="0" lang="de-DE" sz="1200" b="1"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70" name="Textfeld 69"/>
          <p:cNvSpPr txBox="1"/>
          <p:nvPr/>
        </p:nvSpPr>
        <p:spPr>
          <a:xfrm>
            <a:off x="8206086" y="4842105"/>
            <a:ext cx="353000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smtClean="0">
                <a:solidFill>
                  <a:srgbClr val="FF0000"/>
                </a:solidFill>
                <a:latin typeface="Calibri" panose="020F0502020204030204"/>
              </a:rPr>
              <a:t>Das Produkt </a:t>
            </a:r>
            <a:r>
              <a:rPr kumimoji="0" lang="de-DE" sz="1200" b="1" i="0" u="none" strike="noStrike" kern="1200" cap="none" spc="0" normalizeH="0" baseline="0" noProof="0" dirty="0" smtClean="0">
                <a:ln>
                  <a:noFill/>
                </a:ln>
                <a:solidFill>
                  <a:srgbClr val="FF0000"/>
                </a:solidFill>
                <a:effectLst/>
                <a:uLnTx/>
                <a:uFillTx/>
                <a:latin typeface="Calibri" panose="020F0502020204030204"/>
                <a:ea typeface="+mn-ea"/>
                <a:cs typeface="+mn-cs"/>
              </a:rPr>
              <a:t>„TroppoCaro“</a:t>
            </a:r>
            <a:r>
              <a:rPr kumimoji="0" lang="de-DE" sz="1200" b="1" i="0" u="none" strike="noStrike" kern="1200" cap="none" spc="0" normalizeH="0" noProof="0" dirty="0" smtClean="0">
                <a:ln>
                  <a:noFill/>
                </a:ln>
                <a:solidFill>
                  <a:srgbClr val="FF0000"/>
                </a:solidFill>
                <a:effectLst/>
                <a:uLnTx/>
                <a:uFillTx/>
                <a:latin typeface="Calibri" panose="020F0502020204030204"/>
                <a:ea typeface="+mn-ea"/>
                <a:cs typeface="+mn-cs"/>
              </a:rPr>
              <a:t> </a:t>
            </a:r>
            <a:r>
              <a:rPr lang="de-DE" sz="1200" b="1" dirty="0" smtClean="0">
                <a:solidFill>
                  <a:srgbClr val="FF0000"/>
                </a:solidFill>
                <a:latin typeface="Calibri" panose="020F0502020204030204"/>
              </a:rPr>
              <a:t>soll </a:t>
            </a:r>
            <a:r>
              <a:rPr lang="de-DE" sz="1200" b="1" u="sng" dirty="0" smtClean="0">
                <a:solidFill>
                  <a:srgbClr val="FF0000"/>
                </a:solidFill>
                <a:latin typeface="Calibri" panose="020F0502020204030204"/>
              </a:rPr>
              <a:t>nicht</a:t>
            </a:r>
            <a:r>
              <a:rPr lang="de-DE" sz="1200" b="1" dirty="0" smtClean="0">
                <a:solidFill>
                  <a:srgbClr val="FF0000"/>
                </a:solidFill>
                <a:latin typeface="Calibri" panose="020F0502020204030204"/>
              </a:rPr>
              <a:t> ausgegeben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smtClean="0">
                <a:solidFill>
                  <a:srgbClr val="FF0000"/>
                </a:solidFill>
                <a:latin typeface="Calibri" panose="020F0502020204030204"/>
              </a:rPr>
              <a:t>werden,</a:t>
            </a:r>
            <a:r>
              <a:rPr lang="de-DE" sz="1200" b="1" dirty="0">
                <a:solidFill>
                  <a:srgbClr val="FF0000"/>
                </a:solidFill>
                <a:latin typeface="Calibri" panose="020F0502020204030204"/>
              </a:rPr>
              <a:t> </a:t>
            </a:r>
            <a:r>
              <a:rPr lang="de-DE" sz="1200" b="1" dirty="0" smtClean="0">
                <a:solidFill>
                  <a:srgbClr val="FF0000"/>
                </a:solidFill>
                <a:latin typeface="Calibri" panose="020F0502020204030204"/>
              </a:rPr>
              <a:t>d</a:t>
            </a:r>
            <a:r>
              <a:rPr kumimoji="0" lang="de-DE" sz="1200" b="1" i="0" u="none" strike="noStrike" kern="1200" cap="none" spc="0" normalizeH="0" baseline="0" noProof="0" dirty="0" smtClean="0">
                <a:ln>
                  <a:noFill/>
                </a:ln>
                <a:solidFill>
                  <a:srgbClr val="FF0000"/>
                </a:solidFill>
                <a:effectLst/>
                <a:uLnTx/>
                <a:uFillTx/>
                <a:latin typeface="Calibri" panose="020F0502020204030204"/>
                <a:ea typeface="+mn-ea"/>
                <a:cs typeface="+mn-cs"/>
              </a:rPr>
              <a:t>a dieses bisher noch nicht bestellt wurde.</a:t>
            </a:r>
            <a:endParaRPr kumimoji="0" lang="de-DE"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 name="Rechteck 5"/>
          <p:cNvSpPr/>
          <p:nvPr/>
        </p:nvSpPr>
        <p:spPr>
          <a:xfrm>
            <a:off x="824086" y="5070764"/>
            <a:ext cx="2139904" cy="21353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1" name="Rechteck 70"/>
          <p:cNvSpPr/>
          <p:nvPr/>
        </p:nvSpPr>
        <p:spPr>
          <a:xfrm>
            <a:off x="8368907" y="4586171"/>
            <a:ext cx="2859336" cy="1711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04159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3" grpId="0"/>
      <p:bldP spid="70" grpId="0"/>
      <p:bldP spid="6" grpId="0" animBg="1"/>
      <p:bldP spid="7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Syntax und Ausgabetabelle</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0071287" y="1271590"/>
            <a:ext cx="1684625" cy="4675390"/>
          </a:xfrm>
          <a:prstGeom prst="rect">
            <a:avLst/>
          </a:prstGeom>
          <a:effectLst>
            <a:innerShdw blurRad="114300">
              <a:prstClr val="black"/>
            </a:innerShdw>
          </a:effectLst>
        </p:spPr>
      </p:pic>
      <p:sp>
        <p:nvSpPr>
          <p:cNvPr id="3" name="Rechteck 2"/>
          <p:cNvSpPr/>
          <p:nvPr/>
        </p:nvSpPr>
        <p:spPr>
          <a:xfrm>
            <a:off x="937629" y="1468985"/>
            <a:ext cx="9709338" cy="1938992"/>
          </a:xfrm>
          <a:prstGeom prst="rect">
            <a:avLst/>
          </a:prstGeom>
        </p:spPr>
        <p:txBody>
          <a:bodyPr wrap="square">
            <a:spAutoFit/>
          </a:bodyPr>
          <a:lstStyle/>
          <a:p>
            <a:pPr lvl="0">
              <a:defRPr/>
            </a:pPr>
            <a:r>
              <a:rPr lang="de-DE" sz="2400" b="1" dirty="0">
                <a:solidFill>
                  <a:srgbClr val="0071B2"/>
                </a:solidFill>
                <a:latin typeface="Source Sans Pro" panose="020B0503030403020204" pitchFamily="34" charset="0"/>
              </a:rPr>
              <a:t>SELECT</a:t>
            </a:r>
            <a:r>
              <a:rPr lang="de-DE" sz="2400" dirty="0">
                <a:solidFill>
                  <a:srgbClr val="0071B2"/>
                </a:solidFill>
                <a:latin typeface="Source Sans Pro" panose="020B0503030403020204" pitchFamily="34" charset="0"/>
              </a:rPr>
              <a:t> Datum</a:t>
            </a:r>
            <a:r>
              <a:rPr lang="de-DE" sz="2400" dirty="0" smtClean="0">
                <a:solidFill>
                  <a:srgbClr val="0071B2"/>
                </a:solidFill>
                <a:latin typeface="Source Sans Pro" panose="020B0503030403020204" pitchFamily="34" charset="0"/>
              </a:rPr>
              <a:t>, Produkt_Name</a:t>
            </a:r>
            <a:endParaRPr lang="de-DE" sz="2400" dirty="0">
              <a:solidFill>
                <a:srgbClr val="0071B2"/>
              </a:solidFill>
              <a:latin typeface="Source Sans Pro" panose="020B0503030403020204" pitchFamily="34" charset="0"/>
            </a:endParaRPr>
          </a:p>
          <a:p>
            <a:pPr>
              <a:defRPr/>
            </a:pPr>
            <a:r>
              <a:rPr lang="de-DE" sz="2400" b="1" dirty="0" smtClean="0">
                <a:solidFill>
                  <a:srgbClr val="0071B2"/>
                </a:solidFill>
                <a:latin typeface="Source Sans Pro" panose="020B0503030403020204" pitchFamily="34" charset="0"/>
              </a:rPr>
              <a:t>FROM</a:t>
            </a:r>
            <a:r>
              <a:rPr lang="de-DE" sz="2400" dirty="0" smtClean="0">
                <a:solidFill>
                  <a:srgbClr val="0071B2"/>
                </a:solidFill>
                <a:latin typeface="Source Sans Pro" panose="020B0503030403020204" pitchFamily="34" charset="0"/>
              </a:rPr>
              <a:t>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 </a:t>
            </a:r>
            <a:r>
              <a:rPr lang="de-DE" sz="2400" b="1" dirty="0" smtClean="0">
                <a:solidFill>
                  <a:schemeClr val="accent2"/>
                </a:solidFill>
                <a:latin typeface="Source Sans Pro" panose="020B0503030403020204" pitchFamily="34" charset="0"/>
              </a:rPr>
              <a:t>LEFT </a:t>
            </a:r>
            <a:r>
              <a:rPr lang="de-DE" sz="2400" b="1" dirty="0">
                <a:solidFill>
                  <a:schemeClr val="accent2"/>
                </a:solidFill>
                <a:latin typeface="Source Sans Pro" panose="020B0503030403020204" pitchFamily="34" charset="0"/>
              </a:rPr>
              <a:t>JOIN </a:t>
            </a:r>
            <a:r>
              <a:rPr lang="de-DE" sz="2400" dirty="0">
                <a:solidFill>
                  <a:srgbClr val="0071B2"/>
                </a:solidFill>
                <a:latin typeface="Source Sans Pro" panose="020B0503030403020204" pitchFamily="34" charset="0"/>
              </a:rPr>
              <a:t>Abrechnung_Produkt</a:t>
            </a:r>
            <a:r>
              <a:rPr lang="de-DE" sz="2400" b="1" dirty="0">
                <a:solidFill>
                  <a:srgbClr val="0071B2"/>
                </a:solidFill>
                <a:latin typeface="Source Sans Pro" panose="020B0503030403020204" pitchFamily="34" charset="0"/>
              </a:rPr>
              <a:t> </a:t>
            </a:r>
            <a:endParaRPr lang="de-DE" sz="2400" b="1" dirty="0" smtClean="0">
              <a:solidFill>
                <a:srgbClr val="0071B2"/>
              </a:solidFill>
              <a:latin typeface="Source Sans Pro" panose="020B0503030403020204" pitchFamily="34" charset="0"/>
            </a:endParaRPr>
          </a:p>
          <a:p>
            <a:pPr>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r>
              <a:rPr lang="de-DE" sz="2400" b="1" dirty="0" smtClean="0">
                <a:latin typeface="Source Sans Pro" panose="020B0503030403020204" pitchFamily="34" charset="0"/>
              </a:rPr>
              <a:t>ON</a:t>
            </a:r>
            <a:r>
              <a:rPr lang="de-DE" sz="2400" b="1" dirty="0" smtClean="0">
                <a:solidFill>
                  <a:srgbClr val="0071B2"/>
                </a:solidFill>
                <a:latin typeface="Source Sans Pro" panose="020B0503030403020204" pitchFamily="34" charset="0"/>
              </a:rPr>
              <a:t> </a:t>
            </a:r>
            <a:r>
              <a:rPr lang="de-DE" sz="2000" dirty="0">
                <a:solidFill>
                  <a:srgbClr val="0071B2"/>
                </a:solidFill>
                <a:latin typeface="Source Sans Pro" panose="020B0503030403020204" pitchFamily="34" charset="0"/>
              </a:rPr>
              <a:t>Abrechnung.Abrechnung_ID </a:t>
            </a:r>
            <a:r>
              <a:rPr lang="de-DE" sz="2000" b="1" dirty="0">
                <a:solidFill>
                  <a:srgbClr val="0071B2"/>
                </a:solidFill>
                <a:latin typeface="Source Sans Pro" panose="020B0503030403020204" pitchFamily="34" charset="0"/>
              </a:rPr>
              <a:t>= </a:t>
            </a:r>
            <a:r>
              <a:rPr lang="de-DE" sz="2000" dirty="0">
                <a:solidFill>
                  <a:srgbClr val="0071B2"/>
                </a:solidFill>
                <a:latin typeface="Source Sans Pro" panose="020B0503030403020204" pitchFamily="34" charset="0"/>
              </a:rPr>
              <a:t>Abrechnung_Produkt.Abrechnung_ID</a:t>
            </a:r>
          </a:p>
          <a:p>
            <a:pPr>
              <a:defRPr/>
            </a:pPr>
            <a:r>
              <a:rPr lang="de-DE" sz="2400" b="1" dirty="0">
                <a:solidFill>
                  <a:srgbClr val="0071B2"/>
                </a:solidFill>
                <a:latin typeface="Source Sans Pro" panose="020B0503030403020204" pitchFamily="34" charset="0"/>
              </a:rPr>
              <a:t>              </a:t>
            </a:r>
            <a:r>
              <a:rPr lang="de-DE" sz="2400" b="1" dirty="0" smtClean="0">
                <a:solidFill>
                  <a:schemeClr val="accent2"/>
                </a:solidFill>
                <a:latin typeface="Source Sans Pro" panose="020B0503030403020204" pitchFamily="34" charset="0"/>
              </a:rPr>
              <a:t>LEFT </a:t>
            </a:r>
            <a:r>
              <a:rPr lang="de-DE" sz="2400" b="1" dirty="0">
                <a:solidFill>
                  <a:schemeClr val="accent2"/>
                </a:solidFill>
                <a:latin typeface="Source Sans Pro" panose="020B0503030403020204" pitchFamily="34" charset="0"/>
              </a:rPr>
              <a:t>JOIN </a:t>
            </a:r>
            <a:r>
              <a:rPr lang="de-DE" sz="2400" dirty="0">
                <a:solidFill>
                  <a:srgbClr val="0071B2"/>
                </a:solidFill>
                <a:latin typeface="Source Sans Pro" panose="020B0503030403020204" pitchFamily="34" charset="0"/>
              </a:rPr>
              <a:t>Produkt </a:t>
            </a:r>
            <a:endParaRPr lang="de-DE" sz="2400" dirty="0" smtClean="0">
              <a:solidFill>
                <a:srgbClr val="0071B2"/>
              </a:solidFill>
              <a:latin typeface="Source Sans Pro" panose="020B0503030403020204" pitchFamily="34" charset="0"/>
            </a:endParaRPr>
          </a:p>
          <a:p>
            <a:pPr>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r>
              <a:rPr lang="de-DE" sz="2400" b="1" dirty="0" smtClean="0">
                <a:latin typeface="Source Sans Pro" panose="020B0503030403020204" pitchFamily="34" charset="0"/>
              </a:rPr>
              <a:t>ON</a:t>
            </a:r>
            <a:r>
              <a:rPr lang="de-DE" sz="2400" dirty="0" smtClean="0">
                <a:solidFill>
                  <a:schemeClr val="accent2"/>
                </a:solidFill>
                <a:latin typeface="Source Sans Pro" panose="020B0503030403020204" pitchFamily="34" charset="0"/>
              </a:rPr>
              <a:t> </a:t>
            </a:r>
            <a:r>
              <a:rPr lang="de-DE" sz="2400" dirty="0">
                <a:solidFill>
                  <a:srgbClr val="0071B2"/>
                </a:solidFill>
                <a:latin typeface="Source Sans Pro" panose="020B0503030403020204" pitchFamily="34" charset="0"/>
              </a:rPr>
              <a:t>Abrechnung_Produkt.Produkt_ID </a:t>
            </a:r>
            <a:r>
              <a:rPr lang="de-DE" sz="2400" b="1" dirty="0">
                <a:solidFill>
                  <a:srgbClr val="0071B2"/>
                </a:solidFill>
                <a:latin typeface="Source Sans Pro" panose="020B0503030403020204" pitchFamily="34" charset="0"/>
              </a:rPr>
              <a:t>=</a:t>
            </a:r>
            <a:r>
              <a:rPr lang="de-DE" sz="2400" dirty="0">
                <a:solidFill>
                  <a:srgbClr val="0071B2"/>
                </a:solidFill>
                <a:latin typeface="Source Sans Pro" panose="020B0503030403020204" pitchFamily="34" charset="0"/>
              </a:rPr>
              <a:t> Produkt.Produkt_id</a:t>
            </a:r>
            <a:r>
              <a:rPr lang="de-DE" sz="2400" b="1" dirty="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p:txBody>
      </p:sp>
      <p:sp>
        <p:nvSpPr>
          <p:cNvPr id="9" name="Rechteck 8"/>
          <p:cNvSpPr/>
          <p:nvPr/>
        </p:nvSpPr>
        <p:spPr>
          <a:xfrm>
            <a:off x="10071287" y="5733446"/>
            <a:ext cx="1684625" cy="21353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Ellipse 6"/>
          <p:cNvSpPr/>
          <p:nvPr/>
        </p:nvSpPr>
        <p:spPr>
          <a:xfrm>
            <a:off x="10755283" y="5733446"/>
            <a:ext cx="491837" cy="27198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34687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RIGHT JOIN</a:t>
            </a:r>
            <a:endParaRPr lang="de-DE" sz="6600" dirty="0">
              <a:latin typeface="Source Sans Pro" panose="020B0503030403020204" pitchFamily="34" charset="0"/>
            </a:endParaRPr>
          </a:p>
        </p:txBody>
      </p:sp>
    </p:spTree>
    <p:extLst>
      <p:ext uri="{BB962C8B-B14F-4D97-AF65-F5344CB8AC3E}">
        <p14:creationId xmlns:p14="http://schemas.microsoft.com/office/powerpoint/2010/main" val="23074480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83921" y="2061494"/>
            <a:ext cx="11608079" cy="28007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RIGHT</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JOIN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erzwingt die Ausgabe von Datensätzen </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(der im JOIN rechts notierten Tabelle)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AUCH wenn diese Datensätze nicht mit Datensätzen der anderen </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(linken)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Tabelle verknüpft werden können.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Damit wird deutlich, dass es sich beim RIGHT JOIN quasi um die </a:t>
            </a:r>
            <a:r>
              <a:rPr lang="de-DE" sz="2400" b="1" dirty="0" smtClean="0">
                <a:solidFill>
                  <a:srgbClr val="0071B2"/>
                </a:solidFill>
                <a:latin typeface="Source Sans Pro" panose="020B0503030403020204" pitchFamily="34" charset="0"/>
              </a:rPr>
              <a:t>„gespiegelte“ </a:t>
            </a:r>
            <a:r>
              <a:rPr lang="de-DE" sz="2400" dirty="0" smtClean="0">
                <a:solidFill>
                  <a:srgbClr val="0071B2"/>
                </a:solidFill>
                <a:latin typeface="Source Sans Pro" panose="020B0503030403020204" pitchFamily="34" charset="0"/>
              </a:rPr>
              <a:t>Version des LEFT JOIN handelt, was erneut am kommenden Beispiel deutlich werden wird.</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aseline="0" dirty="0" smtClean="0">
                <a:solidFill>
                  <a:srgbClr val="0071B2"/>
                </a:solidFill>
                <a:latin typeface="Source Sans Pro" panose="020B0503030403020204" pitchFamily="34" charset="0"/>
              </a:rPr>
              <a:t>Für die </a:t>
            </a:r>
            <a:r>
              <a:rPr lang="de-DE" sz="2400" b="1" baseline="0" dirty="0" smtClean="0">
                <a:solidFill>
                  <a:srgbClr val="0071B2"/>
                </a:solidFill>
                <a:latin typeface="Source Sans Pro" panose="020B0503030403020204" pitchFamily="34" charset="0"/>
              </a:rPr>
              <a:t>Motivation</a:t>
            </a:r>
            <a:r>
              <a:rPr lang="de-DE" sz="2400" baseline="0" dirty="0" smtClean="0">
                <a:solidFill>
                  <a:srgbClr val="0071B2"/>
                </a:solidFill>
                <a:latin typeface="Source Sans Pro" panose="020B0503030403020204" pitchFamily="34" charset="0"/>
              </a:rPr>
              <a:t> gilt entsprechendes.</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endParaRPr kumimoji="0" lang="de-DE" sz="1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Definition und (erste)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65512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824086" y="2775672"/>
            <a:ext cx="2139904" cy="2508626"/>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5406488" y="2322918"/>
            <a:ext cx="1406674" cy="3596813"/>
          </a:xfrm>
          <a:prstGeom prst="rect">
            <a:avLst/>
          </a:prstGeom>
          <a:effectLst>
            <a:innerShdw blurRad="114300">
              <a:prstClr val="black"/>
            </a:innerShdw>
          </a:effectLst>
        </p:spPr>
      </p:pic>
      <p:sp>
        <p:nvSpPr>
          <p:cNvPr id="9" name="Rechteck 8"/>
          <p:cNvSpPr/>
          <p:nvPr/>
        </p:nvSpPr>
        <p:spPr>
          <a:xfrm>
            <a:off x="174538" y="1043479"/>
            <a:ext cx="11870575" cy="105132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smtClean="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Erneut gilt: </a:t>
            </a:r>
            <a:r>
              <a:rPr kumimoji="0" lang="de-DE" sz="1600" b="0"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Für jeden Einkauf eines einzelnen Exemplars soll das </a:t>
            </a:r>
            <a:r>
              <a:rPr kumimoji="0" lang="de-DE" sz="1600" b="1"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Einkaufsdatum</a:t>
            </a:r>
            <a:r>
              <a:rPr kumimoji="0" lang="de-DE" sz="1600" b="0"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 und der </a:t>
            </a:r>
            <a:r>
              <a:rPr kumimoji="0" lang="de-DE" sz="1600" b="1"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Produktnamen</a:t>
            </a:r>
            <a:r>
              <a:rPr kumimoji="0" lang="de-DE" sz="1600" b="0" i="0" u="none" strike="noStrike" kern="1200" cap="none" spc="0" normalizeH="0" baseline="0" noProof="0" dirty="0" smtClean="0">
                <a:ln>
                  <a:noFill/>
                </a:ln>
                <a:solidFill>
                  <a:schemeClr val="tx1"/>
                </a:solidFill>
                <a:effectLst/>
                <a:uLnTx/>
                <a:uFillTx/>
                <a:latin typeface="Source Sans Pro" panose="020B0503030403020204" pitchFamily="34" charset="0"/>
                <a:ea typeface="+mn-ea"/>
                <a:cs typeface="+mn-cs"/>
              </a:rPr>
              <a:t> ausgegeben werden.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b="1" dirty="0" smtClean="0">
                <a:solidFill>
                  <a:schemeClr val="tx1"/>
                </a:solidFill>
                <a:latin typeface="Source Sans Pro" panose="020B0503030403020204" pitchFamily="34" charset="0"/>
              </a:rPr>
              <a:t>Nun aber </a:t>
            </a:r>
            <a:r>
              <a:rPr lang="de-DE" sz="1600" dirty="0" smtClean="0">
                <a:solidFill>
                  <a:schemeClr val="tx1"/>
                </a:solidFill>
                <a:latin typeface="Source Sans Pro" panose="020B0503030403020204" pitchFamily="34" charset="0"/>
              </a:rPr>
              <a:t>sollen </a:t>
            </a:r>
            <a:r>
              <a:rPr lang="de-DE" sz="1600" b="1" dirty="0" smtClean="0">
                <a:solidFill>
                  <a:schemeClr val="accent2"/>
                </a:solidFill>
                <a:latin typeface="Source Sans Pro" panose="020B0503030403020204" pitchFamily="34" charset="0"/>
              </a:rPr>
              <a:t>auch Produktnamen </a:t>
            </a:r>
            <a:r>
              <a:rPr lang="de-DE" sz="1600" dirty="0" smtClean="0">
                <a:solidFill>
                  <a:schemeClr val="tx1"/>
                </a:solidFill>
                <a:latin typeface="Source Sans Pro" panose="020B0503030403020204" pitchFamily="34" charset="0"/>
              </a:rPr>
              <a:t>ausgegeben werden, die </a:t>
            </a:r>
            <a:r>
              <a:rPr lang="de-DE" sz="1600" b="1" dirty="0" smtClean="0">
                <a:solidFill>
                  <a:schemeClr val="accent2"/>
                </a:solidFill>
                <a:latin typeface="Source Sans Pro" panose="020B0503030403020204" pitchFamily="34" charset="0"/>
              </a:rPr>
              <a:t>nie bestellt </a:t>
            </a:r>
            <a:r>
              <a:rPr lang="de-DE" sz="1600" dirty="0" smtClean="0">
                <a:solidFill>
                  <a:schemeClr val="tx1"/>
                </a:solidFill>
                <a:latin typeface="Source Sans Pro" panose="020B0503030403020204" pitchFamily="34" charset="0"/>
              </a:rPr>
              <a:t>wurden.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dirty="0" smtClean="0">
              <a:solidFill>
                <a:schemeClr val="tx1"/>
              </a:solidFill>
              <a:latin typeface="Source Sans Pro" panose="020B0503030403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smtClean="0">
                <a:ln>
                  <a:noFill/>
                </a:ln>
                <a:solidFill>
                  <a:schemeClr val="tx1"/>
                </a:solidFill>
                <a:effectLst/>
                <a:uLnTx/>
                <a:uFillTx/>
                <a:latin typeface="Source Sans Pro" panose="020B0503030403020204" pitchFamily="34" charset="0"/>
              </a:rPr>
              <a:t>(</a:t>
            </a:r>
            <a:r>
              <a:rPr lang="de-DE" sz="1400" noProof="0" dirty="0" smtClean="0">
                <a:solidFill>
                  <a:schemeClr val="tx1"/>
                </a:solidFill>
                <a:latin typeface="Source Sans Pro" panose="020B0503030403020204" pitchFamily="34" charset="0"/>
              </a:rPr>
              <a:t>Kalenderdaten</a:t>
            </a:r>
            <a:r>
              <a:rPr kumimoji="0" lang="de-DE" sz="1400" b="0" i="0" u="none" strike="noStrike" kern="1200" cap="none" spc="0" normalizeH="0" baseline="0" noProof="0" dirty="0" smtClean="0">
                <a:ln>
                  <a:noFill/>
                </a:ln>
                <a:solidFill>
                  <a:schemeClr val="tx1"/>
                </a:solidFill>
                <a:effectLst/>
                <a:uLnTx/>
                <a:uFillTx/>
                <a:latin typeface="Source Sans Pro" panose="020B0503030403020204" pitchFamily="34" charset="0"/>
              </a:rPr>
              <a:t> sollen hingegen </a:t>
            </a:r>
            <a:r>
              <a:rPr kumimoji="0" lang="de-DE" sz="1400" b="0" i="0" u="sng" strike="noStrike" kern="1200" cap="none" spc="0" normalizeH="0" baseline="0" noProof="0" dirty="0" smtClean="0">
                <a:ln>
                  <a:noFill/>
                </a:ln>
                <a:solidFill>
                  <a:schemeClr val="tx1"/>
                </a:solidFill>
                <a:effectLst/>
                <a:uLnTx/>
                <a:uFillTx/>
                <a:latin typeface="Source Sans Pro" panose="020B0503030403020204" pitchFamily="34" charset="0"/>
              </a:rPr>
              <a:t>nur</a:t>
            </a:r>
            <a:r>
              <a:rPr kumimoji="0" lang="de-DE" sz="1400" b="0" i="0" u="none" strike="noStrike" kern="1200" cap="none" spc="0" normalizeH="0" baseline="0" noProof="0" dirty="0" smtClean="0">
                <a:ln>
                  <a:noFill/>
                </a:ln>
                <a:solidFill>
                  <a:schemeClr val="tx1"/>
                </a:solidFill>
                <a:effectLst/>
                <a:uLnTx/>
                <a:uFillTx/>
                <a:latin typeface="Source Sans Pro" panose="020B0503030403020204" pitchFamily="34" charset="0"/>
              </a:rPr>
              <a:t> (zusammen mit dem Produktnamen) ausgegeben werden, </a:t>
            </a:r>
            <a:r>
              <a:rPr kumimoji="0" lang="de-DE" sz="1400" b="0" i="0" u="sng" strike="noStrike" kern="1200" cap="none" spc="0" normalizeH="0" baseline="0" noProof="0" dirty="0" smtClean="0">
                <a:ln>
                  <a:noFill/>
                </a:ln>
                <a:solidFill>
                  <a:schemeClr val="tx1"/>
                </a:solidFill>
                <a:effectLst/>
                <a:uLnTx/>
                <a:uFillTx/>
                <a:latin typeface="Source Sans Pro" panose="020B0503030403020204" pitchFamily="34" charset="0"/>
              </a:rPr>
              <a:t>falls</a:t>
            </a:r>
            <a:r>
              <a:rPr kumimoji="0" lang="de-DE" sz="1400" b="0" i="0" strike="noStrike" kern="1200" cap="none" spc="0" normalizeH="0" baseline="0" noProof="0" dirty="0" smtClean="0">
                <a:ln>
                  <a:noFill/>
                </a:ln>
                <a:solidFill>
                  <a:schemeClr val="tx1"/>
                </a:solidFill>
                <a:effectLst/>
                <a:uLnTx/>
                <a:uFillTx/>
                <a:latin typeface="Source Sans Pro" panose="020B0503030403020204" pitchFamily="34" charset="0"/>
              </a:rPr>
              <a:t> an diesem Tag dieses Produkt tatsächlich gekauft wurde</a:t>
            </a:r>
            <a:r>
              <a:rPr kumimoji="0" lang="de-DE" sz="1400" b="0" i="0" u="none" strike="noStrike" kern="1200" cap="none" spc="0" normalizeH="0" baseline="0" noProof="0" dirty="0" smtClean="0">
                <a:ln>
                  <a:noFill/>
                </a:ln>
                <a:solidFill>
                  <a:schemeClr val="tx1"/>
                </a:solidFill>
                <a:effectLst/>
                <a:uLnTx/>
                <a:uFillTx/>
                <a:latin typeface="Source Sans Pro" panose="020B0503030403020204" pitchFamily="34" charset="0"/>
              </a:rPr>
              <a:t>.)</a:t>
            </a:r>
            <a:endParaRPr kumimoji="0" lang="de-DE" sz="1400" b="0" i="0" u="none" strike="noStrike" kern="1200" cap="none" spc="0" normalizeH="0" baseline="0" noProof="0" dirty="0" smtClean="0">
              <a:ln>
                <a:noFill/>
              </a:ln>
              <a:solidFill>
                <a:schemeClr val="tx1"/>
              </a:solidFill>
              <a:effectLst/>
              <a:uLnTx/>
              <a:uFillTx/>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a:t>
            </a:r>
            <a:endPar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pic>
        <p:nvPicPr>
          <p:cNvPr id="7" name="Grafik 6"/>
          <p:cNvPicPr>
            <a:picLocks noChangeAspect="1"/>
          </p:cNvPicPr>
          <p:nvPr/>
        </p:nvPicPr>
        <p:blipFill>
          <a:blip r:embed="rId4"/>
          <a:stretch>
            <a:fillRect/>
          </a:stretch>
        </p:blipFill>
        <p:spPr>
          <a:xfrm>
            <a:off x="8368907" y="3302665"/>
            <a:ext cx="2859336" cy="1454640"/>
          </a:xfrm>
          <a:prstGeom prst="rect">
            <a:avLst/>
          </a:prstGeom>
          <a:effectLst>
            <a:innerShdw blurRad="114300">
              <a:prstClr val="black"/>
            </a:innerShdw>
          </a:effectLst>
        </p:spPr>
      </p:pic>
      <p:sp>
        <p:nvSpPr>
          <p:cNvPr id="43" name="Textfeld 42"/>
          <p:cNvSpPr txBox="1"/>
          <p:nvPr/>
        </p:nvSpPr>
        <p:spPr>
          <a:xfrm>
            <a:off x="361949" y="5351345"/>
            <a:ext cx="425943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B050"/>
                </a:solidFill>
                <a:effectLst/>
                <a:uLnTx/>
                <a:uFillTx/>
                <a:latin typeface="Calibri" panose="020F0502020204030204"/>
                <a:ea typeface="+mn-ea"/>
                <a:cs typeface="+mn-cs"/>
              </a:rPr>
              <a:t>Das Kalenderdatum „14.02.2022“</a:t>
            </a:r>
            <a:r>
              <a:rPr kumimoji="0" lang="de-DE" sz="1200" b="1" i="0" u="none" strike="noStrike" kern="1200" cap="none" spc="0" normalizeH="0" noProof="0" dirty="0" smtClean="0">
                <a:ln>
                  <a:noFill/>
                </a:ln>
                <a:solidFill>
                  <a:srgbClr val="00B050"/>
                </a:solidFill>
                <a:effectLst/>
                <a:uLnTx/>
                <a:uFillTx/>
                <a:latin typeface="Calibri" panose="020F0502020204030204"/>
                <a:ea typeface="+mn-ea"/>
                <a:cs typeface="+mn-cs"/>
              </a:rPr>
              <a:t> soll </a:t>
            </a:r>
            <a:r>
              <a:rPr kumimoji="0" lang="de-DE" sz="1200" b="1" i="0" u="sng" strike="noStrike" kern="1200" cap="none" spc="0" normalizeH="0" noProof="0" dirty="0" smtClean="0">
                <a:ln>
                  <a:noFill/>
                </a:ln>
                <a:solidFill>
                  <a:srgbClr val="00B050"/>
                </a:solidFill>
                <a:effectLst/>
                <a:uLnTx/>
                <a:uFillTx/>
                <a:latin typeface="Calibri" panose="020F0502020204030204"/>
                <a:ea typeface="+mn-ea"/>
                <a:cs typeface="+mn-cs"/>
              </a:rPr>
              <a:t>nicht</a:t>
            </a:r>
            <a:r>
              <a:rPr kumimoji="0" lang="de-DE" sz="1200" b="1" i="0" u="none" strike="noStrike" kern="1200" cap="none" spc="0" normalizeH="0" noProof="0" dirty="0" smtClean="0">
                <a:ln>
                  <a:noFill/>
                </a:ln>
                <a:solidFill>
                  <a:srgbClr val="00B050"/>
                </a:solidFill>
                <a:effectLst/>
                <a:uLnTx/>
                <a:uFillTx/>
                <a:latin typeface="Calibri" panose="020F0502020204030204"/>
                <a:ea typeface="+mn-ea"/>
                <a:cs typeface="+mn-cs"/>
              </a:rPr>
              <a:t> ausgegeben w</a:t>
            </a:r>
            <a:r>
              <a:rPr lang="de-DE" sz="1200" b="1" baseline="0" dirty="0" smtClean="0">
                <a:solidFill>
                  <a:srgbClr val="00B050"/>
                </a:solidFill>
                <a:latin typeface="Calibri" panose="020F0502020204030204"/>
              </a:rPr>
              <a:t>erden,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baseline="0" dirty="0" smtClean="0">
                <a:solidFill>
                  <a:srgbClr val="00B050"/>
                </a:solidFill>
                <a:latin typeface="Calibri" panose="020F0502020204030204"/>
              </a:rPr>
              <a:t>da diesem</a:t>
            </a:r>
            <a:r>
              <a:rPr lang="de-DE" sz="1200" b="1" dirty="0" smtClean="0">
                <a:solidFill>
                  <a:srgbClr val="00B050"/>
                </a:solidFill>
                <a:latin typeface="Calibri" panose="020F0502020204030204"/>
              </a:rPr>
              <a:t> Datum kein </a:t>
            </a:r>
            <a:r>
              <a:rPr lang="de-DE" sz="1200" b="1" dirty="0">
                <a:solidFill>
                  <a:srgbClr val="00B050"/>
                </a:solidFill>
                <a:latin typeface="Calibri" panose="020F0502020204030204"/>
              </a:rPr>
              <a:t>P</a:t>
            </a:r>
            <a:r>
              <a:rPr lang="de-DE" sz="1200" b="1" dirty="0" smtClean="0">
                <a:solidFill>
                  <a:srgbClr val="00B050"/>
                </a:solidFill>
                <a:latin typeface="Calibri" panose="020F0502020204030204"/>
              </a:rPr>
              <a:t>roduktnamen zugeordnet werden kann.</a:t>
            </a:r>
            <a:endParaRPr kumimoji="0" lang="de-DE" sz="1200" b="1"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70" name="Textfeld 69"/>
          <p:cNvSpPr txBox="1"/>
          <p:nvPr/>
        </p:nvSpPr>
        <p:spPr>
          <a:xfrm>
            <a:off x="8114646" y="4839931"/>
            <a:ext cx="348512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smtClean="0">
                <a:solidFill>
                  <a:srgbClr val="FF0000"/>
                </a:solidFill>
                <a:latin typeface="Calibri" panose="020F0502020204030204"/>
              </a:rPr>
              <a:t>Das Produkt </a:t>
            </a:r>
            <a:r>
              <a:rPr kumimoji="0" lang="de-DE" sz="1200" b="1" i="0" u="none" strike="noStrike" kern="1200" cap="none" spc="0" normalizeH="0" baseline="0" noProof="0" dirty="0" smtClean="0">
                <a:ln>
                  <a:noFill/>
                </a:ln>
                <a:solidFill>
                  <a:srgbClr val="FF0000"/>
                </a:solidFill>
                <a:effectLst/>
                <a:uLnTx/>
                <a:uFillTx/>
                <a:latin typeface="Calibri" panose="020F0502020204030204"/>
                <a:ea typeface="+mn-ea"/>
                <a:cs typeface="+mn-cs"/>
              </a:rPr>
              <a:t>„TroppoCaro“</a:t>
            </a:r>
            <a:r>
              <a:rPr kumimoji="0" lang="de-DE" sz="1200" b="1" i="0" u="none" strike="noStrike" kern="1200" cap="none" spc="0" normalizeH="0" noProof="0" dirty="0" smtClean="0">
                <a:ln>
                  <a:noFill/>
                </a:ln>
                <a:solidFill>
                  <a:srgbClr val="FF0000"/>
                </a:solidFill>
                <a:effectLst/>
                <a:uLnTx/>
                <a:uFillTx/>
                <a:latin typeface="Calibri" panose="020F0502020204030204"/>
                <a:ea typeface="+mn-ea"/>
                <a:cs typeface="+mn-cs"/>
              </a:rPr>
              <a:t> </a:t>
            </a:r>
            <a:r>
              <a:rPr lang="de-DE" sz="1200" b="1" dirty="0" smtClean="0">
                <a:solidFill>
                  <a:srgbClr val="FF0000"/>
                </a:solidFill>
                <a:latin typeface="Calibri" panose="020F0502020204030204"/>
              </a:rPr>
              <a:t>soll ausgegeben</a:t>
            </a:r>
            <a:r>
              <a:rPr lang="de-DE" sz="1200" b="1" dirty="0">
                <a:solidFill>
                  <a:srgbClr val="FF0000"/>
                </a:solidFill>
                <a:latin typeface="Calibri" panose="020F0502020204030204"/>
              </a:rPr>
              <a:t> </a:t>
            </a:r>
            <a:r>
              <a:rPr lang="de-DE" sz="1200" b="1" dirty="0" smtClean="0">
                <a:solidFill>
                  <a:srgbClr val="FF0000"/>
                </a:solidFill>
                <a:latin typeface="Calibri" panose="020F0502020204030204"/>
              </a:rPr>
              <a:t>werden,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u="sng" dirty="0">
                <a:solidFill>
                  <a:srgbClr val="FF0000"/>
                </a:solidFill>
                <a:latin typeface="Calibri" panose="020F0502020204030204"/>
              </a:rPr>
              <a:t>o</a:t>
            </a:r>
            <a:r>
              <a:rPr lang="de-DE" sz="1200" b="1" u="sng" dirty="0" smtClean="0">
                <a:solidFill>
                  <a:srgbClr val="FF0000"/>
                </a:solidFill>
                <a:latin typeface="Calibri" panose="020F0502020204030204"/>
              </a:rPr>
              <a:t>bwohl</a:t>
            </a:r>
            <a:r>
              <a:rPr lang="de-DE" sz="1200" b="1" dirty="0" smtClean="0">
                <a:solidFill>
                  <a:srgbClr val="FF0000"/>
                </a:solidFill>
                <a:latin typeface="Calibri" panose="020F0502020204030204"/>
              </a:rPr>
              <a:t> es </a:t>
            </a:r>
            <a:r>
              <a:rPr kumimoji="0" lang="de-DE" sz="1200" b="1" i="0" u="none" strike="noStrike" kern="1200" cap="none" spc="0" normalizeH="0" baseline="0" noProof="0" dirty="0" smtClean="0">
                <a:ln>
                  <a:noFill/>
                </a:ln>
                <a:solidFill>
                  <a:srgbClr val="FF0000"/>
                </a:solidFill>
                <a:effectLst/>
                <a:uLnTx/>
                <a:uFillTx/>
                <a:latin typeface="Calibri" panose="020F0502020204030204"/>
                <a:ea typeface="+mn-ea"/>
                <a:cs typeface="+mn-cs"/>
              </a:rPr>
              <a:t>bisher noch nicht bestellt wurde.</a:t>
            </a:r>
            <a:endParaRPr kumimoji="0" lang="de-DE"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 name="Rechteck 5"/>
          <p:cNvSpPr/>
          <p:nvPr/>
        </p:nvSpPr>
        <p:spPr>
          <a:xfrm>
            <a:off x="824086" y="5070764"/>
            <a:ext cx="2139904" cy="21353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1" name="Rechteck 70"/>
          <p:cNvSpPr/>
          <p:nvPr/>
        </p:nvSpPr>
        <p:spPr>
          <a:xfrm>
            <a:off x="8368907" y="4586171"/>
            <a:ext cx="2859336" cy="1711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91567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3" grpId="0"/>
      <p:bldP spid="70" grpId="0"/>
      <p:bldP spid="6" grpId="0" animBg="1"/>
      <p:bldP spid="7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Syntax und Ausgabetabelle</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3" name="Rechteck 2"/>
          <p:cNvSpPr/>
          <p:nvPr/>
        </p:nvSpPr>
        <p:spPr>
          <a:xfrm>
            <a:off x="937629" y="1468985"/>
            <a:ext cx="9709338" cy="1938992"/>
          </a:xfrm>
          <a:prstGeom prst="rect">
            <a:avLst/>
          </a:prstGeom>
        </p:spPr>
        <p:txBody>
          <a:bodyPr wrap="square">
            <a:spAutoFit/>
          </a:bodyPr>
          <a:lstStyle/>
          <a:p>
            <a:pPr lvl="0">
              <a:defRPr/>
            </a:pPr>
            <a:r>
              <a:rPr lang="de-DE" sz="2400" b="1" dirty="0">
                <a:solidFill>
                  <a:srgbClr val="0071B2"/>
                </a:solidFill>
                <a:latin typeface="Source Sans Pro" panose="020B0503030403020204" pitchFamily="34" charset="0"/>
              </a:rPr>
              <a:t>SELECT</a:t>
            </a:r>
            <a:r>
              <a:rPr lang="de-DE" sz="2400" dirty="0">
                <a:solidFill>
                  <a:srgbClr val="0071B2"/>
                </a:solidFill>
                <a:latin typeface="Source Sans Pro" panose="020B0503030403020204" pitchFamily="34" charset="0"/>
              </a:rPr>
              <a:t> Datum</a:t>
            </a:r>
            <a:r>
              <a:rPr lang="de-DE" sz="2400" dirty="0" smtClean="0">
                <a:solidFill>
                  <a:srgbClr val="0071B2"/>
                </a:solidFill>
                <a:latin typeface="Source Sans Pro" panose="020B0503030403020204" pitchFamily="34" charset="0"/>
              </a:rPr>
              <a:t>, Produkt_Name</a:t>
            </a:r>
            <a:endParaRPr lang="de-DE" sz="2400" dirty="0">
              <a:solidFill>
                <a:srgbClr val="0071B2"/>
              </a:solidFill>
              <a:latin typeface="Source Sans Pro" panose="020B0503030403020204" pitchFamily="34" charset="0"/>
            </a:endParaRPr>
          </a:p>
          <a:p>
            <a:pPr>
              <a:defRPr/>
            </a:pPr>
            <a:r>
              <a:rPr lang="de-DE" sz="2400" b="1" dirty="0" smtClean="0">
                <a:solidFill>
                  <a:srgbClr val="0071B2"/>
                </a:solidFill>
                <a:latin typeface="Source Sans Pro" panose="020B0503030403020204" pitchFamily="34" charset="0"/>
              </a:rPr>
              <a:t>FROM</a:t>
            </a:r>
            <a:r>
              <a:rPr lang="de-DE" sz="2400" dirty="0" smtClean="0">
                <a:solidFill>
                  <a:srgbClr val="0071B2"/>
                </a:solidFill>
                <a:latin typeface="Source Sans Pro" panose="020B0503030403020204" pitchFamily="34" charset="0"/>
              </a:rPr>
              <a:t>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 </a:t>
            </a:r>
            <a:r>
              <a:rPr lang="de-DE" sz="2400" b="1" dirty="0" smtClean="0">
                <a:solidFill>
                  <a:schemeClr val="accent2"/>
                </a:solidFill>
                <a:latin typeface="Source Sans Pro" panose="020B0503030403020204" pitchFamily="34" charset="0"/>
              </a:rPr>
              <a:t>RIGHT </a:t>
            </a:r>
            <a:r>
              <a:rPr lang="de-DE" sz="2400" b="1" dirty="0">
                <a:solidFill>
                  <a:schemeClr val="accent2"/>
                </a:solidFill>
                <a:latin typeface="Source Sans Pro" panose="020B0503030403020204" pitchFamily="34" charset="0"/>
              </a:rPr>
              <a:t>JOIN </a:t>
            </a:r>
            <a:r>
              <a:rPr lang="de-DE" sz="2400" dirty="0">
                <a:solidFill>
                  <a:srgbClr val="0071B2"/>
                </a:solidFill>
                <a:latin typeface="Source Sans Pro" panose="020B0503030403020204" pitchFamily="34" charset="0"/>
              </a:rPr>
              <a:t>Abrechnung_Produkt</a:t>
            </a:r>
            <a:r>
              <a:rPr lang="de-DE" sz="2400" b="1" dirty="0">
                <a:solidFill>
                  <a:srgbClr val="0071B2"/>
                </a:solidFill>
                <a:latin typeface="Source Sans Pro" panose="020B0503030403020204" pitchFamily="34" charset="0"/>
              </a:rPr>
              <a:t> </a:t>
            </a:r>
            <a:endParaRPr lang="de-DE" sz="2400" b="1" dirty="0" smtClean="0">
              <a:solidFill>
                <a:srgbClr val="0071B2"/>
              </a:solidFill>
              <a:latin typeface="Source Sans Pro" panose="020B0503030403020204" pitchFamily="34" charset="0"/>
            </a:endParaRPr>
          </a:p>
          <a:p>
            <a:pPr>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r>
              <a:rPr lang="de-DE" sz="2400" b="1" dirty="0" smtClean="0">
                <a:latin typeface="Source Sans Pro" panose="020B0503030403020204" pitchFamily="34" charset="0"/>
              </a:rPr>
              <a:t>ON</a:t>
            </a:r>
            <a:r>
              <a:rPr lang="de-DE" sz="2400" b="1" dirty="0" smtClean="0">
                <a:solidFill>
                  <a:srgbClr val="0071B2"/>
                </a:solidFill>
                <a:latin typeface="Source Sans Pro" panose="020B0503030403020204" pitchFamily="34" charset="0"/>
              </a:rPr>
              <a:t> </a:t>
            </a:r>
            <a:r>
              <a:rPr lang="de-DE" sz="2000" dirty="0">
                <a:solidFill>
                  <a:srgbClr val="0071B2"/>
                </a:solidFill>
                <a:latin typeface="Source Sans Pro" panose="020B0503030403020204" pitchFamily="34" charset="0"/>
              </a:rPr>
              <a:t>Abrechnung.Abrechnung_ID </a:t>
            </a:r>
            <a:r>
              <a:rPr lang="de-DE" sz="2000" b="1" dirty="0">
                <a:solidFill>
                  <a:srgbClr val="0071B2"/>
                </a:solidFill>
                <a:latin typeface="Source Sans Pro" panose="020B0503030403020204" pitchFamily="34" charset="0"/>
              </a:rPr>
              <a:t>= </a:t>
            </a:r>
            <a:r>
              <a:rPr lang="de-DE" sz="2000" dirty="0">
                <a:solidFill>
                  <a:srgbClr val="0071B2"/>
                </a:solidFill>
                <a:latin typeface="Source Sans Pro" panose="020B0503030403020204" pitchFamily="34" charset="0"/>
              </a:rPr>
              <a:t>Abrechnung_Produkt.Abrechnung_ID</a:t>
            </a:r>
          </a:p>
          <a:p>
            <a:pPr>
              <a:defRPr/>
            </a:pPr>
            <a:r>
              <a:rPr lang="de-DE" sz="2400" b="1" dirty="0">
                <a:solidFill>
                  <a:srgbClr val="0071B2"/>
                </a:solidFill>
                <a:latin typeface="Source Sans Pro" panose="020B0503030403020204" pitchFamily="34" charset="0"/>
              </a:rPr>
              <a:t>              </a:t>
            </a:r>
            <a:r>
              <a:rPr lang="de-DE" sz="2400" b="1" dirty="0" smtClean="0">
                <a:solidFill>
                  <a:schemeClr val="accent2"/>
                </a:solidFill>
                <a:latin typeface="Source Sans Pro" panose="020B0503030403020204" pitchFamily="34" charset="0"/>
              </a:rPr>
              <a:t>RIGHT </a:t>
            </a:r>
            <a:r>
              <a:rPr lang="de-DE" sz="2400" b="1" dirty="0">
                <a:solidFill>
                  <a:schemeClr val="accent2"/>
                </a:solidFill>
                <a:latin typeface="Source Sans Pro" panose="020B0503030403020204" pitchFamily="34" charset="0"/>
              </a:rPr>
              <a:t>JOIN </a:t>
            </a:r>
            <a:r>
              <a:rPr lang="de-DE" sz="2400" dirty="0">
                <a:solidFill>
                  <a:srgbClr val="0071B2"/>
                </a:solidFill>
                <a:latin typeface="Source Sans Pro" panose="020B0503030403020204" pitchFamily="34" charset="0"/>
              </a:rPr>
              <a:t>Produkt </a:t>
            </a:r>
            <a:endParaRPr lang="de-DE" sz="2400" dirty="0" smtClean="0">
              <a:solidFill>
                <a:srgbClr val="0071B2"/>
              </a:solidFill>
              <a:latin typeface="Source Sans Pro" panose="020B0503030403020204" pitchFamily="34" charset="0"/>
            </a:endParaRPr>
          </a:p>
          <a:p>
            <a:pPr>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r>
              <a:rPr lang="de-DE" sz="2400" b="1" dirty="0" smtClean="0">
                <a:latin typeface="Source Sans Pro" panose="020B0503030403020204" pitchFamily="34" charset="0"/>
              </a:rPr>
              <a:t>ON</a:t>
            </a:r>
            <a:r>
              <a:rPr lang="de-DE" sz="2400" dirty="0" smtClean="0">
                <a:solidFill>
                  <a:schemeClr val="accent2"/>
                </a:solidFill>
                <a:latin typeface="Source Sans Pro" panose="020B0503030403020204" pitchFamily="34" charset="0"/>
              </a:rPr>
              <a:t> </a:t>
            </a:r>
            <a:r>
              <a:rPr lang="de-DE" sz="2400" dirty="0">
                <a:solidFill>
                  <a:srgbClr val="0071B2"/>
                </a:solidFill>
                <a:latin typeface="Source Sans Pro" panose="020B0503030403020204" pitchFamily="34" charset="0"/>
              </a:rPr>
              <a:t>Abrechnung_Produkt.Produkt_ID </a:t>
            </a:r>
            <a:r>
              <a:rPr lang="de-DE" sz="2400" b="1" dirty="0">
                <a:solidFill>
                  <a:srgbClr val="0071B2"/>
                </a:solidFill>
                <a:latin typeface="Source Sans Pro" panose="020B0503030403020204" pitchFamily="34" charset="0"/>
              </a:rPr>
              <a:t>=</a:t>
            </a:r>
            <a:r>
              <a:rPr lang="de-DE" sz="2400" dirty="0">
                <a:solidFill>
                  <a:srgbClr val="0071B2"/>
                </a:solidFill>
                <a:latin typeface="Source Sans Pro" panose="020B0503030403020204" pitchFamily="34" charset="0"/>
              </a:rPr>
              <a:t> Produkt.Produkt_id</a:t>
            </a:r>
            <a:r>
              <a:rPr lang="de-DE" sz="2400" b="1" dirty="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p:txBody>
      </p:sp>
      <p:pic>
        <p:nvPicPr>
          <p:cNvPr id="10" name="Grafik 9"/>
          <p:cNvPicPr>
            <a:picLocks noChangeAspect="1"/>
          </p:cNvPicPr>
          <p:nvPr/>
        </p:nvPicPr>
        <p:blipFill>
          <a:blip r:embed="rId2"/>
          <a:stretch>
            <a:fillRect/>
          </a:stretch>
        </p:blipFill>
        <p:spPr>
          <a:xfrm>
            <a:off x="10035079" y="1104065"/>
            <a:ext cx="1723787" cy="4835756"/>
          </a:xfrm>
          <a:prstGeom prst="rect">
            <a:avLst/>
          </a:prstGeom>
          <a:effectLst>
            <a:innerShdw blurRad="114300">
              <a:prstClr val="black"/>
            </a:innerShdw>
          </a:effectLst>
        </p:spPr>
      </p:pic>
      <p:sp>
        <p:nvSpPr>
          <p:cNvPr id="9" name="Rechteck 8"/>
          <p:cNvSpPr/>
          <p:nvPr/>
        </p:nvSpPr>
        <p:spPr>
          <a:xfrm>
            <a:off x="10035079" y="5726287"/>
            <a:ext cx="1723787" cy="21353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Ellipse 6"/>
          <p:cNvSpPr/>
          <p:nvPr/>
        </p:nvSpPr>
        <p:spPr>
          <a:xfrm>
            <a:off x="9962109" y="5697062"/>
            <a:ext cx="491837" cy="27198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13431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FULL JOIN</a:t>
            </a:r>
            <a:endParaRPr lang="de-DE" sz="6600" dirty="0">
              <a:latin typeface="Source Sans Pro" panose="020B0503030403020204" pitchFamily="34" charset="0"/>
            </a:endParaRPr>
          </a:p>
        </p:txBody>
      </p:sp>
    </p:spTree>
    <p:extLst>
      <p:ext uri="{BB962C8B-B14F-4D97-AF65-F5344CB8AC3E}">
        <p14:creationId xmlns:p14="http://schemas.microsoft.com/office/powerpoint/2010/main" val="6085283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11631" y="1646429"/>
            <a:ext cx="11441823"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FULL JOIN </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würde - bezogen auf unsere Beispielaufgabe – neben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jedem Einkauf (Ausgabe: Datum und </a:t>
            </a:r>
            <a:r>
              <a:rPr lang="de-DE" sz="2400" noProof="0" dirty="0" smtClean="0">
                <a:solidFill>
                  <a:srgbClr val="0071B2"/>
                </a:solidFill>
                <a:latin typeface="Source Sans Pro" panose="020B0503030403020204" pitchFamily="34" charset="0"/>
              </a:rPr>
              <a:t>P</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roduktname) ebenfalls auch jene Kalenderdaten ausgeben, an denen nichts bestellt wurde </a:t>
            </a:r>
            <a:r>
              <a:rPr kumimoji="0" lang="de-DE" sz="2400" b="0" i="0" u="sng"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UND ebenso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auch die Namen jener Produkte, die bisher noch nicht bestellt wurden.</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FULL JOIN kann also</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als</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eine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„Vereinigung“ </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von LEFT und RIGHT JOIN betrachtet werden. Genau dies wird in einigen Tagen dann auch unser Lösungsansatz sein.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Aktuell werden wir den FULL JOIN allerdings noch nicht darstellen können, da MySQL</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diesen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nicht explizit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anbietet, sondern ihn nur über einen Umweg ermöglicht.</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endParaRPr kumimoji="0" lang="de-DE" sz="1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Definition und Ausblick</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218620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a:t>
            </a:r>
            <a:r>
              <a:rPr lang="de-DE" dirty="0" smtClean="0">
                <a:latin typeface="Source Sans Pro" panose="020B0503030403020204" pitchFamily="34" charset="0"/>
              </a:rPr>
              <a:t>Übung </a:t>
            </a:r>
            <a:r>
              <a:rPr lang="de-DE" sz="27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A_03_02_01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6" name="Grafik 5"/>
          <p:cNvPicPr>
            <a:picLocks noChangeAspect="1"/>
          </p:cNvPicPr>
          <p:nvPr/>
        </p:nvPicPr>
        <p:blipFill>
          <a:blip r:embed="rId2"/>
          <a:stretch>
            <a:fillRect/>
          </a:stretch>
        </p:blipFill>
        <p:spPr>
          <a:xfrm>
            <a:off x="4663493" y="1187192"/>
            <a:ext cx="3265891" cy="4629669"/>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815</Words>
  <Application>Microsoft Office PowerPoint</Application>
  <PresentationFormat>Breitbild</PresentationFormat>
  <Paragraphs>171</Paragraphs>
  <Slides>19</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19</vt:i4>
      </vt:variant>
    </vt:vector>
  </HeadingPairs>
  <TitlesOfParts>
    <vt:vector size="24" baseType="lpstr">
      <vt:lpstr>Arial</vt:lpstr>
      <vt:lpstr>Calibri</vt:lpstr>
      <vt:lpstr>Courier New</vt:lpstr>
      <vt:lpstr>Source Sans Pro</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A_03_02_01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Max Muster01</cp:lastModifiedBy>
  <cp:revision>566</cp:revision>
  <dcterms:created xsi:type="dcterms:W3CDTF">2022-02-01T13:48:14Z</dcterms:created>
  <dcterms:modified xsi:type="dcterms:W3CDTF">2022-03-23T18:25:18Z</dcterms:modified>
</cp:coreProperties>
</file>