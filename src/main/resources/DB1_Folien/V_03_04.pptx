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63" r:id="rId5"/>
    <p:sldId id="368" r:id="rId6"/>
    <p:sldId id="370" r:id="rId7"/>
    <p:sldId id="371" r:id="rId8"/>
    <p:sldId id="372" r:id="rId9"/>
    <p:sldId id="373" r:id="rId10"/>
    <p:sldId id="277" r:id="rId11"/>
    <p:sldId id="259"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14.07.2022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14.07.2022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402275080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14.07.2022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14567726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26284083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7921015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14.07.2022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4087183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14.07.2022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2786703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E6B0DF4-9D6B-4CDB-97A0-C9570C62FA77}" type="datetime1">
              <a:rPr lang="de-DE" smtClean="0"/>
              <a:t>14.07.2022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49B7AE18-FA3D-4C6C-87A7-F7D224EBB6B4}" type="datetime1">
              <a:rPr lang="de-DE" smtClean="0"/>
              <a:t>14.07.2022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03DF2EA-616A-4F49-A635-283653D9B8E0}" type="datetime1">
              <a:rPr lang="de-DE" smtClean="0"/>
              <a:t>14.07.2022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371A257-B4BD-49B9-8C71-F79D07B630C8}" type="datetime1">
              <a:rPr lang="de-DE" smtClean="0"/>
              <a:t>14.07.2022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14.07.2022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14.07.2022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14.07.2022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14.07.2022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14.07.2022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14.07.2022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14.07.2022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14.07.2022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14.07.2022</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smtClean="0"/>
              <a:t>Präsentationsthema</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smtClean="0">
                <a:latin typeface="Source Sans Pro" panose="020B0503030403020204" pitchFamily="34" charset="0"/>
              </a:rPr>
              <a:t>Datenbanken und SQL</a:t>
            </a:r>
            <a:endParaRPr lang="de-DE" sz="7200" b="1" dirty="0">
              <a:latin typeface="Source Sans Pro" panose="020B0503030403020204" pitchFamily="34" charset="0"/>
            </a:endParaRPr>
          </a:p>
        </p:txBody>
      </p:sp>
      <p:sp>
        <p:nvSpPr>
          <p:cNvPr id="6" name="Untertitel 5"/>
          <p:cNvSpPr>
            <a:spLocks noGrp="1"/>
          </p:cNvSpPr>
          <p:nvPr>
            <p:ph type="subTitle" idx="1"/>
          </p:nvPr>
        </p:nvSpPr>
        <p:spPr/>
        <p:txBody>
          <a:bodyPr/>
          <a:lstStyle/>
          <a:p>
            <a:pPr algn="ctr"/>
            <a:r>
              <a:rPr lang="de-DE" dirty="0" smtClean="0">
                <a:latin typeface="Source Sans Pro" panose="020B0503030403020204" pitchFamily="34" charset="0"/>
              </a:rPr>
              <a:t>(Woche 3 - Tag </a:t>
            </a:r>
            <a:r>
              <a:rPr lang="de-DE" dirty="0">
                <a:latin typeface="Source Sans Pro" panose="020B0503030403020204" pitchFamily="34" charset="0"/>
              </a:rPr>
              <a:t>4</a:t>
            </a:r>
            <a:r>
              <a:rPr lang="de-DE" dirty="0" smtClean="0">
                <a:latin typeface="Source Sans Pro" panose="020B0503030403020204" pitchFamily="34" charset="0"/>
              </a:rPr>
              <a:t>)</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smtClean="0">
                <a:latin typeface="Source Sans Pro" panose="020B0503030403020204" pitchFamily="34" charset="0"/>
              </a:rPr>
              <a:t>Agenda</a:t>
            </a:r>
            <a:endParaRPr lang="de-DE"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995743"/>
            <a:ext cx="10713719" cy="2215991"/>
          </a:xfrm>
          <a:prstGeom prst="rect">
            <a:avLst/>
          </a:prstGeom>
          <a:noFill/>
        </p:spPr>
        <p:txBody>
          <a:bodyPr wrap="square" rtlCol="0">
            <a:spAutoFit/>
          </a:bodyPr>
          <a:lstStyle/>
          <a:p>
            <a:endParaRPr lang="de-DE" b="1" dirty="0" smtClean="0">
              <a:latin typeface="Source Sans Pro" panose="020B0503030403020204" pitchFamily="34" charset="0"/>
            </a:endParaRPr>
          </a:p>
          <a:p>
            <a:endParaRPr lang="de-DE" sz="800" b="1" dirty="0" smtClean="0">
              <a:latin typeface="Source Sans Pro" panose="020B0503030403020204" pitchFamily="34" charset="0"/>
            </a:endParaRPr>
          </a:p>
          <a:p>
            <a:pPr lvl="1"/>
            <a:r>
              <a:rPr lang="de-DE" sz="2400" b="1" dirty="0" smtClean="0">
                <a:latin typeface="Source Sans Pro" panose="020B0503030403020204" pitchFamily="34" charset="0"/>
              </a:rPr>
              <a:t>Aggregatfunktionen in Verbindung mit RIGHT oder LEFT JOIN</a:t>
            </a:r>
          </a:p>
          <a:p>
            <a:pPr lvl="1"/>
            <a:endParaRPr lang="de-DE" sz="800" b="1" dirty="0" smtClean="0">
              <a:latin typeface="Source Sans Pro" panose="020B0503030403020204" pitchFamily="34" charset="0"/>
            </a:endParaRPr>
          </a:p>
          <a:p>
            <a:pPr marL="1257300" lvl="2" indent="-342900">
              <a:buFont typeface="Courier New" panose="02070309020205020404" pitchFamily="49" charset="0"/>
              <a:buChar char="o"/>
            </a:pPr>
            <a:r>
              <a:rPr lang="de-DE" dirty="0" smtClean="0">
                <a:solidFill>
                  <a:srgbClr val="0071B2"/>
                </a:solidFill>
                <a:latin typeface="Source Sans Pro" panose="020B0503030403020204" pitchFamily="34" charset="0"/>
              </a:rPr>
              <a:t>Motivation</a:t>
            </a:r>
          </a:p>
          <a:p>
            <a:pPr marL="1257300" lvl="2" indent="-342900">
              <a:buFont typeface="Courier New" panose="02070309020205020404" pitchFamily="49" charset="0"/>
              <a:buChar char="o"/>
            </a:pPr>
            <a:r>
              <a:rPr lang="de-DE" dirty="0" smtClean="0">
                <a:solidFill>
                  <a:srgbClr val="0071B2"/>
                </a:solidFill>
                <a:latin typeface="Source Sans Pro" panose="020B0503030403020204" pitchFamily="34" charset="0"/>
              </a:rPr>
              <a:t>Beispiele</a:t>
            </a:r>
            <a:endParaRPr lang="de-DE" sz="800" dirty="0" smtClean="0">
              <a:solidFill>
                <a:srgbClr val="0071B2"/>
              </a:solidFill>
              <a:latin typeface="Source Sans Pro" panose="020B0503030403020204" pitchFamily="34" charset="0"/>
            </a:endParaRPr>
          </a:p>
          <a:p>
            <a:pPr marL="1257300" lvl="2" indent="-342900">
              <a:buFont typeface="Courier New" panose="02070309020205020404" pitchFamily="49" charset="0"/>
              <a:buChar char="o"/>
            </a:pPr>
            <a:r>
              <a:rPr lang="de-DE" dirty="0" smtClean="0">
                <a:solidFill>
                  <a:srgbClr val="0071B2"/>
                </a:solidFill>
                <a:latin typeface="Source Sans Pro" panose="020B0503030403020204" pitchFamily="34" charset="0"/>
              </a:rPr>
              <a:t>ifNULL-Funktion</a:t>
            </a:r>
          </a:p>
          <a:p>
            <a:pPr marL="1257300" lvl="2" indent="-342900">
              <a:buFont typeface="Courier New" panose="02070309020205020404" pitchFamily="49" charset="0"/>
              <a:buChar char="o"/>
            </a:pPr>
            <a:r>
              <a:rPr lang="de-DE" dirty="0" smtClean="0">
                <a:solidFill>
                  <a:srgbClr val="0071B2"/>
                </a:solidFill>
                <a:latin typeface="Source Sans Pro" panose="020B0503030403020204" pitchFamily="34" charset="0"/>
              </a:rPr>
              <a:t>Übungen</a:t>
            </a:r>
          </a:p>
          <a:p>
            <a:pPr lvl="3"/>
            <a:endParaRPr lang="de-DE" sz="800" dirty="0">
              <a:latin typeface="Source Sans Pro" panose="020B0503030403020204" pitchFamily="34" charset="0"/>
            </a:endParaRPr>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5400" dirty="0" smtClean="0">
                <a:latin typeface="Source Sans Pro" panose="020B0503030403020204" pitchFamily="34" charset="0"/>
              </a:rPr>
              <a:t>Aggregatfunktionen</a:t>
            </a:r>
          </a:p>
          <a:p>
            <a:r>
              <a:rPr lang="de-DE" sz="2800" dirty="0">
                <a:latin typeface="Source Sans Pro" panose="020B0503030403020204" pitchFamily="34" charset="0"/>
              </a:rPr>
              <a:t>in Verbindung mit RIGHT oder LEFT JOIN</a:t>
            </a: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86446" y="1271590"/>
            <a:ext cx="10976310" cy="44012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Wir haben bisher etliche Aufgabenstellungen betrachtet, bei denen regelmäßig nur die aggregierten Werte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verknüpfbarer Entitäten </a:t>
            </a:r>
            <a:r>
              <a:rPr lang="de-DE" sz="2400" dirty="0" smtClean="0">
                <a:solidFill>
                  <a:srgbClr val="0071B2"/>
                </a:solidFill>
                <a:latin typeface="Source Sans Pro" panose="020B0503030403020204" pitchFamily="34" charset="0"/>
              </a:rPr>
              <a:t>zu berechnen waren</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Dies erschien sinnvoll, da wir uns bei der Vermittlung Aggregierter Funktionen zunächst auf dieses Themenfeld </a:t>
            </a:r>
            <a:r>
              <a:rPr lang="de-DE" sz="2400" b="1" dirty="0" smtClean="0">
                <a:solidFill>
                  <a:srgbClr val="0071B2"/>
                </a:solidFill>
                <a:latin typeface="Source Sans Pro" panose="020B0503030403020204" pitchFamily="34" charset="0"/>
              </a:rPr>
              <a:t>konzentrieren</a:t>
            </a:r>
            <a:r>
              <a:rPr lang="de-DE" sz="2400" dirty="0" smtClean="0">
                <a:solidFill>
                  <a:srgbClr val="0071B2"/>
                </a:solidFill>
                <a:latin typeface="Source Sans Pro" panose="020B0503030403020204" pitchFamily="34" charset="0"/>
              </a:rPr>
              <a:t> wollten. </a:t>
            </a: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baseline="0" dirty="0" smtClean="0">
                <a:solidFill>
                  <a:srgbClr val="0071B2"/>
                </a:solidFill>
                <a:latin typeface="Source Sans Pro" panose="020B0503030403020204" pitchFamily="34" charset="0"/>
              </a:rPr>
              <a:t>Wir wollen nun aber auch Aufgabestellungen betrachten, bei den wir Aggregierte Funktionen in Verbindung mit einem Einsatz von RIGHT und/oder LEFT JOIN verwenden, um auch </a:t>
            </a:r>
            <a:r>
              <a:rPr lang="de-DE" sz="2400" b="1" baseline="0" dirty="0" smtClean="0">
                <a:solidFill>
                  <a:srgbClr val="0071B2"/>
                </a:solidFill>
                <a:latin typeface="Source Sans Pro" panose="020B0503030403020204" pitchFamily="34" charset="0"/>
              </a:rPr>
              <a:t>nicht-verknüpfbare Entitäten </a:t>
            </a:r>
            <a:r>
              <a:rPr lang="de-DE" sz="2400" baseline="0" dirty="0" smtClean="0">
                <a:solidFill>
                  <a:srgbClr val="0071B2"/>
                </a:solidFill>
                <a:latin typeface="Source Sans Pro" panose="020B0503030403020204" pitchFamily="34" charset="0"/>
              </a:rPr>
              <a:t>berücksichtigen zu können.</a:t>
            </a:r>
            <a:endPar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Auf diese Weise werden wir zum einen die </a:t>
            </a:r>
            <a:r>
              <a:rPr lang="de-DE" sz="2400" b="1" dirty="0" smtClean="0">
                <a:solidFill>
                  <a:srgbClr val="0071B2"/>
                </a:solidFill>
                <a:latin typeface="Source Sans Pro" panose="020B0503030403020204" pitchFamily="34" charset="0"/>
              </a:rPr>
              <a:t>Einsetzbarkeit</a:t>
            </a:r>
            <a:r>
              <a:rPr lang="de-DE" sz="2400" dirty="0" smtClean="0">
                <a:solidFill>
                  <a:srgbClr val="0071B2"/>
                </a:solidFill>
                <a:latin typeface="Source Sans Pro" panose="020B0503030403020204" pitchFamily="34" charset="0"/>
              </a:rPr>
              <a:t> aggregierter Funktionen </a:t>
            </a:r>
            <a:r>
              <a:rPr lang="de-DE" sz="2400" b="1" dirty="0" smtClean="0">
                <a:solidFill>
                  <a:srgbClr val="0071B2"/>
                </a:solidFill>
                <a:latin typeface="Source Sans Pro" panose="020B0503030403020204" pitchFamily="34" charset="0"/>
              </a:rPr>
              <a:t>erweitern</a:t>
            </a:r>
            <a:r>
              <a:rPr lang="de-DE" sz="2400" dirty="0" smtClean="0">
                <a:solidFill>
                  <a:srgbClr val="0071B2"/>
                </a:solidFill>
                <a:latin typeface="Source Sans Pro" panose="020B0503030403020204" pitchFamily="34" charset="0"/>
              </a:rPr>
              <a:t> und zum anderen eine weitere Motivation für das Themenfeld RIGHT und/oder LEFT JOIN benennen können.</a:t>
            </a:r>
            <a:endPar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21243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0976310" cy="64940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smtClean="0">
                <a:solidFill>
                  <a:srgbClr val="0071B2"/>
                </a:solidFill>
                <a:latin typeface="Source Sans Pro" panose="020B0503030403020204" pitchFamily="34" charset="0"/>
              </a:rPr>
              <a:t>Wir wollen für alle Kunden von „Geld_her“ die Anzahl der von ihnen eingereichten Abrechnungen ermitteln. </a:t>
            </a:r>
          </a:p>
          <a:p>
            <a:pPr marR="0" lvl="0" algn="l" defTabSz="914400" rtl="0" eaLnBrk="1" fontAlgn="auto" latinLnBrk="0" hangingPunct="1">
              <a:lnSpc>
                <a:spcPct val="100000"/>
              </a:lnSpc>
              <a:spcBef>
                <a:spcPts val="0"/>
              </a:spcBef>
              <a:spcAft>
                <a:spcPts val="0"/>
              </a:spcAft>
              <a:buClrTx/>
              <a:buSzTx/>
              <a:tabLst/>
              <a:defRPr/>
            </a:pPr>
            <a:r>
              <a:rPr lang="de-DE" sz="1200" dirty="0" smtClean="0">
                <a:solidFill>
                  <a:srgbClr val="0071B2"/>
                </a:solidFill>
                <a:latin typeface="Source Sans Pro" panose="020B0503030403020204" pitchFamily="34" charset="0"/>
              </a:rPr>
              <a:t>Nun aber sollen auch Kunden berücksichtigt werden, die niemals die Seite von Geld_her besuchten, und daher </a:t>
            </a:r>
            <a:r>
              <a:rPr lang="de-DE" sz="1200" b="1" dirty="0" smtClean="0">
                <a:solidFill>
                  <a:srgbClr val="0071B2"/>
                </a:solidFill>
                <a:latin typeface="Source Sans Pro" panose="020B0503030403020204" pitchFamily="34" charset="0"/>
              </a:rPr>
              <a:t>keiner Abrechnung </a:t>
            </a:r>
            <a:r>
              <a:rPr lang="de-DE" sz="1200" dirty="0" smtClean="0">
                <a:solidFill>
                  <a:srgbClr val="0071B2"/>
                </a:solidFill>
                <a:latin typeface="Source Sans Pro" panose="020B0503030403020204" pitchFamily="34" charset="0"/>
              </a:rPr>
              <a:t>zugeordnet werden können. </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ndParaRPr>
          </a:p>
          <a:p>
            <a:pPr>
              <a:defRPr/>
            </a:pPr>
            <a:r>
              <a:rPr lang="de-DE" dirty="0" smtClean="0">
                <a:solidFill>
                  <a:srgbClr val="0071B2"/>
                </a:solidFill>
                <a:latin typeface="Source Sans Pro" panose="020B0503030403020204" pitchFamily="34" charset="0"/>
              </a:rPr>
              <a:t>Wir betrachten zunächst den bisherigen Lösungsansatz:</a:t>
            </a:r>
          </a:p>
          <a:p>
            <a:pPr>
              <a:defRPr/>
            </a:pPr>
            <a:endParaRPr lang="de-DE" sz="800" dirty="0" smtClean="0">
              <a:solidFill>
                <a:srgbClr val="0071B2"/>
              </a:solidFill>
              <a:latin typeface="Source Sans Pro" panose="020B0503030403020204" pitchFamily="34" charset="0"/>
            </a:endParaRPr>
          </a:p>
          <a:p>
            <a:pPr>
              <a:defRPr/>
            </a:pPr>
            <a:r>
              <a:rPr lang="de-DE" sz="2000" b="1" dirty="0" smtClean="0">
                <a:solidFill>
                  <a:srgbClr val="0071B2"/>
                </a:solidFill>
                <a:latin typeface="Source Sans Pro" panose="020B0503030403020204" pitchFamily="34" charset="0"/>
              </a:rPr>
              <a:t>SELECT </a:t>
            </a:r>
            <a:r>
              <a:rPr lang="de-DE" sz="2000" dirty="0" smtClean="0">
                <a:solidFill>
                  <a:srgbClr val="0071B2"/>
                </a:solidFill>
                <a:latin typeface="Source Sans Pro" panose="020B0503030403020204" pitchFamily="34" charset="0"/>
              </a:rPr>
              <a:t>Kunde.Kunde_ID</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Vorname</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Nachname</a:t>
            </a:r>
            <a:r>
              <a:rPr lang="de-DE" sz="2000" b="1" dirty="0" smtClean="0">
                <a:solidFill>
                  <a:srgbClr val="0071B2"/>
                </a:solidFill>
                <a:latin typeface="Source Sans Pro" panose="020B0503030403020204" pitchFamily="34" charset="0"/>
              </a:rPr>
              <a:t>,COUNT(</a:t>
            </a:r>
            <a:r>
              <a:rPr lang="de-DE" sz="2000" dirty="0" smtClean="0">
                <a:solidFill>
                  <a:srgbClr val="0071B2"/>
                </a:solidFill>
                <a:latin typeface="Source Sans Pro" panose="020B0503030403020204" pitchFamily="34" charset="0"/>
              </a:rPr>
              <a:t>Abrechnung_ID</a:t>
            </a:r>
            <a:r>
              <a:rPr lang="de-DE" sz="2000" b="1" dirty="0" smtClean="0">
                <a:solidFill>
                  <a:srgbClr val="0071B2"/>
                </a:solidFill>
                <a:latin typeface="Source Sans Pro" panose="020B0503030403020204" pitchFamily="34" charset="0"/>
              </a:rPr>
              <a:t>) </a:t>
            </a:r>
          </a:p>
          <a:p>
            <a:pPr>
              <a:defRPr/>
            </a:pPr>
            <a:r>
              <a:rPr lang="de-DE" sz="2000" b="1" dirty="0" smtClean="0">
                <a:solidFill>
                  <a:srgbClr val="0071B2"/>
                </a:solidFill>
                <a:latin typeface="Source Sans Pro" panose="020B0503030403020204" pitchFamily="34" charset="0"/>
              </a:rPr>
              <a:t>FROM </a:t>
            </a:r>
            <a:r>
              <a:rPr lang="de-DE" sz="2000" dirty="0" smtClean="0">
                <a:solidFill>
                  <a:srgbClr val="0071B2"/>
                </a:solidFill>
                <a:latin typeface="Source Sans Pro" panose="020B0503030403020204" pitchFamily="34" charset="0"/>
              </a:rPr>
              <a:t>Kunde</a:t>
            </a:r>
            <a:r>
              <a:rPr lang="de-DE" sz="2000" b="1" dirty="0">
                <a:solidFill>
                  <a:srgbClr val="0071B2"/>
                </a:solidFill>
                <a:latin typeface="Source Sans Pro" panose="020B0503030403020204" pitchFamily="34" charset="0"/>
              </a:rPr>
              <a:t> </a:t>
            </a:r>
            <a:r>
              <a:rPr lang="de-DE" sz="2000" b="1" dirty="0" smtClean="0">
                <a:solidFill>
                  <a:srgbClr val="0071B2"/>
                </a:solidFill>
                <a:latin typeface="Source Sans Pro" panose="020B0503030403020204" pitchFamily="34" charset="0"/>
              </a:rPr>
              <a:t>INNER JOIN </a:t>
            </a:r>
            <a:r>
              <a:rPr lang="de-DE" sz="2000" dirty="0" smtClean="0">
                <a:solidFill>
                  <a:srgbClr val="0071B2"/>
                </a:solidFill>
                <a:latin typeface="Source Sans Pro" panose="020B0503030403020204" pitchFamily="34" charset="0"/>
              </a:rPr>
              <a:t>Abrechnung </a:t>
            </a:r>
            <a:r>
              <a:rPr lang="de-DE" sz="2000" b="1" dirty="0" smtClean="0">
                <a:solidFill>
                  <a:srgbClr val="0071B2"/>
                </a:solidFill>
                <a:latin typeface="Source Sans Pro" panose="020B0503030403020204" pitchFamily="34" charset="0"/>
              </a:rPr>
              <a:t>ON </a:t>
            </a:r>
            <a:r>
              <a:rPr lang="de-DE" sz="2000" dirty="0" smtClean="0">
                <a:solidFill>
                  <a:srgbClr val="0071B2"/>
                </a:solidFill>
                <a:latin typeface="Source Sans Pro" panose="020B0503030403020204" pitchFamily="34" charset="0"/>
              </a:rPr>
              <a:t>Kunde.Kunde_ID</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Abrechnung.Kunde_ID</a:t>
            </a:r>
          </a:p>
          <a:p>
            <a:pPr>
              <a:defRPr/>
            </a:pPr>
            <a:r>
              <a:rPr lang="de-DE" sz="2000" b="1" dirty="0" smtClean="0">
                <a:solidFill>
                  <a:srgbClr val="0071B2"/>
                </a:solidFill>
                <a:latin typeface="Source Sans Pro" panose="020B0503030403020204" pitchFamily="34" charset="0"/>
              </a:rPr>
              <a:t>GROUP BY </a:t>
            </a:r>
            <a:r>
              <a:rPr lang="de-DE" sz="2000" dirty="0">
                <a:solidFill>
                  <a:srgbClr val="0071B2"/>
                </a:solidFill>
                <a:latin typeface="Source Sans Pro" panose="020B0503030403020204" pitchFamily="34" charset="0"/>
              </a:rPr>
              <a:t>Kunde.</a:t>
            </a:r>
            <a:r>
              <a:rPr lang="de-DE" sz="2000" dirty="0" smtClean="0">
                <a:solidFill>
                  <a:srgbClr val="0071B2"/>
                </a:solidFill>
                <a:latin typeface="Source Sans Pro" panose="020B0503030403020204" pitchFamily="34" charset="0"/>
              </a:rPr>
              <a:t>Kunde_ID</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Vorname</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Nachname</a:t>
            </a:r>
          </a:p>
          <a:p>
            <a:pPr>
              <a:defRPr/>
            </a:pPr>
            <a:r>
              <a:rPr lang="de-DE" sz="2000" b="1" dirty="0">
                <a:solidFill>
                  <a:srgbClr val="0071B2"/>
                </a:solidFill>
                <a:latin typeface="Source Sans Pro" panose="020B0503030403020204" pitchFamily="34" charset="0"/>
              </a:rPr>
              <a:t>ORDER BY COUNT(</a:t>
            </a:r>
            <a:r>
              <a:rPr lang="de-DE" sz="2000" dirty="0">
                <a:solidFill>
                  <a:srgbClr val="0071B2"/>
                </a:solidFill>
                <a:latin typeface="Source Sans Pro" panose="020B0503030403020204" pitchFamily="34" charset="0"/>
              </a:rPr>
              <a:t>Abrechnung_ID</a:t>
            </a:r>
            <a:r>
              <a:rPr lang="de-DE" sz="2000" b="1" dirty="0">
                <a:solidFill>
                  <a:srgbClr val="0071B2"/>
                </a:solidFill>
                <a:latin typeface="Source Sans Pro" panose="020B0503030403020204" pitchFamily="34" charset="0"/>
              </a:rPr>
              <a:t>) </a:t>
            </a:r>
            <a:r>
              <a:rPr lang="de-DE" sz="2000" b="1" dirty="0" smtClean="0">
                <a:solidFill>
                  <a:srgbClr val="0071B2"/>
                </a:solidFill>
                <a:latin typeface="Source Sans Pro" panose="020B0503030403020204" pitchFamily="34" charset="0"/>
              </a:rPr>
              <a:t>DESC;</a:t>
            </a:r>
            <a:endParaRPr lang="de-DE" sz="2000" b="1" dirty="0">
              <a:solidFill>
                <a:srgbClr val="0071B2"/>
              </a:solidFill>
              <a:latin typeface="Source Sans Pro" panose="020B0503030403020204" pitchFamily="34" charset="0"/>
            </a:endParaRPr>
          </a:p>
          <a:p>
            <a:pPr lvl="0">
              <a:defRPr/>
            </a:pPr>
            <a:endParaRPr lang="de-DE" sz="800" b="1" dirty="0" smtClean="0">
              <a:solidFill>
                <a:srgbClr val="0071B2"/>
              </a:solidFill>
              <a:latin typeface="Source Sans Pro" panose="020B0503030403020204" pitchFamily="34" charset="0"/>
            </a:endParaRPr>
          </a:p>
          <a:p>
            <a:pPr lvl="0">
              <a:defRPr/>
            </a:pPr>
            <a:endParaRPr lang="de-DE" sz="800" b="1" dirty="0">
              <a:solidFill>
                <a:srgbClr val="0071B2"/>
              </a:solidFill>
              <a:latin typeface="Source Sans Pro" panose="020B0503030403020204" pitchFamily="34" charset="0"/>
            </a:endParaRPr>
          </a:p>
          <a:p>
            <a:pPr lvl="0">
              <a:defRPr/>
            </a:pPr>
            <a:endParaRPr lang="de-DE" sz="800" b="1" dirty="0" smtClean="0">
              <a:solidFill>
                <a:srgbClr val="0071B2"/>
              </a:solidFill>
              <a:latin typeface="Source Sans Pro" panose="020B0503030403020204" pitchFamily="34" charset="0"/>
            </a:endParaRPr>
          </a:p>
          <a:p>
            <a:pPr lvl="0">
              <a:defRPr/>
            </a:pPr>
            <a:endParaRPr lang="de-DE" sz="800" b="1" dirty="0" smtClean="0">
              <a:solidFill>
                <a:srgbClr val="0071B2"/>
              </a:solidFill>
              <a:latin typeface="Source Sans Pro" panose="020B0503030403020204" pitchFamily="34" charset="0"/>
            </a:endParaRPr>
          </a:p>
          <a:p>
            <a:pPr lvl="0">
              <a:defRPr/>
            </a:pPr>
            <a:endParaRPr lang="de-DE" sz="800" b="1" dirty="0">
              <a:solidFill>
                <a:srgbClr val="0071B2"/>
              </a:solidFill>
              <a:latin typeface="Source Sans Pro" panose="020B0503030403020204" pitchFamily="34" charset="0"/>
            </a:endParaRPr>
          </a:p>
          <a:p>
            <a:pPr lvl="0">
              <a:defRPr/>
            </a:pPr>
            <a:r>
              <a:rPr lang="de-DE" dirty="0" smtClean="0">
                <a:solidFill>
                  <a:srgbClr val="0071B2"/>
                </a:solidFill>
                <a:latin typeface="Source Sans Pro" panose="020B0503030403020204" pitchFamily="34" charset="0"/>
              </a:rPr>
              <a:t>Der INNER JOIN konnte „Gala Nieda“ mit keiner Abrechnung verknüpfen, daher fehlt sie. </a:t>
            </a:r>
          </a:p>
          <a:p>
            <a:pPr lvl="0">
              <a:defRPr/>
            </a:pPr>
            <a:r>
              <a:rPr lang="de-DE" dirty="0" smtClean="0">
                <a:solidFill>
                  <a:srgbClr val="0071B2"/>
                </a:solidFill>
                <a:latin typeface="Source Sans Pro" panose="020B0503030403020204" pitchFamily="34" charset="0"/>
              </a:rPr>
              <a:t>Dieses </a:t>
            </a:r>
            <a:r>
              <a:rPr lang="de-DE" dirty="0">
                <a:solidFill>
                  <a:srgbClr val="0071B2"/>
                </a:solidFill>
                <a:latin typeface="Source Sans Pro" panose="020B0503030403020204" pitchFamily="34" charset="0"/>
              </a:rPr>
              <a:t>P</a:t>
            </a:r>
            <a:r>
              <a:rPr lang="de-DE" dirty="0" smtClean="0">
                <a:solidFill>
                  <a:srgbClr val="0071B2"/>
                </a:solidFill>
                <a:latin typeface="Source Sans Pro" panose="020B0503030403020204" pitchFamily="34" charset="0"/>
              </a:rPr>
              <a:t>roblem kann durch den Einsatz von LEFT JOIN gelöst werden:</a:t>
            </a:r>
          </a:p>
          <a:p>
            <a:pPr lvl="0">
              <a:defRPr/>
            </a:pPr>
            <a:endParaRPr lang="de-DE" sz="800" dirty="0">
              <a:solidFill>
                <a:srgbClr val="0071B2"/>
              </a:solidFill>
              <a:latin typeface="Source Sans Pro" panose="020B0503030403020204" pitchFamily="34" charset="0"/>
            </a:endParaRPr>
          </a:p>
          <a:p>
            <a:pPr lvl="0">
              <a:defRPr/>
            </a:pPr>
            <a:r>
              <a:rPr lang="de-DE" sz="2000" b="1" dirty="0">
                <a:solidFill>
                  <a:srgbClr val="0071B2"/>
                </a:solidFill>
                <a:latin typeface="Source Sans Pro" panose="020B0503030403020204" pitchFamily="34" charset="0"/>
              </a:rPr>
              <a:t>SELECT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Nachname</a:t>
            </a:r>
            <a:r>
              <a:rPr lang="de-DE" sz="2000" b="1" dirty="0">
                <a:solidFill>
                  <a:srgbClr val="0071B2"/>
                </a:solidFill>
                <a:latin typeface="Source Sans Pro" panose="020B0503030403020204" pitchFamily="34" charset="0"/>
              </a:rPr>
              <a:t>,COUNT(</a:t>
            </a:r>
            <a:r>
              <a:rPr lang="de-DE" sz="2000" dirty="0">
                <a:solidFill>
                  <a:srgbClr val="0071B2"/>
                </a:solidFill>
                <a:latin typeface="Source Sans Pro" panose="020B0503030403020204" pitchFamily="34" charset="0"/>
              </a:rPr>
              <a:t>Abrechnung_ID</a:t>
            </a:r>
            <a:r>
              <a:rPr lang="de-DE" sz="2000" b="1" dirty="0">
                <a:solidFill>
                  <a:srgbClr val="0071B2"/>
                </a:solidFill>
                <a:latin typeface="Source Sans Pro" panose="020B0503030403020204" pitchFamily="34" charset="0"/>
              </a:rPr>
              <a:t>) </a:t>
            </a:r>
          </a:p>
          <a:p>
            <a:pPr lvl="0">
              <a:defRPr/>
            </a:pPr>
            <a:r>
              <a:rPr lang="de-DE" sz="2000" b="1" dirty="0">
                <a:solidFill>
                  <a:srgbClr val="0071B2"/>
                </a:solidFill>
                <a:latin typeface="Source Sans Pro" panose="020B0503030403020204" pitchFamily="34" charset="0"/>
              </a:rPr>
              <a:t>FROM </a:t>
            </a:r>
            <a:r>
              <a:rPr lang="de-DE" sz="2000" dirty="0">
                <a:solidFill>
                  <a:srgbClr val="0071B2"/>
                </a:solidFill>
                <a:latin typeface="Source Sans Pro" panose="020B0503030403020204" pitchFamily="34" charset="0"/>
              </a:rPr>
              <a:t>Kunde</a:t>
            </a:r>
            <a:r>
              <a:rPr lang="de-DE" sz="2000" b="1" dirty="0">
                <a:solidFill>
                  <a:srgbClr val="0071B2"/>
                </a:solidFill>
                <a:latin typeface="Source Sans Pro" panose="020B0503030403020204" pitchFamily="34" charset="0"/>
              </a:rPr>
              <a:t> </a:t>
            </a:r>
            <a:r>
              <a:rPr lang="de-DE" sz="2000" b="1" dirty="0" smtClean="0">
                <a:solidFill>
                  <a:schemeClr val="accent2"/>
                </a:solidFill>
                <a:latin typeface="Source Sans Pro" panose="020B0503030403020204" pitchFamily="34" charset="0"/>
              </a:rPr>
              <a:t>LEFT</a:t>
            </a:r>
            <a:r>
              <a:rPr lang="de-DE" sz="2000" b="1" dirty="0" smtClean="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JOIN </a:t>
            </a:r>
            <a:r>
              <a:rPr lang="de-DE" sz="2000" dirty="0">
                <a:solidFill>
                  <a:srgbClr val="0071B2"/>
                </a:solidFill>
                <a:latin typeface="Source Sans Pro" panose="020B0503030403020204" pitchFamily="34" charset="0"/>
              </a:rPr>
              <a:t>Abrechnung </a:t>
            </a:r>
            <a:r>
              <a:rPr lang="de-DE" sz="2000" b="1" dirty="0">
                <a:solidFill>
                  <a:srgbClr val="0071B2"/>
                </a:solidFill>
                <a:latin typeface="Source Sans Pro" panose="020B0503030403020204" pitchFamily="34" charset="0"/>
              </a:rPr>
              <a:t>ON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Abrechnung.Kunde_ID</a:t>
            </a:r>
          </a:p>
          <a:p>
            <a:pPr lvl="0">
              <a:defRPr/>
            </a:pPr>
            <a:r>
              <a:rPr lang="de-DE" sz="2000" b="1" dirty="0">
                <a:solidFill>
                  <a:srgbClr val="0071B2"/>
                </a:solidFill>
                <a:latin typeface="Source Sans Pro" panose="020B0503030403020204" pitchFamily="34" charset="0"/>
              </a:rPr>
              <a:t>GROUP BY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Nachname</a:t>
            </a:r>
          </a:p>
          <a:p>
            <a:pPr lvl="0">
              <a:defRPr/>
            </a:pPr>
            <a:r>
              <a:rPr lang="de-DE" sz="2000" b="1" dirty="0">
                <a:solidFill>
                  <a:srgbClr val="0071B2"/>
                </a:solidFill>
                <a:latin typeface="Source Sans Pro" panose="020B0503030403020204" pitchFamily="34" charset="0"/>
              </a:rPr>
              <a:t>ORDER BY COUNT(</a:t>
            </a:r>
            <a:r>
              <a:rPr lang="de-DE" sz="2000" dirty="0">
                <a:solidFill>
                  <a:srgbClr val="0071B2"/>
                </a:solidFill>
                <a:latin typeface="Source Sans Pro" panose="020B0503030403020204" pitchFamily="34" charset="0"/>
              </a:rPr>
              <a:t>Abrechnung_ID</a:t>
            </a:r>
            <a:r>
              <a:rPr lang="de-DE" sz="2000" b="1" dirty="0">
                <a:solidFill>
                  <a:srgbClr val="0071B2"/>
                </a:solidFill>
                <a:latin typeface="Source Sans Pro" panose="020B0503030403020204" pitchFamily="34" charset="0"/>
              </a:rPr>
              <a:t>) DESC;</a:t>
            </a:r>
          </a:p>
          <a:p>
            <a:pPr lvl="0">
              <a:defRPr/>
            </a:pP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rgbClr val="0071B2"/>
                </a:solidFill>
                <a:latin typeface="Source Sans Pro" panose="020B0503030403020204" pitchFamily="34" charset="0"/>
              </a:rPr>
              <a:t>Beispiel (1)</a:t>
            </a:r>
            <a:endParaRPr lang="de-DE" sz="4000" b="0" i="1" dirty="0">
              <a:solidFill>
                <a:schemeClr val="accent2"/>
              </a:solidFill>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6231337" y="2684751"/>
            <a:ext cx="2497283" cy="97612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6231337" y="5195033"/>
            <a:ext cx="2483560" cy="1116867"/>
          </a:xfrm>
          <a:prstGeom prst="rect">
            <a:avLst/>
          </a:prstGeom>
          <a:effectLst>
            <a:innerShdw blurRad="114300">
              <a:prstClr val="black"/>
            </a:innerShdw>
          </a:effectLst>
        </p:spPr>
      </p:pic>
      <p:sp>
        <p:nvSpPr>
          <p:cNvPr id="11" name="Rechteck 10"/>
          <p:cNvSpPr/>
          <p:nvPr/>
        </p:nvSpPr>
        <p:spPr>
          <a:xfrm>
            <a:off x="6231337" y="6176356"/>
            <a:ext cx="2483560" cy="1355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47686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8" end="1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19" end="19"/>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20" end="2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21" end="2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0" y="946123"/>
            <a:ext cx="11455679"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smtClean="0">
                <a:solidFill>
                  <a:srgbClr val="0071B2"/>
                </a:solidFill>
                <a:latin typeface="Source Sans Pro" panose="020B0503030403020204" pitchFamily="34" charset="0"/>
              </a:rPr>
              <a:t>Wir wollen die Gesamteinnahmen pro Produkttyp ermitteln.</a:t>
            </a:r>
          </a:p>
          <a:p>
            <a:pPr marR="0" lvl="0" algn="l" defTabSz="914400" rtl="0" eaLnBrk="1" fontAlgn="auto" latinLnBrk="0" hangingPunct="1">
              <a:lnSpc>
                <a:spcPct val="100000"/>
              </a:lnSpc>
              <a:spcBef>
                <a:spcPts val="0"/>
              </a:spcBef>
              <a:spcAft>
                <a:spcPts val="0"/>
              </a:spcAft>
              <a:buClrTx/>
              <a:buSzTx/>
              <a:tabLst/>
              <a:defRPr/>
            </a:pPr>
            <a:r>
              <a:rPr lang="de-DE" sz="1200" dirty="0" smtClean="0">
                <a:solidFill>
                  <a:srgbClr val="0071B2"/>
                </a:solidFill>
                <a:latin typeface="Source Sans Pro" panose="020B0503030403020204" pitchFamily="34" charset="0"/>
              </a:rPr>
              <a:t>Nun aber sollen auch Produkttypen berücksichtigt werden, die bisher noch nicht verkauft wurden und also </a:t>
            </a:r>
            <a:r>
              <a:rPr lang="de-DE" sz="1200" b="1" dirty="0" smtClean="0">
                <a:solidFill>
                  <a:srgbClr val="0071B2"/>
                </a:solidFill>
                <a:latin typeface="Source Sans Pro" panose="020B0503030403020204" pitchFamily="34" charset="0"/>
              </a:rPr>
              <a:t>keinem Eintrag der Hilfstabelle zugeordnet </a:t>
            </a:r>
            <a:r>
              <a:rPr lang="de-DE" sz="1200" dirty="0" smtClean="0">
                <a:solidFill>
                  <a:srgbClr val="0071B2"/>
                </a:solidFill>
                <a:latin typeface="Source Sans Pro" panose="020B0503030403020204" pitchFamily="34" charset="0"/>
              </a:rPr>
              <a:t>werden können.</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ndParaRPr>
          </a:p>
          <a:p>
            <a:pPr>
              <a:defRPr/>
            </a:pPr>
            <a:r>
              <a:rPr lang="de-DE" dirty="0" smtClean="0">
                <a:solidFill>
                  <a:srgbClr val="0071B2"/>
                </a:solidFill>
                <a:latin typeface="Source Sans Pro" panose="020B0503030403020204" pitchFamily="34" charset="0"/>
              </a:rPr>
              <a:t>Wir betrachten erneut zunächst den bisherigen Lösungsansatz:</a:t>
            </a:r>
          </a:p>
          <a:p>
            <a:pPr>
              <a:defRPr/>
            </a:pPr>
            <a:endParaRPr lang="de-DE" sz="800" dirty="0" smtClean="0">
              <a:solidFill>
                <a:srgbClr val="0071B2"/>
              </a:solidFill>
              <a:latin typeface="Source Sans Pro" panose="020B0503030403020204" pitchFamily="34" charset="0"/>
            </a:endParaRPr>
          </a:p>
          <a:p>
            <a:pPr>
              <a:defRPr/>
            </a:pPr>
            <a:r>
              <a:rPr lang="de-DE" sz="2000" b="1" dirty="0">
                <a:solidFill>
                  <a:srgbClr val="0071B2"/>
                </a:solidFill>
                <a:latin typeface="Source Sans Pro" panose="020B0503030403020204" pitchFamily="34" charset="0"/>
              </a:rPr>
              <a:t>SELECT </a:t>
            </a:r>
            <a:r>
              <a:rPr lang="de-DE" sz="2000" dirty="0">
                <a:solidFill>
                  <a:srgbClr val="0071B2"/>
                </a:solidFill>
                <a:latin typeface="Source Sans Pro" panose="020B0503030403020204" pitchFamily="34" charset="0"/>
              </a:rPr>
              <a:t>Produkt.Produkt_id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Produkt_Name</a:t>
            </a:r>
            <a:r>
              <a:rPr lang="de-DE" sz="2000" b="1" dirty="0" smtClean="0">
                <a:solidFill>
                  <a:srgbClr val="0071B2"/>
                </a:solidFill>
                <a:latin typeface="Source Sans Pro" panose="020B0503030403020204" pitchFamily="34" charset="0"/>
              </a:rPr>
              <a:t>,</a:t>
            </a:r>
            <a:r>
              <a:rPr lang="de-DE" sz="2000" b="1" dirty="0">
                <a:solidFill>
                  <a:srgbClr val="0071B2"/>
                </a:solidFill>
                <a:latin typeface="Source Sans Pro" panose="020B0503030403020204" pitchFamily="34" charset="0"/>
              </a:rPr>
              <a:t> SUM(</a:t>
            </a:r>
            <a:r>
              <a:rPr lang="de-DE" sz="2000" dirty="0">
                <a:solidFill>
                  <a:srgbClr val="0071B2"/>
                </a:solidFill>
                <a:latin typeface="Source Sans Pro" panose="020B0503030403020204" pitchFamily="34" charset="0"/>
              </a:rPr>
              <a:t>Euro_Preis</a:t>
            </a:r>
            <a:r>
              <a:rPr lang="de-DE" sz="2000" b="1" dirty="0">
                <a:solidFill>
                  <a:srgbClr val="0071B2"/>
                </a:solidFill>
                <a:latin typeface="Source Sans Pro" panose="020B0503030403020204" pitchFamily="34" charset="0"/>
              </a:rPr>
              <a:t>) </a:t>
            </a:r>
            <a:endParaRPr lang="de-DE" sz="2000" b="1" dirty="0" smtClean="0">
              <a:solidFill>
                <a:srgbClr val="0071B2"/>
              </a:solidFill>
              <a:latin typeface="Source Sans Pro" panose="020B0503030403020204" pitchFamily="34" charset="0"/>
            </a:endParaRPr>
          </a:p>
          <a:p>
            <a:pPr>
              <a:defRPr/>
            </a:pPr>
            <a:r>
              <a:rPr lang="de-DE" sz="2000" b="1" dirty="0" smtClean="0">
                <a:solidFill>
                  <a:srgbClr val="0071B2"/>
                </a:solidFill>
                <a:latin typeface="Source Sans Pro" panose="020B0503030403020204" pitchFamily="34" charset="0"/>
              </a:rPr>
              <a:t>FROM </a:t>
            </a:r>
            <a:r>
              <a:rPr lang="de-DE" sz="2000" dirty="0">
                <a:solidFill>
                  <a:srgbClr val="0071B2"/>
                </a:solidFill>
                <a:latin typeface="Source Sans Pro" panose="020B0503030403020204" pitchFamily="34" charset="0"/>
              </a:rPr>
              <a:t>Abrechnung_Produkt</a:t>
            </a:r>
            <a:r>
              <a:rPr lang="de-DE" sz="2000" b="1" dirty="0">
                <a:solidFill>
                  <a:srgbClr val="0071B2"/>
                </a:solidFill>
                <a:latin typeface="Source Sans Pro" panose="020B0503030403020204" pitchFamily="34" charset="0"/>
              </a:rPr>
              <a:t> INNER JOIN </a:t>
            </a:r>
            <a:r>
              <a:rPr lang="de-DE" sz="2000" dirty="0">
                <a:solidFill>
                  <a:srgbClr val="0071B2"/>
                </a:solidFill>
                <a:latin typeface="Source Sans Pro" panose="020B0503030403020204" pitchFamily="34" charset="0"/>
              </a:rPr>
              <a:t>Produkt</a:t>
            </a:r>
            <a:r>
              <a:rPr lang="de-DE" sz="2000" b="1" dirty="0">
                <a:solidFill>
                  <a:srgbClr val="0071B2"/>
                </a:solidFill>
                <a:latin typeface="Source Sans Pro" panose="020B0503030403020204" pitchFamily="34" charset="0"/>
              </a:rPr>
              <a:t> ON </a:t>
            </a:r>
            <a:r>
              <a:rPr lang="de-DE" dirty="0">
                <a:solidFill>
                  <a:srgbClr val="0071B2"/>
                </a:solidFill>
                <a:latin typeface="Source Sans Pro" panose="020B0503030403020204" pitchFamily="34" charset="0"/>
              </a:rPr>
              <a:t>Abrechnung_Produkt.Produkt_ID</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Produkt.Produkt_id</a:t>
            </a:r>
          </a:p>
          <a:p>
            <a:pPr>
              <a:defRPr/>
            </a:pPr>
            <a:r>
              <a:rPr lang="de-DE" sz="2000" b="1" dirty="0">
                <a:solidFill>
                  <a:srgbClr val="0071B2"/>
                </a:solidFill>
                <a:latin typeface="Source Sans Pro" panose="020B0503030403020204" pitchFamily="34" charset="0"/>
              </a:rPr>
              <a:t>GROUP BY </a:t>
            </a:r>
            <a:r>
              <a:rPr lang="de-DE" sz="2000" dirty="0">
                <a:solidFill>
                  <a:srgbClr val="0071B2"/>
                </a:solidFill>
                <a:latin typeface="Source Sans Pro" panose="020B0503030403020204" pitchFamily="34" charset="0"/>
              </a:rPr>
              <a:t>Produkt.Produkt_id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Produkt_Name</a:t>
            </a:r>
          </a:p>
          <a:p>
            <a:pPr>
              <a:defRPr/>
            </a:pPr>
            <a:r>
              <a:rPr lang="de-DE" sz="2000" b="1" dirty="0">
                <a:solidFill>
                  <a:srgbClr val="0071B2"/>
                </a:solidFill>
                <a:latin typeface="Source Sans Pro" panose="020B0503030403020204" pitchFamily="34" charset="0"/>
              </a:rPr>
              <a:t>ORDER BY SUM(</a:t>
            </a:r>
            <a:r>
              <a:rPr lang="de-DE" sz="2000" dirty="0">
                <a:solidFill>
                  <a:srgbClr val="0071B2"/>
                </a:solidFill>
                <a:latin typeface="Source Sans Pro" panose="020B0503030403020204" pitchFamily="34" charset="0"/>
              </a:rPr>
              <a:t>Euro_Preis</a:t>
            </a:r>
            <a:r>
              <a:rPr lang="de-DE" sz="2000" b="1" dirty="0">
                <a:solidFill>
                  <a:srgbClr val="0071B2"/>
                </a:solidFill>
                <a:latin typeface="Source Sans Pro" panose="020B0503030403020204" pitchFamily="34" charset="0"/>
              </a:rPr>
              <a:t>) DESC;</a:t>
            </a:r>
            <a:endParaRPr lang="de-DE" sz="800" b="1" dirty="0" smtClean="0">
              <a:solidFill>
                <a:srgbClr val="0071B2"/>
              </a:solidFill>
              <a:latin typeface="Source Sans Pro" panose="020B0503030403020204" pitchFamily="34" charset="0"/>
            </a:endParaRPr>
          </a:p>
          <a:p>
            <a:pPr lvl="0">
              <a:defRPr/>
            </a:pPr>
            <a:endParaRPr lang="de-DE" sz="800" b="1" dirty="0">
              <a:solidFill>
                <a:srgbClr val="0071B2"/>
              </a:solidFill>
              <a:latin typeface="Source Sans Pro" panose="020B0503030403020204" pitchFamily="34" charset="0"/>
            </a:endParaRPr>
          </a:p>
          <a:p>
            <a:pPr lvl="0">
              <a:defRPr/>
            </a:pPr>
            <a:endParaRPr lang="de-DE" sz="800" b="1" dirty="0" smtClean="0">
              <a:solidFill>
                <a:srgbClr val="0071B2"/>
              </a:solidFill>
              <a:latin typeface="Source Sans Pro" panose="020B0503030403020204" pitchFamily="34" charset="0"/>
            </a:endParaRPr>
          </a:p>
          <a:p>
            <a:pPr lvl="0">
              <a:defRPr/>
            </a:pPr>
            <a:endParaRPr lang="de-DE" sz="800" b="1" dirty="0" smtClean="0">
              <a:solidFill>
                <a:srgbClr val="0071B2"/>
              </a:solidFill>
              <a:latin typeface="Source Sans Pro" panose="020B0503030403020204" pitchFamily="34" charset="0"/>
            </a:endParaRPr>
          </a:p>
          <a:p>
            <a:pPr lvl="0">
              <a:defRPr/>
            </a:pPr>
            <a:endParaRPr lang="de-DE" sz="800" b="1" dirty="0">
              <a:solidFill>
                <a:srgbClr val="0071B2"/>
              </a:solidFill>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r>
              <a:rPr lang="de-DE" b="1" dirty="0">
                <a:solidFill>
                  <a:srgbClr val="0071B2"/>
                </a:solidFill>
                <a:latin typeface="Source Sans Pro" panose="020B0503030403020204" pitchFamily="34" charset="0"/>
              </a:rPr>
              <a:t>SELECT </a:t>
            </a:r>
            <a:r>
              <a:rPr lang="de-DE" dirty="0">
                <a:solidFill>
                  <a:srgbClr val="0071B2"/>
                </a:solidFill>
                <a:latin typeface="Source Sans Pro" panose="020B0503030403020204" pitchFamily="34" charset="0"/>
              </a:rPr>
              <a:t>Produkt.Produkt_id</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Produkt_Name</a:t>
            </a:r>
            <a:r>
              <a:rPr lang="de-DE" b="1" dirty="0">
                <a:solidFill>
                  <a:srgbClr val="0071B2"/>
                </a:solidFill>
                <a:latin typeface="Source Sans Pro" panose="020B0503030403020204" pitchFamily="34" charset="0"/>
              </a:rPr>
              <a:t>, SUM(</a:t>
            </a:r>
            <a:r>
              <a:rPr lang="de-DE" dirty="0">
                <a:solidFill>
                  <a:srgbClr val="0071B2"/>
                </a:solidFill>
                <a:latin typeface="Source Sans Pro" panose="020B0503030403020204" pitchFamily="34" charset="0"/>
              </a:rPr>
              <a:t>Euro_Preis</a:t>
            </a:r>
            <a:r>
              <a:rPr lang="de-DE" b="1" dirty="0">
                <a:solidFill>
                  <a:srgbClr val="0071B2"/>
                </a:solidFill>
                <a:latin typeface="Source Sans Pro" panose="020B0503030403020204" pitchFamily="34" charset="0"/>
              </a:rPr>
              <a:t>) </a:t>
            </a:r>
          </a:p>
          <a:p>
            <a:pPr>
              <a:defRPr/>
            </a:pPr>
            <a:r>
              <a:rPr lang="de-DE" b="1" dirty="0">
                <a:solidFill>
                  <a:srgbClr val="0071B2"/>
                </a:solidFill>
                <a:latin typeface="Source Sans Pro" panose="020B0503030403020204" pitchFamily="34" charset="0"/>
              </a:rPr>
              <a:t>FROM </a:t>
            </a:r>
            <a:r>
              <a:rPr lang="de-DE" dirty="0">
                <a:solidFill>
                  <a:srgbClr val="0071B2"/>
                </a:solidFill>
                <a:latin typeface="Source Sans Pro" panose="020B0503030403020204" pitchFamily="34" charset="0"/>
              </a:rPr>
              <a:t>Abrechnung_Produkt</a:t>
            </a:r>
            <a:r>
              <a:rPr lang="de-DE" b="1" dirty="0">
                <a:solidFill>
                  <a:srgbClr val="0071B2"/>
                </a:solidFill>
                <a:latin typeface="Source Sans Pro" panose="020B0503030403020204" pitchFamily="34" charset="0"/>
              </a:rPr>
              <a:t> </a:t>
            </a:r>
            <a:r>
              <a:rPr lang="de-DE" b="1" dirty="0" smtClean="0">
                <a:solidFill>
                  <a:schemeClr val="accent2"/>
                </a:solidFill>
                <a:latin typeface="Source Sans Pro" panose="020B0503030403020204" pitchFamily="34" charset="0"/>
              </a:rPr>
              <a:t>RIGHT</a:t>
            </a:r>
            <a:r>
              <a:rPr lang="de-DE" b="1" dirty="0" smtClean="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JOIN </a:t>
            </a:r>
            <a:r>
              <a:rPr lang="de-DE" dirty="0">
                <a:solidFill>
                  <a:srgbClr val="0071B2"/>
                </a:solidFill>
                <a:latin typeface="Source Sans Pro" panose="020B0503030403020204" pitchFamily="34" charset="0"/>
              </a:rPr>
              <a:t>Produkt</a:t>
            </a:r>
            <a:r>
              <a:rPr lang="de-DE" b="1" dirty="0">
                <a:solidFill>
                  <a:srgbClr val="0071B2"/>
                </a:solidFill>
                <a:latin typeface="Source Sans Pro" panose="020B0503030403020204" pitchFamily="34" charset="0"/>
              </a:rPr>
              <a:t> ON </a:t>
            </a:r>
            <a:r>
              <a:rPr lang="de-DE" dirty="0">
                <a:solidFill>
                  <a:srgbClr val="0071B2"/>
                </a:solidFill>
                <a:latin typeface="Source Sans Pro" panose="020B0503030403020204" pitchFamily="34" charset="0"/>
              </a:rPr>
              <a:t>Abrechnung_Produkt.Produkt_ID</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Produkt.Produkt_id</a:t>
            </a:r>
          </a:p>
          <a:p>
            <a:pPr>
              <a:defRPr/>
            </a:pPr>
            <a:r>
              <a:rPr lang="de-DE" b="1" dirty="0">
                <a:solidFill>
                  <a:srgbClr val="0071B2"/>
                </a:solidFill>
                <a:latin typeface="Source Sans Pro" panose="020B0503030403020204" pitchFamily="34" charset="0"/>
              </a:rPr>
              <a:t>GROUP BY </a:t>
            </a:r>
            <a:r>
              <a:rPr lang="de-DE" dirty="0">
                <a:solidFill>
                  <a:srgbClr val="0071B2"/>
                </a:solidFill>
                <a:latin typeface="Source Sans Pro" panose="020B0503030403020204" pitchFamily="34" charset="0"/>
              </a:rPr>
              <a:t>Produkt.Produkt_id</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Produkt_Name</a:t>
            </a:r>
          </a:p>
          <a:p>
            <a:pPr>
              <a:defRPr/>
            </a:pPr>
            <a:r>
              <a:rPr lang="de-DE" b="1" dirty="0">
                <a:solidFill>
                  <a:srgbClr val="0071B2"/>
                </a:solidFill>
                <a:latin typeface="Source Sans Pro" panose="020B0503030403020204" pitchFamily="34" charset="0"/>
              </a:rPr>
              <a:t>ORDER BY SUM(</a:t>
            </a:r>
            <a:r>
              <a:rPr lang="de-DE" dirty="0">
                <a:solidFill>
                  <a:srgbClr val="0071B2"/>
                </a:solidFill>
                <a:latin typeface="Source Sans Pro" panose="020B0503030403020204" pitchFamily="34" charset="0"/>
              </a:rPr>
              <a:t>Euro_Preis</a:t>
            </a:r>
            <a:r>
              <a:rPr lang="de-DE" b="1" dirty="0">
                <a:solidFill>
                  <a:srgbClr val="0071B2"/>
                </a:solidFill>
                <a:latin typeface="Source Sans Pro" panose="020B0503030403020204" pitchFamily="34" charset="0"/>
              </a:rPr>
              <a:t>) DESC;</a:t>
            </a:r>
            <a:endParaRPr lang="de-DE" sz="700" b="1" dirty="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rgbClr val="0071B2"/>
                </a:solidFill>
                <a:latin typeface="Source Sans Pro" panose="020B0503030403020204" pitchFamily="34" charset="0"/>
              </a:rPr>
              <a:t>Beispiel (2)</a:t>
            </a:r>
            <a:endParaRPr lang="de-DE" sz="4000" b="0" i="1" dirty="0">
              <a:solidFill>
                <a:schemeClr val="accent2"/>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6059459" y="2752551"/>
            <a:ext cx="2078701" cy="895794"/>
          </a:xfrm>
          <a:prstGeom prst="rect">
            <a:avLst/>
          </a:prstGeom>
          <a:effectLst>
            <a:innerShdw blurRad="114300">
              <a:prstClr val="black"/>
            </a:innerShdw>
          </a:effectLst>
        </p:spPr>
      </p:pic>
      <p:sp>
        <p:nvSpPr>
          <p:cNvPr id="10" name="Rechteck 9"/>
          <p:cNvSpPr/>
          <p:nvPr/>
        </p:nvSpPr>
        <p:spPr>
          <a:xfrm>
            <a:off x="736320" y="3853632"/>
            <a:ext cx="11042334" cy="584775"/>
          </a:xfrm>
          <a:prstGeom prst="rect">
            <a:avLst/>
          </a:prstGeom>
        </p:spPr>
        <p:txBody>
          <a:bodyPr wrap="square">
            <a:spAutoFit/>
          </a:bodyPr>
          <a:lstStyle/>
          <a:p>
            <a:pPr lvl="0">
              <a:defRPr/>
            </a:pPr>
            <a:r>
              <a:rPr lang="de-DE" sz="1600" dirty="0">
                <a:solidFill>
                  <a:srgbClr val="0071B2"/>
                </a:solidFill>
                <a:latin typeface="Source Sans Pro" panose="020B0503030403020204" pitchFamily="34" charset="0"/>
              </a:rPr>
              <a:t>Der INNER JOIN konnte </a:t>
            </a:r>
            <a:r>
              <a:rPr lang="de-DE" sz="1600" dirty="0" smtClean="0">
                <a:solidFill>
                  <a:srgbClr val="0071B2"/>
                </a:solidFill>
                <a:latin typeface="Source Sans Pro" panose="020B0503030403020204" pitchFamily="34" charset="0"/>
              </a:rPr>
              <a:t>dem Produkt „TroppoCaro“ mit keinem Eintrag der Hilfstabelle verknüpfen, daher </a:t>
            </a:r>
            <a:r>
              <a:rPr lang="de-DE" sz="1600" dirty="0">
                <a:solidFill>
                  <a:srgbClr val="0071B2"/>
                </a:solidFill>
                <a:latin typeface="Source Sans Pro" panose="020B0503030403020204" pitchFamily="34" charset="0"/>
              </a:rPr>
              <a:t>fehlt </a:t>
            </a:r>
            <a:r>
              <a:rPr lang="de-DE" sz="1600" dirty="0" smtClean="0">
                <a:solidFill>
                  <a:srgbClr val="0071B2"/>
                </a:solidFill>
                <a:latin typeface="Source Sans Pro" panose="020B0503030403020204" pitchFamily="34" charset="0"/>
              </a:rPr>
              <a:t>dieses. </a:t>
            </a:r>
          </a:p>
          <a:p>
            <a:pPr lvl="0">
              <a:defRPr/>
            </a:pPr>
            <a:r>
              <a:rPr lang="de-DE" sz="1600" dirty="0" smtClean="0">
                <a:solidFill>
                  <a:srgbClr val="0071B2"/>
                </a:solidFill>
                <a:latin typeface="Source Sans Pro" panose="020B0503030403020204" pitchFamily="34" charset="0"/>
              </a:rPr>
              <a:t>Dieses </a:t>
            </a:r>
            <a:r>
              <a:rPr lang="de-DE" sz="1600" dirty="0">
                <a:solidFill>
                  <a:srgbClr val="0071B2"/>
                </a:solidFill>
                <a:latin typeface="Source Sans Pro" panose="020B0503030403020204" pitchFamily="34" charset="0"/>
              </a:rPr>
              <a:t>Problem kann </a:t>
            </a:r>
            <a:r>
              <a:rPr lang="de-DE" sz="1600" dirty="0" smtClean="0">
                <a:solidFill>
                  <a:srgbClr val="0071B2"/>
                </a:solidFill>
                <a:latin typeface="Source Sans Pro" panose="020B0503030403020204" pitchFamily="34" charset="0"/>
              </a:rPr>
              <a:t>aber auch durch </a:t>
            </a:r>
            <a:r>
              <a:rPr lang="de-DE" sz="1600" dirty="0">
                <a:solidFill>
                  <a:srgbClr val="0071B2"/>
                </a:solidFill>
                <a:latin typeface="Source Sans Pro" panose="020B0503030403020204" pitchFamily="34" charset="0"/>
              </a:rPr>
              <a:t>den </a:t>
            </a:r>
            <a:r>
              <a:rPr lang="de-DE" sz="1600" dirty="0" smtClean="0">
                <a:solidFill>
                  <a:srgbClr val="0071B2"/>
                </a:solidFill>
                <a:latin typeface="Source Sans Pro" panose="020B0503030403020204" pitchFamily="34" charset="0"/>
              </a:rPr>
              <a:t>„bloßen“ Einsatz </a:t>
            </a:r>
            <a:r>
              <a:rPr lang="de-DE" sz="1600" dirty="0">
                <a:solidFill>
                  <a:srgbClr val="0071B2"/>
                </a:solidFill>
                <a:latin typeface="Source Sans Pro" panose="020B0503030403020204" pitchFamily="34" charset="0"/>
              </a:rPr>
              <a:t>von </a:t>
            </a:r>
            <a:r>
              <a:rPr lang="de-DE" sz="1600" dirty="0" smtClean="0">
                <a:solidFill>
                  <a:srgbClr val="0071B2"/>
                </a:solidFill>
                <a:latin typeface="Source Sans Pro" panose="020B0503030403020204" pitchFamily="34" charset="0"/>
              </a:rPr>
              <a:t>RIGHT </a:t>
            </a:r>
            <a:r>
              <a:rPr lang="de-DE" sz="1600" dirty="0">
                <a:solidFill>
                  <a:srgbClr val="0071B2"/>
                </a:solidFill>
                <a:latin typeface="Source Sans Pro" panose="020B0503030403020204" pitchFamily="34" charset="0"/>
              </a:rPr>
              <a:t>JOIN </a:t>
            </a:r>
            <a:r>
              <a:rPr lang="de-DE" sz="1600" dirty="0" smtClean="0">
                <a:solidFill>
                  <a:srgbClr val="0071B2"/>
                </a:solidFill>
                <a:latin typeface="Source Sans Pro" panose="020B0503030403020204" pitchFamily="34" charset="0"/>
              </a:rPr>
              <a:t>(noch) </a:t>
            </a:r>
            <a:r>
              <a:rPr lang="de-DE" sz="1600" b="1" dirty="0" smtClean="0">
                <a:solidFill>
                  <a:srgbClr val="0071B2"/>
                </a:solidFill>
                <a:latin typeface="Source Sans Pro" panose="020B0503030403020204" pitchFamily="34" charset="0"/>
              </a:rPr>
              <a:t>nicht gelöst </a:t>
            </a:r>
            <a:r>
              <a:rPr lang="de-DE" sz="1600" dirty="0">
                <a:solidFill>
                  <a:srgbClr val="0071B2"/>
                </a:solidFill>
                <a:latin typeface="Source Sans Pro" panose="020B0503030403020204" pitchFamily="34" charset="0"/>
              </a:rPr>
              <a:t>werden:</a:t>
            </a:r>
          </a:p>
        </p:txBody>
      </p:sp>
      <p:pic>
        <p:nvPicPr>
          <p:cNvPr id="11" name="Grafik 10"/>
          <p:cNvPicPr>
            <a:picLocks noChangeAspect="1"/>
          </p:cNvPicPr>
          <p:nvPr/>
        </p:nvPicPr>
        <p:blipFill>
          <a:blip r:embed="rId3"/>
          <a:stretch>
            <a:fillRect/>
          </a:stretch>
        </p:blipFill>
        <p:spPr>
          <a:xfrm>
            <a:off x="6059458" y="5196493"/>
            <a:ext cx="2078701" cy="1036471"/>
          </a:xfrm>
          <a:prstGeom prst="rect">
            <a:avLst/>
          </a:prstGeom>
          <a:effectLst>
            <a:innerShdw blurRad="114300">
              <a:prstClr val="black"/>
            </a:innerShdw>
          </a:effectLst>
        </p:spPr>
      </p:pic>
      <p:sp>
        <p:nvSpPr>
          <p:cNvPr id="13" name="Rechteck 12"/>
          <p:cNvSpPr/>
          <p:nvPr/>
        </p:nvSpPr>
        <p:spPr>
          <a:xfrm>
            <a:off x="6059458" y="5326710"/>
            <a:ext cx="2078701" cy="12643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Textfeld 13"/>
          <p:cNvSpPr txBox="1"/>
          <p:nvPr/>
        </p:nvSpPr>
        <p:spPr>
          <a:xfrm>
            <a:off x="8203275" y="5297158"/>
            <a:ext cx="3923607" cy="769441"/>
          </a:xfrm>
          <a:prstGeom prst="rect">
            <a:avLst/>
          </a:prstGeom>
          <a:noFill/>
        </p:spPr>
        <p:txBody>
          <a:bodyPr wrap="square" rtlCol="0">
            <a:spAutoFit/>
          </a:bodyPr>
          <a:lstStyle/>
          <a:p>
            <a:r>
              <a:rPr lang="de-DE" sz="1100" dirty="0" smtClean="0">
                <a:solidFill>
                  <a:srgbClr val="FF0000"/>
                </a:solidFill>
              </a:rPr>
              <a:t>TroppoCaro wurde </a:t>
            </a:r>
            <a:r>
              <a:rPr lang="de-DE" sz="1100" b="1" dirty="0" smtClean="0">
                <a:solidFill>
                  <a:srgbClr val="FF0000"/>
                </a:solidFill>
              </a:rPr>
              <a:t>keinmal</a:t>
            </a:r>
            <a:r>
              <a:rPr lang="de-DE" sz="1100" dirty="0" smtClean="0">
                <a:solidFill>
                  <a:srgbClr val="FF0000"/>
                </a:solidFill>
              </a:rPr>
              <a:t> verkauft, dennoch Summe „1000“ !? </a:t>
            </a:r>
          </a:p>
          <a:p>
            <a:endParaRPr lang="de-DE" sz="1100" b="1" dirty="0" smtClean="0">
              <a:solidFill>
                <a:srgbClr val="FF0000"/>
              </a:solidFill>
            </a:endParaRPr>
          </a:p>
          <a:p>
            <a:r>
              <a:rPr lang="de-DE" sz="1100" b="1" dirty="0" smtClean="0">
                <a:solidFill>
                  <a:srgbClr val="FF0000"/>
                </a:solidFill>
              </a:rPr>
              <a:t>Begründung: </a:t>
            </a:r>
            <a:r>
              <a:rPr lang="de-DE" sz="1100" dirty="0" smtClean="0">
                <a:solidFill>
                  <a:srgbClr val="FF0000"/>
                </a:solidFill>
              </a:rPr>
              <a:t>Durch den RIGHT JOIN wird die Ausgabe von TroppoCaro erzwungen, zusammen mit dem Einzelpreis 1000.</a:t>
            </a:r>
            <a:endParaRPr lang="de-DE" sz="1100" dirty="0">
              <a:solidFill>
                <a:srgbClr val="FF0000"/>
              </a:solidFill>
            </a:endParaRPr>
          </a:p>
        </p:txBody>
      </p:sp>
    </p:spTree>
    <p:extLst>
      <p:ext uri="{BB962C8B-B14F-4D97-AF65-F5344CB8AC3E}">
        <p14:creationId xmlns:p14="http://schemas.microsoft.com/office/powerpoint/2010/main" val="411512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7" end="1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18" end="1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19" end="1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20" end="2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1351997"/>
            <a:ext cx="11455679" cy="36009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1600" dirty="0" smtClean="0">
                <a:solidFill>
                  <a:srgbClr val="0071B2"/>
                </a:solidFill>
                <a:latin typeface="Source Sans Pro" panose="020B0503030403020204" pitchFamily="34" charset="0"/>
              </a:rPr>
              <a:t>Wir umgehen das Problem, indem wir zwar weiterhin die Ausgabe des Produktes „TroppoCaro“ mittels RIGHT JOIN „erzwingen“ (obwohl es mit keinem Eintrag der Hilfstabelle verknüpfbar ist), </a:t>
            </a:r>
            <a:r>
              <a:rPr lang="de-DE" sz="1600" dirty="0">
                <a:solidFill>
                  <a:srgbClr val="0071B2"/>
                </a:solidFill>
                <a:latin typeface="Source Sans Pro" panose="020B0503030403020204" pitchFamily="34" charset="0"/>
              </a:rPr>
              <a:t>n</a:t>
            </a:r>
            <a:r>
              <a:rPr lang="de-DE" sz="1600" dirty="0" smtClean="0">
                <a:solidFill>
                  <a:srgbClr val="0071B2"/>
                </a:solidFill>
                <a:latin typeface="Source Sans Pro" panose="020B0503030403020204" pitchFamily="34" charset="0"/>
              </a:rPr>
              <a:t>un aber pro Produkt nicht die Summe der Einzelpreise ermitteln, sondern zunächst die Anzahl der Einkäufe berechnen lassen, um diese dann mit dem Einzelpreis zu multiplizieren:</a:t>
            </a:r>
          </a:p>
          <a:p>
            <a:pPr>
              <a:defRPr/>
            </a:pPr>
            <a:endParaRPr lang="de-DE" sz="800" dirty="0" smtClean="0">
              <a:solidFill>
                <a:srgbClr val="0071B2"/>
              </a:solidFill>
              <a:latin typeface="Source Sans Pro" panose="020B0503030403020204" pitchFamily="34" charset="0"/>
            </a:endParaRPr>
          </a:p>
          <a:p>
            <a:pPr>
              <a:defRPr/>
            </a:pPr>
            <a:r>
              <a:rPr lang="de-DE" sz="2000" b="1" dirty="0">
                <a:solidFill>
                  <a:srgbClr val="0071B2"/>
                </a:solidFill>
                <a:latin typeface="Source Sans Pro" panose="020B0503030403020204" pitchFamily="34" charset="0"/>
              </a:rPr>
              <a:t>SELECT </a:t>
            </a:r>
            <a:r>
              <a:rPr lang="de-DE" sz="2000" dirty="0">
                <a:solidFill>
                  <a:srgbClr val="0071B2"/>
                </a:solidFill>
                <a:latin typeface="Source Sans Pro" panose="020B0503030403020204" pitchFamily="34" charset="0"/>
              </a:rPr>
              <a:t>Produkt.Produkt_id</a:t>
            </a:r>
            <a:r>
              <a:rPr lang="de-DE" sz="2000" b="1" dirty="0" smtClean="0">
                <a:solidFill>
                  <a:srgbClr val="0071B2"/>
                </a:solidFill>
                <a:latin typeface="Source Sans Pro" panose="020B0503030403020204" pitchFamily="34" charset="0"/>
              </a:rPr>
              <a:t>,</a:t>
            </a:r>
          </a:p>
          <a:p>
            <a:pPr>
              <a:defRPr/>
            </a:pPr>
            <a:r>
              <a:rPr lang="de-DE" sz="2000" b="1" dirty="0">
                <a:solidFill>
                  <a:srgbClr val="0071B2"/>
                </a:solidFill>
                <a:latin typeface="Source Sans Pro" panose="020B0503030403020204" pitchFamily="34" charset="0"/>
              </a:rPr>
              <a:t> </a:t>
            </a:r>
            <a:r>
              <a:rPr lang="de-DE" sz="2000" b="1" dirty="0" smtClean="0">
                <a:solidFill>
                  <a:srgbClr val="0071B2"/>
                </a:solidFill>
                <a:latin typeface="Source Sans Pro" panose="020B0503030403020204" pitchFamily="34" charset="0"/>
              </a:rPr>
              <a:t>                 </a:t>
            </a:r>
            <a:r>
              <a:rPr lang="de-DE" sz="2000" dirty="0" smtClean="0">
                <a:solidFill>
                  <a:srgbClr val="0071B2"/>
                </a:solidFill>
                <a:latin typeface="Source Sans Pro" panose="020B0503030403020204" pitchFamily="34" charset="0"/>
              </a:rPr>
              <a:t>Produkt_Name</a:t>
            </a:r>
            <a:r>
              <a:rPr lang="de-DE" sz="2000" b="1" dirty="0">
                <a:solidFill>
                  <a:srgbClr val="0071B2"/>
                </a:solidFill>
                <a:latin typeface="Source Sans Pro" panose="020B0503030403020204" pitchFamily="34" charset="0"/>
              </a:rPr>
              <a:t>, </a:t>
            </a:r>
            <a:endParaRPr lang="de-DE" sz="2000" b="1" dirty="0" smtClean="0">
              <a:solidFill>
                <a:srgbClr val="0071B2"/>
              </a:solidFill>
              <a:latin typeface="Source Sans Pro" panose="020B0503030403020204" pitchFamily="34" charset="0"/>
            </a:endParaRPr>
          </a:p>
          <a:p>
            <a:pPr>
              <a:defRPr/>
            </a:pPr>
            <a:r>
              <a:rPr lang="de-DE" sz="2000" b="1" dirty="0">
                <a:solidFill>
                  <a:srgbClr val="0071B2"/>
                </a:solidFill>
                <a:latin typeface="Source Sans Pro" panose="020B0503030403020204" pitchFamily="34" charset="0"/>
              </a:rPr>
              <a:t> </a:t>
            </a:r>
            <a:r>
              <a:rPr lang="de-DE" sz="2000" b="1" dirty="0" smtClean="0">
                <a:solidFill>
                  <a:srgbClr val="0071B2"/>
                </a:solidFill>
                <a:latin typeface="Source Sans Pro" panose="020B0503030403020204" pitchFamily="34" charset="0"/>
              </a:rPr>
              <a:t>                 </a:t>
            </a:r>
            <a:r>
              <a:rPr lang="de-DE" sz="2000" b="1" dirty="0" smtClean="0">
                <a:solidFill>
                  <a:schemeClr val="accent2"/>
                </a:solidFill>
                <a:latin typeface="Source Sans Pro" panose="020B0503030403020204" pitchFamily="34" charset="0"/>
              </a:rPr>
              <a:t>COUNT(</a:t>
            </a:r>
            <a:r>
              <a:rPr lang="de-DE" sz="2000" dirty="0" smtClean="0">
                <a:solidFill>
                  <a:schemeClr val="accent2"/>
                </a:solidFill>
                <a:latin typeface="Source Sans Pro" panose="020B0503030403020204" pitchFamily="34" charset="0"/>
              </a:rPr>
              <a:t>Abrechnung_Produkt.Produkt_ID</a:t>
            </a:r>
            <a:r>
              <a:rPr lang="de-DE" sz="2000" b="1" dirty="0">
                <a:solidFill>
                  <a:schemeClr val="accent2"/>
                </a:solidFill>
                <a:latin typeface="Source Sans Pro" panose="020B0503030403020204" pitchFamily="34" charset="0"/>
              </a:rPr>
              <a:t>)*</a:t>
            </a:r>
            <a:r>
              <a:rPr lang="de-DE" sz="2000" dirty="0" smtClean="0">
                <a:solidFill>
                  <a:schemeClr val="accent2"/>
                </a:solidFill>
                <a:latin typeface="Source Sans Pro" panose="020B0503030403020204" pitchFamily="34" charset="0"/>
              </a:rPr>
              <a:t>Euro_Preis </a:t>
            </a:r>
            <a:r>
              <a:rPr lang="de-DE" sz="2000" b="1" dirty="0" smtClean="0">
                <a:latin typeface="Source Sans Pro" panose="020B0503030403020204" pitchFamily="34" charset="0"/>
              </a:rPr>
              <a:t>AS</a:t>
            </a:r>
            <a:r>
              <a:rPr lang="de-DE" sz="2000" dirty="0">
                <a:latin typeface="Source Sans Pro" panose="020B0503030403020204" pitchFamily="34" charset="0"/>
              </a:rPr>
              <a:t> "Gesamteinnahme"</a:t>
            </a:r>
          </a:p>
          <a:p>
            <a:pPr>
              <a:defRPr/>
            </a:pPr>
            <a:r>
              <a:rPr lang="de-DE" sz="2000" b="1" dirty="0">
                <a:solidFill>
                  <a:srgbClr val="0071B2"/>
                </a:solidFill>
                <a:latin typeface="Source Sans Pro" panose="020B0503030403020204" pitchFamily="34" charset="0"/>
              </a:rPr>
              <a:t>FROM </a:t>
            </a:r>
            <a:r>
              <a:rPr lang="de-DE" sz="2000" dirty="0">
                <a:solidFill>
                  <a:srgbClr val="0071B2"/>
                </a:solidFill>
                <a:latin typeface="Source Sans Pro" panose="020B0503030403020204" pitchFamily="34" charset="0"/>
              </a:rPr>
              <a:t>Abrechnung_Produkt</a:t>
            </a:r>
            <a:r>
              <a:rPr lang="de-DE" sz="2000" b="1" dirty="0">
                <a:solidFill>
                  <a:srgbClr val="0071B2"/>
                </a:solidFill>
                <a:latin typeface="Source Sans Pro" panose="020B0503030403020204" pitchFamily="34" charset="0"/>
              </a:rPr>
              <a:t> RIGHT JOIN </a:t>
            </a:r>
            <a:r>
              <a:rPr lang="de-DE" sz="2000" dirty="0">
                <a:solidFill>
                  <a:srgbClr val="0071B2"/>
                </a:solidFill>
                <a:latin typeface="Source Sans Pro" panose="020B0503030403020204" pitchFamily="34" charset="0"/>
              </a:rPr>
              <a:t>Produkt</a:t>
            </a:r>
            <a:r>
              <a:rPr lang="de-DE" sz="2000" b="1" dirty="0">
                <a:solidFill>
                  <a:srgbClr val="0071B2"/>
                </a:solidFill>
                <a:latin typeface="Source Sans Pro" panose="020B0503030403020204" pitchFamily="34" charset="0"/>
              </a:rPr>
              <a:t> ON </a:t>
            </a:r>
            <a:r>
              <a:rPr lang="de-DE" dirty="0">
                <a:solidFill>
                  <a:srgbClr val="0071B2"/>
                </a:solidFill>
                <a:latin typeface="Source Sans Pro" panose="020B0503030403020204" pitchFamily="34" charset="0"/>
              </a:rPr>
              <a:t>Abrechnung_Produkt.Produkt_ID</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Produkt.Produkt_id</a:t>
            </a:r>
          </a:p>
          <a:p>
            <a:pPr>
              <a:defRPr/>
            </a:pPr>
            <a:r>
              <a:rPr lang="de-DE" sz="2000" b="1" dirty="0">
                <a:solidFill>
                  <a:srgbClr val="0071B2"/>
                </a:solidFill>
                <a:latin typeface="Source Sans Pro" panose="020B0503030403020204" pitchFamily="34" charset="0"/>
              </a:rPr>
              <a:t>GROUP BY </a:t>
            </a:r>
            <a:r>
              <a:rPr lang="de-DE" sz="2000" dirty="0">
                <a:solidFill>
                  <a:srgbClr val="0071B2"/>
                </a:solidFill>
                <a:latin typeface="Source Sans Pro" panose="020B0503030403020204" pitchFamily="34" charset="0"/>
              </a:rPr>
              <a:t>Produkt.Produkt_id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Produkt_Name</a:t>
            </a:r>
          </a:p>
          <a:p>
            <a:pPr>
              <a:defRPr/>
            </a:pPr>
            <a:r>
              <a:rPr lang="de-DE" sz="2000" b="1" dirty="0">
                <a:solidFill>
                  <a:srgbClr val="0071B2"/>
                </a:solidFill>
                <a:latin typeface="Source Sans Pro" panose="020B0503030403020204" pitchFamily="34" charset="0"/>
              </a:rPr>
              <a:t>ORDER BY COUNT(</a:t>
            </a:r>
            <a:r>
              <a:rPr lang="de-DE" sz="2000" dirty="0">
                <a:solidFill>
                  <a:srgbClr val="0071B2"/>
                </a:solidFill>
                <a:latin typeface="Source Sans Pro" panose="020B0503030403020204" pitchFamily="34" charset="0"/>
              </a:rPr>
              <a:t>Abrechnung_Produkt.Produkt_ID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Euro_Preis</a:t>
            </a:r>
            <a:r>
              <a:rPr lang="de-DE" sz="2000" b="1" dirty="0">
                <a:solidFill>
                  <a:srgbClr val="0071B2"/>
                </a:solidFill>
                <a:latin typeface="Source Sans Pro" panose="020B0503030403020204" pitchFamily="34" charset="0"/>
              </a:rPr>
              <a:t> DESC;</a:t>
            </a:r>
            <a:endParaRPr lang="de-DE" sz="800" b="1" dirty="0">
              <a:solidFill>
                <a:srgbClr val="0071B2"/>
              </a:solidFill>
              <a:latin typeface="Source Sans Pro" panose="020B0503030403020204" pitchFamily="34" charset="0"/>
            </a:endParaRPr>
          </a:p>
          <a:p>
            <a:pPr lvl="0">
              <a:defRPr/>
            </a:pPr>
            <a:endParaRPr lang="de-DE" sz="800" b="1"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rgbClr val="0071B2"/>
                </a:solidFill>
                <a:latin typeface="Source Sans Pro" panose="020B0503030403020204" pitchFamily="34" charset="0"/>
              </a:rPr>
              <a:t>Beispiel (2) - </a:t>
            </a:r>
            <a:r>
              <a:rPr lang="de-DE" sz="4000" dirty="0" smtClean="0">
                <a:solidFill>
                  <a:schemeClr val="accent2"/>
                </a:solidFill>
                <a:latin typeface="Source Sans Pro" panose="020B0503030403020204" pitchFamily="34" charset="0"/>
              </a:rPr>
              <a:t>Lösung</a:t>
            </a:r>
            <a:endParaRPr lang="de-DE" sz="4000" b="0" i="1" dirty="0">
              <a:solidFill>
                <a:schemeClr val="accent2"/>
              </a:solidFill>
              <a:latin typeface="Source Sans Pro" panose="020B0503030403020204" pitchFamily="34" charset="0"/>
            </a:endParaRPr>
          </a:p>
        </p:txBody>
      </p:sp>
      <p:pic>
        <p:nvPicPr>
          <p:cNvPr id="3" name="Grafik 2"/>
          <p:cNvPicPr>
            <a:picLocks noChangeAspect="1"/>
          </p:cNvPicPr>
          <p:nvPr/>
        </p:nvPicPr>
        <p:blipFill>
          <a:blip r:embed="rId2"/>
          <a:stretch>
            <a:fillRect/>
          </a:stretch>
        </p:blipFill>
        <p:spPr>
          <a:xfrm>
            <a:off x="8769927" y="3797475"/>
            <a:ext cx="3006792" cy="1511656"/>
          </a:xfrm>
          <a:prstGeom prst="rect">
            <a:avLst/>
          </a:prstGeom>
          <a:effectLst>
            <a:innerShdw blurRad="114300">
              <a:prstClr val="black"/>
            </a:innerShdw>
          </a:effectLst>
        </p:spPr>
      </p:pic>
      <p:sp>
        <p:nvSpPr>
          <p:cNvPr id="15" name="Rechteck 14"/>
          <p:cNvSpPr/>
          <p:nvPr/>
        </p:nvSpPr>
        <p:spPr>
          <a:xfrm>
            <a:off x="8769927" y="5104016"/>
            <a:ext cx="3006792" cy="2051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560808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1351997"/>
            <a:ext cx="11455679" cy="26776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1600" dirty="0" smtClean="0">
                <a:solidFill>
                  <a:srgbClr val="0071B2"/>
                </a:solidFill>
                <a:latin typeface="Source Sans Pro" panose="020B0503030403020204" pitchFamily="34" charset="0"/>
              </a:rPr>
              <a:t>Wir wollen nun </a:t>
            </a:r>
            <a:r>
              <a:rPr lang="de-DE" sz="1600" b="1" dirty="0" smtClean="0">
                <a:solidFill>
                  <a:srgbClr val="0071B2"/>
                </a:solidFill>
                <a:latin typeface="Source Sans Pro" panose="020B0503030403020204" pitchFamily="34" charset="0"/>
              </a:rPr>
              <a:t>PRO Kunden: </a:t>
            </a:r>
            <a:r>
              <a:rPr lang="de-DE" sz="1600" dirty="0" smtClean="0">
                <a:solidFill>
                  <a:srgbClr val="0071B2"/>
                </a:solidFill>
                <a:latin typeface="Source Sans Pro" panose="020B0503030403020204" pitchFamily="34" charset="0"/>
              </a:rPr>
              <a:t>ID, Vornamen, Nachnamen und die jeweilige Gesamtbestellsumme ausgeben lassen.</a:t>
            </a:r>
          </a:p>
          <a:p>
            <a:pPr marR="0" lvl="0" algn="l" defTabSz="914400" rtl="0" eaLnBrk="1" fontAlgn="auto" latinLnBrk="0" hangingPunct="1">
              <a:lnSpc>
                <a:spcPct val="100000"/>
              </a:lnSpc>
              <a:spcBef>
                <a:spcPts val="0"/>
              </a:spcBef>
              <a:spcAft>
                <a:spcPts val="0"/>
              </a:spcAft>
              <a:buClrTx/>
              <a:buSzTx/>
              <a:tabLst/>
              <a:defRPr/>
            </a:pPr>
            <a:r>
              <a:rPr lang="de-DE" sz="1600" dirty="0" smtClean="0">
                <a:solidFill>
                  <a:srgbClr val="0071B2"/>
                </a:solidFill>
                <a:latin typeface="Source Sans Pro" panose="020B0503030403020204" pitchFamily="34" charset="0"/>
              </a:rPr>
              <a:t>Da wir aber auch Kunden berücksichtigen wollen, die bisher noch nichts bestellt haben, arbeiten wir mit dem LEFT JOIN:</a:t>
            </a:r>
          </a:p>
          <a:p>
            <a:pPr>
              <a:defRPr/>
            </a:pPr>
            <a:endParaRPr lang="de-DE" sz="800" dirty="0" smtClean="0">
              <a:solidFill>
                <a:srgbClr val="0071B2"/>
              </a:solidFill>
              <a:latin typeface="Source Sans Pro" panose="020B0503030403020204" pitchFamily="34" charset="0"/>
            </a:endParaRPr>
          </a:p>
          <a:p>
            <a:pPr>
              <a:defRPr/>
            </a:pPr>
            <a:r>
              <a:rPr lang="de-DE" sz="2000" b="1" dirty="0">
                <a:solidFill>
                  <a:srgbClr val="0071B2"/>
                </a:solidFill>
                <a:latin typeface="Source Sans Pro" panose="020B0503030403020204" pitchFamily="34" charset="0"/>
              </a:rPr>
              <a:t>SELECT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Nachname</a:t>
            </a:r>
            <a:r>
              <a:rPr lang="de-DE" sz="2000" b="1" dirty="0">
                <a:solidFill>
                  <a:srgbClr val="0071B2"/>
                </a:solidFill>
                <a:latin typeface="Source Sans Pro" panose="020B0503030403020204" pitchFamily="34" charset="0"/>
              </a:rPr>
              <a:t>,SUM(</a:t>
            </a:r>
            <a:r>
              <a:rPr lang="de-DE" sz="2000" dirty="0">
                <a:solidFill>
                  <a:srgbClr val="0071B2"/>
                </a:solidFill>
                <a:latin typeface="Source Sans Pro" panose="020B0503030403020204" pitchFamily="34" charset="0"/>
              </a:rPr>
              <a:t>Euro_Preis</a:t>
            </a:r>
            <a:r>
              <a:rPr lang="de-DE" sz="2000" b="1" dirty="0">
                <a:solidFill>
                  <a:srgbClr val="0071B2"/>
                </a:solidFill>
                <a:latin typeface="Source Sans Pro" panose="020B0503030403020204" pitchFamily="34" charset="0"/>
              </a:rPr>
              <a:t>)</a:t>
            </a:r>
          </a:p>
          <a:p>
            <a:pPr>
              <a:defRPr/>
            </a:pPr>
            <a:r>
              <a:rPr lang="de-DE" sz="2000" b="1" dirty="0">
                <a:solidFill>
                  <a:srgbClr val="0071B2"/>
                </a:solidFill>
                <a:latin typeface="Source Sans Pro" panose="020B0503030403020204" pitchFamily="34" charset="0"/>
              </a:rPr>
              <a:t>FROM </a:t>
            </a:r>
            <a:r>
              <a:rPr lang="de-DE" sz="2000" dirty="0">
                <a:solidFill>
                  <a:srgbClr val="0071B2"/>
                </a:solidFill>
                <a:latin typeface="Source Sans Pro" panose="020B0503030403020204" pitchFamily="34" charset="0"/>
              </a:rPr>
              <a:t>Kunde</a:t>
            </a:r>
            <a:r>
              <a:rPr lang="de-DE" sz="2000" b="1" dirty="0">
                <a:solidFill>
                  <a:srgbClr val="0071B2"/>
                </a:solidFill>
                <a:latin typeface="Source Sans Pro" panose="020B0503030403020204" pitchFamily="34" charset="0"/>
              </a:rPr>
              <a:t> LEFT JOIN </a:t>
            </a:r>
            <a:r>
              <a:rPr lang="de-DE" sz="2000" dirty="0">
                <a:solidFill>
                  <a:srgbClr val="0071B2"/>
                </a:solidFill>
                <a:latin typeface="Source Sans Pro" panose="020B0503030403020204" pitchFamily="34" charset="0"/>
              </a:rPr>
              <a:t>Abrechnung</a:t>
            </a:r>
            <a:r>
              <a:rPr lang="de-DE" sz="2000" b="1" dirty="0">
                <a:solidFill>
                  <a:srgbClr val="0071B2"/>
                </a:solidFill>
                <a:latin typeface="Source Sans Pro" panose="020B0503030403020204" pitchFamily="34" charset="0"/>
              </a:rPr>
              <a:t> ON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Abrechnung.Kunde_id</a:t>
            </a:r>
          </a:p>
          <a:p>
            <a:pPr>
              <a:defRPr/>
            </a:pPr>
            <a:r>
              <a:rPr lang="de-DE" sz="2000" b="1" dirty="0">
                <a:solidFill>
                  <a:srgbClr val="0071B2"/>
                </a:solidFill>
                <a:latin typeface="Source Sans Pro" panose="020B0503030403020204" pitchFamily="34" charset="0"/>
              </a:rPr>
              <a:t>     LEFT JOIN </a:t>
            </a:r>
            <a:r>
              <a:rPr lang="de-DE" sz="2000" dirty="0">
                <a:solidFill>
                  <a:srgbClr val="0071B2"/>
                </a:solidFill>
                <a:latin typeface="Source Sans Pro" panose="020B0503030403020204" pitchFamily="34" charset="0"/>
              </a:rPr>
              <a:t>Abrechnung_Produkt</a:t>
            </a:r>
            <a:r>
              <a:rPr lang="de-DE" sz="2000" b="1" dirty="0">
                <a:solidFill>
                  <a:srgbClr val="0071B2"/>
                </a:solidFill>
                <a:latin typeface="Source Sans Pro" panose="020B0503030403020204" pitchFamily="34" charset="0"/>
              </a:rPr>
              <a:t> ON </a:t>
            </a:r>
            <a:r>
              <a:rPr lang="de-DE" dirty="0">
                <a:solidFill>
                  <a:srgbClr val="0071B2"/>
                </a:solidFill>
                <a:latin typeface="Source Sans Pro" panose="020B0503030403020204" pitchFamily="34" charset="0"/>
              </a:rPr>
              <a:t>Abrechnung.Abrechnung_ID</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Abrechnung_Produkt.Abrechnung_ID</a:t>
            </a:r>
          </a:p>
          <a:p>
            <a:pPr>
              <a:defRPr/>
            </a:pPr>
            <a:r>
              <a:rPr lang="de-DE" sz="2000" b="1" dirty="0">
                <a:solidFill>
                  <a:srgbClr val="0071B2"/>
                </a:solidFill>
                <a:latin typeface="Source Sans Pro" panose="020B0503030403020204" pitchFamily="34" charset="0"/>
              </a:rPr>
              <a:t>     LEFT JOIN </a:t>
            </a:r>
            <a:r>
              <a:rPr lang="de-DE" sz="2000" dirty="0">
                <a:solidFill>
                  <a:srgbClr val="0071B2"/>
                </a:solidFill>
                <a:latin typeface="Source Sans Pro" panose="020B0503030403020204" pitchFamily="34" charset="0"/>
              </a:rPr>
              <a:t>Produkt</a:t>
            </a:r>
            <a:r>
              <a:rPr lang="de-DE" sz="2000" b="1" dirty="0">
                <a:solidFill>
                  <a:srgbClr val="0071B2"/>
                </a:solidFill>
                <a:latin typeface="Source Sans Pro" panose="020B0503030403020204" pitchFamily="34" charset="0"/>
              </a:rPr>
              <a:t> ON </a:t>
            </a:r>
            <a:r>
              <a:rPr lang="de-DE" sz="2000" dirty="0">
                <a:solidFill>
                  <a:srgbClr val="0071B2"/>
                </a:solidFill>
                <a:latin typeface="Source Sans Pro" panose="020B0503030403020204" pitchFamily="34" charset="0"/>
              </a:rPr>
              <a:t>Abrechnung_Produkt.Produkt_ID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Produkt.Produkt_id</a:t>
            </a:r>
          </a:p>
          <a:p>
            <a:pPr>
              <a:defRPr/>
            </a:pPr>
            <a:r>
              <a:rPr lang="de-DE" sz="2000" b="1" dirty="0">
                <a:solidFill>
                  <a:srgbClr val="0071B2"/>
                </a:solidFill>
                <a:latin typeface="Source Sans Pro" panose="020B0503030403020204" pitchFamily="34" charset="0"/>
              </a:rPr>
              <a:t>GROUP BY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Nachname</a:t>
            </a:r>
          </a:p>
          <a:p>
            <a:pPr>
              <a:defRPr/>
            </a:pPr>
            <a:r>
              <a:rPr lang="de-DE" sz="2000" b="1" dirty="0">
                <a:solidFill>
                  <a:srgbClr val="0071B2"/>
                </a:solidFill>
                <a:latin typeface="Source Sans Pro" panose="020B0503030403020204" pitchFamily="34" charset="0"/>
              </a:rPr>
              <a:t>ORDER BY SUM(</a:t>
            </a:r>
            <a:r>
              <a:rPr lang="de-DE" sz="2000" dirty="0">
                <a:solidFill>
                  <a:srgbClr val="0071B2"/>
                </a:solidFill>
                <a:latin typeface="Source Sans Pro" panose="020B0503030403020204" pitchFamily="34" charset="0"/>
              </a:rPr>
              <a:t>Euro_Preis</a:t>
            </a:r>
            <a:r>
              <a:rPr lang="de-DE" sz="2000" b="1" dirty="0">
                <a:solidFill>
                  <a:srgbClr val="0071B2"/>
                </a:solidFill>
                <a:latin typeface="Source Sans Pro" panose="020B0503030403020204" pitchFamily="34" charset="0"/>
              </a:rPr>
              <a:t>) DESC;</a:t>
            </a: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rgbClr val="0071B2"/>
                </a:solidFill>
                <a:latin typeface="Source Sans Pro" panose="020B0503030403020204" pitchFamily="34" charset="0"/>
              </a:rPr>
              <a:t>Beispiel (</a:t>
            </a:r>
            <a:r>
              <a:rPr lang="de-DE" sz="4000" dirty="0">
                <a:solidFill>
                  <a:srgbClr val="0071B2"/>
                </a:solidFill>
                <a:latin typeface="Source Sans Pro" panose="020B0503030403020204" pitchFamily="34" charset="0"/>
              </a:rPr>
              <a:t>3</a:t>
            </a:r>
            <a:r>
              <a:rPr lang="de-DE" sz="4000" dirty="0" smtClean="0">
                <a:solidFill>
                  <a:srgbClr val="0071B2"/>
                </a:solidFill>
                <a:latin typeface="Source Sans Pro" panose="020B0503030403020204" pitchFamily="34" charset="0"/>
              </a:rPr>
              <a:t>)</a:t>
            </a:r>
            <a:endParaRPr lang="de-DE" sz="4000" b="0" i="1" dirty="0">
              <a:solidFill>
                <a:schemeClr val="accent2"/>
              </a:solidFill>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6464160" y="3488385"/>
            <a:ext cx="3905250" cy="1952625"/>
          </a:xfrm>
          <a:prstGeom prst="rect">
            <a:avLst/>
          </a:prstGeom>
          <a:effectLst>
            <a:innerShdw blurRad="114300">
              <a:prstClr val="black"/>
            </a:innerShdw>
          </a:effectLst>
        </p:spPr>
      </p:pic>
      <p:sp>
        <p:nvSpPr>
          <p:cNvPr id="15" name="Rechteck 14"/>
          <p:cNvSpPr/>
          <p:nvPr/>
        </p:nvSpPr>
        <p:spPr>
          <a:xfrm>
            <a:off x="6464160" y="4965659"/>
            <a:ext cx="3905250" cy="4753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Textfeld 6"/>
          <p:cNvSpPr txBox="1"/>
          <p:nvPr/>
        </p:nvSpPr>
        <p:spPr>
          <a:xfrm>
            <a:off x="5208072" y="5532075"/>
            <a:ext cx="6417426" cy="461665"/>
          </a:xfrm>
          <a:prstGeom prst="rect">
            <a:avLst/>
          </a:prstGeom>
          <a:noFill/>
        </p:spPr>
        <p:txBody>
          <a:bodyPr wrap="square" rtlCol="0">
            <a:spAutoFit/>
          </a:bodyPr>
          <a:lstStyle/>
          <a:p>
            <a:pPr algn="ctr"/>
            <a:r>
              <a:rPr lang="de-DE" sz="1200" dirty="0" smtClean="0">
                <a:solidFill>
                  <a:srgbClr val="FF0000"/>
                </a:solidFill>
              </a:rPr>
              <a:t>Nur die Aggregatfunktion </a:t>
            </a:r>
            <a:r>
              <a:rPr lang="de-DE" sz="1200" b="1" dirty="0" smtClean="0">
                <a:solidFill>
                  <a:srgbClr val="FF0000"/>
                </a:solidFill>
              </a:rPr>
              <a:t>COUNT</a:t>
            </a:r>
            <a:r>
              <a:rPr lang="de-DE" sz="1200" dirty="0" smtClean="0">
                <a:solidFill>
                  <a:srgbClr val="FF0000"/>
                </a:solidFill>
              </a:rPr>
              <a:t> gibt bei fehlenden Verknüpfungen den Wert </a:t>
            </a:r>
            <a:r>
              <a:rPr lang="de-DE" sz="1200" b="1" dirty="0" smtClean="0">
                <a:solidFill>
                  <a:srgbClr val="FF0000"/>
                </a:solidFill>
              </a:rPr>
              <a:t>„0“ </a:t>
            </a:r>
            <a:r>
              <a:rPr lang="de-DE" sz="1200" dirty="0" smtClean="0">
                <a:solidFill>
                  <a:srgbClr val="FF0000"/>
                </a:solidFill>
              </a:rPr>
              <a:t>zurück.</a:t>
            </a:r>
            <a:endParaRPr lang="de-DE" sz="1200" dirty="0">
              <a:solidFill>
                <a:srgbClr val="FF0000"/>
              </a:solidFill>
            </a:endParaRPr>
          </a:p>
          <a:p>
            <a:pPr algn="ctr"/>
            <a:r>
              <a:rPr lang="de-DE" sz="1200" dirty="0" smtClean="0">
                <a:solidFill>
                  <a:srgbClr val="FF0000"/>
                </a:solidFill>
              </a:rPr>
              <a:t>Alle anderen haben in solchen Fällen den Rückgabewert </a:t>
            </a:r>
            <a:r>
              <a:rPr lang="de-DE" sz="1200" b="1" dirty="0" smtClean="0">
                <a:solidFill>
                  <a:srgbClr val="FF0000"/>
                </a:solidFill>
              </a:rPr>
              <a:t>NULL</a:t>
            </a:r>
            <a:r>
              <a:rPr lang="de-DE" sz="1200" dirty="0" smtClean="0">
                <a:solidFill>
                  <a:srgbClr val="FF0000"/>
                </a:solidFill>
              </a:rPr>
              <a:t>.</a:t>
            </a:r>
            <a:endParaRPr lang="de-DE" sz="1200" dirty="0">
              <a:solidFill>
                <a:srgbClr val="FF0000"/>
              </a:solidFill>
            </a:endParaRPr>
          </a:p>
        </p:txBody>
      </p:sp>
    </p:spTree>
    <p:extLst>
      <p:ext uri="{BB962C8B-B14F-4D97-AF65-F5344CB8AC3E}">
        <p14:creationId xmlns:p14="http://schemas.microsoft.com/office/powerpoint/2010/main" val="321591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1351997"/>
            <a:ext cx="11455679" cy="26776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1600" dirty="0" smtClean="0">
                <a:solidFill>
                  <a:srgbClr val="FFFFFF"/>
                </a:solidFill>
                <a:latin typeface="Source Sans Pro" panose="020B0503030403020204" pitchFamily="34" charset="0"/>
              </a:rPr>
              <a:t>Wir wollen nun </a:t>
            </a:r>
            <a:r>
              <a:rPr lang="de-DE" sz="1600" b="1" dirty="0" smtClean="0">
                <a:solidFill>
                  <a:srgbClr val="FFFFFF"/>
                </a:solidFill>
                <a:latin typeface="Source Sans Pro" panose="020B0503030403020204" pitchFamily="34" charset="0"/>
              </a:rPr>
              <a:t>PRO Kunden: </a:t>
            </a:r>
            <a:r>
              <a:rPr lang="de-DE" sz="1600" dirty="0" smtClean="0">
                <a:solidFill>
                  <a:srgbClr val="FFFFFF"/>
                </a:solidFill>
                <a:latin typeface="Source Sans Pro" panose="020B0503030403020204" pitchFamily="34" charset="0"/>
              </a:rPr>
              <a:t>ID, Vornamen, Nachnamen und die jeweilige Gesamtbestellsumme ausgeben lassen.</a:t>
            </a:r>
          </a:p>
          <a:p>
            <a:pPr marR="0" lvl="0" algn="l" defTabSz="914400" rtl="0" eaLnBrk="1" fontAlgn="auto" latinLnBrk="0" hangingPunct="1">
              <a:lnSpc>
                <a:spcPct val="100000"/>
              </a:lnSpc>
              <a:spcBef>
                <a:spcPts val="0"/>
              </a:spcBef>
              <a:spcAft>
                <a:spcPts val="0"/>
              </a:spcAft>
              <a:buClrTx/>
              <a:buSzTx/>
              <a:tabLst/>
              <a:defRPr/>
            </a:pPr>
            <a:r>
              <a:rPr lang="de-DE" sz="1600" dirty="0" smtClean="0">
                <a:solidFill>
                  <a:srgbClr val="FFFFFF"/>
                </a:solidFill>
                <a:latin typeface="Source Sans Pro" panose="020B0503030403020204" pitchFamily="34" charset="0"/>
              </a:rPr>
              <a:t>Da wir aber auch Kunden berücksichtigen wollen, die bisher noch nichts bestellt haben, arbeiten wir mit dem LEFT JOIN:</a:t>
            </a:r>
          </a:p>
          <a:p>
            <a:pPr>
              <a:defRPr/>
            </a:pPr>
            <a:endParaRPr lang="de-DE" sz="800" dirty="0" smtClean="0">
              <a:solidFill>
                <a:srgbClr val="0071B2"/>
              </a:solidFill>
              <a:latin typeface="Source Sans Pro" panose="020B0503030403020204" pitchFamily="34" charset="0"/>
            </a:endParaRPr>
          </a:p>
          <a:p>
            <a:pPr>
              <a:defRPr/>
            </a:pPr>
            <a:r>
              <a:rPr lang="de-DE" sz="2000" b="1" dirty="0">
                <a:solidFill>
                  <a:srgbClr val="0071B2"/>
                </a:solidFill>
                <a:latin typeface="Source Sans Pro" panose="020B0503030403020204" pitchFamily="34" charset="0"/>
              </a:rPr>
              <a:t>SELECT </a:t>
            </a:r>
            <a:r>
              <a:rPr lang="de-DE" sz="2000" dirty="0" smtClean="0">
                <a:solidFill>
                  <a:srgbClr val="0071B2"/>
                </a:solidFill>
                <a:latin typeface="Source Sans Pro" panose="020B0503030403020204" pitchFamily="34" charset="0"/>
              </a:rPr>
              <a:t>Kunde.Kunde_ID</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Vorname</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Nachname</a:t>
            </a:r>
            <a:r>
              <a:rPr lang="de-DE" sz="2000" b="1" dirty="0" smtClean="0">
                <a:solidFill>
                  <a:srgbClr val="0071B2"/>
                </a:solidFill>
                <a:latin typeface="Source Sans Pro" panose="020B0503030403020204" pitchFamily="34" charset="0"/>
              </a:rPr>
              <a:t>, </a:t>
            </a:r>
            <a:r>
              <a:rPr lang="de-DE" sz="2000" b="1" dirty="0" smtClean="0">
                <a:solidFill>
                  <a:schemeClr val="accent2"/>
                </a:solidFill>
                <a:latin typeface="Source Sans Pro" panose="020B0503030403020204" pitchFamily="34" charset="0"/>
              </a:rPr>
              <a:t>ifNULL</a:t>
            </a:r>
            <a:r>
              <a:rPr lang="de-DE" sz="2000" b="1" dirty="0" smtClean="0">
                <a:solidFill>
                  <a:srgbClr val="0071B2"/>
                </a:solidFill>
                <a:latin typeface="Source Sans Pro" panose="020B0503030403020204" pitchFamily="34" charset="0"/>
              </a:rPr>
              <a:t>(SUM(</a:t>
            </a:r>
            <a:r>
              <a:rPr lang="de-DE" sz="2000" dirty="0" smtClean="0">
                <a:solidFill>
                  <a:srgbClr val="0071B2"/>
                </a:solidFill>
                <a:latin typeface="Source Sans Pro" panose="020B0503030403020204" pitchFamily="34" charset="0"/>
              </a:rPr>
              <a:t>Euro_Preis</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0</a:t>
            </a:r>
            <a:r>
              <a:rPr lang="de-DE" sz="2000" b="1" dirty="0" smtClean="0">
                <a:solidFill>
                  <a:srgbClr val="0071B2"/>
                </a:solidFill>
                <a:latin typeface="Source Sans Pro" panose="020B0503030403020204" pitchFamily="34" charset="0"/>
              </a:rPr>
              <a:t>)</a:t>
            </a:r>
            <a:endParaRPr lang="de-DE" sz="2000" b="1" dirty="0">
              <a:solidFill>
                <a:srgbClr val="0071B2"/>
              </a:solidFill>
              <a:latin typeface="Source Sans Pro" panose="020B0503030403020204" pitchFamily="34" charset="0"/>
            </a:endParaRPr>
          </a:p>
          <a:p>
            <a:pPr>
              <a:defRPr/>
            </a:pPr>
            <a:r>
              <a:rPr lang="de-DE" sz="2000" b="1" dirty="0">
                <a:solidFill>
                  <a:srgbClr val="0071B2"/>
                </a:solidFill>
                <a:latin typeface="Source Sans Pro" panose="020B0503030403020204" pitchFamily="34" charset="0"/>
              </a:rPr>
              <a:t>FROM </a:t>
            </a:r>
            <a:r>
              <a:rPr lang="de-DE" sz="2000" dirty="0">
                <a:solidFill>
                  <a:srgbClr val="0071B2"/>
                </a:solidFill>
                <a:latin typeface="Source Sans Pro" panose="020B0503030403020204" pitchFamily="34" charset="0"/>
              </a:rPr>
              <a:t>Kunde</a:t>
            </a:r>
            <a:r>
              <a:rPr lang="de-DE" sz="2000" b="1" dirty="0">
                <a:solidFill>
                  <a:srgbClr val="0071B2"/>
                </a:solidFill>
                <a:latin typeface="Source Sans Pro" panose="020B0503030403020204" pitchFamily="34" charset="0"/>
              </a:rPr>
              <a:t> LEFT JOIN </a:t>
            </a:r>
            <a:r>
              <a:rPr lang="de-DE" sz="2000" dirty="0">
                <a:solidFill>
                  <a:srgbClr val="0071B2"/>
                </a:solidFill>
                <a:latin typeface="Source Sans Pro" panose="020B0503030403020204" pitchFamily="34" charset="0"/>
              </a:rPr>
              <a:t>Abrechnung</a:t>
            </a:r>
            <a:r>
              <a:rPr lang="de-DE" sz="2000" b="1" dirty="0">
                <a:solidFill>
                  <a:srgbClr val="0071B2"/>
                </a:solidFill>
                <a:latin typeface="Source Sans Pro" panose="020B0503030403020204" pitchFamily="34" charset="0"/>
              </a:rPr>
              <a:t> ON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Abrechnung.Kunde_id</a:t>
            </a:r>
          </a:p>
          <a:p>
            <a:pPr>
              <a:defRPr/>
            </a:pPr>
            <a:r>
              <a:rPr lang="de-DE" sz="2000" b="1" dirty="0">
                <a:solidFill>
                  <a:srgbClr val="0071B2"/>
                </a:solidFill>
                <a:latin typeface="Source Sans Pro" panose="020B0503030403020204" pitchFamily="34" charset="0"/>
              </a:rPr>
              <a:t>     LEFT JOIN </a:t>
            </a:r>
            <a:r>
              <a:rPr lang="de-DE" sz="2000" dirty="0">
                <a:solidFill>
                  <a:srgbClr val="0071B2"/>
                </a:solidFill>
                <a:latin typeface="Source Sans Pro" panose="020B0503030403020204" pitchFamily="34" charset="0"/>
              </a:rPr>
              <a:t>Abrechnung_Produkt</a:t>
            </a:r>
            <a:r>
              <a:rPr lang="de-DE" sz="2000" b="1" dirty="0">
                <a:solidFill>
                  <a:srgbClr val="0071B2"/>
                </a:solidFill>
                <a:latin typeface="Source Sans Pro" panose="020B0503030403020204" pitchFamily="34" charset="0"/>
              </a:rPr>
              <a:t> ON </a:t>
            </a:r>
            <a:r>
              <a:rPr lang="de-DE" dirty="0">
                <a:solidFill>
                  <a:srgbClr val="0071B2"/>
                </a:solidFill>
                <a:latin typeface="Source Sans Pro" panose="020B0503030403020204" pitchFamily="34" charset="0"/>
              </a:rPr>
              <a:t>Abrechnung.Abrechnung_ID</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Abrechnung_Produkt.Abrechnung_ID</a:t>
            </a:r>
          </a:p>
          <a:p>
            <a:pPr>
              <a:defRPr/>
            </a:pPr>
            <a:r>
              <a:rPr lang="de-DE" sz="2000" b="1" dirty="0">
                <a:solidFill>
                  <a:srgbClr val="0071B2"/>
                </a:solidFill>
                <a:latin typeface="Source Sans Pro" panose="020B0503030403020204" pitchFamily="34" charset="0"/>
              </a:rPr>
              <a:t>     LEFT JOIN </a:t>
            </a:r>
            <a:r>
              <a:rPr lang="de-DE" sz="2000" dirty="0">
                <a:solidFill>
                  <a:srgbClr val="0071B2"/>
                </a:solidFill>
                <a:latin typeface="Source Sans Pro" panose="020B0503030403020204" pitchFamily="34" charset="0"/>
              </a:rPr>
              <a:t>Produkt</a:t>
            </a:r>
            <a:r>
              <a:rPr lang="de-DE" sz="2000" b="1" dirty="0">
                <a:solidFill>
                  <a:srgbClr val="0071B2"/>
                </a:solidFill>
                <a:latin typeface="Source Sans Pro" panose="020B0503030403020204" pitchFamily="34" charset="0"/>
              </a:rPr>
              <a:t> ON </a:t>
            </a:r>
            <a:r>
              <a:rPr lang="de-DE" sz="2000" dirty="0">
                <a:solidFill>
                  <a:srgbClr val="0071B2"/>
                </a:solidFill>
                <a:latin typeface="Source Sans Pro" panose="020B0503030403020204" pitchFamily="34" charset="0"/>
              </a:rPr>
              <a:t>Abrechnung_Produkt.Produkt_ID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Produkt.Produkt_id</a:t>
            </a:r>
          </a:p>
          <a:p>
            <a:pPr>
              <a:defRPr/>
            </a:pPr>
            <a:r>
              <a:rPr lang="de-DE" sz="2000" b="1" dirty="0">
                <a:solidFill>
                  <a:srgbClr val="0071B2"/>
                </a:solidFill>
                <a:latin typeface="Source Sans Pro" panose="020B0503030403020204" pitchFamily="34" charset="0"/>
              </a:rPr>
              <a:t>GROUP BY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,N</a:t>
            </a:r>
            <a:r>
              <a:rPr lang="de-DE" sz="2000" dirty="0">
                <a:solidFill>
                  <a:srgbClr val="0071B2"/>
                </a:solidFill>
                <a:latin typeface="Source Sans Pro" panose="020B0503030403020204" pitchFamily="34" charset="0"/>
              </a:rPr>
              <a:t>achname</a:t>
            </a:r>
          </a:p>
          <a:p>
            <a:pPr>
              <a:defRPr/>
            </a:pPr>
            <a:r>
              <a:rPr lang="de-DE" sz="2000" b="1" dirty="0">
                <a:solidFill>
                  <a:srgbClr val="0071B2"/>
                </a:solidFill>
                <a:latin typeface="Source Sans Pro" panose="020B0503030403020204" pitchFamily="34" charset="0"/>
              </a:rPr>
              <a:t>ORDER BY SUM(</a:t>
            </a:r>
            <a:r>
              <a:rPr lang="de-DE" sz="2000" dirty="0">
                <a:solidFill>
                  <a:srgbClr val="0071B2"/>
                </a:solidFill>
                <a:latin typeface="Source Sans Pro" panose="020B0503030403020204" pitchFamily="34" charset="0"/>
              </a:rPr>
              <a:t>Euro_Preis</a:t>
            </a:r>
            <a:r>
              <a:rPr lang="de-DE" sz="2000" b="1" dirty="0">
                <a:solidFill>
                  <a:srgbClr val="0071B2"/>
                </a:solidFill>
                <a:latin typeface="Source Sans Pro" panose="020B0503030403020204" pitchFamily="34" charset="0"/>
              </a:rPr>
              <a:t>) DESC;</a:t>
            </a: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rgbClr val="0071B2"/>
                </a:solidFill>
                <a:latin typeface="Source Sans Pro" panose="020B0503030403020204" pitchFamily="34" charset="0"/>
              </a:rPr>
              <a:t>Beispiel (</a:t>
            </a:r>
            <a:r>
              <a:rPr lang="de-DE" sz="4000" dirty="0">
                <a:solidFill>
                  <a:srgbClr val="0071B2"/>
                </a:solidFill>
                <a:latin typeface="Source Sans Pro" panose="020B0503030403020204" pitchFamily="34" charset="0"/>
              </a:rPr>
              <a:t>3</a:t>
            </a:r>
            <a:r>
              <a:rPr lang="de-DE" sz="4000" dirty="0" smtClean="0">
                <a:solidFill>
                  <a:srgbClr val="0071B2"/>
                </a:solidFill>
                <a:latin typeface="Source Sans Pro" panose="020B0503030403020204" pitchFamily="34" charset="0"/>
              </a:rPr>
              <a:t>) – </a:t>
            </a:r>
            <a:r>
              <a:rPr lang="de-DE" sz="4000" dirty="0" smtClean="0">
                <a:solidFill>
                  <a:schemeClr val="accent2"/>
                </a:solidFill>
                <a:latin typeface="Source Sans Pro" panose="020B0503030403020204" pitchFamily="34" charset="0"/>
              </a:rPr>
              <a:t>„aufgehübscht“</a:t>
            </a:r>
            <a:endParaRPr lang="de-DE" sz="4000" b="0" i="1" dirty="0">
              <a:solidFill>
                <a:schemeClr val="accent2"/>
              </a:solidFill>
              <a:latin typeface="Source Sans Pro" panose="020B0503030403020204" pitchFamily="34" charset="0"/>
            </a:endParaRPr>
          </a:p>
        </p:txBody>
      </p:sp>
      <p:pic>
        <p:nvPicPr>
          <p:cNvPr id="3" name="Grafik 2"/>
          <p:cNvPicPr>
            <a:picLocks noChangeAspect="1"/>
          </p:cNvPicPr>
          <p:nvPr/>
        </p:nvPicPr>
        <p:blipFill>
          <a:blip r:embed="rId2"/>
          <a:stretch>
            <a:fillRect/>
          </a:stretch>
        </p:blipFill>
        <p:spPr>
          <a:xfrm>
            <a:off x="6464160" y="3469335"/>
            <a:ext cx="4610100" cy="1971675"/>
          </a:xfrm>
          <a:prstGeom prst="rect">
            <a:avLst/>
          </a:prstGeom>
          <a:effectLst>
            <a:innerShdw blurRad="114300">
              <a:prstClr val="black"/>
            </a:innerShdw>
          </a:effectLst>
        </p:spPr>
      </p:pic>
      <p:sp>
        <p:nvSpPr>
          <p:cNvPr id="15" name="Rechteck 14"/>
          <p:cNvSpPr/>
          <p:nvPr/>
        </p:nvSpPr>
        <p:spPr>
          <a:xfrm>
            <a:off x="6464160" y="4965659"/>
            <a:ext cx="4610100" cy="4753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4479776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a:t>
            </a:r>
            <a:r>
              <a:rPr lang="de-DE" dirty="0" smtClean="0">
                <a:latin typeface="Source Sans Pro" panose="020B0503030403020204" pitchFamily="34" charset="0"/>
              </a:rPr>
              <a:t>Übung </a:t>
            </a:r>
            <a:r>
              <a:rPr lang="de-DE" sz="2700" dirty="0" smtClean="0">
                <a:latin typeface="Source Sans Pro" panose="020B0503030403020204" pitchFamily="34" charset="0"/>
              </a:rPr>
              <a:t>(„Live-Coding“) </a:t>
            </a:r>
            <a:r>
              <a:rPr lang="de-DE" dirty="0" smtClean="0">
                <a:latin typeface="Source Sans Pro" panose="020B0503030403020204" pitchFamily="34" charset="0"/>
              </a:rPr>
              <a:t>-&gt; </a:t>
            </a:r>
            <a:r>
              <a:rPr lang="de-DE" dirty="0" smtClean="0">
                <a:solidFill>
                  <a:schemeClr val="accent2"/>
                </a:solidFill>
                <a:latin typeface="Source Sans Pro" panose="020B0503030403020204" pitchFamily="34" charset="0"/>
              </a:rPr>
              <a:t>A_03_04_01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2" name="Grafik 1"/>
          <p:cNvPicPr>
            <a:picLocks noChangeAspect="1"/>
          </p:cNvPicPr>
          <p:nvPr/>
        </p:nvPicPr>
        <p:blipFill>
          <a:blip r:embed="rId2"/>
          <a:stretch>
            <a:fillRect/>
          </a:stretch>
        </p:blipFill>
        <p:spPr>
          <a:xfrm>
            <a:off x="4808796" y="1325568"/>
            <a:ext cx="2975286" cy="4200085"/>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smtClean="0">
                <a:latin typeface="Source Sans Pro" panose="020B0503030403020204" pitchFamily="34" charset="0"/>
              </a:rPr>
              <a:t>Vielen Dank für Ihre Aufmerksamkeit!</a:t>
            </a:r>
            <a:endParaRPr lang="de-DE" dirty="0">
              <a:latin typeface="Source Sans Pro" panose="020B0503030403020204" pitchFamily="34" charset="0"/>
            </a:endParaRP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739</Words>
  <Application>Microsoft Office PowerPoint</Application>
  <PresentationFormat>Breitbild</PresentationFormat>
  <Paragraphs>131</Paragraphs>
  <Slides>11</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11</vt:i4>
      </vt:variant>
    </vt:vector>
  </HeadingPairs>
  <TitlesOfParts>
    <vt:vector size="16" baseType="lpstr">
      <vt:lpstr>Arial</vt:lpstr>
      <vt:lpstr>Calibri</vt:lpstr>
      <vt:lpstr>Courier New</vt:lpstr>
      <vt:lpstr>Source Sans Pro</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A_03_04_01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cdMax Muster01</cp:lastModifiedBy>
  <cp:revision>674</cp:revision>
  <dcterms:created xsi:type="dcterms:W3CDTF">2022-02-01T13:48:14Z</dcterms:created>
  <dcterms:modified xsi:type="dcterms:W3CDTF">2022-07-14T10:35:37Z</dcterms:modified>
</cp:coreProperties>
</file>