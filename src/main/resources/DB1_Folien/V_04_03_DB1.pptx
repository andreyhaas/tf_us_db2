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381" r:id="rId4"/>
    <p:sldId id="373" r:id="rId5"/>
    <p:sldId id="382" r:id="rId6"/>
    <p:sldId id="383" r:id="rId7"/>
    <p:sldId id="384" r:id="rId8"/>
    <p:sldId id="385" r:id="rId9"/>
    <p:sldId id="386" r:id="rId10"/>
    <p:sldId id="388" r:id="rId11"/>
    <p:sldId id="389" r:id="rId12"/>
    <p:sldId id="390" r:id="rId13"/>
    <p:sldId id="391" r:id="rId14"/>
    <p:sldId id="392" r:id="rId15"/>
    <p:sldId id="393" r:id="rId16"/>
    <p:sldId id="394" r:id="rId17"/>
    <p:sldId id="395" r:id="rId18"/>
    <p:sldId id="396" r:id="rId19"/>
    <p:sldId id="397" r:id="rId20"/>
    <p:sldId id="398" r:id="rId21"/>
    <p:sldId id="399" r:id="rId22"/>
    <p:sldId id="400" r:id="rId23"/>
    <p:sldId id="401" r:id="rId24"/>
    <p:sldId id="402" r:id="rId25"/>
    <p:sldId id="403" r:id="rId26"/>
    <p:sldId id="407" r:id="rId27"/>
    <p:sldId id="409" r:id="rId28"/>
    <p:sldId id="410" r:id="rId29"/>
    <p:sldId id="411" r:id="rId30"/>
    <p:sldId id="405" r:id="rId31"/>
    <p:sldId id="406" r:id="rId32"/>
    <p:sldId id="277" r:id="rId33"/>
    <p:sldId id="259" r:id="rId3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105" d="100"/>
          <a:sy n="105" d="100"/>
        </p:scale>
        <p:origin x="732"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18.02.2026</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18.02.2026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18.02.2026</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18.02.2026</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18.02.2026</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18.02.2026</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18.02.2026</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4 - Tag 3)</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899608"/>
            <a:ext cx="10713719" cy="4185761"/>
          </a:xfrm>
          <a:prstGeom prst="rect">
            <a:avLst/>
          </a:prstGeom>
          <a:noFill/>
        </p:spPr>
        <p:txBody>
          <a:bodyPr wrap="square" rtlCol="0">
            <a:spAutoFit/>
          </a:bodyPr>
          <a:lstStyle/>
          <a:p>
            <a:endParaRPr lang="de-DE" b="1" dirty="0">
              <a:latin typeface="Source Sans Pro" panose="020B0503030403020204" pitchFamily="34" charset="0"/>
            </a:endParaRPr>
          </a:p>
          <a:p>
            <a:endParaRPr lang="de-DE" sz="800" b="1" dirty="0">
              <a:latin typeface="Source Sans Pro" panose="020B0503030403020204" pitchFamily="34" charset="0"/>
            </a:endParaRPr>
          </a:p>
          <a:p>
            <a:pPr lvl="1"/>
            <a:r>
              <a:rPr lang="de-DE" sz="2400" b="1" dirty="0">
                <a:latin typeface="Source Sans Pro" panose="020B0503030403020204" pitchFamily="34" charset="0"/>
              </a:rPr>
              <a:t>Rechtevergabe</a:t>
            </a:r>
          </a:p>
          <a:p>
            <a:pPr lvl="1"/>
            <a:endParaRPr lang="de-DE" sz="200" b="1" dirty="0">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Definition</a:t>
            </a: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Motivation</a:t>
            </a: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Syntax</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Konsole öffnen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MySQL starten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Einloggen als „root“</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Datenbanken anzeigen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User anzeigen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Neuen User anlegen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User-Rechte vergeben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User-Rechte entziehen</a:t>
            </a:r>
          </a:p>
          <a:p>
            <a:pPr marL="1714500" lvl="3" indent="-342900">
              <a:buFont typeface="Wingdings" panose="05000000000000000000" pitchFamily="2" charset="2"/>
              <a:buChar char="Ø"/>
            </a:pPr>
            <a:r>
              <a:rPr lang="de-DE" sz="1400" dirty="0">
                <a:solidFill>
                  <a:srgbClr val="0071B2"/>
                </a:solidFill>
                <a:latin typeface="Source Sans Pro" panose="020B0503030403020204" pitchFamily="34" charset="0"/>
              </a:rPr>
              <a:t>User löschen</a:t>
            </a:r>
          </a:p>
          <a:p>
            <a:pPr lvl="2"/>
            <a:endParaRPr lang="de-DE" dirty="0">
              <a:latin typeface="Source Sans Pro" panose="020B0503030403020204" pitchFamily="34" charset="0"/>
            </a:endParaRP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Rechtevergabe</a:t>
            </a:r>
          </a:p>
        </p:txBody>
      </p:sp>
    </p:spTree>
    <p:extLst>
      <p:ext uri="{BB962C8B-B14F-4D97-AF65-F5344CB8AC3E}">
        <p14:creationId xmlns:p14="http://schemas.microsoft.com/office/powerpoint/2010/main" val="4222101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Control Panel öffnen</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1174128" y="1433339"/>
            <a:ext cx="6353175" cy="4124325"/>
          </a:xfrm>
          <a:prstGeom prst="rect">
            <a:avLst/>
          </a:prstGeom>
          <a:effectLst>
            <a:innerShdw blurRad="114300">
              <a:prstClr val="black"/>
            </a:innerShdw>
          </a:effectLst>
        </p:spPr>
      </p:pic>
    </p:spTree>
    <p:extLst>
      <p:ext uri="{BB962C8B-B14F-4D97-AF65-F5344CB8AC3E}">
        <p14:creationId xmlns:p14="http://schemas.microsoft.com/office/powerpoint/2010/main" val="1176451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solidFill>
                  <a:schemeClr val="accent2"/>
                </a:solidFill>
                <a:latin typeface="Source Sans Pro" panose="020B0503030403020204" pitchFamily="34" charset="0"/>
              </a:rPr>
              <a:t>MySQL</a:t>
            </a:r>
            <a:r>
              <a:rPr lang="de-DE" sz="4000" dirty="0">
                <a:solidFill>
                  <a:srgbClr val="0071B2"/>
                </a:solidFill>
                <a:latin typeface="Source Sans Pro" panose="020B0503030403020204" pitchFamily="34" charset="0"/>
              </a:rPr>
              <a:t> starten</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pic>
        <p:nvPicPr>
          <p:cNvPr id="7" name="Grafik 6"/>
          <p:cNvPicPr>
            <a:picLocks noChangeAspect="1"/>
          </p:cNvPicPr>
          <p:nvPr/>
        </p:nvPicPr>
        <p:blipFill>
          <a:blip r:embed="rId2"/>
          <a:stretch>
            <a:fillRect/>
          </a:stretch>
        </p:blipFill>
        <p:spPr>
          <a:xfrm>
            <a:off x="1180464" y="1442972"/>
            <a:ext cx="6334125" cy="4095750"/>
          </a:xfrm>
          <a:prstGeom prst="rect">
            <a:avLst/>
          </a:prstGeom>
          <a:effectLst>
            <a:innerShdw blurRad="114300">
              <a:prstClr val="black"/>
            </a:innerShdw>
          </a:effectLst>
        </p:spPr>
      </p:pic>
      <p:sp>
        <p:nvSpPr>
          <p:cNvPr id="3" name="Rechteck 2"/>
          <p:cNvSpPr/>
          <p:nvPr/>
        </p:nvSpPr>
        <p:spPr>
          <a:xfrm>
            <a:off x="4123113" y="2685012"/>
            <a:ext cx="548640" cy="182880"/>
          </a:xfrm>
          <a:prstGeom prst="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Grafik 1"/>
          <p:cNvPicPr>
            <a:picLocks noChangeAspect="1"/>
          </p:cNvPicPr>
          <p:nvPr/>
        </p:nvPicPr>
        <p:blipFill>
          <a:blip r:embed="rId3"/>
          <a:stretch>
            <a:fillRect/>
          </a:stretch>
        </p:blipFill>
        <p:spPr>
          <a:xfrm>
            <a:off x="1199514" y="1442972"/>
            <a:ext cx="6315075" cy="4105275"/>
          </a:xfrm>
          <a:prstGeom prst="rect">
            <a:avLst/>
          </a:prstGeom>
          <a:effectLst>
            <a:innerShdw blurRad="114300">
              <a:prstClr val="black"/>
            </a:innerShdw>
          </a:effectLst>
        </p:spPr>
      </p:pic>
      <p:sp>
        <p:nvSpPr>
          <p:cNvPr id="13" name="Ellipse 12"/>
          <p:cNvSpPr/>
          <p:nvPr/>
        </p:nvSpPr>
        <p:spPr>
          <a:xfrm>
            <a:off x="3974280" y="2581898"/>
            <a:ext cx="846306" cy="38910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14848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MySQL</a:t>
            </a:r>
            <a:r>
              <a:rPr lang="de-DE" sz="4000" dirty="0">
                <a:solidFill>
                  <a:srgbClr val="0071B2"/>
                </a:solidFill>
                <a:latin typeface="Source Sans Pro" panose="020B0503030403020204" pitchFamily="34" charset="0"/>
              </a:rPr>
              <a:t> starten und </a:t>
            </a:r>
            <a:r>
              <a:rPr lang="de-DE" sz="4000" dirty="0">
                <a:solidFill>
                  <a:schemeClr val="accent2"/>
                </a:solidFill>
                <a:latin typeface="Source Sans Pro" panose="020B0503030403020204" pitchFamily="34" charset="0"/>
              </a:rPr>
              <a:t>Konsole</a:t>
            </a:r>
            <a:r>
              <a:rPr lang="de-DE" sz="4000" dirty="0">
                <a:solidFill>
                  <a:srgbClr val="0071B2"/>
                </a:solidFill>
                <a:latin typeface="Source Sans Pro" panose="020B0503030403020204" pitchFamily="34" charset="0"/>
              </a:rPr>
              <a:t> öffnen</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pic>
        <p:nvPicPr>
          <p:cNvPr id="7" name="Grafik 6"/>
          <p:cNvPicPr>
            <a:picLocks noChangeAspect="1"/>
          </p:cNvPicPr>
          <p:nvPr/>
        </p:nvPicPr>
        <p:blipFill>
          <a:blip r:embed="rId2"/>
          <a:stretch>
            <a:fillRect/>
          </a:stretch>
        </p:blipFill>
        <p:spPr>
          <a:xfrm>
            <a:off x="1180464" y="1442972"/>
            <a:ext cx="6334125" cy="4095750"/>
          </a:xfrm>
          <a:prstGeom prst="rect">
            <a:avLst/>
          </a:prstGeom>
          <a:effectLst>
            <a:innerShdw blurRad="114300">
              <a:prstClr val="black"/>
            </a:innerShdw>
          </a:effectLst>
        </p:spPr>
      </p:pic>
      <p:sp>
        <p:nvSpPr>
          <p:cNvPr id="3" name="Rechteck 2"/>
          <p:cNvSpPr/>
          <p:nvPr/>
        </p:nvSpPr>
        <p:spPr>
          <a:xfrm>
            <a:off x="6683431" y="2377441"/>
            <a:ext cx="756459" cy="182879"/>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Grafik 1"/>
          <p:cNvPicPr>
            <a:picLocks noChangeAspect="1"/>
          </p:cNvPicPr>
          <p:nvPr/>
        </p:nvPicPr>
        <p:blipFill>
          <a:blip r:embed="rId3"/>
          <a:stretch>
            <a:fillRect/>
          </a:stretch>
        </p:blipFill>
        <p:spPr>
          <a:xfrm>
            <a:off x="1180464" y="1442972"/>
            <a:ext cx="6315075" cy="4095750"/>
          </a:xfrm>
          <a:prstGeom prst="rect">
            <a:avLst/>
          </a:prstGeom>
          <a:effectLst>
            <a:innerShdw blurRad="114300">
              <a:prstClr val="black"/>
            </a:innerShdw>
          </a:effectLst>
        </p:spPr>
      </p:pic>
      <p:sp>
        <p:nvSpPr>
          <p:cNvPr id="11" name="Ellipse 10"/>
          <p:cNvSpPr/>
          <p:nvPr/>
        </p:nvSpPr>
        <p:spPr>
          <a:xfrm>
            <a:off x="6522926" y="2269547"/>
            <a:ext cx="1084103" cy="38910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975895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solidFill>
                  <a:schemeClr val="accent2"/>
                </a:solidFill>
                <a:latin typeface="Source Sans Pro" panose="020B0503030403020204" pitchFamily="34" charset="0"/>
              </a:rPr>
              <a:t>Einloggen</a:t>
            </a:r>
            <a:endParaRPr kumimoji="0" lang="de-DE" sz="4000" b="0" i="1" u="none" strike="noStrike" kern="1200" cap="none" spc="0" normalizeH="0" baseline="0" noProof="0" dirty="0">
              <a:ln>
                <a:noFill/>
              </a:ln>
              <a:effectLst/>
              <a:uLnTx/>
              <a:uFillTx/>
              <a:latin typeface="Source Sans Pro" panose="020B0503030403020204" pitchFamily="34" charset="0"/>
              <a:ea typeface="+mj-ea"/>
              <a:cs typeface="+mj-cs"/>
            </a:endParaRPr>
          </a:p>
        </p:txBody>
      </p:sp>
      <p:pic>
        <p:nvPicPr>
          <p:cNvPr id="6" name="Grafik 5"/>
          <p:cNvPicPr>
            <a:picLocks noChangeAspect="1"/>
          </p:cNvPicPr>
          <p:nvPr/>
        </p:nvPicPr>
        <p:blipFill>
          <a:blip r:embed="rId2"/>
          <a:stretch>
            <a:fillRect/>
          </a:stretch>
        </p:blipFill>
        <p:spPr>
          <a:xfrm>
            <a:off x="1151000" y="1454209"/>
            <a:ext cx="7877063" cy="4095750"/>
          </a:xfrm>
          <a:prstGeom prst="rect">
            <a:avLst/>
          </a:prstGeom>
          <a:effectLst>
            <a:innerShdw blurRad="114300">
              <a:prstClr val="black"/>
            </a:innerShdw>
          </a:effectLst>
        </p:spPr>
      </p:pic>
    </p:spTree>
    <p:extLst>
      <p:ext uri="{BB962C8B-B14F-4D97-AF65-F5344CB8AC3E}">
        <p14:creationId xmlns:p14="http://schemas.microsoft.com/office/powerpoint/2010/main" val="2398274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660256" cy="720725"/>
          </a:xfrm>
          <a:prstGeom prst="rect">
            <a:avLst/>
          </a:prstGeom>
        </p:spPr>
        <p:txBody>
          <a:bodyPr vert="horz" lIns="91440" tIns="45720" rIns="91440" bIns="45720" rtlCol="0" anchor="t" anchorCtr="0">
            <a:normAutofit fontScale="675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Der </a:t>
            </a:r>
            <a:r>
              <a:rPr lang="de-DE" sz="4000" dirty="0">
                <a:solidFill>
                  <a:schemeClr val="accent2"/>
                </a:solidFill>
                <a:latin typeface="Source Sans Pro" panose="020B0503030403020204" pitchFamily="34" charset="0"/>
              </a:rPr>
              <a:t>U</a:t>
            </a:r>
            <a:r>
              <a:rPr lang="de-DE" sz="4000" dirty="0">
                <a:latin typeface="Source Sans Pro" panose="020B0503030403020204" pitchFamily="34" charset="0"/>
              </a:rPr>
              <a:t>(ser) „</a:t>
            </a:r>
            <a:r>
              <a:rPr lang="de-DE" sz="4000" dirty="0">
                <a:solidFill>
                  <a:schemeClr val="accent2"/>
                </a:solidFill>
                <a:latin typeface="Source Sans Pro" panose="020B0503030403020204" pitchFamily="34" charset="0"/>
              </a:rPr>
              <a:t>root</a:t>
            </a:r>
            <a:r>
              <a:rPr lang="de-DE" sz="4000" dirty="0">
                <a:latin typeface="Source Sans Pro" panose="020B0503030403020204" pitchFamily="34" charset="0"/>
              </a:rPr>
              <a:t>“</a:t>
            </a:r>
            <a:r>
              <a:rPr lang="de-DE" sz="4000" dirty="0">
                <a:solidFill>
                  <a:schemeClr val="accent2"/>
                </a:solidFill>
                <a:latin typeface="Source Sans Pro" panose="020B0503030403020204" pitchFamily="34" charset="0"/>
              </a:rPr>
              <a:t> </a:t>
            </a:r>
            <a:r>
              <a:rPr lang="de-DE" sz="4000" dirty="0">
                <a:latin typeface="Source Sans Pro" panose="020B0503030403020204" pitchFamily="34" charset="0"/>
              </a:rPr>
              <a:t>loggt sich in </a:t>
            </a:r>
            <a:r>
              <a:rPr lang="de-DE" sz="4000" dirty="0">
                <a:solidFill>
                  <a:schemeClr val="accent2"/>
                </a:solidFill>
                <a:latin typeface="Source Sans Pro" panose="020B0503030403020204" pitchFamily="34" charset="0"/>
              </a:rPr>
              <a:t>mysql</a:t>
            </a:r>
            <a:r>
              <a:rPr lang="de-DE" sz="4000" dirty="0">
                <a:latin typeface="Source Sans Pro" panose="020B0503030403020204" pitchFamily="34" charset="0"/>
              </a:rPr>
              <a:t> (MariaDB) per </a:t>
            </a:r>
            <a:r>
              <a:rPr lang="de-DE" sz="4000" dirty="0">
                <a:solidFill>
                  <a:schemeClr val="accent2"/>
                </a:solidFill>
                <a:latin typeface="Source Sans Pro" panose="020B0503030403020204" pitchFamily="34" charset="0"/>
              </a:rPr>
              <a:t>P</a:t>
            </a:r>
            <a:r>
              <a:rPr lang="de-DE" sz="4000" dirty="0">
                <a:latin typeface="Source Sans Pro" panose="020B0503030403020204" pitchFamily="34" charset="0"/>
              </a:rPr>
              <a:t>(assword) ein</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1143029" y="1454209"/>
            <a:ext cx="7877063" cy="4103813"/>
          </a:xfrm>
          <a:prstGeom prst="rect">
            <a:avLst/>
          </a:prstGeom>
          <a:effectLst>
            <a:innerShdw blurRad="114300">
              <a:prstClr val="black"/>
            </a:innerShdw>
          </a:effectLst>
        </p:spPr>
      </p:pic>
      <p:sp>
        <p:nvSpPr>
          <p:cNvPr id="11" name="Textfeld 10"/>
          <p:cNvSpPr txBox="1"/>
          <p:nvPr/>
        </p:nvSpPr>
        <p:spPr>
          <a:xfrm>
            <a:off x="2560320" y="2375654"/>
            <a:ext cx="2209451" cy="369332"/>
          </a:xfrm>
          <a:prstGeom prst="rect">
            <a:avLst/>
          </a:prstGeom>
          <a:solidFill>
            <a:schemeClr val="bg1"/>
          </a:solidFill>
        </p:spPr>
        <p:txBody>
          <a:bodyPr wrap="none" rtlCol="0">
            <a:spAutoFit/>
          </a:bodyPr>
          <a:lstStyle/>
          <a:p>
            <a:r>
              <a:rPr lang="de-DE" dirty="0"/>
              <a:t>Mit ENTER bestätigen</a:t>
            </a:r>
          </a:p>
        </p:txBody>
      </p:sp>
      <p:sp>
        <p:nvSpPr>
          <p:cNvPr id="13" name="Ellipse 12"/>
          <p:cNvSpPr/>
          <p:nvPr/>
        </p:nvSpPr>
        <p:spPr>
          <a:xfrm>
            <a:off x="1221972" y="2069319"/>
            <a:ext cx="1213658" cy="2000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71607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Der User „root“ benötigt kein Passwort</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13" name="Grafik 12"/>
          <p:cNvPicPr>
            <a:picLocks noChangeAspect="1"/>
          </p:cNvPicPr>
          <p:nvPr/>
        </p:nvPicPr>
        <p:blipFill>
          <a:blip r:embed="rId2"/>
          <a:stretch>
            <a:fillRect/>
          </a:stretch>
        </p:blipFill>
        <p:spPr>
          <a:xfrm>
            <a:off x="1134718" y="1456774"/>
            <a:ext cx="7877063" cy="4095750"/>
          </a:xfrm>
          <a:prstGeom prst="rect">
            <a:avLst/>
          </a:prstGeom>
          <a:effectLst>
            <a:innerShdw blurRad="114300">
              <a:prstClr val="black"/>
            </a:innerShdw>
          </a:effectLst>
        </p:spPr>
      </p:pic>
      <p:sp>
        <p:nvSpPr>
          <p:cNvPr id="14" name="Textfeld 13"/>
          <p:cNvSpPr txBox="1"/>
          <p:nvPr/>
        </p:nvSpPr>
        <p:spPr>
          <a:xfrm>
            <a:off x="2588144" y="2315586"/>
            <a:ext cx="4291239" cy="369332"/>
          </a:xfrm>
          <a:prstGeom prst="rect">
            <a:avLst/>
          </a:prstGeom>
          <a:solidFill>
            <a:schemeClr val="bg1"/>
          </a:solidFill>
        </p:spPr>
        <p:txBody>
          <a:bodyPr wrap="none" rtlCol="0">
            <a:spAutoFit/>
          </a:bodyPr>
          <a:lstStyle/>
          <a:p>
            <a:r>
              <a:rPr lang="de-DE" dirty="0"/>
              <a:t>ohne Eingabe einfach mit ENTER bestätigen</a:t>
            </a:r>
          </a:p>
        </p:txBody>
      </p:sp>
      <p:sp>
        <p:nvSpPr>
          <p:cNvPr id="16" name="Ellipse 15"/>
          <p:cNvSpPr/>
          <p:nvPr/>
        </p:nvSpPr>
        <p:spPr>
          <a:xfrm>
            <a:off x="2127668" y="2197313"/>
            <a:ext cx="148183" cy="16833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65172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75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Der Prompt </a:t>
            </a:r>
            <a:r>
              <a:rPr lang="de-DE" sz="4000" dirty="0">
                <a:solidFill>
                  <a:schemeClr val="accent2"/>
                </a:solidFill>
                <a:latin typeface="Source Sans Pro" panose="020B0503030403020204" pitchFamily="34" charset="0"/>
              </a:rPr>
              <a:t>MariaDB</a:t>
            </a:r>
            <a:r>
              <a:rPr lang="de-DE" sz="4000" dirty="0">
                <a:latin typeface="Source Sans Pro" panose="020B0503030403020204" pitchFamily="34" charset="0"/>
              </a:rPr>
              <a:t> zeigt, dass das Einloggen erfolgreich war</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140516" y="1443435"/>
            <a:ext cx="7877063" cy="4099617"/>
          </a:xfrm>
          <a:prstGeom prst="rect">
            <a:avLst/>
          </a:prstGeom>
          <a:effectLst>
            <a:innerShdw blurRad="114300">
              <a:prstClr val="black"/>
            </a:innerShdw>
          </a:effectLst>
        </p:spPr>
      </p:pic>
      <p:sp>
        <p:nvSpPr>
          <p:cNvPr id="11" name="Ellipse 10"/>
          <p:cNvSpPr/>
          <p:nvPr/>
        </p:nvSpPr>
        <p:spPr>
          <a:xfrm>
            <a:off x="1140516" y="3301499"/>
            <a:ext cx="513717" cy="2646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64446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a:t>
            </a:r>
            <a:r>
              <a:rPr lang="de-DE" sz="4000" dirty="0">
                <a:solidFill>
                  <a:schemeClr val="accent2"/>
                </a:solidFill>
                <a:latin typeface="Source Sans Pro" panose="020B0503030403020204" pitchFamily="34" charset="0"/>
              </a:rPr>
              <a:t>Datenbanken</a:t>
            </a:r>
            <a:r>
              <a:rPr lang="de-DE" sz="4000" dirty="0">
                <a:latin typeface="Source Sans Pro" panose="020B0503030403020204" pitchFamily="34" charset="0"/>
              </a:rPr>
              <a:t> anzeigen lassen</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1132930" y="1457385"/>
            <a:ext cx="7876338" cy="4099569"/>
          </a:xfrm>
          <a:prstGeom prst="rect">
            <a:avLst/>
          </a:prstGeom>
          <a:effectLst>
            <a:innerShdw blurRad="114300">
              <a:prstClr val="black"/>
            </a:innerShdw>
          </a:effectLst>
        </p:spPr>
      </p:pic>
      <p:sp>
        <p:nvSpPr>
          <p:cNvPr id="9" name="Ellipse 8"/>
          <p:cNvSpPr/>
          <p:nvPr/>
        </p:nvSpPr>
        <p:spPr>
          <a:xfrm>
            <a:off x="2237796" y="3301499"/>
            <a:ext cx="1087295" cy="2646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06938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a:t>
            </a:r>
            <a:r>
              <a:rPr lang="de-DE" sz="4000" dirty="0">
                <a:solidFill>
                  <a:schemeClr val="accent2"/>
                </a:solidFill>
                <a:latin typeface="Source Sans Pro" panose="020B0503030403020204" pitchFamily="34" charset="0"/>
              </a:rPr>
              <a:t>User</a:t>
            </a:r>
            <a:r>
              <a:rPr lang="de-DE" sz="4000" dirty="0">
                <a:latin typeface="Source Sans Pro" panose="020B0503030403020204" pitchFamily="34" charset="0"/>
              </a:rPr>
              <a:t> anzeigen lassen (</a:t>
            </a:r>
            <a:r>
              <a:rPr lang="de-DE" sz="4000" dirty="0">
                <a:solidFill>
                  <a:schemeClr val="accent2"/>
                </a:solidFill>
                <a:latin typeface="Source Sans Pro" panose="020B0503030403020204" pitchFamily="34" charset="0"/>
              </a:rPr>
              <a:t>alle</a:t>
            </a:r>
            <a:r>
              <a:rPr lang="de-DE" sz="4000" dirty="0">
                <a:latin typeface="Source Sans Pro" panose="020B0503030403020204" pitchFamily="34" charset="0"/>
              </a:rPr>
              <a:t>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6" name="Grafik 5"/>
          <p:cNvPicPr>
            <a:picLocks noChangeAspect="1"/>
          </p:cNvPicPr>
          <p:nvPr/>
        </p:nvPicPr>
        <p:blipFill>
          <a:blip r:embed="rId2"/>
          <a:stretch>
            <a:fillRect/>
          </a:stretch>
        </p:blipFill>
        <p:spPr>
          <a:xfrm>
            <a:off x="1124619" y="1459675"/>
            <a:ext cx="7876338" cy="4111497"/>
          </a:xfrm>
          <a:prstGeom prst="rect">
            <a:avLst/>
          </a:prstGeom>
          <a:effectLst>
            <a:innerShdw blurRad="114300">
              <a:prstClr val="black"/>
            </a:innerShdw>
          </a:effectLst>
        </p:spPr>
      </p:pic>
      <p:pic>
        <p:nvPicPr>
          <p:cNvPr id="2" name="Grafik 1"/>
          <p:cNvPicPr>
            <a:picLocks noChangeAspect="1"/>
          </p:cNvPicPr>
          <p:nvPr/>
        </p:nvPicPr>
        <p:blipFill>
          <a:blip r:embed="rId3"/>
          <a:stretch>
            <a:fillRect/>
          </a:stretch>
        </p:blipFill>
        <p:spPr>
          <a:xfrm>
            <a:off x="2237796" y="5065276"/>
            <a:ext cx="1971950" cy="161948"/>
          </a:xfrm>
          <a:prstGeom prst="rect">
            <a:avLst/>
          </a:prstGeom>
        </p:spPr>
      </p:pic>
      <p:sp>
        <p:nvSpPr>
          <p:cNvPr id="10" name="Ellipse 9"/>
          <p:cNvSpPr/>
          <p:nvPr/>
        </p:nvSpPr>
        <p:spPr>
          <a:xfrm>
            <a:off x="2169622" y="5013920"/>
            <a:ext cx="2186247" cy="2646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671956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a:t>
            </a:r>
            <a:r>
              <a:rPr lang="de-DE" sz="4000" dirty="0">
                <a:solidFill>
                  <a:schemeClr val="accent2"/>
                </a:solidFill>
                <a:latin typeface="Source Sans Pro" panose="020B0503030403020204" pitchFamily="34" charset="0"/>
              </a:rPr>
              <a:t>User</a:t>
            </a:r>
            <a:r>
              <a:rPr lang="de-DE" sz="4000" dirty="0">
                <a:latin typeface="Source Sans Pro" panose="020B0503030403020204" pitchFamily="34" charset="0"/>
              </a:rPr>
              <a:t> anzeigen lassen (</a:t>
            </a:r>
            <a:r>
              <a:rPr lang="de-DE" sz="4000" dirty="0">
                <a:solidFill>
                  <a:schemeClr val="accent2"/>
                </a:solidFill>
                <a:latin typeface="Source Sans Pro" panose="020B0503030403020204" pitchFamily="34" charset="0"/>
              </a:rPr>
              <a:t>alle</a:t>
            </a:r>
            <a:r>
              <a:rPr lang="de-DE" sz="4000" dirty="0">
                <a:latin typeface="Source Sans Pro" panose="020B0503030403020204" pitchFamily="34" charset="0"/>
              </a:rPr>
              <a:t>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124620" y="1508452"/>
            <a:ext cx="7876338" cy="4103774"/>
          </a:xfrm>
          <a:prstGeom prst="rect">
            <a:avLst/>
          </a:prstGeom>
          <a:effectLst>
            <a:innerShdw blurRad="114300">
              <a:prstClr val="black"/>
            </a:innerShdw>
          </a:effectLst>
        </p:spPr>
      </p:pic>
      <p:sp>
        <p:nvSpPr>
          <p:cNvPr id="9" name="Textfeld 8"/>
          <p:cNvSpPr txBox="1"/>
          <p:nvPr/>
        </p:nvSpPr>
        <p:spPr>
          <a:xfrm>
            <a:off x="3914067" y="5134715"/>
            <a:ext cx="4811830" cy="369332"/>
          </a:xfrm>
          <a:prstGeom prst="rect">
            <a:avLst/>
          </a:prstGeom>
          <a:solidFill>
            <a:schemeClr val="bg1"/>
          </a:solidFill>
        </p:spPr>
        <p:txBody>
          <a:bodyPr wrap="none" rtlCol="0">
            <a:spAutoFit/>
          </a:bodyPr>
          <a:lstStyle/>
          <a:p>
            <a:pPr algn="ctr"/>
            <a:r>
              <a:rPr lang="de-DE" dirty="0"/>
              <a:t>Die </a:t>
            </a:r>
            <a:r>
              <a:rPr lang="de-DE" b="1" dirty="0"/>
              <a:t>Konsolenbreite</a:t>
            </a:r>
            <a:r>
              <a:rPr lang="de-DE" dirty="0"/>
              <a:t> reicht nicht, alles darzustellen</a:t>
            </a:r>
          </a:p>
        </p:txBody>
      </p:sp>
    </p:spTree>
    <p:extLst>
      <p:ext uri="{BB962C8B-B14F-4D97-AF65-F5344CB8AC3E}">
        <p14:creationId xmlns:p14="http://schemas.microsoft.com/office/powerpoint/2010/main" val="2610856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a:t>
            </a:r>
            <a:r>
              <a:rPr lang="de-DE" sz="4000" dirty="0">
                <a:solidFill>
                  <a:schemeClr val="accent2"/>
                </a:solidFill>
                <a:latin typeface="Source Sans Pro" panose="020B0503030403020204" pitchFamily="34" charset="0"/>
              </a:rPr>
              <a:t>User</a:t>
            </a:r>
            <a:r>
              <a:rPr lang="de-DE" sz="4000" dirty="0">
                <a:latin typeface="Source Sans Pro" panose="020B0503030403020204" pitchFamily="34" charset="0"/>
              </a:rPr>
              <a:t> anzeigen lassen (</a:t>
            </a:r>
            <a:r>
              <a:rPr lang="de-DE" sz="4000" dirty="0">
                <a:solidFill>
                  <a:schemeClr val="accent2"/>
                </a:solidFill>
                <a:latin typeface="Source Sans Pro" panose="020B0503030403020204" pitchFamily="34" charset="0"/>
              </a:rPr>
              <a:t>alle</a:t>
            </a:r>
            <a:r>
              <a:rPr lang="de-DE" sz="4000" dirty="0">
                <a:latin typeface="Source Sans Pro" panose="020B0503030403020204" pitchFamily="34" charset="0"/>
              </a:rPr>
              <a:t>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sp>
        <p:nvSpPr>
          <p:cNvPr id="10" name="Textplatzhalter 11"/>
          <p:cNvSpPr>
            <a:spLocks noGrp="1"/>
          </p:cNvSpPr>
          <p:nvPr>
            <p:ph type="body" sz="quarter" idx="13"/>
          </p:nvPr>
        </p:nvSpPr>
        <p:spPr>
          <a:xfrm>
            <a:off x="361949" y="1271590"/>
            <a:ext cx="11495754" cy="714373"/>
          </a:xfrm>
        </p:spPr>
        <p:txBody>
          <a:bodyPr/>
          <a:lstStyle/>
          <a:p>
            <a:endParaRPr lang="de-DE" dirty="0"/>
          </a:p>
          <a:p>
            <a:endParaRPr lang="de-DE" dirty="0"/>
          </a:p>
        </p:txBody>
      </p:sp>
      <p:sp>
        <p:nvSpPr>
          <p:cNvPr id="11" name="Textfeld 10"/>
          <p:cNvSpPr txBox="1"/>
          <p:nvPr/>
        </p:nvSpPr>
        <p:spPr>
          <a:xfrm>
            <a:off x="206178" y="1427809"/>
            <a:ext cx="11807295" cy="1323439"/>
          </a:xfrm>
          <a:prstGeom prst="rect">
            <a:avLst/>
          </a:prstGeom>
          <a:noFill/>
        </p:spPr>
        <p:txBody>
          <a:bodyPr wrap="square" rtlCol="0">
            <a:spAutoFit/>
          </a:bodyPr>
          <a:lstStyle/>
          <a:p>
            <a:pPr algn="ctr"/>
            <a:r>
              <a:rPr lang="de-DE" dirty="0"/>
              <a:t>Die Konsolen-Ausgabe könnte kopiert werden, um sie von einem (guten) Editor (z.B. notepad++) anzeigen zu lassen:</a:t>
            </a:r>
          </a:p>
          <a:p>
            <a:endParaRPr lang="de-DE" dirty="0"/>
          </a:p>
          <a:p>
            <a:endParaRPr lang="de-DE" dirty="0"/>
          </a:p>
          <a:p>
            <a:endParaRPr lang="de-DE" sz="2600" b="1" dirty="0"/>
          </a:p>
        </p:txBody>
      </p:sp>
      <p:pic>
        <p:nvPicPr>
          <p:cNvPr id="14" name="Grafik 13"/>
          <p:cNvPicPr>
            <a:picLocks noChangeAspect="1"/>
          </p:cNvPicPr>
          <p:nvPr/>
        </p:nvPicPr>
        <p:blipFill>
          <a:blip r:embed="rId2"/>
          <a:stretch>
            <a:fillRect/>
          </a:stretch>
        </p:blipFill>
        <p:spPr>
          <a:xfrm>
            <a:off x="206178" y="1862519"/>
            <a:ext cx="11807296" cy="1197718"/>
          </a:xfrm>
          <a:prstGeom prst="rect">
            <a:avLst/>
          </a:prstGeom>
          <a:effectLst>
            <a:innerShdw blurRad="114300">
              <a:prstClr val="black"/>
            </a:innerShdw>
          </a:effectLst>
        </p:spPr>
      </p:pic>
    </p:spTree>
    <p:extLst>
      <p:ext uri="{BB962C8B-B14F-4D97-AF65-F5344CB8AC3E}">
        <p14:creationId xmlns:p14="http://schemas.microsoft.com/office/powerpoint/2010/main" val="360315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User anzeigen lassen (alle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sp>
        <p:nvSpPr>
          <p:cNvPr id="10" name="Textplatzhalter 11"/>
          <p:cNvSpPr>
            <a:spLocks noGrp="1"/>
          </p:cNvSpPr>
          <p:nvPr>
            <p:ph type="body" sz="quarter" idx="13"/>
          </p:nvPr>
        </p:nvSpPr>
        <p:spPr>
          <a:xfrm>
            <a:off x="361949" y="1271590"/>
            <a:ext cx="11495754" cy="714373"/>
          </a:xfrm>
        </p:spPr>
        <p:txBody>
          <a:bodyPr/>
          <a:lstStyle/>
          <a:p>
            <a:endParaRPr lang="de-DE" dirty="0"/>
          </a:p>
          <a:p>
            <a:endParaRPr lang="de-DE" dirty="0"/>
          </a:p>
        </p:txBody>
      </p:sp>
      <p:sp>
        <p:nvSpPr>
          <p:cNvPr id="11" name="Textfeld 10"/>
          <p:cNvSpPr txBox="1"/>
          <p:nvPr/>
        </p:nvSpPr>
        <p:spPr>
          <a:xfrm>
            <a:off x="206178" y="1427809"/>
            <a:ext cx="11807295" cy="1323439"/>
          </a:xfrm>
          <a:prstGeom prst="rect">
            <a:avLst/>
          </a:prstGeom>
          <a:noFill/>
        </p:spPr>
        <p:txBody>
          <a:bodyPr wrap="square" rtlCol="0">
            <a:spAutoFit/>
          </a:bodyPr>
          <a:lstStyle/>
          <a:p>
            <a:pPr algn="ctr"/>
            <a:r>
              <a:rPr lang="de-DE" dirty="0"/>
              <a:t>Die Konsolen-Ausgabe könnte kopiert werden, um sie von einem (guten) Editor (z.B. notepad++) anzeigen zu lassen:</a:t>
            </a:r>
          </a:p>
          <a:p>
            <a:endParaRPr lang="de-DE" dirty="0"/>
          </a:p>
          <a:p>
            <a:endParaRPr lang="de-DE" dirty="0"/>
          </a:p>
          <a:p>
            <a:endParaRPr lang="de-DE" sz="2600" b="1" dirty="0"/>
          </a:p>
        </p:txBody>
      </p:sp>
      <p:pic>
        <p:nvPicPr>
          <p:cNvPr id="14" name="Grafik 13"/>
          <p:cNvPicPr>
            <a:picLocks noChangeAspect="1"/>
          </p:cNvPicPr>
          <p:nvPr/>
        </p:nvPicPr>
        <p:blipFill>
          <a:blip r:embed="rId2"/>
          <a:stretch>
            <a:fillRect/>
          </a:stretch>
        </p:blipFill>
        <p:spPr>
          <a:xfrm>
            <a:off x="206178" y="1862519"/>
            <a:ext cx="11807296" cy="1197718"/>
          </a:xfrm>
          <a:prstGeom prst="rect">
            <a:avLst/>
          </a:prstGeom>
          <a:effectLst>
            <a:innerShdw blurRad="114300">
              <a:prstClr val="black"/>
            </a:innerShdw>
          </a:effectLst>
        </p:spPr>
      </p:pic>
      <p:sp>
        <p:nvSpPr>
          <p:cNvPr id="2" name="Rechteck 1"/>
          <p:cNvSpPr/>
          <p:nvPr/>
        </p:nvSpPr>
        <p:spPr>
          <a:xfrm>
            <a:off x="206178" y="1862519"/>
            <a:ext cx="866164" cy="1197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feld 2"/>
          <p:cNvSpPr txBox="1"/>
          <p:nvPr/>
        </p:nvSpPr>
        <p:spPr>
          <a:xfrm>
            <a:off x="166069" y="3187170"/>
            <a:ext cx="11377153" cy="615553"/>
          </a:xfrm>
          <a:prstGeom prst="rect">
            <a:avLst/>
          </a:prstGeom>
          <a:noFill/>
        </p:spPr>
        <p:txBody>
          <a:bodyPr wrap="none" rtlCol="0">
            <a:spAutoFit/>
          </a:bodyPr>
          <a:lstStyle/>
          <a:p>
            <a:r>
              <a:rPr lang="de-DE" b="1" dirty="0">
                <a:solidFill>
                  <a:schemeClr val="accent2"/>
                </a:solidFill>
              </a:rPr>
              <a:t>Der Ort, von dem aus sich der User einloggen darf.</a:t>
            </a:r>
          </a:p>
          <a:p>
            <a:r>
              <a:rPr lang="de-DE" sz="1600" dirty="0"/>
              <a:t>(da vom Host mittels Bezeichnung, oder in Form einer IP-Adresse gesprochen werden kann, ist es sinnvoll beide Versionen zu notieren)</a:t>
            </a:r>
          </a:p>
        </p:txBody>
      </p:sp>
    </p:spTree>
    <p:extLst>
      <p:ext uri="{BB962C8B-B14F-4D97-AF65-F5344CB8AC3E}">
        <p14:creationId xmlns:p14="http://schemas.microsoft.com/office/powerpoint/2010/main" val="335807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User anzeigen lassen (alle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sp>
        <p:nvSpPr>
          <p:cNvPr id="10" name="Textplatzhalter 11"/>
          <p:cNvSpPr>
            <a:spLocks noGrp="1"/>
          </p:cNvSpPr>
          <p:nvPr>
            <p:ph type="body" sz="quarter" idx="13"/>
          </p:nvPr>
        </p:nvSpPr>
        <p:spPr>
          <a:xfrm>
            <a:off x="361949" y="1271590"/>
            <a:ext cx="11495754" cy="714373"/>
          </a:xfrm>
        </p:spPr>
        <p:txBody>
          <a:bodyPr/>
          <a:lstStyle/>
          <a:p>
            <a:endParaRPr lang="de-DE" dirty="0"/>
          </a:p>
          <a:p>
            <a:endParaRPr lang="de-DE" dirty="0"/>
          </a:p>
        </p:txBody>
      </p:sp>
      <p:sp>
        <p:nvSpPr>
          <p:cNvPr id="11" name="Textfeld 10"/>
          <p:cNvSpPr txBox="1"/>
          <p:nvPr/>
        </p:nvSpPr>
        <p:spPr>
          <a:xfrm>
            <a:off x="206178" y="1427809"/>
            <a:ext cx="11807295" cy="1323439"/>
          </a:xfrm>
          <a:prstGeom prst="rect">
            <a:avLst/>
          </a:prstGeom>
          <a:noFill/>
        </p:spPr>
        <p:txBody>
          <a:bodyPr wrap="square" rtlCol="0">
            <a:spAutoFit/>
          </a:bodyPr>
          <a:lstStyle/>
          <a:p>
            <a:pPr algn="ctr"/>
            <a:r>
              <a:rPr lang="de-DE" dirty="0"/>
              <a:t>Die Konsolen-Ausgabe könnte kopiert werden, um sie von einem (guten) Editor (z.B. notepad++) anzeigen zu lassen:</a:t>
            </a:r>
          </a:p>
          <a:p>
            <a:endParaRPr lang="de-DE" dirty="0"/>
          </a:p>
          <a:p>
            <a:endParaRPr lang="de-DE" dirty="0"/>
          </a:p>
          <a:p>
            <a:endParaRPr lang="de-DE" sz="2600" b="1" dirty="0"/>
          </a:p>
        </p:txBody>
      </p:sp>
      <p:pic>
        <p:nvPicPr>
          <p:cNvPr id="14" name="Grafik 13"/>
          <p:cNvPicPr>
            <a:picLocks noChangeAspect="1"/>
          </p:cNvPicPr>
          <p:nvPr/>
        </p:nvPicPr>
        <p:blipFill>
          <a:blip r:embed="rId2"/>
          <a:stretch>
            <a:fillRect/>
          </a:stretch>
        </p:blipFill>
        <p:spPr>
          <a:xfrm>
            <a:off x="206178" y="1862519"/>
            <a:ext cx="11807296" cy="1197718"/>
          </a:xfrm>
          <a:prstGeom prst="rect">
            <a:avLst/>
          </a:prstGeom>
          <a:effectLst>
            <a:innerShdw blurRad="114300">
              <a:prstClr val="black"/>
            </a:innerShdw>
          </a:effectLst>
        </p:spPr>
      </p:pic>
      <p:sp>
        <p:nvSpPr>
          <p:cNvPr id="2" name="Rechteck 1"/>
          <p:cNvSpPr/>
          <p:nvPr/>
        </p:nvSpPr>
        <p:spPr>
          <a:xfrm flipH="1">
            <a:off x="1072342" y="1862519"/>
            <a:ext cx="451658" cy="1197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feld 2"/>
          <p:cNvSpPr txBox="1"/>
          <p:nvPr/>
        </p:nvSpPr>
        <p:spPr>
          <a:xfrm>
            <a:off x="166069" y="3187170"/>
            <a:ext cx="3315780" cy="615553"/>
          </a:xfrm>
          <a:prstGeom prst="rect">
            <a:avLst/>
          </a:prstGeom>
          <a:noFill/>
        </p:spPr>
        <p:txBody>
          <a:bodyPr wrap="none" rtlCol="0">
            <a:spAutoFit/>
          </a:bodyPr>
          <a:lstStyle/>
          <a:p>
            <a:r>
              <a:rPr lang="de-DE" b="1" dirty="0">
                <a:solidFill>
                  <a:schemeClr val="accent2"/>
                </a:solidFill>
              </a:rPr>
              <a:t>Name des Users</a:t>
            </a:r>
          </a:p>
          <a:p>
            <a:r>
              <a:rPr lang="de-DE" sz="1600" dirty="0"/>
              <a:t>(aktuell root und pma[phpMyAdmin])</a:t>
            </a:r>
          </a:p>
        </p:txBody>
      </p:sp>
    </p:spTree>
    <p:extLst>
      <p:ext uri="{BB962C8B-B14F-4D97-AF65-F5344CB8AC3E}">
        <p14:creationId xmlns:p14="http://schemas.microsoft.com/office/powerpoint/2010/main" val="5327152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User anzeigen lassen (alle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sp>
        <p:nvSpPr>
          <p:cNvPr id="10" name="Textplatzhalter 11"/>
          <p:cNvSpPr>
            <a:spLocks noGrp="1"/>
          </p:cNvSpPr>
          <p:nvPr>
            <p:ph type="body" sz="quarter" idx="13"/>
          </p:nvPr>
        </p:nvSpPr>
        <p:spPr>
          <a:xfrm>
            <a:off x="361949" y="1271590"/>
            <a:ext cx="11495754" cy="714373"/>
          </a:xfrm>
        </p:spPr>
        <p:txBody>
          <a:bodyPr/>
          <a:lstStyle/>
          <a:p>
            <a:endParaRPr lang="de-DE" dirty="0"/>
          </a:p>
          <a:p>
            <a:endParaRPr lang="de-DE" dirty="0"/>
          </a:p>
        </p:txBody>
      </p:sp>
      <p:sp>
        <p:nvSpPr>
          <p:cNvPr id="11" name="Textfeld 10"/>
          <p:cNvSpPr txBox="1"/>
          <p:nvPr/>
        </p:nvSpPr>
        <p:spPr>
          <a:xfrm>
            <a:off x="206178" y="1427809"/>
            <a:ext cx="11807295" cy="1323439"/>
          </a:xfrm>
          <a:prstGeom prst="rect">
            <a:avLst/>
          </a:prstGeom>
          <a:noFill/>
        </p:spPr>
        <p:txBody>
          <a:bodyPr wrap="square" rtlCol="0">
            <a:spAutoFit/>
          </a:bodyPr>
          <a:lstStyle/>
          <a:p>
            <a:pPr algn="ctr"/>
            <a:r>
              <a:rPr lang="de-DE" dirty="0"/>
              <a:t>Die Konsolen-Ausgabe könnte kopiert werden, um sie von einem (guten) Editor (z.B. notepad++) anzeigen zu lassen:</a:t>
            </a:r>
          </a:p>
          <a:p>
            <a:endParaRPr lang="de-DE" dirty="0"/>
          </a:p>
          <a:p>
            <a:endParaRPr lang="de-DE" dirty="0"/>
          </a:p>
          <a:p>
            <a:endParaRPr lang="de-DE" sz="2600" b="1" dirty="0"/>
          </a:p>
        </p:txBody>
      </p:sp>
      <p:pic>
        <p:nvPicPr>
          <p:cNvPr id="14" name="Grafik 13"/>
          <p:cNvPicPr>
            <a:picLocks noChangeAspect="1"/>
          </p:cNvPicPr>
          <p:nvPr/>
        </p:nvPicPr>
        <p:blipFill>
          <a:blip r:embed="rId2"/>
          <a:stretch>
            <a:fillRect/>
          </a:stretch>
        </p:blipFill>
        <p:spPr>
          <a:xfrm>
            <a:off x="206178" y="1862519"/>
            <a:ext cx="11807296" cy="1197718"/>
          </a:xfrm>
          <a:prstGeom prst="rect">
            <a:avLst/>
          </a:prstGeom>
          <a:effectLst>
            <a:innerShdw blurRad="114300">
              <a:prstClr val="black"/>
            </a:innerShdw>
          </a:effectLst>
        </p:spPr>
      </p:pic>
      <p:sp>
        <p:nvSpPr>
          <p:cNvPr id="2" name="Rechteck 1"/>
          <p:cNvSpPr/>
          <p:nvPr/>
        </p:nvSpPr>
        <p:spPr>
          <a:xfrm>
            <a:off x="1524000" y="1862519"/>
            <a:ext cx="762000" cy="1197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feld 2"/>
          <p:cNvSpPr txBox="1"/>
          <p:nvPr/>
        </p:nvSpPr>
        <p:spPr>
          <a:xfrm>
            <a:off x="166069" y="3187170"/>
            <a:ext cx="4019498" cy="615553"/>
          </a:xfrm>
          <a:prstGeom prst="rect">
            <a:avLst/>
          </a:prstGeom>
          <a:noFill/>
        </p:spPr>
        <p:txBody>
          <a:bodyPr wrap="none" rtlCol="0">
            <a:spAutoFit/>
          </a:bodyPr>
          <a:lstStyle/>
          <a:p>
            <a:r>
              <a:rPr lang="de-DE" b="1" dirty="0">
                <a:solidFill>
                  <a:schemeClr val="accent2"/>
                </a:solidFill>
              </a:rPr>
              <a:t>Passwort</a:t>
            </a:r>
          </a:p>
          <a:p>
            <a:r>
              <a:rPr lang="de-DE" sz="1600" dirty="0"/>
              <a:t>(weder root, noch pma benötigt ein Passwort)</a:t>
            </a:r>
          </a:p>
        </p:txBody>
      </p:sp>
    </p:spTree>
    <p:extLst>
      <p:ext uri="{BB962C8B-B14F-4D97-AF65-F5344CB8AC3E}">
        <p14:creationId xmlns:p14="http://schemas.microsoft.com/office/powerpoint/2010/main" val="1170163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0868075"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de-DE" sz="4000" dirty="0">
                <a:latin typeface="Source Sans Pro" panose="020B0503030403020204" pitchFamily="34" charset="0"/>
              </a:rPr>
              <a:t>Aktuelle User anzeigen lassen (alle Attribute)</a:t>
            </a:r>
            <a:endParaRPr kumimoji="0" lang="de-DE" sz="4000" b="0" i="1" u="none" strike="noStrike" kern="1200" cap="none" spc="0" normalizeH="0" baseline="0" noProof="0" dirty="0">
              <a:ln>
                <a:noFill/>
              </a:ln>
              <a:effectLst/>
              <a:uLnTx/>
              <a:uFillTx/>
              <a:latin typeface="Source Sans Pro" panose="020B0503030403020204" pitchFamily="34" charset="0"/>
            </a:endParaRPr>
          </a:p>
        </p:txBody>
      </p:sp>
      <p:sp>
        <p:nvSpPr>
          <p:cNvPr id="10" name="Textplatzhalter 11"/>
          <p:cNvSpPr>
            <a:spLocks noGrp="1"/>
          </p:cNvSpPr>
          <p:nvPr>
            <p:ph type="body" sz="quarter" idx="13"/>
          </p:nvPr>
        </p:nvSpPr>
        <p:spPr>
          <a:xfrm>
            <a:off x="361949" y="1271590"/>
            <a:ext cx="11495754" cy="714373"/>
          </a:xfrm>
        </p:spPr>
        <p:txBody>
          <a:bodyPr/>
          <a:lstStyle/>
          <a:p>
            <a:endParaRPr lang="de-DE" dirty="0"/>
          </a:p>
          <a:p>
            <a:endParaRPr lang="de-DE" dirty="0"/>
          </a:p>
        </p:txBody>
      </p:sp>
      <p:sp>
        <p:nvSpPr>
          <p:cNvPr id="11" name="Textfeld 10"/>
          <p:cNvSpPr txBox="1"/>
          <p:nvPr/>
        </p:nvSpPr>
        <p:spPr>
          <a:xfrm>
            <a:off x="206178" y="1427809"/>
            <a:ext cx="11807295" cy="1323439"/>
          </a:xfrm>
          <a:prstGeom prst="rect">
            <a:avLst/>
          </a:prstGeom>
          <a:noFill/>
        </p:spPr>
        <p:txBody>
          <a:bodyPr wrap="square" rtlCol="0">
            <a:spAutoFit/>
          </a:bodyPr>
          <a:lstStyle/>
          <a:p>
            <a:pPr algn="ctr"/>
            <a:r>
              <a:rPr lang="de-DE" dirty="0"/>
              <a:t>Die Konsolen-Ausgabe könnte kopiert werden, um sie von einem (guten) Editor (z.B. notepad++) anzeigen zu lassen:</a:t>
            </a:r>
          </a:p>
          <a:p>
            <a:endParaRPr lang="de-DE" dirty="0"/>
          </a:p>
          <a:p>
            <a:endParaRPr lang="de-DE" dirty="0"/>
          </a:p>
          <a:p>
            <a:endParaRPr lang="de-DE" sz="2600" b="1" dirty="0"/>
          </a:p>
        </p:txBody>
      </p:sp>
      <p:pic>
        <p:nvPicPr>
          <p:cNvPr id="14" name="Grafik 13"/>
          <p:cNvPicPr>
            <a:picLocks noChangeAspect="1"/>
          </p:cNvPicPr>
          <p:nvPr/>
        </p:nvPicPr>
        <p:blipFill>
          <a:blip r:embed="rId2"/>
          <a:stretch>
            <a:fillRect/>
          </a:stretch>
        </p:blipFill>
        <p:spPr>
          <a:xfrm>
            <a:off x="206178" y="1862519"/>
            <a:ext cx="11807296" cy="1197718"/>
          </a:xfrm>
          <a:prstGeom prst="rect">
            <a:avLst/>
          </a:prstGeom>
          <a:effectLst>
            <a:innerShdw blurRad="114300">
              <a:prstClr val="black"/>
            </a:innerShdw>
          </a:effectLst>
        </p:spPr>
      </p:pic>
      <p:sp>
        <p:nvSpPr>
          <p:cNvPr id="2" name="Rechteck 1"/>
          <p:cNvSpPr/>
          <p:nvPr/>
        </p:nvSpPr>
        <p:spPr>
          <a:xfrm flipH="1">
            <a:off x="2285999" y="1862519"/>
            <a:ext cx="947651" cy="119771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extfeld 2"/>
          <p:cNvSpPr txBox="1"/>
          <p:nvPr/>
        </p:nvSpPr>
        <p:spPr>
          <a:xfrm>
            <a:off x="166069" y="3187170"/>
            <a:ext cx="7714163" cy="615553"/>
          </a:xfrm>
          <a:prstGeom prst="rect">
            <a:avLst/>
          </a:prstGeom>
          <a:noFill/>
        </p:spPr>
        <p:txBody>
          <a:bodyPr wrap="none" rtlCol="0">
            <a:spAutoFit/>
          </a:bodyPr>
          <a:lstStyle/>
          <a:p>
            <a:r>
              <a:rPr lang="de-DE" b="1" dirty="0">
                <a:solidFill>
                  <a:schemeClr val="accent2"/>
                </a:solidFill>
              </a:rPr>
              <a:t>SQL-Statement_priv spricht an, welche Rechte („Privilegien“) vergeben wurden</a:t>
            </a:r>
          </a:p>
          <a:p>
            <a:r>
              <a:rPr lang="de-DE" sz="1600" dirty="0"/>
              <a:t>(root besitzt alle Rechte, pma keine)</a:t>
            </a:r>
          </a:p>
        </p:txBody>
      </p:sp>
      <p:sp>
        <p:nvSpPr>
          <p:cNvPr id="6" name="Textfeld 5"/>
          <p:cNvSpPr txBox="1"/>
          <p:nvPr/>
        </p:nvSpPr>
        <p:spPr>
          <a:xfrm>
            <a:off x="2353927" y="2220154"/>
            <a:ext cx="497337" cy="276999"/>
          </a:xfrm>
          <a:prstGeom prst="rect">
            <a:avLst/>
          </a:prstGeom>
          <a:noFill/>
        </p:spPr>
        <p:txBody>
          <a:bodyPr wrap="square" rtlCol="0">
            <a:spAutoFit/>
          </a:bodyPr>
          <a:lstStyle/>
          <a:p>
            <a:r>
              <a:rPr lang="de-DE" sz="1200" dirty="0">
                <a:solidFill>
                  <a:srgbClr val="FF0000"/>
                </a:solidFill>
              </a:rPr>
              <a:t> (ES)</a:t>
            </a:r>
          </a:p>
        </p:txBody>
      </p:sp>
      <p:sp>
        <p:nvSpPr>
          <p:cNvPr id="13" name="Textfeld 12"/>
          <p:cNvSpPr txBox="1"/>
          <p:nvPr/>
        </p:nvSpPr>
        <p:spPr>
          <a:xfrm>
            <a:off x="2353927" y="2676215"/>
            <a:ext cx="497337" cy="276999"/>
          </a:xfrm>
          <a:prstGeom prst="rect">
            <a:avLst/>
          </a:prstGeom>
          <a:noFill/>
        </p:spPr>
        <p:txBody>
          <a:bodyPr wrap="square" rtlCol="0">
            <a:spAutoFit/>
          </a:bodyPr>
          <a:lstStyle/>
          <a:p>
            <a:r>
              <a:rPr lang="de-DE" sz="1200" dirty="0">
                <a:solidFill>
                  <a:srgbClr val="FF0000"/>
                </a:solidFill>
              </a:rPr>
              <a:t> (O)</a:t>
            </a:r>
          </a:p>
        </p:txBody>
      </p:sp>
    </p:spTree>
    <p:extLst>
      <p:ext uri="{BB962C8B-B14F-4D97-AF65-F5344CB8AC3E}">
        <p14:creationId xmlns:p14="http://schemas.microsoft.com/office/powerpoint/2010/main" val="2018289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Aktuelle </a:t>
            </a:r>
            <a:r>
              <a:rPr kumimoji="0" lang="de-DE" sz="40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User</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anzeigen lassen (</a:t>
            </a:r>
            <a:r>
              <a:rPr kumimoji="0" lang="de-DE" sz="4000" b="1" i="0"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rPr>
              <a:t>ausgewählte</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 Attribute)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32933" y="1553962"/>
            <a:ext cx="7876338" cy="4091499"/>
          </a:xfrm>
          <a:prstGeom prst="rect">
            <a:avLst/>
          </a:prstGeom>
          <a:effectLst>
            <a:innerShdw blurRad="114300">
              <a:prstClr val="black"/>
            </a:innerShdw>
          </a:effectLst>
        </p:spPr>
      </p:pic>
      <p:sp>
        <p:nvSpPr>
          <p:cNvPr id="10" name="Ellipse 9"/>
          <p:cNvSpPr/>
          <p:nvPr/>
        </p:nvSpPr>
        <p:spPr>
          <a:xfrm>
            <a:off x="2212857" y="4016601"/>
            <a:ext cx="2583587" cy="3392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110686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Neuen User </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anlegen</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141246" y="1546845"/>
            <a:ext cx="7876338" cy="4107639"/>
          </a:xfrm>
          <a:prstGeom prst="rect">
            <a:avLst/>
          </a:prstGeom>
          <a:effectLst>
            <a:innerShdw blurRad="114300">
              <a:prstClr val="black"/>
            </a:innerShdw>
          </a:effectLst>
        </p:spPr>
      </p:pic>
      <p:sp>
        <p:nvSpPr>
          <p:cNvPr id="6" name="Rechteck 5"/>
          <p:cNvSpPr/>
          <p:nvPr/>
        </p:nvSpPr>
        <p:spPr>
          <a:xfrm>
            <a:off x="2269375" y="3050771"/>
            <a:ext cx="4189614"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p:cNvSpPr txBox="1"/>
          <p:nvPr/>
        </p:nvSpPr>
        <p:spPr>
          <a:xfrm>
            <a:off x="4171827" y="1945339"/>
            <a:ext cx="4014048" cy="923330"/>
          </a:xfrm>
          <a:prstGeom prst="rect">
            <a:avLst/>
          </a:prstGeom>
          <a:solidFill>
            <a:schemeClr val="bg1"/>
          </a:solidFill>
        </p:spPr>
        <p:txBody>
          <a:bodyPr wrap="none" rtlCol="0">
            <a:spAutoFit/>
          </a:bodyPr>
          <a:lstStyle/>
          <a:p>
            <a:pPr algn="ctr"/>
            <a:r>
              <a:rPr lang="de-DE" dirty="0"/>
              <a:t>Der User </a:t>
            </a:r>
            <a:r>
              <a:rPr lang="de-DE" b="1" dirty="0"/>
              <a:t>Neuling</a:t>
            </a:r>
            <a:r>
              <a:rPr lang="de-DE" dirty="0"/>
              <a:t> wird angelegt.</a:t>
            </a:r>
          </a:p>
          <a:p>
            <a:pPr algn="ctr"/>
            <a:r>
              <a:rPr lang="de-DE" dirty="0"/>
              <a:t>Er darf sich vom </a:t>
            </a:r>
            <a:r>
              <a:rPr lang="de-DE" b="1" dirty="0"/>
              <a:t>localhost</a:t>
            </a:r>
            <a:r>
              <a:rPr lang="de-DE" dirty="0"/>
              <a:t> aus anmelden.</a:t>
            </a:r>
          </a:p>
          <a:p>
            <a:pPr algn="ctr"/>
            <a:r>
              <a:rPr lang="de-DE" dirty="0"/>
              <a:t>Sein Passwort lautet </a:t>
            </a:r>
            <a:r>
              <a:rPr lang="de-DE" b="1" dirty="0"/>
              <a:t>sein_Passwort.</a:t>
            </a:r>
          </a:p>
        </p:txBody>
      </p:sp>
    </p:spTree>
    <p:extLst>
      <p:ext uri="{BB962C8B-B14F-4D97-AF65-F5344CB8AC3E}">
        <p14:creationId xmlns:p14="http://schemas.microsoft.com/office/powerpoint/2010/main" val="3452304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Neuen User </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anlegen</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141246" y="1546845"/>
            <a:ext cx="7876338" cy="4107639"/>
          </a:xfrm>
          <a:prstGeom prst="rect">
            <a:avLst/>
          </a:prstGeom>
          <a:effectLst>
            <a:innerShdw blurRad="114300">
              <a:prstClr val="black"/>
            </a:innerShdw>
          </a:effectLst>
        </p:spPr>
      </p:pic>
      <p:sp>
        <p:nvSpPr>
          <p:cNvPr id="13" name="Rechteck 12"/>
          <p:cNvSpPr/>
          <p:nvPr/>
        </p:nvSpPr>
        <p:spPr>
          <a:xfrm>
            <a:off x="2269375" y="3442722"/>
            <a:ext cx="4189614" cy="15794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extfeld 9"/>
          <p:cNvSpPr txBox="1"/>
          <p:nvPr/>
        </p:nvSpPr>
        <p:spPr>
          <a:xfrm>
            <a:off x="4083695" y="1945339"/>
            <a:ext cx="4190314" cy="923330"/>
          </a:xfrm>
          <a:prstGeom prst="rect">
            <a:avLst/>
          </a:prstGeom>
          <a:solidFill>
            <a:schemeClr val="bg1"/>
          </a:solidFill>
        </p:spPr>
        <p:txBody>
          <a:bodyPr wrap="none" rtlCol="0">
            <a:spAutoFit/>
          </a:bodyPr>
          <a:lstStyle/>
          <a:p>
            <a:pPr algn="ctr"/>
            <a:r>
              <a:rPr lang="de-DE" dirty="0"/>
              <a:t>Der User </a:t>
            </a:r>
            <a:r>
              <a:rPr lang="de-DE" b="1" dirty="0"/>
              <a:t>Neuling</a:t>
            </a:r>
            <a:r>
              <a:rPr lang="de-DE" dirty="0"/>
              <a:t> wird erneut angelegt.</a:t>
            </a:r>
          </a:p>
          <a:p>
            <a:pPr algn="ctr"/>
            <a:r>
              <a:rPr lang="de-DE" dirty="0"/>
              <a:t>Diesmal aber mit der</a:t>
            </a:r>
            <a:r>
              <a:rPr lang="de-DE" b="1" dirty="0"/>
              <a:t> IP-Adresse </a:t>
            </a:r>
            <a:r>
              <a:rPr lang="de-DE" dirty="0"/>
              <a:t>des Host.</a:t>
            </a:r>
          </a:p>
          <a:p>
            <a:pPr algn="ctr"/>
            <a:r>
              <a:rPr lang="de-DE" dirty="0"/>
              <a:t>Sein Passwort lautet erneut </a:t>
            </a:r>
            <a:r>
              <a:rPr lang="de-DE" b="1" dirty="0"/>
              <a:t>sein_Passwort</a:t>
            </a:r>
          </a:p>
        </p:txBody>
      </p:sp>
    </p:spTree>
    <p:extLst>
      <p:ext uri="{BB962C8B-B14F-4D97-AF65-F5344CB8AC3E}">
        <p14:creationId xmlns:p14="http://schemas.microsoft.com/office/powerpoint/2010/main" val="3129655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Neuen User </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anlegen</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141246" y="1546845"/>
            <a:ext cx="7876338" cy="4107639"/>
          </a:xfrm>
          <a:prstGeom prst="rect">
            <a:avLst/>
          </a:prstGeom>
          <a:effectLst>
            <a:innerShdw blurRad="114300">
              <a:prstClr val="black"/>
            </a:innerShdw>
          </a:effectLst>
        </p:spPr>
      </p:pic>
      <p:sp>
        <p:nvSpPr>
          <p:cNvPr id="14" name="Rechteck 13"/>
          <p:cNvSpPr/>
          <p:nvPr/>
        </p:nvSpPr>
        <p:spPr>
          <a:xfrm>
            <a:off x="2269375" y="3842089"/>
            <a:ext cx="2751512" cy="1563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extfeld 9"/>
          <p:cNvSpPr txBox="1"/>
          <p:nvPr/>
        </p:nvSpPr>
        <p:spPr>
          <a:xfrm>
            <a:off x="5629102" y="4489033"/>
            <a:ext cx="1698029" cy="369332"/>
          </a:xfrm>
          <a:prstGeom prst="rect">
            <a:avLst/>
          </a:prstGeom>
          <a:solidFill>
            <a:schemeClr val="bg1"/>
          </a:solidFill>
        </p:spPr>
        <p:txBody>
          <a:bodyPr wrap="none" rtlCol="0">
            <a:spAutoFit/>
          </a:bodyPr>
          <a:lstStyle/>
          <a:p>
            <a:pPr algn="ctr"/>
            <a:r>
              <a:rPr lang="de-DE" dirty="0"/>
              <a:t>Kontrollausgabe</a:t>
            </a:r>
            <a:endParaRPr lang="de-DE" b="1" dirty="0"/>
          </a:p>
        </p:txBody>
      </p:sp>
    </p:spTree>
    <p:extLst>
      <p:ext uri="{BB962C8B-B14F-4D97-AF65-F5344CB8AC3E}">
        <p14:creationId xmlns:p14="http://schemas.microsoft.com/office/powerpoint/2010/main" val="224464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a:t>
            </a: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eines neuen Users - Kontrollausgabe</a:t>
            </a:r>
            <a:endParaRPr kumimoji="0" lang="de-DE" sz="4000" b="0" i="1"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24620" y="1537336"/>
            <a:ext cx="7883756" cy="4107639"/>
          </a:xfrm>
          <a:prstGeom prst="rect">
            <a:avLst/>
          </a:prstGeom>
          <a:effectLst>
            <a:innerShdw blurRad="114300">
              <a:prstClr val="black"/>
            </a:innerShdw>
          </a:effectLst>
        </p:spPr>
      </p:pic>
      <p:sp>
        <p:nvSpPr>
          <p:cNvPr id="11" name="Rechteck 10"/>
          <p:cNvSpPr/>
          <p:nvPr/>
        </p:nvSpPr>
        <p:spPr>
          <a:xfrm>
            <a:off x="2269375" y="3842090"/>
            <a:ext cx="3524596" cy="1480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3" name="Textfeld 12"/>
          <p:cNvSpPr txBox="1"/>
          <p:nvPr/>
        </p:nvSpPr>
        <p:spPr>
          <a:xfrm>
            <a:off x="4492973" y="4255856"/>
            <a:ext cx="3704284" cy="923330"/>
          </a:xfrm>
          <a:prstGeom prst="rect">
            <a:avLst/>
          </a:prstGeom>
          <a:solidFill>
            <a:schemeClr val="bg1"/>
          </a:solidFill>
        </p:spPr>
        <p:txBody>
          <a:bodyPr wrap="none" rtlCol="0">
            <a:spAutoFit/>
          </a:bodyPr>
          <a:lstStyle/>
          <a:p>
            <a:pPr algn="ctr"/>
            <a:r>
              <a:rPr lang="de-DE" dirty="0"/>
              <a:t>Ein neuer User besitzt </a:t>
            </a:r>
            <a:r>
              <a:rPr lang="de-DE" b="1" dirty="0"/>
              <a:t>keine</a:t>
            </a:r>
            <a:r>
              <a:rPr lang="de-DE" dirty="0"/>
              <a:t> Rechte.</a:t>
            </a:r>
          </a:p>
          <a:p>
            <a:pPr algn="ctr"/>
            <a:r>
              <a:rPr lang="de-DE" dirty="0"/>
              <a:t>Hier exemplarisch an den Rechten für</a:t>
            </a:r>
          </a:p>
          <a:p>
            <a:pPr algn="ctr"/>
            <a:r>
              <a:rPr lang="de-DE" b="1" dirty="0"/>
              <a:t>INSERT</a:t>
            </a:r>
            <a:r>
              <a:rPr lang="de-DE" dirty="0"/>
              <a:t> und </a:t>
            </a:r>
            <a:r>
              <a:rPr lang="de-DE" b="1" dirty="0"/>
              <a:t>SELECT</a:t>
            </a:r>
            <a:r>
              <a:rPr lang="de-DE" dirty="0"/>
              <a:t> demonstriert.</a:t>
            </a:r>
            <a:endParaRPr lang="de-DE" b="1" dirty="0"/>
          </a:p>
        </p:txBody>
      </p:sp>
      <p:sp>
        <p:nvSpPr>
          <p:cNvPr id="15" name="Rechteck 14"/>
          <p:cNvSpPr/>
          <p:nvPr/>
        </p:nvSpPr>
        <p:spPr>
          <a:xfrm>
            <a:off x="1191491" y="4493254"/>
            <a:ext cx="1726276" cy="1286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570780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 </a:t>
            </a:r>
            <a:r>
              <a:rPr kumimoji="0" lang="de-DE" sz="4000" b="1" i="0"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rPr>
              <a:t>(global)</a:t>
            </a:r>
            <a:endParaRPr kumimoji="0" lang="de-DE" sz="4000" b="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pic>
        <p:nvPicPr>
          <p:cNvPr id="6" name="Grafik 5"/>
          <p:cNvPicPr>
            <a:picLocks noChangeAspect="1"/>
          </p:cNvPicPr>
          <p:nvPr/>
        </p:nvPicPr>
        <p:blipFill>
          <a:blip r:embed="rId2"/>
          <a:stretch>
            <a:fillRect/>
          </a:stretch>
        </p:blipFill>
        <p:spPr>
          <a:xfrm>
            <a:off x="1132933" y="1526829"/>
            <a:ext cx="7883756" cy="4111508"/>
          </a:xfrm>
          <a:prstGeom prst="rect">
            <a:avLst/>
          </a:prstGeom>
          <a:effectLst>
            <a:innerShdw blurRad="114300">
              <a:prstClr val="black"/>
            </a:innerShdw>
          </a:effectLst>
        </p:spPr>
      </p:pic>
      <p:sp>
        <p:nvSpPr>
          <p:cNvPr id="14" name="Rechteck 13"/>
          <p:cNvSpPr/>
          <p:nvPr/>
        </p:nvSpPr>
        <p:spPr>
          <a:xfrm>
            <a:off x="2254496" y="3423631"/>
            <a:ext cx="2951017" cy="1589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7" name="Rechteck 16"/>
          <p:cNvSpPr/>
          <p:nvPr/>
        </p:nvSpPr>
        <p:spPr>
          <a:xfrm>
            <a:off x="1233876" y="4474935"/>
            <a:ext cx="2432037" cy="138629"/>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p:cNvSpPr txBox="1"/>
          <p:nvPr/>
        </p:nvSpPr>
        <p:spPr>
          <a:xfrm>
            <a:off x="4649325" y="4112909"/>
            <a:ext cx="3938706" cy="954107"/>
          </a:xfrm>
          <a:prstGeom prst="rect">
            <a:avLst/>
          </a:prstGeom>
          <a:solidFill>
            <a:schemeClr val="bg1"/>
          </a:solidFill>
        </p:spPr>
        <p:txBody>
          <a:bodyPr wrap="none" rtlCol="0">
            <a:spAutoFit/>
          </a:bodyPr>
          <a:lstStyle/>
          <a:p>
            <a:pPr algn="ctr"/>
            <a:r>
              <a:rPr lang="de-DE" sz="1400" dirty="0"/>
              <a:t>Es wird das Recht vergeben, </a:t>
            </a:r>
            <a:r>
              <a:rPr lang="de-DE" sz="1400" b="1" dirty="0">
                <a:solidFill>
                  <a:srgbClr val="00B050"/>
                </a:solidFill>
              </a:rPr>
              <a:t>SELECT</a:t>
            </a:r>
            <a:r>
              <a:rPr lang="de-DE" sz="1400" dirty="0"/>
              <a:t> zu verwenden.</a:t>
            </a:r>
          </a:p>
          <a:p>
            <a:pPr algn="ctr"/>
            <a:r>
              <a:rPr lang="de-DE" sz="1400" dirty="0"/>
              <a:t>Für</a:t>
            </a:r>
            <a:r>
              <a:rPr lang="de-DE" sz="1400" b="1" dirty="0"/>
              <a:t> alle Datenbanken (*.) </a:t>
            </a:r>
            <a:r>
              <a:rPr lang="de-DE" sz="1400" dirty="0"/>
              <a:t>und für </a:t>
            </a:r>
            <a:r>
              <a:rPr lang="de-DE" sz="1400" b="1" dirty="0"/>
              <a:t>alle Tabellen (.*)</a:t>
            </a:r>
          </a:p>
          <a:p>
            <a:pPr algn="ctr"/>
            <a:r>
              <a:rPr lang="de-DE" sz="1400" dirty="0">
                <a:solidFill>
                  <a:schemeClr val="bg1"/>
                </a:solidFill>
              </a:rPr>
              <a:t>Empfänger dieses Rechts ist </a:t>
            </a:r>
            <a:r>
              <a:rPr lang="de-DE" sz="1400" b="1" dirty="0">
                <a:solidFill>
                  <a:schemeClr val="bg1"/>
                </a:solidFill>
              </a:rPr>
              <a:t>Neuling (localhost).</a:t>
            </a:r>
          </a:p>
          <a:p>
            <a:pPr algn="ctr"/>
            <a:r>
              <a:rPr lang="de-DE" sz="1400" b="1" dirty="0">
                <a:solidFill>
                  <a:schemeClr val="bg1"/>
                </a:solidFill>
              </a:rPr>
              <a:t>Neuling (127.0.0.1) </a:t>
            </a:r>
            <a:r>
              <a:rPr lang="de-DE" sz="1400" dirty="0">
                <a:solidFill>
                  <a:schemeClr val="bg1"/>
                </a:solidFill>
              </a:rPr>
              <a:t>hat dieses Recht </a:t>
            </a:r>
            <a:r>
              <a:rPr lang="de-DE" sz="1400" b="1" dirty="0">
                <a:solidFill>
                  <a:schemeClr val="bg1"/>
                </a:solidFill>
              </a:rPr>
              <a:t>nicht </a:t>
            </a:r>
            <a:r>
              <a:rPr lang="de-DE" sz="1400" dirty="0">
                <a:solidFill>
                  <a:schemeClr val="bg1"/>
                </a:solidFill>
              </a:rPr>
              <a:t>erhalten</a:t>
            </a:r>
          </a:p>
        </p:txBody>
      </p:sp>
      <p:pic>
        <p:nvPicPr>
          <p:cNvPr id="9" name="Grafik 8"/>
          <p:cNvPicPr>
            <a:picLocks noChangeAspect="1"/>
          </p:cNvPicPr>
          <p:nvPr/>
        </p:nvPicPr>
        <p:blipFill>
          <a:blip r:embed="rId3"/>
          <a:stretch>
            <a:fillRect/>
          </a:stretch>
        </p:blipFill>
        <p:spPr>
          <a:xfrm>
            <a:off x="2737398" y="2402321"/>
            <a:ext cx="200025" cy="171450"/>
          </a:xfrm>
          <a:prstGeom prst="rect">
            <a:avLst/>
          </a:prstGeom>
        </p:spPr>
      </p:pic>
      <p:sp>
        <p:nvSpPr>
          <p:cNvPr id="18" name="Ellipse 17"/>
          <p:cNvSpPr/>
          <p:nvPr/>
        </p:nvSpPr>
        <p:spPr>
          <a:xfrm>
            <a:off x="3449171" y="4447309"/>
            <a:ext cx="290945" cy="166255"/>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94166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animBg="1"/>
      <p:bldP spid="16"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 </a:t>
            </a:r>
            <a:r>
              <a:rPr lang="de-DE" sz="4000" dirty="0">
                <a:solidFill>
                  <a:schemeClr val="accent2">
                    <a:lumMod val="50000"/>
                  </a:schemeClr>
                </a:solidFill>
                <a:latin typeface="Source Sans Pro" panose="020B0503030403020204" pitchFamily="34" charset="0"/>
              </a:rPr>
              <a:t>(global)</a:t>
            </a:r>
            <a:endParaRPr lang="de-DE" sz="4000" b="0" i="1" dirty="0">
              <a:solidFill>
                <a:schemeClr val="accent2">
                  <a:lumMod val="50000"/>
                </a:schemeClr>
              </a:solidFill>
              <a:latin typeface="Source Sans Pro" panose="020B0503030403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6" name="Grafik 5"/>
          <p:cNvPicPr>
            <a:picLocks noChangeAspect="1"/>
          </p:cNvPicPr>
          <p:nvPr/>
        </p:nvPicPr>
        <p:blipFill>
          <a:blip r:embed="rId2"/>
          <a:stretch>
            <a:fillRect/>
          </a:stretch>
        </p:blipFill>
        <p:spPr>
          <a:xfrm>
            <a:off x="1124621" y="1526829"/>
            <a:ext cx="7883756" cy="4111508"/>
          </a:xfrm>
          <a:prstGeom prst="rect">
            <a:avLst/>
          </a:prstGeom>
          <a:effectLst>
            <a:innerShdw blurRad="114300">
              <a:prstClr val="black"/>
            </a:innerShdw>
          </a:effectLst>
        </p:spPr>
      </p:pic>
      <p:sp>
        <p:nvSpPr>
          <p:cNvPr id="14" name="Rechteck 13"/>
          <p:cNvSpPr/>
          <p:nvPr/>
        </p:nvSpPr>
        <p:spPr>
          <a:xfrm>
            <a:off x="2254496" y="3423631"/>
            <a:ext cx="2951017" cy="15895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7" name="Rechteck 16"/>
          <p:cNvSpPr/>
          <p:nvPr/>
        </p:nvSpPr>
        <p:spPr>
          <a:xfrm>
            <a:off x="1233876" y="4474935"/>
            <a:ext cx="2432037" cy="138629"/>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 name="Textfeld 15"/>
          <p:cNvSpPr txBox="1"/>
          <p:nvPr/>
        </p:nvSpPr>
        <p:spPr>
          <a:xfrm>
            <a:off x="4649325" y="4112909"/>
            <a:ext cx="3938706" cy="954107"/>
          </a:xfrm>
          <a:prstGeom prst="rect">
            <a:avLst/>
          </a:prstGeom>
          <a:solidFill>
            <a:schemeClr val="bg1"/>
          </a:solidFill>
        </p:spPr>
        <p:txBody>
          <a:bodyPr wrap="none" rtlCol="0">
            <a:spAutoFit/>
          </a:bodyPr>
          <a:lstStyle/>
          <a:p>
            <a:pPr algn="ctr"/>
            <a:r>
              <a:rPr lang="de-DE" sz="1400" dirty="0"/>
              <a:t>Es wird das Recht vergeben, </a:t>
            </a:r>
            <a:r>
              <a:rPr lang="de-DE" sz="1400" b="1" dirty="0">
                <a:solidFill>
                  <a:srgbClr val="00B050"/>
                </a:solidFill>
              </a:rPr>
              <a:t>SELECT</a:t>
            </a:r>
            <a:r>
              <a:rPr lang="de-DE" sz="1400" dirty="0"/>
              <a:t> zu verwenden.</a:t>
            </a:r>
          </a:p>
          <a:p>
            <a:pPr algn="ctr"/>
            <a:r>
              <a:rPr lang="de-DE" sz="1400" dirty="0"/>
              <a:t>Für</a:t>
            </a:r>
            <a:r>
              <a:rPr lang="de-DE" sz="1400" b="1" dirty="0"/>
              <a:t> alle Datenbanken (*.) </a:t>
            </a:r>
            <a:r>
              <a:rPr lang="de-DE" sz="1400" dirty="0"/>
              <a:t>und für </a:t>
            </a:r>
            <a:r>
              <a:rPr lang="de-DE" sz="1400" b="1" dirty="0"/>
              <a:t>alle Tabellen (.*)</a:t>
            </a:r>
          </a:p>
          <a:p>
            <a:pPr algn="ctr"/>
            <a:r>
              <a:rPr lang="de-DE" sz="1400" dirty="0"/>
              <a:t>Empfänger dieses Rechts ist </a:t>
            </a:r>
            <a:r>
              <a:rPr lang="de-DE" sz="1400" b="1" dirty="0"/>
              <a:t>Neuling (localhost).</a:t>
            </a:r>
          </a:p>
          <a:p>
            <a:pPr algn="ctr"/>
            <a:r>
              <a:rPr lang="de-DE" sz="1400" b="1" dirty="0"/>
              <a:t>Neuling (127.0.0.1) </a:t>
            </a:r>
            <a:r>
              <a:rPr lang="de-DE" sz="1400" dirty="0"/>
              <a:t>hat dieses Recht </a:t>
            </a:r>
            <a:r>
              <a:rPr lang="de-DE" sz="1400" b="1" dirty="0">
                <a:solidFill>
                  <a:schemeClr val="accent2"/>
                </a:solidFill>
              </a:rPr>
              <a:t>nicht</a:t>
            </a:r>
            <a:r>
              <a:rPr lang="de-DE" sz="1400" b="1" dirty="0"/>
              <a:t> </a:t>
            </a:r>
            <a:r>
              <a:rPr lang="de-DE" sz="1400" dirty="0"/>
              <a:t>erhalten</a:t>
            </a:r>
          </a:p>
        </p:txBody>
      </p:sp>
      <p:pic>
        <p:nvPicPr>
          <p:cNvPr id="9" name="Grafik 8"/>
          <p:cNvPicPr>
            <a:picLocks noChangeAspect="1"/>
          </p:cNvPicPr>
          <p:nvPr/>
        </p:nvPicPr>
        <p:blipFill>
          <a:blip r:embed="rId3"/>
          <a:stretch>
            <a:fillRect/>
          </a:stretch>
        </p:blipFill>
        <p:spPr>
          <a:xfrm>
            <a:off x="2737398" y="2402321"/>
            <a:ext cx="200025" cy="171450"/>
          </a:xfrm>
          <a:prstGeom prst="rect">
            <a:avLst/>
          </a:prstGeom>
        </p:spPr>
      </p:pic>
      <p:sp>
        <p:nvSpPr>
          <p:cNvPr id="18" name="Ellipse 17"/>
          <p:cNvSpPr/>
          <p:nvPr/>
        </p:nvSpPr>
        <p:spPr>
          <a:xfrm>
            <a:off x="3449171" y="4447309"/>
            <a:ext cx="290945" cy="166255"/>
          </a:xfrm>
          <a:prstGeom prst="ellips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Rechteck 18"/>
          <p:cNvSpPr/>
          <p:nvPr/>
        </p:nvSpPr>
        <p:spPr>
          <a:xfrm>
            <a:off x="1233875" y="4993428"/>
            <a:ext cx="2432037" cy="138629"/>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Ellipse 6"/>
          <p:cNvSpPr/>
          <p:nvPr/>
        </p:nvSpPr>
        <p:spPr>
          <a:xfrm>
            <a:off x="3449171" y="4974282"/>
            <a:ext cx="290945" cy="166255"/>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929386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 </a:t>
            </a:r>
            <a:r>
              <a:rPr lang="de-DE" sz="4000" dirty="0">
                <a:solidFill>
                  <a:srgbClr val="FF0000"/>
                </a:solidFill>
                <a:latin typeface="Source Sans Pro" panose="020B0503030403020204" pitchFamily="34" charset="0"/>
              </a:rPr>
              <a:t>(lokal)</a:t>
            </a:r>
            <a:endParaRPr lang="de-DE" sz="4000" b="0" i="1" dirty="0">
              <a:solidFill>
                <a:srgbClr val="FF0000"/>
              </a:solidFill>
              <a:latin typeface="Source Sans Pro" panose="020B0503030403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24621" y="1528763"/>
            <a:ext cx="7883756" cy="927975"/>
          </a:xfrm>
          <a:prstGeom prst="rect">
            <a:avLst/>
          </a:prstGeom>
          <a:effectLst>
            <a:innerShdw blurRad="114300">
              <a:prstClr val="black"/>
            </a:innerShdw>
          </a:effectLst>
        </p:spPr>
      </p:pic>
      <p:sp>
        <p:nvSpPr>
          <p:cNvPr id="20" name="Rechteck 19"/>
          <p:cNvSpPr/>
          <p:nvPr/>
        </p:nvSpPr>
        <p:spPr>
          <a:xfrm>
            <a:off x="2235041" y="1750473"/>
            <a:ext cx="3873929" cy="15614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Textfeld 9"/>
          <p:cNvSpPr txBox="1"/>
          <p:nvPr/>
        </p:nvSpPr>
        <p:spPr>
          <a:xfrm>
            <a:off x="1050587" y="1176572"/>
            <a:ext cx="990977" cy="369332"/>
          </a:xfrm>
          <a:prstGeom prst="rect">
            <a:avLst/>
          </a:prstGeom>
          <a:noFill/>
        </p:spPr>
        <p:txBody>
          <a:bodyPr wrap="none" rtlCol="0">
            <a:spAutoFit/>
          </a:bodyPr>
          <a:lstStyle/>
          <a:p>
            <a:r>
              <a:rPr lang="de-DE" b="1" dirty="0"/>
              <a:t>Beispiel:</a:t>
            </a:r>
          </a:p>
        </p:txBody>
      </p:sp>
      <p:sp>
        <p:nvSpPr>
          <p:cNvPr id="11" name="Textfeld 10"/>
          <p:cNvSpPr txBox="1"/>
          <p:nvPr/>
        </p:nvSpPr>
        <p:spPr>
          <a:xfrm>
            <a:off x="6358215" y="1715751"/>
            <a:ext cx="2350836" cy="276999"/>
          </a:xfrm>
          <a:prstGeom prst="rect">
            <a:avLst/>
          </a:prstGeom>
          <a:solidFill>
            <a:schemeClr val="bg2">
              <a:lumMod val="90000"/>
            </a:schemeClr>
          </a:solidFill>
          <a:ln w="19050">
            <a:solidFill>
              <a:schemeClr val="tx1"/>
            </a:solidFill>
          </a:ln>
        </p:spPr>
        <p:txBody>
          <a:bodyPr wrap="none" rtlCol="0">
            <a:spAutoFit/>
          </a:bodyPr>
          <a:lstStyle/>
          <a:p>
            <a:r>
              <a:rPr lang="de-DE" sz="1200" b="1" dirty="0">
                <a:solidFill>
                  <a:srgbClr val="FF0000"/>
                </a:solidFill>
              </a:rPr>
              <a:t>Der User „Kunde“ wird eingeführt</a:t>
            </a:r>
          </a:p>
        </p:txBody>
      </p:sp>
    </p:spTree>
    <p:extLst>
      <p:ext uri="{BB962C8B-B14F-4D97-AF65-F5344CB8AC3E}">
        <p14:creationId xmlns:p14="http://schemas.microsoft.com/office/powerpoint/2010/main" val="353022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0" grpId="0"/>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 </a:t>
            </a:r>
            <a:r>
              <a:rPr lang="de-DE" sz="4000" dirty="0">
                <a:solidFill>
                  <a:srgbClr val="FF0000"/>
                </a:solidFill>
                <a:latin typeface="Source Sans Pro" panose="020B0503030403020204" pitchFamily="34" charset="0"/>
              </a:rPr>
              <a:t>(lokal)</a:t>
            </a:r>
            <a:endParaRPr lang="de-DE" sz="4000" b="0" i="1" dirty="0">
              <a:solidFill>
                <a:srgbClr val="FF0000"/>
              </a:solidFill>
              <a:latin typeface="Source Sans Pro" panose="020B0503030403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24621" y="1528763"/>
            <a:ext cx="7883756" cy="927975"/>
          </a:xfrm>
          <a:prstGeom prst="rect">
            <a:avLst/>
          </a:prstGeom>
          <a:effectLst>
            <a:innerShdw blurRad="114300">
              <a:prstClr val="black"/>
            </a:innerShdw>
          </a:effectLst>
        </p:spPr>
      </p:pic>
      <p:sp>
        <p:nvSpPr>
          <p:cNvPr id="10" name="Textfeld 9"/>
          <p:cNvSpPr txBox="1"/>
          <p:nvPr/>
        </p:nvSpPr>
        <p:spPr>
          <a:xfrm>
            <a:off x="1050587" y="1176572"/>
            <a:ext cx="990977" cy="369332"/>
          </a:xfrm>
          <a:prstGeom prst="rect">
            <a:avLst/>
          </a:prstGeom>
          <a:noFill/>
        </p:spPr>
        <p:txBody>
          <a:bodyPr wrap="none" rtlCol="0">
            <a:spAutoFit/>
          </a:bodyPr>
          <a:lstStyle/>
          <a:p>
            <a:r>
              <a:rPr lang="de-DE" b="1" dirty="0"/>
              <a:t>Beispiel:</a:t>
            </a:r>
          </a:p>
        </p:txBody>
      </p:sp>
      <p:sp>
        <p:nvSpPr>
          <p:cNvPr id="13" name="Textfeld 12"/>
          <p:cNvSpPr txBox="1"/>
          <p:nvPr/>
        </p:nvSpPr>
        <p:spPr>
          <a:xfrm>
            <a:off x="6043831" y="2028650"/>
            <a:ext cx="3174331" cy="646331"/>
          </a:xfrm>
          <a:prstGeom prst="rect">
            <a:avLst/>
          </a:prstGeom>
          <a:solidFill>
            <a:schemeClr val="bg2"/>
          </a:solidFill>
          <a:ln w="28575">
            <a:solidFill>
              <a:schemeClr val="tx1"/>
            </a:solidFill>
          </a:ln>
        </p:spPr>
        <p:txBody>
          <a:bodyPr wrap="none" rtlCol="0">
            <a:spAutoFit/>
          </a:bodyPr>
          <a:lstStyle/>
          <a:p>
            <a:r>
              <a:rPr lang="de-DE" sz="1200" b="1" dirty="0">
                <a:solidFill>
                  <a:srgbClr val="FF0000"/>
                </a:solidFill>
              </a:rPr>
              <a:t>Der User „Kunde“ darf Abfragen tätigen …</a:t>
            </a:r>
          </a:p>
          <a:p>
            <a:r>
              <a:rPr lang="de-DE" sz="1200" b="1" dirty="0">
                <a:solidFill>
                  <a:srgbClr val="FF0000"/>
                </a:solidFill>
              </a:rPr>
              <a:t>… allerdings NUR in der Datenbank „Geld_her“</a:t>
            </a:r>
          </a:p>
          <a:p>
            <a:r>
              <a:rPr lang="de-DE" sz="1200" b="1" dirty="0">
                <a:solidFill>
                  <a:srgbClr val="FF0000"/>
                </a:solidFill>
              </a:rPr>
              <a:t>… und auch dort NUR in der Tabelle „Produkt“.</a:t>
            </a:r>
          </a:p>
        </p:txBody>
      </p:sp>
      <p:sp>
        <p:nvSpPr>
          <p:cNvPr id="14" name="Rechteck 13"/>
          <p:cNvSpPr/>
          <p:nvPr/>
        </p:nvSpPr>
        <p:spPr>
          <a:xfrm>
            <a:off x="2235897" y="2143275"/>
            <a:ext cx="3693563" cy="16629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4651936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 </a:t>
            </a:r>
            <a:r>
              <a:rPr lang="de-DE" sz="4000" dirty="0">
                <a:solidFill>
                  <a:srgbClr val="FF0000"/>
                </a:solidFill>
                <a:latin typeface="Source Sans Pro" panose="020B0503030403020204" pitchFamily="34" charset="0"/>
              </a:rPr>
              <a:t>(lokal)</a:t>
            </a:r>
            <a:endParaRPr lang="de-DE" sz="4000" b="0" i="1" dirty="0">
              <a:solidFill>
                <a:srgbClr val="FF0000"/>
              </a:solidFill>
              <a:latin typeface="Source Sans Pro" panose="020B0503030403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24621" y="1528763"/>
            <a:ext cx="7883756" cy="927975"/>
          </a:xfrm>
          <a:prstGeom prst="rect">
            <a:avLst/>
          </a:prstGeom>
          <a:effectLst>
            <a:innerShdw blurRad="114300">
              <a:prstClr val="black"/>
            </a:innerShdw>
          </a:effectLst>
        </p:spPr>
      </p:pic>
      <p:sp>
        <p:nvSpPr>
          <p:cNvPr id="10" name="Textfeld 9"/>
          <p:cNvSpPr txBox="1"/>
          <p:nvPr/>
        </p:nvSpPr>
        <p:spPr>
          <a:xfrm>
            <a:off x="1050587" y="1176572"/>
            <a:ext cx="990977" cy="369332"/>
          </a:xfrm>
          <a:prstGeom prst="rect">
            <a:avLst/>
          </a:prstGeom>
          <a:noFill/>
        </p:spPr>
        <p:txBody>
          <a:bodyPr wrap="none" rtlCol="0">
            <a:spAutoFit/>
          </a:bodyPr>
          <a:lstStyle/>
          <a:p>
            <a:r>
              <a:rPr lang="de-DE" b="1" dirty="0"/>
              <a:t>Beispiel:</a:t>
            </a:r>
          </a:p>
        </p:txBody>
      </p:sp>
      <p:sp>
        <p:nvSpPr>
          <p:cNvPr id="11" name="Textfeld 10"/>
          <p:cNvSpPr txBox="1"/>
          <p:nvPr/>
        </p:nvSpPr>
        <p:spPr>
          <a:xfrm>
            <a:off x="1050587" y="2529245"/>
            <a:ext cx="8031494" cy="369332"/>
          </a:xfrm>
          <a:prstGeom prst="rect">
            <a:avLst/>
          </a:prstGeom>
          <a:noFill/>
        </p:spPr>
        <p:txBody>
          <a:bodyPr wrap="none" rtlCol="0">
            <a:spAutoFit/>
          </a:bodyPr>
          <a:lstStyle/>
          <a:p>
            <a:r>
              <a:rPr lang="de-DE" b="1" dirty="0"/>
              <a:t>Wir schließen die Konsole, öffnen Sie erneut und </a:t>
            </a:r>
            <a:r>
              <a:rPr lang="de-DE" b="1" dirty="0">
                <a:solidFill>
                  <a:srgbClr val="00B050"/>
                </a:solidFill>
              </a:rPr>
              <a:t>melden uns als User „Kunde“ an</a:t>
            </a:r>
            <a:r>
              <a:rPr lang="de-DE" b="1" dirty="0"/>
              <a:t>:</a:t>
            </a:r>
          </a:p>
        </p:txBody>
      </p:sp>
      <p:pic>
        <p:nvPicPr>
          <p:cNvPr id="2" name="Grafik 1"/>
          <p:cNvPicPr>
            <a:picLocks noChangeAspect="1"/>
          </p:cNvPicPr>
          <p:nvPr/>
        </p:nvPicPr>
        <p:blipFill>
          <a:blip r:embed="rId3"/>
          <a:stretch>
            <a:fillRect/>
          </a:stretch>
        </p:blipFill>
        <p:spPr>
          <a:xfrm>
            <a:off x="1124621" y="2968085"/>
            <a:ext cx="7883756" cy="2988719"/>
          </a:xfrm>
          <a:prstGeom prst="rect">
            <a:avLst/>
          </a:prstGeom>
          <a:effectLst>
            <a:innerShdw blurRad="114300">
              <a:prstClr val="black"/>
            </a:innerShdw>
          </a:effectLst>
        </p:spPr>
      </p:pic>
      <p:sp>
        <p:nvSpPr>
          <p:cNvPr id="6" name="Rechteck 5"/>
          <p:cNvSpPr/>
          <p:nvPr/>
        </p:nvSpPr>
        <p:spPr>
          <a:xfrm>
            <a:off x="1124621" y="3601039"/>
            <a:ext cx="1722274" cy="245097"/>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Textfeld 6"/>
          <p:cNvSpPr txBox="1"/>
          <p:nvPr/>
        </p:nvSpPr>
        <p:spPr>
          <a:xfrm>
            <a:off x="2801724" y="3585087"/>
            <a:ext cx="1894621" cy="276999"/>
          </a:xfrm>
          <a:prstGeom prst="rect">
            <a:avLst/>
          </a:prstGeom>
          <a:noFill/>
        </p:spPr>
        <p:txBody>
          <a:bodyPr wrap="none" rtlCol="0">
            <a:spAutoFit/>
          </a:bodyPr>
          <a:lstStyle/>
          <a:p>
            <a:r>
              <a:rPr lang="de-DE" sz="1200" b="1" dirty="0">
                <a:solidFill>
                  <a:srgbClr val="00B050"/>
                </a:solidFill>
              </a:rPr>
              <a:t>(Passwort ist Kunde_Code)</a:t>
            </a:r>
          </a:p>
        </p:txBody>
      </p:sp>
    </p:spTree>
    <p:extLst>
      <p:ext uri="{BB962C8B-B14F-4D97-AF65-F5344CB8AC3E}">
        <p14:creationId xmlns:p14="http://schemas.microsoft.com/office/powerpoint/2010/main" val="258624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defRPr/>
            </a:pPr>
            <a:r>
              <a:rPr kumimoji="0" lang="de-DE" sz="4000" b="1" i="0" u="none" strike="noStrike" kern="1200" cap="none" spc="0" normalizeH="0" baseline="0" noProof="0" dirty="0">
                <a:ln>
                  <a:noFill/>
                </a:ln>
                <a:solidFill>
                  <a:schemeClr val="accent1"/>
                </a:solidFill>
                <a:effectLst/>
                <a:uLnTx/>
                <a:uFillTx/>
                <a:latin typeface="Source Sans Pro" panose="020B0503030403020204" pitchFamily="34" charset="0"/>
                <a:ea typeface="+mj-ea"/>
                <a:cs typeface="+mj-cs"/>
              </a:rPr>
              <a:t>Einem User bestimmte </a:t>
            </a:r>
            <a:r>
              <a:rPr kumimoji="0" lang="de-DE" sz="4000" b="1" i="0"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rPr>
              <a:t>Rechte vergeben</a:t>
            </a:r>
            <a:r>
              <a:rPr kumimoji="0" lang="de-DE" sz="4000" b="1" i="0" u="none" strike="noStrike" kern="1200" cap="none" spc="0" normalizeH="0" noProof="0" dirty="0">
                <a:ln>
                  <a:noFill/>
                </a:ln>
                <a:solidFill>
                  <a:schemeClr val="accent2"/>
                </a:solidFill>
                <a:effectLst/>
                <a:uLnTx/>
                <a:uFillTx/>
                <a:latin typeface="Source Sans Pro" panose="020B0503030403020204" pitchFamily="34" charset="0"/>
                <a:ea typeface="+mj-ea"/>
                <a:cs typeface="+mj-cs"/>
              </a:rPr>
              <a:t> </a:t>
            </a:r>
            <a:r>
              <a:rPr lang="de-DE" sz="4000" dirty="0">
                <a:solidFill>
                  <a:srgbClr val="FF0000"/>
                </a:solidFill>
                <a:latin typeface="Source Sans Pro" panose="020B0503030403020204" pitchFamily="34" charset="0"/>
              </a:rPr>
              <a:t>(lokal)</a:t>
            </a:r>
            <a:endParaRPr lang="de-DE" sz="4000" b="0" i="1" dirty="0">
              <a:solidFill>
                <a:srgbClr val="FF0000"/>
              </a:solidFill>
              <a:latin typeface="Source Sans Pro" panose="020B0503030403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de-DE" sz="4000" b="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1124621" y="1528763"/>
            <a:ext cx="7883756" cy="927975"/>
          </a:xfrm>
          <a:prstGeom prst="rect">
            <a:avLst/>
          </a:prstGeom>
          <a:effectLst>
            <a:innerShdw blurRad="114300">
              <a:prstClr val="black"/>
            </a:innerShdw>
          </a:effectLst>
        </p:spPr>
      </p:pic>
      <p:sp>
        <p:nvSpPr>
          <p:cNvPr id="10" name="Textfeld 9"/>
          <p:cNvSpPr txBox="1"/>
          <p:nvPr/>
        </p:nvSpPr>
        <p:spPr>
          <a:xfrm>
            <a:off x="1050587" y="1176572"/>
            <a:ext cx="990977" cy="369332"/>
          </a:xfrm>
          <a:prstGeom prst="rect">
            <a:avLst/>
          </a:prstGeom>
          <a:noFill/>
        </p:spPr>
        <p:txBody>
          <a:bodyPr wrap="none" rtlCol="0">
            <a:spAutoFit/>
          </a:bodyPr>
          <a:lstStyle/>
          <a:p>
            <a:r>
              <a:rPr lang="de-DE" b="1" dirty="0"/>
              <a:t>Beispiel:</a:t>
            </a:r>
          </a:p>
        </p:txBody>
      </p:sp>
      <p:sp>
        <p:nvSpPr>
          <p:cNvPr id="11" name="Textfeld 10"/>
          <p:cNvSpPr txBox="1"/>
          <p:nvPr/>
        </p:nvSpPr>
        <p:spPr>
          <a:xfrm>
            <a:off x="1050587" y="2529245"/>
            <a:ext cx="8031494" cy="369332"/>
          </a:xfrm>
          <a:prstGeom prst="rect">
            <a:avLst/>
          </a:prstGeom>
          <a:noFill/>
        </p:spPr>
        <p:txBody>
          <a:bodyPr wrap="none" rtlCol="0">
            <a:spAutoFit/>
          </a:bodyPr>
          <a:lstStyle/>
          <a:p>
            <a:r>
              <a:rPr lang="de-DE" b="1" dirty="0"/>
              <a:t>Wir schließen die Konsole, öffnen Sie erneut und melden uns als User „Kunde“ an:</a:t>
            </a:r>
          </a:p>
        </p:txBody>
      </p:sp>
      <p:pic>
        <p:nvPicPr>
          <p:cNvPr id="2" name="Grafik 1"/>
          <p:cNvPicPr>
            <a:picLocks noChangeAspect="1"/>
          </p:cNvPicPr>
          <p:nvPr/>
        </p:nvPicPr>
        <p:blipFill>
          <a:blip r:embed="rId3"/>
          <a:stretch>
            <a:fillRect/>
          </a:stretch>
        </p:blipFill>
        <p:spPr>
          <a:xfrm>
            <a:off x="1124621" y="2968085"/>
            <a:ext cx="7883756" cy="2988719"/>
          </a:xfrm>
          <a:prstGeom prst="rect">
            <a:avLst/>
          </a:prstGeom>
          <a:effectLst>
            <a:innerShdw blurRad="114300">
              <a:prstClr val="black"/>
            </a:innerShdw>
          </a:effectLst>
        </p:spPr>
      </p:pic>
      <p:sp>
        <p:nvSpPr>
          <p:cNvPr id="13" name="Rechteck 12"/>
          <p:cNvSpPr/>
          <p:nvPr/>
        </p:nvSpPr>
        <p:spPr>
          <a:xfrm>
            <a:off x="2255838" y="4873659"/>
            <a:ext cx="807873" cy="16968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Rechteck 13"/>
          <p:cNvSpPr/>
          <p:nvPr/>
        </p:nvSpPr>
        <p:spPr>
          <a:xfrm>
            <a:off x="1233691" y="5525680"/>
            <a:ext cx="3828503" cy="158683"/>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Textfeld 14"/>
          <p:cNvSpPr txBox="1"/>
          <p:nvPr/>
        </p:nvSpPr>
        <p:spPr>
          <a:xfrm>
            <a:off x="5443214" y="3841154"/>
            <a:ext cx="6524543" cy="523220"/>
          </a:xfrm>
          <a:prstGeom prst="rect">
            <a:avLst/>
          </a:prstGeom>
          <a:solidFill>
            <a:schemeClr val="accent1">
              <a:lumMod val="20000"/>
              <a:lumOff val="80000"/>
            </a:schemeClr>
          </a:solidFill>
        </p:spPr>
        <p:txBody>
          <a:bodyPr wrap="none" rtlCol="0">
            <a:spAutoFit/>
          </a:bodyPr>
          <a:lstStyle/>
          <a:p>
            <a:pPr algn="ctr"/>
            <a:r>
              <a:rPr lang="de-DE" sz="1400" dirty="0">
                <a:solidFill>
                  <a:srgbClr val="00B050"/>
                </a:solidFill>
              </a:rPr>
              <a:t>Mit </a:t>
            </a:r>
            <a:r>
              <a:rPr lang="de-DE" sz="1400" b="1" dirty="0">
                <a:solidFill>
                  <a:srgbClr val="00B050"/>
                </a:solidFill>
              </a:rPr>
              <a:t>SHOW GRANTS </a:t>
            </a:r>
            <a:r>
              <a:rPr lang="de-DE" sz="1400" dirty="0">
                <a:solidFill>
                  <a:srgbClr val="00B050"/>
                </a:solidFill>
              </a:rPr>
              <a:t>können wir uns nun die Rechte des Users „Kunde“ anzeigen lassen.</a:t>
            </a:r>
          </a:p>
          <a:p>
            <a:pPr algn="ctr"/>
            <a:r>
              <a:rPr lang="de-DE" sz="1400" dirty="0">
                <a:solidFill>
                  <a:schemeClr val="accent2"/>
                </a:solidFill>
              </a:rPr>
              <a:t>Um festzustellen, dass er nur in der </a:t>
            </a:r>
            <a:r>
              <a:rPr lang="de-DE" sz="1400" b="1" dirty="0">
                <a:solidFill>
                  <a:schemeClr val="accent2"/>
                </a:solidFill>
              </a:rPr>
              <a:t>Tabelle</a:t>
            </a:r>
            <a:r>
              <a:rPr lang="de-DE" sz="1400" dirty="0">
                <a:solidFill>
                  <a:schemeClr val="accent2"/>
                </a:solidFill>
              </a:rPr>
              <a:t> </a:t>
            </a:r>
            <a:r>
              <a:rPr lang="de-DE" sz="1400" i="1" dirty="0">
                <a:solidFill>
                  <a:schemeClr val="accent2"/>
                </a:solidFill>
              </a:rPr>
              <a:t>Geld_her.Produkt</a:t>
            </a:r>
            <a:r>
              <a:rPr lang="de-DE" sz="1400" dirty="0">
                <a:solidFill>
                  <a:schemeClr val="accent2"/>
                </a:solidFill>
              </a:rPr>
              <a:t> </a:t>
            </a:r>
            <a:r>
              <a:rPr lang="de-DE" sz="1400" b="1" dirty="0">
                <a:solidFill>
                  <a:schemeClr val="accent2"/>
                </a:solidFill>
              </a:rPr>
              <a:t>SELECT-Rechte </a:t>
            </a:r>
            <a:r>
              <a:rPr lang="de-DE" sz="1400" dirty="0">
                <a:solidFill>
                  <a:schemeClr val="accent2"/>
                </a:solidFill>
              </a:rPr>
              <a:t>besitzt.</a:t>
            </a:r>
          </a:p>
        </p:txBody>
      </p:sp>
    </p:spTree>
    <p:extLst>
      <p:ext uri="{BB962C8B-B14F-4D97-AF65-F5344CB8AC3E}">
        <p14:creationId xmlns:p14="http://schemas.microsoft.com/office/powerpoint/2010/main" val="3390872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chemeClr val="accent1"/>
                </a:solidFill>
                <a:latin typeface="Source Sans Pro" panose="020B0503030403020204" pitchFamily="34" charset="0"/>
              </a:rPr>
              <a:t>Einem User </a:t>
            </a:r>
            <a:r>
              <a:rPr lang="de-DE" sz="4000" dirty="0">
                <a:solidFill>
                  <a:schemeClr val="accent2"/>
                </a:solidFill>
                <a:latin typeface="Source Sans Pro" panose="020B0503030403020204" pitchFamily="34" charset="0"/>
              </a:rPr>
              <a:t>alle</a:t>
            </a:r>
            <a:r>
              <a:rPr lang="de-DE" sz="4000" dirty="0">
                <a:solidFill>
                  <a:schemeClr val="accent1"/>
                </a:solidFill>
                <a:latin typeface="Source Sans Pro" panose="020B0503030403020204" pitchFamily="34" charset="0"/>
              </a:rPr>
              <a:t> </a:t>
            </a:r>
            <a:r>
              <a:rPr lang="de-DE" sz="4000" dirty="0">
                <a:solidFill>
                  <a:schemeClr val="accent2"/>
                </a:solidFill>
                <a:latin typeface="Source Sans Pro" panose="020B0503030403020204" pitchFamily="34" charset="0"/>
              </a:rPr>
              <a:t>Rechte nehmen</a:t>
            </a:r>
            <a:endParaRPr lang="de-DE" sz="4000" b="0" i="1" dirty="0">
              <a:solidFill>
                <a:schemeClr val="accent2"/>
              </a:solidFill>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2737398" y="2402321"/>
            <a:ext cx="200025" cy="171450"/>
          </a:xfrm>
          <a:prstGeom prst="rect">
            <a:avLst/>
          </a:prstGeom>
        </p:spPr>
      </p:pic>
      <p:pic>
        <p:nvPicPr>
          <p:cNvPr id="10" name="Grafik 9"/>
          <p:cNvPicPr>
            <a:picLocks noChangeAspect="1"/>
          </p:cNvPicPr>
          <p:nvPr/>
        </p:nvPicPr>
        <p:blipFill>
          <a:blip r:embed="rId3"/>
          <a:stretch>
            <a:fillRect/>
          </a:stretch>
        </p:blipFill>
        <p:spPr>
          <a:xfrm>
            <a:off x="1127114" y="1537336"/>
            <a:ext cx="7881262" cy="4114067"/>
          </a:xfrm>
          <a:prstGeom prst="rect">
            <a:avLst/>
          </a:prstGeom>
          <a:effectLst>
            <a:innerShdw blurRad="114300">
              <a:prstClr val="black"/>
            </a:innerShdw>
          </a:effectLst>
        </p:spPr>
      </p:pic>
      <p:sp>
        <p:nvSpPr>
          <p:cNvPr id="20" name="Rechteck 19"/>
          <p:cNvSpPr/>
          <p:nvPr/>
        </p:nvSpPr>
        <p:spPr>
          <a:xfrm>
            <a:off x="2254496" y="3449782"/>
            <a:ext cx="3655853" cy="1579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 name="Textfeld 20"/>
          <p:cNvSpPr txBox="1"/>
          <p:nvPr/>
        </p:nvSpPr>
        <p:spPr>
          <a:xfrm>
            <a:off x="4656513" y="4483734"/>
            <a:ext cx="1698029" cy="369332"/>
          </a:xfrm>
          <a:prstGeom prst="rect">
            <a:avLst/>
          </a:prstGeom>
          <a:solidFill>
            <a:schemeClr val="bg1"/>
          </a:solidFill>
        </p:spPr>
        <p:txBody>
          <a:bodyPr wrap="none" rtlCol="0">
            <a:spAutoFit/>
          </a:bodyPr>
          <a:lstStyle/>
          <a:p>
            <a:pPr algn="ctr"/>
            <a:r>
              <a:rPr lang="de-DE" dirty="0"/>
              <a:t>Kontrollausgabe</a:t>
            </a:r>
            <a:endParaRPr lang="de-DE" b="1" dirty="0"/>
          </a:p>
        </p:txBody>
      </p:sp>
      <p:sp>
        <p:nvSpPr>
          <p:cNvPr id="23" name="Ellipse 22"/>
          <p:cNvSpPr/>
          <p:nvPr/>
        </p:nvSpPr>
        <p:spPr>
          <a:xfrm>
            <a:off x="3481730" y="4474935"/>
            <a:ext cx="290945" cy="152441"/>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25080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516467"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chemeClr val="accent1"/>
                </a:solidFill>
                <a:latin typeface="Source Sans Pro" panose="020B0503030403020204" pitchFamily="34" charset="0"/>
              </a:rPr>
              <a:t>Einen </a:t>
            </a:r>
            <a:r>
              <a:rPr lang="de-DE" sz="4000" dirty="0">
                <a:solidFill>
                  <a:schemeClr val="accent2"/>
                </a:solidFill>
                <a:latin typeface="Source Sans Pro" panose="020B0503030403020204" pitchFamily="34" charset="0"/>
              </a:rPr>
              <a:t>User</a:t>
            </a:r>
            <a:r>
              <a:rPr lang="de-DE" sz="4000" dirty="0">
                <a:solidFill>
                  <a:schemeClr val="accent1"/>
                </a:solidFill>
                <a:latin typeface="Source Sans Pro" panose="020B0503030403020204" pitchFamily="34" charset="0"/>
              </a:rPr>
              <a:t> </a:t>
            </a:r>
            <a:r>
              <a:rPr lang="de-DE" sz="4000" dirty="0">
                <a:solidFill>
                  <a:schemeClr val="accent2"/>
                </a:solidFill>
                <a:latin typeface="Source Sans Pro" panose="020B0503030403020204" pitchFamily="34" charset="0"/>
              </a:rPr>
              <a:t>löschen</a:t>
            </a:r>
            <a:endParaRPr lang="de-DE" sz="4000" b="0" i="1" dirty="0">
              <a:solidFill>
                <a:schemeClr val="accent2"/>
              </a:solidFill>
              <a:latin typeface="Source Sans Pro" panose="020B0503030403020204" pitchFamily="34" charset="0"/>
            </a:endParaRPr>
          </a:p>
        </p:txBody>
      </p:sp>
      <p:pic>
        <p:nvPicPr>
          <p:cNvPr id="9" name="Grafik 8"/>
          <p:cNvPicPr>
            <a:picLocks noChangeAspect="1"/>
          </p:cNvPicPr>
          <p:nvPr/>
        </p:nvPicPr>
        <p:blipFill>
          <a:blip r:embed="rId2"/>
          <a:stretch>
            <a:fillRect/>
          </a:stretch>
        </p:blipFill>
        <p:spPr>
          <a:xfrm>
            <a:off x="2737398" y="2402321"/>
            <a:ext cx="200025" cy="171450"/>
          </a:xfrm>
          <a:prstGeom prst="rect">
            <a:avLst/>
          </a:prstGeom>
        </p:spPr>
      </p:pic>
      <p:pic>
        <p:nvPicPr>
          <p:cNvPr id="10" name="Grafik 9"/>
          <p:cNvPicPr>
            <a:picLocks noChangeAspect="1"/>
          </p:cNvPicPr>
          <p:nvPr/>
        </p:nvPicPr>
        <p:blipFill>
          <a:blip r:embed="rId3"/>
          <a:stretch>
            <a:fillRect/>
          </a:stretch>
        </p:blipFill>
        <p:spPr>
          <a:xfrm>
            <a:off x="1127114" y="1537336"/>
            <a:ext cx="7881262" cy="4114067"/>
          </a:xfrm>
          <a:prstGeom prst="rect">
            <a:avLst/>
          </a:prstGeom>
          <a:effectLst>
            <a:innerShdw blurRad="114300">
              <a:prstClr val="black"/>
            </a:innerShdw>
          </a:effectLst>
        </p:spPr>
      </p:pic>
      <p:pic>
        <p:nvPicPr>
          <p:cNvPr id="2" name="Grafik 1"/>
          <p:cNvPicPr>
            <a:picLocks noChangeAspect="1"/>
          </p:cNvPicPr>
          <p:nvPr/>
        </p:nvPicPr>
        <p:blipFill>
          <a:blip r:embed="rId4"/>
          <a:stretch>
            <a:fillRect/>
          </a:stretch>
        </p:blipFill>
        <p:spPr>
          <a:xfrm>
            <a:off x="1127115" y="1544915"/>
            <a:ext cx="7881262" cy="4097934"/>
          </a:xfrm>
          <a:prstGeom prst="rect">
            <a:avLst/>
          </a:prstGeom>
          <a:effectLst>
            <a:innerShdw blurRad="114300">
              <a:prstClr val="black"/>
            </a:innerShdw>
          </a:effectLst>
        </p:spPr>
      </p:pic>
      <p:sp>
        <p:nvSpPr>
          <p:cNvPr id="20" name="Rechteck 19"/>
          <p:cNvSpPr/>
          <p:nvPr/>
        </p:nvSpPr>
        <p:spPr>
          <a:xfrm>
            <a:off x="2265599" y="3577494"/>
            <a:ext cx="2098584" cy="1382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1" name="Textfeld 20"/>
          <p:cNvSpPr txBox="1"/>
          <p:nvPr/>
        </p:nvSpPr>
        <p:spPr>
          <a:xfrm>
            <a:off x="4658791" y="4504324"/>
            <a:ext cx="1698029" cy="369332"/>
          </a:xfrm>
          <a:prstGeom prst="rect">
            <a:avLst/>
          </a:prstGeom>
          <a:solidFill>
            <a:schemeClr val="bg1"/>
          </a:solidFill>
        </p:spPr>
        <p:txBody>
          <a:bodyPr wrap="none" rtlCol="0">
            <a:spAutoFit/>
          </a:bodyPr>
          <a:lstStyle/>
          <a:p>
            <a:pPr algn="ctr"/>
            <a:r>
              <a:rPr lang="de-DE" dirty="0"/>
              <a:t>Kontrollausgabe</a:t>
            </a:r>
            <a:endParaRPr lang="de-DE" b="1" dirty="0"/>
          </a:p>
        </p:txBody>
      </p:sp>
    </p:spTree>
    <p:extLst>
      <p:ext uri="{BB962C8B-B14F-4D97-AF65-F5344CB8AC3E}">
        <p14:creationId xmlns:p14="http://schemas.microsoft.com/office/powerpoint/2010/main" val="382913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A_04_03_01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4704614" y="1255221"/>
            <a:ext cx="3195960" cy="4534886"/>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853</Words>
  <Application>Microsoft Office PowerPoint</Application>
  <PresentationFormat>Breitbild</PresentationFormat>
  <Paragraphs>169</Paragraphs>
  <Slides>33</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33</vt:i4>
      </vt:variant>
    </vt:vector>
  </HeadingPairs>
  <TitlesOfParts>
    <vt:vector size="39"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A_04_03_01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789</cp:revision>
  <dcterms:created xsi:type="dcterms:W3CDTF">2022-02-01T13:48:14Z</dcterms:created>
  <dcterms:modified xsi:type="dcterms:W3CDTF">2026-02-18T15:52:07Z</dcterms:modified>
</cp:coreProperties>
</file>